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12353"/>
          </a:solidFill>
          <a:ln>
            <a:noFill/>
          </a:ln>
        </p:spPr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1F1F1F"/>
                </a:solidFill>
                <a:latin typeface="KoPubWorld돋움체 Light"/>
                <a:ea typeface="KoPubWorld돋움체 Light"/>
                <a:cs typeface="KoPubWorld돋움체 Light"/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5486400" cy="3657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C9D3E3"/>
                </a:solidFill>
                <a:latin typeface="KoPubWorld돋움체 Light"/>
                <a:ea typeface="KoPubWorld돋움체 Light"/>
                <a:cs typeface="KoPubWorld돋움체 Light"/>
              </a:rPr>
              <a:t>[운용사명] │ [부서명]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058400" cy="8229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4000" b="0" i="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[자산명]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017520"/>
            <a:ext cx="10058400" cy="54864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0" i="0">
                <a:solidFill>
                  <a:srgbClr val="FFFFFF"/>
                </a:solidFill>
                <a:latin typeface="KoPubWorld돋움체 Medium"/>
                <a:ea typeface="KoPubWorld돋움체 Medium"/>
                <a:cs typeface="KoPubWorld돋움체 Medium"/>
              </a:rPr>
              <a:t>Information Memorandum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657600"/>
            <a:ext cx="10058400" cy="41148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F78E3F"/>
                </a:solidFill>
                <a:latin typeface="KoPubWorld돋움체 Light"/>
                <a:ea typeface="KoPubWorld돋움체 Light"/>
                <a:cs typeface="KoPubWorld돋움체 Light"/>
              </a:rPr>
              <a:t>IM 작성 실습용 양식 (Clean Version)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120640"/>
            <a:ext cx="10515600" cy="8229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C9D3E3"/>
                </a:solidFill>
                <a:latin typeface="KoPubWorld돋움체 Light"/>
                <a:ea typeface="KoPubWorld돋움체 Light"/>
                <a:cs typeface="KoPubWorld돋움체 Light"/>
              </a:rPr>
              <a:t>본 양식은 교육 목적의 빈 서식입니다. 특정 자산·거래·당사자·투자자와 무관하며, 모든 수치는 공란([●]) 또는 작성 예시입니다.</a:t>
            </a:r>
          </a:p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C9D3E3"/>
                </a:solidFill>
                <a:latin typeface="KoPubWorld돋움체 Light"/>
                <a:ea typeface="KoPubWorld돋움체 Light"/>
                <a:cs typeface="KoPubWorld돋움체 Light"/>
              </a:rPr>
              <a:t>투자 권유 또는 수익을 약속하는 자료가 아닙니다.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035040"/>
            <a:ext cx="5486400" cy="3657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FFFFFF"/>
                </a:solidFill>
                <a:latin typeface="KoPubWorld돋움체 Light"/>
                <a:ea typeface="KoPubWorld돋움체 Light"/>
                <a:cs typeface="KoPubWorld돋움체 Light"/>
              </a:rPr>
              <a:t>[YYYY.MM]   &lt; Strictly Confidential &gt;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5486400" cy="54864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0" i="0">
                <a:solidFill>
                  <a:srgbClr val="012353"/>
                </a:solidFill>
                <a:latin typeface="KoPubWorld돋움체 Bold"/>
                <a:ea typeface="KoPubWorld돋움체 Bold"/>
                <a:cs typeface="KoPubWorld돋움체 Bold"/>
              </a:rPr>
              <a:t>Table of Contents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11480" y="960120"/>
            <a:ext cx="11368735" cy="0"/>
          </a:xfrm>
          <a:prstGeom prst="line">
            <a:avLst/>
          </a:prstGeom>
          <a:ln w="19050">
            <a:solidFill>
              <a:srgbClr val="012353"/>
            </a:solidFill>
          </a:ln>
        </p:spPr>
      </p:cxnSp>
      <p:sp>
        <p:nvSpPr>
          <p:cNvPr id="4" name="Rectangle 3"/>
          <p:cNvSpPr/>
          <p:nvPr/>
        </p:nvSpPr>
        <p:spPr>
          <a:xfrm>
            <a:off x="594360" y="1371600"/>
            <a:ext cx="640080" cy="548640"/>
          </a:xfrm>
          <a:prstGeom prst="rect">
            <a:avLst/>
          </a:prstGeom>
          <a:solidFill>
            <a:srgbClr val="012353"/>
          </a:solidFill>
          <a:ln>
            <a:noFill/>
          </a:ln>
        </p:spPr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371600"/>
            <a:ext cx="4754880" cy="54864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012353"/>
                </a:solidFill>
                <a:latin typeface="KoPubWorld돋움체 Bold"/>
                <a:ea typeface="KoPubWorld돋움체 Bold"/>
                <a:cs typeface="KoPubWorld돋움체 Bold"/>
              </a:rPr>
              <a:t>Executive Summary</a:t>
            </a:r>
          </a:p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595959"/>
                </a:solidFill>
                <a:latin typeface="KoPubWorld돋움체 Light"/>
                <a:ea typeface="KoPubWorld돋움체 Light"/>
                <a:cs typeface="KoPubWorld돋움체 Light"/>
              </a:rPr>
              <a:t>투자 하이라이트 · 핵심 지표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2286000"/>
            <a:ext cx="640080" cy="548640"/>
          </a:xfrm>
          <a:prstGeom prst="rect">
            <a:avLst/>
          </a:prstGeom>
          <a:solidFill>
            <a:srgbClr val="345B86"/>
          </a:solidFill>
          <a:ln>
            <a:noFill/>
          </a:ln>
        </p:spPr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286000"/>
            <a:ext cx="4754880" cy="54864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012353"/>
                </a:solidFill>
                <a:latin typeface="KoPubWorld돋움체 Bold"/>
                <a:ea typeface="KoPubWorld돋움체 Bold"/>
                <a:cs typeface="KoPubWorld돋움체 Bold"/>
              </a:rPr>
              <a:t>자산개요</a:t>
            </a:r>
          </a:p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595959"/>
                </a:solidFill>
                <a:latin typeface="KoPubWorld돋움체 Light"/>
                <a:ea typeface="KoPubWorld돋움체 Light"/>
                <a:cs typeface="KoPubWorld돋움체 Light"/>
              </a:rPr>
              <a:t>물건 개요 · 사진 · 위치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3200400"/>
            <a:ext cx="640080" cy="548640"/>
          </a:xfrm>
          <a:prstGeom prst="rect">
            <a:avLst/>
          </a:prstGeom>
          <a:solidFill>
            <a:srgbClr val="012353"/>
          </a:solidFill>
          <a:ln>
            <a:noFill/>
          </a:ln>
        </p:spPr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200400"/>
            <a:ext cx="4754880" cy="54864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012353"/>
                </a:solidFill>
                <a:latin typeface="KoPubWorld돋움체 Bold"/>
                <a:ea typeface="KoPubWorld돋움체 Bold"/>
                <a:cs typeface="KoPubWorld돋움체 Bold"/>
              </a:rPr>
              <a:t>투자개요</a:t>
            </a:r>
          </a:p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595959"/>
                </a:solidFill>
                <a:latin typeface="KoPubWorld돋움체 Light"/>
                <a:ea typeface="KoPubWorld돋움체 Light"/>
                <a:cs typeface="KoPubWorld돋움체 Light"/>
              </a:rPr>
              <a:t>사업구조도 · 투자구조 · 추진일정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4114800"/>
            <a:ext cx="640080" cy="548640"/>
          </a:xfrm>
          <a:prstGeom prst="rect">
            <a:avLst/>
          </a:prstGeom>
          <a:solidFill>
            <a:srgbClr val="345B86"/>
          </a:solidFill>
          <a:ln>
            <a:noFill/>
          </a:ln>
        </p:spPr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114800"/>
            <a:ext cx="4754880" cy="54864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012353"/>
                </a:solidFill>
                <a:latin typeface="KoPubWorld돋움체 Bold"/>
                <a:ea typeface="KoPubWorld돋움체 Bold"/>
                <a:cs typeface="KoPubWorld돋움체 Bold"/>
              </a:rPr>
              <a:t>시장현황 및 입지분석</a:t>
            </a:r>
          </a:p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595959"/>
                </a:solidFill>
                <a:latin typeface="KoPubWorld돋움체 Light"/>
                <a:ea typeface="KoPubWorld돋움체 Light"/>
                <a:cs typeface="KoPubWorld돋움체 Light"/>
              </a:rPr>
              <a:t>수급 · 임대료 · 입지 · 비교사례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5029200"/>
            <a:ext cx="640080" cy="548640"/>
          </a:xfrm>
          <a:prstGeom prst="rect">
            <a:avLst/>
          </a:prstGeom>
          <a:solidFill>
            <a:srgbClr val="012353"/>
          </a:solidFill>
          <a:ln>
            <a:noFill/>
          </a:ln>
        </p:spPr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5029200"/>
            <a:ext cx="4754880" cy="54864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012353"/>
                </a:solidFill>
                <a:latin typeface="KoPubWorld돋움체 Bold"/>
                <a:ea typeface="KoPubWorld돋움체 Bold"/>
                <a:cs typeface="KoPubWorld돋움체 Bold"/>
              </a:rPr>
              <a:t>투자 및 재원조달</a:t>
            </a:r>
          </a:p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595959"/>
                </a:solidFill>
                <a:latin typeface="KoPubWorld돋움체 Light"/>
                <a:ea typeface="KoPubWorld돋움체 Light"/>
                <a:cs typeface="KoPubWorld돋움체 Light"/>
              </a:rPr>
              <a:t>Sources &amp; Uses · Rent Roll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5080" y="1371600"/>
            <a:ext cx="640080" cy="548640"/>
          </a:xfrm>
          <a:prstGeom prst="rect">
            <a:avLst/>
          </a:prstGeom>
          <a:solidFill>
            <a:srgbClr val="345B86"/>
          </a:solidFill>
          <a:ln>
            <a:noFill/>
          </a:ln>
        </p:spPr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06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1371600"/>
            <a:ext cx="4754880" cy="54864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012353"/>
                </a:solidFill>
                <a:latin typeface="KoPubWorld돋움체 Bold"/>
                <a:ea typeface="KoPubWorld돋움체 Bold"/>
                <a:cs typeface="KoPubWorld돋움체 Bold"/>
              </a:rPr>
              <a:t>운용전략</a:t>
            </a:r>
          </a:p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595959"/>
                </a:solidFill>
                <a:latin typeface="KoPubWorld돋움체 Light"/>
                <a:ea typeface="KoPubWorld돋움체 Light"/>
                <a:cs typeface="KoPubWorld돋움체 Light"/>
              </a:rPr>
              <a:t>임대차 · Re-Tenanting 전략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5080" y="2286000"/>
            <a:ext cx="640080" cy="548640"/>
          </a:xfrm>
          <a:prstGeom prst="rect">
            <a:avLst/>
          </a:prstGeom>
          <a:solidFill>
            <a:srgbClr val="012353"/>
          </a:solidFill>
          <a:ln>
            <a:noFill/>
          </a:ln>
        </p:spPr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07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2286000"/>
            <a:ext cx="4754880" cy="54864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012353"/>
                </a:solidFill>
                <a:latin typeface="KoPubWorld돋움체 Bold"/>
                <a:ea typeface="KoPubWorld돋움체 Bold"/>
                <a:cs typeface="KoPubWorld돋움체 Bold"/>
              </a:rPr>
              <a:t>투자수익률 분석</a:t>
            </a:r>
          </a:p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595959"/>
                </a:solidFill>
                <a:latin typeface="KoPubWorld돋움체 Light"/>
                <a:ea typeface="KoPubWorld돋움체 Light"/>
                <a:cs typeface="KoPubWorld돋움체 Light"/>
              </a:rPr>
              <a:t>분석가정 · 현금흐름 · 수익률 · DSCR · 민감도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5080" y="3200400"/>
            <a:ext cx="640080" cy="548640"/>
          </a:xfrm>
          <a:prstGeom prst="rect">
            <a:avLst/>
          </a:prstGeom>
          <a:solidFill>
            <a:srgbClr val="345B86"/>
          </a:solidFill>
          <a:ln>
            <a:noFill/>
          </a:ln>
        </p:spPr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08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3200400"/>
            <a:ext cx="4754880" cy="54864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012353"/>
                </a:solidFill>
                <a:latin typeface="KoPubWorld돋움체 Bold"/>
                <a:ea typeface="KoPubWorld돋움체 Bold"/>
                <a:cs typeface="KoPubWorld돋움체 Bold"/>
              </a:rPr>
              <a:t>Key Risks &amp; Mitigants</a:t>
            </a:r>
          </a:p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595959"/>
                </a:solidFill>
                <a:latin typeface="KoPubWorld돋움체 Light"/>
                <a:ea typeface="KoPubWorld돋움체 Light"/>
                <a:cs typeface="KoPubWorld돋움체 Light"/>
              </a:rPr>
              <a:t>리스크 요인과 완화방안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5080" y="4114800"/>
            <a:ext cx="640080" cy="548640"/>
          </a:xfrm>
          <a:prstGeom prst="rect">
            <a:avLst/>
          </a:prstGeom>
          <a:solidFill>
            <a:srgbClr val="012353"/>
          </a:solidFill>
          <a:ln>
            <a:noFill/>
          </a:ln>
        </p:spPr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09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0" y="4114800"/>
            <a:ext cx="4754880" cy="54864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012353"/>
                </a:solidFill>
                <a:latin typeface="KoPubWorld돋움체 Bold"/>
                <a:ea typeface="KoPubWorld돋움체 Bold"/>
                <a:cs typeface="KoPubWorld돋움체 Bold"/>
              </a:rPr>
              <a:t>시설현황</a:t>
            </a:r>
          </a:p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595959"/>
                </a:solidFill>
                <a:latin typeface="KoPubWorld돋움체 Light"/>
                <a:ea typeface="KoPubWorld돋움체 Light"/>
                <a:cs typeface="KoPubWorld돋움체 Light"/>
              </a:rPr>
              <a:t>도면 · 시설 스펙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5080" y="5029200"/>
            <a:ext cx="640080" cy="548640"/>
          </a:xfrm>
          <a:prstGeom prst="rect">
            <a:avLst/>
          </a:prstGeom>
          <a:solidFill>
            <a:srgbClr val="345B86"/>
          </a:solidFill>
          <a:ln>
            <a:noFill/>
          </a:ln>
        </p:spPr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0" y="5029200"/>
            <a:ext cx="4754880" cy="54864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012353"/>
                </a:solidFill>
                <a:latin typeface="KoPubWorld돋움체 Bold"/>
                <a:ea typeface="KoPubWorld돋움체 Bold"/>
                <a:cs typeface="KoPubWorld돋움체 Bold"/>
              </a:rPr>
              <a:t>Appendix</a:t>
            </a:r>
          </a:p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595959"/>
                </a:solidFill>
                <a:latin typeface="KoPubWorld돋움체 Light"/>
                <a:ea typeface="KoPubWorld돋움체 Light"/>
                <a:cs typeface="KoPubWorld돋움체 Light"/>
              </a:rPr>
              <a:t>용어 및 산식 · 체크리스트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6035040"/>
            <a:ext cx="11368735" cy="32004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 i="0">
                <a:solidFill>
                  <a:srgbClr val="8C8C8C"/>
                </a:solidFill>
                <a:latin typeface="KoPubWorld돋움체 Light"/>
                <a:ea typeface="KoPubWorld돋움체 Light"/>
                <a:cs typeface="KoPubWorld돋움체 Light"/>
              </a:rPr>
              <a:t>※ 실제 IM의 일반적인 목차 체계를 따랐습니다. 자산 유형(오피스·리테일·물류 등)에 따라 섹션을 더하거나 뺄 수 있습니다.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256032"/>
            <a:ext cx="502920" cy="384048"/>
          </a:xfrm>
          <a:prstGeom prst="rect">
            <a:avLst/>
          </a:prstGeom>
          <a:solidFill>
            <a:srgbClr val="012353"/>
          </a:solidFill>
          <a:ln>
            <a:noFill/>
          </a:ln>
        </p:spPr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01168"/>
            <a:ext cx="6858000" cy="256032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 i="0">
                <a:solidFill>
                  <a:srgbClr val="8C8C8C"/>
                </a:solidFill>
                <a:latin typeface="KoPubWorld돋움체 Light"/>
                <a:ea typeface="KoPubWorld돋움체 Light"/>
                <a:cs typeface="KoPubWorld돋움체 Light"/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420624"/>
            <a:ext cx="8686800" cy="329184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012353"/>
                </a:solidFill>
                <a:latin typeface="KoPubWorld돋움체 Bold"/>
                <a:ea typeface="KoPubWorld돋움체 Bold"/>
                <a:cs typeface="KoPubWorld돋움체 Bold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54135" y="256032"/>
            <a:ext cx="2926080" cy="2743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 i="0">
                <a:solidFill>
                  <a:srgbClr val="8C8C8C"/>
                </a:solidFill>
                <a:latin typeface="KoPubWorld돋움체 Light"/>
                <a:ea typeface="KoPubWorld돋움체 Light"/>
                <a:cs typeface="KoPubWorld돋움체 Light"/>
              </a:rPr>
              <a:t>[자산명] Information Memorandum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11480" y="841248"/>
            <a:ext cx="11368735" cy="0"/>
          </a:xfrm>
          <a:prstGeom prst="line">
            <a:avLst/>
          </a:prstGeom>
          <a:ln w="19050">
            <a:solidFill>
              <a:srgbClr val="012353"/>
            </a:solidFill>
          </a:ln>
        </p:spPr>
      </p:cxnSp>
      <p:sp>
        <p:nvSpPr>
          <p:cNvPr id="7" name="TextBox 6"/>
          <p:cNvSpPr txBox="1"/>
          <p:nvPr/>
        </p:nvSpPr>
        <p:spPr>
          <a:xfrm>
            <a:off x="411480" y="914400"/>
            <a:ext cx="11368735" cy="56692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F1F1F"/>
                </a:solidFill>
                <a:latin typeface="KoPubWorld돋움체 Medium"/>
                <a:ea typeface="KoPubWorld돋움체 Medium"/>
                <a:cs typeface="KoPubWorld돋움체 Medium"/>
              </a:rPr>
              <a:t>[투자 기회를 한 문장으로: 예) 핵심 입지의 신축 자산을 감정가 대비 할인된 가격에 매입할 기회]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95959"/>
                </a:solidFill>
                <a:latin typeface="KoPubWorld돋움체 Light"/>
                <a:ea typeface="KoPubWorld돋움체 Light"/>
                <a:cs typeface="KoPubWorld돋움체 Light"/>
              </a:rPr>
              <a:t>• [보조 메시지: 안정적인 임대 현황 및 향후 가치 상승 요인]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11480" y="6446520"/>
            <a:ext cx="11368735" cy="0"/>
          </a:xfrm>
          <a:prstGeom prst="line">
            <a:avLst/>
          </a:prstGeom>
          <a:ln w="6350">
            <a:solidFill>
              <a:srgbClr val="BFBFBF"/>
            </a:solidFill>
          </a:ln>
        </p:spPr>
      </p:cxnSp>
      <p:sp>
        <p:nvSpPr>
          <p:cNvPr id="9" name="TextBox 8"/>
          <p:cNvSpPr txBox="1"/>
          <p:nvPr/>
        </p:nvSpPr>
        <p:spPr>
          <a:xfrm>
            <a:off x="411480" y="6473952"/>
            <a:ext cx="8686800" cy="2743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 i="0">
                <a:solidFill>
                  <a:srgbClr val="8C8C8C"/>
                </a:solidFill>
                <a:latin typeface="KoPubWorld돋움체 Light"/>
                <a:ea typeface="KoPubWorld돋움체 Light"/>
                <a:cs typeface="KoPubWorld돋움체 Light"/>
              </a:rPr>
              <a:t>IM 작성 실습용 양식(Clean) · 특정 자산·거래·당사자와 무관 · [●]는 실습자가 채울 공란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65815" y="6473952"/>
            <a:ext cx="914400" cy="2743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 i="0">
                <a:solidFill>
                  <a:srgbClr val="8C8C8C"/>
                </a:solidFill>
                <a:latin typeface="KoPubWorld돋움체 Light"/>
                <a:ea typeface="KoPubWorld돋움체 Light"/>
                <a:cs typeface="KoPubWorld돋움체 Light"/>
              </a:rPr>
              <a:t>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1645920"/>
            <a:ext cx="2705023" cy="292608"/>
          </a:xfrm>
          <a:prstGeom prst="rect">
            <a:avLst/>
          </a:prstGeom>
          <a:solidFill>
            <a:srgbClr val="345B86"/>
          </a:solidFill>
          <a:ln>
            <a:noFill/>
          </a:ln>
        </p:spPr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050" b="0" i="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매입가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1938528"/>
            <a:ext cx="2705023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2200" b="0" i="0">
                <a:solidFill>
                  <a:srgbClr val="012353"/>
                </a:solidFill>
                <a:latin typeface="KoPubWorld돋움체 Bold"/>
                <a:ea typeface="KoPubWorld돋움체 Bold"/>
                <a:cs typeface="KoPubWorld돋움체 Bold"/>
              </a:rPr>
              <a:t>[●]억원</a:t>
            </a:r>
          </a:p>
          <a:p>
            <a:pPr algn="ctr">
              <a:spcAft>
                <a:spcPts val="200"/>
              </a:spcAft>
            </a:pPr>
            <a:r>
              <a:rPr sz="900" b="0" i="0">
                <a:solidFill>
                  <a:srgbClr val="595959"/>
                </a:solidFill>
                <a:latin typeface="KoPubWorld돋움체 Light"/>
                <a:ea typeface="KoPubWorld돋움체 Light"/>
                <a:cs typeface="KoPubWorld돋움체 Light"/>
              </a:rPr>
              <a:t>감정가 [●]억원 대비 [▼●]%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99383" y="1645920"/>
            <a:ext cx="2705023" cy="292608"/>
          </a:xfrm>
          <a:prstGeom prst="rect">
            <a:avLst/>
          </a:prstGeom>
          <a:solidFill>
            <a:srgbClr val="345B86"/>
          </a:solidFill>
          <a:ln>
            <a:noFill/>
          </a:ln>
        </p:spPr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050" b="0" i="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Cap. Rate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99383" y="1938528"/>
            <a:ext cx="2705023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2200" b="0" i="0">
                <a:solidFill>
                  <a:srgbClr val="012353"/>
                </a:solidFill>
                <a:latin typeface="KoPubWorld돋움체 Bold"/>
                <a:ea typeface="KoPubWorld돋움체 Bold"/>
                <a:cs typeface="KoPubWorld돋움체 Bold"/>
              </a:rPr>
              <a:t>[●]%</a:t>
            </a:r>
          </a:p>
          <a:p>
            <a:pPr algn="ctr">
              <a:spcAft>
                <a:spcPts val="200"/>
              </a:spcAft>
            </a:pPr>
            <a:r>
              <a:rPr sz="900" b="0" i="0">
                <a:solidFill>
                  <a:srgbClr val="595959"/>
                </a:solidFill>
                <a:latin typeface="KoPubWorld돋움체 Light"/>
                <a:ea typeface="KoPubWorld돋움체 Light"/>
                <a:cs typeface="KoPubWorld돋움체 Light"/>
              </a:rPr>
              <a:t>NOI ÷ [매입가 / (매입가−보증금)]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87287" y="1645920"/>
            <a:ext cx="2705023" cy="292608"/>
          </a:xfrm>
          <a:prstGeom prst="rect">
            <a:avLst/>
          </a:prstGeom>
          <a:solidFill>
            <a:srgbClr val="345B86"/>
          </a:solidFill>
          <a:ln>
            <a:noFill/>
          </a:ln>
        </p:spPr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050" b="0" i="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LTV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87287" y="1938528"/>
            <a:ext cx="2705023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2200" b="0" i="0">
                <a:solidFill>
                  <a:srgbClr val="012353"/>
                </a:solidFill>
                <a:latin typeface="KoPubWorld돋움체 Bold"/>
                <a:ea typeface="KoPubWorld돋움체 Bold"/>
                <a:cs typeface="KoPubWorld돋움체 Bold"/>
              </a:rPr>
              <a:t>[●]%</a:t>
            </a:r>
          </a:p>
          <a:p>
            <a:pPr algn="ctr">
              <a:spcAft>
                <a:spcPts val="200"/>
              </a:spcAft>
            </a:pPr>
            <a:r>
              <a:rPr sz="900" b="0" i="0">
                <a:solidFill>
                  <a:srgbClr val="595959"/>
                </a:solidFill>
                <a:latin typeface="KoPubWorld돋움체 Light"/>
                <a:ea typeface="KoPubWorld돋움체 Light"/>
                <a:cs typeface="KoPubWorld돋움체 Light"/>
              </a:rPr>
              <a:t>[감정가 / 매입가] 기준, 대출 범위 명시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75191" y="1645920"/>
            <a:ext cx="2705023" cy="292608"/>
          </a:xfrm>
          <a:prstGeom prst="rect">
            <a:avLst/>
          </a:prstGeom>
          <a:solidFill>
            <a:srgbClr val="345B86"/>
          </a:solidFill>
          <a:ln>
            <a:noFill/>
          </a:ln>
        </p:spPr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050" b="0" i="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WALE · 임대율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75191" y="1938528"/>
            <a:ext cx="2705023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2200" b="0" i="0">
                <a:solidFill>
                  <a:srgbClr val="012353"/>
                </a:solidFill>
                <a:latin typeface="KoPubWorld돋움체 Bold"/>
                <a:ea typeface="KoPubWorld돋움체 Bold"/>
                <a:cs typeface="KoPubWorld돋움체 Bold"/>
              </a:rPr>
              <a:t>[●]년 · [●]%</a:t>
            </a:r>
          </a:p>
          <a:p>
            <a:pPr algn="ctr">
              <a:spcAft>
                <a:spcPts val="200"/>
              </a:spcAft>
            </a:pPr>
            <a:r>
              <a:rPr sz="900" b="0" i="0">
                <a:solidFill>
                  <a:srgbClr val="595959"/>
                </a:solidFill>
                <a:latin typeface="KoPubWorld돋움체 Light"/>
                <a:ea typeface="KoPubWorld돋움체 Light"/>
                <a:cs typeface="KoPubWorld돋움체 Light"/>
              </a:rPr>
              <a:t>기준일 [거래종결일]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3063240"/>
            <a:ext cx="11368735" cy="256032"/>
          </a:xfrm>
          <a:prstGeom prst="rect">
            <a:avLst/>
          </a:prstGeom>
          <a:solidFill>
            <a:srgbClr val="345B86"/>
          </a:solidFill>
          <a:ln>
            <a:noFill/>
          </a:ln>
        </p:spPr>
        <p:txBody>
          <a:bodyPr rtlCol="0" anchor="ctr" wrap="square" lIns="54864" rIns="54864" tIns="27432" bIns="27432"/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Tranche별 예상 투자수익률 [추정]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411480" y="3364992"/>
          <a:ext cx="11368731" cy="150876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894789"/>
                <a:gridCol w="1421091"/>
                <a:gridCol w="1539516"/>
                <a:gridCol w="1302667"/>
                <a:gridCol w="1421091"/>
                <a:gridCol w="1421091"/>
                <a:gridCol w="2368486"/>
              </a:tblGrid>
              <a:tr h="301752"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002060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구분</a:t>
                      </a:r>
                    </a:p>
                  </a:txBody>
                  <a:tcPr anchor="ctr" marL="45720" marR="45720" marT="18288" marB="18288">
                    <a:solidFill>
                      <a:srgbClr val="DAE3F3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002060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투자금액(억원)</a:t>
                      </a:r>
                    </a:p>
                  </a:txBody>
                  <a:tcPr anchor="ctr" marL="45720" marR="45720" marT="18288" marB="18288">
                    <a:solidFill>
                      <a:srgbClr val="DAE3F3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002060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약정 배당률(CoC)</a:t>
                      </a:r>
                    </a:p>
                  </a:txBody>
                  <a:tcPr anchor="ctr" marL="45720" marR="45720" marT="18288" marB="18288">
                    <a:solidFill>
                      <a:srgbClr val="DAE3F3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002060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예상 IRR</a:t>
                      </a:r>
                    </a:p>
                  </a:txBody>
                  <a:tcPr anchor="ctr" marL="45720" marR="45720" marT="18288" marB="18288">
                    <a:solidFill>
                      <a:srgbClr val="DAE3F3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002060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Equity Multiple</a:t>
                      </a:r>
                    </a:p>
                  </a:txBody>
                  <a:tcPr anchor="ctr" marL="45720" marR="45720" marT="18288" marB="18288">
                    <a:solidFill>
                      <a:srgbClr val="DAE3F3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002060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매각차익 배분</a:t>
                      </a:r>
                    </a:p>
                  </a:txBody>
                  <a:tcPr anchor="ctr" marL="45720" marR="45720" marT="18288" marB="18288">
                    <a:solidFill>
                      <a:srgbClr val="DAE3F3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002060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회수 방식</a:t>
                      </a:r>
                    </a:p>
                  </a:txBody>
                  <a:tcPr anchor="ctr" marL="45720" marR="45720" marT="18288" marB="18288">
                    <a:solidFill>
                      <a:srgbClr val="DAE3F3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[제1종 종류주식]</a:t>
                      </a:r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[●]%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[●]%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[●]x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[●]%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[제2종 종류주식]</a:t>
                      </a:r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[●]%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[●]%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[●]x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[●]%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[제3종 종류주식]</a:t>
                      </a:r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보통주</a:t>
                      </a:r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잔여 배분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[●]%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[●]x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[●]%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1" name="Rectangle 20"/>
          <p:cNvSpPr/>
          <p:nvPr/>
        </p:nvSpPr>
        <p:spPr>
          <a:xfrm>
            <a:off x="411480" y="5010912"/>
            <a:ext cx="11368735" cy="256032"/>
          </a:xfrm>
          <a:prstGeom prst="rect">
            <a:avLst/>
          </a:prstGeom>
          <a:solidFill>
            <a:srgbClr val="345B86"/>
          </a:solidFill>
          <a:ln>
            <a:noFill/>
          </a:ln>
        </p:spPr>
        <p:txBody>
          <a:bodyPr rtlCol="0" anchor="ctr" wrap="square" lIns="54864" rIns="54864" tIns="27432" bIns="27432"/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Key Investment Highlights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5303520"/>
            <a:ext cx="11368735" cy="10515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1F1F1F"/>
                </a:solidFill>
                <a:latin typeface="KoPubWorld돋움체 Light"/>
                <a:ea typeface="KoPubWorld돋움체 Light"/>
                <a:cs typeface="KoPubWorld돋움체 Light"/>
              </a:rPr>
              <a:t>① [가격] 예) 감정가·개발원가 대비 매입가 수준</a:t>
            </a:r>
          </a:p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1F1F1F"/>
                </a:solidFill>
                <a:latin typeface="KoPubWorld돋움체 Light"/>
                <a:ea typeface="KoPubWorld돋움체 Light"/>
                <a:cs typeface="KoPubWorld돋움체 Light"/>
              </a:rPr>
              <a:t>② [입지] 예) 주요 소비지 접근성, 신규 공급 제약</a:t>
            </a:r>
          </a:p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1F1F1F"/>
                </a:solidFill>
                <a:latin typeface="KoPubWorld돋움체 Light"/>
                <a:ea typeface="KoPubWorld돋움체 Light"/>
                <a:cs typeface="KoPubWorld돋움체 Light"/>
              </a:rPr>
              <a:t>③ [임대차] 예) 임차인 신용도, WALE, 임대율, 재계약 시 임대료 상향 여지</a:t>
            </a:r>
          </a:p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1F1F1F"/>
                </a:solidFill>
                <a:latin typeface="KoPubWorld돋움체 Light"/>
                <a:ea typeface="KoPubWorld돋움체 Light"/>
                <a:cs typeface="KoPubWorld돋움체 Light"/>
              </a:rPr>
              <a:t>④ [구조] 예) 장기 보유가 가능한 투자구조, Tranche별 회수 경로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256032"/>
            <a:ext cx="502920" cy="384048"/>
          </a:xfrm>
          <a:prstGeom prst="rect">
            <a:avLst/>
          </a:prstGeom>
          <a:solidFill>
            <a:srgbClr val="012353"/>
          </a:solidFill>
          <a:ln>
            <a:noFill/>
          </a:ln>
        </p:spPr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01168"/>
            <a:ext cx="6858000" cy="256032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 i="0">
                <a:solidFill>
                  <a:srgbClr val="8C8C8C"/>
                </a:solidFill>
                <a:latin typeface="KoPubWorld돋움체 Light"/>
                <a:ea typeface="KoPubWorld돋움체 Light"/>
                <a:cs typeface="KoPubWorld돋움체 Light"/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420624"/>
            <a:ext cx="8686800" cy="329184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012353"/>
                </a:solidFill>
                <a:latin typeface="KoPubWorld돋움체 Bold"/>
                <a:ea typeface="KoPubWorld돋움체 Bold"/>
                <a:cs typeface="KoPubWorld돋움체 Bold"/>
              </a:rPr>
              <a:t>Investment Highlights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54135" y="256032"/>
            <a:ext cx="2926080" cy="2743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 i="0">
                <a:solidFill>
                  <a:srgbClr val="8C8C8C"/>
                </a:solidFill>
                <a:latin typeface="KoPubWorld돋움체 Light"/>
                <a:ea typeface="KoPubWorld돋움체 Light"/>
                <a:cs typeface="KoPubWorld돋움체 Light"/>
              </a:rPr>
              <a:t>[자산명] Information Memorandum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11480" y="841248"/>
            <a:ext cx="11368735" cy="0"/>
          </a:xfrm>
          <a:prstGeom prst="line">
            <a:avLst/>
          </a:prstGeom>
          <a:ln w="19050">
            <a:solidFill>
              <a:srgbClr val="012353"/>
            </a:solidFill>
          </a:ln>
        </p:spPr>
      </p:cxnSp>
      <p:sp>
        <p:nvSpPr>
          <p:cNvPr id="7" name="TextBox 6"/>
          <p:cNvSpPr txBox="1"/>
          <p:nvPr/>
        </p:nvSpPr>
        <p:spPr>
          <a:xfrm>
            <a:off x="411480" y="914400"/>
            <a:ext cx="11368735" cy="41148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F1F1F"/>
                </a:solidFill>
                <a:latin typeface="KoPubWorld돋움체 Medium"/>
                <a:ea typeface="KoPubWorld돋움체 Medium"/>
                <a:cs typeface="KoPubWorld돋움체 Medium"/>
              </a:rPr>
              <a:t>[투자 매력 요인을 4가지 관점에서 정리]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11480" y="6446520"/>
            <a:ext cx="11368735" cy="0"/>
          </a:xfrm>
          <a:prstGeom prst="line">
            <a:avLst/>
          </a:prstGeom>
          <a:ln w="6350">
            <a:solidFill>
              <a:srgbClr val="BFBFBF"/>
            </a:solidFill>
          </a:ln>
        </p:spPr>
      </p:cxnSp>
      <p:sp>
        <p:nvSpPr>
          <p:cNvPr id="9" name="TextBox 8"/>
          <p:cNvSpPr txBox="1"/>
          <p:nvPr/>
        </p:nvSpPr>
        <p:spPr>
          <a:xfrm>
            <a:off x="411480" y="6473952"/>
            <a:ext cx="8686800" cy="2743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 i="0">
                <a:solidFill>
                  <a:srgbClr val="8C8C8C"/>
                </a:solidFill>
                <a:latin typeface="KoPubWorld돋움체 Light"/>
                <a:ea typeface="KoPubWorld돋움체 Light"/>
                <a:cs typeface="KoPubWorld돋움체 Light"/>
              </a:rPr>
              <a:t>IM 작성 실습용 양식(Clean) · 특정 자산·거래·당사자와 무관 · [●]는 실습자가 채울 공란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65815" y="6473952"/>
            <a:ext cx="914400" cy="2743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 i="0">
                <a:solidFill>
                  <a:srgbClr val="8C8C8C"/>
                </a:solidFill>
                <a:latin typeface="KoPubWorld돋움체 Light"/>
                <a:ea typeface="KoPubWorld돋움체 Light"/>
                <a:cs typeface="KoPubWorld돋움체 Light"/>
              </a:rPr>
              <a:t>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1508760"/>
            <a:ext cx="548640" cy="457200"/>
          </a:xfrm>
          <a:prstGeom prst="rect">
            <a:avLst/>
          </a:prstGeom>
          <a:solidFill>
            <a:srgbClr val="012353"/>
          </a:solidFill>
          <a:ln>
            <a:noFill/>
          </a:ln>
        </p:spPr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" y="1508760"/>
            <a:ext cx="4998567" cy="457200"/>
          </a:xfrm>
          <a:prstGeom prst="rect">
            <a:avLst/>
          </a:prstGeom>
          <a:solidFill>
            <a:srgbClr val="DAE3F3"/>
          </a:solidFill>
          <a:ln>
            <a:noFill/>
          </a:ln>
        </p:spPr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012353"/>
                </a:solidFill>
                <a:latin typeface="KoPubWorld돋움체 Bold"/>
                <a:ea typeface="KoPubWorld돋움체 Bold"/>
                <a:cs typeface="KoPubWorld돋움체 Bold"/>
              </a:rPr>
              <a:t>자산 스펙 · 매입 조건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2011680"/>
            <a:ext cx="5592927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rtlCol="0" anchor="ctr" wrap="square" lIns="137160" rIns="137160" tIns="109728" bIns="109728"/>
          <a:lstStyle/>
          <a:p>
            <a:pPr algn="l">
              <a:spcAft>
                <a:spcPts val="500"/>
              </a:spcAft>
            </a:pPr>
            <a:r>
              <a:rPr sz="1050" b="0" i="0">
                <a:solidFill>
                  <a:srgbClr val="1F1F1F"/>
                </a:solidFill>
                <a:latin typeface="KoPubWorld돋움체 Light"/>
                <a:ea typeface="KoPubWorld돋움체 Light"/>
                <a:cs typeface="KoPubWorld돋움체 Light"/>
              </a:rPr>
              <a:t>• 준공연도·규모·스펙: [●]</a:t>
            </a:r>
          </a:p>
          <a:p>
            <a:pPr algn="l">
              <a:spcAft>
                <a:spcPts val="500"/>
              </a:spcAft>
            </a:pPr>
            <a:r>
              <a:rPr sz="1050" b="0" i="0">
                <a:solidFill>
                  <a:srgbClr val="1F1F1F"/>
                </a:solidFill>
                <a:latin typeface="KoPubWorld돋움체 Light"/>
                <a:ea typeface="KoPubWorld돋움체 Light"/>
                <a:cs typeface="KoPubWorld돋움체 Light"/>
              </a:rPr>
              <a:t>• 감정가 대비 할인율: [●]%</a:t>
            </a:r>
          </a:p>
          <a:p>
            <a:pPr algn="l">
              <a:spcAft>
                <a:spcPts val="500"/>
              </a:spcAft>
            </a:pPr>
            <a:r>
              <a:rPr sz="1050" b="0" i="0">
                <a:solidFill>
                  <a:srgbClr val="1F1F1F"/>
                </a:solidFill>
                <a:latin typeface="KoPubWorld돋움체 Light"/>
                <a:ea typeface="KoPubWorld돋움체 Light"/>
                <a:cs typeface="KoPubWorld돋움체 Light"/>
              </a:rPr>
              <a:t>• 평당 매입가: [●]만원 (비교사례 [●]~[●]만원)</a:t>
            </a:r>
          </a:p>
          <a:p>
            <a:pPr algn="l">
              <a:spcAft>
                <a:spcPts val="500"/>
              </a:spcAft>
            </a:pPr>
            <a:r>
              <a:rPr sz="1050" b="0" i="0">
                <a:solidFill>
                  <a:srgbClr val="1F1F1F"/>
                </a:solidFill>
                <a:latin typeface="KoPubWorld돋움체 Light"/>
                <a:ea typeface="KoPubWorld돋움체 Light"/>
                <a:cs typeface="KoPubWorld돋움체 Light"/>
              </a:rPr>
              <a:t>• 진입 Cap Rate [●]% / 운용기간 평균 [●]%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87287" y="1508760"/>
            <a:ext cx="548640" cy="457200"/>
          </a:xfrm>
          <a:prstGeom prst="rect">
            <a:avLst/>
          </a:prstGeom>
          <a:solidFill>
            <a:srgbClr val="012353"/>
          </a:solidFill>
          <a:ln>
            <a:noFill/>
          </a:ln>
        </p:spPr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02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781647" y="1508760"/>
            <a:ext cx="4998567" cy="457200"/>
          </a:xfrm>
          <a:prstGeom prst="rect">
            <a:avLst/>
          </a:prstGeom>
          <a:solidFill>
            <a:srgbClr val="DAE3F3"/>
          </a:solidFill>
          <a:ln>
            <a:noFill/>
          </a:ln>
        </p:spPr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012353"/>
                </a:solidFill>
                <a:latin typeface="KoPubWorld돋움체 Bold"/>
                <a:ea typeface="KoPubWorld돋움체 Bold"/>
                <a:cs typeface="KoPubWorld돋움체 Bold"/>
              </a:rPr>
              <a:t>입지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87287" y="2011680"/>
            <a:ext cx="5592927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rtlCol="0" anchor="ctr" wrap="square" lIns="137160" rIns="137160" tIns="109728" bIns="109728"/>
          <a:lstStyle/>
          <a:p>
            <a:pPr algn="l">
              <a:spcAft>
                <a:spcPts val="500"/>
              </a:spcAft>
            </a:pPr>
            <a:r>
              <a:rPr sz="1050" b="0" i="0">
                <a:solidFill>
                  <a:srgbClr val="1F1F1F"/>
                </a:solidFill>
                <a:latin typeface="KoPubWorld돋움체 Light"/>
                <a:ea typeface="KoPubWorld돋움체 Light"/>
                <a:cs typeface="KoPubWorld돋움체 Light"/>
              </a:rPr>
              <a:t>• 도심·IC 접근성: [●]km / [●]분</a:t>
            </a:r>
          </a:p>
          <a:p>
            <a:pPr algn="l">
              <a:spcAft>
                <a:spcPts val="500"/>
              </a:spcAft>
            </a:pPr>
            <a:r>
              <a:rPr sz="1050" b="0" i="0">
                <a:solidFill>
                  <a:srgbClr val="1F1F1F"/>
                </a:solidFill>
                <a:latin typeface="KoPubWorld돋움체 Light"/>
                <a:ea typeface="KoPubWorld돋움체 Light"/>
                <a:cs typeface="KoPubWorld돋움체 Light"/>
              </a:rPr>
              <a:t>• 배후 수요: [●]</a:t>
            </a:r>
          </a:p>
          <a:p>
            <a:pPr algn="l">
              <a:spcAft>
                <a:spcPts val="500"/>
              </a:spcAft>
            </a:pPr>
            <a:r>
              <a:rPr sz="1050" b="0" i="0">
                <a:solidFill>
                  <a:srgbClr val="1F1F1F"/>
                </a:solidFill>
                <a:latin typeface="KoPubWorld돋움체 Light"/>
                <a:ea typeface="KoPubWorld돋움체 Light"/>
                <a:cs typeface="KoPubWorld돋움체 Light"/>
              </a:rPr>
              <a:t>• 권역 임대료 [●]~[●]원/평, 공실률 [●]%</a:t>
            </a:r>
          </a:p>
          <a:p>
            <a:pPr algn="l">
              <a:spcAft>
                <a:spcPts val="500"/>
              </a:spcAft>
            </a:pPr>
            <a:r>
              <a:rPr sz="1050" b="0" i="0">
                <a:solidFill>
                  <a:srgbClr val="1F1F1F"/>
                </a:solidFill>
                <a:latin typeface="KoPubWorld돋움체 Light"/>
                <a:ea typeface="KoPubWorld돋움체 Light"/>
                <a:cs typeface="KoPubWorld돋움체 Light"/>
              </a:rPr>
              <a:t>• 향후 공급: [●]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3904487"/>
            <a:ext cx="548640" cy="457200"/>
          </a:xfrm>
          <a:prstGeom prst="rect">
            <a:avLst/>
          </a:prstGeom>
          <a:solidFill>
            <a:srgbClr val="012353"/>
          </a:solidFill>
          <a:ln>
            <a:noFill/>
          </a:ln>
        </p:spPr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03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05840" y="3904487"/>
            <a:ext cx="4998567" cy="457200"/>
          </a:xfrm>
          <a:prstGeom prst="rect">
            <a:avLst/>
          </a:prstGeom>
          <a:solidFill>
            <a:srgbClr val="DAE3F3"/>
          </a:solidFill>
          <a:ln>
            <a:noFill/>
          </a:ln>
        </p:spPr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012353"/>
                </a:solidFill>
                <a:latin typeface="KoPubWorld돋움체 Bold"/>
                <a:ea typeface="KoPubWorld돋움체 Bold"/>
                <a:cs typeface="KoPubWorld돋움체 Bold"/>
              </a:rPr>
              <a:t>임차인 · 임대차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4407407"/>
            <a:ext cx="5592927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rtlCol="0" anchor="ctr" wrap="square" lIns="137160" rIns="137160" tIns="109728" bIns="109728"/>
          <a:lstStyle/>
          <a:p>
            <a:pPr algn="l">
              <a:spcAft>
                <a:spcPts val="500"/>
              </a:spcAft>
            </a:pPr>
            <a:r>
              <a:rPr sz="1050" b="0" i="0">
                <a:solidFill>
                  <a:srgbClr val="1F1F1F"/>
                </a:solidFill>
                <a:latin typeface="KoPubWorld돋움체 Light"/>
                <a:ea typeface="KoPubWorld돋움체 Light"/>
                <a:cs typeface="KoPubWorld돋움체 Light"/>
              </a:rPr>
              <a:t>• 주요 임차인 비중 [●]%</a:t>
            </a:r>
          </a:p>
          <a:p>
            <a:pPr algn="l">
              <a:spcAft>
                <a:spcPts val="500"/>
              </a:spcAft>
            </a:pPr>
            <a:r>
              <a:rPr sz="1050" b="0" i="0">
                <a:solidFill>
                  <a:srgbClr val="1F1F1F"/>
                </a:solidFill>
                <a:latin typeface="KoPubWorld돋움체 Light"/>
                <a:ea typeface="KoPubWorld돋움체 Light"/>
                <a:cs typeface="KoPubWorld돋움체 Light"/>
              </a:rPr>
              <a:t>• WALE [●]년 / 임대율 [●]%</a:t>
            </a:r>
          </a:p>
          <a:p>
            <a:pPr algn="l">
              <a:spcAft>
                <a:spcPts val="500"/>
              </a:spcAft>
            </a:pPr>
            <a:r>
              <a:rPr sz="1050" b="0" i="0">
                <a:solidFill>
                  <a:srgbClr val="1F1F1F"/>
                </a:solidFill>
                <a:latin typeface="KoPubWorld돋움체 Light"/>
                <a:ea typeface="KoPubWorld돋움체 Light"/>
                <a:cs typeface="KoPubWorld돋움체 Light"/>
              </a:rPr>
              <a:t>• 만기 도래 시점별 재계약 계획</a:t>
            </a:r>
          </a:p>
          <a:p>
            <a:pPr algn="l">
              <a:spcAft>
                <a:spcPts val="500"/>
              </a:spcAft>
            </a:pPr>
            <a:r>
              <a:rPr sz="1050" b="0" i="0">
                <a:solidFill>
                  <a:srgbClr val="1F1F1F"/>
                </a:solidFill>
                <a:latin typeface="KoPubWorld돋움체 Light"/>
                <a:ea typeface="KoPubWorld돋움체 Light"/>
                <a:cs typeface="KoPubWorld돋움체 Light"/>
              </a:rPr>
              <a:t>• 시장임대료 대비 현재 임대료 [●]%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87287" y="3904487"/>
            <a:ext cx="548640" cy="457200"/>
          </a:xfrm>
          <a:prstGeom prst="rect">
            <a:avLst/>
          </a:prstGeom>
          <a:solidFill>
            <a:srgbClr val="012353"/>
          </a:solidFill>
          <a:ln>
            <a:noFill/>
          </a:ln>
        </p:spPr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04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781647" y="3904487"/>
            <a:ext cx="4998567" cy="457200"/>
          </a:xfrm>
          <a:prstGeom prst="rect">
            <a:avLst/>
          </a:prstGeom>
          <a:solidFill>
            <a:srgbClr val="DAE3F3"/>
          </a:solidFill>
          <a:ln>
            <a:noFill/>
          </a:ln>
        </p:spPr>
        <p:txBody>
          <a:bodyPr rtlCol="0" anchor="ctr" wrap="square" lIns="73152" rIns="73152"/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012353"/>
                </a:solidFill>
                <a:latin typeface="KoPubWorld돋움체 Bold"/>
                <a:ea typeface="KoPubWorld돋움체 Bold"/>
                <a:cs typeface="KoPubWorld돋움체 Bold"/>
              </a:rPr>
              <a:t>투자 구조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87287" y="4407407"/>
            <a:ext cx="5592927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rtlCol="0" anchor="ctr" wrap="square" lIns="137160" rIns="137160" tIns="109728" bIns="109728"/>
          <a:lstStyle/>
          <a:p>
            <a:pPr algn="l">
              <a:spcAft>
                <a:spcPts val="500"/>
              </a:spcAft>
            </a:pPr>
            <a:r>
              <a:rPr sz="1050" b="0" i="0">
                <a:solidFill>
                  <a:srgbClr val="1F1F1F"/>
                </a:solidFill>
                <a:latin typeface="KoPubWorld돋움체 Light"/>
                <a:ea typeface="KoPubWorld돋움체 Light"/>
                <a:cs typeface="KoPubWorld돋움체 Light"/>
              </a:rPr>
              <a:t>• 운용기간 [●]년, [사모/공모] 구조</a:t>
            </a:r>
          </a:p>
          <a:p>
            <a:pPr algn="l">
              <a:spcAft>
                <a:spcPts val="500"/>
              </a:spcAft>
            </a:pPr>
            <a:r>
              <a:rPr sz="1050" b="0" i="0">
                <a:solidFill>
                  <a:srgbClr val="1F1F1F"/>
                </a:solidFill>
                <a:latin typeface="KoPubWorld돋움체 Light"/>
                <a:ea typeface="KoPubWorld돋움체 Light"/>
                <a:cs typeface="KoPubWorld돋움체 Light"/>
              </a:rPr>
              <a:t>• Tranche별 상환·회수 순위</a:t>
            </a:r>
          </a:p>
          <a:p>
            <a:pPr algn="l">
              <a:spcAft>
                <a:spcPts val="500"/>
              </a:spcAft>
            </a:pPr>
            <a:r>
              <a:rPr sz="1050" b="0" i="0">
                <a:solidFill>
                  <a:srgbClr val="1F1F1F"/>
                </a:solidFill>
                <a:latin typeface="KoPubWorld돋움체 Light"/>
                <a:ea typeface="KoPubWorld돋움체 Light"/>
                <a:cs typeface="KoPubWorld돋움체 Light"/>
              </a:rPr>
              <a:t>• 배당 재원 Buffer: [●]</a:t>
            </a:r>
          </a:p>
          <a:p>
            <a:pPr algn="l">
              <a:spcAft>
                <a:spcPts val="500"/>
              </a:spcAft>
            </a:pPr>
            <a:r>
              <a:rPr sz="1050" b="0" i="0">
                <a:solidFill>
                  <a:srgbClr val="1F1F1F"/>
                </a:solidFill>
                <a:latin typeface="KoPubWorld돋움체 Light"/>
                <a:ea typeface="KoPubWorld돋움체 Light"/>
                <a:cs typeface="KoPubWorld돋움체 Light"/>
              </a:rPr>
              <a:t>• Exit 전략: [●]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256032"/>
            <a:ext cx="502920" cy="384048"/>
          </a:xfrm>
          <a:prstGeom prst="rect">
            <a:avLst/>
          </a:prstGeom>
          <a:solidFill>
            <a:srgbClr val="012353"/>
          </a:solidFill>
          <a:ln>
            <a:noFill/>
          </a:ln>
        </p:spPr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01168"/>
            <a:ext cx="6858000" cy="256032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 i="0">
                <a:solidFill>
                  <a:srgbClr val="8C8C8C"/>
                </a:solidFill>
                <a:latin typeface="KoPubWorld돋움체 Light"/>
                <a:ea typeface="KoPubWorld돋움체 Light"/>
                <a:cs typeface="KoPubWorld돋움체 Light"/>
              </a:rPr>
              <a:t>자산개요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420624"/>
            <a:ext cx="8686800" cy="329184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012353"/>
                </a:solidFill>
                <a:latin typeface="KoPubWorld돋움체 Bold"/>
                <a:ea typeface="KoPubWorld돋움체 Bold"/>
                <a:cs typeface="KoPubWorld돋움체 Bold"/>
              </a:rPr>
              <a:t>대상자산 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54135" y="256032"/>
            <a:ext cx="2926080" cy="2743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 i="0">
                <a:solidFill>
                  <a:srgbClr val="8C8C8C"/>
                </a:solidFill>
                <a:latin typeface="KoPubWorld돋움체 Light"/>
                <a:ea typeface="KoPubWorld돋움체 Light"/>
                <a:cs typeface="KoPubWorld돋움체 Light"/>
              </a:rPr>
              <a:t>[자산명] Information Memorandum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11480" y="841248"/>
            <a:ext cx="11368735" cy="0"/>
          </a:xfrm>
          <a:prstGeom prst="line">
            <a:avLst/>
          </a:prstGeom>
          <a:ln w="19050">
            <a:solidFill>
              <a:srgbClr val="012353"/>
            </a:solidFill>
          </a:ln>
        </p:spPr>
      </p:cxnSp>
      <p:sp>
        <p:nvSpPr>
          <p:cNvPr id="7" name="TextBox 6"/>
          <p:cNvSpPr txBox="1"/>
          <p:nvPr/>
        </p:nvSpPr>
        <p:spPr>
          <a:xfrm>
            <a:off x="411480" y="914400"/>
            <a:ext cx="11368735" cy="41148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F1F1F"/>
                </a:solidFill>
                <a:latin typeface="KoPubWorld돋움체 Medium"/>
                <a:ea typeface="KoPubWorld돋움체 Medium"/>
                <a:cs typeface="KoPubWorld돋움체 Medium"/>
              </a:rPr>
              <a:t>[자산 위치·규모·용도를 한 문장으로 요약]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11480" y="6446520"/>
            <a:ext cx="11368735" cy="0"/>
          </a:xfrm>
          <a:prstGeom prst="line">
            <a:avLst/>
          </a:prstGeom>
          <a:ln w="6350">
            <a:solidFill>
              <a:srgbClr val="BFBFBF"/>
            </a:solidFill>
          </a:ln>
        </p:spPr>
      </p:cxnSp>
      <p:sp>
        <p:nvSpPr>
          <p:cNvPr id="9" name="TextBox 8"/>
          <p:cNvSpPr txBox="1"/>
          <p:nvPr/>
        </p:nvSpPr>
        <p:spPr>
          <a:xfrm>
            <a:off x="411480" y="6473952"/>
            <a:ext cx="8686800" cy="2743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 i="0">
                <a:solidFill>
                  <a:srgbClr val="8C8C8C"/>
                </a:solidFill>
                <a:latin typeface="KoPubWorld돋움체 Light"/>
                <a:ea typeface="KoPubWorld돋움체 Light"/>
                <a:cs typeface="KoPubWorld돋움체 Light"/>
              </a:rPr>
              <a:t>IM 작성 실습용 양식(Clean) · 특정 자산·거래·당사자와 무관 · [●]는 실습자가 채울 공란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65815" y="6473952"/>
            <a:ext cx="914400" cy="2743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 i="0">
                <a:solidFill>
                  <a:srgbClr val="8C8C8C"/>
                </a:solidFill>
                <a:latin typeface="KoPubWorld돋움체 Light"/>
                <a:ea typeface="KoPubWorld돋움체 Light"/>
                <a:cs typeface="KoPubWorld돋움체 Light"/>
              </a:rPr>
              <a:t>5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11480" y="1508760"/>
          <a:ext cx="6035039" cy="454456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724297"/>
                <a:gridCol w="4310742"/>
              </a:tblGrid>
              <a:tr h="324612"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002060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구분</a:t>
                      </a:r>
                    </a:p>
                  </a:txBody>
                  <a:tcPr anchor="ctr" marL="45720" marR="45720" marT="18288" marB="18288">
                    <a:solidFill>
                      <a:srgbClr val="DAE3F3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002060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내용</a:t>
                      </a:r>
                    </a:p>
                  </a:txBody>
                  <a:tcPr anchor="ctr" marL="45720" marR="45720" marT="18288" marB="18288">
                    <a:solidFill>
                      <a:srgbClr val="DAE3F3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24612"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물건명</a:t>
                      </a:r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24612"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위치</a:t>
                      </a:r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[시·구·동 / 지번]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24612"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지역 / 지구</a:t>
                      </a:r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[용도지역 / 지구]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24612"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용도</a:t>
                      </a:r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[업무시설 / 창고시설 / 판매시설 등]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24612"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대지면적</a:t>
                      </a:r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[●]㎡ ([●]평)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24612"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연면적</a:t>
                      </a:r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[●]㎡ ([●]평)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24612"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임대면적 / 전용면적</a:t>
                      </a:r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[●]㎡ / [●]㎡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24612"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규모</a:t>
                      </a:r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지하 [●]층 / 지상 [●]층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24612"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건폐율 / 용적률</a:t>
                      </a:r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[●]% (법정 [●]%) / [●]% (법정 [●]%)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24612"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준공일</a:t>
                      </a:r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[YYYY.MM.DD]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24612"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주요 설비</a:t>
                      </a:r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[주차 / 접안 / 전력용량 / 층고 / 바닥하중 등]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24612"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임대 현황</a:t>
                      </a:r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임대율 [●]% (주요 임차인 [●])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24612"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감정평가액</a:t>
                      </a:r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[●]억원 (평가기관 [●], 기준일 [●])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6629400" y="1508760"/>
            <a:ext cx="5148072" cy="2743200"/>
          </a:xfrm>
          <a:prstGeom prst="rect">
            <a:avLst/>
          </a:prstGeom>
          <a:solidFill>
            <a:srgbClr val="FAFAFA"/>
          </a:solidFill>
          <a:ln w="9525">
            <a:solidFill>
              <a:srgbClr val="BFBFBF"/>
            </a:solidFill>
            <a:prstDash val="dash"/>
          </a:ln>
        </p:spPr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8C8C8C"/>
                </a:solidFill>
                <a:latin typeface="KoPubWorld돋움체 Light"/>
                <a:ea typeface="KoPubWorld돋움체 Light"/>
                <a:cs typeface="KoPubWorld돋움체 Light"/>
              </a:rPr>
              <a:t>[전경 사진]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29400" y="4343400"/>
            <a:ext cx="2514600" cy="2011680"/>
          </a:xfrm>
          <a:prstGeom prst="rect">
            <a:avLst/>
          </a:prstGeom>
          <a:solidFill>
            <a:srgbClr val="FAFAFA"/>
          </a:solidFill>
          <a:ln w="9525">
            <a:solidFill>
              <a:srgbClr val="BFBFBF"/>
            </a:solidFill>
            <a:prstDash val="dash"/>
          </a:ln>
        </p:spPr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8C8C8C"/>
                </a:solidFill>
                <a:latin typeface="KoPubWorld돋움체 Light"/>
                <a:ea typeface="KoPubWorld돋움체 Light"/>
                <a:cs typeface="KoPubWorld돋움체 Light"/>
              </a:rPr>
              <a:t>[위치도]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262872" y="4343400"/>
            <a:ext cx="2514600" cy="2011680"/>
          </a:xfrm>
          <a:prstGeom prst="rect">
            <a:avLst/>
          </a:prstGeom>
          <a:solidFill>
            <a:srgbClr val="FAFAFA"/>
          </a:solidFill>
          <a:ln w="9525">
            <a:solidFill>
              <a:srgbClr val="BFBFBF"/>
            </a:solidFill>
            <a:prstDash val="dash"/>
          </a:ln>
        </p:spPr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8C8C8C"/>
                </a:solidFill>
                <a:latin typeface="KoPubWorld돋움체 Light"/>
                <a:ea typeface="KoPubWorld돋움체 Light"/>
                <a:cs typeface="KoPubWorld돋움체 Light"/>
              </a:rPr>
              <a:t>[항공 사진]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256032"/>
            <a:ext cx="502920" cy="384048"/>
          </a:xfrm>
          <a:prstGeom prst="rect">
            <a:avLst/>
          </a:prstGeom>
          <a:solidFill>
            <a:srgbClr val="012353"/>
          </a:solidFill>
          <a:ln>
            <a:noFill/>
          </a:ln>
        </p:spPr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01168"/>
            <a:ext cx="6858000" cy="256032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 i="0">
                <a:solidFill>
                  <a:srgbClr val="8C8C8C"/>
                </a:solidFill>
                <a:latin typeface="KoPubWorld돋움체 Light"/>
                <a:ea typeface="KoPubWorld돋움체 Light"/>
                <a:cs typeface="KoPubWorld돋움체 Light"/>
              </a:rPr>
              <a:t>투자개요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420624"/>
            <a:ext cx="8686800" cy="329184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012353"/>
                </a:solidFill>
                <a:latin typeface="KoPubWorld돋움체 Bold"/>
                <a:ea typeface="KoPubWorld돋움체 Bold"/>
                <a:cs typeface="KoPubWorld돋움체 Bold"/>
              </a:rPr>
              <a:t>사업구조도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54135" y="256032"/>
            <a:ext cx="2926080" cy="2743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 i="0">
                <a:solidFill>
                  <a:srgbClr val="8C8C8C"/>
                </a:solidFill>
                <a:latin typeface="KoPubWorld돋움체 Light"/>
                <a:ea typeface="KoPubWorld돋움체 Light"/>
                <a:cs typeface="KoPubWorld돋움체 Light"/>
              </a:rPr>
              <a:t>[자산명] Information Memorandum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11480" y="841248"/>
            <a:ext cx="11368735" cy="0"/>
          </a:xfrm>
          <a:prstGeom prst="line">
            <a:avLst/>
          </a:prstGeom>
          <a:ln w="19050">
            <a:solidFill>
              <a:srgbClr val="012353"/>
            </a:solidFill>
          </a:ln>
        </p:spPr>
      </p:cxnSp>
      <p:sp>
        <p:nvSpPr>
          <p:cNvPr id="7" name="TextBox 6"/>
          <p:cNvSpPr txBox="1"/>
          <p:nvPr/>
        </p:nvSpPr>
        <p:spPr>
          <a:xfrm>
            <a:off x="411480" y="914400"/>
            <a:ext cx="11368735" cy="41148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F1F1F"/>
                </a:solidFill>
                <a:latin typeface="KoPubWorld돋움체 Medium"/>
                <a:ea typeface="KoPubWorld돋움체 Medium"/>
                <a:cs typeface="KoPubWorld돋움체 Medium"/>
              </a:rPr>
              <a:t>[투자기구 설립 및 매입·운용 구조 요약: 예) 신설 리츠를 설립하여 대상자산을 매입·운용]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11480" y="6446520"/>
            <a:ext cx="11368735" cy="0"/>
          </a:xfrm>
          <a:prstGeom prst="line">
            <a:avLst/>
          </a:prstGeom>
          <a:ln w="6350">
            <a:solidFill>
              <a:srgbClr val="BFBFBF"/>
            </a:solidFill>
          </a:ln>
        </p:spPr>
      </p:cxnSp>
      <p:sp>
        <p:nvSpPr>
          <p:cNvPr id="9" name="TextBox 8"/>
          <p:cNvSpPr txBox="1"/>
          <p:nvPr/>
        </p:nvSpPr>
        <p:spPr>
          <a:xfrm>
            <a:off x="411480" y="6473952"/>
            <a:ext cx="8686800" cy="2743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 i="0">
                <a:solidFill>
                  <a:srgbClr val="8C8C8C"/>
                </a:solidFill>
                <a:latin typeface="KoPubWorld돋움체 Light"/>
                <a:ea typeface="KoPubWorld돋움체 Light"/>
                <a:cs typeface="KoPubWorld돋움체 Light"/>
              </a:rPr>
              <a:t>IM 작성 실습용 양식(Clean) · 특정 자산·거래·당사자와 무관 · [●]는 실습자가 채울 공란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65815" y="6473952"/>
            <a:ext cx="914400" cy="2743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 i="0">
                <a:solidFill>
                  <a:srgbClr val="8C8C8C"/>
                </a:solidFill>
                <a:latin typeface="KoPubWorld돋움체 Light"/>
                <a:ea typeface="KoPubWorld돋움체 Light"/>
                <a:cs typeface="KoPubWorld돋움체 Light"/>
              </a:rPr>
              <a:t>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56048" y="3063240"/>
            <a:ext cx="2286000" cy="868680"/>
          </a:xfrm>
          <a:prstGeom prst="roundRect">
            <a:avLst/>
          </a:prstGeom>
          <a:solidFill>
            <a:srgbClr val="012353"/>
          </a:solidFill>
          <a:ln w="9525">
            <a:solidFill>
              <a:srgbClr val="BFBFBF"/>
            </a:solidFill>
          </a:ln>
        </p:spPr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50" b="0" i="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투자기구</a:t>
            </a:r>
          </a:p>
          <a:p>
            <a:pPr algn="ctr">
              <a:spcAft>
                <a:spcPts val="200"/>
              </a:spcAft>
            </a:pPr>
            <a:r>
              <a:rPr sz="900" b="0" i="0">
                <a:solidFill>
                  <a:srgbClr val="C9D3E3"/>
                </a:solidFill>
                <a:latin typeface="KoPubWorld돋움체 Light"/>
                <a:ea typeface="KoPubWorld돋움체 Light"/>
                <a:cs typeface="KoPubWorld돋움체 Light"/>
              </a:rPr>
              <a:t>[●] 위탁관리부동산투자회사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56048" y="5166360"/>
            <a:ext cx="2286000" cy="731520"/>
          </a:xfrm>
          <a:prstGeom prst="roundRect">
            <a:avLst/>
          </a:prstGeom>
          <a:solidFill>
            <a:srgbClr val="DAE3F3"/>
          </a:solidFill>
          <a:ln w="9525">
            <a:solidFill>
              <a:srgbClr val="BFBFBF"/>
            </a:solidFill>
          </a:ln>
        </p:spPr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50" b="0" i="0">
                <a:solidFill>
                  <a:srgbClr val="012353"/>
                </a:solidFill>
                <a:latin typeface="KoPubWorld돋움체 Bold"/>
                <a:ea typeface="KoPubWorld돋움체 Bold"/>
                <a:cs typeface="KoPubWorld돋움체 Bold"/>
              </a:rPr>
              <a:t>대상자산</a:t>
            </a:r>
          </a:p>
          <a:p>
            <a:pPr algn="ctr">
              <a:spcAft>
                <a:spcPts val="200"/>
              </a:spcAft>
            </a:pPr>
            <a:r>
              <a:rPr sz="900" b="0" i="0">
                <a:solidFill>
                  <a:srgbClr val="595959"/>
                </a:solidFill>
                <a:latin typeface="KoPubWorld돋움체 Light"/>
                <a:ea typeface="KoPubWorld돋움체 Light"/>
                <a:cs typeface="KoPubWorld돋움체 Light"/>
              </a:rPr>
              <a:t>[자산명]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108960"/>
            <a:ext cx="2103120" cy="777240"/>
          </a:xfrm>
          <a:prstGeom prst="roundRect">
            <a:avLst/>
          </a:prstGeom>
          <a:solidFill>
            <a:srgbClr val="DAE3F3"/>
          </a:solidFill>
          <a:ln w="9525">
            <a:solidFill>
              <a:srgbClr val="BFBFBF"/>
            </a:solidFill>
          </a:ln>
        </p:spPr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50" b="0" i="0">
                <a:solidFill>
                  <a:srgbClr val="012353"/>
                </a:solidFill>
                <a:latin typeface="KoPubWorld돋움체 Bold"/>
                <a:ea typeface="KoPubWorld돋움체 Bold"/>
                <a:cs typeface="KoPubWorld돋움체 Bold"/>
              </a:rPr>
              <a:t>매도인</a:t>
            </a:r>
          </a:p>
          <a:p>
            <a:pPr algn="ctr">
              <a:spcAft>
                <a:spcPts val="200"/>
              </a:spcAft>
            </a:pPr>
            <a:r>
              <a:rPr sz="900" b="0" i="0">
                <a:solidFill>
                  <a:srgbClr val="595959"/>
                </a:solidFill>
                <a:latin typeface="KoPubWorld돋움체 Light"/>
                <a:ea typeface="KoPubWorld돋움체 Light"/>
                <a:cs typeface="KoPubWorld돋움체 Light"/>
              </a:rPr>
              <a:t>[●]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3108960"/>
            <a:ext cx="2103120" cy="777240"/>
          </a:xfrm>
          <a:prstGeom prst="roundRect">
            <a:avLst/>
          </a:prstGeom>
          <a:solidFill>
            <a:srgbClr val="DAE3F3"/>
          </a:solidFill>
          <a:ln w="9525">
            <a:solidFill>
              <a:srgbClr val="BFBFBF"/>
            </a:solidFill>
          </a:ln>
        </p:spPr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50" b="0" i="0">
                <a:solidFill>
                  <a:srgbClr val="012353"/>
                </a:solidFill>
                <a:latin typeface="KoPubWorld돋움체 Bold"/>
                <a:ea typeface="KoPubWorld돋움체 Bold"/>
                <a:cs typeface="KoPubWorld돋움체 Bold"/>
              </a:rPr>
              <a:t>임차인</a:t>
            </a:r>
          </a:p>
          <a:p>
            <a:pPr algn="ctr">
              <a:spcAft>
                <a:spcPts val="200"/>
              </a:spcAft>
            </a:pPr>
            <a:r>
              <a:rPr sz="900" b="0" i="0">
                <a:solidFill>
                  <a:srgbClr val="595959"/>
                </a:solidFill>
                <a:latin typeface="KoPubWorld돋움체 Light"/>
                <a:ea typeface="KoPubWorld돋움체 Light"/>
                <a:cs typeface="KoPubWorld돋움체 Light"/>
              </a:rPr>
              <a:t>[주요 임차인 외 [●]개사]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463040" y="1600200"/>
            <a:ext cx="2377440" cy="777240"/>
          </a:xfrm>
          <a:prstGeom prst="roundRect">
            <a:avLst/>
          </a:prstGeom>
          <a:solidFill>
            <a:srgbClr val="DAE3F3"/>
          </a:solidFill>
          <a:ln w="9525">
            <a:solidFill>
              <a:srgbClr val="BFBFBF"/>
            </a:solidFill>
          </a:ln>
        </p:spPr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50" b="0" i="0">
                <a:solidFill>
                  <a:srgbClr val="012353"/>
                </a:solidFill>
                <a:latin typeface="KoPubWorld돋움체 Bold"/>
                <a:ea typeface="KoPubWorld돋움체 Bold"/>
                <a:cs typeface="KoPubWorld돋움체 Bold"/>
              </a:rPr>
              <a:t>Equity 투자자</a:t>
            </a:r>
          </a:p>
          <a:p>
            <a:pPr algn="ctr">
              <a:spcAft>
                <a:spcPts val="200"/>
              </a:spcAft>
            </a:pPr>
            <a:r>
              <a:rPr sz="900" b="0" i="0">
                <a:solidFill>
                  <a:srgbClr val="595959"/>
                </a:solidFill>
                <a:latin typeface="KoPubWorld돋움체 Light"/>
                <a:ea typeface="KoPubWorld돋움체 Light"/>
                <a:cs typeface="KoPubWorld돋움체 Light"/>
              </a:rPr>
              <a:t>종류주식 · 보통주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21040" y="1600200"/>
            <a:ext cx="2377440" cy="777240"/>
          </a:xfrm>
          <a:prstGeom prst="roundRect">
            <a:avLst/>
          </a:prstGeom>
          <a:solidFill>
            <a:srgbClr val="DAE3F3"/>
          </a:solidFill>
          <a:ln w="9525">
            <a:solidFill>
              <a:srgbClr val="BFBFBF"/>
            </a:solidFill>
          </a:ln>
        </p:spPr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50" b="0" i="0">
                <a:solidFill>
                  <a:srgbClr val="012353"/>
                </a:solidFill>
                <a:latin typeface="KoPubWorld돋움체 Bold"/>
                <a:ea typeface="KoPubWorld돋움체 Bold"/>
                <a:cs typeface="KoPubWorld돋움체 Bold"/>
              </a:rPr>
              <a:t>대주</a:t>
            </a:r>
          </a:p>
          <a:p>
            <a:pPr algn="ctr">
              <a:spcAft>
                <a:spcPts val="200"/>
              </a:spcAft>
            </a:pPr>
            <a:r>
              <a:rPr sz="900" b="0" i="0">
                <a:solidFill>
                  <a:srgbClr val="595959"/>
                </a:solidFill>
                <a:latin typeface="KoPubWorld돋움체 Light"/>
                <a:ea typeface="KoPubWorld돋움체 Light"/>
                <a:cs typeface="KoPubWorld돋움체 Light"/>
              </a:rPr>
              <a:t>선순위 · 중순위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56048" y="1600200"/>
            <a:ext cx="2286000" cy="777240"/>
          </a:xfrm>
          <a:prstGeom prst="roundRect">
            <a:avLst/>
          </a:prstGeom>
          <a:solidFill>
            <a:srgbClr val="DAE3F3"/>
          </a:solidFill>
          <a:ln w="9525">
            <a:solidFill>
              <a:srgbClr val="BFBFBF"/>
            </a:solidFill>
          </a:ln>
        </p:spPr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50" b="0" i="0">
                <a:solidFill>
                  <a:srgbClr val="012353"/>
                </a:solidFill>
                <a:latin typeface="KoPubWorld돋움체 Bold"/>
                <a:ea typeface="KoPubWorld돋움체 Bold"/>
                <a:cs typeface="KoPubWorld돋움체 Bold"/>
              </a:rPr>
              <a:t>자산관리회사(AMC)</a:t>
            </a:r>
          </a:p>
          <a:p>
            <a:pPr algn="ctr">
              <a:spcAft>
                <a:spcPts val="200"/>
              </a:spcAft>
            </a:pPr>
            <a:r>
              <a:rPr sz="900" b="0" i="0">
                <a:solidFill>
                  <a:srgbClr val="595959"/>
                </a:solidFill>
                <a:latin typeface="KoPubWorld돋움체 Light"/>
                <a:ea typeface="KoPubWorld돋움체 Light"/>
                <a:cs typeface="KoPubWorld돋움체 Light"/>
              </a:rPr>
              <a:t>[●]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5166360"/>
            <a:ext cx="2103120" cy="731520"/>
          </a:xfrm>
          <a:prstGeom prst="roundRect">
            <a:avLst/>
          </a:prstGeom>
          <a:solidFill>
            <a:srgbClr val="DAE3F3"/>
          </a:solidFill>
          <a:ln w="9525">
            <a:solidFill>
              <a:srgbClr val="BFBFBF"/>
            </a:solidFill>
          </a:ln>
        </p:spPr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50" b="0" i="0">
                <a:solidFill>
                  <a:srgbClr val="012353"/>
                </a:solidFill>
                <a:latin typeface="KoPubWorld돋움체 Bold"/>
                <a:ea typeface="KoPubWorld돋움체 Bold"/>
                <a:cs typeface="KoPubWorld돋움체 Bold"/>
              </a:rPr>
              <a:t>자산보관·사무수탁</a:t>
            </a:r>
          </a:p>
          <a:p>
            <a:pPr algn="ctr">
              <a:spcAft>
                <a:spcPts val="200"/>
              </a:spcAft>
            </a:pPr>
            <a:r>
              <a:rPr sz="900" b="0" i="0">
                <a:solidFill>
                  <a:srgbClr val="595959"/>
                </a:solidFill>
                <a:latin typeface="KoPubWorld돋움체 Light"/>
                <a:ea typeface="KoPubWorld돋움체 Light"/>
                <a:cs typeface="KoPubWorld돋움체 Light"/>
              </a:rPr>
              <a:t>[●] / [●]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0" y="5166360"/>
            <a:ext cx="2103120" cy="731520"/>
          </a:xfrm>
          <a:prstGeom prst="roundRect">
            <a:avLst/>
          </a:prstGeom>
          <a:solidFill>
            <a:srgbClr val="DAE3F3"/>
          </a:solidFill>
          <a:ln w="9525">
            <a:solidFill>
              <a:srgbClr val="BFBFBF"/>
            </a:solidFill>
          </a:ln>
        </p:spPr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50" b="0" i="0">
                <a:solidFill>
                  <a:srgbClr val="012353"/>
                </a:solidFill>
                <a:latin typeface="KoPubWorld돋움체 Bold"/>
                <a:ea typeface="KoPubWorld돋움체 Bold"/>
                <a:cs typeface="KoPubWorld돋움체 Bold"/>
              </a:rPr>
              <a:t>담보신탁 수탁자</a:t>
            </a:r>
          </a:p>
          <a:p>
            <a:pPr algn="ctr">
              <a:spcAft>
                <a:spcPts val="200"/>
              </a:spcAft>
            </a:pPr>
            <a:r>
              <a:rPr sz="900" b="0" i="0">
                <a:solidFill>
                  <a:srgbClr val="595959"/>
                </a:solidFill>
                <a:latin typeface="KoPubWorld돋움체 Light"/>
                <a:ea typeface="KoPubWorld돋움체 Light"/>
                <a:cs typeface="KoPubWorld돋움체 Light"/>
              </a:rPr>
              <a:t>[●]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017520" y="3429000"/>
            <a:ext cx="1938528" cy="0"/>
          </a:xfrm>
          <a:prstGeom prst="line">
            <a:avLst/>
          </a:prstGeom>
          <a:ln w="15875">
            <a:solidFill>
              <a:srgbClr val="595959"/>
            </a:solidFill>
            <a:tailEnd type="triangle"/>
          </a:ln>
        </p:spPr>
      </p:cxnSp>
      <p:sp>
        <p:nvSpPr>
          <p:cNvPr id="21" name="TextBox 20"/>
          <p:cNvSpPr txBox="1"/>
          <p:nvPr/>
        </p:nvSpPr>
        <p:spPr>
          <a:xfrm>
            <a:off x="3300983" y="3273552"/>
            <a:ext cx="1371600" cy="274320"/>
          </a:xfrm>
          <a:prstGeom prst="rect">
            <a:avLst/>
          </a:prstGeom>
          <a:solidFill>
            <a:srgbClr val="FFFFFF"/>
          </a:solidFill>
        </p:spPr>
        <p:txBody>
          <a:bodyPr wrap="square" anchor="ctr" lIns="73152" rIns="73152">
            <a:spAutoFit/>
          </a:bodyPr>
          <a:lstStyle/>
          <a:p>
            <a:pPr algn="ctr">
              <a:spcAft>
                <a:spcPts val="200"/>
              </a:spcAft>
            </a:pPr>
            <a:r>
              <a:rPr sz="850" b="0" i="0">
                <a:solidFill>
                  <a:srgbClr val="595959"/>
                </a:solidFill>
                <a:latin typeface="KoPubWorld돋움체 Light"/>
                <a:ea typeface="KoPubWorld돋움체 Light"/>
                <a:cs typeface="KoPubWorld돋움체 Light"/>
              </a:rPr>
              <a:t>소유권 이전</a:t>
            </a:r>
          </a:p>
        </p:txBody>
      </p:sp>
      <p:cxnSp>
        <p:nvCxnSpPr>
          <p:cNvPr id="22" name="Connector 21"/>
          <p:cNvCxnSpPr/>
          <p:nvPr/>
        </p:nvCxnSpPr>
        <p:spPr>
          <a:xfrm flipH="1">
            <a:off x="3017520" y="3657600"/>
            <a:ext cx="1938528" cy="0"/>
          </a:xfrm>
          <a:prstGeom prst="line">
            <a:avLst/>
          </a:prstGeom>
          <a:ln w="15875">
            <a:solidFill>
              <a:srgbClr val="595959"/>
            </a:solidFill>
            <a:tailEnd type="triangle"/>
          </a:ln>
        </p:spPr>
      </p:cxnSp>
      <p:sp>
        <p:nvSpPr>
          <p:cNvPr id="23" name="TextBox 22"/>
          <p:cNvSpPr txBox="1"/>
          <p:nvPr/>
        </p:nvSpPr>
        <p:spPr>
          <a:xfrm>
            <a:off x="3300983" y="3502152"/>
            <a:ext cx="1371600" cy="274320"/>
          </a:xfrm>
          <a:prstGeom prst="rect">
            <a:avLst/>
          </a:prstGeom>
          <a:solidFill>
            <a:srgbClr val="FFFFFF"/>
          </a:solidFill>
        </p:spPr>
        <p:txBody>
          <a:bodyPr wrap="square" anchor="ctr" lIns="73152" rIns="73152">
            <a:spAutoFit/>
          </a:bodyPr>
          <a:lstStyle/>
          <a:p>
            <a:pPr algn="ctr">
              <a:spcAft>
                <a:spcPts val="200"/>
              </a:spcAft>
            </a:pPr>
            <a:r>
              <a:rPr sz="850" b="0" i="0">
                <a:solidFill>
                  <a:srgbClr val="595959"/>
                </a:solidFill>
                <a:latin typeface="KoPubWorld돋움체 Light"/>
                <a:ea typeface="KoPubWorld돋움체 Light"/>
                <a:cs typeface="KoPubWorld돋움체 Light"/>
              </a:rPr>
              <a:t>매매대금</a:t>
            </a:r>
          </a:p>
        </p:txBody>
      </p:sp>
      <p:cxnSp>
        <p:nvCxnSpPr>
          <p:cNvPr id="24" name="Connector 23"/>
          <p:cNvCxnSpPr/>
          <p:nvPr/>
        </p:nvCxnSpPr>
        <p:spPr>
          <a:xfrm flipH="1">
            <a:off x="7242048" y="3383280"/>
            <a:ext cx="1901952" cy="0"/>
          </a:xfrm>
          <a:prstGeom prst="line">
            <a:avLst/>
          </a:prstGeom>
          <a:ln w="15875">
            <a:solidFill>
              <a:srgbClr val="595959"/>
            </a:solidFill>
            <a:tailEnd type="triangle"/>
          </a:ln>
        </p:spPr>
      </p:cxnSp>
      <p:sp>
        <p:nvSpPr>
          <p:cNvPr id="25" name="TextBox 24"/>
          <p:cNvSpPr txBox="1"/>
          <p:nvPr/>
        </p:nvSpPr>
        <p:spPr>
          <a:xfrm>
            <a:off x="7507224" y="3227832"/>
            <a:ext cx="1371600" cy="274320"/>
          </a:xfrm>
          <a:prstGeom prst="rect">
            <a:avLst/>
          </a:prstGeom>
          <a:solidFill>
            <a:srgbClr val="FFFFFF"/>
          </a:solidFill>
        </p:spPr>
        <p:txBody>
          <a:bodyPr wrap="square" anchor="ctr" lIns="73152" rIns="73152">
            <a:spAutoFit/>
          </a:bodyPr>
          <a:lstStyle/>
          <a:p>
            <a:pPr algn="ctr">
              <a:spcAft>
                <a:spcPts val="200"/>
              </a:spcAft>
            </a:pPr>
            <a:r>
              <a:rPr sz="850" b="0" i="0">
                <a:solidFill>
                  <a:srgbClr val="595959"/>
                </a:solidFill>
                <a:latin typeface="KoPubWorld돋움체 Light"/>
                <a:ea typeface="KoPubWorld돋움체 Light"/>
                <a:cs typeface="KoPubWorld돋움체 Light"/>
              </a:rPr>
              <a:t>임대료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108960" y="2377440"/>
            <a:ext cx="2011680" cy="685800"/>
          </a:xfrm>
          <a:prstGeom prst="line">
            <a:avLst/>
          </a:prstGeom>
          <a:ln w="15875">
            <a:solidFill>
              <a:srgbClr val="595959"/>
            </a:solidFill>
            <a:tailEnd type="triangle"/>
          </a:ln>
        </p:spPr>
      </p:cxnSp>
      <p:sp>
        <p:nvSpPr>
          <p:cNvPr id="27" name="TextBox 26"/>
          <p:cNvSpPr txBox="1"/>
          <p:nvPr/>
        </p:nvSpPr>
        <p:spPr>
          <a:xfrm>
            <a:off x="3429000" y="2564892"/>
            <a:ext cx="1371600" cy="274320"/>
          </a:xfrm>
          <a:prstGeom prst="rect">
            <a:avLst/>
          </a:prstGeom>
          <a:solidFill>
            <a:srgbClr val="FFFFFF"/>
          </a:solidFill>
        </p:spPr>
        <p:txBody>
          <a:bodyPr wrap="square" anchor="ctr" lIns="73152" rIns="73152">
            <a:spAutoFit/>
          </a:bodyPr>
          <a:lstStyle/>
          <a:p>
            <a:pPr algn="ctr">
              <a:spcAft>
                <a:spcPts val="200"/>
              </a:spcAft>
            </a:pPr>
            <a:r>
              <a:rPr sz="850" b="0" i="0">
                <a:solidFill>
                  <a:srgbClr val="595959"/>
                </a:solidFill>
                <a:latin typeface="KoPubWorld돋움체 Light"/>
                <a:ea typeface="KoPubWorld돋움체 Light"/>
                <a:cs typeface="KoPubWorld돋움체 Light"/>
              </a:rPr>
              <a:t>투자</a:t>
            </a:r>
          </a:p>
        </p:txBody>
      </p:sp>
      <p:cxnSp>
        <p:nvCxnSpPr>
          <p:cNvPr id="28" name="Connector 27"/>
          <p:cNvCxnSpPr/>
          <p:nvPr/>
        </p:nvCxnSpPr>
        <p:spPr>
          <a:xfrm flipH="1" flipV="1">
            <a:off x="2743200" y="2377440"/>
            <a:ext cx="2212848" cy="914400"/>
          </a:xfrm>
          <a:prstGeom prst="line">
            <a:avLst/>
          </a:prstGeom>
          <a:ln w="15875">
            <a:solidFill>
              <a:srgbClr val="595959"/>
            </a:solidFill>
            <a:tailEnd type="triangle"/>
          </a:ln>
        </p:spPr>
      </p:cxnSp>
      <p:sp>
        <p:nvSpPr>
          <p:cNvPr id="29" name="TextBox 28"/>
          <p:cNvSpPr txBox="1"/>
          <p:nvPr/>
        </p:nvSpPr>
        <p:spPr>
          <a:xfrm>
            <a:off x="2926080" y="2606040"/>
            <a:ext cx="1097280" cy="274320"/>
          </a:xfrm>
          <a:prstGeom prst="rect">
            <a:avLst/>
          </a:prstGeom>
          <a:solidFill>
            <a:srgbClr val="FFFFFF"/>
          </a:solidFill>
        </p:spPr>
        <p:txBody>
          <a:bodyPr wrap="square" anchor="ctr" lIns="73152" rIns="73152">
            <a:spAutoFit/>
          </a:bodyPr>
          <a:lstStyle/>
          <a:p>
            <a:pPr algn="ctr">
              <a:spcAft>
                <a:spcPts val="200"/>
              </a:spcAft>
            </a:pPr>
            <a:r>
              <a:rPr sz="850" b="0" i="0">
                <a:solidFill>
                  <a:srgbClr val="595959"/>
                </a:solidFill>
                <a:latin typeface="KoPubWorld돋움체 Light"/>
                <a:ea typeface="KoPubWorld돋움체 Light"/>
                <a:cs typeface="KoPubWorld돋움체 Light"/>
              </a:rPr>
              <a:t>배당</a:t>
            </a:r>
          </a:p>
        </p:txBody>
      </p:sp>
      <p:cxnSp>
        <p:nvCxnSpPr>
          <p:cNvPr id="30" name="Connector 29"/>
          <p:cNvCxnSpPr/>
          <p:nvPr/>
        </p:nvCxnSpPr>
        <p:spPr>
          <a:xfrm flipH="1">
            <a:off x="7086600" y="2377440"/>
            <a:ext cx="1965960" cy="685800"/>
          </a:xfrm>
          <a:prstGeom prst="line">
            <a:avLst/>
          </a:prstGeom>
          <a:ln w="15875">
            <a:solidFill>
              <a:srgbClr val="595959"/>
            </a:solidFill>
            <a:tailEnd type="triangle"/>
          </a:ln>
        </p:spPr>
      </p:cxnSp>
      <p:sp>
        <p:nvSpPr>
          <p:cNvPr id="31" name="TextBox 30"/>
          <p:cNvSpPr txBox="1"/>
          <p:nvPr/>
        </p:nvSpPr>
        <p:spPr>
          <a:xfrm>
            <a:off x="7383779" y="2564892"/>
            <a:ext cx="1371600" cy="274320"/>
          </a:xfrm>
          <a:prstGeom prst="rect">
            <a:avLst/>
          </a:prstGeom>
          <a:solidFill>
            <a:srgbClr val="FFFFFF"/>
          </a:solidFill>
        </p:spPr>
        <p:txBody>
          <a:bodyPr wrap="square" anchor="ctr" lIns="73152" rIns="73152">
            <a:spAutoFit/>
          </a:bodyPr>
          <a:lstStyle/>
          <a:p>
            <a:pPr algn="ctr">
              <a:spcAft>
                <a:spcPts val="200"/>
              </a:spcAft>
            </a:pPr>
            <a:r>
              <a:rPr sz="850" b="0" i="0">
                <a:solidFill>
                  <a:srgbClr val="595959"/>
                </a:solidFill>
                <a:latin typeface="KoPubWorld돋움체 Light"/>
                <a:ea typeface="KoPubWorld돋움체 Light"/>
                <a:cs typeface="KoPubWorld돋움체 Light"/>
              </a:rPr>
              <a:t>대출</a:t>
            </a:r>
          </a:p>
        </p:txBody>
      </p:sp>
      <p:cxnSp>
        <p:nvCxnSpPr>
          <p:cNvPr id="32" name="Connector 31"/>
          <p:cNvCxnSpPr/>
          <p:nvPr/>
        </p:nvCxnSpPr>
        <p:spPr>
          <a:xfrm flipV="1">
            <a:off x="7242048" y="2377440"/>
            <a:ext cx="2176272" cy="868680"/>
          </a:xfrm>
          <a:prstGeom prst="line">
            <a:avLst/>
          </a:prstGeom>
          <a:ln w="15875">
            <a:solidFill>
              <a:srgbClr val="595959"/>
            </a:solidFill>
            <a:tailEnd type="triangle"/>
          </a:ln>
        </p:spPr>
      </p:cxnSp>
      <p:sp>
        <p:nvSpPr>
          <p:cNvPr id="33" name="TextBox 32"/>
          <p:cNvSpPr txBox="1"/>
          <p:nvPr/>
        </p:nvSpPr>
        <p:spPr>
          <a:xfrm>
            <a:off x="8503920" y="2606040"/>
            <a:ext cx="1097280" cy="274320"/>
          </a:xfrm>
          <a:prstGeom prst="rect">
            <a:avLst/>
          </a:prstGeom>
          <a:solidFill>
            <a:srgbClr val="FFFFFF"/>
          </a:solidFill>
        </p:spPr>
        <p:txBody>
          <a:bodyPr wrap="square" anchor="ctr" lIns="73152" rIns="73152">
            <a:spAutoFit/>
          </a:bodyPr>
          <a:lstStyle/>
          <a:p>
            <a:pPr algn="ctr">
              <a:spcAft>
                <a:spcPts val="200"/>
              </a:spcAft>
            </a:pPr>
            <a:r>
              <a:rPr sz="850" b="0" i="0">
                <a:solidFill>
                  <a:srgbClr val="595959"/>
                </a:solidFill>
                <a:latin typeface="KoPubWorld돋움체 Light"/>
                <a:ea typeface="KoPubWorld돋움체 Light"/>
                <a:cs typeface="KoPubWorld돋움체 Light"/>
              </a:rPr>
              <a:t>이자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099048" y="2377440"/>
            <a:ext cx="0" cy="685800"/>
          </a:xfrm>
          <a:prstGeom prst="line">
            <a:avLst/>
          </a:prstGeom>
          <a:ln w="15875">
            <a:solidFill>
              <a:srgbClr val="595959"/>
            </a:solidFill>
            <a:tailEnd type="triangle"/>
          </a:ln>
        </p:spPr>
      </p:cxnSp>
      <p:sp>
        <p:nvSpPr>
          <p:cNvPr id="35" name="TextBox 34"/>
          <p:cNvSpPr txBox="1"/>
          <p:nvPr/>
        </p:nvSpPr>
        <p:spPr>
          <a:xfrm>
            <a:off x="5413248" y="2564892"/>
            <a:ext cx="1371600" cy="274320"/>
          </a:xfrm>
          <a:prstGeom prst="rect">
            <a:avLst/>
          </a:prstGeom>
          <a:solidFill>
            <a:srgbClr val="FFFFFF"/>
          </a:solidFill>
        </p:spPr>
        <p:txBody>
          <a:bodyPr wrap="square" anchor="ctr" lIns="73152" rIns="73152">
            <a:spAutoFit/>
          </a:bodyPr>
          <a:lstStyle/>
          <a:p>
            <a:pPr algn="ctr">
              <a:spcAft>
                <a:spcPts val="200"/>
              </a:spcAft>
            </a:pPr>
            <a:r>
              <a:rPr sz="850" b="0" i="0">
                <a:solidFill>
                  <a:srgbClr val="595959"/>
                </a:solidFill>
                <a:latin typeface="KoPubWorld돋움체 Light"/>
                <a:ea typeface="KoPubWorld돋움체 Light"/>
                <a:cs typeface="KoPubWorld돋움체 Light"/>
              </a:rPr>
              <a:t>자산관리위탁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6099048" y="3931920"/>
            <a:ext cx="0" cy="1234440"/>
          </a:xfrm>
          <a:prstGeom prst="line">
            <a:avLst/>
          </a:prstGeom>
          <a:ln w="15875">
            <a:solidFill>
              <a:srgbClr val="595959"/>
            </a:solidFill>
            <a:tailEnd type="triangle"/>
          </a:ln>
        </p:spPr>
      </p:cxnSp>
      <p:sp>
        <p:nvSpPr>
          <p:cNvPr id="37" name="TextBox 36"/>
          <p:cNvSpPr txBox="1"/>
          <p:nvPr/>
        </p:nvSpPr>
        <p:spPr>
          <a:xfrm>
            <a:off x="5413248" y="4393692"/>
            <a:ext cx="1371600" cy="274320"/>
          </a:xfrm>
          <a:prstGeom prst="rect">
            <a:avLst/>
          </a:prstGeom>
          <a:solidFill>
            <a:srgbClr val="FFFFFF"/>
          </a:solidFill>
        </p:spPr>
        <p:txBody>
          <a:bodyPr wrap="square" anchor="ctr" lIns="73152" rIns="73152">
            <a:spAutoFit/>
          </a:bodyPr>
          <a:lstStyle/>
          <a:p>
            <a:pPr algn="ctr">
              <a:spcAft>
                <a:spcPts val="200"/>
              </a:spcAft>
            </a:pPr>
            <a:r>
              <a:rPr sz="850" b="0" i="0">
                <a:solidFill>
                  <a:srgbClr val="595959"/>
                </a:solidFill>
                <a:latin typeface="KoPubWorld돋움체 Light"/>
                <a:ea typeface="KoPubWorld돋움체 Light"/>
                <a:cs typeface="KoPubWorld돋움체 Light"/>
              </a:rPr>
              <a:t>매입 · 운용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11480" y="5989320"/>
            <a:ext cx="11368735" cy="411480"/>
          </a:xfrm>
          <a:prstGeom prst="rect">
            <a:avLst/>
          </a:prstGeom>
          <a:solidFill>
            <a:srgbClr val="FFF8E5"/>
          </a:solidFill>
          <a:ln w="9525">
            <a:solidFill>
              <a:srgbClr val="F2C14E"/>
            </a:solidFill>
          </a:ln>
        </p:spPr>
        <p:txBody>
          <a:bodyPr rtlCol="0" anchor="t" wrap="square" lIns="100584" rIns="100584" tIns="73152" bIns="73152"/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7F6000"/>
                </a:solidFill>
                <a:latin typeface="KoPubWorld돋움체 Bold"/>
                <a:ea typeface="KoPubWorld돋움체 Bold"/>
                <a:cs typeface="KoPubWorld돋움체 Bold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900" b="0" i="0">
                <a:solidFill>
                  <a:srgbClr val="595959"/>
                </a:solidFill>
                <a:latin typeface="KoPubWorld돋움체 Light"/>
                <a:ea typeface="KoPubWorld돋움체 Light"/>
                <a:cs typeface="KoPubWorld돋움체 Light"/>
              </a:rPr>
              <a:t>• 화살표마다 거래 내용(대금·권리·현금흐름)을 적고, 각 기관명과 역할을 박스 안에 채웁니다.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256032"/>
            <a:ext cx="502920" cy="384048"/>
          </a:xfrm>
          <a:prstGeom prst="rect">
            <a:avLst/>
          </a:prstGeom>
          <a:solidFill>
            <a:srgbClr val="012353"/>
          </a:solidFill>
          <a:ln>
            <a:noFill/>
          </a:ln>
        </p:spPr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01168"/>
            <a:ext cx="6858000" cy="256032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 i="0">
                <a:solidFill>
                  <a:srgbClr val="8C8C8C"/>
                </a:solidFill>
                <a:latin typeface="KoPubWorld돋움체 Light"/>
                <a:ea typeface="KoPubWorld돋움체 Light"/>
                <a:cs typeface="KoPubWorld돋움체 Light"/>
              </a:rPr>
              <a:t>투자개요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420624"/>
            <a:ext cx="8686800" cy="329184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012353"/>
                </a:solidFill>
                <a:latin typeface="KoPubWorld돋움체 Bold"/>
                <a:ea typeface="KoPubWorld돋움체 Bold"/>
                <a:cs typeface="KoPubWorld돋움체 Bold"/>
              </a:rPr>
              <a:t>투자구조도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54135" y="256032"/>
            <a:ext cx="2926080" cy="2743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 i="0">
                <a:solidFill>
                  <a:srgbClr val="8C8C8C"/>
                </a:solidFill>
                <a:latin typeface="KoPubWorld돋움체 Light"/>
                <a:ea typeface="KoPubWorld돋움체 Light"/>
                <a:cs typeface="KoPubWorld돋움체 Light"/>
              </a:rPr>
              <a:t>[자산명] Information Memorandum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11480" y="841248"/>
            <a:ext cx="11368735" cy="0"/>
          </a:xfrm>
          <a:prstGeom prst="line">
            <a:avLst/>
          </a:prstGeom>
          <a:ln w="19050">
            <a:solidFill>
              <a:srgbClr val="012353"/>
            </a:solidFill>
          </a:ln>
        </p:spPr>
      </p:cxnSp>
      <p:sp>
        <p:nvSpPr>
          <p:cNvPr id="7" name="TextBox 6"/>
          <p:cNvSpPr txBox="1"/>
          <p:nvPr/>
        </p:nvSpPr>
        <p:spPr>
          <a:xfrm>
            <a:off x="411480" y="914400"/>
            <a:ext cx="11368735" cy="41148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F1F1F"/>
                </a:solidFill>
                <a:latin typeface="KoPubWorld돋움체 Medium"/>
                <a:ea typeface="KoPubWorld돋움체 Medium"/>
                <a:cs typeface="KoPubWorld돋움체 Medium"/>
              </a:rPr>
              <a:t>[총투자비 [●]억원을 Equity [●]억원 · Debt [●]억원으로 조달]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11480" y="6446520"/>
            <a:ext cx="11368735" cy="0"/>
          </a:xfrm>
          <a:prstGeom prst="line">
            <a:avLst/>
          </a:prstGeom>
          <a:ln w="6350">
            <a:solidFill>
              <a:srgbClr val="BFBFBF"/>
            </a:solidFill>
          </a:ln>
        </p:spPr>
      </p:cxnSp>
      <p:sp>
        <p:nvSpPr>
          <p:cNvPr id="9" name="TextBox 8"/>
          <p:cNvSpPr txBox="1"/>
          <p:nvPr/>
        </p:nvSpPr>
        <p:spPr>
          <a:xfrm>
            <a:off x="411480" y="6473952"/>
            <a:ext cx="8686800" cy="2743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 i="0">
                <a:solidFill>
                  <a:srgbClr val="8C8C8C"/>
                </a:solidFill>
                <a:latin typeface="KoPubWorld돋움체 Light"/>
                <a:ea typeface="KoPubWorld돋움체 Light"/>
                <a:cs typeface="KoPubWorld돋움체 Light"/>
              </a:rPr>
              <a:t>IM 작성 실습용 양식(Clean) · 특정 자산·거래·당사자와 무관 · [●]는 실습자가 채울 공란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65815" y="6473952"/>
            <a:ext cx="914400" cy="2743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 i="0">
                <a:solidFill>
                  <a:srgbClr val="8C8C8C"/>
                </a:solidFill>
                <a:latin typeface="KoPubWorld돋움체 Light"/>
                <a:ea typeface="KoPubWorld돋움체 Light"/>
                <a:cs typeface="KoPubWorld돋움체 Light"/>
              </a:rPr>
              <a:t>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1508760"/>
            <a:ext cx="5577840" cy="256032"/>
          </a:xfrm>
          <a:prstGeom prst="rect">
            <a:avLst/>
          </a:prstGeom>
          <a:solidFill>
            <a:srgbClr val="345B86"/>
          </a:solidFill>
          <a:ln>
            <a:noFill/>
          </a:ln>
        </p:spPr>
        <p:txBody>
          <a:bodyPr rtlCol="0" anchor="ctr" wrap="square" lIns="54864" rIns="54864" tIns="27432" bIns="27432"/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자금 사용 (Uses)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99632" y="1508760"/>
            <a:ext cx="5577840" cy="256032"/>
          </a:xfrm>
          <a:prstGeom prst="rect">
            <a:avLst/>
          </a:prstGeom>
          <a:solidFill>
            <a:srgbClr val="345B86"/>
          </a:solidFill>
          <a:ln>
            <a:noFill/>
          </a:ln>
        </p:spPr>
        <p:txBody>
          <a:bodyPr rtlCol="0" anchor="ctr" wrap="square" lIns="54864" rIns="54864" tIns="27432" bIns="27432"/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자금 조달 (Sources)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411480" y="1828800"/>
          <a:ext cx="5577838" cy="243230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685626"/>
                <a:gridCol w="1652693"/>
                <a:gridCol w="1239519"/>
              </a:tblGrid>
              <a:tr h="347472"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002060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항목</a:t>
                      </a:r>
                    </a:p>
                  </a:txBody>
                  <a:tcPr anchor="ctr" marL="45720" marR="45720" marT="18288" marB="18288">
                    <a:solidFill>
                      <a:srgbClr val="DAE3F3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002060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금액(억원)</a:t>
                      </a:r>
                    </a:p>
                  </a:txBody>
                  <a:tcPr anchor="ctr" marL="45720" marR="45720" marT="18288" marB="18288">
                    <a:solidFill>
                      <a:srgbClr val="DAE3F3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002060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비중</a:t>
                      </a:r>
                    </a:p>
                  </a:txBody>
                  <a:tcPr anchor="ctr" marL="45720" marR="45720" marT="18288" marB="18288">
                    <a:solidFill>
                      <a:srgbClr val="DAE3F3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부동산 매입금액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[●]%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취득세 등 제세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[●]%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매입·금융 수수료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[●]%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실사·예비비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[●]%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이자유보·운영자금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[●]%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합계</a:t>
                      </a:r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100.0%</a:t>
                      </a:r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199632" y="1828800"/>
          <a:ext cx="5577840" cy="312724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828800"/>
                <a:gridCol w="1188720"/>
                <a:gridCol w="914400"/>
                <a:gridCol w="1645920"/>
              </a:tblGrid>
              <a:tr h="347472"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002060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항목</a:t>
                      </a:r>
                    </a:p>
                  </a:txBody>
                  <a:tcPr anchor="ctr" marL="45720" marR="45720" marT="18288" marB="18288">
                    <a:solidFill>
                      <a:srgbClr val="DAE3F3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002060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금액(억원)</a:t>
                      </a:r>
                    </a:p>
                  </a:txBody>
                  <a:tcPr anchor="ctr" marL="45720" marR="45720" marT="18288" marB="18288">
                    <a:solidFill>
                      <a:srgbClr val="DAE3F3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002060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비중</a:t>
                      </a:r>
                    </a:p>
                  </a:txBody>
                  <a:tcPr anchor="ctr" marL="45720" marR="45720" marT="18288" marB="18288">
                    <a:solidFill>
                      <a:srgbClr val="DAE3F3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002060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조건</a:t>
                      </a:r>
                    </a:p>
                  </a:txBody>
                  <a:tcPr anchor="ctr" marL="45720" marR="45720" marT="18288" marB="18288">
                    <a:solidFill>
                      <a:srgbClr val="DAE3F3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임대보증금 승계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[●]%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-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선순위 대출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[●]%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[●]개월 / [●]%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중순위 대출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[●]%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[●]개월 / [●]%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[제1종 종류주식]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[●]%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CoC [●]%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[제2종 종류주식]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[●]%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CoC [●]%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[제3종 종류주식]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[●]%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보통주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[●]%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잔여 배분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합계</a:t>
                      </a:r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100.0%</a:t>
                      </a:r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/>
                      </a:r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5" name="Rectangle 14"/>
          <p:cNvSpPr/>
          <p:nvPr/>
        </p:nvSpPr>
        <p:spPr>
          <a:xfrm>
            <a:off x="411480" y="4572000"/>
            <a:ext cx="5577840" cy="1783080"/>
          </a:xfrm>
          <a:prstGeom prst="rect">
            <a:avLst/>
          </a:prstGeom>
          <a:solidFill>
            <a:srgbClr val="FFF8E5"/>
          </a:solidFill>
          <a:ln w="9525">
            <a:solidFill>
              <a:srgbClr val="F2C14E"/>
            </a:solidFill>
          </a:ln>
        </p:spPr>
        <p:txBody>
          <a:bodyPr rtlCol="0" anchor="t" wrap="square" lIns="100584" rIns="100584" tIns="73152" bIns="73152"/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7F6000"/>
                </a:solidFill>
                <a:latin typeface="KoPubWorld돋움체 Bold"/>
                <a:ea typeface="KoPubWorld돋움체 Bold"/>
                <a:cs typeface="KoPubWorld돋움체 Bold"/>
              </a:rPr>
              <a:t>작성 가이드</a:t>
            </a:r>
          </a:p>
          <a:p>
            <a:pPr algn="l">
              <a:spcAft>
                <a:spcPts val="200"/>
              </a:spcAft>
            </a:pPr>
            <a:r>
              <a:rPr sz="900" b="0" i="0">
                <a:solidFill>
                  <a:srgbClr val="595959"/>
                </a:solidFill>
                <a:latin typeface="KoPubWorld돋움체 Light"/>
                <a:ea typeface="KoPubWorld돋움체 Light"/>
                <a:cs typeface="KoPubWorld돋움체 Light"/>
              </a:rPr>
              <a:t>• Uses 합계 = Sources 합계가 되도록 맞춥니다.</a:t>
            </a:r>
          </a:p>
          <a:p>
            <a:pPr algn="l">
              <a:spcAft>
                <a:spcPts val="200"/>
              </a:spcAft>
            </a:pPr>
            <a:r>
              <a:rPr sz="900" b="0" i="0">
                <a:solidFill>
                  <a:srgbClr val="595959"/>
                </a:solidFill>
                <a:latin typeface="KoPubWorld돋움체 Light"/>
                <a:ea typeface="KoPubWorld돋움체 Light"/>
                <a:cs typeface="KoPubWorld돋움체 Light"/>
              </a:rPr>
              <a:t>• LTV는 분모(감정가 또는 매입가)와 대출 범위(보증금 포함 여부)를 함께 적습니다.</a:t>
            </a:r>
          </a:p>
          <a:p>
            <a:pPr algn="l">
              <a:spcAft>
                <a:spcPts val="200"/>
              </a:spcAft>
            </a:pPr>
            <a:r>
              <a:rPr sz="900" b="0" i="0">
                <a:solidFill>
                  <a:srgbClr val="595959"/>
                </a:solidFill>
                <a:latin typeface="KoPubWorld돋움체 Light"/>
                <a:ea typeface="KoPubWorld돋움체 Light"/>
                <a:cs typeface="KoPubWorld돋움체 Light"/>
              </a:rPr>
              <a:t>• Tranche별 상환 순위(대출 → 종류주식 → 보통주)를 구조도에 표시합니다.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99632" y="5029200"/>
            <a:ext cx="5577840" cy="1325880"/>
          </a:xfrm>
          <a:prstGeom prst="rect">
            <a:avLst/>
          </a:prstGeom>
          <a:solidFill>
            <a:srgbClr val="FAFAFA"/>
          </a:solidFill>
          <a:ln w="9525">
            <a:solidFill>
              <a:srgbClr val="BFBFBF"/>
            </a:solidFill>
            <a:prstDash val="dash"/>
          </a:ln>
        </p:spPr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8C8C8C"/>
                </a:solidFill>
                <a:latin typeface="KoPubWorld돋움체 Light"/>
                <a:ea typeface="KoPubWorld돋움체 Light"/>
                <a:cs typeface="KoPubWorld돋움체 Light"/>
              </a:rPr>
              <a:t>[자본구조 누적 막대: 보증금 / 선순위 / 중순위 / 종류주식 / 보통주]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256032"/>
            <a:ext cx="502920" cy="384048"/>
          </a:xfrm>
          <a:prstGeom prst="rect">
            <a:avLst/>
          </a:prstGeom>
          <a:solidFill>
            <a:srgbClr val="012353"/>
          </a:solidFill>
          <a:ln>
            <a:noFill/>
          </a:ln>
        </p:spPr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01168"/>
            <a:ext cx="6858000" cy="256032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 i="0">
                <a:solidFill>
                  <a:srgbClr val="8C8C8C"/>
                </a:solidFill>
                <a:latin typeface="KoPubWorld돋움체 Light"/>
                <a:ea typeface="KoPubWorld돋움체 Light"/>
                <a:cs typeface="KoPubWorld돋움체 Light"/>
              </a:rPr>
              <a:t>투자개요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420624"/>
            <a:ext cx="8686800" cy="329184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012353"/>
                </a:solidFill>
                <a:latin typeface="KoPubWorld돋움체 Bold"/>
                <a:ea typeface="KoPubWorld돋움체 Bold"/>
                <a:cs typeface="KoPubWorld돋움체 Bold"/>
              </a:rPr>
              <a:t>추진일정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54135" y="256032"/>
            <a:ext cx="2926080" cy="2743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 i="0">
                <a:solidFill>
                  <a:srgbClr val="8C8C8C"/>
                </a:solidFill>
                <a:latin typeface="KoPubWorld돋움체 Light"/>
                <a:ea typeface="KoPubWorld돋움체 Light"/>
                <a:cs typeface="KoPubWorld돋움체 Light"/>
              </a:rPr>
              <a:t>[자산명] Information Memorandum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11480" y="841248"/>
            <a:ext cx="11368735" cy="0"/>
          </a:xfrm>
          <a:prstGeom prst="line">
            <a:avLst/>
          </a:prstGeom>
          <a:ln w="19050">
            <a:solidFill>
              <a:srgbClr val="012353"/>
            </a:solidFill>
          </a:ln>
        </p:spPr>
      </p:cxnSp>
      <p:sp>
        <p:nvSpPr>
          <p:cNvPr id="7" name="TextBox 6"/>
          <p:cNvSpPr txBox="1"/>
          <p:nvPr/>
        </p:nvSpPr>
        <p:spPr>
          <a:xfrm>
            <a:off x="411480" y="914400"/>
            <a:ext cx="11368735" cy="41148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F1F1F"/>
                </a:solidFill>
                <a:latin typeface="KoPubWorld돋움체 Medium"/>
                <a:ea typeface="KoPubWorld돋움체 Medium"/>
                <a:cs typeface="KoPubWorld돋움체 Medium"/>
              </a:rPr>
              <a:t>[목표 거래종결 시점과 총 소요기간: 예) [YYYY.MM] 종결 목표, 약 [●]주 소요]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11480" y="6446520"/>
            <a:ext cx="11368735" cy="0"/>
          </a:xfrm>
          <a:prstGeom prst="line">
            <a:avLst/>
          </a:prstGeom>
          <a:ln w="6350">
            <a:solidFill>
              <a:srgbClr val="BFBFBF"/>
            </a:solidFill>
          </a:ln>
        </p:spPr>
      </p:cxnSp>
      <p:sp>
        <p:nvSpPr>
          <p:cNvPr id="9" name="TextBox 8"/>
          <p:cNvSpPr txBox="1"/>
          <p:nvPr/>
        </p:nvSpPr>
        <p:spPr>
          <a:xfrm>
            <a:off x="411480" y="6473952"/>
            <a:ext cx="8686800" cy="2743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 i="0">
                <a:solidFill>
                  <a:srgbClr val="8C8C8C"/>
                </a:solidFill>
                <a:latin typeface="KoPubWorld돋움체 Light"/>
                <a:ea typeface="KoPubWorld돋움체 Light"/>
                <a:cs typeface="KoPubWorld돋움체 Light"/>
              </a:rPr>
              <a:t>IM 작성 실습용 양식(Clean) · 특정 자산·거래·당사자와 무관 · [●]는 실습자가 채울 공란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65815" y="6473952"/>
            <a:ext cx="914400" cy="2743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 i="0">
                <a:solidFill>
                  <a:srgbClr val="8C8C8C"/>
                </a:solidFill>
                <a:latin typeface="KoPubWorld돋움체 Light"/>
                <a:ea typeface="KoPubWorld돋움체 Light"/>
                <a:cs typeface="KoPubWorld돋움체 Light"/>
              </a:rPr>
              <a:t>8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11480" y="1508760"/>
          <a:ext cx="11368734" cy="4608576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303294"/>
                <a:gridCol w="2606588"/>
                <a:gridCol w="621571"/>
                <a:gridCol w="621571"/>
                <a:gridCol w="621571"/>
                <a:gridCol w="621571"/>
                <a:gridCol w="621571"/>
                <a:gridCol w="621571"/>
                <a:gridCol w="621571"/>
                <a:gridCol w="621571"/>
                <a:gridCol w="621571"/>
                <a:gridCol w="621571"/>
                <a:gridCol w="621571"/>
                <a:gridCol w="621571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002060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구분</a:t>
                      </a:r>
                    </a:p>
                  </a:txBody>
                  <a:tcPr anchor="ctr" marL="45720" marR="45720" marT="18288" marB="18288">
                    <a:solidFill>
                      <a:srgbClr val="DAE3F3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002060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업무</a:t>
                      </a:r>
                    </a:p>
                  </a:txBody>
                  <a:tcPr anchor="ctr" marL="45720" marR="45720" marT="18288" marB="18288">
                    <a:solidFill>
                      <a:srgbClr val="DAE3F3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002060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1주</a:t>
                      </a:r>
                    </a:p>
                  </a:txBody>
                  <a:tcPr anchor="ctr" marL="45720" marR="45720" marT="18288" marB="18288">
                    <a:solidFill>
                      <a:srgbClr val="DAE3F3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002060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2주</a:t>
                      </a:r>
                    </a:p>
                  </a:txBody>
                  <a:tcPr anchor="ctr" marL="45720" marR="45720" marT="18288" marB="18288">
                    <a:solidFill>
                      <a:srgbClr val="DAE3F3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002060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3주</a:t>
                      </a:r>
                    </a:p>
                  </a:txBody>
                  <a:tcPr anchor="ctr" marL="45720" marR="45720" marT="18288" marB="18288">
                    <a:solidFill>
                      <a:srgbClr val="DAE3F3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002060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4주</a:t>
                      </a:r>
                    </a:p>
                  </a:txBody>
                  <a:tcPr anchor="ctr" marL="45720" marR="45720" marT="18288" marB="18288">
                    <a:solidFill>
                      <a:srgbClr val="DAE3F3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002060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5주</a:t>
                      </a:r>
                    </a:p>
                  </a:txBody>
                  <a:tcPr anchor="ctr" marL="45720" marR="45720" marT="18288" marB="18288">
                    <a:solidFill>
                      <a:srgbClr val="DAE3F3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002060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6주</a:t>
                      </a:r>
                    </a:p>
                  </a:txBody>
                  <a:tcPr anchor="ctr" marL="45720" marR="45720" marT="18288" marB="18288">
                    <a:solidFill>
                      <a:srgbClr val="DAE3F3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002060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7주</a:t>
                      </a:r>
                    </a:p>
                  </a:txBody>
                  <a:tcPr anchor="ctr" marL="45720" marR="45720" marT="18288" marB="18288">
                    <a:solidFill>
                      <a:srgbClr val="DAE3F3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002060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8주</a:t>
                      </a:r>
                    </a:p>
                  </a:txBody>
                  <a:tcPr anchor="ctr" marL="45720" marR="45720" marT="18288" marB="18288">
                    <a:solidFill>
                      <a:srgbClr val="DAE3F3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002060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9주</a:t>
                      </a:r>
                    </a:p>
                  </a:txBody>
                  <a:tcPr anchor="ctr" marL="45720" marR="45720" marT="18288" marB="18288">
                    <a:solidFill>
                      <a:srgbClr val="DAE3F3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002060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10주</a:t>
                      </a:r>
                    </a:p>
                  </a:txBody>
                  <a:tcPr anchor="ctr" marL="45720" marR="45720" marT="18288" marB="18288">
                    <a:solidFill>
                      <a:srgbClr val="DAE3F3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002060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11주</a:t>
                      </a:r>
                    </a:p>
                  </a:txBody>
                  <a:tcPr anchor="ctr" marL="45720" marR="45720" marT="18288" marB="18288">
                    <a:solidFill>
                      <a:srgbClr val="DAE3F3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002060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12주</a:t>
                      </a:r>
                    </a:p>
                  </a:txBody>
                  <a:tcPr anchor="ctr" marL="45720" marR="45720" marT="18288" marB="18288">
                    <a:solidFill>
                      <a:srgbClr val="DAE3F3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84048">
                <a:tc rowSpan="2"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매도인 협의</a:t>
                      </a:r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경쟁입찰 / 우선협상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/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/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/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/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/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/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/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/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/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/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/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/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84048">
                <a:tc vMerge="1">
                  <a:txBody>
                    <a:bodyPr wrap="square"/>
                    <a:lstStyle/>
                    <a:p>
                      <a:pPr algn="ctr"/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MOU · 독점협상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/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/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/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/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/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/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/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/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/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/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/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/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84048">
                <a:tc rowSpan="2"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실사</a:t>
                      </a:r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법률 · 물리 · 재무 · 시장 실사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/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/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/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/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/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/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/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/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/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/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/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/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84048">
                <a:tc vMerge="1">
                  <a:txBody>
                    <a:bodyPr wrap="square"/>
                    <a:lstStyle/>
                    <a:p>
                      <a:pPr algn="ctr"/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감정평가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/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/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/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/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/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/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/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/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/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/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/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/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84048">
                <a:tc rowSpan="2"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투자기구</a:t>
                      </a:r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설립 · 영업인가(등록)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/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/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/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/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/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/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/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/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/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/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/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/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84048">
                <a:tc vMerge="1">
                  <a:txBody>
                    <a:bodyPr wrap="square"/>
                    <a:lstStyle/>
                    <a:p>
                      <a:pPr algn="ctr"/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주주간계약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/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/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/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/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/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/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/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/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/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/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/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/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84048">
                <a:tc rowSpan="2"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Equity</a:t>
                      </a:r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투자자 모집 · 승인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/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/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/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/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/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/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/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/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/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/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/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/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84048">
                <a:tc vMerge="1">
                  <a:txBody>
                    <a:bodyPr wrap="square"/>
                    <a:lstStyle/>
                    <a:p>
                      <a:pPr algn="ctr"/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인수확약서(LOC) 발급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/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/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/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/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/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/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/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/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/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/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/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/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84048">
                <a:tc rowSpan="2"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Loan</a:t>
                      </a:r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대주 심의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/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/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/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/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/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/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/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/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/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/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/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/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84048">
                <a:tc vMerge="1">
                  <a:txBody>
                    <a:bodyPr wrap="square"/>
                    <a:lstStyle/>
                    <a:p>
                      <a:pPr algn="ctr"/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대출약정 체결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/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/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/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/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/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/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/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/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/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/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/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/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종결</a:t>
                      </a:r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매매계약 · 잔금 · 소유권이전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/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/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/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/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/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/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/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/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/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/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/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/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411480" y="5715000"/>
            <a:ext cx="11368735" cy="640080"/>
          </a:xfrm>
          <a:prstGeom prst="rect">
            <a:avLst/>
          </a:prstGeom>
          <a:solidFill>
            <a:srgbClr val="FFF8E5"/>
          </a:solidFill>
          <a:ln w="9525">
            <a:solidFill>
              <a:srgbClr val="F2C14E"/>
            </a:solidFill>
          </a:ln>
        </p:spPr>
        <p:txBody>
          <a:bodyPr rtlCol="0" anchor="t" wrap="square" lIns="100584" rIns="100584" tIns="73152" bIns="73152"/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7F6000"/>
                </a:solidFill>
                <a:latin typeface="KoPubWorld돋움체 Bold"/>
                <a:ea typeface="KoPubWorld돋움체 Bold"/>
                <a:cs typeface="KoPubWorld돋움체 Bold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900" b="0" i="0">
                <a:solidFill>
                  <a:srgbClr val="595959"/>
                </a:solidFill>
                <a:latin typeface="KoPubWorld돋움체 Light"/>
                <a:ea typeface="KoPubWorld돋움체 Light"/>
                <a:cs typeface="KoPubWorld돋움체 Light"/>
              </a:rPr>
              <a:t>• 해당 주차 셀에 음영을 넣어 막대를 표시하고, 주요 마일스톤(투심·계약·종결)은 ◆로 표시합니다.</a:t>
            </a:r>
          </a:p>
          <a:p>
            <a:pPr algn="l">
              <a:spcAft>
                <a:spcPts val="200"/>
              </a:spcAft>
            </a:pPr>
            <a:r>
              <a:rPr sz="900" b="0" i="0">
                <a:solidFill>
                  <a:srgbClr val="595959"/>
                </a:solidFill>
                <a:latin typeface="KoPubWorld돋움체 Light"/>
                <a:ea typeface="KoPubWorld돋움체 Light"/>
                <a:cs typeface="KoPubWorld돋움체 Light"/>
              </a:rPr>
              <a:t>• ※ 일정은 관계기관 승인과 실사 진행에 따라 변동될 수 있다는 문구를 함께 적습니다.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256032"/>
            <a:ext cx="502920" cy="384048"/>
          </a:xfrm>
          <a:prstGeom prst="rect">
            <a:avLst/>
          </a:prstGeom>
          <a:solidFill>
            <a:srgbClr val="012353"/>
          </a:solidFill>
          <a:ln>
            <a:noFill/>
          </a:ln>
        </p:spPr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01168"/>
            <a:ext cx="6858000" cy="256032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 i="0">
                <a:solidFill>
                  <a:srgbClr val="8C8C8C"/>
                </a:solidFill>
                <a:latin typeface="KoPubWorld돋움체 Light"/>
                <a:ea typeface="KoPubWorld돋움체 Light"/>
                <a:cs typeface="KoPubWorld돋움체 Light"/>
              </a:rPr>
              <a:t>시장현황 및 입지분석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420624"/>
            <a:ext cx="8686800" cy="329184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012353"/>
                </a:solidFill>
                <a:latin typeface="KoPubWorld돋움체 Bold"/>
                <a:ea typeface="KoPubWorld돋움체 Bold"/>
                <a:cs typeface="KoPubWorld돋움체 Bold"/>
              </a:rPr>
              <a:t>시장현황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54135" y="256032"/>
            <a:ext cx="2926080" cy="2743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 i="0">
                <a:solidFill>
                  <a:srgbClr val="8C8C8C"/>
                </a:solidFill>
                <a:latin typeface="KoPubWorld돋움체 Light"/>
                <a:ea typeface="KoPubWorld돋움체 Light"/>
                <a:cs typeface="KoPubWorld돋움체 Light"/>
              </a:rPr>
              <a:t>[자산명] Information Memorandum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11480" y="841248"/>
            <a:ext cx="11368735" cy="0"/>
          </a:xfrm>
          <a:prstGeom prst="line">
            <a:avLst/>
          </a:prstGeom>
          <a:ln w="19050">
            <a:solidFill>
              <a:srgbClr val="012353"/>
            </a:solidFill>
          </a:ln>
        </p:spPr>
      </p:cxnSp>
      <p:sp>
        <p:nvSpPr>
          <p:cNvPr id="7" name="TextBox 6"/>
          <p:cNvSpPr txBox="1"/>
          <p:nvPr/>
        </p:nvSpPr>
        <p:spPr>
          <a:xfrm>
            <a:off x="411480" y="914400"/>
            <a:ext cx="11368735" cy="41148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F1F1F"/>
                </a:solidFill>
                <a:latin typeface="KoPubWorld돋움체 Medium"/>
                <a:ea typeface="KoPubWorld돋움체 Medium"/>
                <a:cs typeface="KoPubWorld돋움체 Medium"/>
              </a:rPr>
              <a:t>[시장 판단을 3가지 메시지로: 예) 공급 감소 · 임대료 상승 · 거래가격 회복]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11480" y="6446520"/>
            <a:ext cx="11368735" cy="0"/>
          </a:xfrm>
          <a:prstGeom prst="line">
            <a:avLst/>
          </a:prstGeom>
          <a:ln w="6350">
            <a:solidFill>
              <a:srgbClr val="BFBFBF"/>
            </a:solidFill>
          </a:ln>
        </p:spPr>
      </p:cxnSp>
      <p:sp>
        <p:nvSpPr>
          <p:cNvPr id="9" name="TextBox 8"/>
          <p:cNvSpPr txBox="1"/>
          <p:nvPr/>
        </p:nvSpPr>
        <p:spPr>
          <a:xfrm>
            <a:off x="411480" y="6473952"/>
            <a:ext cx="8686800" cy="2743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 i="0">
                <a:solidFill>
                  <a:srgbClr val="8C8C8C"/>
                </a:solidFill>
                <a:latin typeface="KoPubWorld돋움체 Light"/>
                <a:ea typeface="KoPubWorld돋움체 Light"/>
                <a:cs typeface="KoPubWorld돋움체 Light"/>
              </a:rPr>
              <a:t>IM 작성 실습용 양식(Clean) · 특정 자산·거래·당사자와 무관 · [●]는 실습자가 채울 공란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65815" y="6473952"/>
            <a:ext cx="914400" cy="2743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 i="0">
                <a:solidFill>
                  <a:srgbClr val="8C8C8C"/>
                </a:solidFill>
                <a:latin typeface="KoPubWorld돋움체 Light"/>
                <a:ea typeface="KoPubWorld돋움체 Light"/>
                <a:cs typeface="KoPubWorld돋움체 Light"/>
              </a:rPr>
              <a:t>9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1508760"/>
            <a:ext cx="3667658" cy="347472"/>
          </a:xfrm>
          <a:prstGeom prst="rect">
            <a:avLst/>
          </a:prstGeom>
          <a:solidFill>
            <a:srgbClr val="345B86"/>
          </a:solidFill>
          <a:ln>
            <a:noFill/>
          </a:ln>
        </p:spPr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200" b="0" i="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① 공급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1856231"/>
            <a:ext cx="3667658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200" b="0" i="0">
                <a:solidFill>
                  <a:srgbClr val="012353"/>
                </a:solidFill>
                <a:latin typeface="KoPubWorld돋움체 Bold"/>
                <a:ea typeface="KoPubWorld돋움체 Bold"/>
                <a:cs typeface="KoPubWorld돋움체 Bold"/>
              </a:rPr>
              <a:t>[핵심 수치: 예) 전년 대비 [▲/▼●]%]</a:t>
            </a:r>
          </a:p>
          <a:p>
            <a:pPr algn="ctr">
              <a:spcAft>
                <a:spcPts val="200"/>
              </a:spcAft>
            </a:pPr>
            <a:r>
              <a:rPr sz="950" b="0" i="0">
                <a:solidFill>
                  <a:srgbClr val="595959"/>
                </a:solidFill>
                <a:latin typeface="KoPubWorld돋움체 Light"/>
                <a:ea typeface="KoPubWorld돋움체 Light"/>
                <a:cs typeface="KoPubWorld돋움체 Light"/>
              </a:rPr>
              <a:t>[신규 공급 전망과 그 원인]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2514600"/>
            <a:ext cx="3667658" cy="1737360"/>
          </a:xfrm>
          <a:prstGeom prst="rect">
            <a:avLst/>
          </a:prstGeom>
          <a:solidFill>
            <a:srgbClr val="FAFAFA"/>
          </a:solidFill>
          <a:ln w="9525">
            <a:solidFill>
              <a:srgbClr val="BFBFBF"/>
            </a:solidFill>
            <a:prstDash val="dash"/>
          </a:ln>
        </p:spPr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8C8C8C"/>
                </a:solidFill>
                <a:latin typeface="KoPubWorld돋움체 Light"/>
                <a:ea typeface="KoPubWorld돋움체 Light"/>
                <a:cs typeface="KoPubWorld돋움체 Light"/>
              </a:rPr>
              <a:t>[차트]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62018" y="1508760"/>
            <a:ext cx="3667658" cy="347472"/>
          </a:xfrm>
          <a:prstGeom prst="rect">
            <a:avLst/>
          </a:prstGeom>
          <a:solidFill>
            <a:srgbClr val="345B86"/>
          </a:solidFill>
          <a:ln>
            <a:noFill/>
          </a:ln>
        </p:spPr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200" b="0" i="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② 수요 · 임대료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62018" y="1856231"/>
            <a:ext cx="3667658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200" b="0" i="0">
                <a:solidFill>
                  <a:srgbClr val="012353"/>
                </a:solidFill>
                <a:latin typeface="KoPubWorld돋움체 Bold"/>
                <a:ea typeface="KoPubWorld돋움체 Bold"/>
                <a:cs typeface="KoPubWorld돋움체 Bold"/>
              </a:rPr>
              <a:t>[핵심 수치: 예) 전년 대비 [▲/▼●]%]</a:t>
            </a:r>
          </a:p>
          <a:p>
            <a:pPr algn="ctr">
              <a:spcAft>
                <a:spcPts val="200"/>
              </a:spcAft>
            </a:pPr>
            <a:r>
              <a:rPr sz="950" b="0" i="0">
                <a:solidFill>
                  <a:srgbClr val="595959"/>
                </a:solidFill>
                <a:latin typeface="KoPubWorld돋움체 Light"/>
                <a:ea typeface="KoPubWorld돋움체 Light"/>
                <a:cs typeface="KoPubWorld돋움체 Light"/>
              </a:rPr>
              <a:t>[임대료 추이 · 공실률]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62018" y="2514600"/>
            <a:ext cx="3667658" cy="1737360"/>
          </a:xfrm>
          <a:prstGeom prst="rect">
            <a:avLst/>
          </a:prstGeom>
          <a:solidFill>
            <a:srgbClr val="FAFAFA"/>
          </a:solidFill>
          <a:ln w="9525">
            <a:solidFill>
              <a:srgbClr val="BFBFBF"/>
            </a:solidFill>
            <a:prstDash val="dash"/>
          </a:ln>
        </p:spPr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8C8C8C"/>
                </a:solidFill>
                <a:latin typeface="KoPubWorld돋움체 Light"/>
                <a:ea typeface="KoPubWorld돋움체 Light"/>
                <a:cs typeface="KoPubWorld돋움체 Light"/>
              </a:rPr>
              <a:t>[차트]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12556" y="1508760"/>
            <a:ext cx="3667658" cy="347472"/>
          </a:xfrm>
          <a:prstGeom prst="rect">
            <a:avLst/>
          </a:prstGeom>
          <a:solidFill>
            <a:srgbClr val="345B86"/>
          </a:solidFill>
          <a:ln>
            <a:noFill/>
          </a:ln>
        </p:spPr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200" b="0" i="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③ 거래시장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12556" y="1856231"/>
            <a:ext cx="3667658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200" b="0" i="0">
                <a:solidFill>
                  <a:srgbClr val="012353"/>
                </a:solidFill>
                <a:latin typeface="KoPubWorld돋움체 Bold"/>
                <a:ea typeface="KoPubWorld돋움체 Bold"/>
                <a:cs typeface="KoPubWorld돋움체 Bold"/>
              </a:rPr>
              <a:t>[핵심 수치: 예) 전년 대비 [▲/▼●]%]</a:t>
            </a:r>
          </a:p>
          <a:p>
            <a:pPr algn="ctr">
              <a:spcAft>
                <a:spcPts val="200"/>
              </a:spcAft>
            </a:pPr>
            <a:r>
              <a:rPr sz="950" b="0" i="0">
                <a:solidFill>
                  <a:srgbClr val="595959"/>
                </a:solidFill>
                <a:latin typeface="KoPubWorld돋움체 Light"/>
                <a:ea typeface="KoPubWorld돋움체 Light"/>
                <a:cs typeface="KoPubWorld돋움체 Light"/>
              </a:rPr>
              <a:t>[거래 규모 · Cap Rate 추이]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12556" y="2514600"/>
            <a:ext cx="3667658" cy="1737360"/>
          </a:xfrm>
          <a:prstGeom prst="rect">
            <a:avLst/>
          </a:prstGeom>
          <a:solidFill>
            <a:srgbClr val="FAFAFA"/>
          </a:solidFill>
          <a:ln w="9525">
            <a:solidFill>
              <a:srgbClr val="BFBFBF"/>
            </a:solidFill>
            <a:prstDash val="dash"/>
          </a:ln>
        </p:spPr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8C8C8C"/>
                </a:solidFill>
                <a:latin typeface="KoPubWorld돋움체 Light"/>
                <a:ea typeface="KoPubWorld돋움체 Light"/>
                <a:cs typeface="KoPubWorld돋움체 Light"/>
              </a:rPr>
              <a:t>[차트]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411480" y="4434840"/>
          <a:ext cx="11368730" cy="1865376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732378"/>
                <a:gridCol w="1082736"/>
                <a:gridCol w="1136873"/>
                <a:gridCol w="1136873"/>
                <a:gridCol w="1136873"/>
                <a:gridCol w="1136873"/>
                <a:gridCol w="1136873"/>
                <a:gridCol w="1136873"/>
                <a:gridCol w="1732378"/>
              </a:tblGrid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002060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구분</a:t>
                      </a:r>
                    </a:p>
                  </a:txBody>
                  <a:tcPr anchor="ctr" marL="45720" marR="45720" marT="18288" marB="18288">
                    <a:solidFill>
                      <a:srgbClr val="DAE3F3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002060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단위</a:t>
                      </a:r>
                    </a:p>
                  </a:txBody>
                  <a:tcPr anchor="ctr" marL="45720" marR="45720" marT="18288" marB="18288">
                    <a:solidFill>
                      <a:srgbClr val="DAE3F3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002060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[Y-3]</a:t>
                      </a:r>
                    </a:p>
                  </a:txBody>
                  <a:tcPr anchor="ctr" marL="45720" marR="45720" marT="18288" marB="18288">
                    <a:solidFill>
                      <a:srgbClr val="DAE3F3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002060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[Y-2]</a:t>
                      </a:r>
                    </a:p>
                  </a:txBody>
                  <a:tcPr anchor="ctr" marL="45720" marR="45720" marT="18288" marB="18288">
                    <a:solidFill>
                      <a:srgbClr val="DAE3F3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002060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[Y-1]</a:t>
                      </a:r>
                    </a:p>
                  </a:txBody>
                  <a:tcPr anchor="ctr" marL="45720" marR="45720" marT="18288" marB="18288">
                    <a:solidFill>
                      <a:srgbClr val="DAE3F3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002060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[Y]</a:t>
                      </a:r>
                    </a:p>
                  </a:txBody>
                  <a:tcPr anchor="ctr" marL="45720" marR="45720" marT="18288" marB="18288">
                    <a:solidFill>
                      <a:srgbClr val="DAE3F3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002060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[Y+1]F</a:t>
                      </a:r>
                    </a:p>
                  </a:txBody>
                  <a:tcPr anchor="ctr" marL="45720" marR="45720" marT="18288" marB="18288">
                    <a:solidFill>
                      <a:srgbClr val="DAE3F3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002060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[Y+2]F</a:t>
                      </a:r>
                    </a:p>
                  </a:txBody>
                  <a:tcPr anchor="ctr" marL="45720" marR="45720" marT="18288" marB="18288">
                    <a:solidFill>
                      <a:srgbClr val="DAE3F3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002060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출처</a:t>
                      </a:r>
                    </a:p>
                  </a:txBody>
                  <a:tcPr anchor="ctr" marL="45720" marR="45720" marT="18288" marB="18288">
                    <a:solidFill>
                      <a:srgbClr val="DAE3F3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신규 공급</a:t>
                      </a:r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만㎡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재고(누적)</a:t>
                      </a:r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만㎡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평균 임대료</a:t>
                      </a:r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원/평/월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공실률</a:t>
                      </a:r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%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거래 Cap Rate</a:t>
                      </a:r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%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256032"/>
            <a:ext cx="502920" cy="384048"/>
          </a:xfrm>
          <a:prstGeom prst="rect">
            <a:avLst/>
          </a:prstGeom>
          <a:solidFill>
            <a:srgbClr val="012353"/>
          </a:solidFill>
          <a:ln>
            <a:noFill/>
          </a:ln>
        </p:spPr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01168"/>
            <a:ext cx="6858000" cy="256032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 i="0">
                <a:solidFill>
                  <a:srgbClr val="8C8C8C"/>
                </a:solidFill>
                <a:latin typeface="KoPubWorld돋움체 Light"/>
                <a:ea typeface="KoPubWorld돋움체 Light"/>
                <a:cs typeface="KoPubWorld돋움체 Light"/>
              </a:rPr>
              <a:t>시장현황 및 입지분석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420624"/>
            <a:ext cx="8686800" cy="329184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012353"/>
                </a:solidFill>
                <a:latin typeface="KoPubWorld돋움체 Bold"/>
                <a:ea typeface="KoPubWorld돋움체 Bold"/>
                <a:cs typeface="KoPubWorld돋움체 Bold"/>
              </a:rPr>
              <a:t>입지분석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54135" y="256032"/>
            <a:ext cx="2926080" cy="2743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 i="0">
                <a:solidFill>
                  <a:srgbClr val="8C8C8C"/>
                </a:solidFill>
                <a:latin typeface="KoPubWorld돋움체 Light"/>
                <a:ea typeface="KoPubWorld돋움체 Light"/>
                <a:cs typeface="KoPubWorld돋움체 Light"/>
              </a:rPr>
              <a:t>[자산명] Information Memorandum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11480" y="841248"/>
            <a:ext cx="11368735" cy="0"/>
          </a:xfrm>
          <a:prstGeom prst="line">
            <a:avLst/>
          </a:prstGeom>
          <a:ln w="19050">
            <a:solidFill>
              <a:srgbClr val="012353"/>
            </a:solidFill>
          </a:ln>
        </p:spPr>
      </p:cxnSp>
      <p:sp>
        <p:nvSpPr>
          <p:cNvPr id="7" name="TextBox 6"/>
          <p:cNvSpPr txBox="1"/>
          <p:nvPr/>
        </p:nvSpPr>
        <p:spPr>
          <a:xfrm>
            <a:off x="411480" y="914400"/>
            <a:ext cx="11368735" cy="41148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F1F1F"/>
                </a:solidFill>
                <a:latin typeface="KoPubWorld돋움체 Medium"/>
                <a:ea typeface="KoPubWorld돋움체 Medium"/>
                <a:cs typeface="KoPubWorld돋움체 Medium"/>
              </a:rPr>
              <a:t>[입지 강점: 예) 도심 [●]km 이내, 주요 IC [●]분 접근]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11480" y="6446520"/>
            <a:ext cx="11368735" cy="0"/>
          </a:xfrm>
          <a:prstGeom prst="line">
            <a:avLst/>
          </a:prstGeom>
          <a:ln w="6350">
            <a:solidFill>
              <a:srgbClr val="BFBFBF"/>
            </a:solidFill>
          </a:ln>
        </p:spPr>
      </p:cxnSp>
      <p:sp>
        <p:nvSpPr>
          <p:cNvPr id="9" name="TextBox 8"/>
          <p:cNvSpPr txBox="1"/>
          <p:nvPr/>
        </p:nvSpPr>
        <p:spPr>
          <a:xfrm>
            <a:off x="411480" y="6473952"/>
            <a:ext cx="8686800" cy="2743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 i="0">
                <a:solidFill>
                  <a:srgbClr val="8C8C8C"/>
                </a:solidFill>
                <a:latin typeface="KoPubWorld돋움체 Light"/>
                <a:ea typeface="KoPubWorld돋움체 Light"/>
                <a:cs typeface="KoPubWorld돋움체 Light"/>
              </a:rPr>
              <a:t>IM 작성 실습용 양식(Clean) · 특정 자산·거래·당사자와 무관 · [●]는 실습자가 채울 공란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65815" y="6473952"/>
            <a:ext cx="914400" cy="2743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 i="0">
                <a:solidFill>
                  <a:srgbClr val="8C8C8C"/>
                </a:solidFill>
                <a:latin typeface="KoPubWorld돋움체 Light"/>
                <a:ea typeface="KoPubWorld돋움체 Light"/>
                <a:cs typeface="KoPubWorld돋움체 Light"/>
              </a:rPr>
              <a:t>10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1508760"/>
            <a:ext cx="6035040" cy="4846320"/>
          </a:xfrm>
          <a:prstGeom prst="rect">
            <a:avLst/>
          </a:prstGeom>
          <a:solidFill>
            <a:srgbClr val="FAFAFA"/>
          </a:solidFill>
          <a:ln w="9525">
            <a:solidFill>
              <a:srgbClr val="BFBFBF"/>
            </a:solidFill>
            <a:prstDash val="dash"/>
          </a:ln>
        </p:spPr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8C8C8C"/>
                </a:solidFill>
                <a:latin typeface="KoPubWorld돋움체 Light"/>
                <a:ea typeface="KoPubWorld돋움체 Light"/>
                <a:cs typeface="KoPubWorld돋움체 Light"/>
              </a:rPr>
              <a:t>[광역 위치도 · 반경 표시 · 주요 도로망]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629400" y="1508760"/>
          <a:ext cx="5148070" cy="197510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287017"/>
                <a:gridCol w="1654737"/>
                <a:gridCol w="1011228"/>
                <a:gridCol w="1195088"/>
              </a:tblGrid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002060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구분</a:t>
                      </a:r>
                    </a:p>
                  </a:txBody>
                  <a:tcPr anchor="ctr" marL="45720" marR="45720" marT="18288" marB="18288">
                    <a:solidFill>
                      <a:srgbClr val="DAE3F3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002060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목적지</a:t>
                      </a:r>
                    </a:p>
                  </a:txBody>
                  <a:tcPr anchor="ctr" marL="45720" marR="45720" marT="18288" marB="18288">
                    <a:solidFill>
                      <a:srgbClr val="DAE3F3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002060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거리(km)</a:t>
                      </a:r>
                    </a:p>
                  </a:txBody>
                  <a:tcPr anchor="ctr" marL="45720" marR="45720" marT="18288" marB="18288">
                    <a:solidFill>
                      <a:srgbClr val="DAE3F3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002060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소요시간(분)</a:t>
                      </a:r>
                    </a:p>
                  </a:txBody>
                  <a:tcPr anchor="ctr" marL="45720" marR="45720" marT="18288" marB="18288">
                    <a:solidFill>
                      <a:srgbClr val="DAE3F3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IC / JC</a:t>
                      </a:r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IC / JC</a:t>
                      </a:r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도심(CBD 등)</a:t>
                      </a:r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주요 소비지</a:t>
                      </a:r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대중교통</a:t>
                      </a:r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629400" y="3657600"/>
          <a:ext cx="5148070" cy="197510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470877"/>
                <a:gridCol w="919298"/>
                <a:gridCol w="2757895"/>
              </a:tblGrid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002060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입지 평가 항목</a:t>
                      </a:r>
                    </a:p>
                  </a:txBody>
                  <a:tcPr anchor="ctr" marL="45720" marR="45720" marT="18288" marB="18288">
                    <a:solidFill>
                      <a:srgbClr val="DAE3F3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002060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평가</a:t>
                      </a:r>
                    </a:p>
                  </a:txBody>
                  <a:tcPr anchor="ctr" marL="45720" marR="45720" marT="18288" marB="18288">
                    <a:solidFill>
                      <a:srgbClr val="DAE3F3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002060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근거</a:t>
                      </a:r>
                    </a:p>
                  </a:txBody>
                  <a:tcPr anchor="ctr" marL="45720" marR="45720" marT="18288" marB="18288">
                    <a:solidFill>
                      <a:srgbClr val="DAE3F3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접근성</a:t>
                      </a:r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[상/중/하]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배후 수요</a:t>
                      </a:r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[상/중/하]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인력 수급</a:t>
                      </a:r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[상/중/하]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공급 제약</a:t>
                      </a:r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[상/중/하]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규제·민원</a:t>
                      </a:r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[상/중/하]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6629400" y="5715000"/>
            <a:ext cx="5148072" cy="54864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 i="0">
                <a:solidFill>
                  <a:srgbClr val="8C8C8C"/>
                </a:solidFill>
                <a:latin typeface="KoPubWorld돋움체 Light"/>
                <a:ea typeface="KoPubWorld돋움체 Light"/>
                <a:cs typeface="KoPubWorld돋움체 Light"/>
              </a:rPr>
              <a:t>※ 거리·시간은 측정 도구와 기준 시점을 각주로 적습니다.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256032"/>
            <a:ext cx="502920" cy="384048"/>
          </a:xfrm>
          <a:prstGeom prst="rect">
            <a:avLst/>
          </a:prstGeom>
          <a:solidFill>
            <a:srgbClr val="012353"/>
          </a:solidFill>
          <a:ln>
            <a:noFill/>
          </a:ln>
        </p:spPr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01168"/>
            <a:ext cx="6858000" cy="256032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 i="0">
                <a:solidFill>
                  <a:srgbClr val="8C8C8C"/>
                </a:solidFill>
                <a:latin typeface="KoPubWorld돋움체 Light"/>
                <a:ea typeface="KoPubWorld돋움체 Light"/>
                <a:cs typeface="KoPubWorld돋움체 Light"/>
              </a:rPr>
              <a:t>시장현황 및 입지분석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420624"/>
            <a:ext cx="8686800" cy="329184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012353"/>
                </a:solidFill>
                <a:latin typeface="KoPubWorld돋움체 Bold"/>
                <a:ea typeface="KoPubWorld돋움체 Bold"/>
                <a:cs typeface="KoPubWorld돋움체 Bold"/>
              </a:rPr>
              <a:t>임대 · 매매 비교사례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54135" y="256032"/>
            <a:ext cx="2926080" cy="2743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 i="0">
                <a:solidFill>
                  <a:srgbClr val="8C8C8C"/>
                </a:solidFill>
                <a:latin typeface="KoPubWorld돋움체 Light"/>
                <a:ea typeface="KoPubWorld돋움체 Light"/>
                <a:cs typeface="KoPubWorld돋움체 Light"/>
              </a:rPr>
              <a:t>[자산명] Information Memorandum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11480" y="841248"/>
            <a:ext cx="11368735" cy="0"/>
          </a:xfrm>
          <a:prstGeom prst="line">
            <a:avLst/>
          </a:prstGeom>
          <a:ln w="19050">
            <a:solidFill>
              <a:srgbClr val="012353"/>
            </a:solidFill>
          </a:ln>
        </p:spPr>
      </p:cxnSp>
      <p:sp>
        <p:nvSpPr>
          <p:cNvPr id="7" name="TextBox 6"/>
          <p:cNvSpPr txBox="1"/>
          <p:nvPr/>
        </p:nvSpPr>
        <p:spPr>
          <a:xfrm>
            <a:off x="411480" y="914400"/>
            <a:ext cx="11368735" cy="41148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F1F1F"/>
                </a:solidFill>
                <a:latin typeface="KoPubWorld돋움체 Medium"/>
                <a:ea typeface="KoPubWorld돋움체 Medium"/>
                <a:cs typeface="KoPubWorld돋움체 Medium"/>
              </a:rPr>
              <a:t>[본건 임대료·매입가가 비교사례 대비 어느 수준인지 요약]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11480" y="6446520"/>
            <a:ext cx="11368735" cy="0"/>
          </a:xfrm>
          <a:prstGeom prst="line">
            <a:avLst/>
          </a:prstGeom>
          <a:ln w="6350">
            <a:solidFill>
              <a:srgbClr val="BFBFBF"/>
            </a:solidFill>
          </a:ln>
        </p:spPr>
      </p:cxnSp>
      <p:sp>
        <p:nvSpPr>
          <p:cNvPr id="9" name="TextBox 8"/>
          <p:cNvSpPr txBox="1"/>
          <p:nvPr/>
        </p:nvSpPr>
        <p:spPr>
          <a:xfrm>
            <a:off x="411480" y="6473952"/>
            <a:ext cx="8686800" cy="2743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 i="0">
                <a:solidFill>
                  <a:srgbClr val="8C8C8C"/>
                </a:solidFill>
                <a:latin typeface="KoPubWorld돋움체 Light"/>
                <a:ea typeface="KoPubWorld돋움체 Light"/>
                <a:cs typeface="KoPubWorld돋움체 Light"/>
              </a:rPr>
              <a:t>IM 작성 실습용 양식(Clean) · 특정 자산·거래·당사자와 무관 · [●]는 실습자가 채울 공란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65815" y="6473952"/>
            <a:ext cx="914400" cy="2743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 i="0">
                <a:solidFill>
                  <a:srgbClr val="8C8C8C"/>
                </a:solidFill>
                <a:latin typeface="KoPubWorld돋움체 Light"/>
                <a:ea typeface="KoPubWorld돋움체 Light"/>
                <a:cs typeface="KoPubWorld돋움체 Light"/>
              </a:rPr>
              <a:t>11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11480" y="1508760"/>
          <a:ext cx="11368734" cy="4187952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843578"/>
                <a:gridCol w="1587526"/>
                <a:gridCol w="1587526"/>
                <a:gridCol w="1587526"/>
                <a:gridCol w="1587526"/>
                <a:gridCol w="1587526"/>
                <a:gridCol w="1587526"/>
              </a:tblGrid>
              <a:tr h="301752"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002060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구분</a:t>
                      </a:r>
                    </a:p>
                  </a:txBody>
                  <a:tcPr anchor="ctr" marL="45720" marR="45720" marT="18288" marB="18288">
                    <a:solidFill>
                      <a:srgbClr val="DAE3F3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002060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사례 1</a:t>
                      </a:r>
                    </a:p>
                  </a:txBody>
                  <a:tcPr anchor="ctr" marL="45720" marR="45720" marT="18288" marB="18288">
                    <a:solidFill>
                      <a:srgbClr val="DAE3F3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002060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사례 2</a:t>
                      </a:r>
                    </a:p>
                  </a:txBody>
                  <a:tcPr anchor="ctr" marL="45720" marR="45720" marT="18288" marB="18288">
                    <a:solidFill>
                      <a:srgbClr val="DAE3F3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002060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사례 3</a:t>
                      </a:r>
                    </a:p>
                  </a:txBody>
                  <a:tcPr anchor="ctr" marL="45720" marR="45720" marT="18288" marB="18288">
                    <a:solidFill>
                      <a:srgbClr val="DAE3F3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002060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사례 4</a:t>
                      </a:r>
                    </a:p>
                  </a:txBody>
                  <a:tcPr anchor="ctr" marL="45720" marR="45720" marT="18288" marB="18288">
                    <a:solidFill>
                      <a:srgbClr val="DAE3F3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002060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사례 5</a:t>
                      </a:r>
                    </a:p>
                  </a:txBody>
                  <a:tcPr anchor="ctr" marL="45720" marR="45720" marT="18288" marB="18288">
                    <a:solidFill>
                      <a:srgbClr val="DAE3F3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002060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본건</a:t>
                      </a:r>
                    </a:p>
                  </a:txBody>
                  <a:tcPr anchor="ctr" marL="45720" marR="45720" marT="18288" marB="18288">
                    <a:solidFill>
                      <a:srgbClr val="DAE3F3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소재지</a:t>
                      </a:r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사진</a:t>
                      </a:r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/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/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/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/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/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/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준공연도</a:t>
                      </a:r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연면적(평)</a:t>
                      </a:r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임대료(원/평/월)</a:t>
                      </a:r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관리비(원/평/월)</a:t>
                      </a:r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Rent-Free(개월/년)</a:t>
                      </a:r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Effective Rent</a:t>
                      </a:r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공실률(%)</a:t>
                      </a:r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거래가(평당, 만원)</a:t>
                      </a:r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거래 Cap Rate(%)</a:t>
                      </a:r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거래시점</a:t>
                      </a:r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411480" y="6053328"/>
            <a:ext cx="11368735" cy="3657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 i="0">
                <a:solidFill>
                  <a:srgbClr val="8C8C8C"/>
                </a:solidFill>
                <a:latin typeface="KoPubWorld돋움체 Light"/>
                <a:ea typeface="KoPubWorld돋움체 Light"/>
                <a:cs typeface="KoPubWorld돋움체 Light"/>
              </a:rPr>
              <a:t>※ Effective Rent = (월 임대료 × (12 − Rent-Free 개월) ÷ 12) + 월 관리비. 출처(시장보고서·실사보고서)와 기준 시점을 적습니다.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256032"/>
            <a:ext cx="502920" cy="384048"/>
          </a:xfrm>
          <a:prstGeom prst="rect">
            <a:avLst/>
          </a:prstGeom>
          <a:solidFill>
            <a:srgbClr val="012353"/>
          </a:solidFill>
          <a:ln>
            <a:noFill/>
          </a:ln>
        </p:spPr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01168"/>
            <a:ext cx="6858000" cy="256032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 i="0">
                <a:solidFill>
                  <a:srgbClr val="8C8C8C"/>
                </a:solidFill>
                <a:latin typeface="KoPubWorld돋움체 Light"/>
                <a:ea typeface="KoPubWorld돋움체 Light"/>
                <a:cs typeface="KoPubWorld돋움체 Light"/>
              </a:rPr>
              <a:t>투자 및 재원조달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420624"/>
            <a:ext cx="8686800" cy="329184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012353"/>
                </a:solidFill>
                <a:latin typeface="KoPubWorld돋움체 Bold"/>
                <a:ea typeface="KoPubWorld돋움체 Bold"/>
                <a:cs typeface="KoPubWorld돋움체 Bold"/>
              </a:rPr>
              <a:t>Sources &amp; Uses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54135" y="256032"/>
            <a:ext cx="2926080" cy="2743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 i="0">
                <a:solidFill>
                  <a:srgbClr val="8C8C8C"/>
                </a:solidFill>
                <a:latin typeface="KoPubWorld돋움체 Light"/>
                <a:ea typeface="KoPubWorld돋움체 Light"/>
                <a:cs typeface="KoPubWorld돋움체 Light"/>
              </a:rPr>
              <a:t>[자산명] Information Memorandum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11480" y="841248"/>
            <a:ext cx="11368735" cy="0"/>
          </a:xfrm>
          <a:prstGeom prst="line">
            <a:avLst/>
          </a:prstGeom>
          <a:ln w="19050">
            <a:solidFill>
              <a:srgbClr val="012353"/>
            </a:solidFill>
          </a:ln>
        </p:spPr>
      </p:cxnSp>
      <p:sp>
        <p:nvSpPr>
          <p:cNvPr id="7" name="TextBox 6"/>
          <p:cNvSpPr txBox="1"/>
          <p:nvPr/>
        </p:nvSpPr>
        <p:spPr>
          <a:xfrm>
            <a:off x="411480" y="914400"/>
            <a:ext cx="11368735" cy="41148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F1F1F"/>
                </a:solidFill>
                <a:latin typeface="KoPubWorld돋움체 Medium"/>
                <a:ea typeface="KoPubWorld돋움체 Medium"/>
                <a:cs typeface="KoPubWorld돋움체 Medium"/>
              </a:rPr>
              <a:t>[총투자비 [●]억원, 매입가 대비 부대비용 [●]%]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11480" y="6446520"/>
            <a:ext cx="11368735" cy="0"/>
          </a:xfrm>
          <a:prstGeom prst="line">
            <a:avLst/>
          </a:prstGeom>
          <a:ln w="6350">
            <a:solidFill>
              <a:srgbClr val="BFBFBF"/>
            </a:solidFill>
          </a:ln>
        </p:spPr>
      </p:cxnSp>
      <p:sp>
        <p:nvSpPr>
          <p:cNvPr id="9" name="TextBox 8"/>
          <p:cNvSpPr txBox="1"/>
          <p:nvPr/>
        </p:nvSpPr>
        <p:spPr>
          <a:xfrm>
            <a:off x="411480" y="6473952"/>
            <a:ext cx="8686800" cy="2743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 i="0">
                <a:solidFill>
                  <a:srgbClr val="8C8C8C"/>
                </a:solidFill>
                <a:latin typeface="KoPubWorld돋움체 Light"/>
                <a:ea typeface="KoPubWorld돋움체 Light"/>
                <a:cs typeface="KoPubWorld돋움체 Light"/>
              </a:rPr>
              <a:t>IM 작성 실습용 양식(Clean) · 특정 자산·거래·당사자와 무관 · [●]는 실습자가 채울 공란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65815" y="6473952"/>
            <a:ext cx="914400" cy="2743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 i="0">
                <a:solidFill>
                  <a:srgbClr val="8C8C8C"/>
                </a:solidFill>
                <a:latin typeface="KoPubWorld돋움체 Light"/>
                <a:ea typeface="KoPubWorld돋움체 Light"/>
                <a:cs typeface="KoPubWorld돋움체 Light"/>
              </a:rPr>
              <a:t>12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11480" y="1508760"/>
          <a:ext cx="11368731" cy="422452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196708"/>
                <a:gridCol w="2393417"/>
                <a:gridCol w="1595611"/>
                <a:gridCol w="997257"/>
                <a:gridCol w="5185738"/>
              </a:tblGrid>
              <a:tr h="301752"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002060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구분</a:t>
                      </a:r>
                    </a:p>
                  </a:txBody>
                  <a:tcPr anchor="ctr" marL="45720" marR="45720" marT="18288" marB="18288">
                    <a:solidFill>
                      <a:srgbClr val="DAE3F3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002060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항목</a:t>
                      </a:r>
                    </a:p>
                  </a:txBody>
                  <a:tcPr anchor="ctr" marL="45720" marR="45720" marT="18288" marB="18288">
                    <a:solidFill>
                      <a:srgbClr val="DAE3F3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002060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금액(백만원)</a:t>
                      </a:r>
                    </a:p>
                  </a:txBody>
                  <a:tcPr anchor="ctr" marL="45720" marR="45720" marT="18288" marB="18288">
                    <a:solidFill>
                      <a:srgbClr val="DAE3F3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002060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비중</a:t>
                      </a:r>
                    </a:p>
                  </a:txBody>
                  <a:tcPr anchor="ctr" marL="45720" marR="45720" marT="18288" marB="18288">
                    <a:solidFill>
                      <a:srgbClr val="DAE3F3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002060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산정 근거</a:t>
                      </a:r>
                    </a:p>
                  </a:txBody>
                  <a:tcPr anchor="ctr" marL="45720" marR="45720" marT="18288" marB="18288">
                    <a:solidFill>
                      <a:srgbClr val="DAE3F3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01752">
                <a:tc rowSpan="7"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002060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Uses</a:t>
                      </a:r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부동산 매입금액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[●]%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매매계약서상 매매대금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01752">
                <a:tc vMerge="1">
                  <a:txBody>
                    <a:bodyPr wrap="square"/>
                    <a:lstStyle/>
                    <a:p>
                      <a:pPr algn="ctr"/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매입수수료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[●]%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AMC 매입보수 매입가의 [●]%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01752">
                <a:tc vMerge="1">
                  <a:txBody>
                    <a:bodyPr wrap="square"/>
                    <a:lstStyle/>
                    <a:p>
                      <a:pPr algn="ctr"/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취득세 등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[●]%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과세표준의 [●]%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01752">
                <a:tc vMerge="1">
                  <a:txBody>
                    <a:bodyPr wrap="square"/>
                    <a:lstStyle/>
                    <a:p>
                      <a:pPr algn="ctr"/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실사 · 자문 비용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[●]%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감정평가 · 법률 · 물리 · 재무 · 시장 실사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01752">
                <a:tc vMerge="1">
                  <a:txBody>
                    <a:bodyPr wrap="square"/>
                    <a:lstStyle/>
                    <a:p>
                      <a:pPr algn="ctr"/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금융 · 주선 수수료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[●]%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Tranche별 수수료율 [●]%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01752">
                <a:tc vMerge="1">
                  <a:txBody>
                    <a:bodyPr wrap="square"/>
                    <a:lstStyle/>
                    <a:p>
                      <a:pPr algn="ctr"/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이자유보 · 예비비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[●]%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이자 [●]개월분 등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01752">
                <a:tc vMerge="1">
                  <a:txBody>
                    <a:bodyPr wrap="square"/>
                    <a:lstStyle/>
                    <a:p>
                      <a:pPr algn="ctr"/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Uses 합계</a:t>
                      </a:r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100.0%</a:t>
                      </a:r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/>
                      </a:r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01752">
                <a:tc rowSpan="6"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002060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Sources</a:t>
                      </a:r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임대보증금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[●]%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승계 보증금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01752">
                <a:tc vMerge="1">
                  <a:txBody>
                    <a:bodyPr wrap="square"/>
                    <a:lstStyle/>
                    <a:p>
                      <a:pPr algn="ctr"/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선순위 대출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[●]%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금리 [●]%, 만기 [●]개월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01752">
                <a:tc vMerge="1">
                  <a:txBody>
                    <a:bodyPr wrap="square"/>
                    <a:lstStyle/>
                    <a:p>
                      <a:pPr algn="ctr"/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중순위 대출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[●]%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금리 [●]%, 만기 [●]개월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01752">
                <a:tc vMerge="1">
                  <a:txBody>
                    <a:bodyPr wrap="square"/>
                    <a:lstStyle/>
                    <a:p>
                      <a:pPr algn="ctr"/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종류주식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[●]%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종류별 CoC [●]%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01752">
                <a:tc vMerge="1">
                  <a:txBody>
                    <a:bodyPr wrap="square"/>
                    <a:lstStyle/>
                    <a:p>
                      <a:pPr algn="ctr"/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보통주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[●]%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/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01752">
                <a:tc vMerge="1">
                  <a:txBody>
                    <a:bodyPr wrap="square"/>
                    <a:lstStyle/>
                    <a:p>
                      <a:pPr algn="ctr"/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Sources 합계</a:t>
                      </a:r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100.0%</a:t>
                      </a:r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/>
                      </a:r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256032"/>
            <a:ext cx="502920" cy="384048"/>
          </a:xfrm>
          <a:prstGeom prst="rect">
            <a:avLst/>
          </a:prstGeom>
          <a:solidFill>
            <a:srgbClr val="012353"/>
          </a:solidFill>
          <a:ln>
            <a:noFill/>
          </a:ln>
        </p:spPr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01168"/>
            <a:ext cx="6858000" cy="256032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 i="0">
                <a:solidFill>
                  <a:srgbClr val="8C8C8C"/>
                </a:solidFill>
                <a:latin typeface="KoPubWorld돋움체 Light"/>
                <a:ea typeface="KoPubWorld돋움체 Light"/>
                <a:cs typeface="KoPubWorld돋움체 Light"/>
              </a:rPr>
              <a:t>투자 및 재원조달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420624"/>
            <a:ext cx="8686800" cy="329184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012353"/>
                </a:solidFill>
                <a:latin typeface="KoPubWorld돋움체 Bold"/>
                <a:ea typeface="KoPubWorld돋움체 Bold"/>
                <a:cs typeface="KoPubWorld돋움체 Bold"/>
              </a:rPr>
              <a:t>임대차 현황 (Rent Roll)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54135" y="256032"/>
            <a:ext cx="2926080" cy="2743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 i="0">
                <a:solidFill>
                  <a:srgbClr val="8C8C8C"/>
                </a:solidFill>
                <a:latin typeface="KoPubWorld돋움체 Light"/>
                <a:ea typeface="KoPubWorld돋움체 Light"/>
                <a:cs typeface="KoPubWorld돋움체 Light"/>
              </a:rPr>
              <a:t>[자산명] Information Memorandum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11480" y="841248"/>
            <a:ext cx="11368735" cy="0"/>
          </a:xfrm>
          <a:prstGeom prst="line">
            <a:avLst/>
          </a:prstGeom>
          <a:ln w="19050">
            <a:solidFill>
              <a:srgbClr val="012353"/>
            </a:solidFill>
          </a:ln>
        </p:spPr>
      </p:cxnSp>
      <p:sp>
        <p:nvSpPr>
          <p:cNvPr id="7" name="TextBox 6"/>
          <p:cNvSpPr txBox="1"/>
          <p:nvPr/>
        </p:nvSpPr>
        <p:spPr>
          <a:xfrm>
            <a:off x="411480" y="914400"/>
            <a:ext cx="11368735" cy="41148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F1F1F"/>
                </a:solidFill>
                <a:latin typeface="KoPubWorld돋움체 Medium"/>
                <a:ea typeface="KoPubWorld돋움체 Medium"/>
                <a:cs typeface="KoPubWorld돋움체 Medium"/>
              </a:rPr>
              <a:t>[임대율 [●]%, WALE [●]년, 주요 임차인 비중 [●]%]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11480" y="6446520"/>
            <a:ext cx="11368735" cy="0"/>
          </a:xfrm>
          <a:prstGeom prst="line">
            <a:avLst/>
          </a:prstGeom>
          <a:ln w="6350">
            <a:solidFill>
              <a:srgbClr val="BFBFBF"/>
            </a:solidFill>
          </a:ln>
        </p:spPr>
      </p:cxnSp>
      <p:sp>
        <p:nvSpPr>
          <p:cNvPr id="9" name="TextBox 8"/>
          <p:cNvSpPr txBox="1"/>
          <p:nvPr/>
        </p:nvSpPr>
        <p:spPr>
          <a:xfrm>
            <a:off x="411480" y="6473952"/>
            <a:ext cx="8686800" cy="2743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 i="0">
                <a:solidFill>
                  <a:srgbClr val="8C8C8C"/>
                </a:solidFill>
                <a:latin typeface="KoPubWorld돋움체 Light"/>
                <a:ea typeface="KoPubWorld돋움체 Light"/>
                <a:cs typeface="KoPubWorld돋움체 Light"/>
              </a:rPr>
              <a:t>IM 작성 실습용 양식(Clean) · 특정 자산·거래·당사자와 무관 · [●]는 실습자가 채울 공란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65815" y="6473952"/>
            <a:ext cx="914400" cy="2743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 i="0">
                <a:solidFill>
                  <a:srgbClr val="8C8C8C"/>
                </a:solidFill>
                <a:latin typeface="KoPubWorld돋움체 Light"/>
                <a:ea typeface="KoPubWorld돋움체 Light"/>
                <a:cs typeface="KoPubWorld돋움체 Light"/>
              </a:rPr>
              <a:t>13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11480" y="1508760"/>
          <a:ext cx="11368730" cy="329184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745490"/>
                <a:gridCol w="1677354"/>
                <a:gridCol w="931863"/>
                <a:gridCol w="1118236"/>
                <a:gridCol w="1118236"/>
                <a:gridCol w="1211422"/>
                <a:gridCol w="1211422"/>
                <a:gridCol w="1118236"/>
                <a:gridCol w="745490"/>
                <a:gridCol w="1490981"/>
              </a:tblGrid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002060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층</a:t>
                      </a:r>
                    </a:p>
                  </a:txBody>
                  <a:tcPr anchor="ctr" marL="45720" marR="45720" marT="18288" marB="18288">
                    <a:solidFill>
                      <a:srgbClr val="DAE3F3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002060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임차인</a:t>
                      </a:r>
                    </a:p>
                  </a:txBody>
                  <a:tcPr anchor="ctr" marL="45720" marR="45720" marT="18288" marB="18288">
                    <a:solidFill>
                      <a:srgbClr val="DAE3F3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002060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용도</a:t>
                      </a:r>
                    </a:p>
                  </a:txBody>
                  <a:tcPr anchor="ctr" marL="45720" marR="45720" marT="18288" marB="18288">
                    <a:solidFill>
                      <a:srgbClr val="DAE3F3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002060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임대면적(평)</a:t>
                      </a:r>
                    </a:p>
                  </a:txBody>
                  <a:tcPr anchor="ctr" marL="45720" marR="45720" marT="18288" marB="18288">
                    <a:solidFill>
                      <a:srgbClr val="DAE3F3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002060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보증금(원/평)</a:t>
                      </a:r>
                    </a:p>
                  </a:txBody>
                  <a:tcPr anchor="ctr" marL="45720" marR="45720" marT="18288" marB="18288">
                    <a:solidFill>
                      <a:srgbClr val="DAE3F3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002060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월 임대료(원/평)</a:t>
                      </a:r>
                    </a:p>
                  </a:txBody>
                  <a:tcPr anchor="ctr" marL="45720" marR="45720" marT="18288" marB="18288">
                    <a:solidFill>
                      <a:srgbClr val="DAE3F3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002060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월 관리비(원/평)</a:t>
                      </a:r>
                    </a:p>
                  </a:txBody>
                  <a:tcPr anchor="ctr" marL="45720" marR="45720" marT="18288" marB="18288">
                    <a:solidFill>
                      <a:srgbClr val="DAE3F3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002060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계약 만기</a:t>
                      </a:r>
                    </a:p>
                  </a:txBody>
                  <a:tcPr anchor="ctr" marL="45720" marR="45720" marT="18288" marB="18288">
                    <a:solidFill>
                      <a:srgbClr val="DAE3F3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002060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인상률</a:t>
                      </a:r>
                    </a:p>
                  </a:txBody>
                  <a:tcPr anchor="ctr" marL="45720" marR="45720" marT="18288" marB="18288">
                    <a:solidFill>
                      <a:srgbClr val="DAE3F3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002060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비고</a:t>
                      </a:r>
                    </a:p>
                  </a:txBody>
                  <a:tcPr anchor="ctr" marL="45720" marR="45720" marT="18288" marB="18288">
                    <a:solidFill>
                      <a:srgbClr val="DAE3F3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[B●]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[YYYY.MM]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[●]%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/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[1F]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[YYYY.MM]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[●]%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/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[2F]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[YYYY.MM]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[●]%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/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[3F]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[YYYY.MM]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[●]%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/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[4F]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[YYYY.MM]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[●]%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/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[5F]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[YYYY.MM]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[●]%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/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[●F]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[YYYY.MM]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[●]%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/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[●F]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[YYYY.MM]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[●]%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/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합계 / 평균</a:t>
                      </a:r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/>
                      </a:r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/>
                      </a:r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WALE [●]년</a:t>
                      </a:r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/>
                      </a:r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/>
                      </a:r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411480" y="4937760"/>
            <a:ext cx="5577840" cy="1417320"/>
          </a:xfrm>
          <a:prstGeom prst="rect">
            <a:avLst/>
          </a:prstGeom>
          <a:solidFill>
            <a:srgbClr val="FAFAFA"/>
          </a:solidFill>
          <a:ln w="9525">
            <a:solidFill>
              <a:srgbClr val="BFBFBF"/>
            </a:solidFill>
            <a:prstDash val="dash"/>
          </a:ln>
        </p:spPr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8C8C8C"/>
                </a:solidFill>
                <a:latin typeface="KoPubWorld돋움체 Light"/>
                <a:ea typeface="KoPubWorld돋움체 Light"/>
                <a:cs typeface="KoPubWorld돋움체 Light"/>
              </a:rPr>
              <a:t>[임차인별 면적 비중 원형 차트]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99632" y="4937760"/>
            <a:ext cx="5577840" cy="1417320"/>
          </a:xfrm>
          <a:prstGeom prst="rect">
            <a:avLst/>
          </a:prstGeom>
          <a:solidFill>
            <a:srgbClr val="FAFAFA"/>
          </a:solidFill>
          <a:ln w="9525">
            <a:solidFill>
              <a:srgbClr val="BFBFBF"/>
            </a:solidFill>
            <a:prstDash val="dash"/>
          </a:ln>
        </p:spPr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8C8C8C"/>
                </a:solidFill>
                <a:latin typeface="KoPubWorld돋움체 Light"/>
                <a:ea typeface="KoPubWorld돋움체 Light"/>
                <a:cs typeface="KoPubWorld돋움체 Light"/>
              </a:rPr>
              <a:t>[연도별 만기 도래 면적 막대 차트]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256032"/>
            <a:ext cx="502920" cy="384048"/>
          </a:xfrm>
          <a:prstGeom prst="rect">
            <a:avLst/>
          </a:prstGeom>
          <a:solidFill>
            <a:srgbClr val="012353"/>
          </a:solidFill>
          <a:ln>
            <a:noFill/>
          </a:ln>
        </p:spPr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01168"/>
            <a:ext cx="6858000" cy="256032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 i="0">
                <a:solidFill>
                  <a:srgbClr val="8C8C8C"/>
                </a:solidFill>
                <a:latin typeface="KoPubWorld돋움체 Light"/>
                <a:ea typeface="KoPubWorld돋움체 Light"/>
                <a:cs typeface="KoPubWorld돋움체 Light"/>
              </a:rPr>
              <a:t>운용전략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420624"/>
            <a:ext cx="8686800" cy="329184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012353"/>
                </a:solidFill>
                <a:latin typeface="KoPubWorld돋움체 Bold"/>
                <a:ea typeface="KoPubWorld돋움체 Bold"/>
                <a:cs typeface="KoPubWorld돋움체 Bold"/>
              </a:rPr>
              <a:t>운용전략 — Re-Tenanting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54135" y="256032"/>
            <a:ext cx="2926080" cy="2743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 i="0">
                <a:solidFill>
                  <a:srgbClr val="8C8C8C"/>
                </a:solidFill>
                <a:latin typeface="KoPubWorld돋움체 Light"/>
                <a:ea typeface="KoPubWorld돋움체 Light"/>
                <a:cs typeface="KoPubWorld돋움체 Light"/>
              </a:rPr>
              <a:t>[자산명] Information Memorandum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11480" y="841248"/>
            <a:ext cx="11368735" cy="0"/>
          </a:xfrm>
          <a:prstGeom prst="line">
            <a:avLst/>
          </a:prstGeom>
          <a:ln w="19050">
            <a:solidFill>
              <a:srgbClr val="012353"/>
            </a:solidFill>
          </a:ln>
        </p:spPr>
      </p:cxnSp>
      <p:sp>
        <p:nvSpPr>
          <p:cNvPr id="7" name="TextBox 6"/>
          <p:cNvSpPr txBox="1"/>
          <p:nvPr/>
        </p:nvSpPr>
        <p:spPr>
          <a:xfrm>
            <a:off x="411480" y="914400"/>
            <a:ext cx="11368735" cy="41148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F1F1F"/>
                </a:solidFill>
                <a:latin typeface="KoPubWorld돋움체 Medium"/>
                <a:ea typeface="KoPubWorld돋움체 Medium"/>
                <a:cs typeface="KoPubWorld돋움체 Medium"/>
              </a:rPr>
              <a:t>[만기 도래 시 임대료 조정 등 운용 전략의 핵심 목표]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11480" y="6446520"/>
            <a:ext cx="11368735" cy="0"/>
          </a:xfrm>
          <a:prstGeom prst="line">
            <a:avLst/>
          </a:prstGeom>
          <a:ln w="6350">
            <a:solidFill>
              <a:srgbClr val="BFBFBF"/>
            </a:solidFill>
          </a:ln>
        </p:spPr>
      </p:cxnSp>
      <p:sp>
        <p:nvSpPr>
          <p:cNvPr id="9" name="TextBox 8"/>
          <p:cNvSpPr txBox="1"/>
          <p:nvPr/>
        </p:nvSpPr>
        <p:spPr>
          <a:xfrm>
            <a:off x="411480" y="6473952"/>
            <a:ext cx="8686800" cy="2743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 i="0">
                <a:solidFill>
                  <a:srgbClr val="8C8C8C"/>
                </a:solidFill>
                <a:latin typeface="KoPubWorld돋움체 Light"/>
                <a:ea typeface="KoPubWorld돋움체 Light"/>
                <a:cs typeface="KoPubWorld돋움체 Light"/>
              </a:rPr>
              <a:t>IM 작성 실습용 양식(Clean) · 특정 자산·거래·당사자와 무관 · [●]는 실습자가 채울 공란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65815" y="6473952"/>
            <a:ext cx="914400" cy="2743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 i="0">
                <a:solidFill>
                  <a:srgbClr val="8C8C8C"/>
                </a:solidFill>
                <a:latin typeface="KoPubWorld돋움체 Light"/>
                <a:ea typeface="KoPubWorld돋움체 Light"/>
                <a:cs typeface="KoPubWorld돋움체 Light"/>
              </a:rPr>
              <a:t>14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11480" y="1508760"/>
          <a:ext cx="11368733" cy="243230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734213"/>
                <a:gridCol w="963452"/>
                <a:gridCol w="963452"/>
                <a:gridCol w="963452"/>
                <a:gridCol w="963452"/>
                <a:gridCol w="963452"/>
                <a:gridCol w="963452"/>
                <a:gridCol w="963452"/>
                <a:gridCol w="963452"/>
                <a:gridCol w="963452"/>
                <a:gridCol w="963452"/>
              </a:tblGrid>
              <a:tr h="347472"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002060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구분</a:t>
                      </a:r>
                    </a:p>
                  </a:txBody>
                  <a:tcPr anchor="ctr" marL="45720" marR="45720" marT="18288" marB="18288">
                    <a:solidFill>
                      <a:srgbClr val="DAE3F3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002060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1년차</a:t>
                      </a:r>
                    </a:p>
                  </a:txBody>
                  <a:tcPr anchor="ctr" marL="45720" marR="45720" marT="18288" marB="18288">
                    <a:solidFill>
                      <a:srgbClr val="DAE3F3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002060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2년차</a:t>
                      </a:r>
                    </a:p>
                  </a:txBody>
                  <a:tcPr anchor="ctr" marL="45720" marR="45720" marT="18288" marB="18288">
                    <a:solidFill>
                      <a:srgbClr val="DAE3F3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002060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3년차</a:t>
                      </a:r>
                    </a:p>
                  </a:txBody>
                  <a:tcPr anchor="ctr" marL="45720" marR="45720" marT="18288" marB="18288">
                    <a:solidFill>
                      <a:srgbClr val="DAE3F3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002060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4년차</a:t>
                      </a:r>
                    </a:p>
                  </a:txBody>
                  <a:tcPr anchor="ctr" marL="45720" marR="45720" marT="18288" marB="18288">
                    <a:solidFill>
                      <a:srgbClr val="DAE3F3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002060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5년차</a:t>
                      </a:r>
                    </a:p>
                  </a:txBody>
                  <a:tcPr anchor="ctr" marL="45720" marR="45720" marT="18288" marB="18288">
                    <a:solidFill>
                      <a:srgbClr val="DAE3F3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002060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6년차</a:t>
                      </a:r>
                    </a:p>
                  </a:txBody>
                  <a:tcPr anchor="ctr" marL="45720" marR="45720" marT="18288" marB="18288">
                    <a:solidFill>
                      <a:srgbClr val="DAE3F3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002060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7년차</a:t>
                      </a:r>
                    </a:p>
                  </a:txBody>
                  <a:tcPr anchor="ctr" marL="45720" marR="45720" marT="18288" marB="18288">
                    <a:solidFill>
                      <a:srgbClr val="DAE3F3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002060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8년차</a:t>
                      </a:r>
                    </a:p>
                  </a:txBody>
                  <a:tcPr anchor="ctr" marL="45720" marR="45720" marT="18288" marB="18288">
                    <a:solidFill>
                      <a:srgbClr val="DAE3F3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002060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9년차</a:t>
                      </a:r>
                    </a:p>
                  </a:txBody>
                  <a:tcPr anchor="ctr" marL="45720" marR="45720" marT="18288" marB="18288">
                    <a:solidFill>
                      <a:srgbClr val="DAE3F3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002060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10년차</a:t>
                      </a:r>
                    </a:p>
                  </a:txBody>
                  <a:tcPr anchor="ctr" marL="45720" marR="45720" marT="18288" marB="18288">
                    <a:solidFill>
                      <a:srgbClr val="DAE3F3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연도</a:t>
                      </a:r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[YYYY]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[YYYY]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[YYYY]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[YYYY]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[YYYY]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[YYYY]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[YYYY]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[YYYY]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[YYYY]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[YYYY]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임대료(원/평/월)</a:t>
                      </a:r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관리비(원/평/월)</a:t>
                      </a:r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Effective Rent</a:t>
                      </a:r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임대율(%)</a:t>
                      </a:r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주요 이벤트</a:t>
                      </a:r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/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/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/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/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/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/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/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/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/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/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11480" y="4114800"/>
          <a:ext cx="11368734" cy="219456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764114"/>
                <a:gridCol w="4116266"/>
                <a:gridCol w="2744177"/>
                <a:gridCol w="2744177"/>
              </a:tblGrid>
              <a:tr h="438912"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002060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전략</a:t>
                      </a:r>
                    </a:p>
                  </a:txBody>
                  <a:tcPr anchor="ctr" marL="45720" marR="45720" marT="18288" marB="18288">
                    <a:solidFill>
                      <a:srgbClr val="DAE3F3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002060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주요 내용</a:t>
                      </a:r>
                    </a:p>
                  </a:txBody>
                  <a:tcPr anchor="ctr" marL="45720" marR="45720" marT="18288" marB="18288">
                    <a:solidFill>
                      <a:srgbClr val="DAE3F3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002060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기대 효과</a:t>
                      </a:r>
                    </a:p>
                  </a:txBody>
                  <a:tcPr anchor="ctr" marL="45720" marR="45720" marT="18288" marB="18288">
                    <a:solidFill>
                      <a:srgbClr val="DAE3F3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002060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관련 리스크</a:t>
                      </a:r>
                    </a:p>
                  </a:txBody>
                  <a:tcPr anchor="ctr" marL="45720" marR="45720" marT="18288" marB="18288">
                    <a:solidFill>
                      <a:srgbClr val="DAE3F3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임대료 조정</a:t>
                      </a:r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[만기 시 시장임대료 수준으로 재계약]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[NOI [●]% 증가]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[임차인 이탈]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공실 해소 · 재임대</a:t>
                      </a:r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[신규 임차인 유치 계획]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[임대율 [●]%]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[다운타임 · Rent-Free]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비용 효율화</a:t>
                      </a:r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[관리 용역 · 에너지 비용 절감]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[운영비 [●]% 절감]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[서비스 품질]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자본적 지출</a:t>
                      </a:r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[설비 개선 · 용도 전환]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[자산가치 제고]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[공사비 · 공사기간]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256032"/>
            <a:ext cx="502920" cy="384048"/>
          </a:xfrm>
          <a:prstGeom prst="rect">
            <a:avLst/>
          </a:prstGeom>
          <a:solidFill>
            <a:srgbClr val="012353"/>
          </a:solidFill>
          <a:ln>
            <a:noFill/>
          </a:ln>
        </p:spPr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01168"/>
            <a:ext cx="6858000" cy="256032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 i="0">
                <a:solidFill>
                  <a:srgbClr val="8C8C8C"/>
                </a:solidFill>
                <a:latin typeface="KoPubWorld돋움체 Light"/>
                <a:ea typeface="KoPubWorld돋움체 Light"/>
                <a:cs typeface="KoPubWorld돋움체 Light"/>
              </a:rPr>
              <a:t>투자수익률 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420624"/>
            <a:ext cx="8686800" cy="329184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012353"/>
                </a:solidFill>
                <a:latin typeface="KoPubWorld돋움체 Bold"/>
                <a:ea typeface="KoPubWorld돋움체 Bold"/>
                <a:cs typeface="KoPubWorld돋움체 Bold"/>
              </a:rPr>
              <a:t>분석가정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54135" y="256032"/>
            <a:ext cx="2926080" cy="2743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 i="0">
                <a:solidFill>
                  <a:srgbClr val="8C8C8C"/>
                </a:solidFill>
                <a:latin typeface="KoPubWorld돋움체 Light"/>
                <a:ea typeface="KoPubWorld돋움체 Light"/>
                <a:cs typeface="KoPubWorld돋움체 Light"/>
              </a:rPr>
              <a:t>[자산명] Information Memorandum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11480" y="841248"/>
            <a:ext cx="11368735" cy="0"/>
          </a:xfrm>
          <a:prstGeom prst="line">
            <a:avLst/>
          </a:prstGeom>
          <a:ln w="19050">
            <a:solidFill>
              <a:srgbClr val="012353"/>
            </a:solidFill>
          </a:ln>
        </p:spPr>
      </p:cxnSp>
      <p:sp>
        <p:nvSpPr>
          <p:cNvPr id="7" name="TextBox 6"/>
          <p:cNvSpPr txBox="1"/>
          <p:nvPr/>
        </p:nvSpPr>
        <p:spPr>
          <a:xfrm>
            <a:off x="411480" y="914400"/>
            <a:ext cx="11368735" cy="41148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F1F1F"/>
                </a:solidFill>
                <a:latin typeface="KoPubWorld돋움체 Medium"/>
                <a:ea typeface="KoPubWorld돋움체 Medium"/>
                <a:cs typeface="KoPubWorld돋움체 Medium"/>
              </a:rPr>
              <a:t>[현금흐름 추정에 사용한 주요 가정 요약]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11480" y="6446520"/>
            <a:ext cx="11368735" cy="0"/>
          </a:xfrm>
          <a:prstGeom prst="line">
            <a:avLst/>
          </a:prstGeom>
          <a:ln w="6350">
            <a:solidFill>
              <a:srgbClr val="BFBFBF"/>
            </a:solidFill>
          </a:ln>
        </p:spPr>
      </p:cxnSp>
      <p:sp>
        <p:nvSpPr>
          <p:cNvPr id="9" name="TextBox 8"/>
          <p:cNvSpPr txBox="1"/>
          <p:nvPr/>
        </p:nvSpPr>
        <p:spPr>
          <a:xfrm>
            <a:off x="411480" y="6473952"/>
            <a:ext cx="8686800" cy="2743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 i="0">
                <a:solidFill>
                  <a:srgbClr val="8C8C8C"/>
                </a:solidFill>
                <a:latin typeface="KoPubWorld돋움체 Light"/>
                <a:ea typeface="KoPubWorld돋움체 Light"/>
                <a:cs typeface="KoPubWorld돋움체 Light"/>
              </a:rPr>
              <a:t>IM 작성 실습용 양식(Clean) · 특정 자산·거래·당사자와 무관 · [●]는 실습자가 채울 공란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65815" y="6473952"/>
            <a:ext cx="914400" cy="2743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 i="0">
                <a:solidFill>
                  <a:srgbClr val="8C8C8C"/>
                </a:solidFill>
                <a:latin typeface="KoPubWorld돋움체 Light"/>
                <a:ea typeface="KoPubWorld돋움체 Light"/>
                <a:cs typeface="KoPubWorld돋움체 Light"/>
              </a:rPr>
              <a:t>15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11480" y="1508760"/>
          <a:ext cx="5577840" cy="329184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645920"/>
                <a:gridCol w="2011680"/>
                <a:gridCol w="1920240"/>
              </a:tblGrid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002060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구분</a:t>
                      </a:r>
                    </a:p>
                  </a:txBody>
                  <a:tcPr anchor="ctr" marL="45720" marR="45720" marT="18288" marB="18288">
                    <a:solidFill>
                      <a:srgbClr val="DAE3F3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002060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가정</a:t>
                      </a:r>
                    </a:p>
                  </a:txBody>
                  <a:tcPr anchor="ctr" marL="45720" marR="45720" marT="18288" marB="18288">
                    <a:solidFill>
                      <a:srgbClr val="DAE3F3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002060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근거</a:t>
                      </a:r>
                    </a:p>
                  </a:txBody>
                  <a:tcPr anchor="ctr" marL="45720" marR="45720" marT="18288" marB="18288">
                    <a:solidFill>
                      <a:srgbClr val="DAE3F3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운용기간</a:t>
                      </a:r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[●]개월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개시일 / 종료일</a:t>
                      </a:r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[YYYY.MM] / [YYYY.MM]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/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임대료 인상률</a:t>
                      </a:r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연 [●]%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임대차계약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갱신 시 임대료</a:t>
                      </a:r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[●]원/평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시장 실사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공실률 · 다운타임</a:t>
                      </a:r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[●]% · [●]개월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Rent-Free</a:t>
                      </a:r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[●]개월/년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관리비 수입 / 비용</a:t>
                      </a:r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 / 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운영비용 상승률</a:t>
                      </a:r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연 [●]%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99632" y="1508760"/>
          <a:ext cx="5577839" cy="329184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645920"/>
                <a:gridCol w="2194560"/>
                <a:gridCol w="1737359"/>
              </a:tblGrid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002060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구분</a:t>
                      </a:r>
                    </a:p>
                  </a:txBody>
                  <a:tcPr anchor="ctr" marL="45720" marR="45720" marT="18288" marB="18288">
                    <a:solidFill>
                      <a:srgbClr val="DAE3F3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002060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가정</a:t>
                      </a:r>
                    </a:p>
                  </a:txBody>
                  <a:tcPr anchor="ctr" marL="45720" marR="45720" marT="18288" marB="18288">
                    <a:solidFill>
                      <a:srgbClr val="DAE3F3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002060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근거</a:t>
                      </a:r>
                    </a:p>
                  </a:txBody>
                  <a:tcPr anchor="ctr" marL="45720" marR="45720" marT="18288" marB="18288">
                    <a:solidFill>
                      <a:srgbClr val="DAE3F3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선순위 금리</a:t>
                      </a:r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[●]% ([고정/변동])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금융확약서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중순위 금리</a:t>
                      </a:r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[●]%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금융확약서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대출 만기 · 리파이낸싱</a:t>
                      </a:r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[●]개월 · 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AMC 보수</a:t>
                      </a:r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매입 [●]% / 운용 [●]% / 매각 [●]%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/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Exit Cap Rate</a:t>
                      </a:r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[●]%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[진입 Cap + [●]bp]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매각 비용</a:t>
                      </a:r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매각가의 [●]%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법인세 · 배당</a:t>
                      </a:r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[배당가능이익의 90% 이상 배당 등]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관련 법령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할인율</a:t>
                      </a:r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[●]%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411480" y="4983480"/>
            <a:ext cx="11368735" cy="1371600"/>
          </a:xfrm>
          <a:prstGeom prst="rect">
            <a:avLst/>
          </a:prstGeom>
          <a:solidFill>
            <a:srgbClr val="FFF8E5"/>
          </a:solidFill>
          <a:ln w="9525">
            <a:solidFill>
              <a:srgbClr val="F2C14E"/>
            </a:solidFill>
          </a:ln>
        </p:spPr>
        <p:txBody>
          <a:bodyPr rtlCol="0" anchor="t" wrap="square" lIns="100584" rIns="100584" tIns="73152" bIns="73152"/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7F6000"/>
                </a:solidFill>
                <a:latin typeface="KoPubWorld돋움체 Bold"/>
                <a:ea typeface="KoPubWorld돋움체 Bold"/>
                <a:cs typeface="KoPubWorld돋움체 Bold"/>
              </a:rPr>
              <a:t>작성 가이드</a:t>
            </a:r>
          </a:p>
          <a:p>
            <a:pPr algn="l">
              <a:spcAft>
                <a:spcPts val="200"/>
              </a:spcAft>
            </a:pPr>
            <a:r>
              <a:rPr sz="900" b="0" i="0">
                <a:solidFill>
                  <a:srgbClr val="595959"/>
                </a:solidFill>
                <a:latin typeface="KoPubWorld돋움체 Light"/>
                <a:ea typeface="KoPubWorld돋움체 Light"/>
                <a:cs typeface="KoPubWorld돋움체 Light"/>
              </a:rPr>
              <a:t>• 모든 가정에 근거 자료(계약서·실사보고서·확약서 등)와 기준일을 적습니다.</a:t>
            </a:r>
          </a:p>
          <a:p>
            <a:pPr algn="l">
              <a:spcAft>
                <a:spcPts val="200"/>
              </a:spcAft>
            </a:pPr>
            <a:r>
              <a:rPr sz="900" b="0" i="0">
                <a:solidFill>
                  <a:srgbClr val="595959"/>
                </a:solidFill>
                <a:latin typeface="KoPubWorld돋움체 Light"/>
                <a:ea typeface="KoPubWorld돋움체 Light"/>
                <a:cs typeface="KoPubWorld돋움체 Light"/>
              </a:rPr>
              <a:t>• Cap Rate의 분모(매입가 / 매입가−보증금 / 부대비용 포함 여부)와 IRR의 레버리지 전·후 구분을 명시합니다.</a:t>
            </a:r>
          </a:p>
          <a:p>
            <a:pPr algn="l">
              <a:spcAft>
                <a:spcPts val="200"/>
              </a:spcAft>
            </a:pPr>
            <a:r>
              <a:rPr sz="900" b="0" i="0">
                <a:solidFill>
                  <a:srgbClr val="595959"/>
                </a:solidFill>
                <a:latin typeface="KoPubWorld돋움체 Light"/>
                <a:ea typeface="KoPubWorld돋움체 Light"/>
                <a:cs typeface="KoPubWorld돋움체 Light"/>
              </a:rPr>
              <a:t>• 추정치는 [추정], 확인되지 않은 값은 [확인 필요]로 표시하고, '보장'·'확정' 같은 표현은 쓰지 않습니다.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256032"/>
            <a:ext cx="502920" cy="384048"/>
          </a:xfrm>
          <a:prstGeom prst="rect">
            <a:avLst/>
          </a:prstGeom>
          <a:solidFill>
            <a:srgbClr val="012353"/>
          </a:solidFill>
          <a:ln>
            <a:noFill/>
          </a:ln>
        </p:spPr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01168"/>
            <a:ext cx="6858000" cy="256032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 i="0">
                <a:solidFill>
                  <a:srgbClr val="8C8C8C"/>
                </a:solidFill>
                <a:latin typeface="KoPubWorld돋움체 Light"/>
                <a:ea typeface="KoPubWorld돋움체 Light"/>
                <a:cs typeface="KoPubWorld돋움체 Light"/>
              </a:rPr>
              <a:t>투자수익률 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420624"/>
            <a:ext cx="8686800" cy="329184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012353"/>
                </a:solidFill>
                <a:latin typeface="KoPubWorld돋움체 Bold"/>
                <a:ea typeface="KoPubWorld돋움체 Bold"/>
                <a:cs typeface="KoPubWorld돋움체 Bold"/>
              </a:rPr>
              <a:t>추정 현금흐름 (Cash Flow)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54135" y="256032"/>
            <a:ext cx="2926080" cy="2743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 i="0">
                <a:solidFill>
                  <a:srgbClr val="8C8C8C"/>
                </a:solidFill>
                <a:latin typeface="KoPubWorld돋움체 Light"/>
                <a:ea typeface="KoPubWorld돋움체 Light"/>
                <a:cs typeface="KoPubWorld돋움체 Light"/>
              </a:rPr>
              <a:t>[자산명] Information Memorandum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11480" y="841248"/>
            <a:ext cx="11368735" cy="0"/>
          </a:xfrm>
          <a:prstGeom prst="line">
            <a:avLst/>
          </a:prstGeom>
          <a:ln w="19050">
            <a:solidFill>
              <a:srgbClr val="012353"/>
            </a:solidFill>
          </a:ln>
        </p:spPr>
      </p:cxnSp>
      <p:sp>
        <p:nvSpPr>
          <p:cNvPr id="7" name="TextBox 6"/>
          <p:cNvSpPr txBox="1"/>
          <p:nvPr/>
        </p:nvSpPr>
        <p:spPr>
          <a:xfrm>
            <a:off x="411480" y="914400"/>
            <a:ext cx="11368735" cy="41148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F1F1F"/>
                </a:solidFill>
                <a:latin typeface="KoPubWorld돋움체 Medium"/>
                <a:ea typeface="KoPubWorld돋움체 Medium"/>
                <a:cs typeface="KoPubWorld돋움체 Medium"/>
              </a:rPr>
              <a:t>[운용기간 NOI 연평균 [●]% 증가, 평균 Cap Rate [●]%] [추정]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11480" y="6446520"/>
            <a:ext cx="11368735" cy="0"/>
          </a:xfrm>
          <a:prstGeom prst="line">
            <a:avLst/>
          </a:prstGeom>
          <a:ln w="6350">
            <a:solidFill>
              <a:srgbClr val="BFBFBF"/>
            </a:solidFill>
          </a:ln>
        </p:spPr>
      </p:cxnSp>
      <p:sp>
        <p:nvSpPr>
          <p:cNvPr id="9" name="TextBox 8"/>
          <p:cNvSpPr txBox="1"/>
          <p:nvPr/>
        </p:nvSpPr>
        <p:spPr>
          <a:xfrm>
            <a:off x="411480" y="6473952"/>
            <a:ext cx="8686800" cy="2743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 i="0">
                <a:solidFill>
                  <a:srgbClr val="8C8C8C"/>
                </a:solidFill>
                <a:latin typeface="KoPubWorld돋움체 Light"/>
                <a:ea typeface="KoPubWorld돋움체 Light"/>
                <a:cs typeface="KoPubWorld돋움체 Light"/>
              </a:rPr>
              <a:t>IM 작성 실습용 양식(Clean) · 특정 자산·거래·당사자와 무관 · [●]는 실습자가 채울 공란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65815" y="6473952"/>
            <a:ext cx="914400" cy="2743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 i="0">
                <a:solidFill>
                  <a:srgbClr val="8C8C8C"/>
                </a:solidFill>
                <a:latin typeface="KoPubWorld돋움체 Light"/>
                <a:ea typeface="KoPubWorld돋움체 Light"/>
                <a:cs typeface="KoPubWorld돋움체 Light"/>
              </a:rPr>
              <a:t>16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11480" y="1508760"/>
          <a:ext cx="11368729" cy="4279392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977171"/>
                <a:gridCol w="853778"/>
                <a:gridCol w="853778"/>
                <a:gridCol w="853778"/>
                <a:gridCol w="853778"/>
                <a:gridCol w="853778"/>
                <a:gridCol w="853778"/>
                <a:gridCol w="853778"/>
                <a:gridCol w="853778"/>
                <a:gridCol w="853778"/>
                <a:gridCol w="853778"/>
                <a:gridCol w="853778"/>
              </a:tblGrid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2060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구분(백만원)</a:t>
                      </a:r>
                    </a:p>
                  </a:txBody>
                  <a:tcPr anchor="ctr" marL="45720" marR="45720" marT="18288" marB="18288">
                    <a:solidFill>
                      <a:srgbClr val="DAE3F3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2060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Y1</a:t>
                      </a:r>
                    </a:p>
                  </a:txBody>
                  <a:tcPr anchor="ctr" marL="45720" marR="45720" marT="18288" marB="18288">
                    <a:solidFill>
                      <a:srgbClr val="DAE3F3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2060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Y2</a:t>
                      </a:r>
                    </a:p>
                  </a:txBody>
                  <a:tcPr anchor="ctr" marL="45720" marR="45720" marT="18288" marB="18288">
                    <a:solidFill>
                      <a:srgbClr val="DAE3F3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2060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Y3</a:t>
                      </a:r>
                    </a:p>
                  </a:txBody>
                  <a:tcPr anchor="ctr" marL="45720" marR="45720" marT="18288" marB="18288">
                    <a:solidFill>
                      <a:srgbClr val="DAE3F3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2060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Y4</a:t>
                      </a:r>
                    </a:p>
                  </a:txBody>
                  <a:tcPr anchor="ctr" marL="45720" marR="45720" marT="18288" marB="18288">
                    <a:solidFill>
                      <a:srgbClr val="DAE3F3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2060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Y5</a:t>
                      </a:r>
                    </a:p>
                  </a:txBody>
                  <a:tcPr anchor="ctr" marL="45720" marR="45720" marT="18288" marB="18288">
                    <a:solidFill>
                      <a:srgbClr val="DAE3F3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2060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Y6</a:t>
                      </a:r>
                    </a:p>
                  </a:txBody>
                  <a:tcPr anchor="ctr" marL="45720" marR="45720" marT="18288" marB="18288">
                    <a:solidFill>
                      <a:srgbClr val="DAE3F3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2060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Y7</a:t>
                      </a:r>
                    </a:p>
                  </a:txBody>
                  <a:tcPr anchor="ctr" marL="45720" marR="45720" marT="18288" marB="18288">
                    <a:solidFill>
                      <a:srgbClr val="DAE3F3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2060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Y8</a:t>
                      </a:r>
                    </a:p>
                  </a:txBody>
                  <a:tcPr anchor="ctr" marL="45720" marR="45720" marT="18288" marB="18288">
                    <a:solidFill>
                      <a:srgbClr val="DAE3F3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2060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Y9</a:t>
                      </a:r>
                    </a:p>
                  </a:txBody>
                  <a:tcPr anchor="ctr" marL="45720" marR="45720" marT="18288" marB="18288">
                    <a:solidFill>
                      <a:srgbClr val="DAE3F3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2060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Y10</a:t>
                      </a:r>
                    </a:p>
                  </a:txBody>
                  <a:tcPr anchor="ctr" marL="45720" marR="45720" marT="18288" marB="18288">
                    <a:solidFill>
                      <a:srgbClr val="DAE3F3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2060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합계</a:t>
                      </a:r>
                    </a:p>
                  </a:txBody>
                  <a:tcPr anchor="ctr" marL="45720" marR="45720" marT="18288" marB="18288">
                    <a:solidFill>
                      <a:srgbClr val="DAE3F3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임대료 수입</a:t>
                      </a:r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관리비 수입</a:t>
                      </a:r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기타 수입</a:t>
                      </a:r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(−) 공실·Rent-Free</a:t>
                      </a:r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총수입</a:t>
                      </a:r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(−) 운영비용</a:t>
                      </a:r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2060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NOI</a:t>
                      </a:r>
                    </a:p>
                  </a:txBody>
                  <a:tcPr anchor="ctr" marL="45720" marR="45720" marT="18288" marB="18288">
                    <a:solidFill>
                      <a:srgbClr val="DAE3F3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2060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DAE3F3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2060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DAE3F3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2060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DAE3F3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2060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DAE3F3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2060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DAE3F3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2060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DAE3F3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2060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DAE3F3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2060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DAE3F3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2060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DAE3F3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2060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DAE3F3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2060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DAE3F3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(−) AMC 운용보수</a:t>
                      </a:r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(−) 대출 이자</a:t>
                      </a:r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(−) 기타 비용</a:t>
                      </a:r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배당가능 현금흐름</a:t>
                      </a:r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Cap Rate(매입가 기준, %)</a:t>
                      </a:r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411480" y="5852160"/>
            <a:ext cx="11368735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 i="0">
                <a:solidFill>
                  <a:srgbClr val="8C8C8C"/>
                </a:solidFill>
                <a:latin typeface="KoPubWorld돋움체 Light"/>
                <a:ea typeface="KoPubWorld돋움체 Light"/>
                <a:cs typeface="KoPubWorld돋움체 Light"/>
              </a:rPr>
              <a:t>※ NOI = 임대수입 + 기타수입 − 운영비용(자본적 지출 제외). 단위·반올림 기준을 표 위에 적습니다.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256032"/>
            <a:ext cx="502920" cy="384048"/>
          </a:xfrm>
          <a:prstGeom prst="rect">
            <a:avLst/>
          </a:prstGeom>
          <a:solidFill>
            <a:srgbClr val="012353"/>
          </a:solidFill>
          <a:ln>
            <a:noFill/>
          </a:ln>
        </p:spPr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01168"/>
            <a:ext cx="6858000" cy="256032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 i="0">
                <a:solidFill>
                  <a:srgbClr val="8C8C8C"/>
                </a:solidFill>
                <a:latin typeface="KoPubWorld돋움체 Light"/>
                <a:ea typeface="KoPubWorld돋움체 Light"/>
                <a:cs typeface="KoPubWorld돋움체 Light"/>
              </a:rPr>
              <a:t>투자수익률 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420624"/>
            <a:ext cx="8686800" cy="329184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012353"/>
                </a:solidFill>
                <a:latin typeface="KoPubWorld돋움체 Bold"/>
                <a:ea typeface="KoPubWorld돋움체 Bold"/>
                <a:cs typeface="KoPubWorld돋움체 Bold"/>
              </a:rPr>
              <a:t>예상 투자수익률 (Tranche별)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54135" y="256032"/>
            <a:ext cx="2926080" cy="2743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 i="0">
                <a:solidFill>
                  <a:srgbClr val="8C8C8C"/>
                </a:solidFill>
                <a:latin typeface="KoPubWorld돋움체 Light"/>
                <a:ea typeface="KoPubWorld돋움체 Light"/>
                <a:cs typeface="KoPubWorld돋움체 Light"/>
              </a:rPr>
              <a:t>[자산명] Information Memorandum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11480" y="841248"/>
            <a:ext cx="11368735" cy="0"/>
          </a:xfrm>
          <a:prstGeom prst="line">
            <a:avLst/>
          </a:prstGeom>
          <a:ln w="19050">
            <a:solidFill>
              <a:srgbClr val="012353"/>
            </a:solidFill>
          </a:ln>
        </p:spPr>
      </p:cxnSp>
      <p:sp>
        <p:nvSpPr>
          <p:cNvPr id="7" name="TextBox 6"/>
          <p:cNvSpPr txBox="1"/>
          <p:nvPr/>
        </p:nvSpPr>
        <p:spPr>
          <a:xfrm>
            <a:off x="411480" y="914400"/>
            <a:ext cx="11368735" cy="41148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F1F1F"/>
                </a:solidFill>
                <a:latin typeface="KoPubWorld돋움체 Medium"/>
                <a:ea typeface="KoPubWorld돋움체 Medium"/>
                <a:cs typeface="KoPubWorld돋움체 Medium"/>
              </a:rPr>
              <a:t>[Tranche별 예상 배당수익률과 IRR 요약] [추정]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11480" y="6446520"/>
            <a:ext cx="11368735" cy="0"/>
          </a:xfrm>
          <a:prstGeom prst="line">
            <a:avLst/>
          </a:prstGeom>
          <a:ln w="6350">
            <a:solidFill>
              <a:srgbClr val="BFBFBF"/>
            </a:solidFill>
          </a:ln>
        </p:spPr>
      </p:cxnSp>
      <p:sp>
        <p:nvSpPr>
          <p:cNvPr id="9" name="TextBox 8"/>
          <p:cNvSpPr txBox="1"/>
          <p:nvPr/>
        </p:nvSpPr>
        <p:spPr>
          <a:xfrm>
            <a:off x="411480" y="6473952"/>
            <a:ext cx="8686800" cy="2743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 i="0">
                <a:solidFill>
                  <a:srgbClr val="8C8C8C"/>
                </a:solidFill>
                <a:latin typeface="KoPubWorld돋움체 Light"/>
                <a:ea typeface="KoPubWorld돋움체 Light"/>
                <a:cs typeface="KoPubWorld돋움체 Light"/>
              </a:rPr>
              <a:t>IM 작성 실습용 양식(Clean) · 특정 자산·거래·당사자와 무관 · [●]는 실습자가 채울 공란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65815" y="6473952"/>
            <a:ext cx="914400" cy="2743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 i="0">
                <a:solidFill>
                  <a:srgbClr val="8C8C8C"/>
                </a:solidFill>
                <a:latin typeface="KoPubWorld돋움체 Light"/>
                <a:ea typeface="KoPubWorld돋움체 Light"/>
                <a:cs typeface="KoPubWorld돋움체 Light"/>
              </a:rPr>
              <a:t>17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11480" y="1508760"/>
          <a:ext cx="11368728" cy="356616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497117"/>
                <a:gridCol w="1122838"/>
                <a:gridCol w="795343"/>
                <a:gridCol w="795343"/>
                <a:gridCol w="795343"/>
                <a:gridCol w="795343"/>
                <a:gridCol w="795343"/>
                <a:gridCol w="795343"/>
                <a:gridCol w="795343"/>
                <a:gridCol w="795343"/>
                <a:gridCol w="795343"/>
                <a:gridCol w="795343"/>
                <a:gridCol w="795343"/>
              </a:tblGrid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002060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Tranche</a:t>
                      </a:r>
                    </a:p>
                  </a:txBody>
                  <a:tcPr anchor="ctr" marL="45720" marR="45720" marT="18288" marB="18288">
                    <a:solidFill>
                      <a:srgbClr val="DAE3F3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002060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항목</a:t>
                      </a:r>
                    </a:p>
                  </a:txBody>
                  <a:tcPr anchor="ctr" marL="45720" marR="45720" marT="18288" marB="18288">
                    <a:solidFill>
                      <a:srgbClr val="DAE3F3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002060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FY1</a:t>
                      </a:r>
                    </a:p>
                  </a:txBody>
                  <a:tcPr anchor="ctr" marL="45720" marR="45720" marT="18288" marB="18288">
                    <a:solidFill>
                      <a:srgbClr val="DAE3F3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002060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FY2</a:t>
                      </a:r>
                    </a:p>
                  </a:txBody>
                  <a:tcPr anchor="ctr" marL="45720" marR="45720" marT="18288" marB="18288">
                    <a:solidFill>
                      <a:srgbClr val="DAE3F3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002060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FY3</a:t>
                      </a:r>
                    </a:p>
                  </a:txBody>
                  <a:tcPr anchor="ctr" marL="45720" marR="45720" marT="18288" marB="18288">
                    <a:solidFill>
                      <a:srgbClr val="DAE3F3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002060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FY4</a:t>
                      </a:r>
                    </a:p>
                  </a:txBody>
                  <a:tcPr anchor="ctr" marL="45720" marR="45720" marT="18288" marB="18288">
                    <a:solidFill>
                      <a:srgbClr val="DAE3F3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002060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FY5</a:t>
                      </a:r>
                    </a:p>
                  </a:txBody>
                  <a:tcPr anchor="ctr" marL="45720" marR="45720" marT="18288" marB="18288">
                    <a:solidFill>
                      <a:srgbClr val="DAE3F3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002060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FY6</a:t>
                      </a:r>
                    </a:p>
                  </a:txBody>
                  <a:tcPr anchor="ctr" marL="45720" marR="45720" marT="18288" marB="18288">
                    <a:solidFill>
                      <a:srgbClr val="DAE3F3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002060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FY7</a:t>
                      </a:r>
                    </a:p>
                  </a:txBody>
                  <a:tcPr anchor="ctr" marL="45720" marR="45720" marT="18288" marB="18288">
                    <a:solidFill>
                      <a:srgbClr val="DAE3F3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002060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FY8</a:t>
                      </a:r>
                    </a:p>
                  </a:txBody>
                  <a:tcPr anchor="ctr" marL="45720" marR="45720" marT="18288" marB="18288">
                    <a:solidFill>
                      <a:srgbClr val="DAE3F3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002060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FY9</a:t>
                      </a:r>
                    </a:p>
                  </a:txBody>
                  <a:tcPr anchor="ctr" marL="45720" marR="45720" marT="18288" marB="18288">
                    <a:solidFill>
                      <a:srgbClr val="DAE3F3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002060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FY10</a:t>
                      </a:r>
                    </a:p>
                  </a:txBody>
                  <a:tcPr anchor="ctr" marL="45720" marR="45720" marT="18288" marB="18288">
                    <a:solidFill>
                      <a:srgbClr val="DAE3F3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002060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합계/평균</a:t>
                      </a:r>
                    </a:p>
                  </a:txBody>
                  <a:tcPr anchor="ctr" marL="45720" marR="45720" marT="18288" marB="18288">
                    <a:solidFill>
                      <a:srgbClr val="DAE3F3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274320">
                <a:tc rowSpan="4"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[제1종 종류주식]</a:t>
                      </a:r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투자잔액</a:t>
                      </a:r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274320">
                <a:tc vMerge="1">
                  <a:txBody>
                    <a:bodyPr wrap="square"/>
                    <a:lstStyle/>
                    <a:p>
                      <a:pPr algn="ctr"/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운영배당</a:t>
                      </a:r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274320">
                <a:tc vMerge="1">
                  <a:txBody>
                    <a:bodyPr wrap="square"/>
                    <a:lstStyle/>
                    <a:p>
                      <a:pPr algn="ctr"/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매각차익(C.G)</a:t>
                      </a:r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274320">
                <a:tc vMerge="1">
                  <a:txBody>
                    <a:bodyPr wrap="square"/>
                    <a:lstStyle/>
                    <a:p>
                      <a:pPr algn="ctr"/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Yield(%)</a:t>
                      </a:r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274320">
                <a:tc rowSpan="4"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[제2종 종류주식]</a:t>
                      </a:r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투자잔액</a:t>
                      </a:r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274320">
                <a:tc vMerge="1">
                  <a:txBody>
                    <a:bodyPr wrap="square"/>
                    <a:lstStyle/>
                    <a:p>
                      <a:pPr algn="ctr"/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운영배당</a:t>
                      </a:r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274320">
                <a:tc vMerge="1">
                  <a:txBody>
                    <a:bodyPr wrap="square"/>
                    <a:lstStyle/>
                    <a:p>
                      <a:pPr algn="ctr"/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매각차익(C.G)</a:t>
                      </a:r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274320">
                <a:tc vMerge="1">
                  <a:txBody>
                    <a:bodyPr wrap="square"/>
                    <a:lstStyle/>
                    <a:p>
                      <a:pPr algn="ctr"/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Yield(%)</a:t>
                      </a:r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274320">
                <a:tc rowSpan="4"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보통주</a:t>
                      </a:r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투자잔액</a:t>
                      </a:r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274320">
                <a:tc vMerge="1">
                  <a:txBody>
                    <a:bodyPr wrap="square"/>
                    <a:lstStyle/>
                    <a:p>
                      <a:pPr algn="ctr"/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운영배당</a:t>
                      </a:r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274320">
                <a:tc vMerge="1">
                  <a:txBody>
                    <a:bodyPr wrap="square"/>
                    <a:lstStyle/>
                    <a:p>
                      <a:pPr algn="ctr"/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매각차익(C.G)</a:t>
                      </a:r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274320">
                <a:tc vMerge="1">
                  <a:txBody>
                    <a:bodyPr wrap="square"/>
                    <a:lstStyle/>
                    <a:p>
                      <a:pPr algn="ctr"/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Yield(%)</a:t>
                      </a:r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11480" y="5166360"/>
          <a:ext cx="11368734" cy="65836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193966"/>
                <a:gridCol w="2293692"/>
                <a:gridCol w="2293692"/>
                <a:gridCol w="2293692"/>
                <a:gridCol w="2293692"/>
              </a:tblGrid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002060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구분</a:t>
                      </a:r>
                    </a:p>
                  </a:txBody>
                  <a:tcPr anchor="ctr" marL="45720" marR="45720" marT="18288" marB="18288">
                    <a:solidFill>
                      <a:srgbClr val="DAE3F3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002060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[제1종 종류주식]</a:t>
                      </a:r>
                    </a:p>
                  </a:txBody>
                  <a:tcPr anchor="ctr" marL="45720" marR="45720" marT="18288" marB="18288">
                    <a:solidFill>
                      <a:srgbClr val="DAE3F3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002060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[제2종 종류주식]</a:t>
                      </a:r>
                    </a:p>
                  </a:txBody>
                  <a:tcPr anchor="ctr" marL="45720" marR="45720" marT="18288" marB="18288">
                    <a:solidFill>
                      <a:srgbClr val="DAE3F3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002060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보통주</a:t>
                      </a:r>
                    </a:p>
                  </a:txBody>
                  <a:tcPr anchor="ctr" marL="45720" marR="45720" marT="18288" marB="18288">
                    <a:solidFill>
                      <a:srgbClr val="DAE3F3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002060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전체 Equity</a:t>
                      </a:r>
                    </a:p>
                  </a:txBody>
                  <a:tcPr anchor="ctr" marL="45720" marR="45720" marT="18288" marB="18288">
                    <a:solidFill>
                      <a:srgbClr val="DAE3F3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IRR / Equity Multiple</a:t>
                      </a:r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[●]% / [●]x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[●]% / [●]x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[●]% / [●]x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[●]% / [●]x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411480" y="5897880"/>
            <a:ext cx="11368735" cy="41148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 i="0">
                <a:solidFill>
                  <a:srgbClr val="8C8C8C"/>
                </a:solidFill>
                <a:latin typeface="KoPubWorld돋움체 Light"/>
                <a:ea typeface="KoPubWorld돋움체 Light"/>
                <a:cs typeface="KoPubWorld돋움체 Light"/>
              </a:rPr>
              <a:t>※ 예상수익률은 가정에 따른 추정치이며 실제 결과와 다를 수 있습니다. 운용기간·Exit Cap·매각비용 가정을 함께 적습니다.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256032"/>
            <a:ext cx="502920" cy="384048"/>
          </a:xfrm>
          <a:prstGeom prst="rect">
            <a:avLst/>
          </a:prstGeom>
          <a:solidFill>
            <a:srgbClr val="012353"/>
          </a:solidFill>
          <a:ln>
            <a:noFill/>
          </a:ln>
        </p:spPr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01168"/>
            <a:ext cx="6858000" cy="256032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 i="0">
                <a:solidFill>
                  <a:srgbClr val="8C8C8C"/>
                </a:solidFill>
                <a:latin typeface="KoPubWorld돋움체 Light"/>
                <a:ea typeface="KoPubWorld돋움체 Light"/>
                <a:cs typeface="KoPubWorld돋움체 Light"/>
              </a:rPr>
              <a:t>투자수익률 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420624"/>
            <a:ext cx="8686800" cy="329184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012353"/>
                </a:solidFill>
                <a:latin typeface="KoPubWorld돋움체 Bold"/>
                <a:ea typeface="KoPubWorld돋움체 Bold"/>
                <a:cs typeface="KoPubWorld돋움체 Bold"/>
              </a:rPr>
              <a:t>DSCR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54135" y="256032"/>
            <a:ext cx="2926080" cy="2743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 i="0">
                <a:solidFill>
                  <a:srgbClr val="8C8C8C"/>
                </a:solidFill>
                <a:latin typeface="KoPubWorld돋움체 Light"/>
                <a:ea typeface="KoPubWorld돋움체 Light"/>
                <a:cs typeface="KoPubWorld돋움체 Light"/>
              </a:rPr>
              <a:t>[자산명] Information Memorandum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11480" y="841248"/>
            <a:ext cx="11368735" cy="0"/>
          </a:xfrm>
          <a:prstGeom prst="line">
            <a:avLst/>
          </a:prstGeom>
          <a:ln w="19050">
            <a:solidFill>
              <a:srgbClr val="012353"/>
            </a:solidFill>
          </a:ln>
        </p:spPr>
      </p:cxnSp>
      <p:sp>
        <p:nvSpPr>
          <p:cNvPr id="7" name="TextBox 6"/>
          <p:cNvSpPr txBox="1"/>
          <p:nvPr/>
        </p:nvSpPr>
        <p:spPr>
          <a:xfrm>
            <a:off x="411480" y="914400"/>
            <a:ext cx="11368735" cy="41148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F1F1F"/>
                </a:solidFill>
                <a:latin typeface="KoPubWorld돋움체 Medium"/>
                <a:ea typeface="KoPubWorld돋움체 Medium"/>
                <a:cs typeface="KoPubWorld돋움체 Medium"/>
              </a:rPr>
              <a:t>[대주 및 종류주식 기준 원리금·배당 상환능력 요약] [추정]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11480" y="6446520"/>
            <a:ext cx="11368735" cy="0"/>
          </a:xfrm>
          <a:prstGeom prst="line">
            <a:avLst/>
          </a:prstGeom>
          <a:ln w="6350">
            <a:solidFill>
              <a:srgbClr val="BFBFBF"/>
            </a:solidFill>
          </a:ln>
        </p:spPr>
      </p:cxnSp>
      <p:sp>
        <p:nvSpPr>
          <p:cNvPr id="9" name="TextBox 8"/>
          <p:cNvSpPr txBox="1"/>
          <p:nvPr/>
        </p:nvSpPr>
        <p:spPr>
          <a:xfrm>
            <a:off x="411480" y="6473952"/>
            <a:ext cx="8686800" cy="2743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 i="0">
                <a:solidFill>
                  <a:srgbClr val="8C8C8C"/>
                </a:solidFill>
                <a:latin typeface="KoPubWorld돋움체 Light"/>
                <a:ea typeface="KoPubWorld돋움체 Light"/>
                <a:cs typeface="KoPubWorld돋움체 Light"/>
              </a:rPr>
              <a:t>IM 작성 실습용 양식(Clean) · 특정 자산·거래·당사자와 무관 · [●]는 실습자가 채울 공란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65815" y="6473952"/>
            <a:ext cx="914400" cy="2743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 i="0">
                <a:solidFill>
                  <a:srgbClr val="8C8C8C"/>
                </a:solidFill>
                <a:latin typeface="KoPubWorld돋움체 Light"/>
                <a:ea typeface="KoPubWorld돋움체 Light"/>
                <a:cs typeface="KoPubWorld돋움체 Light"/>
              </a:rPr>
              <a:t>18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11480" y="1508760"/>
          <a:ext cx="11368729" cy="329184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165473"/>
                <a:gridCol w="766938"/>
                <a:gridCol w="766938"/>
                <a:gridCol w="766938"/>
                <a:gridCol w="766938"/>
                <a:gridCol w="766938"/>
                <a:gridCol w="766938"/>
                <a:gridCol w="766938"/>
                <a:gridCol w="766938"/>
                <a:gridCol w="766938"/>
                <a:gridCol w="766938"/>
                <a:gridCol w="766938"/>
                <a:gridCol w="766938"/>
              </a:tblGrid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2060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구분(백만원)</a:t>
                      </a:r>
                    </a:p>
                  </a:txBody>
                  <a:tcPr anchor="ctr" marL="45720" marR="45720" marT="18288" marB="18288">
                    <a:solidFill>
                      <a:srgbClr val="DAE3F3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2060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Y1</a:t>
                      </a:r>
                    </a:p>
                  </a:txBody>
                  <a:tcPr anchor="ctr" marL="45720" marR="45720" marT="18288" marB="18288">
                    <a:solidFill>
                      <a:srgbClr val="DAE3F3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2060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Y2</a:t>
                      </a:r>
                    </a:p>
                  </a:txBody>
                  <a:tcPr anchor="ctr" marL="45720" marR="45720" marT="18288" marB="18288">
                    <a:solidFill>
                      <a:srgbClr val="DAE3F3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2060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Y3</a:t>
                      </a:r>
                    </a:p>
                  </a:txBody>
                  <a:tcPr anchor="ctr" marL="45720" marR="45720" marT="18288" marB="18288">
                    <a:solidFill>
                      <a:srgbClr val="DAE3F3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2060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Y4</a:t>
                      </a:r>
                    </a:p>
                  </a:txBody>
                  <a:tcPr anchor="ctr" marL="45720" marR="45720" marT="18288" marB="18288">
                    <a:solidFill>
                      <a:srgbClr val="DAE3F3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2060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Y5</a:t>
                      </a:r>
                    </a:p>
                  </a:txBody>
                  <a:tcPr anchor="ctr" marL="45720" marR="45720" marT="18288" marB="18288">
                    <a:solidFill>
                      <a:srgbClr val="DAE3F3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2060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Y6</a:t>
                      </a:r>
                    </a:p>
                  </a:txBody>
                  <a:tcPr anchor="ctr" marL="45720" marR="45720" marT="18288" marB="18288">
                    <a:solidFill>
                      <a:srgbClr val="DAE3F3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2060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Y7</a:t>
                      </a:r>
                    </a:p>
                  </a:txBody>
                  <a:tcPr anchor="ctr" marL="45720" marR="45720" marT="18288" marB="18288">
                    <a:solidFill>
                      <a:srgbClr val="DAE3F3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2060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Y8</a:t>
                      </a:r>
                    </a:p>
                  </a:txBody>
                  <a:tcPr anchor="ctr" marL="45720" marR="45720" marT="18288" marB="18288">
                    <a:solidFill>
                      <a:srgbClr val="DAE3F3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2060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Y9</a:t>
                      </a:r>
                    </a:p>
                  </a:txBody>
                  <a:tcPr anchor="ctr" marL="45720" marR="45720" marT="18288" marB="18288">
                    <a:solidFill>
                      <a:srgbClr val="DAE3F3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2060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Y10</a:t>
                      </a:r>
                    </a:p>
                  </a:txBody>
                  <a:tcPr anchor="ctr" marL="45720" marR="45720" marT="18288" marB="18288">
                    <a:solidFill>
                      <a:srgbClr val="DAE3F3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2060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평균</a:t>
                      </a:r>
                    </a:p>
                  </a:txBody>
                  <a:tcPr anchor="ctr" marL="45720" marR="45720" marT="18288" marB="18288">
                    <a:solidFill>
                      <a:srgbClr val="DAE3F3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2060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Min</a:t>
                      </a:r>
                    </a:p>
                  </a:txBody>
                  <a:tcPr anchor="ctr" marL="45720" marR="45720" marT="18288" marB="18288">
                    <a:solidFill>
                      <a:srgbClr val="DAE3F3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NOI</a:t>
                      </a:r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선순위 이자</a:t>
                      </a:r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중순위 이자</a:t>
                      </a:r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선순위 DSCR(x)</a:t>
                      </a:r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중순위 포함 DSCR(x)</a:t>
                      </a:r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[제1종] 배당</a:t>
                      </a:r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[제1종] 포함 커버리지(x)</a:t>
                      </a:r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[제2종] 배당</a:t>
                      </a:r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[제2종] 포함 커버리지(x)</a:t>
                      </a:r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11480" y="5029200"/>
          <a:ext cx="11368733" cy="987552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436157"/>
                <a:gridCol w="2436157"/>
                <a:gridCol w="3654236"/>
                <a:gridCol w="2842183"/>
              </a:tblGrid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002060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재무약정</a:t>
                      </a:r>
                    </a:p>
                  </a:txBody>
                  <a:tcPr anchor="ctr" marL="45720" marR="45720" marT="18288" marB="18288">
                    <a:solidFill>
                      <a:srgbClr val="DAE3F3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002060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기준</a:t>
                      </a:r>
                    </a:p>
                  </a:txBody>
                  <a:tcPr anchor="ctr" marL="45720" marR="45720" marT="18288" marB="18288">
                    <a:solidFill>
                      <a:srgbClr val="DAE3F3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002060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미달 시 조치</a:t>
                      </a:r>
                    </a:p>
                  </a:txBody>
                  <a:tcPr anchor="ctr" marL="45720" marR="45720" marT="18288" marB="18288">
                    <a:solidFill>
                      <a:srgbClr val="DAE3F3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002060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근거</a:t>
                      </a:r>
                    </a:p>
                  </a:txBody>
                  <a:tcPr anchor="ctr" marL="45720" marR="45720" marT="18288" marB="18288">
                    <a:solidFill>
                      <a:srgbClr val="DAE3F3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DSCR(이자지급력지수)</a:t>
                      </a:r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[●]x 이상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[이자 [●]개월분 추가 유보]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대출약정서 제[●]조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배당 제한</a:t>
                      </a:r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[중순위 기준 [●]x 미만]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[보통주 배당 금지]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대출약정서 제[●]조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411480" y="6080760"/>
            <a:ext cx="11368735" cy="2743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 i="0">
                <a:solidFill>
                  <a:srgbClr val="8C8C8C"/>
                </a:solidFill>
                <a:latin typeface="KoPubWorld돋움체 Light"/>
                <a:ea typeface="KoPubWorld돋움체 Light"/>
                <a:cs typeface="KoPubWorld돋움체 Light"/>
              </a:rPr>
              <a:t>※ DSCR 산식(NOI ÷ 연 원리금 / 이자)과 평가 주기를 대출약정서 정의와 일치시킵니다.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256032"/>
            <a:ext cx="502920" cy="384048"/>
          </a:xfrm>
          <a:prstGeom prst="rect">
            <a:avLst/>
          </a:prstGeom>
          <a:solidFill>
            <a:srgbClr val="012353"/>
          </a:solidFill>
          <a:ln>
            <a:noFill/>
          </a:ln>
        </p:spPr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01168"/>
            <a:ext cx="6858000" cy="256032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 i="0">
                <a:solidFill>
                  <a:srgbClr val="8C8C8C"/>
                </a:solidFill>
                <a:latin typeface="KoPubWorld돋움체 Light"/>
                <a:ea typeface="KoPubWorld돋움체 Light"/>
                <a:cs typeface="KoPubWorld돋움체 Light"/>
              </a:rPr>
              <a:t>투자수익률 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420624"/>
            <a:ext cx="8686800" cy="329184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012353"/>
                </a:solidFill>
                <a:latin typeface="KoPubWorld돋움체 Bold"/>
                <a:ea typeface="KoPubWorld돋움체 Bold"/>
                <a:cs typeface="KoPubWorld돋움체 Bold"/>
              </a:rPr>
              <a:t>민감도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54135" y="256032"/>
            <a:ext cx="2926080" cy="2743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 i="0">
                <a:solidFill>
                  <a:srgbClr val="8C8C8C"/>
                </a:solidFill>
                <a:latin typeface="KoPubWorld돋움체 Light"/>
                <a:ea typeface="KoPubWorld돋움체 Light"/>
                <a:cs typeface="KoPubWorld돋움체 Light"/>
              </a:rPr>
              <a:t>[자산명] Information Memorandum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11480" y="841248"/>
            <a:ext cx="11368735" cy="0"/>
          </a:xfrm>
          <a:prstGeom prst="line">
            <a:avLst/>
          </a:prstGeom>
          <a:ln w="19050">
            <a:solidFill>
              <a:srgbClr val="012353"/>
            </a:solidFill>
          </a:ln>
        </p:spPr>
      </p:cxnSp>
      <p:sp>
        <p:nvSpPr>
          <p:cNvPr id="7" name="TextBox 6"/>
          <p:cNvSpPr txBox="1"/>
          <p:nvPr/>
        </p:nvSpPr>
        <p:spPr>
          <a:xfrm>
            <a:off x="411480" y="914400"/>
            <a:ext cx="11368735" cy="41148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F1F1F"/>
                </a:solidFill>
                <a:latin typeface="KoPubWorld돋움체 Medium"/>
                <a:ea typeface="KoPubWorld돋움체 Medium"/>
                <a:cs typeface="KoPubWorld돋움체 Medium"/>
              </a:rPr>
              <a:t>[임대료·공실률·금리·Exit Cap 변동에 따른 수익률 변화 요약] [추정]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11480" y="6446520"/>
            <a:ext cx="11368735" cy="0"/>
          </a:xfrm>
          <a:prstGeom prst="line">
            <a:avLst/>
          </a:prstGeom>
          <a:ln w="6350">
            <a:solidFill>
              <a:srgbClr val="BFBFBF"/>
            </a:solidFill>
          </a:ln>
        </p:spPr>
      </p:cxnSp>
      <p:sp>
        <p:nvSpPr>
          <p:cNvPr id="9" name="TextBox 8"/>
          <p:cNvSpPr txBox="1"/>
          <p:nvPr/>
        </p:nvSpPr>
        <p:spPr>
          <a:xfrm>
            <a:off x="411480" y="6473952"/>
            <a:ext cx="8686800" cy="2743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 i="0">
                <a:solidFill>
                  <a:srgbClr val="8C8C8C"/>
                </a:solidFill>
                <a:latin typeface="KoPubWorld돋움체 Light"/>
                <a:ea typeface="KoPubWorld돋움체 Light"/>
                <a:cs typeface="KoPubWorld돋움체 Light"/>
              </a:rPr>
              <a:t>IM 작성 실습용 양식(Clean) · 특정 자산·거래·당사자와 무관 · [●]는 실습자가 채울 공란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65815" y="6473952"/>
            <a:ext cx="914400" cy="2743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 i="0">
                <a:solidFill>
                  <a:srgbClr val="8C8C8C"/>
                </a:solidFill>
                <a:latin typeface="KoPubWorld돋움체 Light"/>
                <a:ea typeface="KoPubWorld돋움체 Light"/>
                <a:cs typeface="KoPubWorld돋움체 Light"/>
              </a:rPr>
              <a:t>19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1508760"/>
            <a:ext cx="5577840" cy="256032"/>
          </a:xfrm>
          <a:prstGeom prst="rect">
            <a:avLst/>
          </a:prstGeom>
          <a:solidFill>
            <a:srgbClr val="345B86"/>
          </a:solidFill>
          <a:ln>
            <a:noFill/>
          </a:ln>
        </p:spPr>
        <p:txBody>
          <a:bodyPr rtlCol="0" anchor="ctr" wrap="square" lIns="54864" rIns="54864" tIns="27432" bIns="27432"/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① 갱신 임대료 변동 vs IRR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11480" y="1810512"/>
          <a:ext cx="5577840" cy="155448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239520"/>
                <a:gridCol w="619760"/>
                <a:gridCol w="619760"/>
                <a:gridCol w="619760"/>
                <a:gridCol w="619760"/>
                <a:gridCol w="619760"/>
                <a:gridCol w="619760"/>
                <a:gridCol w="619760"/>
              </a:tblGrid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2060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구분</a:t>
                      </a:r>
                    </a:p>
                  </a:txBody>
                  <a:tcPr anchor="ctr" marL="45720" marR="45720" marT="18288" marB="18288">
                    <a:solidFill>
                      <a:srgbClr val="DAE3F3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2060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−15%</a:t>
                      </a:r>
                    </a:p>
                  </a:txBody>
                  <a:tcPr anchor="ctr" marL="45720" marR="45720" marT="18288" marB="18288">
                    <a:solidFill>
                      <a:srgbClr val="DAE3F3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2060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−10%</a:t>
                      </a:r>
                    </a:p>
                  </a:txBody>
                  <a:tcPr anchor="ctr" marL="45720" marR="45720" marT="18288" marB="18288">
                    <a:solidFill>
                      <a:srgbClr val="DAE3F3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2060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−5%</a:t>
                      </a:r>
                    </a:p>
                  </a:txBody>
                  <a:tcPr anchor="ctr" marL="45720" marR="45720" marT="18288" marB="18288">
                    <a:solidFill>
                      <a:srgbClr val="DAE3F3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2060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Base</a:t>
                      </a:r>
                    </a:p>
                  </a:txBody>
                  <a:tcPr anchor="ctr" marL="45720" marR="45720" marT="18288" marB="18288">
                    <a:solidFill>
                      <a:srgbClr val="DAE3F3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2060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+5%</a:t>
                      </a:r>
                    </a:p>
                  </a:txBody>
                  <a:tcPr anchor="ctr" marL="45720" marR="45720" marT="18288" marB="18288">
                    <a:solidFill>
                      <a:srgbClr val="DAE3F3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2060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+10%</a:t>
                      </a:r>
                    </a:p>
                  </a:txBody>
                  <a:tcPr anchor="ctr" marL="45720" marR="45720" marT="18288" marB="18288">
                    <a:solidFill>
                      <a:srgbClr val="DAE3F3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2060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+15%</a:t>
                      </a:r>
                    </a:p>
                  </a:txBody>
                  <a:tcPr anchor="ctr" marL="45720" marR="45720" marT="18288" marB="18288">
                    <a:solidFill>
                      <a:srgbClr val="DAE3F3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E.Rent(원/평)</a:t>
                      </a:r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[제1종] IRR</a:t>
                      </a:r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[제2종] IRR</a:t>
                      </a:r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보통주 IRR</a:t>
                      </a:r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6199632" y="1508760"/>
            <a:ext cx="5577840" cy="256032"/>
          </a:xfrm>
          <a:prstGeom prst="rect">
            <a:avLst/>
          </a:prstGeom>
          <a:solidFill>
            <a:srgbClr val="345B86"/>
          </a:solidFill>
          <a:ln>
            <a:noFill/>
          </a:ln>
        </p:spPr>
        <p:txBody>
          <a:bodyPr rtlCol="0" anchor="ctr" wrap="square" lIns="54864" rIns="54864" tIns="27432" bIns="27432"/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② 공실률 변동 vs IRR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199632" y="1810512"/>
          <a:ext cx="5577840" cy="155448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239520"/>
                <a:gridCol w="619760"/>
                <a:gridCol w="619760"/>
                <a:gridCol w="619760"/>
                <a:gridCol w="619760"/>
                <a:gridCol w="619760"/>
                <a:gridCol w="619760"/>
                <a:gridCol w="619760"/>
              </a:tblGrid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2060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구분</a:t>
                      </a:r>
                    </a:p>
                  </a:txBody>
                  <a:tcPr anchor="ctr" marL="45720" marR="45720" marT="18288" marB="18288">
                    <a:solidFill>
                      <a:srgbClr val="DAE3F3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2060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0%</a:t>
                      </a:r>
                    </a:p>
                  </a:txBody>
                  <a:tcPr anchor="ctr" marL="45720" marR="45720" marT="18288" marB="18288">
                    <a:solidFill>
                      <a:srgbClr val="DAE3F3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2060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5%</a:t>
                      </a:r>
                    </a:p>
                  </a:txBody>
                  <a:tcPr anchor="ctr" marL="45720" marR="45720" marT="18288" marB="18288">
                    <a:solidFill>
                      <a:srgbClr val="DAE3F3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2060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10%</a:t>
                      </a:r>
                    </a:p>
                  </a:txBody>
                  <a:tcPr anchor="ctr" marL="45720" marR="45720" marT="18288" marB="18288">
                    <a:solidFill>
                      <a:srgbClr val="DAE3F3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2060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15%</a:t>
                      </a:r>
                    </a:p>
                  </a:txBody>
                  <a:tcPr anchor="ctr" marL="45720" marR="45720" marT="18288" marB="18288">
                    <a:solidFill>
                      <a:srgbClr val="DAE3F3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2060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20%</a:t>
                      </a:r>
                    </a:p>
                  </a:txBody>
                  <a:tcPr anchor="ctr" marL="45720" marR="45720" marT="18288" marB="18288">
                    <a:solidFill>
                      <a:srgbClr val="DAE3F3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2060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25%</a:t>
                      </a:r>
                    </a:p>
                  </a:txBody>
                  <a:tcPr anchor="ctr" marL="45720" marR="45720" marT="18288" marB="18288">
                    <a:solidFill>
                      <a:srgbClr val="DAE3F3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2060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30%</a:t>
                      </a:r>
                    </a:p>
                  </a:txBody>
                  <a:tcPr anchor="ctr" marL="45720" marR="45720" marT="18288" marB="18288">
                    <a:solidFill>
                      <a:srgbClr val="DAE3F3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NOI(백만원)</a:t>
                      </a:r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[제1종] IRR</a:t>
                      </a:r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[제2종] IRR</a:t>
                      </a:r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보통주 IRR</a:t>
                      </a:r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5" name="Rectangle 14"/>
          <p:cNvSpPr/>
          <p:nvPr/>
        </p:nvSpPr>
        <p:spPr>
          <a:xfrm>
            <a:off x="411480" y="3611880"/>
            <a:ext cx="5577840" cy="256032"/>
          </a:xfrm>
          <a:prstGeom prst="rect">
            <a:avLst/>
          </a:prstGeom>
          <a:solidFill>
            <a:srgbClr val="345B86"/>
          </a:solidFill>
          <a:ln>
            <a:noFill/>
          </a:ln>
        </p:spPr>
        <p:txBody>
          <a:bodyPr rtlCol="0" anchor="ctr" wrap="square" lIns="54864" rIns="54864" tIns="27432" bIns="27432"/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③ 금리 × Exit Cap Rate (보통주 IRR)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411480" y="3913632"/>
          <a:ext cx="5577834" cy="1865376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463039"/>
                <a:gridCol w="822959"/>
                <a:gridCol w="822959"/>
                <a:gridCol w="822959"/>
                <a:gridCol w="822959"/>
                <a:gridCol w="822959"/>
              </a:tblGrid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2060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금리(행)·Exit Cap(열)</a:t>
                      </a:r>
                    </a:p>
                  </a:txBody>
                  <a:tcPr anchor="ctr" marL="45720" marR="45720" marT="18288" marB="18288">
                    <a:solidFill>
                      <a:srgbClr val="DAE3F3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2060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[●−50bp]</a:t>
                      </a:r>
                    </a:p>
                  </a:txBody>
                  <a:tcPr anchor="ctr" marL="45720" marR="45720" marT="18288" marB="18288">
                    <a:solidFill>
                      <a:srgbClr val="DAE3F3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2060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[●−25bp]</a:t>
                      </a:r>
                    </a:p>
                  </a:txBody>
                  <a:tcPr anchor="ctr" marL="45720" marR="45720" marT="18288" marB="18288">
                    <a:solidFill>
                      <a:srgbClr val="DAE3F3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2060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Base</a:t>
                      </a:r>
                    </a:p>
                  </a:txBody>
                  <a:tcPr anchor="ctr" marL="45720" marR="45720" marT="18288" marB="18288">
                    <a:solidFill>
                      <a:srgbClr val="DAE3F3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2060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[●+25bp]</a:t>
                      </a:r>
                    </a:p>
                  </a:txBody>
                  <a:tcPr anchor="ctr" marL="45720" marR="45720" marT="18288" marB="18288">
                    <a:solidFill>
                      <a:srgbClr val="DAE3F3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02060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[●+50bp]</a:t>
                      </a:r>
                    </a:p>
                  </a:txBody>
                  <a:tcPr anchor="ctr" marL="45720" marR="45720" marT="18288" marB="18288">
                    <a:solidFill>
                      <a:srgbClr val="DAE3F3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−100bp</a:t>
                      </a:r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−50bp</a:t>
                      </a:r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Base</a:t>
                      </a:r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+50bp</a:t>
                      </a:r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+100bp</a:t>
                      </a:r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7" name="Rectangle 16"/>
          <p:cNvSpPr/>
          <p:nvPr/>
        </p:nvSpPr>
        <p:spPr>
          <a:xfrm>
            <a:off x="6199632" y="3611880"/>
            <a:ext cx="5577840" cy="2743200"/>
          </a:xfrm>
          <a:prstGeom prst="rect">
            <a:avLst/>
          </a:prstGeom>
          <a:solidFill>
            <a:srgbClr val="FFF8E5"/>
          </a:solidFill>
          <a:ln w="9525">
            <a:solidFill>
              <a:srgbClr val="F2C14E"/>
            </a:solidFill>
          </a:ln>
        </p:spPr>
        <p:txBody>
          <a:bodyPr rtlCol="0" anchor="t" wrap="square" lIns="100584" rIns="100584" tIns="73152" bIns="73152"/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7F6000"/>
                </a:solidFill>
                <a:latin typeface="KoPubWorld돋움체 Bold"/>
                <a:ea typeface="KoPubWorld돋움체 Bold"/>
                <a:cs typeface="KoPubWorld돋움체 Bold"/>
              </a:rPr>
              <a:t>작성 가이드</a:t>
            </a:r>
          </a:p>
          <a:p>
            <a:pPr algn="l">
              <a:spcAft>
                <a:spcPts val="200"/>
              </a:spcAft>
            </a:pPr>
            <a:r>
              <a:rPr sz="900" b="0" i="0">
                <a:solidFill>
                  <a:srgbClr val="595959"/>
                </a:solidFill>
                <a:latin typeface="KoPubWorld돋움체 Light"/>
                <a:ea typeface="KoPubWorld돋움체 Light"/>
                <a:cs typeface="KoPubWorld돋움체 Light"/>
              </a:rPr>
              <a:t>• Base 값이 수익률 분석 페이지의 수치와 같은지 확인합니다.</a:t>
            </a:r>
          </a:p>
          <a:p>
            <a:pPr algn="l">
              <a:spcAft>
                <a:spcPts val="200"/>
              </a:spcAft>
            </a:pPr>
            <a:r>
              <a:rPr sz="900" b="0" i="0">
                <a:solidFill>
                  <a:srgbClr val="595959"/>
                </a:solidFill>
                <a:latin typeface="KoPubWorld돋움체 Light"/>
                <a:ea typeface="KoPubWorld돋움체 Light"/>
                <a:cs typeface="KoPubWorld돋움체 Light"/>
              </a:rPr>
              <a:t>• 변동 폭(±5%, ±25bp 등)은 시장 변동성을 고려해 정합니다.</a:t>
            </a:r>
          </a:p>
          <a:p>
            <a:pPr algn="l">
              <a:spcAft>
                <a:spcPts val="200"/>
              </a:spcAft>
            </a:pPr>
            <a:r>
              <a:rPr sz="900" b="0" i="0">
                <a:solidFill>
                  <a:srgbClr val="595959"/>
                </a:solidFill>
                <a:latin typeface="KoPubWorld돋움체 Light"/>
                <a:ea typeface="KoPubWorld돋움체 Light"/>
                <a:cs typeface="KoPubWorld돋움체 Light"/>
              </a:rPr>
              <a:t>• 임계값(배당 재원 부족, 재무약정 미달이 시작되는 지점)을 별도로 표시합니다.</a:t>
            </a:r>
          </a:p>
          <a:p>
            <a:pPr algn="l">
              <a:spcAft>
                <a:spcPts val="200"/>
              </a:spcAft>
            </a:pPr>
            <a:r>
              <a:rPr sz="900" b="0" i="0">
                <a:solidFill>
                  <a:srgbClr val="595959"/>
                </a:solidFill>
                <a:latin typeface="KoPubWorld돋움체 Light"/>
                <a:ea typeface="KoPubWorld돋움체 Light"/>
                <a:cs typeface="KoPubWorld돋움체 Light"/>
              </a:rPr>
              <a:t>• 결과 해석은 '보장' 같은 표현 없이 '추정 시' 등으로 적습니다.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256032"/>
            <a:ext cx="502920" cy="384048"/>
          </a:xfrm>
          <a:prstGeom prst="rect">
            <a:avLst/>
          </a:prstGeom>
          <a:solidFill>
            <a:srgbClr val="012353"/>
          </a:solidFill>
          <a:ln>
            <a:noFill/>
          </a:ln>
        </p:spPr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01168"/>
            <a:ext cx="6858000" cy="256032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 i="0">
                <a:solidFill>
                  <a:srgbClr val="8C8C8C"/>
                </a:solidFill>
                <a:latin typeface="KoPubWorld돋움체 Light"/>
                <a:ea typeface="KoPubWorld돋움체 Light"/>
                <a:cs typeface="KoPubWorld돋움체 Light"/>
              </a:rPr>
              <a:t>Key Risks &amp; Mitigants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420624"/>
            <a:ext cx="8686800" cy="329184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012353"/>
                </a:solidFill>
                <a:latin typeface="KoPubWorld돋움체 Bold"/>
                <a:ea typeface="KoPubWorld돋움체 Bold"/>
                <a:cs typeface="KoPubWorld돋움체 Bold"/>
              </a:rPr>
              <a:t>Key Risks &amp; Mitigants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54135" y="256032"/>
            <a:ext cx="2926080" cy="2743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 i="0">
                <a:solidFill>
                  <a:srgbClr val="8C8C8C"/>
                </a:solidFill>
                <a:latin typeface="KoPubWorld돋움체 Light"/>
                <a:ea typeface="KoPubWorld돋움체 Light"/>
                <a:cs typeface="KoPubWorld돋움체 Light"/>
              </a:rPr>
              <a:t>[자산명] Information Memorandum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11480" y="841248"/>
            <a:ext cx="11368735" cy="0"/>
          </a:xfrm>
          <a:prstGeom prst="line">
            <a:avLst/>
          </a:prstGeom>
          <a:ln w="19050">
            <a:solidFill>
              <a:srgbClr val="012353"/>
            </a:solidFill>
          </a:ln>
        </p:spPr>
      </p:cxnSp>
      <p:sp>
        <p:nvSpPr>
          <p:cNvPr id="7" name="TextBox 6"/>
          <p:cNvSpPr txBox="1"/>
          <p:nvPr/>
        </p:nvSpPr>
        <p:spPr>
          <a:xfrm>
            <a:off x="411480" y="914400"/>
            <a:ext cx="11368735" cy="41148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F1F1F"/>
                </a:solidFill>
                <a:latin typeface="KoPubWorld돋움체 Medium"/>
                <a:ea typeface="KoPubWorld돋움체 Medium"/>
                <a:cs typeface="KoPubWorld돋움체 Medium"/>
              </a:rPr>
              <a:t>[주요 리스크와 완화 방안 요약]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11480" y="6446520"/>
            <a:ext cx="11368735" cy="0"/>
          </a:xfrm>
          <a:prstGeom prst="line">
            <a:avLst/>
          </a:prstGeom>
          <a:ln w="6350">
            <a:solidFill>
              <a:srgbClr val="BFBFBF"/>
            </a:solidFill>
          </a:ln>
        </p:spPr>
      </p:cxnSp>
      <p:sp>
        <p:nvSpPr>
          <p:cNvPr id="9" name="TextBox 8"/>
          <p:cNvSpPr txBox="1"/>
          <p:nvPr/>
        </p:nvSpPr>
        <p:spPr>
          <a:xfrm>
            <a:off x="411480" y="6473952"/>
            <a:ext cx="8686800" cy="2743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 i="0">
                <a:solidFill>
                  <a:srgbClr val="8C8C8C"/>
                </a:solidFill>
                <a:latin typeface="KoPubWorld돋움체 Light"/>
                <a:ea typeface="KoPubWorld돋움체 Light"/>
                <a:cs typeface="KoPubWorld돋움체 Light"/>
              </a:rPr>
              <a:t>IM 작성 실습용 양식(Clean) · 특정 자산·거래·당사자와 무관 · [●]는 실습자가 채울 공란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65815" y="6473952"/>
            <a:ext cx="914400" cy="2743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 i="0">
                <a:solidFill>
                  <a:srgbClr val="8C8C8C"/>
                </a:solidFill>
                <a:latin typeface="KoPubWorld돋움체 Light"/>
                <a:ea typeface="KoPubWorld돋움체 Light"/>
                <a:cs typeface="KoPubWorld돋움체 Light"/>
              </a:rPr>
              <a:t>20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11480" y="1508760"/>
          <a:ext cx="11368732" cy="477316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304608"/>
                <a:gridCol w="2236472"/>
                <a:gridCol w="3354708"/>
                <a:gridCol w="3354708"/>
                <a:gridCol w="1118236"/>
              </a:tblGrid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002060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구분</a:t>
                      </a:r>
                    </a:p>
                  </a:txBody>
                  <a:tcPr anchor="ctr" marL="45720" marR="45720" marT="18288" marB="18288">
                    <a:solidFill>
                      <a:srgbClr val="DAE3F3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002060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리스크 요인</a:t>
                      </a:r>
                    </a:p>
                  </a:txBody>
                  <a:tcPr anchor="ctr" marL="45720" marR="45720" marT="18288" marB="18288">
                    <a:solidFill>
                      <a:srgbClr val="DAE3F3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002060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내용</a:t>
                      </a:r>
                    </a:p>
                  </a:txBody>
                  <a:tcPr anchor="ctr" marL="45720" marR="45720" marT="18288" marB="18288">
                    <a:solidFill>
                      <a:srgbClr val="DAE3F3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002060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완화 방안</a:t>
                      </a:r>
                    </a:p>
                  </a:txBody>
                  <a:tcPr anchor="ctr" marL="45720" marR="45720" marT="18288" marB="18288">
                    <a:solidFill>
                      <a:srgbClr val="DAE3F3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002060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잔여 위험</a:t>
                      </a:r>
                    </a:p>
                  </a:txBody>
                  <a:tcPr anchor="ctr" marL="45720" marR="45720" marT="18288" marB="18288">
                    <a:solidFill>
                      <a:srgbClr val="DAE3F3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530352">
                <a:tc rowSpan="2"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A. 임차인</a:t>
                      </a:r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임대차 재계약 / 만기 집중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[상/중/하]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530352">
                <a:tc vMerge="1">
                  <a:txBody>
                    <a:bodyPr wrap="square"/>
                    <a:lstStyle/>
                    <a:p>
                      <a:pPr algn="ctr"/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임차인 집중도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[상/중/하]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530352">
                <a:tc rowSpan="2"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B. 재무</a:t>
                      </a:r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금리 · 차환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[상/중/하]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530352">
                <a:tc vMerge="1">
                  <a:txBody>
                    <a:bodyPr wrap="square"/>
                    <a:lstStyle/>
                    <a:p>
                      <a:pPr algn="ctr"/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배당 재원 부족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[상/중/하]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530352">
                <a:tc rowSpan="2"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C. 시장</a:t>
                      </a:r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공급 증가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[상/중/하]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530352">
                <a:tc vMerge="1">
                  <a:txBody>
                    <a:bodyPr wrap="square"/>
                    <a:lstStyle/>
                    <a:p>
                      <a:pPr algn="ctr"/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Exit Cap Rate 상승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[상/중/하]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530352">
                <a:tc rowSpan="2"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D. 운영 · 법률</a:t>
                      </a:r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자산관리 · 시설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[상/중/하]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530352">
                <a:tc vMerge="1">
                  <a:txBody>
                    <a:bodyPr wrap="square"/>
                    <a:lstStyle/>
                    <a:p>
                      <a:pPr algn="ctr"/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인허가 · 이해상충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[상/중/하]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256032"/>
            <a:ext cx="502920" cy="384048"/>
          </a:xfrm>
          <a:prstGeom prst="rect">
            <a:avLst/>
          </a:prstGeom>
          <a:solidFill>
            <a:srgbClr val="012353"/>
          </a:solidFill>
          <a:ln>
            <a:noFill/>
          </a:ln>
        </p:spPr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01168"/>
            <a:ext cx="6858000" cy="256032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 i="0">
                <a:solidFill>
                  <a:srgbClr val="8C8C8C"/>
                </a:solidFill>
                <a:latin typeface="KoPubWorld돋움체 Light"/>
                <a:ea typeface="KoPubWorld돋움체 Light"/>
                <a:cs typeface="KoPubWorld돋움체 Light"/>
              </a:rPr>
              <a:t>시설현황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420624"/>
            <a:ext cx="8686800" cy="329184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012353"/>
                </a:solidFill>
                <a:latin typeface="KoPubWorld돋움체 Bold"/>
                <a:ea typeface="KoPubWorld돋움체 Bold"/>
                <a:cs typeface="KoPubWorld돋움체 Bold"/>
              </a:rPr>
              <a:t>시설현황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54135" y="256032"/>
            <a:ext cx="2926080" cy="2743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 i="0">
                <a:solidFill>
                  <a:srgbClr val="8C8C8C"/>
                </a:solidFill>
                <a:latin typeface="KoPubWorld돋움체 Light"/>
                <a:ea typeface="KoPubWorld돋움체 Light"/>
                <a:cs typeface="KoPubWorld돋움체 Light"/>
              </a:rPr>
              <a:t>[자산명] Information Memorandum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11480" y="841248"/>
            <a:ext cx="11368735" cy="0"/>
          </a:xfrm>
          <a:prstGeom prst="line">
            <a:avLst/>
          </a:prstGeom>
          <a:ln w="19050">
            <a:solidFill>
              <a:srgbClr val="012353"/>
            </a:solidFill>
          </a:ln>
        </p:spPr>
      </p:cxnSp>
      <p:sp>
        <p:nvSpPr>
          <p:cNvPr id="7" name="TextBox 6"/>
          <p:cNvSpPr txBox="1"/>
          <p:nvPr/>
        </p:nvSpPr>
        <p:spPr>
          <a:xfrm>
            <a:off x="411480" y="914400"/>
            <a:ext cx="11368735" cy="41148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F1F1F"/>
                </a:solidFill>
                <a:latin typeface="KoPubWorld돋움체 Medium"/>
                <a:ea typeface="KoPubWorld돋움체 Medium"/>
                <a:cs typeface="KoPubWorld돋움체 Medium"/>
              </a:rPr>
              <a:t>[건물 스펙 요약: 예) 전층 접안, 층고 [●]m, 바닥하중 [●]t/㎡]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11480" y="6446520"/>
            <a:ext cx="11368735" cy="0"/>
          </a:xfrm>
          <a:prstGeom prst="line">
            <a:avLst/>
          </a:prstGeom>
          <a:ln w="6350">
            <a:solidFill>
              <a:srgbClr val="BFBFBF"/>
            </a:solidFill>
          </a:ln>
        </p:spPr>
      </p:cxnSp>
      <p:sp>
        <p:nvSpPr>
          <p:cNvPr id="9" name="TextBox 8"/>
          <p:cNvSpPr txBox="1"/>
          <p:nvPr/>
        </p:nvSpPr>
        <p:spPr>
          <a:xfrm>
            <a:off x="411480" y="6473952"/>
            <a:ext cx="8686800" cy="2743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 i="0">
                <a:solidFill>
                  <a:srgbClr val="8C8C8C"/>
                </a:solidFill>
                <a:latin typeface="KoPubWorld돋움체 Light"/>
                <a:ea typeface="KoPubWorld돋움체 Light"/>
                <a:cs typeface="KoPubWorld돋움체 Light"/>
              </a:rPr>
              <a:t>IM 작성 실습용 양식(Clean) · 특정 자산·거래·당사자와 무관 · [●]는 실습자가 채울 공란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65815" y="6473952"/>
            <a:ext cx="914400" cy="2743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 i="0">
                <a:solidFill>
                  <a:srgbClr val="8C8C8C"/>
                </a:solidFill>
                <a:latin typeface="KoPubWorld돋움체 Light"/>
                <a:ea typeface="KoPubWorld돋움체 Light"/>
                <a:cs typeface="KoPubWorld돋움체 Light"/>
              </a:rPr>
              <a:t>21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1508760"/>
            <a:ext cx="5577840" cy="2331720"/>
          </a:xfrm>
          <a:prstGeom prst="rect">
            <a:avLst/>
          </a:prstGeom>
          <a:solidFill>
            <a:srgbClr val="FAFAFA"/>
          </a:solidFill>
          <a:ln w="9525">
            <a:solidFill>
              <a:srgbClr val="BFBFBF"/>
            </a:solidFill>
            <a:prstDash val="dash"/>
          </a:ln>
        </p:spPr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8C8C8C"/>
                </a:solidFill>
                <a:latin typeface="KoPubWorld돋움체 Light"/>
                <a:ea typeface="KoPubWorld돋움체 Light"/>
                <a:cs typeface="KoPubWorld돋움체 Light"/>
              </a:rPr>
              <a:t>[건축 단면도]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3977639"/>
            <a:ext cx="2715768" cy="2377440"/>
          </a:xfrm>
          <a:prstGeom prst="rect">
            <a:avLst/>
          </a:prstGeom>
          <a:solidFill>
            <a:srgbClr val="FAFAFA"/>
          </a:solidFill>
          <a:ln w="9525">
            <a:solidFill>
              <a:srgbClr val="BFBFBF"/>
            </a:solidFill>
            <a:prstDash val="dash"/>
          </a:ln>
        </p:spPr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8C8C8C"/>
                </a:solidFill>
                <a:latin typeface="KoPubWorld돋움체 Light"/>
                <a:ea typeface="KoPubWorld돋움체 Light"/>
                <a:cs typeface="KoPubWorld돋움체 Light"/>
              </a:rPr>
              <a:t>[층별 평면도 1]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73552" y="3977639"/>
            <a:ext cx="2715768" cy="2377440"/>
          </a:xfrm>
          <a:prstGeom prst="rect">
            <a:avLst/>
          </a:prstGeom>
          <a:solidFill>
            <a:srgbClr val="FAFAFA"/>
          </a:solidFill>
          <a:ln w="9525">
            <a:solidFill>
              <a:srgbClr val="BFBFBF"/>
            </a:solidFill>
            <a:prstDash val="dash"/>
          </a:ln>
        </p:spPr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8C8C8C"/>
                </a:solidFill>
                <a:latin typeface="KoPubWorld돋움체 Light"/>
                <a:ea typeface="KoPubWorld돋움체 Light"/>
                <a:cs typeface="KoPubWorld돋움체 Light"/>
              </a:rPr>
              <a:t>[층별 평면도 2]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199632" y="1508760"/>
          <a:ext cx="5577838" cy="475488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463040"/>
                <a:gridCol w="2743199"/>
                <a:gridCol w="1371599"/>
              </a:tblGrid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002060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구분</a:t>
                      </a:r>
                    </a:p>
                  </a:txBody>
                  <a:tcPr anchor="ctr" marL="45720" marR="45720" marT="18288" marB="18288">
                    <a:solidFill>
                      <a:srgbClr val="DAE3F3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002060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사양</a:t>
                      </a:r>
                    </a:p>
                  </a:txBody>
                  <a:tcPr anchor="ctr" marL="45720" marR="45720" marT="18288" marB="18288">
                    <a:solidFill>
                      <a:srgbClr val="DAE3F3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002060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비고</a:t>
                      </a:r>
                    </a:p>
                  </a:txBody>
                  <a:tcPr anchor="ctr" marL="45720" marR="45720" marT="18288" marB="18288">
                    <a:solidFill>
                      <a:srgbClr val="DAE3F3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구조</a:t>
                      </a:r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/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층고(유효)</a:t>
                      </a:r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[●]m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/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바닥하중</a:t>
                      </a:r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[●]t/㎡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/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기둥 간격</a:t>
                      </a:r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[●]m × [●]m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/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접안시설(Dock)</a:t>
                      </a:r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[●]개 / [램프·전층 접안 여부]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/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화물 엘리베이터</a:t>
                      </a:r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[●]대 / [●]t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/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전력 용량</a:t>
                      </a:r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[●]kW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/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냉난방 · 공조</a:t>
                      </a:r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/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소방 · 방재</a:t>
                      </a:r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[스프링클러 등]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/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주차</a:t>
                      </a:r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[●]대 (화물차 [●]대)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/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인증</a:t>
                      </a:r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[친환경 · 에너지 인증]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/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물리실사 의견</a:t>
                      </a:r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[중대 하자 유무 / 단기 Capex [●]억원]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물리실사 보고서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256032"/>
            <a:ext cx="502920" cy="384048"/>
          </a:xfrm>
          <a:prstGeom prst="rect">
            <a:avLst/>
          </a:prstGeom>
          <a:solidFill>
            <a:srgbClr val="012353"/>
          </a:solidFill>
          <a:ln>
            <a:noFill/>
          </a:ln>
        </p:spPr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01168"/>
            <a:ext cx="6858000" cy="256032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 i="0">
                <a:solidFill>
                  <a:srgbClr val="8C8C8C"/>
                </a:solidFill>
                <a:latin typeface="KoPubWorld돋움체 Light"/>
                <a:ea typeface="KoPubWorld돋움체 Light"/>
                <a:cs typeface="KoPubWorld돋움체 Light"/>
              </a:rPr>
              <a:t>Appendix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420624"/>
            <a:ext cx="8686800" cy="329184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012353"/>
                </a:solidFill>
                <a:latin typeface="KoPubWorld돋움체 Bold"/>
                <a:ea typeface="KoPubWorld돋움체 Bold"/>
                <a:cs typeface="KoPubWorld돋움체 Bold"/>
              </a:rPr>
              <a:t>Appendix — 용어 및 산식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54135" y="256032"/>
            <a:ext cx="2926080" cy="2743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 i="0">
                <a:solidFill>
                  <a:srgbClr val="8C8C8C"/>
                </a:solidFill>
                <a:latin typeface="KoPubWorld돋움체 Light"/>
                <a:ea typeface="KoPubWorld돋움체 Light"/>
                <a:cs typeface="KoPubWorld돋움체 Light"/>
              </a:rPr>
              <a:t>[자산명] Information Memorandum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11480" y="841248"/>
            <a:ext cx="11368735" cy="0"/>
          </a:xfrm>
          <a:prstGeom prst="line">
            <a:avLst/>
          </a:prstGeom>
          <a:ln w="19050">
            <a:solidFill>
              <a:srgbClr val="012353"/>
            </a:solidFill>
          </a:ln>
        </p:spPr>
      </p:cxnSp>
      <p:sp>
        <p:nvSpPr>
          <p:cNvPr id="7" name="TextBox 6"/>
          <p:cNvSpPr txBox="1"/>
          <p:nvPr/>
        </p:nvSpPr>
        <p:spPr>
          <a:xfrm>
            <a:off x="411480" y="914400"/>
            <a:ext cx="11368735" cy="41148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F1F1F"/>
                </a:solidFill>
                <a:latin typeface="KoPubWorld돋움체 Medium"/>
                <a:ea typeface="KoPubWorld돋움체 Medium"/>
                <a:cs typeface="KoPubWorld돋움체 Medium"/>
              </a:rPr>
              <a:t>[IM에서 쓰는 지표의 정의를 통일]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11480" y="6446520"/>
            <a:ext cx="11368735" cy="0"/>
          </a:xfrm>
          <a:prstGeom prst="line">
            <a:avLst/>
          </a:prstGeom>
          <a:ln w="6350">
            <a:solidFill>
              <a:srgbClr val="BFBFBF"/>
            </a:solidFill>
          </a:ln>
        </p:spPr>
      </p:cxnSp>
      <p:sp>
        <p:nvSpPr>
          <p:cNvPr id="9" name="TextBox 8"/>
          <p:cNvSpPr txBox="1"/>
          <p:nvPr/>
        </p:nvSpPr>
        <p:spPr>
          <a:xfrm>
            <a:off x="411480" y="6473952"/>
            <a:ext cx="8686800" cy="2743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 i="0">
                <a:solidFill>
                  <a:srgbClr val="8C8C8C"/>
                </a:solidFill>
                <a:latin typeface="KoPubWorld돋움체 Light"/>
                <a:ea typeface="KoPubWorld돋움체 Light"/>
                <a:cs typeface="KoPubWorld돋움체 Light"/>
              </a:rPr>
              <a:t>IM 작성 실습용 양식(Clean) · 특정 자산·거래·당사자와 무관 · [●]는 실습자가 채울 공란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65815" y="6473952"/>
            <a:ext cx="914400" cy="2743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 i="0">
                <a:solidFill>
                  <a:srgbClr val="8C8C8C"/>
                </a:solidFill>
                <a:latin typeface="KoPubWorld돋움체 Light"/>
                <a:ea typeface="KoPubWorld돋움체 Light"/>
                <a:cs typeface="KoPubWorld돋움체 Light"/>
              </a:rPr>
              <a:t>22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11480" y="1508760"/>
          <a:ext cx="11368734" cy="422452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677354"/>
                <a:gridCol w="4100199"/>
                <a:gridCol w="5591181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002060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지표</a:t>
                      </a:r>
                    </a:p>
                  </a:txBody>
                  <a:tcPr anchor="ctr" marL="45720" marR="45720" marT="18288" marB="18288">
                    <a:solidFill>
                      <a:srgbClr val="DAE3F3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002060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산식</a:t>
                      </a:r>
                    </a:p>
                  </a:txBody>
                  <a:tcPr anchor="ctr" marL="45720" marR="45720" marT="18288" marB="18288">
                    <a:solidFill>
                      <a:srgbClr val="DAE3F3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002060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작성 시 유의사항</a:t>
                      </a:r>
                    </a:p>
                  </a:txBody>
                  <a:tcPr anchor="ctr" marL="45720" marR="45720" marT="18288" marB="18288">
                    <a:solidFill>
                      <a:srgbClr val="DAE3F3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NOI</a:t>
                      </a:r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임대수입 + 기타수입 − 운영비용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자본적 지출(Capex) 제외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Cap Rate</a:t>
                      </a:r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NOI ÷ 매입가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분모(매입가 / 매입가−보증금)와 부대비용 포함 여부 명시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LTV</a:t>
                      </a:r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대출금 ÷ 감정평가액(또는 매입가)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분모와 보증금 포함 여부 명시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DSCR</a:t>
                      </a:r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NOI ÷ 연 원리금(또는 이자)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대출약정서 정의와 일치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WALE</a:t>
                      </a:r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임대료 가중 평균 잔여 임대기간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기준일과 중도해지 옵션 반영 여부 명시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공실률</a:t>
                      </a:r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공실 면적 ÷ 임대가능 면적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Rent-Free 구간 포함 여부 명시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Effective Rent</a:t>
                      </a:r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(월 임대료 × (12 − Rent-Free) ÷ 12) + 월 관리비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시점 차이 조정 여부 명시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CoC(Cash on Cash)</a:t>
                      </a:r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연 배당금 ÷ 투자원금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종류주식은 약정 배당률과 구분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IRR</a:t>
                      </a:r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투자·회수 현금흐름의 내부수익률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레버리지 전·후, 운용기간·Exit Cap·매각비용 가정 병기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Equity Multiple</a:t>
                      </a:r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총 회수액 ÷ 투입 Equity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Tranche별로 따로 산출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256032"/>
            <a:ext cx="502920" cy="384048"/>
          </a:xfrm>
          <a:prstGeom prst="rect">
            <a:avLst/>
          </a:prstGeom>
          <a:solidFill>
            <a:srgbClr val="012353"/>
          </a:solidFill>
          <a:ln>
            <a:noFill/>
          </a:ln>
        </p:spPr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01168"/>
            <a:ext cx="6858000" cy="256032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 i="0">
                <a:solidFill>
                  <a:srgbClr val="8C8C8C"/>
                </a:solidFill>
                <a:latin typeface="KoPubWorld돋움체 Light"/>
                <a:ea typeface="KoPubWorld돋움체 Light"/>
                <a:cs typeface="KoPubWorld돋움체 Light"/>
              </a:rPr>
              <a:t>Appendix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420624"/>
            <a:ext cx="8686800" cy="329184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012353"/>
                </a:solidFill>
                <a:latin typeface="KoPubWorld돋움체 Bold"/>
                <a:ea typeface="KoPubWorld돋움체 Bold"/>
                <a:cs typeface="KoPubWorld돋움체 Bold"/>
              </a:rPr>
              <a:t>Appendix — 작성 점검표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54135" y="256032"/>
            <a:ext cx="2926080" cy="2743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 i="0">
                <a:solidFill>
                  <a:srgbClr val="8C8C8C"/>
                </a:solidFill>
                <a:latin typeface="KoPubWorld돋움체 Light"/>
                <a:ea typeface="KoPubWorld돋움체 Light"/>
                <a:cs typeface="KoPubWorld돋움체 Light"/>
              </a:rPr>
              <a:t>[자산명] Information Memorandum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11480" y="841248"/>
            <a:ext cx="11368735" cy="0"/>
          </a:xfrm>
          <a:prstGeom prst="line">
            <a:avLst/>
          </a:prstGeom>
          <a:ln w="19050">
            <a:solidFill>
              <a:srgbClr val="012353"/>
            </a:solidFill>
          </a:ln>
        </p:spPr>
      </p:cxnSp>
      <p:sp>
        <p:nvSpPr>
          <p:cNvPr id="7" name="TextBox 6"/>
          <p:cNvSpPr txBox="1"/>
          <p:nvPr/>
        </p:nvSpPr>
        <p:spPr>
          <a:xfrm>
            <a:off x="411480" y="914400"/>
            <a:ext cx="11368735" cy="41148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F1F1F"/>
                </a:solidFill>
                <a:latin typeface="KoPubWorld돋움체 Medium"/>
                <a:ea typeface="KoPubWorld돋움체 Medium"/>
                <a:cs typeface="KoPubWorld돋움체 Medium"/>
              </a:rPr>
              <a:t>[배포 전 점검 항목]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11480" y="6446520"/>
            <a:ext cx="11368735" cy="0"/>
          </a:xfrm>
          <a:prstGeom prst="line">
            <a:avLst/>
          </a:prstGeom>
          <a:ln w="6350">
            <a:solidFill>
              <a:srgbClr val="BFBFBF"/>
            </a:solidFill>
          </a:ln>
        </p:spPr>
      </p:cxnSp>
      <p:sp>
        <p:nvSpPr>
          <p:cNvPr id="9" name="TextBox 8"/>
          <p:cNvSpPr txBox="1"/>
          <p:nvPr/>
        </p:nvSpPr>
        <p:spPr>
          <a:xfrm>
            <a:off x="411480" y="6473952"/>
            <a:ext cx="8686800" cy="2743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 i="0">
                <a:solidFill>
                  <a:srgbClr val="8C8C8C"/>
                </a:solidFill>
                <a:latin typeface="KoPubWorld돋움체 Light"/>
                <a:ea typeface="KoPubWorld돋움체 Light"/>
                <a:cs typeface="KoPubWorld돋움체 Light"/>
              </a:rPr>
              <a:t>IM 작성 실습용 양식(Clean) · 특정 자산·거래·당사자와 무관 · [●]는 실습자가 채울 공란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65815" y="6473952"/>
            <a:ext cx="914400" cy="2743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 i="0">
                <a:solidFill>
                  <a:srgbClr val="8C8C8C"/>
                </a:solidFill>
                <a:latin typeface="KoPubWorld돋움체 Light"/>
                <a:ea typeface="KoPubWorld돋움체 Light"/>
                <a:cs typeface="KoPubWorld돋움체 Light"/>
              </a:rPr>
              <a:t>23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11480" y="1508760"/>
          <a:ext cx="11368734" cy="422452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559118"/>
                <a:gridCol w="9691380"/>
                <a:gridCol w="1118236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002060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#</a:t>
                      </a:r>
                    </a:p>
                  </a:txBody>
                  <a:tcPr anchor="ctr" marL="45720" marR="45720" marT="18288" marB="18288">
                    <a:solidFill>
                      <a:srgbClr val="DAE3F3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002060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점검 항목</a:t>
                      </a:r>
                    </a:p>
                  </a:txBody>
                  <a:tcPr anchor="ctr" marL="45720" marR="45720" marT="18288" marB="18288">
                    <a:solidFill>
                      <a:srgbClr val="DAE3F3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002060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확인</a:t>
                      </a:r>
                    </a:p>
                  </a:txBody>
                  <a:tcPr anchor="ctr" marL="45720" marR="45720" marT="18288" marB="18288">
                    <a:solidFill>
                      <a:srgbClr val="DAE3F3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1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모든 수치에 출처(자료명·버전·기준일)를 붙였는가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☐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2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같은 지표가 페이지마다 같은 값인가 (Executive Summary ↔ 본문 ↔ 수익률 분석)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☐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3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Sources = Uses 합계가 일치하는가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☐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4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Cap Rate · LTV · DSCR의 분모와 정의를 명시했는가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☐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5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추정치는 [추정], 미확인 값은 [확인 필요]로 표시했는가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☐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6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'보장' · '확정' 등 수익을 약속하는 표현을 쓰지 않았는가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☐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7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일정·조건이 최신 계약서·확약서와 일치하는가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☐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8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비밀유지 문구와 배포 대상·범위를 표지에 적었는가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☐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9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단위(억원/백만원, ㎡/평)와 반올림 기준이 일관적인가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☐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10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리스크 페이지에 완화 방안과 잔여 위험을 함께 적었는가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1F1F"/>
                          </a:solidFill>
                          <a:latin typeface="KoPubWorld돋움체 Light"/>
                          <a:ea typeface="KoPubWorld돋움체 Light"/>
                          <a:cs typeface="KoPubWorld돋움체 Light"/>
                        </a:rPr>
                        <a:t>☐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 작성 실습용 양식(Clean)</dc:title>
  <dc:subject>강의용</dc:subject>
  <dc:creator/>
  <cp:keywords>IM, 실습, 양식, Clean</cp:keywords>
  <dc:description/>
  <cp:lastModifiedBy/>
  <cp:revision>1</cp:revision>
  <dcterms:created xsi:type="dcterms:W3CDTF">2013-01-27T09:14:16Z</dcterms:created>
  <dcterms:modified xsi:type="dcterms:W3CDTF">2013-01-27T09:15:58Z</dcterms:modified>
  <cp:category/>
</cp:coreProperties>
</file>