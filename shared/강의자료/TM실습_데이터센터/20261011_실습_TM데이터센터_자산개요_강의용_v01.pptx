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56032"/>
            <a:ext cx="502920" cy="384048"/>
          </a:xfrm>
          <a:prstGeom prst="rect">
            <a:avLst/>
          </a:prstGeom>
          <a:solidFill>
            <a:srgbClr val="012353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100"/>
              </a:spcAft>
            </a:pPr>
            <a:r>
              <a:rPr sz="1600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68580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Teaser Memorandum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20624"/>
            <a:ext cx="8229600" cy="32918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자산개요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256032"/>
            <a:ext cx="329184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수도권 데이터센터 실물투자 (강의 실습사례)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41248"/>
            <a:ext cx="11368735" cy="0"/>
          </a:xfrm>
          <a:prstGeom prst="line">
            <a:avLst/>
          </a:prstGeom>
          <a:ln w="19050">
            <a:solidFill>
              <a:srgbClr val="012353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411480" y="914400"/>
            <a:ext cx="11368735" cy="56692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>
                <a:solidFill>
                  <a:srgbClr val="1F1F1F"/>
                </a:solidFill>
                <a:latin typeface="KoPubWorld돋움체 Medium"/>
                <a:ea typeface="KoPubWorld돋움체 Medium"/>
                <a:cs typeface="KoPubWorld돋움체 Medium"/>
              </a:rPr>
              <a:t>수도권 소재 연면적 43,000㎡, 수전용량 40MW 규모의 운영형 데이터센터 — IT-Load 26MW 중 24.8MW(95.4%) 임대 계약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• 하이퍼스케일 임차인 비중 84.6%, 매입가 7,200억원(부동산 5,200억 + 기계장치 2,000억), 수전 MW당 180억원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600200"/>
          <a:ext cx="6172200" cy="45445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45920"/>
                <a:gridCol w="4526280"/>
              </a:tblGrid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anchor="ctr" marL="54864" marR="54864" marT="9144" marB="9144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내용</a:t>
                      </a:r>
                    </a:p>
                  </a:txBody>
                  <a:tcPr anchor="ctr" marL="54864" marR="54864" marT="9144" marB="9144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자산명</a:t>
                      </a:r>
                    </a:p>
                  </a:txBody>
                  <a:tcPr anchor="ctr" marL="54864" marR="54864" marT="9144" marB="9144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수도권 데이터센터 (가칭)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위치</a:t>
                      </a:r>
                    </a:p>
                  </a:txBody>
                  <a:tcPr anchor="ctr" marL="54864" marR="54864" marT="9144" marB="9144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수도권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대지면적</a:t>
                      </a:r>
                    </a:p>
                  </a:txBody>
                  <a:tcPr anchor="ctr" marL="54864" marR="54864" marT="9144" marB="9144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6,000㎡ (1,815평)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연면적</a:t>
                      </a:r>
                    </a:p>
                  </a:txBody>
                  <a:tcPr anchor="ctr" marL="54864" marR="54864" marT="9144" marB="9144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43,000㎡ (13,008평)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전산실 / 지원면적</a:t>
                      </a:r>
                    </a:p>
                  </a:txBody>
                  <a:tcPr anchor="ctr" marL="54864" marR="54864" marT="9144" marB="9144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30,000㎡ (9,075평) / 13,000㎡ (3,932평)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수전용량 (계약전력)</a:t>
                      </a:r>
                    </a:p>
                  </a:txBody>
                  <a:tcPr anchor="ctr" marL="54864" marR="54864" marT="9144" marB="9144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40MW (효율 90% 적용 시 유효 36MW)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확약 IT-Load</a:t>
                      </a:r>
                    </a:p>
                  </a:txBody>
                  <a:tcPr anchor="ctr" marL="54864" marR="54864" marT="9144" marB="9144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26MW (임대 24.8MW · 공실 1.2MW)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PUE</a:t>
                      </a:r>
                    </a:p>
                  </a:txBody>
                  <a:tcPr anchor="ctr" marL="54864" marR="54864" marT="9144" marB="9144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1.385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임대 방식</a:t>
                      </a:r>
                    </a:p>
                  </a:txBody>
                  <a:tcPr anchor="ctr" marL="54864" marR="54864" marT="9144" marB="9144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kW 기반 상면임대, 220천원/kW·월 · 전력요금 Pass-Through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주요 임차인</a:t>
                      </a:r>
                    </a:p>
                  </a:txBody>
                  <a:tcPr anchor="ctr" marL="54864" marR="54864" marT="9144" marB="9144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하이퍼스케일 1개사(5개 계약) 외 통신·금융 2개사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매입가</a:t>
                      </a:r>
                    </a:p>
                  </a:txBody>
                  <a:tcPr anchor="ctr" marL="54864" marR="54864" marT="9144" marB="9144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7,200억원 (토지 1,200 · 건물 4,000 · 기계장치 2,000)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주요 일정</a:t>
                      </a:r>
                    </a:p>
                  </a:txBody>
                  <a:tcPr anchor="ctr" marL="54864" marR="54864" marT="9144" marB="9144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매매계약 2025.12 → 소유권이전 2026.03 → 운영개시 2026.05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운영기간</a:t>
                      </a:r>
                    </a:p>
                  </a:txBody>
                  <a:tcPr anchor="ctr" marL="54864" marR="54864" marT="9144" marB="9144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60개월 (Exit 2031.05 가정)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766560" y="1600200"/>
            <a:ext cx="1184833" cy="256032"/>
          </a:xfrm>
          <a:prstGeom prst="rect">
            <a:avLst/>
          </a:prstGeom>
          <a:solidFill>
            <a:srgbClr val="345B86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100"/>
              </a:spcAft>
            </a:pPr>
            <a:r>
              <a:rPr sz="1000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수전용량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1856231"/>
            <a:ext cx="1184833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wrap="square" lIns="73152" rIns="73152"/>
          <a:lstStyle/>
          <a:p>
            <a:pPr algn="ctr">
              <a:spcAft>
                <a:spcPts val="100"/>
              </a:spcAft>
            </a:pPr>
            <a:r>
              <a:rPr sz="1800" b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40MW</a:t>
            </a:r>
          </a:p>
          <a:p>
            <a:pPr algn="ctr">
              <a:spcAft>
                <a:spcPts val="100"/>
              </a:spcAft>
            </a:pPr>
            <a:r>
              <a:rPr sz="850" b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유효 36MW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2833" y="1600200"/>
            <a:ext cx="1184833" cy="256032"/>
          </a:xfrm>
          <a:prstGeom prst="rect">
            <a:avLst/>
          </a:prstGeom>
          <a:solidFill>
            <a:srgbClr val="345B86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100"/>
              </a:spcAft>
            </a:pPr>
            <a:r>
              <a:rPr sz="1000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IT-Load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2833" y="1856231"/>
            <a:ext cx="1184833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wrap="square" lIns="73152" rIns="73152"/>
          <a:lstStyle/>
          <a:p>
            <a:pPr algn="ctr">
              <a:spcAft>
                <a:spcPts val="100"/>
              </a:spcAft>
            </a:pPr>
            <a:r>
              <a:rPr sz="1800" b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26MW</a:t>
            </a:r>
          </a:p>
          <a:p>
            <a:pPr algn="ctr">
              <a:spcAft>
                <a:spcPts val="100"/>
              </a:spcAft>
            </a:pPr>
            <a:r>
              <a:rPr sz="850" b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임대율 95.4%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19107" y="1600200"/>
            <a:ext cx="1184833" cy="256032"/>
          </a:xfrm>
          <a:prstGeom prst="rect">
            <a:avLst/>
          </a:prstGeom>
          <a:solidFill>
            <a:srgbClr val="345B86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100"/>
              </a:spcAft>
            </a:pPr>
            <a:r>
              <a:rPr sz="1000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연면적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19107" y="1856231"/>
            <a:ext cx="1184833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wrap="square" lIns="73152" rIns="73152"/>
          <a:lstStyle/>
          <a:p>
            <a:pPr algn="ctr">
              <a:spcAft>
                <a:spcPts val="100"/>
              </a:spcAft>
            </a:pPr>
            <a:r>
              <a:rPr sz="1800" b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43,000㎡</a:t>
            </a:r>
          </a:p>
          <a:p>
            <a:pPr algn="ctr">
              <a:spcAft>
                <a:spcPts val="100"/>
              </a:spcAft>
            </a:pPr>
            <a:r>
              <a:rPr sz="850" b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13,008평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95381" y="1600200"/>
            <a:ext cx="1184833" cy="256032"/>
          </a:xfrm>
          <a:prstGeom prst="rect">
            <a:avLst/>
          </a:prstGeom>
          <a:solidFill>
            <a:srgbClr val="345B86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100"/>
              </a:spcAft>
            </a:pPr>
            <a:r>
              <a:rPr sz="1000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PUE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95381" y="1856231"/>
            <a:ext cx="1184833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wrap="square" lIns="73152" rIns="73152"/>
          <a:lstStyle/>
          <a:p>
            <a:pPr algn="ctr">
              <a:spcAft>
                <a:spcPts val="100"/>
              </a:spcAft>
            </a:pPr>
            <a:r>
              <a:rPr sz="1800" b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1.39</a:t>
            </a:r>
          </a:p>
          <a:p>
            <a:pPr algn="ctr">
              <a:spcAft>
                <a:spcPts val="100"/>
              </a:spcAft>
            </a:pPr>
            <a:r>
              <a:rPr sz="850" b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전력 효율 지표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2743200"/>
            <a:ext cx="5013655" cy="256032"/>
          </a:xfrm>
          <a:prstGeom prst="rect">
            <a:avLst/>
          </a:prstGeom>
          <a:solidFill>
            <a:srgbClr val="345B86"/>
          </a:solidFill>
          <a:ln>
            <a:noFill/>
          </a:ln>
        </p:spPr>
        <p:txBody>
          <a:bodyPr rtlCol="0" anchor="ctr" wrap="square" lIns="73152" rIns="73152"/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전력 용량 구성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766560" y="3017520"/>
          <a:ext cx="5013653" cy="1371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58517"/>
                <a:gridCol w="911573"/>
                <a:gridCol w="2643563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anchor="ctr" marL="54864" marR="54864" marT="9144" marB="9144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용량(MW)</a:t>
                      </a:r>
                    </a:p>
                  </a:txBody>
                  <a:tcPr anchor="ctr" marL="54864" marR="54864" marT="9144" marB="9144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비고</a:t>
                      </a:r>
                    </a:p>
                  </a:txBody>
                  <a:tcPr anchor="ctr" marL="54864" marR="54864" marT="9144" marB="9144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계약전력(수전)</a:t>
                      </a:r>
                    </a:p>
                  </a:txBody>
                  <a:tcPr anchor="ctr" marL="54864" marR="54864" marT="9144" marB="9144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40.0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계약전력(수전) 기준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유효 수전용량</a:t>
                      </a:r>
                    </a:p>
                  </a:txBody>
                  <a:tcPr anchor="ctr" marL="54864" marR="54864" marT="9144" marB="9144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36.0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효율 90% 적용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시설 총 전력수요</a:t>
                      </a:r>
                    </a:p>
                  </a:txBody>
                  <a:tcPr anchor="ctr" marL="54864" marR="54864" marT="9144" marB="9144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36.0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IT-Load × PUE 1.385 — 유효 수전용량과 거의 같음 [추정]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확약 IT-Load</a:t>
                      </a:r>
                    </a:p>
                  </a:txBody>
                  <a:tcPr anchor="ctr" marL="54864" marR="54864" marT="9144" marB="9144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26.0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임차인 계약전력 합계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6766560" y="4498848"/>
            <a:ext cx="5013655" cy="256032"/>
          </a:xfrm>
          <a:prstGeom prst="rect">
            <a:avLst/>
          </a:prstGeom>
          <a:solidFill>
            <a:srgbClr val="345B86"/>
          </a:solidFill>
          <a:ln>
            <a:noFill/>
          </a:ln>
        </p:spPr>
        <p:txBody>
          <a:bodyPr rtlCol="0" anchor="ctr" wrap="square" lIns="73152" rIns="73152"/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임차 구성 (kW 기준)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766560" y="4773168"/>
          <a:ext cx="5013655" cy="156361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34721"/>
                <a:gridCol w="1276203"/>
                <a:gridCol w="1002731"/>
              </a:tblGrid>
              <a:tr h="260603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임차인</a:t>
                      </a:r>
                    </a:p>
                  </a:txBody>
                  <a:tcPr anchor="ctr" marL="54864" marR="54864" marT="9144" marB="9144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계약전력(kW)</a:t>
                      </a:r>
                    </a:p>
                  </a:txBody>
                  <a:tcPr anchor="ctr" marL="54864" marR="54864" marT="9144" marB="9144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비중</a:t>
                      </a:r>
                    </a:p>
                  </a:txBody>
                  <a:tcPr anchor="ctr" marL="54864" marR="54864" marT="9144" marB="9144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임차인 A (하이퍼스케일, 1~5차)</a:t>
                      </a:r>
                    </a:p>
                  </a:txBody>
                  <a:tcPr anchor="ctr" marL="54864" marR="54864" marT="9144" marB="9144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22,000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84.6%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임차인 B (통신·금융)</a:t>
                      </a:r>
                    </a:p>
                  </a:txBody>
                  <a:tcPr anchor="ctr" marL="54864" marR="54864" marT="9144" marB="9144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800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3.1%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임차인 C (통신, 소버린)</a:t>
                      </a:r>
                    </a:p>
                  </a:txBody>
                  <a:tcPr anchor="ctr" marL="54864" marR="54864" marT="9144" marB="9144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2,000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7.7%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공실 (Ramp-up)</a:t>
                      </a:r>
                    </a:p>
                  </a:txBody>
                  <a:tcPr anchor="ctr" marL="54864" marR="54864" marT="9144" marB="9144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1,200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4.6%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합계</a:t>
                      </a:r>
                    </a:p>
                  </a:txBody>
                  <a:tcPr anchor="ctr" marL="54864" marR="54864" marT="9144" marB="9144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26,000</a:t>
                      </a:r>
                    </a:p>
                  </a:txBody>
                  <a:tcPr anchor="ctr" marL="54864" marR="54864" marT="9144" marB="9144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100.0%</a:t>
                      </a:r>
                    </a:p>
                  </a:txBody>
                  <a:tcPr anchor="ctr" marL="54864" marR="54864" marT="9144" marB="9144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cxnSp>
        <p:nvCxnSpPr>
          <p:cNvPr id="21" name="Connector 20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BFBFBF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411480" y="6464808"/>
            <a:ext cx="10820095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출처: PART2 데이터센터 실습파일(6.사업개요 · 7.총 투자비 · 8.임대조건), 작성기준일 2025.12.31 · 강의 실습용 가상사례로 특정 자산과 무관 · [추정] 시설 총 전력수요는 IT-Load × PUE 단순 산식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23015" y="6464808"/>
            <a:ext cx="4572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TM 자산개요 — 데이터센터 실습사례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