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07200" cy="99393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7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93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42" y="102"/>
      </p:cViewPr>
      <p:guideLst>
        <p:guide pos="27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63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686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altLang="ko-KR" sz="2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2. </a:t>
            </a:r>
            <a:r>
              <a:rPr lang="ko-KR" altLang="en-US" sz="2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참여</a:t>
            </a:r>
            <a:r>
              <a:rPr lang="en-US" sz="2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 주체별 역할 및 수익률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1457432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0" cy="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052560" y="109728"/>
            <a:ext cx="277063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One </a:t>
            </a: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KORAMCO </a:t>
            </a:r>
            <a:r>
              <a:rPr lang="en-US" sz="110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New </a:t>
            </a: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KORAMCO</a:t>
            </a:r>
            <a:endParaRPr lang="en-US" sz="1100" dirty="0"/>
          </a:p>
        </p:txBody>
      </p:sp>
      <p:sp>
        <p:nvSpPr>
          <p:cNvPr id="101" name="섹션 마커"/>
          <p:cNvSpPr/>
          <p:nvPr/>
        </p:nvSpPr>
        <p:spPr>
          <a:xfrm>
            <a:off x="365760" y="905256"/>
            <a:ext cx="11887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 wrap="square" lIns="18000" tIns="381" rIns="18000" bIns="381" rtlCol="0" anchor="ctr"/>
          <a:lstStyle/>
          <a:p>
            <a:endParaRPr lang="ko-KR" altLang="en-US"/>
          </a:p>
        </p:txBody>
      </p:sp>
      <p:sp>
        <p:nvSpPr>
          <p:cNvPr id="102" name="섹션 제목"/>
          <p:cNvSpPr txBox="1"/>
          <p:nvPr/>
        </p:nvSpPr>
        <p:spPr>
          <a:xfrm>
            <a:off x="548640" y="850392"/>
            <a:ext cx="4200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000" tIns="381" rIns="18000" bIns="381" rtlCol="0" anchor="ctr"/>
          <a:lstStyle/>
          <a:p>
            <a:pPr marL="0" indent="0" algn="l">
              <a:buNone/>
            </a:pPr>
            <a:r>
              <a:rPr lang="ko-KR" altLang="en-US" sz="13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투자구조</a:t>
            </a:r>
          </a:p>
        </p:txBody>
      </p:sp>
      <p:sp>
        <p:nvSpPr>
          <p:cNvPr id="103" name="리츠"/>
          <p:cNvSpPr/>
          <p:nvPr/>
        </p:nvSpPr>
        <p:spPr>
          <a:xfrm>
            <a:off x="365760" y="1207008"/>
            <a:ext cx="2760000" cy="500000"/>
          </a:xfrm>
          <a:prstGeom prst="rect">
            <a:avLst/>
          </a:prstGeom>
          <a:solidFill>
            <a:srgbClr val="6F6255"/>
          </a:solidFill>
          <a:ln w="6350">
            <a:solidFill>
              <a:srgbClr val="6F6255"/>
            </a:solidFill>
            <a:prstDash val="solid"/>
          </a:ln>
        </p:spPr>
        <p:txBody>
          <a:bodyPr wrap="square" lIns="18000" tIns="381" rIns="18000" bIns="381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oo위탁관리부동산투자회사</a:t>
            </a:r>
          </a:p>
          <a:p>
            <a:pPr marL="0" indent="0" algn="ctr">
              <a:buNone/>
            </a:pPr>
            <a:r>
              <a:rPr lang="ko-KR" altLang="en-US" sz="900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(총 투자비 1,293억  ·  AMC 코람코자산신탁)</a:t>
            </a:r>
          </a:p>
        </p:txBody>
      </p:sp>
      <p:sp>
        <p:nvSpPr>
          <p:cNvPr id="104" name="연결선 리츠-자산"/>
          <p:cNvSpPr/>
          <p:nvPr/>
        </p:nvSpPr>
        <p:spPr>
          <a:xfrm>
            <a:off x="1745760" y="1707008"/>
            <a:ext cx="0" cy="190000"/>
          </a:xfrm>
          <a:prstGeom prst="line">
            <a:avLst/>
          </a:prstGeom>
          <a:noFill/>
          <a:ln w="9525">
            <a:solidFill>
              <a:srgbClr val="A393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자산 프레임"/>
          <p:cNvSpPr/>
          <p:nvPr/>
        </p:nvSpPr>
        <p:spPr>
          <a:xfrm>
            <a:off x="365760" y="1897008"/>
            <a:ext cx="2760000" cy="4110600"/>
          </a:xfrm>
          <a:prstGeom prst="rect">
            <a:avLst/>
          </a:prstGeom>
          <a:solidFill>
            <a:srgbClr val="FDF7F7"/>
          </a:solidFill>
          <a:ln w="12700">
            <a:solidFill>
              <a:srgbClr val="C00000"/>
            </a:solidFill>
            <a:prstDash val="dash"/>
          </a:ln>
        </p:spPr>
        <p:txBody>
          <a:bodyPr wrap="square" lIns="18000" tIns="381" rIns="18000" bIns="381" rtlCol="0" anchor="ctr"/>
          <a:lstStyle/>
          <a:p>
            <a:endParaRPr lang="ko-KR" altLang="en-US"/>
          </a:p>
        </p:txBody>
      </p:sp>
      <p:sp>
        <p:nvSpPr>
          <p:cNvPr id="106" name="자산명"/>
          <p:cNvSpPr/>
          <p:nvPr/>
        </p:nvSpPr>
        <p:spPr>
          <a:xfrm>
            <a:off x="515760" y="1987008"/>
            <a:ext cx="1500000" cy="330000"/>
          </a:xfrm>
          <a:prstGeom prst="rect">
            <a:avLst/>
          </a:prstGeom>
          <a:solidFill>
            <a:srgbClr val="EDE6DF"/>
          </a:solidFill>
          <a:ln w="9525">
            <a:solidFill>
              <a:srgbClr val="A39382"/>
            </a:solidFill>
            <a:prstDash val="solid"/>
          </a:ln>
        </p:spPr>
        <p:txBody>
          <a:bodyPr wrap="square" lIns="18000" tIns="381" rIns="18000" bIns="381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oo빌딩 </a:t>
            </a:r>
            <a:r>
              <a:rPr lang="ko-KR" alt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(매입가 1,080억)</a:t>
            </a:r>
          </a:p>
        </p:txBody>
      </p:sp>
      <p:sp>
        <p:nvSpPr>
          <p:cNvPr id="107" name="스택 라벨"/>
          <p:cNvSpPr txBox="1"/>
          <p:nvPr/>
        </p:nvSpPr>
        <p:spPr>
          <a:xfrm>
            <a:off x="2075760" y="1987008"/>
            <a:ext cx="9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381" rIns="18000" bIns="381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투자비 | 재원조달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5939929-51C5-238F-7ED3-D9B8DCBAC21A}"/>
              </a:ext>
            </a:extLst>
          </p:cNvPr>
          <p:cNvGrpSpPr/>
          <p:nvPr/>
        </p:nvGrpSpPr>
        <p:grpSpPr>
          <a:xfrm>
            <a:off x="515760" y="2407008"/>
            <a:ext cx="2460000" cy="3526890"/>
            <a:chOff x="515760" y="2407008"/>
            <a:chExt cx="2460000" cy="2736000"/>
          </a:xfrm>
        </p:grpSpPr>
        <p:sp>
          <p:nvSpPr>
            <p:cNvPr id="108" name="투자비 부동산 매입금액"/>
            <p:cNvSpPr/>
            <p:nvPr/>
          </p:nvSpPr>
          <p:spPr>
            <a:xfrm>
              <a:off x="515760" y="2407008"/>
              <a:ext cx="1160000" cy="153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900" dirty="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부동산 매입금액</a:t>
              </a:r>
            </a:p>
            <a:p>
              <a:pPr marL="0" indent="0" algn="ctr">
                <a:buNone/>
              </a:pPr>
              <a:r>
                <a:rPr lang="ko-KR" altLang="en-US" sz="1200" dirty="0">
                  <a:solidFill>
                    <a:srgbClr val="262626"/>
                  </a:solidFill>
                  <a:latin typeface="나눔스퀘어 ExtraBold" pitchFamily="34" charset="0"/>
                  <a:ea typeface="나눔스퀘어 ExtraBold" pitchFamily="34" charset="-122"/>
                  <a:cs typeface="나눔스퀘어 ExtraBold" pitchFamily="34" charset="-120"/>
                </a:rPr>
                <a:t>1,080</a:t>
              </a:r>
            </a:p>
          </p:txBody>
        </p:sp>
        <p:sp>
          <p:nvSpPr>
            <p:cNvPr id="109" name="투자비 취득부대비용 등"/>
            <p:cNvSpPr/>
            <p:nvPr/>
          </p:nvSpPr>
          <p:spPr>
            <a:xfrm>
              <a:off x="515760" y="3943008"/>
              <a:ext cx="1160000" cy="400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00" dirty="0">
                  <a:solidFill>
                    <a:srgbClr val="262626"/>
                  </a:solidFill>
                  <a:latin typeface="나눔스퀘어" pitchFamily="34" charset="0"/>
                  <a:ea typeface="나눔스퀘어" pitchFamily="34" charset="-122"/>
                  <a:cs typeface="나눔스퀘어" pitchFamily="34" charset="-120"/>
                </a:rPr>
                <a:t>취득부대비용 등 </a:t>
              </a:r>
              <a:r>
                <a:rPr lang="ko-KR" altLang="en-US" sz="850" dirty="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68</a:t>
              </a:r>
            </a:p>
          </p:txBody>
        </p:sp>
        <p:sp>
          <p:nvSpPr>
            <p:cNvPr id="110" name="투자비 공사비 등"/>
            <p:cNvSpPr/>
            <p:nvPr/>
          </p:nvSpPr>
          <p:spPr>
            <a:xfrm>
              <a:off x="515760" y="4343008"/>
              <a:ext cx="1160000" cy="400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00" dirty="0">
                  <a:solidFill>
                    <a:srgbClr val="262626"/>
                  </a:solidFill>
                  <a:latin typeface="나눔스퀘어" pitchFamily="34" charset="0"/>
                  <a:ea typeface="나눔스퀘어" pitchFamily="34" charset="-122"/>
                  <a:cs typeface="나눔스퀘어" pitchFamily="34" charset="-120"/>
                </a:rPr>
                <a:t>공사비 등 </a:t>
              </a:r>
              <a:r>
                <a:rPr lang="ko-KR" altLang="en-US" sz="850" dirty="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66</a:t>
              </a:r>
            </a:p>
          </p:txBody>
        </p:sp>
        <p:sp>
          <p:nvSpPr>
            <p:cNvPr id="111" name="투자비 보증금·예비비 등"/>
            <p:cNvSpPr/>
            <p:nvPr/>
          </p:nvSpPr>
          <p:spPr>
            <a:xfrm>
              <a:off x="515760" y="4743008"/>
              <a:ext cx="1160000" cy="400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00" dirty="0">
                  <a:solidFill>
                    <a:srgbClr val="262626"/>
                  </a:solidFill>
                  <a:latin typeface="나눔스퀘어" pitchFamily="34" charset="0"/>
                  <a:ea typeface="나눔스퀘어" pitchFamily="34" charset="-122"/>
                  <a:cs typeface="나눔스퀘어" pitchFamily="34" charset="-120"/>
                </a:rPr>
                <a:t>보증금·예비비 등 </a:t>
              </a:r>
              <a:r>
                <a:rPr lang="ko-KR" altLang="en-US" sz="850" dirty="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78</a:t>
              </a:r>
            </a:p>
          </p:txBody>
        </p:sp>
        <p:sp>
          <p:nvSpPr>
            <p:cNvPr id="112" name="재원 보증금"/>
            <p:cNvSpPr/>
            <p:nvPr/>
          </p:nvSpPr>
          <p:spPr>
            <a:xfrm>
              <a:off x="1675760" y="2407008"/>
              <a:ext cx="1300000" cy="352000"/>
            </a:xfrm>
            <a:prstGeom prst="rect">
              <a:avLst/>
            </a:prstGeom>
            <a:solidFill>
              <a:srgbClr val="F5F3F1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 dirty="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보증금 </a:t>
              </a:r>
              <a:r>
                <a:rPr lang="ko-KR" altLang="en-US" sz="950" dirty="0">
                  <a:solidFill>
                    <a:srgbClr val="262626"/>
                  </a:solidFill>
                  <a:latin typeface="나눔스퀘어 ExtraBold" pitchFamily="34" charset="0"/>
                  <a:ea typeface="나눔스퀘어 ExtraBold" pitchFamily="34" charset="-122"/>
                  <a:cs typeface="나눔스퀘어 ExtraBold" pitchFamily="34" charset="-120"/>
                </a:rPr>
                <a:t>33</a:t>
              </a:r>
            </a:p>
          </p:txBody>
        </p:sp>
        <p:sp>
          <p:nvSpPr>
            <p:cNvPr id="113" name="재원 선순위 대출"/>
            <p:cNvSpPr/>
            <p:nvPr/>
          </p:nvSpPr>
          <p:spPr>
            <a:xfrm>
              <a:off x="1675760" y="2759008"/>
              <a:ext cx="1300000" cy="1024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900" dirty="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선순위 대출</a:t>
              </a:r>
            </a:p>
            <a:p>
              <a:pPr marL="0" indent="0" algn="ctr">
                <a:buNone/>
              </a:pPr>
              <a:r>
                <a:rPr lang="ko-KR" altLang="en-US" sz="1200" dirty="0">
                  <a:solidFill>
                    <a:srgbClr val="262626"/>
                  </a:solidFill>
                  <a:latin typeface="나눔스퀘어 ExtraBold" pitchFamily="34" charset="0"/>
                  <a:ea typeface="나눔스퀘어 ExtraBold" pitchFamily="34" charset="-122"/>
                  <a:cs typeface="나눔스퀘어 ExtraBold" pitchFamily="34" charset="-120"/>
                </a:rPr>
                <a:t>740</a:t>
              </a:r>
            </a:p>
            <a:p>
              <a:pPr marL="0" indent="0" algn="ctr">
                <a:buNone/>
              </a:pPr>
              <a:r>
                <a:rPr lang="ko-KR" altLang="en-US" sz="800" dirty="0">
                  <a:solidFill>
                    <a:srgbClr val="262626"/>
                  </a:solidFill>
                  <a:latin typeface="나눔스퀘어" pitchFamily="34" charset="0"/>
                  <a:ea typeface="나눔스퀘어" pitchFamily="34" charset="-122"/>
                  <a:cs typeface="나눔스퀘어" pitchFamily="34" charset="-120"/>
                </a:rPr>
                <a:t>LTV 59% 내외</a:t>
              </a:r>
            </a:p>
          </p:txBody>
        </p:sp>
        <p:sp>
          <p:nvSpPr>
            <p:cNvPr id="114" name="재원 중순위 대출"/>
            <p:cNvSpPr/>
            <p:nvPr/>
          </p:nvSpPr>
          <p:spPr>
            <a:xfrm>
              <a:off x="1675760" y="3783008"/>
              <a:ext cx="1300000" cy="464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 dirty="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중순위 대출 </a:t>
              </a:r>
              <a:r>
                <a:rPr lang="ko-KR" altLang="en-US" sz="950" dirty="0">
                  <a:solidFill>
                    <a:srgbClr val="262626"/>
                  </a:solidFill>
                  <a:latin typeface="나눔스퀘어 ExtraBold" pitchFamily="34" charset="0"/>
                  <a:ea typeface="나눔스퀘어 ExtraBold" pitchFamily="34" charset="-122"/>
                  <a:cs typeface="나눔스퀘어 ExtraBold" pitchFamily="34" charset="-120"/>
                </a:rPr>
                <a:t>110</a:t>
              </a:r>
            </a:p>
          </p:txBody>
        </p:sp>
        <p:sp>
          <p:nvSpPr>
            <p:cNvPr id="115" name="재원 1종 종류주"/>
            <p:cNvSpPr/>
            <p:nvPr/>
          </p:nvSpPr>
          <p:spPr>
            <a:xfrm>
              <a:off x="1675760" y="4247008"/>
              <a:ext cx="1300000" cy="448000"/>
            </a:xfrm>
            <a:prstGeom prst="rect">
              <a:avLst/>
            </a:prstGeom>
            <a:solidFill>
              <a:srgbClr val="A39382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 dirty="0">
                  <a:solidFill>
                    <a:srgbClr val="FFFFFF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1종 종류주 </a:t>
              </a:r>
              <a:r>
                <a:rPr lang="ko-KR" altLang="en-US" sz="950" dirty="0">
                  <a:solidFill>
                    <a:srgbClr val="FFFFFF"/>
                  </a:solidFill>
                  <a:latin typeface="나눔스퀘어 ExtraBold" pitchFamily="34" charset="0"/>
                  <a:ea typeface="나눔스퀘어 ExtraBold" pitchFamily="34" charset="-122"/>
                  <a:cs typeface="나눔스퀘어 ExtraBold" pitchFamily="34" charset="-120"/>
                </a:rPr>
                <a:t>210</a:t>
              </a:r>
            </a:p>
          </p:txBody>
        </p:sp>
        <p:sp>
          <p:nvSpPr>
            <p:cNvPr id="116" name="재원 보통주"/>
            <p:cNvSpPr/>
            <p:nvPr/>
          </p:nvSpPr>
          <p:spPr>
            <a:xfrm>
              <a:off x="1675760" y="4695008"/>
              <a:ext cx="1300000" cy="448000"/>
            </a:xfrm>
            <a:prstGeom prst="rect">
              <a:avLst/>
            </a:prstGeom>
            <a:solidFill>
              <a:srgbClr val="A39382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 dirty="0">
                  <a:solidFill>
                    <a:srgbClr val="FFFFFF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보통주 </a:t>
              </a:r>
              <a:r>
                <a:rPr lang="ko-KR" altLang="en-US" sz="950" dirty="0">
                  <a:solidFill>
                    <a:srgbClr val="FFFFFF"/>
                  </a:solidFill>
                  <a:latin typeface="나눔스퀘어 ExtraBold" pitchFamily="34" charset="0"/>
                  <a:ea typeface="나눔스퀘어 ExtraBold" pitchFamily="34" charset="-122"/>
                  <a:cs typeface="나눔스퀘어 ExtraBold" pitchFamily="34" charset="-120"/>
                </a:rPr>
                <a:t>200</a:t>
              </a:r>
            </a:p>
          </p:txBody>
        </p:sp>
      </p:grpSp>
      <p:sp>
        <p:nvSpPr>
          <p:cNvPr id="117" name="구분선"/>
          <p:cNvSpPr/>
          <p:nvPr/>
        </p:nvSpPr>
        <p:spPr>
          <a:xfrm>
            <a:off x="3200000" y="896112"/>
            <a:ext cx="0" cy="557784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섹션 마커"/>
          <p:cNvSpPr/>
          <p:nvPr/>
        </p:nvSpPr>
        <p:spPr>
          <a:xfrm>
            <a:off x="3275760" y="905256"/>
            <a:ext cx="11887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 wrap="square" lIns="18000" tIns="381" rIns="18000" bIns="381" rtlCol="0" anchor="ctr"/>
          <a:lstStyle/>
          <a:p>
            <a:endParaRPr lang="ko-KR" altLang="en-US"/>
          </a:p>
        </p:txBody>
      </p:sp>
      <p:sp>
        <p:nvSpPr>
          <p:cNvPr id="119" name="섹션 제목"/>
          <p:cNvSpPr txBox="1"/>
          <p:nvPr/>
        </p:nvSpPr>
        <p:spPr>
          <a:xfrm>
            <a:off x="3458640" y="850392"/>
            <a:ext cx="5200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000" tIns="381" rIns="18000" bIns="381" rtlCol="0" anchor="ctr"/>
          <a:lstStyle/>
          <a:p>
            <a:pPr marL="0" indent="0" algn="l">
              <a:buNone/>
            </a:pPr>
            <a:r>
              <a:rPr lang="ko-KR" altLang="en-US" sz="13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참여 주체별 역할 및 수익률</a:t>
            </a:r>
            <a:r>
              <a:rPr lang="ko-KR" alt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 ( 수익률 : 재무모델 Base case 기준 )</a:t>
            </a:r>
          </a:p>
        </p:txBody>
      </p:sp>
      <p:sp>
        <p:nvSpPr>
          <p:cNvPr id="120" name="단위"/>
          <p:cNvSpPr txBox="1"/>
          <p:nvPr/>
        </p:nvSpPr>
        <p:spPr>
          <a:xfrm>
            <a:off x="10451592" y="9600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381" rIns="18000" bIns="381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(단위 : 억원, %)</a:t>
            </a:r>
          </a:p>
        </p:txBody>
      </p:sp>
      <p:graphicFrame>
        <p:nvGraphicFramePr>
          <p:cNvPr id="121" name="주체별 수익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222387"/>
              </p:ext>
            </p:extLst>
          </p:nvPr>
        </p:nvGraphicFramePr>
        <p:xfrm>
          <a:off x="3275759" y="1207008"/>
          <a:ext cx="8469711" cy="4754692"/>
        </p:xfrm>
        <a:graphic>
          <a:graphicData uri="http://schemas.openxmlformats.org/drawingml/2006/table">
            <a:tbl>
              <a:tblPr/>
              <a:tblGrid>
                <a:gridCol w="522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14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7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67994236"/>
                    </a:ext>
                  </a:extLst>
                </a:gridCol>
              </a:tblGrid>
              <a:tr h="121966">
                <a:tc rowSpan="2"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기관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기관 성격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본 사업 내 역할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금액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All-in = 수수료 + Coupon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부수 용역 등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66">
                <a:tc gridSpan="2"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All-in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수수료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Coupon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내용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금액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255">
                <a:tc rowSpan="8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Loan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선순위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(740억, 4.45%)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OO은행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은행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선순위 (승인 300억)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200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4.4%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△△은행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은행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선순위 대주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240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4.4%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OO저축은행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저축은행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선순위 대주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100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4.4%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OO중앙회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상호금융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연계대출 (승인 300억)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200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4.6%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중순위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(110억, 5.87%)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OO캐피탈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캐피탈사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중순위 (승인 110억)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80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5.9%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△△저축은행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저축은행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중순위 대주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30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5.8%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7F7F7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보증금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(33억)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임차인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임차인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임대차보증금 (무수익)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7F7F7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33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0.0%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897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Loan 소계 (가중평균)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883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4.46%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19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900" dirty="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00" dirty="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200" dirty="0">
                        <a:solidFill>
                          <a:srgbClr val="C00000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50" dirty="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altLang="en-US" sz="800" dirty="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900" dirty="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50" dirty="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50" dirty="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50" dirty="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00" dirty="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8857961"/>
                  </a:ext>
                </a:extLst>
              </a:tr>
              <a:tr h="121966">
                <a:tc rowSpan="2"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기관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기관 성격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본 사업 내 역할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금액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투자수익률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부수 용역 등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58303017"/>
                  </a:ext>
                </a:extLst>
              </a:tr>
              <a:tr h="121966">
                <a:tc gridSpan="2"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8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IRR (%)</a:t>
                      </a:r>
                      <a:endParaRPr lang="ko-KR" altLang="en-US" sz="800" dirty="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8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I.G (%)</a:t>
                      </a:r>
                      <a:endParaRPr lang="ko-KR" altLang="en-US" sz="800" dirty="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8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C.G (%)</a:t>
                      </a:r>
                      <a:endParaRPr lang="ko-KR" altLang="en-US" sz="800" dirty="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내용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금액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070225"/>
                  </a:ext>
                </a:extLst>
              </a:tr>
              <a:tr h="297951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Equity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보통주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(200억)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OO기업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전략적 투자자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(SI)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보통주 출자 (100%)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C00000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· Value-add 공사 우선협상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[임차·PM 겸직 시 기재]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200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C00000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공사 도급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[</a:t>
                      </a:r>
                      <a:r>
                        <a:rPr lang="en-US" altLang="ko-KR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66</a:t>
                      </a: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]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277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1종 종류주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(210억)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OO증권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증권사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(IB)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종류주 총액인수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OO리츠 앞 Sell-down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210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0277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OO리츠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상장 리츠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Sell-down 물량 보유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우선배당 수취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(210)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Equity 소계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410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[0.0]%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980"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E + L </a:t>
                      </a: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합 계  (= 총 투자비)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1,293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22" name="작성요령"/>
          <p:cNvSpPr txBox="1"/>
          <p:nvPr/>
        </p:nvSpPr>
        <p:spPr>
          <a:xfrm>
            <a:off x="3275760" y="6000000"/>
            <a:ext cx="7845086" cy="557554"/>
          </a:xfrm>
          <a:prstGeom prst="rect">
            <a:avLst/>
          </a:prstGeom>
          <a:noFill/>
          <a:ln>
            <a:noFill/>
          </a:ln>
        </p:spPr>
        <p:txBody>
          <a:bodyPr wrap="square" lIns="18000" tIns="381" rIns="18000" bIns="381" rtlCol="0" anchor="t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대주 · 인수기관 : All-in = 취급 · 인수수수료(연환산) + Coupon(대출금리 · 우선배당률).  보증금은 무이자 조달로 Loan에 포함(가중평균 All-in에 0% 반영)</a:t>
            </a:r>
          </a:p>
          <a:p>
            <a:r>
              <a:rPr lang="ko-KR" altLang="en-US" sz="8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투자자 : IRR · </a:t>
            </a:r>
            <a:r>
              <a:rPr lang="en-US" altLang="ko-KR" sz="8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I.G </a:t>
            </a:r>
            <a:r>
              <a:rPr lang="ko-KR" altLang="en-US" sz="8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·</a:t>
            </a:r>
            <a:r>
              <a:rPr lang="en-US" altLang="ko-KR" sz="8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C.G</a:t>
            </a:r>
            <a:r>
              <a:rPr lang="ko-KR" altLang="en-US" sz="8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는 재무모델 Base case 기준</a:t>
            </a:r>
          </a:p>
          <a:p>
            <a:pPr marL="0" indent="0" algn="l">
              <a:buNone/>
            </a:pPr>
            <a:r>
              <a:rPr lang="ko-KR" altLang="en-US" sz="8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동일 기관이 출자 · 대출과 용역(PM · 시공 · 임차 · 주선 등)을 겸하면 붉은색으로 표시하고 부수 용역 내용을 기재</a:t>
            </a:r>
          </a:p>
          <a:p>
            <a:pPr marL="0" indent="0" algn="l">
              <a:buNone/>
            </a:pPr>
            <a:r>
              <a:rPr lang="ko-KR" altLang="en-US" sz="8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[  ] 는 </a:t>
            </a:r>
            <a:r>
              <a:rPr lang="ko-KR" altLang="en-US" sz="800" dirty="0" err="1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미확정</a:t>
            </a:r>
            <a:r>
              <a:rPr lang="ko-KR" altLang="en-US" sz="8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수치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B1FA0D-5199-EAB4-016B-EEC8F2AD5588}"/>
              </a:ext>
            </a:extLst>
          </p:cNvPr>
          <p:cNvSpPr/>
          <p:nvPr/>
        </p:nvSpPr>
        <p:spPr>
          <a:xfrm>
            <a:off x="10699091" y="347471"/>
            <a:ext cx="1410789" cy="2956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예시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494</Words>
  <Application>Microsoft Office PowerPoint</Application>
  <PresentationFormat>와이드스크린</PresentationFormat>
  <Paragraphs>167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나눔스퀘어</vt:lpstr>
      <vt:lpstr>나눔스퀘어 Bold</vt:lpstr>
      <vt:lpstr>나눔스퀘어 ExtraBold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안 용현(Yonghyeon,Ahn)</cp:lastModifiedBy>
  <cp:revision>31</cp:revision>
  <cp:lastPrinted>2026-10-07T00:13:53Z</cp:lastPrinted>
  <dcterms:created xsi:type="dcterms:W3CDTF">2026-10-02T02:28:43Z</dcterms:created>
  <dcterms:modified xsi:type="dcterms:W3CDTF">2026-10-07T08:02:10Z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ranchUid">
    <vt:lpwstr>Vy15GeTVEJyp-_v6ziN0YnSZvo4202504070000000</vt:lpwstr>
  </property>
  <property fmtid="{D5CDD505-2E9C-101B-9397-08002B2CF9AE}" pid="3" name="docPath">
    <vt:lpwstr>QzpcVXNlcnNceXN3NDAwMVxEZXNrdG9wXOyyqOu2gDEuIOKRoSDrpqzsuKDtiKzsnpDsi6zsnZjsnITsm5Dtmowg7ZWE7IiY7J6Q66OMIOyWkeyLnV8yNjEwMDZfM+uyiCDstpTqsIBfdjUucHB0eA==</vt:lpwstr>
  </property>
  <property fmtid="{D5CDD505-2E9C-101B-9397-08002B2CF9AE}" pid="4" name="docUid">
    <vt:lpwstr>dNZoZMKbvyP8WkkyiekIVOZe4HY</vt:lpwstr>
  </property>
  <property fmtid="{D5CDD505-2E9C-101B-9397-08002B2CF9AE}" pid="5" name="parentBranchUid">
    <vt:lpwstr>A7BafkKde0riDlfw9grJczNLDpk202504070000000</vt:lpwstr>
  </property>
</Properties>
</file>