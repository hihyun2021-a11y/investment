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48"/>
  </p:notesMasterIdLst>
  <p:handoutMasterIdLst>
    <p:handoutMasterId r:id="rId49"/>
  </p:handoutMasterIdLst>
  <p:sldIdLst>
    <p:sldId id="1174" r:id="rId4"/>
    <p:sldId id="1175" r:id="rId5"/>
    <p:sldId id="1176" r:id="rId6"/>
    <p:sldId id="1657" r:id="rId7"/>
    <p:sldId id="1658" r:id="rId8"/>
    <p:sldId id="1812" r:id="rId9"/>
    <p:sldId id="1813" r:id="rId10"/>
    <p:sldId id="1183" r:id="rId11"/>
    <p:sldId id="1814" r:id="rId12"/>
    <p:sldId id="1656" r:id="rId13"/>
    <p:sldId id="1686" r:id="rId14"/>
    <p:sldId id="1798" r:id="rId15"/>
    <p:sldId id="1739" r:id="rId16"/>
    <p:sldId id="1740" r:id="rId17"/>
    <p:sldId id="1743" r:id="rId18"/>
    <p:sldId id="1799" r:id="rId19"/>
    <p:sldId id="1768" r:id="rId20"/>
    <p:sldId id="1806" r:id="rId21"/>
    <p:sldId id="1805" r:id="rId22"/>
    <p:sldId id="1807" r:id="rId23"/>
    <p:sldId id="1786" r:id="rId24"/>
    <p:sldId id="1785" r:id="rId25"/>
    <p:sldId id="1777" r:id="rId26"/>
    <p:sldId id="1781" r:id="rId27"/>
    <p:sldId id="1782" r:id="rId28"/>
    <p:sldId id="1809" r:id="rId29"/>
    <p:sldId id="1748" r:id="rId30"/>
    <p:sldId id="1789" r:id="rId31"/>
    <p:sldId id="1795" r:id="rId32"/>
    <p:sldId id="1752" r:id="rId33"/>
    <p:sldId id="1754" r:id="rId34"/>
    <p:sldId id="1771" r:id="rId35"/>
    <p:sldId id="1772" r:id="rId36"/>
    <p:sldId id="1773" r:id="rId37"/>
    <p:sldId id="1815" r:id="rId38"/>
    <p:sldId id="1787" r:id="rId39"/>
    <p:sldId id="1791" r:id="rId40"/>
    <p:sldId id="1810" r:id="rId41"/>
    <p:sldId id="1796" r:id="rId42"/>
    <p:sldId id="1817" r:id="rId43"/>
    <p:sldId id="1818" r:id="rId44"/>
    <p:sldId id="1816" r:id="rId45"/>
    <p:sldId id="1819" r:id="rId46"/>
    <p:sldId id="1779" r:id="rId47"/>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12"/>
            <p14:sldId id="1813"/>
            <p14:sldId id="1183"/>
            <p14:sldId id="1814"/>
            <p14:sldId id="1656"/>
          </p14:sldIdLst>
        </p14:section>
        <p14:section name="제목 없는 구역" id="{173DE95B-9F57-4D39-B3FD-CED6B2100408}">
          <p14:sldIdLst>
            <p14:sldId id="1686"/>
            <p14:sldId id="1798"/>
            <p14:sldId id="1739"/>
            <p14:sldId id="1740"/>
            <p14:sldId id="1743"/>
            <p14:sldId id="1799"/>
            <p14:sldId id="1768"/>
            <p14:sldId id="1806"/>
            <p14:sldId id="1805"/>
            <p14:sldId id="1807"/>
            <p14:sldId id="1786"/>
            <p14:sldId id="1785"/>
            <p14:sldId id="1777"/>
            <p14:sldId id="1781"/>
            <p14:sldId id="1782"/>
            <p14:sldId id="1809"/>
            <p14:sldId id="1748"/>
            <p14:sldId id="1789"/>
            <p14:sldId id="1795"/>
            <p14:sldId id="1752"/>
            <p14:sldId id="1754"/>
            <p14:sldId id="1771"/>
            <p14:sldId id="1772"/>
            <p14:sldId id="1773"/>
            <p14:sldId id="1815"/>
            <p14:sldId id="1787"/>
            <p14:sldId id="1791"/>
            <p14:sldId id="1810"/>
            <p14:sldId id="1796"/>
            <p14:sldId id="1817"/>
            <p14:sldId id="1818"/>
            <p14:sldId id="1816"/>
            <p14:sldId id="1819"/>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9D9D9"/>
    <a:srgbClr val="843C0C"/>
    <a:srgbClr val="6DA7F2"/>
    <a:srgbClr val="F4B183"/>
    <a:srgbClr val="FBE5D6"/>
    <a:srgbClr val="C55A11"/>
    <a:srgbClr val="345B86"/>
    <a:srgbClr val="F2F2F2"/>
    <a:srgbClr val="888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6242" autoAdjust="0"/>
  </p:normalViewPr>
  <p:slideViewPr>
    <p:cSldViewPr showGuides="1">
      <p:cViewPr varScale="1">
        <p:scale>
          <a:sx n="97" d="100"/>
          <a:sy n="97" d="100"/>
        </p:scale>
        <p:origin x="978" y="90"/>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2026-08-24</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2026-08-24</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CADD8-3CD6-6D43-22CE-B387A38B60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D868F8-9FA0-2A62-27A2-55EFDD83AAA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AF22E2-1393-68BD-D6BA-562222EF4CD2}"/>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023D5670-6FCC-E3C1-176E-824D21A931C7}"/>
              </a:ext>
            </a:extLst>
          </p:cNvPr>
          <p:cNvSpPr>
            <a:spLocks noGrp="1"/>
          </p:cNvSpPr>
          <p:nvPr>
            <p:ph type="sldNum" sz="quarter" idx="10"/>
          </p:nvPr>
        </p:nvSpPr>
        <p:spPr/>
        <p:txBody>
          <a:bodyPr/>
          <a:lstStyle/>
          <a:p>
            <a:pPr defTabSz="441687">
              <a:defRPr/>
            </a:pPr>
            <a:fld id="{2B8DFE68-44DA-46E6-B8A3-9F09BDCA52AB}" type="slidenum">
              <a:rPr lang="ko-KR" altLang="en-US">
                <a:solidFill>
                  <a:prstClr val="black"/>
                </a:solidFill>
              </a:rPr>
              <a:pPr defTabSz="441687">
                <a:defRPr/>
              </a:pPr>
              <a:t>5</a:t>
            </a:fld>
            <a:endParaRPr lang="ko-KR" altLang="en-US">
              <a:solidFill>
                <a:prstClr val="black"/>
              </a:solidFill>
            </a:endParaRPr>
          </a:p>
        </p:txBody>
      </p:sp>
    </p:spTree>
    <p:extLst>
      <p:ext uri="{BB962C8B-B14F-4D97-AF65-F5344CB8AC3E}">
        <p14:creationId xmlns:p14="http://schemas.microsoft.com/office/powerpoint/2010/main" val="272137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7</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8</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12</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9BA2C-114C-9B13-0EBB-B16169C795D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CF32DC5-DE0E-C73B-8E8B-9F88C40650F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98073E3-6BB3-3FFF-09D2-851E9B463EF7}"/>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C913C3E5-ED48-2E93-E456-5415B2F1B32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74065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20</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21</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22</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27</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28</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29</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13DA-4510-27D4-4F4E-2FDEF18F2A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9AA2CB-5E19-22C4-9A6B-F8C127B63C7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D62D206-178D-3BCD-C1CB-F7B5AAEEC5C9}"/>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27E6255-5684-6829-3C12-3B0BF225901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39</a:t>
            </a:fld>
            <a:endParaRPr lang="ko-KR" altLang="en-US">
              <a:solidFill>
                <a:prstClr val="black"/>
              </a:solidFill>
            </a:endParaRPr>
          </a:p>
        </p:txBody>
      </p:sp>
    </p:spTree>
    <p:extLst>
      <p:ext uri="{BB962C8B-B14F-4D97-AF65-F5344CB8AC3E}">
        <p14:creationId xmlns:p14="http://schemas.microsoft.com/office/powerpoint/2010/main" val="491932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13FF-87B5-09AD-07F6-F22F8655C99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E551DCA-2B62-615F-8B38-1ECBBDCA686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410210-E407-9331-E722-4F59C3C65588}"/>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1796DA44-67D7-B32B-D460-2A6ABB877D8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40</a:t>
            </a:fld>
            <a:endParaRPr lang="ko-KR" altLang="en-US">
              <a:solidFill>
                <a:prstClr val="black"/>
              </a:solidFill>
            </a:endParaRPr>
          </a:p>
        </p:txBody>
      </p:sp>
    </p:spTree>
    <p:extLst>
      <p:ext uri="{BB962C8B-B14F-4D97-AF65-F5344CB8AC3E}">
        <p14:creationId xmlns:p14="http://schemas.microsoft.com/office/powerpoint/2010/main" val="985591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E4B2-ED5B-26E9-62B2-F2A354B3305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8D1455A-3900-F08F-316A-7C105F4EBF0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411B4FD-AED3-E8A0-3707-823F1722C96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2E6C61D3-F6C4-81BF-8426-E914E27FA79E}"/>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41</a:t>
            </a:fld>
            <a:endParaRPr lang="ko-KR" altLang="en-US">
              <a:solidFill>
                <a:prstClr val="black"/>
              </a:solidFill>
            </a:endParaRPr>
          </a:p>
        </p:txBody>
      </p:sp>
    </p:spTree>
    <p:extLst>
      <p:ext uri="{BB962C8B-B14F-4D97-AF65-F5344CB8AC3E}">
        <p14:creationId xmlns:p14="http://schemas.microsoft.com/office/powerpoint/2010/main" val="943743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9C62-96CD-E5A8-C79C-F24C08629D2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1ED936-0E7A-F5F4-EFFE-A6F3589650D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1BCD25-0F94-F19A-E8F9-1C098AD80B03}"/>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A6DB1246-18C1-C239-F0C0-44950396EC54}"/>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42</a:t>
            </a:fld>
            <a:endParaRPr lang="ko-KR" altLang="en-US">
              <a:solidFill>
                <a:prstClr val="black"/>
              </a:solidFill>
            </a:endParaRPr>
          </a:p>
        </p:txBody>
      </p:sp>
    </p:spTree>
    <p:extLst>
      <p:ext uri="{BB962C8B-B14F-4D97-AF65-F5344CB8AC3E}">
        <p14:creationId xmlns:p14="http://schemas.microsoft.com/office/powerpoint/2010/main" val="1107589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2.jp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chart" Target="../charts/chart5.xml"/><Relationship Id="rId7" Type="http://schemas.openxmlformats.org/officeDocument/2006/relationships/image" Target="../media/image40.jpeg"/><Relationship Id="rId2" Type="http://schemas.openxmlformats.org/officeDocument/2006/relationships/image" Target="../media/image36.png"/><Relationship Id="rId1" Type="http://schemas.openxmlformats.org/officeDocument/2006/relationships/slideLayout" Target="../slideLayouts/slideLayout8.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예비투자심의위원회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b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Ⅰ. </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구속력 없는 양해각서 체결 및    </a:t>
            </a: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b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이행보증금</a:t>
            </a: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 10</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납입의 건</a:t>
            </a:r>
            <a:b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Ⅱ.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실사기관</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선정의 건</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nSpc>
                <a:spcPct val="150000"/>
              </a:lnSpc>
              <a:buFontTx/>
              <a:buChar cha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본건은 경기도 안양시 동안구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관양동</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934 </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외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필지의 물류센터 매입을 위하여 매도인인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와 구속력 없는</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4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400" u="sng" dirty="0">
                <a:solidFill>
                  <a:prstClr val="black"/>
                </a:solidFill>
              </a:rPr>
              <a:t>양해각서</a:t>
            </a:r>
            <a:r>
              <a:rPr kumimoji="0" lang="ko-KR" altLang="en-US" sz="1400" b="0" i="0" u="sng"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체결</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및 </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양해각서에</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따른 독점적 협상기간 동안</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4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4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제반실사</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진행 </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1903695482"/>
              </p:ext>
            </p:extLst>
          </p:nvPr>
        </p:nvGraphicFramePr>
        <p:xfrm>
          <a:off x="509644" y="2357351"/>
          <a:ext cx="9756000" cy="1796865"/>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88000">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630430">
                <a:tc>
                  <a:txBody>
                    <a:bodyPr/>
                    <a:lstStyle/>
                    <a:p>
                      <a:pPr algn="ctr" latinLnBrk="1"/>
                      <a:r>
                        <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a:t>
                      </a:r>
                      <a:r>
                        <a:rPr lang="en-US" altLang="ko-KR"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pP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구속력없는</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 및 </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20000"/>
                        </a:lnSpc>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이행보증금</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 10</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납입의 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매매거래관련 주요조건 등에 대한 내용 합의 반영한 양해각서</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확정 </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 후 체결일로부터 </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 독점적 협상 기간 확보 </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코람코자산신탁은</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우선협상대상자로써 이행보증금</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 10</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납입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684000">
                <a:tc>
                  <a:txBody>
                    <a:bodyPr/>
                    <a:lstStyle/>
                    <a:p>
                      <a:pPr algn="ctr" latinLnBrk="1"/>
                      <a:r>
                        <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a:t>
                      </a:r>
                      <a:r>
                        <a:rPr lang="en-US" altLang="ko-KR"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a:t>
                      </a: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실사기관</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선정의 건</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부동산 매입을 위한 </a:t>
                      </a:r>
                      <a:r>
                        <a:rPr lang="ko-KR" altLang="en-US" sz="1100" b="0" u="sng"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법률실사</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u="sng"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재무실사</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감정평가</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u="sng"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물리실사</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u="sng"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a:t>
                      </a: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진행</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Char char="•"/>
                      </a:pPr>
                      <a:r>
                        <a:rPr lang="ko-KR" altLang="en-US"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용역 비용은 성공보수 조건으로 본건 부동산 매매계약 거래종결 이후 신규 설립 리츠 자금으로 지급 예정</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2782576" y="5241095"/>
            <a:ext cx="697467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투자심의위원회 개최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체결의 건</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29" name="그룹 28">
            <a:extLst>
              <a:ext uri="{FF2B5EF4-FFF2-40B4-BE49-F238E27FC236}">
                <a16:creationId xmlns:a16="http://schemas.microsoft.com/office/drawing/2014/main" id="{60BE657A-515F-8BC1-D57B-457117424460}"/>
              </a:ext>
            </a:extLst>
          </p:cNvPr>
          <p:cNvGrpSpPr/>
          <p:nvPr/>
        </p:nvGrpSpPr>
        <p:grpSpPr>
          <a:xfrm>
            <a:off x="5254063" y="4979871"/>
            <a:ext cx="739915" cy="989388"/>
            <a:chOff x="5430324" y="4979871"/>
            <a:chExt cx="739915" cy="989388"/>
          </a:xfrm>
        </p:grpSpPr>
        <p:sp>
          <p:nvSpPr>
            <p:cNvPr id="102" name="TextBox 101">
              <a:extLst>
                <a:ext uri="{FF2B5EF4-FFF2-40B4-BE49-F238E27FC236}">
                  <a16:creationId xmlns:a16="http://schemas.microsoft.com/office/drawing/2014/main" id="{501AD39F-5996-B63E-D3CE-B0C20498C20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대주</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심사완료</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3" name="TextBox 102">
              <a:extLst>
                <a:ext uri="{FF2B5EF4-FFF2-40B4-BE49-F238E27FC236}">
                  <a16:creationId xmlns:a16="http://schemas.microsoft.com/office/drawing/2014/main" id="{A8687130-31F4-3599-CB79-3ED420279E71}"/>
                </a:ext>
              </a:extLst>
            </p:cNvPr>
            <p:cNvSpPr txBox="1"/>
            <p:nvPr/>
          </p:nvSpPr>
          <p:spPr>
            <a:xfrm>
              <a:off x="5430324" y="497987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4" name="타원 103">
              <a:extLst>
                <a:ext uri="{FF2B5EF4-FFF2-40B4-BE49-F238E27FC236}">
                  <a16:creationId xmlns:a16="http://schemas.microsoft.com/office/drawing/2014/main" id="{9D93F3E0-4466-A534-A209-6BC1067DD47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실사완료 및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21</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 사 예비투자심의위원회 통과 시 체결 예정</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lvl="0" indent="-228600">
              <a:buFontTx/>
              <a:buAutoNum type="arabicParenR"/>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설립자본금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출자 예정</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 승인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득이후</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진행예정이며</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 불발 시</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자본금 반환가능</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방식에 대해서 이사회 설명 예정</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체결</a:t>
            </a:r>
            <a:r>
              <a:rPr lang="en-US" altLang="ko-KR" sz="9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p>
          <a:p>
            <a:pPr algn="ctr">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이행보증금 </a:t>
            </a: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납부</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(Refundable)</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7738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0" name="타원 99">
            <a:extLst>
              <a:ext uri="{FF2B5EF4-FFF2-40B4-BE49-F238E27FC236}">
                <a16:creationId xmlns:a16="http://schemas.microsoft.com/office/drawing/2014/main" id="{9AE1258E-3BEF-8BEC-2A4C-5E2DF185077B}"/>
              </a:ext>
            </a:extLst>
          </p:cNvPr>
          <p:cNvSpPr/>
          <p:nvPr/>
        </p:nvSpPr>
        <p:spPr>
          <a:xfrm>
            <a:off x="70027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30" name="TextBox 129">
            <a:extLst>
              <a:ext uri="{FF2B5EF4-FFF2-40B4-BE49-F238E27FC236}">
                <a16:creationId xmlns:a16="http://schemas.microsoft.com/office/drawing/2014/main" id="{9296D4A4-4CEC-DA2F-83D6-87DAAB7952FB}"/>
              </a:ext>
            </a:extLst>
          </p:cNvPr>
          <p:cNvSpPr txBox="1"/>
          <p:nvPr/>
        </p:nvSpPr>
        <p:spPr>
          <a:xfrm>
            <a:off x="6968292" y="5765897"/>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투자심의위원회 개최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 체결의 건</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1547483" y="4391905"/>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a:t>
              </a:r>
              <a:r>
                <a:rPr kumimoji="0" lang="en-US" altLang="ko-KR"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[8/24]</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8" name="그룹 17">
            <a:extLst>
              <a:ext uri="{FF2B5EF4-FFF2-40B4-BE49-F238E27FC236}">
                <a16:creationId xmlns:a16="http://schemas.microsoft.com/office/drawing/2014/main" id="{2434F2F2-16B3-620F-9B07-36C0F265AB91}"/>
              </a:ext>
            </a:extLst>
          </p:cNvPr>
          <p:cNvGrpSpPr/>
          <p:nvPr/>
        </p:nvGrpSpPr>
        <p:grpSpPr>
          <a:xfrm>
            <a:off x="7996057" y="4986221"/>
            <a:ext cx="880292" cy="981585"/>
            <a:chOff x="5838735" y="4986221"/>
            <a:chExt cx="880292" cy="981585"/>
          </a:xfrm>
        </p:grpSpPr>
        <p:sp>
          <p:nvSpPr>
            <p:cNvPr id="19" name="TextBox 18">
              <a:extLst>
                <a:ext uri="{FF2B5EF4-FFF2-40B4-BE49-F238E27FC236}">
                  <a16:creationId xmlns:a16="http://schemas.microsoft.com/office/drawing/2014/main" id="{39A7B024-B9AB-71BD-BEAA-BE016B6C55ED}"/>
                </a:ext>
              </a:extLst>
            </p:cNvPr>
            <p:cNvSpPr txBox="1"/>
            <p:nvPr/>
          </p:nvSpPr>
          <p:spPr>
            <a:xfrm>
              <a:off x="6046095" y="5764444"/>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주요계약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0" name="TextBox 19">
              <a:extLst>
                <a:ext uri="{FF2B5EF4-FFF2-40B4-BE49-F238E27FC236}">
                  <a16:creationId xmlns:a16="http://schemas.microsoft.com/office/drawing/2014/main" id="{1F472091-6262-E5A6-705F-906C7932A00C}"/>
                </a:ext>
              </a:extLst>
            </p:cNvPr>
            <p:cNvSpPr txBox="1"/>
            <p:nvPr/>
          </p:nvSpPr>
          <p:spPr>
            <a:xfrm>
              <a:off x="583873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21" name="타원 20">
              <a:extLst>
                <a:ext uri="{FF2B5EF4-FFF2-40B4-BE49-F238E27FC236}">
                  <a16:creationId xmlns:a16="http://schemas.microsoft.com/office/drawing/2014/main" id="{9CF824AA-60CE-FFD4-2C83-4B2C908A4346}"/>
                </a:ext>
              </a:extLst>
            </p:cNvPr>
            <p:cNvSpPr/>
            <p:nvPr/>
          </p:nvSpPr>
          <p:spPr>
            <a:xfrm>
              <a:off x="606760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회사설립</a:t>
              </a:r>
              <a:r>
                <a:rPr lang="en-US" altLang="ko-KR" sz="900" baseline="30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449286429"/>
              </p:ext>
            </p:extLst>
          </p:nvPr>
        </p:nvGraphicFramePr>
        <p:xfrm>
          <a:off x="521371" y="1450179"/>
          <a:ext cx="9756000" cy="5248275"/>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88000">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8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82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코크렙안양</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주식회사 </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우선협상대상자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주식회사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코람코자산신탁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b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우선협상대상자가 자산관리회사로 선임되는 부동산투자회사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이하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매수인측</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28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목적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매매계약을 체결하기 전에 당사자들 간의 매매의향을 명시하고 중요한 거래조건에 관하여 미리 합의하기 위함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28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이하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토지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및 안양물류센터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이하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건물</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288000">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대지면적</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15,287.5m</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(4,624.47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건물연면적</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95,474.59m</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(28,881.06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288000">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2,700</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건물분</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부가가치세 제외</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현상 그대로</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(as-is, where-is basis)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이루어짐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288000">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 조정</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법률적 또는 물리적으로 중대한 하자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치유비용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초과</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발생 시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범위 내 조정 협의 가능</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288000">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거래종결일로부터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간 유효</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288000">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매매대금의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상당액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28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우선협상기간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양해각서 체결일로부터 </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주가 되는 날</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까지 매도인은 해당 기간 동안 제</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자와 협상 불가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288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본건 매매계약 체결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Char char="•"/>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우선협상기간</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체결일로부터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주가 되는 날까지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만료 전 신의성실 원칙에 따라 체결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r h="576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이행보증금</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sng"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 </a:t>
                      </a:r>
                      <a:r>
                        <a:rPr kumimoji="0" lang="en-US" altLang="ko-KR" sz="1000" b="0" i="0" u="sng"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1000" b="0" i="0" u="sng"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kumimoji="0" lang="ko-KR" altLang="en-US" sz="1000" b="0" i="0" u="sng"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체결일 당일 반환 가능</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Refundable</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 조건으로 지급</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체결일 당일 매도인의 운영계좌로 예치하기로 함</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발생하는 이자는 매도인 귀속</a:t>
                      </a: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우선협상기간 만료</a:t>
                      </a: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및 해제 시 </a:t>
                      </a: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영업일 내 원금 반환</a:t>
                      </a:r>
                      <a:endPar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61775793"/>
                  </a:ext>
                </a:extLst>
              </a:tr>
              <a:tr h="576000">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이행보증금 반환사유</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우선협상기간 내에 본건 매매계약이 체결된 경우</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매매계약이 체결되지 아니한 채 우선협상기간이 만료되는 경우</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양해각서가 당사자간 합의로 </a:t>
                      </a:r>
                      <a:r>
                        <a:rPr kumimoji="0" lang="ko-KR" altLang="en-US" sz="1000" b="0" i="0" u="none" strike="noStrike" kern="1200" cap="none" spc="0" normalizeH="0" baseline="0" noProof="0" dirty="0" err="1">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해제∙해지</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또는 종료되는 경우</a:t>
                      </a:r>
                      <a:endPar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889113"/>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구속력 없는 양해각서 체결 및 이행보증금</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 10</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납입의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상기 양해각서의 주요내용 중 일부는 협의 과정 중 일부 변동될 수 있음</a:t>
            </a: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주요내용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51DD49AC-2147-8EF5-087F-412C1BEBF1F1}"/>
              </a:ext>
            </a:extLst>
          </p:cNvPr>
          <p:cNvGraphicFramePr>
            <a:graphicFrameLocks noGrp="1"/>
          </p:cNvGraphicFramePr>
          <p:nvPr>
            <p:extLst>
              <p:ext uri="{D42A27DB-BD31-4B8C-83A1-F6EECF244321}">
                <p14:modId xmlns:p14="http://schemas.microsoft.com/office/powerpoint/2010/main" val="3542146425"/>
              </p:ext>
            </p:extLst>
          </p:nvPr>
        </p:nvGraphicFramePr>
        <p:xfrm>
          <a:off x="521371" y="1450179"/>
          <a:ext cx="9756000" cy="4068000"/>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88000">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612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 및 자료제공</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우선협상대상자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스스로의 비용과 책임 하에 우선협상기간 중 실사 진행 </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합리적인 범위 내에서 자료 제공 및 업무 협조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31720553"/>
                  </a:ext>
                </a:extLst>
              </a:tr>
              <a:tr h="1332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해제 사유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일방 당사자의 서면 시정요구 후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영업일 내 상대 당사자의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미시정</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파산</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회생절차 개시 등 사유 발생 시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부당한 거래조건 변경 요구 시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불가항력으로 거래 진행 불가능 시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중대하자 확인 후 매매대금 조정 등 합의 실패 시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4406625"/>
                  </a:ext>
                </a:extLst>
              </a:tr>
              <a:tr h="612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비밀유지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 당사자는 협상 내용 및 제공받은 정보 기밀 유지 의무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자문기관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제공</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공지된 사실 등은 예외</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해제</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해지 또는 종료된 경우</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상대방 당사자로부터 얻은 정보는 모두 폐기하기로 함</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66969521"/>
                  </a:ext>
                </a:extLst>
              </a:tr>
              <a:tr h="612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효력 및 종료</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매매계약 체결 시</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이행보증금 상실</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반환 시</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해제 시</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우선협상기간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도과</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자동 종료 </a:t>
                      </a:r>
                      <a:endPar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latinLnBrk="1">
                        <a:lnSpc>
                          <a:spcPct val="150000"/>
                        </a:lnSpc>
                        <a:buFont typeface="Arial" panose="020B0604020202020204" pitchFamily="34" charset="0"/>
                        <a:buChar char="•"/>
                      </a:pP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 미체결로 종료 시 별도의 손해배상</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비용 보상 의무 면책</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비밀유지 및 우선협상권 위반 시 제외</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14179196"/>
                  </a:ext>
                </a:extLst>
              </a:tr>
              <a:tr h="61200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기타</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사항</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준거법</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대한민국 법률</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전속적 관할권</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서울중앙지방법원 </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서면합의 없이 변경 불가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 양도 금지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각자 비용 부담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4424737"/>
                  </a:ext>
                </a:extLst>
              </a:tr>
            </a:tbl>
          </a:graphicData>
        </a:graphic>
      </p:graphicFrame>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상기 양해각서의 주요내용 중 일부는 협의 과정 중 일부 변동될 수 있음</a:t>
            </a: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구속력 없는 양해각서 체결 및 이행보증금</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(Refundable) 10</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납입의 건</a:t>
            </a:r>
          </a:p>
        </p:txBody>
      </p:sp>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8BA9E-EE77-5CAF-1446-31001F1F2C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3098F9-805D-DFD6-C594-6119A3136287}"/>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실사업체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선정의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D84134B4-16B2-AD10-1C1C-6B7C76660E84}"/>
              </a:ext>
            </a:extLst>
          </p:cNvPr>
          <p:cNvGraphicFramePr>
            <a:graphicFrameLocks noGrp="1"/>
          </p:cNvGraphicFramePr>
          <p:nvPr>
            <p:extLst>
              <p:ext uri="{D42A27DB-BD31-4B8C-83A1-F6EECF244321}">
                <p14:modId xmlns:p14="http://schemas.microsoft.com/office/powerpoint/2010/main" val="1229374255"/>
              </p:ext>
            </p:extLst>
          </p:nvPr>
        </p:nvGraphicFramePr>
        <p:xfrm>
          <a:off x="449361" y="3126697"/>
          <a:ext cx="9793188" cy="3675511"/>
        </p:xfrm>
        <a:graphic>
          <a:graphicData uri="http://schemas.openxmlformats.org/drawingml/2006/table">
            <a:tbl>
              <a:tblPr>
                <a:tableStyleId>{5C22544A-7EE6-4342-B048-85BDC9FD1C3A}</a:tableStyleId>
              </a:tblPr>
              <a:tblGrid>
                <a:gridCol w="1152129">
                  <a:extLst>
                    <a:ext uri="{9D8B030D-6E8A-4147-A177-3AD203B41FA5}">
                      <a16:colId xmlns:a16="http://schemas.microsoft.com/office/drawing/2014/main" val="20000"/>
                    </a:ext>
                  </a:extLst>
                </a:gridCol>
                <a:gridCol w="1834703">
                  <a:extLst>
                    <a:ext uri="{9D8B030D-6E8A-4147-A177-3AD203B41FA5}">
                      <a16:colId xmlns:a16="http://schemas.microsoft.com/office/drawing/2014/main" val="20001"/>
                    </a:ext>
                  </a:extLst>
                </a:gridCol>
                <a:gridCol w="1701589">
                  <a:extLst>
                    <a:ext uri="{9D8B030D-6E8A-4147-A177-3AD203B41FA5}">
                      <a16:colId xmlns:a16="http://schemas.microsoft.com/office/drawing/2014/main" val="20002"/>
                    </a:ext>
                  </a:extLst>
                </a:gridCol>
                <a:gridCol w="1701589">
                  <a:extLst>
                    <a:ext uri="{9D8B030D-6E8A-4147-A177-3AD203B41FA5}">
                      <a16:colId xmlns:a16="http://schemas.microsoft.com/office/drawing/2014/main" val="20003"/>
                    </a:ext>
                  </a:extLst>
                </a:gridCol>
                <a:gridCol w="1701589">
                  <a:extLst>
                    <a:ext uri="{9D8B030D-6E8A-4147-A177-3AD203B41FA5}">
                      <a16:colId xmlns:a16="http://schemas.microsoft.com/office/drawing/2014/main" val="20004"/>
                    </a:ext>
                  </a:extLst>
                </a:gridCol>
                <a:gridCol w="1701589">
                  <a:extLst>
                    <a:ext uri="{9D8B030D-6E8A-4147-A177-3AD203B41FA5}">
                      <a16:colId xmlns:a16="http://schemas.microsoft.com/office/drawing/2014/main" val="20005"/>
                    </a:ext>
                  </a:extLst>
                </a:gridCol>
              </a:tblGrid>
              <a:tr h="281431">
                <a:tc>
                  <a:txBody>
                    <a:bodyPr/>
                    <a:lstStyle/>
                    <a:p>
                      <a:pPr algn="ctr" latinLnBrk="1">
                        <a:lnSpc>
                          <a:spcPct val="100000"/>
                        </a:lnSpc>
                      </a:pPr>
                      <a:r>
                        <a:rPr lang="ko-KR" altLang="en-US" sz="1050" b="0" dirty="0">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lnSpc>
                          <a:spcPct val="100000"/>
                        </a:lnSpc>
                      </a:pPr>
                      <a:r>
                        <a:rPr lang="ko-KR" altLang="en-US" sz="1050" b="0" dirty="0">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법률실사</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lnSpc>
                          <a:spcPct val="100000"/>
                        </a:lnSpc>
                      </a:pP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재무</a:t>
                      </a:r>
                      <a:r>
                        <a:rPr lang="en-US" altLang="ko-KR"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회계</a:t>
                      </a:r>
                      <a:r>
                        <a:rPr lang="en-US" altLang="ko-KR"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세무자문</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lnSpc>
                          <a:spcPct val="100000"/>
                        </a:lnSpc>
                      </a:pP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시장조사 및 컨설팅</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lnSpc>
                          <a:spcPct val="100000"/>
                        </a:lnSpc>
                      </a:pPr>
                      <a:r>
                        <a:rPr lang="ko-KR" altLang="en-US" sz="1050" b="0" dirty="0">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감정평가</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lnSpc>
                          <a:spcPct val="100000"/>
                        </a:lnSpc>
                      </a:pPr>
                      <a:r>
                        <a:rPr lang="ko-KR" altLang="en-US" sz="1050" b="0" dirty="0">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물리실사</a:t>
                      </a:r>
                    </a:p>
                  </a:txBody>
                  <a:tcPr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59511">
                <a:tc>
                  <a:txBody>
                    <a:bodyPr/>
                    <a:lstStyle/>
                    <a:p>
                      <a:pPr algn="ctr" latinLnBrk="1">
                        <a:lnSpc>
                          <a:spcPct val="100000"/>
                        </a:lnSpc>
                      </a:pPr>
                      <a:r>
                        <a:rPr lang="ko-KR" altLang="en-US" sz="1050" b="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업체명</a:t>
                      </a:r>
                      <a:endPar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r>
                        <a:rPr lang="ko-KR" altLang="en-US"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법무법인 태평양</a:t>
                      </a: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r>
                        <a:rPr lang="ko-KR" altLang="en-US" sz="10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우리회계법인</a:t>
                      </a: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50000"/>
                        </a:lnSpc>
                        <a:spcBef>
                          <a:spcPts val="0"/>
                        </a:spcBef>
                        <a:spcAft>
                          <a:spcPts val="0"/>
                        </a:spcAft>
                        <a:buClrTx/>
                        <a:buSzTx/>
                        <a:buFont typeface="Arial" pitchFamily="34" charset="0"/>
                        <a:buNone/>
                        <a:tabLst/>
                        <a:defRPr/>
                      </a:pPr>
                      <a:r>
                        <a:rPr lang="ko-KR" altLang="en-US" sz="10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세빌스</a:t>
                      </a:r>
                      <a:r>
                        <a:rPr lang="ko-KR" altLang="en-US"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코리아</a:t>
                      </a: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lang="ko-KR" altLang="en-US" sz="10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미래세한감정평가법인</a:t>
                      </a: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endPar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lang="en-US" altLang="ko-KR"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CBRE </a:t>
                      </a:r>
                      <a:r>
                        <a:rPr lang="ko-KR" altLang="en-US" sz="10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코리아</a:t>
                      </a:r>
                      <a:endParaRPr lang="en-US" altLang="ko-KR" sz="1000" baseline="300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3175"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8000">
                <a:tc>
                  <a:txBody>
                    <a:bodyPr/>
                    <a:lstStyle/>
                    <a:p>
                      <a:pPr algn="ctr" latinLnBrk="1">
                        <a:lnSpc>
                          <a:spcPct val="100000"/>
                        </a:lnSpc>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수수료</a:t>
                      </a:r>
                    </a:p>
                  </a:txBody>
                  <a:tcPr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성공보수 </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80</a:t>
                      </a: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endPar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성공보수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40</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성공보수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40</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성공보수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85</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r>
                        <a:rPr kumimoji="0" lang="en-US" altLang="ko-KR" sz="1000" b="0" i="0" u="none" strike="noStrike" kern="1200" cap="none" spc="0" normalizeH="0" baseline="3000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 typeface="Arial" pitchFamily="34" charset="0"/>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성공보수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25</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2005193">
                <a:tc>
                  <a:txBody>
                    <a:bodyPr/>
                    <a:lstStyle/>
                    <a:p>
                      <a:pPr algn="ctr" latinLnBrk="1">
                        <a:lnSpc>
                          <a:spcPct val="100000"/>
                        </a:lnSpc>
                      </a:pP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a:t>
                      </a:r>
                      <a:endParaRPr lang="en-US" altLang="ko-KR"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ctr" latinLnBrk="1">
                        <a:lnSpc>
                          <a:spcPct val="100000"/>
                        </a:lnSpc>
                      </a:pPr>
                      <a:r>
                        <a:rPr lang="ko-KR" altLang="en-US" sz="1050" b="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범위</a:t>
                      </a:r>
                    </a:p>
                  </a:txBody>
                  <a:tcPr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 및 거래</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구조 검토</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법률실사보고서</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작성</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 관련 계약서 작성</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검토 및 협의</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정관</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위탁계약 작성 및 검토</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내부 수권 절차상 필요 서류의 검토 및 거래 종결 관련 업무 지원</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기타 법적 이슈에 대한 자문</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신규자산 편입 관련 회계 및 세무 자문</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재무 구조 수립 및 재무 모델 구축</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민감도 분석</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부동산투자회사의 추정 재무제표 및 투자자 수익률 분석</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재무분석보고서 작성</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신규자산 편입 관련 </a:t>
                      </a:r>
                      <a:r>
                        <a:rPr lang="ko-KR" altLang="en-US" sz="9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국토부</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영업인가 업무 지원</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기타 발주처 의뢰사항</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투자시장 </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임대시장 분석</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대상 권역 및 물류시장 수급 현황</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전망 및 트렌드 분석</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권역별 </a:t>
                      </a:r>
                      <a:r>
                        <a:rPr lang="ko-KR" altLang="en-US" sz="9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 및 매매사례 분석</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임대가</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매매가격의 적정성 분석</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시장조사보고서 작성 및 종합의견 제시</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부동산 가치평가 </a:t>
                      </a:r>
                      <a:b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및 시가 참고</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기타 </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AMC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요청사항 지원</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건축</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기계</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9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전기</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소방 등 제반 시설물 육안 검사 및 상태 진단</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인허가 서류</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도면</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법정검사 및 유지보수 현황 검토</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시설물의 용도 적합성 및 </a:t>
                      </a:r>
                      <a:r>
                        <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CAPEX/OPEX</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예상액</a:t>
                      </a: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산출</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물리실사보고서 작성</a:t>
                      </a:r>
                      <a:endParaRPr lang="en-US" altLang="ko-KR" sz="900"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44000" marR="0" lvl="0" indent="-144000" algn="l" defTabSz="914400" rtl="0" eaLnBrk="1" fontAlgn="ctr" latinLnBrk="0" hangingPunct="1">
                        <a:lnSpc>
                          <a:spcPct val="150000"/>
                        </a:lnSpc>
                        <a:spcBef>
                          <a:spcPts val="0"/>
                        </a:spcBef>
                        <a:spcAft>
                          <a:spcPts val="0"/>
                        </a:spcAft>
                        <a:buClrTx/>
                        <a:buSzTx/>
                        <a:buFont typeface="Wingdings" pitchFamily="2" charset="2"/>
                        <a:buChar char="§"/>
                        <a:tabLst/>
                        <a:defRPr/>
                      </a:pPr>
                      <a:r>
                        <a:rPr lang="ko-KR" altLang="en-US" sz="9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소방시설 현황 보고서 작성</a:t>
                      </a:r>
                    </a:p>
                  </a:txBody>
                  <a:tcPr marL="72000" marR="0">
                    <a:lnL w="3175"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9" name="그룹 8">
            <a:extLst>
              <a:ext uri="{FF2B5EF4-FFF2-40B4-BE49-F238E27FC236}">
                <a16:creationId xmlns:a16="http://schemas.microsoft.com/office/drawing/2014/main" id="{D3091069-4BD4-CFBA-AE0A-055CDEAE32B1}"/>
              </a:ext>
            </a:extLst>
          </p:cNvPr>
          <p:cNvGrpSpPr/>
          <p:nvPr/>
        </p:nvGrpSpPr>
        <p:grpSpPr>
          <a:xfrm>
            <a:off x="458887" y="2740037"/>
            <a:ext cx="9783663" cy="247712"/>
            <a:chOff x="417444" y="1605420"/>
            <a:chExt cx="8983731" cy="247712"/>
          </a:xfrm>
        </p:grpSpPr>
        <p:sp>
          <p:nvSpPr>
            <p:cNvPr id="10" name="직사각형 9">
              <a:extLst>
                <a:ext uri="{FF2B5EF4-FFF2-40B4-BE49-F238E27FC236}">
                  <a16:creationId xmlns:a16="http://schemas.microsoft.com/office/drawing/2014/main" id="{3430933A-DD8A-55EB-2B7C-8F469012188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1" name="직선 연결선 10">
              <a:extLst>
                <a:ext uri="{FF2B5EF4-FFF2-40B4-BE49-F238E27FC236}">
                  <a16:creationId xmlns:a16="http://schemas.microsoft.com/office/drawing/2014/main" id="{9CC3F117-6541-C024-F213-EB6C955BBEB9}"/>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2" name="자유형 11">
              <a:extLst>
                <a:ext uri="{FF2B5EF4-FFF2-40B4-BE49-F238E27FC236}">
                  <a16:creationId xmlns:a16="http://schemas.microsoft.com/office/drawing/2014/main" id="{48CB3EEE-E428-C391-DF79-695D64E2287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자유형 12">
              <a:extLst>
                <a:ext uri="{FF2B5EF4-FFF2-40B4-BE49-F238E27FC236}">
                  <a16:creationId xmlns:a16="http://schemas.microsoft.com/office/drawing/2014/main" id="{D2F3045D-3528-2506-CE5E-5E5ED9EC5B8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4F8DF68D-4CE1-9073-C9B9-550906B58730}"/>
                </a:ext>
              </a:extLst>
            </p:cNvPr>
            <p:cNvSpPr txBox="1"/>
            <p:nvPr/>
          </p:nvSpPr>
          <p:spPr>
            <a:xfrm>
              <a:off x="417444" y="1652332"/>
              <a:ext cx="98133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실사업체</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선정</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안</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en-US" altLang="ko-KR"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6" name="TextBox 15">
            <a:extLst>
              <a:ext uri="{FF2B5EF4-FFF2-40B4-BE49-F238E27FC236}">
                <a16:creationId xmlns:a16="http://schemas.microsoft.com/office/drawing/2014/main" id="{E192BD06-393C-2F76-2990-07273007C8C8}"/>
              </a:ext>
            </a:extLst>
          </p:cNvPr>
          <p:cNvSpPr txBox="1"/>
          <p:nvPr/>
        </p:nvSpPr>
        <p:spPr>
          <a:xfrm>
            <a:off x="283368" y="1040097"/>
            <a:ext cx="10152063" cy="95968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업체 선정방법 </a:t>
            </a:r>
            <a:endPar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양해각서에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따른 독점적 협상기간 동안 사업타당성</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 투자조건</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기타 위험요인에 대한 분석을 위해 제반 실사 추진</a:t>
            </a:r>
            <a:endPar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실사업체는</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지명경쟁입찰을 통해 선정하였으며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실사비용은 </a:t>
            </a: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성공보수 조건으로 신규설립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리츠 자금으로 집행 예정</a:t>
            </a:r>
          </a:p>
        </p:txBody>
      </p:sp>
      <p:sp>
        <p:nvSpPr>
          <p:cNvPr id="18" name="TextBox 17">
            <a:extLst>
              <a:ext uri="{FF2B5EF4-FFF2-40B4-BE49-F238E27FC236}">
                <a16:creationId xmlns:a16="http://schemas.microsoft.com/office/drawing/2014/main" id="{FEF713B3-58C6-02D8-08D5-5CBC6C593F12}"/>
              </a:ext>
            </a:extLst>
          </p:cNvPr>
          <p:cNvSpPr txBox="1"/>
          <p:nvPr/>
        </p:nvSpPr>
        <p:spPr>
          <a:xfrm>
            <a:off x="465324" y="2002059"/>
            <a:ext cx="9777226" cy="560403"/>
          </a:xfrm>
          <a:prstGeom prst="rect">
            <a:avLst/>
          </a:prstGeom>
          <a:solidFill>
            <a:schemeClr val="bg1">
              <a:lumMod val="95000"/>
            </a:schemeClr>
          </a:solidFill>
          <a:ln>
            <a:solidFill>
              <a:schemeClr val="tx1">
                <a:lumMod val="50000"/>
                <a:lumOff val="50000"/>
              </a:schemeClr>
            </a:solidFill>
            <a:prstDash val="dash"/>
          </a:ln>
        </p:spPr>
        <p:txBody>
          <a:bodyPr wrap="square" lIns="252000" rIns="36000" rtlCol="0" anchor="ctr">
            <a:no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선정방법 </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3</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인 이상 지명경쟁입찰 </a:t>
            </a:r>
            <a:endPar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l" defTabSz="457200" rtl="0" eaLnBrk="1" fontAlgn="auto" latinLnBrk="0" hangingPunct="1">
              <a:lnSpc>
                <a:spcPct val="100000"/>
              </a:lnSpc>
              <a:spcBef>
                <a:spcPts val="0"/>
              </a:spcBef>
              <a:spcAft>
                <a:spcPts val="40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kumimoji="0" lang="ko-KR" altLang="en-US" sz="11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선정사유</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당사 리츠계약규정 제</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22</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업체의 선정</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호에 따라</a:t>
            </a:r>
            <a:r>
              <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최저가격으로 응찰한 자 </a:t>
            </a:r>
            <a:endParaRPr kumimoji="0" lang="en-US" altLang="ko-KR" sz="11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4235E795-47ED-3261-E2AA-81173EBFBAB2}"/>
              </a:ext>
            </a:extLst>
          </p:cNvPr>
          <p:cNvSpPr/>
          <p:nvPr/>
        </p:nvSpPr>
        <p:spPr>
          <a:xfrm>
            <a:off x="8860746" y="2891067"/>
            <a:ext cx="1431689" cy="240066"/>
          </a:xfrm>
          <a:prstGeom prst="rect">
            <a:avLst/>
          </a:prstGeom>
        </p:spPr>
        <p:txBody>
          <a:bodyPr wrap="square">
            <a:spAutoFit/>
          </a:bodyPr>
          <a:lstStyle/>
          <a:p>
            <a:pPr marL="0" marR="0" lvl="0" indent="0" algn="r" defTabSz="457200" rtl="0" eaLnBrk="1" fontAlgn="auto" latinLnBrk="0" hangingPunct="1">
              <a:lnSpc>
                <a:spcPct val="12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VAT</a:t>
            </a:r>
            <a:r>
              <a:rPr kumimoji="0" lang="ko-KR" altLang="en-US" sz="800" b="0" i="0" u="none" strike="noStrike" kern="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별도</a:t>
            </a:r>
            <a:r>
              <a:rPr kumimoji="0" lang="en-US" altLang="ko-KR" sz="800" b="0" i="0" u="none" strike="noStrike" kern="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성공불</a:t>
            </a:r>
            <a:r>
              <a:rPr kumimoji="0" lang="ko-KR" altLang="en-US" sz="800" b="0" i="0" u="none" strike="noStrike" kern="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조건</a:t>
            </a:r>
            <a:r>
              <a:rPr kumimoji="0" lang="en-US" altLang="ko-KR" sz="800" b="0" i="0" u="none" strike="noStrike" kern="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ko-KR" sz="800" b="0" i="0" u="none" strike="noStrike" kern="1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TextBox 20">
            <a:extLst>
              <a:ext uri="{FF2B5EF4-FFF2-40B4-BE49-F238E27FC236}">
                <a16:creationId xmlns:a16="http://schemas.microsoft.com/office/drawing/2014/main" id="{E4DBD17B-B14A-7E8B-6FA2-C92D5AC967EB}"/>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물리실사의 경우 기술팀 선정</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법률실사의 경우 법무팀 협의에 따라 선정</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감정평가 및 재무실사의 경우 </a:t>
            </a: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리츠지원팀</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협의에 따라 선정</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예상담보평가액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(3,340</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예상 할인수수료로 변동될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 name="그림 4">
            <a:extLst>
              <a:ext uri="{FF2B5EF4-FFF2-40B4-BE49-F238E27FC236}">
                <a16:creationId xmlns:a16="http://schemas.microsoft.com/office/drawing/2014/main" id="{482EE897-EAEF-3A42-9BD0-5B2CC8238A7D}"/>
              </a:ext>
            </a:extLst>
          </p:cNvPr>
          <p:cNvPicPr>
            <a:picLocks noChangeAspect="1"/>
          </p:cNvPicPr>
          <p:nvPr/>
        </p:nvPicPr>
        <p:blipFill>
          <a:blip r:embed="rId3"/>
          <a:stretch>
            <a:fillRect/>
          </a:stretch>
        </p:blipFill>
        <p:spPr>
          <a:xfrm>
            <a:off x="1817514" y="3563813"/>
            <a:ext cx="1418351" cy="275944"/>
          </a:xfrm>
          <a:prstGeom prst="rect">
            <a:avLst/>
          </a:prstGeom>
        </p:spPr>
      </p:pic>
      <p:pic>
        <p:nvPicPr>
          <p:cNvPr id="17" name="그림 16">
            <a:extLst>
              <a:ext uri="{FF2B5EF4-FFF2-40B4-BE49-F238E27FC236}">
                <a16:creationId xmlns:a16="http://schemas.microsoft.com/office/drawing/2014/main" id="{AF1EBC7D-38AA-6E4B-F0C8-F9C0C429DD1B}"/>
              </a:ext>
            </a:extLst>
          </p:cNvPr>
          <p:cNvPicPr>
            <a:picLocks noChangeAspect="1"/>
          </p:cNvPicPr>
          <p:nvPr/>
        </p:nvPicPr>
        <p:blipFill>
          <a:blip r:embed="rId4"/>
          <a:srcRect t="59476"/>
          <a:stretch>
            <a:fillRect/>
          </a:stretch>
        </p:blipFill>
        <p:spPr>
          <a:xfrm>
            <a:off x="5684301" y="3574996"/>
            <a:ext cx="661546" cy="268084"/>
          </a:xfrm>
          <a:prstGeom prst="rect">
            <a:avLst/>
          </a:prstGeom>
        </p:spPr>
      </p:pic>
      <p:pic>
        <p:nvPicPr>
          <p:cNvPr id="22" name="그림 21">
            <a:extLst>
              <a:ext uri="{FF2B5EF4-FFF2-40B4-BE49-F238E27FC236}">
                <a16:creationId xmlns:a16="http://schemas.microsoft.com/office/drawing/2014/main" id="{F4EF568E-C273-E3F6-23BB-0512C04F0D99}"/>
              </a:ext>
            </a:extLst>
          </p:cNvPr>
          <p:cNvPicPr>
            <a:picLocks noChangeAspect="1"/>
          </p:cNvPicPr>
          <p:nvPr/>
        </p:nvPicPr>
        <p:blipFill>
          <a:blip r:embed="rId5"/>
          <a:stretch>
            <a:fillRect/>
          </a:stretch>
        </p:blipFill>
        <p:spPr>
          <a:xfrm>
            <a:off x="9018314" y="3574996"/>
            <a:ext cx="774436" cy="191373"/>
          </a:xfrm>
          <a:prstGeom prst="rect">
            <a:avLst/>
          </a:prstGeom>
        </p:spPr>
      </p:pic>
      <p:pic>
        <p:nvPicPr>
          <p:cNvPr id="24" name="그림 23">
            <a:extLst>
              <a:ext uri="{FF2B5EF4-FFF2-40B4-BE49-F238E27FC236}">
                <a16:creationId xmlns:a16="http://schemas.microsoft.com/office/drawing/2014/main" id="{AD291762-9E94-47D7-EFD1-07BD023A431E}"/>
              </a:ext>
            </a:extLst>
          </p:cNvPr>
          <p:cNvPicPr>
            <a:picLocks noChangeAspect="1"/>
          </p:cNvPicPr>
          <p:nvPr/>
        </p:nvPicPr>
        <p:blipFill>
          <a:blip r:embed="rId6"/>
          <a:stretch>
            <a:fillRect/>
          </a:stretch>
        </p:blipFill>
        <p:spPr>
          <a:xfrm>
            <a:off x="3589161" y="3563814"/>
            <a:ext cx="1418352" cy="273779"/>
          </a:xfrm>
          <a:prstGeom prst="rect">
            <a:avLst/>
          </a:prstGeom>
        </p:spPr>
      </p:pic>
      <p:pic>
        <p:nvPicPr>
          <p:cNvPr id="27" name="그림 26">
            <a:extLst>
              <a:ext uri="{FF2B5EF4-FFF2-40B4-BE49-F238E27FC236}">
                <a16:creationId xmlns:a16="http://schemas.microsoft.com/office/drawing/2014/main" id="{75E02701-347E-00FC-185B-104F4D677A6A}"/>
              </a:ext>
            </a:extLst>
          </p:cNvPr>
          <p:cNvPicPr>
            <a:picLocks noChangeAspect="1"/>
          </p:cNvPicPr>
          <p:nvPr/>
        </p:nvPicPr>
        <p:blipFill>
          <a:blip r:embed="rId7"/>
          <a:stretch>
            <a:fillRect/>
          </a:stretch>
        </p:blipFill>
        <p:spPr>
          <a:xfrm>
            <a:off x="7074098" y="3580863"/>
            <a:ext cx="1279493" cy="268084"/>
          </a:xfrm>
          <a:prstGeom prst="rect">
            <a:avLst/>
          </a:prstGeom>
        </p:spPr>
      </p:pic>
    </p:spTree>
    <p:extLst>
      <p:ext uri="{BB962C8B-B14F-4D97-AF65-F5344CB8AC3E}">
        <p14:creationId xmlns:p14="http://schemas.microsoft.com/office/powerpoint/2010/main" val="305592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표 14">
            <a:extLst>
              <a:ext uri="{FF2B5EF4-FFF2-40B4-BE49-F238E27FC236}">
                <a16:creationId xmlns:a16="http://schemas.microsoft.com/office/drawing/2014/main" id="{89846E75-DEA6-B162-8E13-87E1CA26B8B1}"/>
              </a:ext>
            </a:extLst>
          </p:cNvPr>
          <p:cNvGraphicFramePr>
            <a:graphicFrameLocks noGrp="1"/>
          </p:cNvGraphicFramePr>
          <p:nvPr/>
        </p:nvGraphicFramePr>
        <p:xfrm>
          <a:off x="5553273" y="3779785"/>
          <a:ext cx="4464000" cy="86400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509141805"/>
                    </a:ext>
                  </a:extLst>
                </a:gridCol>
                <a:gridCol w="1116000">
                  <a:extLst>
                    <a:ext uri="{9D8B030D-6E8A-4147-A177-3AD203B41FA5}">
                      <a16:colId xmlns:a16="http://schemas.microsoft.com/office/drawing/2014/main" val="3057522903"/>
                    </a:ext>
                  </a:extLst>
                </a:gridCol>
                <a:gridCol w="1116000">
                  <a:extLst>
                    <a:ext uri="{9D8B030D-6E8A-4147-A177-3AD203B41FA5}">
                      <a16:colId xmlns:a16="http://schemas.microsoft.com/office/drawing/2014/main" val="428364028"/>
                    </a:ext>
                  </a:extLst>
                </a:gridCol>
                <a:gridCol w="1116000">
                  <a:extLst>
                    <a:ext uri="{9D8B030D-6E8A-4147-A177-3AD203B41FA5}">
                      <a16:colId xmlns:a16="http://schemas.microsoft.com/office/drawing/2014/main" val="1897112272"/>
                    </a:ext>
                  </a:extLst>
                </a:gridCol>
              </a:tblGrid>
              <a:tr h="288000">
                <a:tc>
                  <a:txBody>
                    <a:bodyPr/>
                    <a:lstStyle/>
                    <a:p>
                      <a:pPr marL="0" algn="ctr" defTabSz="914400" rtl="0" eaLnBrk="1" fontAlgn="ctr" latinLnBrk="1" hangingPunct="1">
                        <a:lnSpc>
                          <a:spcPct val="100000"/>
                        </a:lnSpc>
                      </a:pPr>
                      <a:r>
                        <a:rPr kumimoji="0" lang="ko-KR" altLang="en-US" sz="1000" b="0" kern="1200" spc="0" baseline="0" dirty="0">
                          <a:ln>
                            <a:solidFill>
                              <a:schemeClr val="bg1">
                                <a:alpha val="0"/>
                              </a:schemeClr>
                            </a:solidFill>
                          </a:ln>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marL="0" marR="0" marT="36000" marB="36000"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kern="1200" spc="0" baseline="0" dirty="0" err="1">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세빌스</a:t>
                      </a:r>
                      <a:endParaRPr kumimoji="0" lang="en-US" altLang="ko-KR" sz="1000" b="0"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팍스컴퍼니</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46251244"/>
                  </a:ext>
                </a:extLst>
              </a:tr>
              <a:tr h="288000">
                <a:tc>
                  <a:txBody>
                    <a:bodyPr/>
                    <a:lstStyle/>
                    <a:p>
                      <a:pPr marL="0" algn="ctr" defTabSz="914400" rtl="0" eaLnBrk="1" fontAlgn="ctr" latinLnBrk="1" hangingPunct="1">
                        <a:lnSpc>
                          <a:spcPct val="100000"/>
                        </a:lnSpc>
                      </a:pPr>
                      <a:r>
                        <a:rPr kumimoji="0" lang="ko-KR" altLang="en-US" sz="1000" b="1" kern="1200" spc="0" baseline="0" dirty="0" err="1">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제안가격</a:t>
                      </a:r>
                      <a:endPar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842037"/>
                  </a:ext>
                </a:extLst>
              </a:tr>
              <a:tr h="288000">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 주요내용</a:t>
                      </a: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79290"/>
                  </a:ext>
                </a:extLst>
              </a:tr>
            </a:tbl>
          </a:graphicData>
        </a:graphic>
      </p:graphicFrame>
      <p:graphicFrame>
        <p:nvGraphicFramePr>
          <p:cNvPr id="14" name="표 13">
            <a:extLst>
              <a:ext uri="{FF2B5EF4-FFF2-40B4-BE49-F238E27FC236}">
                <a16:creationId xmlns:a16="http://schemas.microsoft.com/office/drawing/2014/main" id="{28906DAE-290D-EF5C-4F4D-EFED74251E91}"/>
              </a:ext>
            </a:extLst>
          </p:cNvPr>
          <p:cNvGraphicFramePr>
            <a:graphicFrameLocks noGrp="1"/>
          </p:cNvGraphicFramePr>
          <p:nvPr/>
        </p:nvGraphicFramePr>
        <p:xfrm>
          <a:off x="5562625" y="2101584"/>
          <a:ext cx="4464000" cy="86400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509141805"/>
                    </a:ext>
                  </a:extLst>
                </a:gridCol>
                <a:gridCol w="1116000">
                  <a:extLst>
                    <a:ext uri="{9D8B030D-6E8A-4147-A177-3AD203B41FA5}">
                      <a16:colId xmlns:a16="http://schemas.microsoft.com/office/drawing/2014/main" val="3057522903"/>
                    </a:ext>
                  </a:extLst>
                </a:gridCol>
                <a:gridCol w="1116000">
                  <a:extLst>
                    <a:ext uri="{9D8B030D-6E8A-4147-A177-3AD203B41FA5}">
                      <a16:colId xmlns:a16="http://schemas.microsoft.com/office/drawing/2014/main" val="428364028"/>
                    </a:ext>
                  </a:extLst>
                </a:gridCol>
                <a:gridCol w="1116000">
                  <a:extLst>
                    <a:ext uri="{9D8B030D-6E8A-4147-A177-3AD203B41FA5}">
                      <a16:colId xmlns:a16="http://schemas.microsoft.com/office/drawing/2014/main" val="1897112272"/>
                    </a:ext>
                  </a:extLst>
                </a:gridCol>
              </a:tblGrid>
              <a:tr h="288000">
                <a:tc>
                  <a:txBody>
                    <a:bodyPr/>
                    <a:lstStyle/>
                    <a:p>
                      <a:pPr marL="0" algn="ctr" defTabSz="914400" rtl="0" eaLnBrk="1" fontAlgn="ctr" latinLnBrk="1" hangingPunct="1">
                        <a:lnSpc>
                          <a:spcPct val="100000"/>
                        </a:lnSpc>
                      </a:pPr>
                      <a:r>
                        <a:rPr kumimoji="0" lang="ko-KR" altLang="en-US" sz="1000" b="0" kern="1200" spc="0" baseline="0" dirty="0">
                          <a:ln>
                            <a:solidFill>
                              <a:schemeClr val="bg1">
                                <a:alpha val="0"/>
                              </a:schemeClr>
                            </a:solidFill>
                          </a:ln>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marL="0" marR="0" marT="36000" marB="36000"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kern="1200" spc="0" baseline="0" dirty="0" err="1">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우리회계법인</a:t>
                      </a:r>
                      <a:endParaRPr kumimoji="0" lang="en-US" altLang="ko-KR" sz="1000" b="0"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이촌회계법인</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삼덕회계법인</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46251244"/>
                  </a:ext>
                </a:extLst>
              </a:tr>
              <a:tr h="288000">
                <a:tc>
                  <a:txBody>
                    <a:bodyPr/>
                    <a:lstStyle/>
                    <a:p>
                      <a:pPr marL="0" algn="ctr" defTabSz="914400" rtl="0" eaLnBrk="1" fontAlgn="ctr" latinLnBrk="1" hangingPunct="1">
                        <a:lnSpc>
                          <a:spcPct val="100000"/>
                        </a:lnSpc>
                      </a:pPr>
                      <a:r>
                        <a:rPr kumimoji="0" lang="ko-KR" altLang="en-US" sz="1000" b="1" kern="1200" spc="0" baseline="0" dirty="0" err="1">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제안가격</a:t>
                      </a:r>
                      <a:endPar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65,000,000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842037"/>
                  </a:ext>
                </a:extLst>
              </a:tr>
              <a:tr h="288000">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 주요내용</a:t>
                      </a: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79290"/>
                  </a:ext>
                </a:extLst>
              </a:tr>
            </a:tbl>
          </a:graphicData>
        </a:graphic>
      </p:graphicFrame>
      <p:grpSp>
        <p:nvGrpSpPr>
          <p:cNvPr id="2" name="그룹 1"/>
          <p:cNvGrpSpPr/>
          <p:nvPr/>
        </p:nvGrpSpPr>
        <p:grpSpPr>
          <a:xfrm>
            <a:off x="458887" y="1079500"/>
            <a:ext cx="9783663" cy="247712"/>
            <a:chOff x="417444" y="1605420"/>
            <a:chExt cx="8983731" cy="247712"/>
          </a:xfrm>
        </p:grpSpPr>
        <p:sp>
          <p:nvSpPr>
            <p:cNvPr id="3" name="직사각형 2"/>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p:cNvSpPr txBox="1"/>
            <p:nvPr/>
          </p:nvSpPr>
          <p:spPr>
            <a:xfrm>
              <a:off x="417444" y="1652332"/>
              <a:ext cx="838553"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자문사</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선정근거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p:cNvGrpSpPr/>
          <p:nvPr/>
        </p:nvGrpSpPr>
        <p:grpSpPr>
          <a:xfrm>
            <a:off x="5461441" y="3203773"/>
            <a:ext cx="707245" cy="246221"/>
            <a:chOff x="455544" y="-592941"/>
            <a:chExt cx="707245" cy="246221"/>
          </a:xfrm>
        </p:grpSpPr>
        <p:sp>
          <p:nvSpPr>
            <p:cNvPr id="11" name="TextBox 10"/>
            <p:cNvSpPr txBox="1"/>
            <p:nvPr/>
          </p:nvSpPr>
          <p:spPr>
            <a:xfrm>
              <a:off x="455544" y="-592941"/>
              <a:ext cx="707245" cy="246221"/>
            </a:xfrm>
            <a:prstGeom prst="rect">
              <a:avLst/>
            </a:prstGeom>
            <a:solidFill>
              <a:schemeClr val="bg1"/>
            </a:solidFill>
          </p:spPr>
          <p:txBody>
            <a:bodyPr wrap="none" rtlCol="0">
              <a:spAutoFit/>
            </a:bodyPr>
            <a:lstStyle/>
            <a:p>
              <a:pPr lvl="0">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시장</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2" name="직사각형 11"/>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33" name="직사각형 32"/>
          <p:cNvSpPr/>
          <p:nvPr/>
        </p:nvSpPr>
        <p:spPr>
          <a:xfrm>
            <a:off x="5556746" y="3460424"/>
            <a:ext cx="4464000" cy="276999"/>
          </a:xfrm>
          <a:prstGeom prst="rect">
            <a:avLst/>
          </a:prstGeom>
        </p:spPr>
        <p:txBody>
          <a:bodyPr wrap="square">
            <a:spAutoFit/>
          </a:bodyPr>
          <a:lstStyle/>
          <a:p>
            <a:pPr marL="171450" lvl="0" indent="-171450">
              <a:lnSpc>
                <a:spcPct val="120000"/>
              </a:lnSpc>
              <a:buFont typeface="Arial" panose="020B0604020202020204" pitchFamily="34" charset="0"/>
              <a:buChar char="•"/>
              <a:defRPr/>
            </a:pP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업무수행능력이 있는 </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업체의 제안서 수령</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 제안 업체를 선정</a:t>
            </a:r>
            <a:endPar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79" name="표 78"/>
          <p:cNvGraphicFramePr>
            <a:graphicFrameLocks noGrp="1"/>
          </p:cNvGraphicFramePr>
          <p:nvPr/>
        </p:nvGraphicFramePr>
        <p:xfrm>
          <a:off x="657863" y="2101584"/>
          <a:ext cx="4464000" cy="86400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509141805"/>
                    </a:ext>
                  </a:extLst>
                </a:gridCol>
                <a:gridCol w="1116000">
                  <a:extLst>
                    <a:ext uri="{9D8B030D-6E8A-4147-A177-3AD203B41FA5}">
                      <a16:colId xmlns:a16="http://schemas.microsoft.com/office/drawing/2014/main" val="3057522903"/>
                    </a:ext>
                  </a:extLst>
                </a:gridCol>
                <a:gridCol w="1116000">
                  <a:extLst>
                    <a:ext uri="{9D8B030D-6E8A-4147-A177-3AD203B41FA5}">
                      <a16:colId xmlns:a16="http://schemas.microsoft.com/office/drawing/2014/main" val="428364028"/>
                    </a:ext>
                  </a:extLst>
                </a:gridCol>
                <a:gridCol w="1116000">
                  <a:extLst>
                    <a:ext uri="{9D8B030D-6E8A-4147-A177-3AD203B41FA5}">
                      <a16:colId xmlns:a16="http://schemas.microsoft.com/office/drawing/2014/main" val="1897112272"/>
                    </a:ext>
                  </a:extLst>
                </a:gridCol>
              </a:tblGrid>
              <a:tr h="288000">
                <a:tc>
                  <a:txBody>
                    <a:bodyPr/>
                    <a:lstStyle/>
                    <a:p>
                      <a:pPr marL="0" algn="ctr" defTabSz="914400" rtl="0" eaLnBrk="1" fontAlgn="ctr" latinLnBrk="1" hangingPunct="1">
                        <a:lnSpc>
                          <a:spcPct val="100000"/>
                        </a:lnSpc>
                      </a:pPr>
                      <a:r>
                        <a:rPr kumimoji="0" lang="ko-KR" altLang="en-US" sz="1000" b="0" kern="1200" spc="0" baseline="0" dirty="0">
                          <a:ln>
                            <a:solidFill>
                              <a:schemeClr val="bg1">
                                <a:alpha val="0"/>
                              </a:schemeClr>
                            </a:solidFill>
                          </a:ln>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marL="0" marR="0" marT="36000" marB="36000"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법무법인 태평양 </a:t>
                      </a:r>
                      <a:endParaRPr kumimoji="0" lang="en-US" altLang="ko-KR" sz="1000" b="0"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법무법인 </a:t>
                      </a: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에이원</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법무법인 </a:t>
                      </a: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예헌</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46251244"/>
                  </a:ext>
                </a:extLst>
              </a:tr>
              <a:tr h="288000">
                <a:tc>
                  <a:txBody>
                    <a:bodyPr/>
                    <a:lstStyle/>
                    <a:p>
                      <a:pPr marL="0" algn="ctr" defTabSz="914400" rtl="0" eaLnBrk="1" fontAlgn="ctr" latinLnBrk="1" hangingPunct="1">
                        <a:lnSpc>
                          <a:spcPct val="100000"/>
                        </a:lnSpc>
                      </a:pPr>
                      <a:r>
                        <a:rPr kumimoji="0" lang="ko-KR" altLang="en-US" sz="1000" b="1" kern="1200" spc="0" baseline="0" dirty="0" err="1">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제안가격</a:t>
                      </a:r>
                      <a:endPar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90,000,000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842037"/>
                  </a:ext>
                </a:extLst>
              </a:tr>
              <a:tr h="288000">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 주요내용</a:t>
                      </a: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79290"/>
                  </a:ext>
                </a:extLst>
              </a:tr>
            </a:tbl>
          </a:graphicData>
        </a:graphic>
      </p:graphicFrame>
      <p:grpSp>
        <p:nvGrpSpPr>
          <p:cNvPr id="80" name="그룹 79"/>
          <p:cNvGrpSpPr/>
          <p:nvPr/>
        </p:nvGrpSpPr>
        <p:grpSpPr>
          <a:xfrm>
            <a:off x="557374" y="1544913"/>
            <a:ext cx="1965603" cy="246221"/>
            <a:chOff x="455544" y="-592941"/>
            <a:chExt cx="1965603" cy="246221"/>
          </a:xfrm>
        </p:grpSpPr>
        <p:sp>
          <p:nvSpPr>
            <p:cNvPr id="81" name="TextBox 80"/>
            <p:cNvSpPr txBox="1"/>
            <p:nvPr/>
          </p:nvSpPr>
          <p:spPr>
            <a:xfrm>
              <a:off x="455544" y="-592941"/>
              <a:ext cx="196560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법률실사</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법무팀</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업체선정 협의</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2" name="직사각형 81"/>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83" name="직사각형 82"/>
          <p:cNvSpPr/>
          <p:nvPr/>
        </p:nvSpPr>
        <p:spPr>
          <a:xfrm>
            <a:off x="652679" y="1801564"/>
            <a:ext cx="4214141" cy="276999"/>
          </a:xfrm>
          <a:prstGeom prst="rect">
            <a:avLst/>
          </a:prstGeom>
        </p:spPr>
        <p:txBody>
          <a:bodyPr wrap="square">
            <a:spAutoFit/>
          </a:bodyPr>
          <a:lstStyle/>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업무수행능력이 있는 </a:t>
            </a: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업체의 제안서 수령</a:t>
            </a: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 제안 업체를 선정</a:t>
            </a:r>
            <a:endPar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85" name="그룹 84"/>
          <p:cNvGrpSpPr/>
          <p:nvPr/>
        </p:nvGrpSpPr>
        <p:grpSpPr>
          <a:xfrm>
            <a:off x="5453918" y="1549536"/>
            <a:ext cx="2494594" cy="246221"/>
            <a:chOff x="455544" y="-592941"/>
            <a:chExt cx="2494594" cy="246221"/>
          </a:xfrm>
        </p:grpSpPr>
        <p:sp>
          <p:nvSpPr>
            <p:cNvPr id="86" name="TextBox 85"/>
            <p:cNvSpPr txBox="1"/>
            <p:nvPr/>
          </p:nvSpPr>
          <p:spPr>
            <a:xfrm>
              <a:off x="455544" y="-592941"/>
              <a:ext cx="249459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재무</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회계</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리츠지원팀</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업체선정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협의</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7" name="직사각형 86"/>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88" name="직사각형 87"/>
          <p:cNvSpPr/>
          <p:nvPr/>
        </p:nvSpPr>
        <p:spPr>
          <a:xfrm>
            <a:off x="5549223" y="1806187"/>
            <a:ext cx="4214141" cy="276999"/>
          </a:xfrm>
          <a:prstGeom prst="rect">
            <a:avLst/>
          </a:prstGeom>
        </p:spPr>
        <p:txBody>
          <a:bodyPr wrap="square">
            <a:spAutoFit/>
          </a:bodyPr>
          <a:lstStyle/>
          <a:p>
            <a:pPr marL="171450" lvl="0" indent="-171450">
              <a:lnSpc>
                <a:spcPct val="120000"/>
              </a:lnSpc>
              <a:buFont typeface="Arial" panose="020B0604020202020204" pitchFamily="34" charset="0"/>
              <a:buChar char="•"/>
              <a:defRPr/>
            </a:pP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업무수행능력이 있는 </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업체의 제안서 수령</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 제안 업체를 선정</a:t>
            </a:r>
            <a:endPar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89" name="표 88"/>
          <p:cNvGraphicFramePr>
            <a:graphicFrameLocks noGrp="1"/>
          </p:cNvGraphicFramePr>
          <p:nvPr>
            <p:extLst>
              <p:ext uri="{D42A27DB-BD31-4B8C-83A1-F6EECF244321}">
                <p14:modId xmlns:p14="http://schemas.microsoft.com/office/powerpoint/2010/main" val="1471096061"/>
              </p:ext>
            </p:extLst>
          </p:nvPr>
        </p:nvGraphicFramePr>
        <p:xfrm>
          <a:off x="585855" y="5605313"/>
          <a:ext cx="4464000" cy="86400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509141805"/>
                    </a:ext>
                  </a:extLst>
                </a:gridCol>
                <a:gridCol w="1116000">
                  <a:extLst>
                    <a:ext uri="{9D8B030D-6E8A-4147-A177-3AD203B41FA5}">
                      <a16:colId xmlns:a16="http://schemas.microsoft.com/office/drawing/2014/main" val="3057522903"/>
                    </a:ext>
                  </a:extLst>
                </a:gridCol>
                <a:gridCol w="1116000">
                  <a:extLst>
                    <a:ext uri="{9D8B030D-6E8A-4147-A177-3AD203B41FA5}">
                      <a16:colId xmlns:a16="http://schemas.microsoft.com/office/drawing/2014/main" val="428364028"/>
                    </a:ext>
                  </a:extLst>
                </a:gridCol>
                <a:gridCol w="1116000">
                  <a:extLst>
                    <a:ext uri="{9D8B030D-6E8A-4147-A177-3AD203B41FA5}">
                      <a16:colId xmlns:a16="http://schemas.microsoft.com/office/drawing/2014/main" val="1897112272"/>
                    </a:ext>
                  </a:extLst>
                </a:gridCol>
              </a:tblGrid>
              <a:tr h="288000">
                <a:tc>
                  <a:txBody>
                    <a:bodyPr/>
                    <a:lstStyle/>
                    <a:p>
                      <a:pPr marL="0" algn="ctr" defTabSz="914400" rtl="0" eaLnBrk="1" fontAlgn="ctr" latinLnBrk="1" hangingPunct="1">
                        <a:lnSpc>
                          <a:spcPct val="100000"/>
                        </a:lnSpc>
                      </a:pPr>
                      <a:r>
                        <a:rPr kumimoji="0" lang="ko-KR" altLang="en-US" sz="1000" b="0" kern="1200" spc="0" baseline="0" dirty="0">
                          <a:ln>
                            <a:solidFill>
                              <a:schemeClr val="bg1">
                                <a:alpha val="0"/>
                              </a:schemeClr>
                            </a:solidFill>
                          </a:ln>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marL="0" marR="0" marT="36000" marB="36000"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미래세한</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나라감정</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삼창감정</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46251244"/>
                  </a:ext>
                </a:extLst>
              </a:tr>
              <a:tr h="288000">
                <a:tc>
                  <a:txBody>
                    <a:bodyPr/>
                    <a:lstStyle/>
                    <a:p>
                      <a:pPr marL="0" algn="ctr" defTabSz="914400" rtl="0" eaLnBrk="1" fontAlgn="ctr" latinLnBrk="1" hangingPunct="1">
                        <a:lnSpc>
                          <a:spcPct val="100000"/>
                        </a:lnSpc>
                      </a:pPr>
                      <a:r>
                        <a:rPr kumimoji="0" lang="ko-KR" altLang="en-US" sz="1000" b="1" kern="1200" spc="0" baseline="0" dirty="0" err="1">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제안가격</a:t>
                      </a:r>
                      <a:endPar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85,315,100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102,966,500</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100,024,600</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842037"/>
                  </a:ext>
                </a:extLst>
              </a:tr>
              <a:tr h="288000">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 주요내용</a:t>
                      </a: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성공불 조건</a:t>
                      </a:r>
                      <a:endPar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조건</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79290"/>
                  </a:ext>
                </a:extLst>
              </a:tr>
            </a:tbl>
          </a:graphicData>
        </a:graphic>
      </p:graphicFrame>
      <p:grpSp>
        <p:nvGrpSpPr>
          <p:cNvPr id="90" name="그룹 89"/>
          <p:cNvGrpSpPr/>
          <p:nvPr/>
        </p:nvGrpSpPr>
        <p:grpSpPr>
          <a:xfrm>
            <a:off x="485366" y="5035354"/>
            <a:ext cx="2190023" cy="246221"/>
            <a:chOff x="455544" y="-592941"/>
            <a:chExt cx="2190023" cy="246221"/>
          </a:xfrm>
        </p:grpSpPr>
        <p:sp>
          <p:nvSpPr>
            <p:cNvPr id="91" name="TextBox 90"/>
            <p:cNvSpPr txBox="1"/>
            <p:nvPr/>
          </p:nvSpPr>
          <p:spPr>
            <a:xfrm>
              <a:off x="455544" y="-592941"/>
              <a:ext cx="219002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리츠지원팀</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업체선정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협의</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92" name="직사각형 91"/>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3" name="직사각형 92"/>
          <p:cNvSpPr/>
          <p:nvPr/>
        </p:nvSpPr>
        <p:spPr>
          <a:xfrm>
            <a:off x="580671" y="5292005"/>
            <a:ext cx="4214141" cy="276999"/>
          </a:xfrm>
          <a:prstGeom prst="rect">
            <a:avLst/>
          </a:prstGeom>
        </p:spPr>
        <p:txBody>
          <a:bodyPr wrap="square">
            <a:spAutoFit/>
          </a:bodyPr>
          <a:lstStyle/>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업무수행능력이 있는 </a:t>
            </a: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업체의 제안서 수령</a:t>
            </a: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 제안 업체를 선정</a:t>
            </a:r>
            <a:endPar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94" name="표 93"/>
          <p:cNvGraphicFramePr>
            <a:graphicFrameLocks noGrp="1"/>
          </p:cNvGraphicFramePr>
          <p:nvPr/>
        </p:nvGraphicFramePr>
        <p:xfrm>
          <a:off x="615002" y="3785662"/>
          <a:ext cx="4464000" cy="858123"/>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509141805"/>
                    </a:ext>
                  </a:extLst>
                </a:gridCol>
                <a:gridCol w="1116000">
                  <a:extLst>
                    <a:ext uri="{9D8B030D-6E8A-4147-A177-3AD203B41FA5}">
                      <a16:colId xmlns:a16="http://schemas.microsoft.com/office/drawing/2014/main" val="3057522903"/>
                    </a:ext>
                  </a:extLst>
                </a:gridCol>
                <a:gridCol w="1116000">
                  <a:extLst>
                    <a:ext uri="{9D8B030D-6E8A-4147-A177-3AD203B41FA5}">
                      <a16:colId xmlns:a16="http://schemas.microsoft.com/office/drawing/2014/main" val="428364028"/>
                    </a:ext>
                  </a:extLst>
                </a:gridCol>
                <a:gridCol w="1116000">
                  <a:extLst>
                    <a:ext uri="{9D8B030D-6E8A-4147-A177-3AD203B41FA5}">
                      <a16:colId xmlns:a16="http://schemas.microsoft.com/office/drawing/2014/main" val="1897112272"/>
                    </a:ext>
                  </a:extLst>
                </a:gridCol>
              </a:tblGrid>
              <a:tr h="269062">
                <a:tc>
                  <a:txBody>
                    <a:bodyPr/>
                    <a:lstStyle/>
                    <a:p>
                      <a:pPr marL="0" algn="ctr" defTabSz="914400" rtl="0" eaLnBrk="1" fontAlgn="ctr" latinLnBrk="1" hangingPunct="1">
                        <a:lnSpc>
                          <a:spcPct val="100000"/>
                        </a:lnSpc>
                      </a:pPr>
                      <a:r>
                        <a:rPr kumimoji="0" lang="ko-KR" altLang="en-US" sz="1000" b="0" strike="noStrike" kern="1200" spc="0" baseline="0" dirty="0">
                          <a:ln>
                            <a:solidFill>
                              <a:schemeClr val="bg1">
                                <a:alpha val="0"/>
                              </a:schemeClr>
                            </a:solidFill>
                          </a:ln>
                          <a:solidFill>
                            <a:sysClr val="windowText" lastClr="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구분</a:t>
                      </a:r>
                    </a:p>
                  </a:txBody>
                  <a:tcPr marL="0" marR="0" marT="36000" marB="36000" anchor="ctr">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en-US" altLang="ko-KR" sz="1000" b="0" strike="noStrike"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CBRE</a:t>
                      </a: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strike="noStrike" kern="1200" spc="0" baseline="0" dirty="0" err="1">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젠스타메이트</a:t>
                      </a:r>
                      <a:endParaRPr kumimoji="0" lang="en-US" altLang="ko-KR" sz="1000" b="0" strike="noStrike"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fontAlgn="ctr" latinLnBrk="1" hangingPunct="1">
                        <a:lnSpc>
                          <a:spcPct val="100000"/>
                        </a:lnSpc>
                      </a:pPr>
                      <a:r>
                        <a:rPr kumimoji="0" lang="ko-KR" altLang="en-US" sz="1000" b="0" strike="noStrike" kern="1200" spc="0" baseline="0" dirty="0" err="1">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세빌스</a:t>
                      </a:r>
                      <a:endParaRPr kumimoji="0" lang="en-US" altLang="ko-KR" sz="1000" b="0" strike="noStrike" kern="1200" spc="0" baseline="0" dirty="0">
                        <a:ln>
                          <a:solidFill>
                            <a:schemeClr val="bg1">
                              <a:alpha val="0"/>
                            </a:schemeClr>
                          </a:solidFill>
                        </a:ln>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46251244"/>
                  </a:ext>
                </a:extLst>
              </a:tr>
              <a:tr h="269062">
                <a:tc>
                  <a:txBody>
                    <a:bodyPr/>
                    <a:lstStyle/>
                    <a:p>
                      <a:pPr marL="0" algn="ctr" defTabSz="914400" rtl="0" eaLnBrk="1" fontAlgn="ctr" latinLnBrk="1" hangingPunct="1">
                        <a:lnSpc>
                          <a:spcPct val="100000"/>
                        </a:lnSpc>
                      </a:pPr>
                      <a:r>
                        <a:rPr kumimoji="0" lang="ko-KR" altLang="en-US" sz="1000" b="1" kern="1200" spc="0" baseline="0" dirty="0" err="1">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제안가격</a:t>
                      </a:r>
                      <a:endPar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25,000,000</a:t>
                      </a:r>
                      <a:endParaRPr lang="ko-KR" altLang="en-US" sz="1000" b="0" i="0" u="none" strike="noStrike" spc="-20" baseline="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35,000,000</a:t>
                      </a:r>
                      <a:endParaRPr lang="ko-KR" altLang="en-US" sz="1000" b="0" i="0" u="none" strike="noStrike" spc="-20" baseline="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1000" b="0" i="0" u="none" strike="noStrike" spc="-20" baseline="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50,000,000</a:t>
                      </a:r>
                      <a:endParaRPr lang="ko-KR" altLang="en-US" sz="1000" b="0" i="0" u="none" strike="noStrike" spc="-20" baseline="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842037"/>
                  </a:ext>
                </a:extLst>
              </a:tr>
              <a:tr h="319999">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kumimoji="0" lang="ko-KR" altLang="en-US" sz="1000" b="1" kern="1200" spc="0" baseline="0" dirty="0">
                          <a:ln>
                            <a:solidFill>
                              <a:schemeClr val="bg1">
                                <a:alpha val="0"/>
                              </a:schemeClr>
                            </a:solidFill>
                          </a:ln>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제안 주요내용</a:t>
                      </a:r>
                    </a:p>
                  </a:txBody>
                  <a:tcPr marL="0" marR="0" marT="36000" marB="3600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성공불</a:t>
                      </a:r>
                      <a:r>
                        <a:rPr kumimoji="0" lang="ko-KR" altLang="en-US"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조건</a:t>
                      </a:r>
                      <a:endParaRPr kumimoji="0" lang="en-US" altLang="ko-KR" sz="1000" b="0" i="0" u="none" strike="noStrike" kern="1200" cap="none" spc="0" normalizeH="0" baseline="0" noProof="0" dirty="0">
                        <a:ln>
                          <a:solidFill>
                            <a:prstClr val="white">
                              <a:alpha val="0"/>
                            </a:prstClr>
                          </a:solid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36000" marB="3600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79290"/>
                  </a:ext>
                </a:extLst>
              </a:tr>
            </a:tbl>
          </a:graphicData>
        </a:graphic>
      </p:graphicFrame>
      <p:grpSp>
        <p:nvGrpSpPr>
          <p:cNvPr id="95" name="그룹 94"/>
          <p:cNvGrpSpPr/>
          <p:nvPr/>
        </p:nvGrpSpPr>
        <p:grpSpPr>
          <a:xfrm>
            <a:off x="557374" y="3203600"/>
            <a:ext cx="1965603" cy="246221"/>
            <a:chOff x="455544" y="-592941"/>
            <a:chExt cx="1965603" cy="246221"/>
          </a:xfrm>
        </p:grpSpPr>
        <p:sp>
          <p:nvSpPr>
            <p:cNvPr id="96" name="TextBox 95"/>
            <p:cNvSpPr txBox="1"/>
            <p:nvPr/>
          </p:nvSpPr>
          <p:spPr>
            <a:xfrm>
              <a:off x="455544" y="-592941"/>
              <a:ext cx="196560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물리실사</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기술실</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업체선정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협의</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97" name="직사각형 96"/>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03" name="직사각형 102"/>
          <p:cNvSpPr/>
          <p:nvPr/>
        </p:nvSpPr>
        <p:spPr>
          <a:xfrm>
            <a:off x="1771985" y="2097121"/>
            <a:ext cx="1116124" cy="864000"/>
          </a:xfrm>
          <a:prstGeom prst="rect">
            <a:avLst/>
          </a:prstGeom>
          <a:noFill/>
          <a:ln w="19050">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4" name="직사각형 103"/>
          <p:cNvSpPr/>
          <p:nvPr/>
        </p:nvSpPr>
        <p:spPr>
          <a:xfrm>
            <a:off x="6658879" y="2095202"/>
            <a:ext cx="1144826" cy="864000"/>
          </a:xfrm>
          <a:prstGeom prst="rect">
            <a:avLst/>
          </a:prstGeom>
          <a:noFill/>
          <a:ln w="19050">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5" name="직사각형 104"/>
          <p:cNvSpPr/>
          <p:nvPr/>
        </p:nvSpPr>
        <p:spPr>
          <a:xfrm>
            <a:off x="1699977" y="5595788"/>
            <a:ext cx="1116124" cy="864000"/>
          </a:xfrm>
          <a:prstGeom prst="rect">
            <a:avLst/>
          </a:prstGeom>
          <a:noFill/>
          <a:ln w="19050">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6" name="TextBox 105"/>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실사업체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선정의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0" name="직사각형 39"/>
          <p:cNvSpPr/>
          <p:nvPr/>
        </p:nvSpPr>
        <p:spPr>
          <a:xfrm>
            <a:off x="6658879" y="3764207"/>
            <a:ext cx="1144826" cy="879578"/>
          </a:xfrm>
          <a:prstGeom prst="rect">
            <a:avLst/>
          </a:prstGeom>
          <a:noFill/>
          <a:ln w="19050">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직사각형 40"/>
          <p:cNvSpPr/>
          <p:nvPr/>
        </p:nvSpPr>
        <p:spPr>
          <a:xfrm>
            <a:off x="1733873" y="3779838"/>
            <a:ext cx="1116124" cy="863947"/>
          </a:xfrm>
          <a:prstGeom prst="rect">
            <a:avLst/>
          </a:prstGeom>
          <a:noFill/>
          <a:ln w="19050">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2" name="직사각형 41"/>
          <p:cNvSpPr/>
          <p:nvPr/>
        </p:nvSpPr>
        <p:spPr>
          <a:xfrm>
            <a:off x="652679" y="3458862"/>
            <a:ext cx="4464000" cy="276999"/>
          </a:xfrm>
          <a:prstGeom prst="rect">
            <a:avLst/>
          </a:prstGeom>
        </p:spPr>
        <p:txBody>
          <a:bodyPr wrap="square">
            <a:spAutoFit/>
          </a:bodyPr>
          <a:lstStyle/>
          <a:p>
            <a:pPr marL="171450" lvl="0" indent="-171450">
              <a:lnSpc>
                <a:spcPct val="120000"/>
              </a:lnSpc>
              <a:buFont typeface="Arial" panose="020B0604020202020204" pitchFamily="34" charset="0"/>
              <a:buChar char="•"/>
              <a:defRPr/>
            </a:pP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업무수행능력이 있는 </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업체 수령</a:t>
            </a:r>
            <a:r>
              <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최저가 제안 업체를 선정</a:t>
            </a:r>
            <a:endParaRPr lang="en-US" altLang="ko-KR" sz="1000" dirty="0">
              <a:solidFill>
                <a:srgbClr val="0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180708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872629" cy="246221"/>
            <a:chOff x="455544" y="-592941"/>
            <a:chExt cx="1872629"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87262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212465" cy="246221"/>
            <a:chOff x="455544" y="-592941"/>
            <a:chExt cx="2212465"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21246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참여의향서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FC0DEB9D-0E80-4CE4-EF9D-10F2E80C1203}"/>
              </a:ext>
            </a:extLst>
          </p:cNvPr>
          <p:cNvPicPr>
            <a:picLocks noChangeAspect="1"/>
          </p:cNvPicPr>
          <p:nvPr/>
        </p:nvPicPr>
        <p:blipFill>
          <a:blip r:embed="rId3"/>
          <a:stretch>
            <a:fillRect/>
          </a:stretch>
        </p:blipFill>
        <p:spPr>
          <a:xfrm>
            <a:off x="811011" y="2020609"/>
            <a:ext cx="3162629" cy="4495279"/>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19" name="그림 18">
            <a:extLst>
              <a:ext uri="{FF2B5EF4-FFF2-40B4-BE49-F238E27FC236}">
                <a16:creationId xmlns:a16="http://schemas.microsoft.com/office/drawing/2014/main" id="{804E61A6-3E44-EC85-C240-A7B9C5462D71}"/>
              </a:ext>
            </a:extLst>
          </p:cNvPr>
          <p:cNvPicPr>
            <a:picLocks noChangeAspect="1"/>
          </p:cNvPicPr>
          <p:nvPr/>
        </p:nvPicPr>
        <p:blipFill>
          <a:blip r:embed="rId4"/>
          <a:stretch>
            <a:fillRect/>
          </a:stretch>
        </p:blipFill>
        <p:spPr>
          <a:xfrm>
            <a:off x="5962536" y="2023831"/>
            <a:ext cx="3176837" cy="4492058"/>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994531999"/>
              </p:ext>
            </p:extLst>
          </p:nvPr>
        </p:nvGraphicFramePr>
        <p:xfrm>
          <a:off x="449263" y="1583593"/>
          <a:ext cx="9799734" cy="2784549"/>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336549">
                <a:tc gridSpan="2">
                  <a:txBody>
                    <a:bodyPr/>
                    <a:lstStyle/>
                    <a:p>
                      <a:pPr algn="ctr" latinLnBrk="1"/>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pPr>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pPr>
                      <a:r>
                        <a:rPr lang="ko-KR" altLang="en-US" sz="11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60000">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1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1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6.6</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Char char="•"/>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2,985</a:t>
                      </a:r>
                      <a:r>
                        <a:rPr lang="ko-KR" altLang="en-US"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매입장부금액의 </a:t>
                      </a:r>
                      <a:r>
                        <a:rPr lang="en-US" altLang="ko-KR"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r>
                        <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운용기간 약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vMerge="1">
                  <a:txBody>
                    <a:bodyPr/>
                    <a:lstStyle/>
                    <a:p>
                      <a:pPr latinLnBrk="1"/>
                      <a:endParaRPr lang="ko-KR" altLang="en-US"/>
                    </a:p>
                  </a:txBody>
                  <a:tcP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r>
                        <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80.1</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Char char="•"/>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504000">
                <a:tc vMerge="1">
                  <a:txBody>
                    <a:bodyPr/>
                    <a:lstStyle/>
                    <a:p>
                      <a:pPr latinLnBrk="1"/>
                      <a:endParaRPr lang="ko-KR" altLang="en-US"/>
                    </a:p>
                  </a:txBody>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8.8</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1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4.88%, </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504000">
                <a:tc vMerge="1">
                  <a:txBody>
                    <a:bodyPr/>
                    <a:lstStyle/>
                    <a:p>
                      <a:pPr latinLnBrk="1"/>
                      <a:endParaRPr lang="ko-KR" altLang="en-US"/>
                    </a:p>
                  </a:txBody>
                  <a:tcPr/>
                </a:tc>
                <a:tc>
                  <a:txBody>
                    <a:bodyPr/>
                    <a:lstStyle/>
                    <a:p>
                      <a:pPr algn="l" latinLnBrk="1"/>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126.1</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1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4.88%, </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Char char="•"/>
                      </a:pP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1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1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r>
                        <a:rPr lang="ko-KR" altLang="en-US" sz="11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225.0</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rPr>
                        <a:t>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4377020"/>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en-US" altLang="ko-KR"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Information Memorandum</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1227259"/>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grpSp>
        <p:nvGrpSpPr>
          <p:cNvPr id="44" name="그룹 43">
            <a:extLst>
              <a:ext uri="{FF2B5EF4-FFF2-40B4-BE49-F238E27FC236}">
                <a16:creationId xmlns:a16="http://schemas.microsoft.com/office/drawing/2014/main" id="{1D6A8C76-4852-89CE-7393-209A15294C1E}"/>
              </a:ext>
            </a:extLst>
          </p:cNvPr>
          <p:cNvGrpSpPr/>
          <p:nvPr/>
        </p:nvGrpSpPr>
        <p:grpSpPr>
          <a:xfrm>
            <a:off x="341350" y="2213297"/>
            <a:ext cx="2067685" cy="1206500"/>
            <a:chOff x="341350" y="2213297"/>
            <a:chExt cx="2067685"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a:t>
              </a:r>
              <a:r>
                <a:rPr lang="en-US" altLang="ko-KR" sz="900" dirty="0">
                  <a:solidFill>
                    <a:srgbClr val="555555"/>
                  </a:solidFill>
                  <a:latin typeface="KoPubWorld돋움체 Light"/>
                  <a:ea typeface="KoPubWorld돋움체 Light"/>
                  <a:cs typeface="KoPubWorld돋움체 Light"/>
                </a:rPr>
                <a:t>3,343</a:t>
              </a:r>
              <a:r>
                <a:rPr lang="ko-KR" altLang="en-US" sz="900" dirty="0">
                  <a:solidFill>
                    <a:srgbClr val="555555"/>
                  </a:solidFill>
                  <a:latin typeface="KoPubWorld돋움체 Light"/>
                  <a:ea typeface="KoPubWorld돋움체 Light"/>
                  <a:cs typeface="KoPubWorld돋움체 Light"/>
                </a:rPr>
                <a:t>억 대비 −</a:t>
              </a:r>
              <a:r>
                <a:rPr lang="en-US" altLang="ko-KR" sz="900" dirty="0">
                  <a:solidFill>
                    <a:srgbClr val="555555"/>
                  </a:solidFill>
                  <a:latin typeface="KoPubWorld돋움체 Light"/>
                  <a:ea typeface="KoPubWorld돋움체 Light"/>
                  <a:cs typeface="KoPubWorld돋움체 Light"/>
                </a:rPr>
                <a:t>19.2%</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59.9%</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nvGrpSpPr>
          <p:cNvPr id="7" name="그룹 6">
            <a:extLst>
              <a:ext uri="{FF2B5EF4-FFF2-40B4-BE49-F238E27FC236}">
                <a16:creationId xmlns:a16="http://schemas.microsoft.com/office/drawing/2014/main" id="{59E2ED9A-D970-5965-DFF7-2FEE13231A03}"/>
              </a:ext>
            </a:extLst>
          </p:cNvPr>
          <p:cNvGrpSpPr/>
          <p:nvPr/>
        </p:nvGrpSpPr>
        <p:grpSpPr>
          <a:xfrm>
            <a:off x="4315051" y="2213297"/>
            <a:ext cx="1941736" cy="1206500"/>
            <a:chOff x="4392755"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92755"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92755"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TextBox 22">
              <a:extLst>
                <a:ext uri="{FF2B5EF4-FFF2-40B4-BE49-F238E27FC236}">
                  <a16:creationId xmlns:a16="http://schemas.microsoft.com/office/drawing/2014/main" id="{BE3C658D-81DA-4C16-9F82-281FB7ECD01E}"/>
                </a:ext>
              </a:extLst>
            </p:cNvPr>
            <p:cNvSpPr txBox="1"/>
            <p:nvPr/>
          </p:nvSpPr>
          <p:spPr>
            <a:xfrm>
              <a:off x="4518705"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518705"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518705"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6" name="그룹 5">
            <a:extLst>
              <a:ext uri="{FF2B5EF4-FFF2-40B4-BE49-F238E27FC236}">
                <a16:creationId xmlns:a16="http://schemas.microsoft.com/office/drawing/2014/main" id="{29D6C068-45BB-F1C8-CC10-4B9E042420B0}"/>
              </a:ext>
            </a:extLst>
          </p:cNvPr>
          <p:cNvGrpSpPr/>
          <p:nvPr/>
        </p:nvGrpSpPr>
        <p:grpSpPr>
          <a:xfrm>
            <a:off x="8372722" y="2213297"/>
            <a:ext cx="1941736" cy="1206500"/>
            <a:chOff x="6418457"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6418457"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6418457"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A8F7D32F-6910-40A9-8518-41A351DFAC85}"/>
                </a:ext>
              </a:extLst>
            </p:cNvPr>
            <p:cNvSpPr txBox="1"/>
            <p:nvPr/>
          </p:nvSpPr>
          <p:spPr>
            <a:xfrm>
              <a:off x="6544408"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6544408"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16.7%</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6544408"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4.4 </a:t>
              </a:r>
              <a:r>
                <a:rPr lang="ko-KR" altLang="en-US" sz="900" dirty="0">
                  <a:solidFill>
                    <a:srgbClr val="555555"/>
                  </a:solidFill>
                  <a:latin typeface="KoPubWorld돋움체 Light"/>
                  <a:ea typeface="KoPubWorld돋움체 Light"/>
                  <a:cs typeface="KoPubWorld돋움체 Light"/>
                </a:rPr>
                <a:t>예상</a:t>
              </a:r>
              <a:endParaRPr lang="en-US" altLang="ko-KR" sz="900" dirty="0">
                <a:solidFill>
                  <a:srgbClr val="555555"/>
                </a:solidFill>
                <a:latin typeface="KoPubWorld돋움체 Light"/>
                <a:ea typeface="KoPubWorld돋움체 Light"/>
                <a:cs typeface="KoPubWorld돋움체 Light"/>
              </a:endParaRP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자산을 개발원가 수준</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감정가 대비 약 </a:t>
              </a:r>
              <a:r>
                <a:rPr lang="en-US" altLang="ko-KR" sz="1200" dirty="0">
                  <a:solidFill>
                    <a:srgbClr val="1F1F1F"/>
                  </a:solidFill>
                  <a:latin typeface="KoPubWorld돋움체 Light"/>
                  <a:ea typeface="KoPubWorld돋움체 Light"/>
                  <a:cs typeface="KoPubWorld돋움체 Light"/>
                </a:rPr>
                <a:t>-19.2%, </a:t>
              </a:r>
              <a:r>
                <a:rPr lang="en-US" altLang="ko-KR" sz="1200" dirty="0" err="1">
                  <a:solidFill>
                    <a:srgbClr val="1F1F1F"/>
                  </a:solidFill>
                  <a:latin typeface="KoPubWorld돋움체 Light"/>
                  <a:ea typeface="KoPubWorld돋움체 Light"/>
                  <a:cs typeface="KoPubWorld돋움체 Light"/>
                </a:rPr>
                <a:t>Cap.Rate</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약 </a:t>
              </a:r>
              <a:r>
                <a:rPr lang="en-US" altLang="ko-KR" sz="1200" dirty="0">
                  <a:solidFill>
                    <a:srgbClr val="1F1F1F"/>
                  </a:solidFill>
                  <a:latin typeface="KoPubWorld돋움체 Light"/>
                  <a:ea typeface="KoPubWorld돋움체 Light"/>
                  <a:cs typeface="KoPubWorld돋움체 Light"/>
                </a:rPr>
                <a:t>4.9%*)</a:t>
              </a:r>
              <a:r>
                <a:rPr lang="ko-KR" altLang="en-US" sz="1200" dirty="0">
                  <a:solidFill>
                    <a:srgbClr val="1F1F1F"/>
                  </a:solidFill>
                  <a:latin typeface="KoPubWorld돋움체 Light"/>
                  <a:ea typeface="KoPubWorld돋움체 Light"/>
                  <a:cs typeface="KoPubWorld돋움체 Light"/>
                </a:rPr>
                <a:t>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8" name="그룹 7">
            <a:extLst>
              <a:ext uri="{FF2B5EF4-FFF2-40B4-BE49-F238E27FC236}">
                <a16:creationId xmlns:a16="http://schemas.microsoft.com/office/drawing/2014/main" id="{6C5BE25C-8F5A-3F87-8FCA-1FA2605E4E75}"/>
              </a:ext>
            </a:extLst>
          </p:cNvPr>
          <p:cNvGrpSpPr/>
          <p:nvPr/>
        </p:nvGrpSpPr>
        <p:grpSpPr>
          <a:xfrm>
            <a:off x="6343886" y="2213297"/>
            <a:ext cx="1941736" cy="1206500"/>
            <a:chOff x="4392755"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4392755" y="2213297"/>
              <a:ext cx="1941736" cy="1206500"/>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4392755" y="2213297"/>
              <a:ext cx="41983" cy="1206500"/>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3BD86DB4-62F8-4BBC-B788-0BFA9AEC2BE4}"/>
                </a:ext>
              </a:extLst>
            </p:cNvPr>
            <p:cNvSpPr txBox="1"/>
            <p:nvPr/>
          </p:nvSpPr>
          <p:spPr>
            <a:xfrm>
              <a:off x="4518705"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4518705"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4510899"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9.21%</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334,300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r>
              <a:rPr lang="en-US" altLang="ko-KR"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제시 담보가</a:t>
            </a:r>
            <a:r>
              <a:rPr lang="en-US" altLang="ko-KR"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rgbClr val="1F1F1F"/>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대비 약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19.2% </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할인 매입</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매입 </a:t>
            </a:r>
            <a:r>
              <a:rPr lang="en-US" altLang="ko-KR" sz="1100" dirty="0" err="1">
                <a:solidFill>
                  <a:srgbClr val="1F1F1F"/>
                </a:solidFill>
                <a:latin typeface="KoPubWorld돋움체 Light"/>
                <a:ea typeface="KoPubWorld돋움체 Light"/>
                <a:cs typeface="KoPubWorld돋움체 Light"/>
              </a:rPr>
              <a:t>Init.</a:t>
            </a:r>
            <a:r>
              <a:rPr lang="en-US" altLang="ko-KR" sz="1100" dirty="0">
                <a:solidFill>
                  <a:srgbClr val="1F1F1F"/>
                </a:solidFill>
                <a:latin typeface="KoPubWorld돋움체 Light"/>
                <a:ea typeface="KoPubWorld돋움체 Light"/>
                <a:cs typeface="KoPubWorld돋움체 Light"/>
              </a:rPr>
              <a:t> Cap Rate </a:t>
            </a:r>
            <a:r>
              <a:rPr lang="ko-KR" altLang="en-US" sz="1100" dirty="0">
                <a:solidFill>
                  <a:srgbClr val="1F1F1F"/>
                </a:solidFill>
                <a:latin typeface="KoPubWorld돋움체 Light"/>
                <a:ea typeface="KoPubWorld돋움체 Light"/>
                <a:cs typeface="KoPubWorld돋움체 Light"/>
              </a:rPr>
              <a:t>약 </a:t>
            </a:r>
            <a:r>
              <a:rPr lang="en-US" altLang="ko-KR" sz="1100" dirty="0">
                <a:solidFill>
                  <a:srgbClr val="1F1F1F"/>
                </a:solidFill>
                <a:latin typeface="KoPubWorld돋움체 Light"/>
                <a:ea typeface="KoPubWorld돋움체 Light"/>
                <a:cs typeface="KoPubWorld돋움체 Light"/>
              </a:rPr>
              <a:t>4.9%(</a:t>
            </a:r>
            <a:r>
              <a:rPr lang="ko-KR" altLang="en-US" sz="1100" dirty="0">
                <a:solidFill>
                  <a:srgbClr val="1F1F1F"/>
                </a:solidFill>
                <a:latin typeface="KoPubWorld돋움체 Light"/>
                <a:ea typeface="KoPubWorld돋움체 Light"/>
                <a:cs typeface="KoPubWorld돋움체 Light"/>
              </a:rPr>
              <a:t>운용기간 평균 </a:t>
            </a:r>
            <a:r>
              <a:rPr lang="en-US" altLang="ko-KR" sz="1100" dirty="0" err="1">
                <a:solidFill>
                  <a:srgbClr val="1F1F1F"/>
                </a:solidFill>
                <a:latin typeface="KoPubWorld돋움체 Light"/>
                <a:ea typeface="KoPubWorld돋움체 Light"/>
                <a:cs typeface="KoPubWorld돋움체 Light"/>
              </a:rPr>
              <a:t>Cap.Rate</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약</a:t>
            </a:r>
            <a:r>
              <a:rPr lang="en-US" altLang="ko-KR" sz="1100" dirty="0">
                <a:solidFill>
                  <a:srgbClr val="1F1F1F"/>
                </a:solidFill>
                <a:latin typeface="KoPubWorld돋움체 Light"/>
                <a:ea typeface="KoPubWorld돋움체 Light"/>
                <a:cs typeface="KoPubWorld돋움체 Light"/>
              </a:rPr>
              <a:t> 5.6% </a:t>
            </a:r>
            <a:r>
              <a:rPr lang="ko-KR" altLang="en-US" sz="1100" dirty="0">
                <a:solidFill>
                  <a:srgbClr val="1F1F1F"/>
                </a:solidFill>
                <a:latin typeface="KoPubWorld돋움체 Light"/>
                <a:ea typeface="KoPubWorld돋움체 Light"/>
                <a:cs typeface="KoPubWorld돋움체 Light"/>
              </a:rPr>
              <a:t>예상</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유사사례 대비 낮은 매입가격 </a:t>
            </a:r>
            <a:r>
              <a:rPr lang="en-US" altLang="ko-KR" sz="1100" dirty="0">
                <a:solidFill>
                  <a:srgbClr val="1F1F1F"/>
                </a:solidFill>
                <a:latin typeface="KoPubWorld돋움체 Light"/>
                <a:ea typeface="KoPubWorld돋움체 Light"/>
                <a:cs typeface="KoPubWorld돋움체 Light"/>
              </a:rPr>
              <a:t>935</a:t>
            </a:r>
            <a:r>
              <a:rPr lang="ko-KR" altLang="en-US" sz="1100" dirty="0">
                <a:solidFill>
                  <a:srgbClr val="1F1F1F"/>
                </a:solidFill>
                <a:latin typeface="KoPubWorld돋움체 Light"/>
                <a:ea typeface="KoPubWorld돋움체 Light"/>
                <a:cs typeface="KoPubWorld돋움체 Light"/>
              </a:rPr>
              <a:t>만원</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수도권 </a:t>
            </a:r>
            <a:r>
              <a:rPr lang="en-US" altLang="ko-KR" sz="1100" dirty="0">
                <a:solidFill>
                  <a:srgbClr val="1F1F1F"/>
                </a:solidFill>
                <a:latin typeface="KoPubWorld돋움체 Light"/>
                <a:ea typeface="KoPubWorld돋움체 Light"/>
                <a:cs typeface="KoPubWorld돋움체 Light"/>
              </a:rPr>
              <a:t>Core</a:t>
            </a:r>
            <a:r>
              <a:rPr lang="ko-KR" altLang="en-US" sz="1100" dirty="0">
                <a:solidFill>
                  <a:srgbClr val="1F1F1F"/>
                </a:solidFill>
                <a:latin typeface="KoPubWorld돋움체 Light"/>
                <a:ea typeface="KoPubWorld돋움체 Light"/>
                <a:cs typeface="KoPubWorld돋움체 Light"/>
              </a:rPr>
              <a:t>센터 거래사례 중하단</a:t>
            </a:r>
            <a:r>
              <a:rPr lang="en-US" altLang="ko-KR" sz="1100" dirty="0">
                <a:solidFill>
                  <a:srgbClr val="1F1F1F"/>
                </a:solidFill>
                <a:latin typeface="KoPubWorld돋움체 Light"/>
                <a:ea typeface="KoPubWorld돋움체 Light"/>
                <a:cs typeface="KoPubWorld돋움체 Light"/>
              </a:rPr>
              <a:t>)</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r>
                        <a:rPr lang="ko-KR" altLang="en-US" sz="11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1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pPr>
                      <a:r>
                        <a:rPr lang="ko-KR" altLang="en-US" sz="11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1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1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B40B-737F-0DFA-0984-C7B95EF99D5C}"/>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333875AE-0606-7EC3-AB7C-AF2D15EEF1DC}"/>
              </a:ext>
            </a:extLst>
          </p:cNvPr>
          <p:cNvGrpSpPr/>
          <p:nvPr/>
        </p:nvGrpSpPr>
        <p:grpSpPr>
          <a:xfrm>
            <a:off x="470842" y="2374900"/>
            <a:ext cx="9951096" cy="4326616"/>
            <a:chOff x="457200" y="2159657"/>
            <a:chExt cx="9880600" cy="4330700"/>
          </a:xfrm>
        </p:grpSpPr>
        <p:sp>
          <p:nvSpPr>
            <p:cNvPr id="2" name="직사각형 1">
              <a:extLst>
                <a:ext uri="{FF2B5EF4-FFF2-40B4-BE49-F238E27FC236}">
                  <a16:creationId xmlns:a16="http://schemas.microsoft.com/office/drawing/2014/main" id="{95817567-1986-4CE3-E2B5-1EF0800476B8}"/>
                </a:ext>
              </a:extLst>
            </p:cNvPr>
            <p:cNvSpPr/>
            <p:nvPr/>
          </p:nvSpPr>
          <p:spPr>
            <a:xfrm>
              <a:off x="4572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3CDD19AE-C60F-CD1F-55BD-E2E05851D4D4}"/>
                </a:ext>
              </a:extLst>
            </p:cNvPr>
            <p:cNvSpPr/>
            <p:nvPr/>
          </p:nvSpPr>
          <p:spPr>
            <a:xfrm>
              <a:off x="4572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TextBox 10">
              <a:extLst>
                <a:ext uri="{FF2B5EF4-FFF2-40B4-BE49-F238E27FC236}">
                  <a16:creationId xmlns:a16="http://schemas.microsoft.com/office/drawing/2014/main" id="{1EE7DAA0-D2A5-EC6A-07ED-95AF991F1E92}"/>
                </a:ext>
              </a:extLst>
            </p:cNvPr>
            <p:cNvSpPr txBox="1"/>
            <p:nvPr/>
          </p:nvSpPr>
          <p:spPr>
            <a:xfrm>
              <a:off x="6604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① 공급 절벽 본격화</a:t>
              </a:r>
            </a:p>
          </p:txBody>
        </p:sp>
        <p:sp>
          <p:nvSpPr>
            <p:cNvPr id="12" name="TextBox 11">
              <a:extLst>
                <a:ext uri="{FF2B5EF4-FFF2-40B4-BE49-F238E27FC236}">
                  <a16:creationId xmlns:a16="http://schemas.microsoft.com/office/drawing/2014/main" id="{ADA8ADD6-254C-F2E5-5C80-70CB0F9C8CCF}"/>
                </a:ext>
              </a:extLst>
            </p:cNvPr>
            <p:cNvSpPr txBox="1"/>
            <p:nvPr/>
          </p:nvSpPr>
          <p:spPr>
            <a:xfrm>
              <a:off x="6604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4" name="직사각형 13">
              <a:extLst>
                <a:ext uri="{FF2B5EF4-FFF2-40B4-BE49-F238E27FC236}">
                  <a16:creationId xmlns:a16="http://schemas.microsoft.com/office/drawing/2014/main" id="{4657EA4F-9E3C-8B3B-7687-B3779C445283}"/>
                </a:ext>
              </a:extLst>
            </p:cNvPr>
            <p:cNvSpPr/>
            <p:nvPr/>
          </p:nvSpPr>
          <p:spPr>
            <a:xfrm>
              <a:off x="38100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5" name="직사각형 14">
              <a:extLst>
                <a:ext uri="{FF2B5EF4-FFF2-40B4-BE49-F238E27FC236}">
                  <a16:creationId xmlns:a16="http://schemas.microsoft.com/office/drawing/2014/main" id="{6E441082-625B-5C46-4106-7E5876A190A3}"/>
                </a:ext>
              </a:extLst>
            </p:cNvPr>
            <p:cNvSpPr/>
            <p:nvPr/>
          </p:nvSpPr>
          <p:spPr>
            <a:xfrm>
              <a:off x="38100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5578D1DA-A342-DC84-35D2-FBC9EB90E075}"/>
                </a:ext>
              </a:extLst>
            </p:cNvPr>
            <p:cNvSpPr txBox="1"/>
            <p:nvPr/>
          </p:nvSpPr>
          <p:spPr>
            <a:xfrm>
              <a:off x="40132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② 수도권 임대료 상승 본격화</a:t>
              </a:r>
            </a:p>
          </p:txBody>
        </p:sp>
        <p:sp>
          <p:nvSpPr>
            <p:cNvPr id="17" name="TextBox 16">
              <a:extLst>
                <a:ext uri="{FF2B5EF4-FFF2-40B4-BE49-F238E27FC236}">
                  <a16:creationId xmlns:a16="http://schemas.microsoft.com/office/drawing/2014/main" id="{1D7FA330-F1F0-5FB4-9B1C-71EFD520D1E0}"/>
                </a:ext>
              </a:extLst>
            </p:cNvPr>
            <p:cNvSpPr txBox="1"/>
            <p:nvPr/>
          </p:nvSpPr>
          <p:spPr>
            <a:xfrm>
              <a:off x="40132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9" name="직사각형 18">
              <a:extLst>
                <a:ext uri="{FF2B5EF4-FFF2-40B4-BE49-F238E27FC236}">
                  <a16:creationId xmlns:a16="http://schemas.microsoft.com/office/drawing/2014/main" id="{4BB40845-7DC9-45DE-D767-AD9C6F9C1624}"/>
                </a:ext>
              </a:extLst>
            </p:cNvPr>
            <p:cNvSpPr/>
            <p:nvPr/>
          </p:nvSpPr>
          <p:spPr>
            <a:xfrm>
              <a:off x="7162800" y="2159657"/>
              <a:ext cx="3175000" cy="4330700"/>
            </a:xfrm>
            <a:prstGeom prst="rect">
              <a:avLst/>
            </a:prstGeom>
            <a:solidFill>
              <a:srgbClr val="FAFAFA"/>
            </a:solidFill>
            <a:ln w="9525" cap="flat" cmpd="sng" algn="ctr">
              <a:solidFill>
                <a:srgbClr val="E0D0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0" name="직사각형 19">
              <a:extLst>
                <a:ext uri="{FF2B5EF4-FFF2-40B4-BE49-F238E27FC236}">
                  <a16:creationId xmlns:a16="http://schemas.microsoft.com/office/drawing/2014/main" id="{56EEBE36-A9A0-2CFA-FC6C-D117788DF7BC}"/>
                </a:ext>
              </a:extLst>
            </p:cNvPr>
            <p:cNvSpPr/>
            <p:nvPr/>
          </p:nvSpPr>
          <p:spPr>
            <a:xfrm>
              <a:off x="7162800" y="2159657"/>
              <a:ext cx="3175000" cy="558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325A7FBA-5471-9212-497D-76B4156DD9A2}"/>
                </a:ext>
              </a:extLst>
            </p:cNvPr>
            <p:cNvSpPr txBox="1"/>
            <p:nvPr/>
          </p:nvSpPr>
          <p:spPr>
            <a:xfrm>
              <a:off x="7366000" y="2411117"/>
              <a:ext cx="2819400" cy="335280"/>
            </a:xfrm>
            <a:prstGeom prst="rect">
              <a:avLst/>
            </a:prstGeom>
            <a:noFill/>
          </p:spPr>
          <p:txBody>
            <a:bodyPr vertOverflow="overflow" vert="horz" wrap="square" rtlCol="0" anchor="t">
              <a:noAutofit/>
            </a:bodyPr>
            <a:lstStyle/>
            <a:p>
              <a:pPr marL="0" indent="0">
                <a:buNone/>
              </a:pPr>
              <a:r>
                <a:rPr lang="ko-KR" altLang="en-US" sz="1200" b="1" dirty="0">
                  <a:solidFill>
                    <a:srgbClr val="1A1A1A"/>
                  </a:solidFill>
                  <a:latin typeface="KoPubWorld돋움체 Bold"/>
                  <a:ea typeface="KoPubWorld돋움체 Bold"/>
                </a:rPr>
                <a:t>③ 거래가격 반등</a:t>
              </a:r>
            </a:p>
          </p:txBody>
        </p:sp>
        <p:sp>
          <p:nvSpPr>
            <p:cNvPr id="22" name="TextBox 21">
              <a:extLst>
                <a:ext uri="{FF2B5EF4-FFF2-40B4-BE49-F238E27FC236}">
                  <a16:creationId xmlns:a16="http://schemas.microsoft.com/office/drawing/2014/main" id="{E8954F6B-F38C-72D2-3795-2AD58B4B7C3C}"/>
                </a:ext>
              </a:extLst>
            </p:cNvPr>
            <p:cNvSpPr txBox="1"/>
            <p:nvPr/>
          </p:nvSpPr>
          <p:spPr>
            <a:xfrm>
              <a:off x="7366000" y="2928007"/>
              <a:ext cx="2819400" cy="3282950"/>
            </a:xfrm>
            <a:prstGeom prst="rect">
              <a:avLst/>
            </a:prstGeom>
            <a:noFill/>
          </p:spPr>
          <p:txBody>
            <a:bodyPr vertOverflow="overflow" vert="horz" wrap="square" rtlCol="0" anchor="t">
              <a:noAutofit/>
            </a:bodyPr>
            <a:lstStyle/>
            <a:p>
              <a:pPr marL="0" indent="0">
                <a:buNone/>
              </a:pPr>
              <a:endParaRPr lang="ko-KR" sz="900"/>
            </a:p>
          </p:txBody>
        </p:sp>
        <p:sp>
          <p:nvSpPr>
            <p:cNvPr id="18" name="TextBox 17">
              <a:extLst>
                <a:ext uri="{FF2B5EF4-FFF2-40B4-BE49-F238E27FC236}">
                  <a16:creationId xmlns:a16="http://schemas.microsoft.com/office/drawing/2014/main" id="{D1DD456A-B46B-4C66-B325-201DC2B2F32F}"/>
                </a:ext>
              </a:extLst>
            </p:cNvPr>
            <p:cNvSpPr txBox="1"/>
            <p:nvPr/>
          </p:nvSpPr>
          <p:spPr>
            <a:xfrm>
              <a:off x="737179" y="2772322"/>
              <a:ext cx="2794000" cy="558800"/>
            </a:xfrm>
            <a:prstGeom prst="rect">
              <a:avLst/>
            </a:prstGeom>
            <a:noFill/>
          </p:spPr>
          <p:txBody>
            <a:bodyPr vertOverflow="overflow" vert="horz" wrap="square" rtlCol="0" anchor="t">
              <a:noAutofit/>
            </a:bodyPr>
            <a:lstStyle/>
            <a:p>
              <a:pPr algn="l"/>
              <a:r>
                <a:rPr lang="en-US" altLang="ko-KR"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-73%</a:t>
              </a:r>
              <a:endParaRPr lang="ko-KR" altLang="en-US"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p:txBody>
        </p:sp>
        <p:sp>
          <p:nvSpPr>
            <p:cNvPr id="25" name="TextBox 24">
              <a:extLst>
                <a:ext uri="{FF2B5EF4-FFF2-40B4-BE49-F238E27FC236}">
                  <a16:creationId xmlns:a16="http://schemas.microsoft.com/office/drawing/2014/main" id="{0F865E7E-64F6-4D81-9766-63574BD794D2}"/>
                </a:ext>
              </a:extLst>
            </p:cNvPr>
            <p:cNvSpPr txBox="1"/>
            <p:nvPr/>
          </p:nvSpPr>
          <p:spPr>
            <a:xfrm>
              <a:off x="660400" y="3467162"/>
              <a:ext cx="2794000" cy="246453"/>
            </a:xfrm>
            <a:prstGeom prst="rect">
              <a:avLst/>
            </a:prstGeom>
            <a:noFill/>
          </p:spPr>
          <p:txBody>
            <a:bodyPr vertOverflow="overflow" vert="horz" wrap="square" rtlCol="0" anchor="t">
              <a:spAutoFit/>
            </a:bodyPr>
            <a:lstStyle/>
            <a:p>
              <a:pPr algn="l"/>
              <a:r>
                <a:rPr lang="en-US" altLang="ko-KR" sz="1000" dirty="0">
                  <a:solidFill>
                    <a:srgbClr val="555555"/>
                  </a:solidFill>
                  <a:latin typeface="KoPubWorld돋움체 Light"/>
                  <a:ea typeface="KoPubWorld돋움체 Light"/>
                  <a:cs typeface="KoPubWorld돋움체 Light"/>
                </a:rPr>
                <a:t>2023</a:t>
              </a:r>
              <a:r>
                <a:rPr lang="ko-KR" altLang="en-US" sz="1000" dirty="0">
                  <a:solidFill>
                    <a:srgbClr val="555555"/>
                  </a:solidFill>
                  <a:latin typeface="KoPubWorld돋움체 Light"/>
                  <a:ea typeface="KoPubWorld돋움체 Light"/>
                  <a:cs typeface="KoPubWorld돋움체 Light"/>
                </a:rPr>
                <a:t>년 대비 </a:t>
              </a:r>
              <a:r>
                <a:rPr lang="en-US" altLang="ko-KR" sz="1000" dirty="0">
                  <a:solidFill>
                    <a:srgbClr val="555555"/>
                  </a:solidFill>
                  <a:latin typeface="KoPubWorld돋움체 Light"/>
                  <a:ea typeface="KoPubWorld돋움체 Light"/>
                  <a:cs typeface="KoPubWorld돋움체 Light"/>
                </a:rPr>
                <a:t>2026</a:t>
              </a:r>
              <a:r>
                <a:rPr lang="ko-KR" altLang="en-US" sz="1000" dirty="0">
                  <a:solidFill>
                    <a:srgbClr val="555555"/>
                  </a:solidFill>
                  <a:latin typeface="KoPubWorld돋움체 Light"/>
                  <a:ea typeface="KoPubWorld돋움체 Light"/>
                  <a:cs typeface="KoPubWorld돋움체 Light"/>
                </a:rPr>
                <a:t>년 신규 공급 감소 전망</a:t>
              </a:r>
            </a:p>
          </p:txBody>
        </p:sp>
        <p:sp>
          <p:nvSpPr>
            <p:cNvPr id="26" name="직사각형 25">
              <a:extLst>
                <a:ext uri="{FF2B5EF4-FFF2-40B4-BE49-F238E27FC236}">
                  <a16:creationId xmlns:a16="http://schemas.microsoft.com/office/drawing/2014/main" id="{75D29A2C-60B3-456E-8550-3173C63E277C}"/>
                </a:ext>
              </a:extLst>
            </p:cNvPr>
            <p:cNvSpPr/>
            <p:nvPr/>
          </p:nvSpPr>
          <p:spPr>
            <a:xfrm>
              <a:off x="762000" y="5302907"/>
              <a:ext cx="24638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7" name="직사각형 26">
              <a:extLst>
                <a:ext uri="{FF2B5EF4-FFF2-40B4-BE49-F238E27FC236}">
                  <a16:creationId xmlns:a16="http://schemas.microsoft.com/office/drawing/2014/main" id="{0D0FF6F3-2D49-44FC-8F37-63F3490CDF84}"/>
                </a:ext>
              </a:extLst>
            </p:cNvPr>
            <p:cNvSpPr/>
            <p:nvPr/>
          </p:nvSpPr>
          <p:spPr>
            <a:xfrm>
              <a:off x="762000" y="4604407"/>
              <a:ext cx="3302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477EBE08-7646-4D19-B23C-ADD729F836AF}"/>
                </a:ext>
              </a:extLst>
            </p:cNvPr>
            <p:cNvSpPr txBox="1"/>
            <p:nvPr/>
          </p:nvSpPr>
          <p:spPr>
            <a:xfrm>
              <a:off x="6985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'22</a:t>
              </a:r>
              <a:endParaRPr lang="ko-KR" altLang="en-US" sz="1000">
                <a:solidFill>
                  <a:srgbClr val="555555"/>
                </a:solidFill>
                <a:latin typeface="KoPubWorld돋움체 Light"/>
                <a:ea typeface="KoPubWorld돋움체 Light"/>
                <a:cs typeface="KoPubWorld돋움체 Light"/>
              </a:endParaRPr>
            </a:p>
          </p:txBody>
        </p:sp>
        <p:sp>
          <p:nvSpPr>
            <p:cNvPr id="29" name="직사각형 28">
              <a:extLst>
                <a:ext uri="{FF2B5EF4-FFF2-40B4-BE49-F238E27FC236}">
                  <a16:creationId xmlns:a16="http://schemas.microsoft.com/office/drawing/2014/main" id="{72D7BB72-D960-4759-A572-034FCB7AC6EE}"/>
                </a:ext>
              </a:extLst>
            </p:cNvPr>
            <p:cNvSpPr/>
            <p:nvPr/>
          </p:nvSpPr>
          <p:spPr>
            <a:xfrm>
              <a:off x="1295400" y="4255157"/>
              <a:ext cx="330200" cy="104775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E0994489-EE58-4A47-B720-6AE5BCC56F6C}"/>
                </a:ext>
              </a:extLst>
            </p:cNvPr>
            <p:cNvSpPr txBox="1"/>
            <p:nvPr/>
          </p:nvSpPr>
          <p:spPr>
            <a:xfrm>
              <a:off x="12319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'23</a:t>
              </a:r>
              <a:endParaRPr lang="ko-KR" altLang="en-US" sz="1000">
                <a:solidFill>
                  <a:srgbClr val="555555"/>
                </a:solidFill>
                <a:latin typeface="KoPubWorld돋움체 Light"/>
                <a:ea typeface="KoPubWorld돋움체 Light"/>
                <a:cs typeface="KoPubWorld돋움체 Light"/>
              </a:endParaRPr>
            </a:p>
          </p:txBody>
        </p:sp>
        <p:sp>
          <p:nvSpPr>
            <p:cNvPr id="31" name="직사각형 30">
              <a:extLst>
                <a:ext uri="{FF2B5EF4-FFF2-40B4-BE49-F238E27FC236}">
                  <a16:creationId xmlns:a16="http://schemas.microsoft.com/office/drawing/2014/main" id="{32615584-0920-4CB2-9941-12F60D133162}"/>
                </a:ext>
              </a:extLst>
            </p:cNvPr>
            <p:cNvSpPr/>
            <p:nvPr/>
          </p:nvSpPr>
          <p:spPr>
            <a:xfrm>
              <a:off x="1828800" y="4632347"/>
              <a:ext cx="330200" cy="67056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2" name="TextBox 31">
              <a:extLst>
                <a:ext uri="{FF2B5EF4-FFF2-40B4-BE49-F238E27FC236}">
                  <a16:creationId xmlns:a16="http://schemas.microsoft.com/office/drawing/2014/main" id="{C41E89B8-20F9-4F40-80EE-A9039CFC2103}"/>
                </a:ext>
              </a:extLst>
            </p:cNvPr>
            <p:cNvSpPr txBox="1"/>
            <p:nvPr/>
          </p:nvSpPr>
          <p:spPr>
            <a:xfrm>
              <a:off x="17653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'24</a:t>
              </a:r>
              <a:endParaRPr lang="ko-KR" altLang="en-US" sz="1000">
                <a:solidFill>
                  <a:srgbClr val="555555"/>
                </a:solidFill>
                <a:latin typeface="KoPubWorld돋움체 Light"/>
                <a:ea typeface="KoPubWorld돋움체 Light"/>
                <a:cs typeface="KoPubWorld돋움체 Light"/>
              </a:endParaRPr>
            </a:p>
          </p:txBody>
        </p:sp>
        <p:sp>
          <p:nvSpPr>
            <p:cNvPr id="33" name="직사각형 32">
              <a:extLst>
                <a:ext uri="{FF2B5EF4-FFF2-40B4-BE49-F238E27FC236}">
                  <a16:creationId xmlns:a16="http://schemas.microsoft.com/office/drawing/2014/main" id="{1FE4A5EC-2011-420E-AA83-7759F8C1CA5C}"/>
                </a:ext>
              </a:extLst>
            </p:cNvPr>
            <p:cNvSpPr/>
            <p:nvPr/>
          </p:nvSpPr>
          <p:spPr>
            <a:xfrm>
              <a:off x="2362200" y="5107327"/>
              <a:ext cx="330200" cy="19558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7A0C6B9-074B-4794-9158-DB321B398D1D}"/>
                </a:ext>
              </a:extLst>
            </p:cNvPr>
            <p:cNvSpPr txBox="1"/>
            <p:nvPr/>
          </p:nvSpPr>
          <p:spPr>
            <a:xfrm>
              <a:off x="2298700" y="5330847"/>
              <a:ext cx="457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'25</a:t>
              </a:r>
              <a:endParaRPr lang="ko-KR" altLang="en-US" sz="1000">
                <a:solidFill>
                  <a:srgbClr val="555555"/>
                </a:solidFill>
                <a:latin typeface="KoPubWorld돋움체 Light"/>
                <a:ea typeface="KoPubWorld돋움체 Light"/>
                <a:cs typeface="KoPubWorld돋움체 Light"/>
              </a:endParaRPr>
            </a:p>
          </p:txBody>
        </p:sp>
        <p:sp>
          <p:nvSpPr>
            <p:cNvPr id="35" name="직사각형 34">
              <a:extLst>
                <a:ext uri="{FF2B5EF4-FFF2-40B4-BE49-F238E27FC236}">
                  <a16:creationId xmlns:a16="http://schemas.microsoft.com/office/drawing/2014/main" id="{26E7EA02-4582-4D78-9400-14B66586C728}"/>
                </a:ext>
              </a:extLst>
            </p:cNvPr>
            <p:cNvSpPr/>
            <p:nvPr/>
          </p:nvSpPr>
          <p:spPr>
            <a:xfrm>
              <a:off x="2895600" y="5051447"/>
              <a:ext cx="330200" cy="25146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6" name="TextBox 35">
              <a:extLst>
                <a:ext uri="{FF2B5EF4-FFF2-40B4-BE49-F238E27FC236}">
                  <a16:creationId xmlns:a16="http://schemas.microsoft.com/office/drawing/2014/main" id="{A35086A2-3E43-4697-9B90-43420F17B2F1}"/>
                </a:ext>
              </a:extLst>
            </p:cNvPr>
            <p:cNvSpPr txBox="1"/>
            <p:nvPr/>
          </p:nvSpPr>
          <p:spPr>
            <a:xfrm>
              <a:off x="2832100" y="5330847"/>
              <a:ext cx="457200" cy="195580"/>
            </a:xfrm>
            <a:prstGeom prst="rect">
              <a:avLst/>
            </a:prstGeom>
            <a:noFill/>
          </p:spPr>
          <p:txBody>
            <a:bodyPr vertOverflow="overflow" vert="horz" wrap="square" rtlCol="0" anchor="t">
              <a:noAutofit/>
            </a:bodyPr>
            <a:lstStyle/>
            <a:p>
              <a:pPr algn="l"/>
              <a:r>
                <a:rPr lang="en-US" altLang="ko-KR" sz="1000" b="1" dirty="0">
                  <a:solidFill>
                    <a:srgbClr val="555555"/>
                  </a:solidFill>
                  <a:latin typeface="KoPubWorld돋움체 Light"/>
                  <a:ea typeface="KoPubWorld돋움체 Light"/>
                  <a:cs typeface="KoPubWorld돋움체 Light"/>
                </a:rPr>
                <a:t>'26F</a:t>
              </a:r>
              <a:endParaRPr lang="ko-KR" altLang="en-US" sz="1000" b="1" dirty="0">
                <a:solidFill>
                  <a:srgbClr val="555555"/>
                </a:solidFill>
                <a:latin typeface="KoPubWorld돋움체 Light"/>
                <a:ea typeface="KoPubWorld돋움체 Light"/>
                <a:cs typeface="KoPubWorld돋움체 Light"/>
              </a:endParaRPr>
            </a:p>
          </p:txBody>
        </p:sp>
        <p:sp>
          <p:nvSpPr>
            <p:cNvPr id="37" name="TextBox 36">
              <a:extLst>
                <a:ext uri="{FF2B5EF4-FFF2-40B4-BE49-F238E27FC236}">
                  <a16:creationId xmlns:a16="http://schemas.microsoft.com/office/drawing/2014/main" id="{F5AEE4D9-23B0-44CF-95CD-DD032E840BA7}"/>
                </a:ext>
              </a:extLst>
            </p:cNvPr>
            <p:cNvSpPr txBox="1"/>
            <p:nvPr/>
          </p:nvSpPr>
          <p:spPr>
            <a:xfrm>
              <a:off x="660400" y="3698406"/>
              <a:ext cx="2794000" cy="246453"/>
            </a:xfrm>
            <a:prstGeom prst="rect">
              <a:avLst/>
            </a:prstGeom>
            <a:noFill/>
          </p:spPr>
          <p:txBody>
            <a:bodyPr vertOverflow="overflow" vert="horz" wrap="square" rtlCol="0" anchor="t">
              <a:spAutoFit/>
            </a:bodyPr>
            <a:lstStyle/>
            <a:p>
              <a:pPr algn="l"/>
              <a:r>
                <a:rPr lang="ko-KR" altLang="en-US" sz="1000" dirty="0">
                  <a:solidFill>
                    <a:srgbClr val="888888"/>
                  </a:solidFill>
                  <a:latin typeface="KoPubWorld돋움체 Light"/>
                  <a:ea typeface="KoPubWorld돋움체 Light"/>
                  <a:cs typeface="KoPubWorld돋움체 Light"/>
                </a:rPr>
                <a:t>수도권 신규 공급 </a:t>
              </a:r>
              <a:r>
                <a:rPr lang="en-US" altLang="ko-KR" sz="1000" dirty="0">
                  <a:solidFill>
                    <a:srgbClr val="888888"/>
                  </a:solidFill>
                  <a:latin typeface="KoPubWorld돋움체 Light"/>
                  <a:ea typeface="KoPubWorld돋움체 Light"/>
                  <a:cs typeface="KoPubWorld돋움체 Light"/>
                </a:rPr>
                <a:t>(</a:t>
              </a:r>
              <a:r>
                <a:rPr lang="ko-KR" altLang="en-US" sz="1000" dirty="0">
                  <a:solidFill>
                    <a:srgbClr val="888888"/>
                  </a:solidFill>
                  <a:latin typeface="KoPubWorld돋움체 Light"/>
                  <a:ea typeface="KoPubWorld돋움체 Light"/>
                  <a:cs typeface="KoPubWorld돋움체 Light"/>
                </a:rPr>
                <a:t>백만 </a:t>
              </a:r>
              <a:r>
                <a:rPr lang="en-US" altLang="ko-KR" sz="1000" dirty="0">
                  <a:solidFill>
                    <a:srgbClr val="888888"/>
                  </a:solidFill>
                  <a:latin typeface="KoPubWorld돋움체 Light"/>
                  <a:ea typeface="KoPubWorld돋움체 Light"/>
                  <a:cs typeface="KoPubWorld돋움체 Light"/>
                </a:rPr>
                <a:t>sq m)</a:t>
              </a:r>
              <a:endParaRPr lang="ko-KR" altLang="en-US" sz="1000" dirty="0">
                <a:solidFill>
                  <a:srgbClr val="888888"/>
                </a:solidFill>
                <a:latin typeface="KoPubWorld돋움체 Light"/>
                <a:ea typeface="KoPubWorld돋움체 Light"/>
                <a:cs typeface="KoPubWorld돋움체 Light"/>
              </a:endParaRPr>
            </a:p>
          </p:txBody>
        </p:sp>
        <p:sp>
          <p:nvSpPr>
            <p:cNvPr id="38" name="TextBox 37">
              <a:extLst>
                <a:ext uri="{FF2B5EF4-FFF2-40B4-BE49-F238E27FC236}">
                  <a16:creationId xmlns:a16="http://schemas.microsoft.com/office/drawing/2014/main" id="{797C0730-D901-48A5-AFF6-072FB6B19564}"/>
                </a:ext>
              </a:extLst>
            </p:cNvPr>
            <p:cNvSpPr txBox="1"/>
            <p:nvPr/>
          </p:nvSpPr>
          <p:spPr>
            <a:xfrm>
              <a:off x="660400" y="5711768"/>
              <a:ext cx="2794000" cy="499069"/>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Light"/>
                  <a:ea typeface="KoPubWorld돋움체 Light"/>
                  <a:cs typeface="KoPubWorld돋움체 Light"/>
                </a:rPr>
                <a:t>공사</a:t>
              </a:r>
              <a:r>
                <a:rPr lang="en-US" altLang="ko-KR" sz="1100" dirty="0">
                  <a:solidFill>
                    <a:srgbClr val="1A1A1A"/>
                  </a:solidFill>
                  <a:latin typeface="KoPubWorld돋움체 Light"/>
                  <a:ea typeface="KoPubWorld돋움체 Light"/>
                  <a:cs typeface="KoPubWorld돋움체 Light"/>
                </a:rPr>
                <a:t>·</a:t>
              </a:r>
              <a:r>
                <a:rPr lang="ko-KR" altLang="en-US" sz="1100" dirty="0">
                  <a:solidFill>
                    <a:srgbClr val="1A1A1A"/>
                  </a:solidFill>
                  <a:latin typeface="KoPubWorld돋움체 Light"/>
                  <a:ea typeface="KoPubWorld돋움체 Light"/>
                  <a:cs typeface="KoPubWorld돋움체 Light"/>
                </a:rPr>
                <a:t>금융비용 상승 → 신규 착공 급감
</a:t>
              </a:r>
              <a:r>
                <a:rPr lang="en-US" altLang="ko-KR" sz="1100"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년부터 공급 절벽 영향 본격화</a:t>
              </a:r>
            </a:p>
          </p:txBody>
        </p:sp>
        <p:sp>
          <p:nvSpPr>
            <p:cNvPr id="39" name="TextBox 38">
              <a:extLst>
                <a:ext uri="{FF2B5EF4-FFF2-40B4-BE49-F238E27FC236}">
                  <a16:creationId xmlns:a16="http://schemas.microsoft.com/office/drawing/2014/main" id="{5D8610F4-D5FF-4934-BBA6-AE7A36D360DB}"/>
                </a:ext>
              </a:extLst>
            </p:cNvPr>
            <p:cNvSpPr txBox="1"/>
            <p:nvPr/>
          </p:nvSpPr>
          <p:spPr>
            <a:xfrm>
              <a:off x="4089979" y="2772322"/>
              <a:ext cx="2794000" cy="558800"/>
            </a:xfrm>
            <a:prstGeom prst="rect">
              <a:avLst/>
            </a:prstGeom>
            <a:noFill/>
          </p:spPr>
          <p:txBody>
            <a:bodyPr vertOverflow="overflow" vert="horz" wrap="square" rtlCol="0" anchor="t">
              <a:noAutofit/>
            </a:bodyPr>
            <a:lstStyle/>
            <a:p>
              <a:pPr algn="l"/>
              <a:r>
                <a:rPr lang="en-US" altLang="ko-KR" sz="3600" b="1">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+24%</a:t>
              </a:r>
              <a:endParaRPr lang="ko-KR" altLang="en-US" sz="3600" b="1">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p:txBody>
        </p:sp>
        <p:sp>
          <p:nvSpPr>
            <p:cNvPr id="40" name="TextBox 39">
              <a:extLst>
                <a:ext uri="{FF2B5EF4-FFF2-40B4-BE49-F238E27FC236}">
                  <a16:creationId xmlns:a16="http://schemas.microsoft.com/office/drawing/2014/main" id="{7136B99C-2F33-45EC-817E-540F494B2F15}"/>
                </a:ext>
              </a:extLst>
            </p:cNvPr>
            <p:cNvSpPr txBox="1"/>
            <p:nvPr/>
          </p:nvSpPr>
          <p:spPr>
            <a:xfrm>
              <a:off x="4013200" y="3467162"/>
              <a:ext cx="2794000" cy="246453"/>
            </a:xfrm>
            <a:prstGeom prst="rect">
              <a:avLst/>
            </a:prstGeom>
            <a:noFill/>
          </p:spPr>
          <p:txBody>
            <a:bodyPr vertOverflow="overflow" vert="horz" wrap="square" rtlCol="0" anchor="t">
              <a:spAutoFit/>
            </a:bodyPr>
            <a:lstStyle/>
            <a:p>
              <a:pPr algn="l"/>
              <a:r>
                <a:rPr lang="en-US" altLang="ko-KR" sz="1000">
                  <a:solidFill>
                    <a:srgbClr val="555555"/>
                  </a:solidFill>
                  <a:latin typeface="KoPubWorld돋움체 Light"/>
                  <a:ea typeface="KoPubWorld돋움체 Light"/>
                  <a:cs typeface="KoPubWorld돋움체 Light"/>
                </a:rPr>
                <a:t>3</a:t>
              </a:r>
              <a:r>
                <a:rPr lang="ko-KR" altLang="en-US" sz="1000">
                  <a:solidFill>
                    <a:srgbClr val="555555"/>
                  </a:solidFill>
                  <a:latin typeface="KoPubWorld돋움체 Light"/>
                  <a:ea typeface="KoPubWorld돋움체 Light"/>
                  <a:cs typeface="KoPubWorld돋움체 Light"/>
                </a:rPr>
                <a:t>년 후 예상 임대료 </a:t>
              </a:r>
              <a:r>
                <a:rPr lang="en-US" altLang="ko-KR" sz="1000">
                  <a:solidFill>
                    <a:srgbClr val="555555"/>
                  </a:solidFill>
                  <a:latin typeface="KoPubWorld돋움체 Light"/>
                  <a:ea typeface="KoPubWorld돋움체 Light"/>
                  <a:cs typeface="KoPubWorld돋움체 Light"/>
                </a:rPr>
                <a:t>(In-place </a:t>
              </a:r>
              <a:r>
                <a:rPr lang="ko-KR" altLang="en-US" sz="1000">
                  <a:solidFill>
                    <a:srgbClr val="555555"/>
                  </a:solidFill>
                  <a:latin typeface="KoPubWorld돋움체 Light"/>
                  <a:ea typeface="KoPubWorld돋움체 Light"/>
                  <a:cs typeface="KoPubWorld돋움체 Light"/>
                </a:rPr>
                <a:t>대비</a:t>
              </a:r>
              <a:r>
                <a:rPr lang="en-US" altLang="ko-KR" sz="1000">
                  <a:solidFill>
                    <a:srgbClr val="555555"/>
                  </a:solidFill>
                  <a:latin typeface="KoPubWorld돋움체 Light"/>
                  <a:ea typeface="KoPubWorld돋움체 Light"/>
                  <a:cs typeface="KoPubWorld돋움체 Light"/>
                </a:rPr>
                <a:t>)</a:t>
              </a:r>
              <a:endParaRPr lang="ko-KR" altLang="en-US" sz="1000">
                <a:solidFill>
                  <a:srgbClr val="555555"/>
                </a:solidFill>
                <a:latin typeface="KoPubWorld돋움체 Light"/>
                <a:ea typeface="KoPubWorld돋움체 Light"/>
                <a:cs typeface="KoPubWorld돋움체 Light"/>
              </a:endParaRPr>
            </a:p>
          </p:txBody>
        </p:sp>
        <p:sp>
          <p:nvSpPr>
            <p:cNvPr id="41" name="직사각형 40">
              <a:extLst>
                <a:ext uri="{FF2B5EF4-FFF2-40B4-BE49-F238E27FC236}">
                  <a16:creationId xmlns:a16="http://schemas.microsoft.com/office/drawing/2014/main" id="{0C2939E3-0176-44D0-A10E-D1B7A5D4E5F4}"/>
                </a:ext>
              </a:extLst>
            </p:cNvPr>
            <p:cNvSpPr/>
            <p:nvPr/>
          </p:nvSpPr>
          <p:spPr>
            <a:xfrm>
              <a:off x="4064000" y="5302907"/>
              <a:ext cx="23114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2" name="직사각형 41">
              <a:extLst>
                <a:ext uri="{FF2B5EF4-FFF2-40B4-BE49-F238E27FC236}">
                  <a16:creationId xmlns:a16="http://schemas.microsoft.com/office/drawing/2014/main" id="{27D18022-3D56-487C-A03F-751A556074C3}"/>
                </a:ext>
              </a:extLst>
            </p:cNvPr>
            <p:cNvSpPr/>
            <p:nvPr/>
          </p:nvSpPr>
          <p:spPr>
            <a:xfrm>
              <a:off x="4064000" y="4604407"/>
              <a:ext cx="6350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3" name="TextBox 42">
              <a:extLst>
                <a:ext uri="{FF2B5EF4-FFF2-40B4-BE49-F238E27FC236}">
                  <a16:creationId xmlns:a16="http://schemas.microsoft.com/office/drawing/2014/main" id="{687F6A7C-1EA9-40E2-82F3-9D4E969A80C7}"/>
                </a:ext>
              </a:extLst>
            </p:cNvPr>
            <p:cNvSpPr txBox="1"/>
            <p:nvPr/>
          </p:nvSpPr>
          <p:spPr>
            <a:xfrm>
              <a:off x="4019438" y="4417119"/>
              <a:ext cx="838200" cy="167640"/>
            </a:xfrm>
            <a:prstGeom prst="rect">
              <a:avLst/>
            </a:prstGeom>
            <a:noFill/>
          </p:spPr>
          <p:txBody>
            <a:bodyPr vertOverflow="overflow" vert="horz" wrap="square" rtlCol="0" anchor="t">
              <a:noAutofit/>
            </a:bodyPr>
            <a:lstStyle/>
            <a:p>
              <a:pPr algn="l"/>
              <a:r>
                <a:rPr lang="en-US" altLang="ko-KR" sz="1000" b="1" dirty="0">
                  <a:solidFill>
                    <a:srgbClr val="1A1A1A"/>
                  </a:solidFill>
                  <a:latin typeface="KoPubWorld돋움체 Bold"/>
                  <a:ea typeface="KoPubWorld돋움체 Bold"/>
                  <a:cs typeface="KoPubWorld돋움체 Bold"/>
                </a:rPr>
                <a:t>30,000</a:t>
              </a:r>
              <a:endParaRPr lang="ko-KR" altLang="en-US" sz="1000" b="1" dirty="0">
                <a:solidFill>
                  <a:srgbClr val="1A1A1A"/>
                </a:solidFill>
                <a:latin typeface="KoPubWorld돋움체 Bold"/>
                <a:ea typeface="KoPubWorld돋움체 Bold"/>
                <a:cs typeface="KoPubWorld돋움체 Bold"/>
              </a:endParaRPr>
            </a:p>
          </p:txBody>
        </p:sp>
        <p:sp>
          <p:nvSpPr>
            <p:cNvPr id="44" name="TextBox 43">
              <a:extLst>
                <a:ext uri="{FF2B5EF4-FFF2-40B4-BE49-F238E27FC236}">
                  <a16:creationId xmlns:a16="http://schemas.microsoft.com/office/drawing/2014/main" id="{6BBB4CAB-3EDF-4913-88A2-6ECB8DF105D6}"/>
                </a:ext>
              </a:extLst>
            </p:cNvPr>
            <p:cNvSpPr txBox="1"/>
            <p:nvPr/>
          </p:nvSpPr>
          <p:spPr>
            <a:xfrm>
              <a:off x="3962400" y="5330847"/>
              <a:ext cx="838200" cy="195580"/>
            </a:xfrm>
            <a:prstGeom prst="rect">
              <a:avLst/>
            </a:prstGeom>
            <a:noFill/>
          </p:spPr>
          <p:txBody>
            <a:bodyPr vertOverflow="overflow" vert="horz" wrap="square" rtlCol="0" anchor="t">
              <a:noAutofit/>
            </a:bodyPr>
            <a:lstStyle/>
            <a:p>
              <a:pPr algn="l"/>
              <a:r>
                <a:rPr lang="en-US" altLang="ko-KR" sz="1000" dirty="0">
                  <a:solidFill>
                    <a:srgbClr val="555555"/>
                  </a:solidFill>
                  <a:latin typeface="KoPubWorld돋움체 Light"/>
                  <a:ea typeface="KoPubWorld돋움체 Light"/>
                  <a:cs typeface="KoPubWorld돋움체 Light"/>
                </a:rPr>
                <a:t>In-place</a:t>
              </a:r>
              <a:endParaRPr lang="ko-KR" altLang="en-US" sz="1000" dirty="0">
                <a:solidFill>
                  <a:srgbClr val="555555"/>
                </a:solidFill>
                <a:latin typeface="KoPubWorld돋움체 Light"/>
                <a:ea typeface="KoPubWorld돋움체 Light"/>
                <a:cs typeface="KoPubWorld돋움체 Light"/>
              </a:endParaRPr>
            </a:p>
          </p:txBody>
        </p:sp>
        <p:sp>
          <p:nvSpPr>
            <p:cNvPr id="45" name="직사각형 44">
              <a:extLst>
                <a:ext uri="{FF2B5EF4-FFF2-40B4-BE49-F238E27FC236}">
                  <a16:creationId xmlns:a16="http://schemas.microsoft.com/office/drawing/2014/main" id="{67630A67-3FA0-43D1-A61A-D78F465427EE}"/>
                </a:ext>
              </a:extLst>
            </p:cNvPr>
            <p:cNvSpPr/>
            <p:nvPr/>
          </p:nvSpPr>
          <p:spPr>
            <a:xfrm>
              <a:off x="4902200" y="4422797"/>
              <a:ext cx="635000" cy="880110"/>
            </a:xfrm>
            <a:prstGeom prst="rect">
              <a:avLst/>
            </a:prstGeom>
            <a:solidFill>
              <a:srgbClr val="9B7A5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6" name="TextBox 45">
              <a:extLst>
                <a:ext uri="{FF2B5EF4-FFF2-40B4-BE49-F238E27FC236}">
                  <a16:creationId xmlns:a16="http://schemas.microsoft.com/office/drawing/2014/main" id="{1848B104-8B40-4E70-BB73-54A18B9D8E9A}"/>
                </a:ext>
              </a:extLst>
            </p:cNvPr>
            <p:cNvSpPr txBox="1"/>
            <p:nvPr/>
          </p:nvSpPr>
          <p:spPr>
            <a:xfrm>
              <a:off x="4857638" y="4235509"/>
              <a:ext cx="838200" cy="167640"/>
            </a:xfrm>
            <a:prstGeom prst="rect">
              <a:avLst/>
            </a:prstGeom>
            <a:noFill/>
          </p:spPr>
          <p:txBody>
            <a:bodyPr vertOverflow="overflow" vert="horz" wrap="square" rtlCol="0" anchor="t">
              <a:noAutofit/>
            </a:bodyPr>
            <a:lstStyle/>
            <a:p>
              <a:pPr algn="l"/>
              <a:r>
                <a:rPr lang="en-US" altLang="ko-KR" sz="1000" b="1" dirty="0">
                  <a:solidFill>
                    <a:srgbClr val="1A1A1A"/>
                  </a:solidFill>
                  <a:latin typeface="KoPubWorld돋움체 Bold"/>
                  <a:ea typeface="KoPubWorld돋움체 Bold"/>
                  <a:cs typeface="KoPubWorld돋움체 Bold"/>
                </a:rPr>
                <a:t>34,000</a:t>
              </a:r>
              <a:endParaRPr lang="ko-KR" altLang="en-US" sz="1000" b="1" dirty="0">
                <a:solidFill>
                  <a:srgbClr val="1A1A1A"/>
                </a:solidFill>
                <a:latin typeface="KoPubWorld돋움체 Bold"/>
                <a:ea typeface="KoPubWorld돋움체 Bold"/>
                <a:cs typeface="KoPubWorld돋움체 Bold"/>
              </a:endParaRPr>
            </a:p>
          </p:txBody>
        </p:sp>
        <p:sp>
          <p:nvSpPr>
            <p:cNvPr id="47" name="TextBox 46">
              <a:extLst>
                <a:ext uri="{FF2B5EF4-FFF2-40B4-BE49-F238E27FC236}">
                  <a16:creationId xmlns:a16="http://schemas.microsoft.com/office/drawing/2014/main" id="{71CA4D89-47B7-4B50-82F6-7346A05C9551}"/>
                </a:ext>
              </a:extLst>
            </p:cNvPr>
            <p:cNvSpPr txBox="1"/>
            <p:nvPr/>
          </p:nvSpPr>
          <p:spPr>
            <a:xfrm>
              <a:off x="4800600" y="5330847"/>
              <a:ext cx="838200" cy="195580"/>
            </a:xfrm>
            <a:prstGeom prst="rect">
              <a:avLst/>
            </a:prstGeom>
            <a:noFill/>
          </p:spPr>
          <p:txBody>
            <a:bodyPr vertOverflow="overflow" vert="horz" wrap="square" rtlCol="0" anchor="t">
              <a:noAutofit/>
            </a:bodyPr>
            <a:lstStyle/>
            <a:p>
              <a:pPr algn="l"/>
              <a:r>
                <a:rPr lang="en-US" altLang="ko-KR" sz="1000">
                  <a:solidFill>
                    <a:srgbClr val="555555"/>
                  </a:solidFill>
                  <a:latin typeface="KoPubWorld돋움체 Light"/>
                  <a:ea typeface="KoPubWorld돋움체 Light"/>
                  <a:cs typeface="KoPubWorld돋움체 Light"/>
                </a:rPr>
                <a:t>Market</a:t>
              </a:r>
              <a:endParaRPr lang="ko-KR" altLang="en-US" sz="1000">
                <a:solidFill>
                  <a:srgbClr val="555555"/>
                </a:solidFill>
                <a:latin typeface="KoPubWorld돋움체 Light"/>
                <a:ea typeface="KoPubWorld돋움체 Light"/>
                <a:cs typeface="KoPubWorld돋움체 Light"/>
              </a:endParaRPr>
            </a:p>
          </p:txBody>
        </p:sp>
        <p:sp>
          <p:nvSpPr>
            <p:cNvPr id="48" name="직사각형 47">
              <a:extLst>
                <a:ext uri="{FF2B5EF4-FFF2-40B4-BE49-F238E27FC236}">
                  <a16:creationId xmlns:a16="http://schemas.microsoft.com/office/drawing/2014/main" id="{AEF36150-067F-4430-8F5E-1518D2D4F24A}"/>
                </a:ext>
              </a:extLst>
            </p:cNvPr>
            <p:cNvSpPr/>
            <p:nvPr/>
          </p:nvSpPr>
          <p:spPr>
            <a:xfrm>
              <a:off x="5740400" y="4269127"/>
              <a:ext cx="635000" cy="103378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9" name="TextBox 48">
              <a:extLst>
                <a:ext uri="{FF2B5EF4-FFF2-40B4-BE49-F238E27FC236}">
                  <a16:creationId xmlns:a16="http://schemas.microsoft.com/office/drawing/2014/main" id="{26732AAA-375E-4D58-8512-FDB17EFE0DB8}"/>
                </a:ext>
              </a:extLst>
            </p:cNvPr>
            <p:cNvSpPr txBox="1"/>
            <p:nvPr/>
          </p:nvSpPr>
          <p:spPr>
            <a:xfrm>
              <a:off x="5695838" y="4067869"/>
              <a:ext cx="838200" cy="167640"/>
            </a:xfrm>
            <a:prstGeom prst="rect">
              <a:avLst/>
            </a:prstGeom>
            <a:noFill/>
          </p:spPr>
          <p:txBody>
            <a:bodyPr vertOverflow="overflow" vert="horz" wrap="square" rtlCol="0" anchor="t">
              <a:noAutofit/>
            </a:bodyPr>
            <a:lstStyle/>
            <a:p>
              <a:pPr algn="l"/>
              <a:r>
                <a:rPr lang="en-US" altLang="ko-KR" sz="1000" b="1">
                  <a:solidFill>
                    <a:srgbClr val="1A1A1A"/>
                  </a:solidFill>
                  <a:latin typeface="KoPubWorld돋움체 Bold"/>
                  <a:ea typeface="KoPubWorld돋움체 Bold"/>
                  <a:cs typeface="KoPubWorld돋움체 Bold"/>
                </a:rPr>
                <a:t>37,153</a:t>
              </a:r>
              <a:endParaRPr lang="ko-KR" altLang="en-US" sz="1000" b="1">
                <a:solidFill>
                  <a:srgbClr val="1A1A1A"/>
                </a:solidFill>
                <a:latin typeface="KoPubWorld돋움체 Bold"/>
                <a:ea typeface="KoPubWorld돋움체 Bold"/>
                <a:cs typeface="KoPubWorld돋움체 Bold"/>
              </a:endParaRPr>
            </a:p>
          </p:txBody>
        </p:sp>
        <p:sp>
          <p:nvSpPr>
            <p:cNvPr id="50" name="TextBox 49">
              <a:extLst>
                <a:ext uri="{FF2B5EF4-FFF2-40B4-BE49-F238E27FC236}">
                  <a16:creationId xmlns:a16="http://schemas.microsoft.com/office/drawing/2014/main" id="{6253D9B7-B7EE-429C-BF64-5879C46EF1C2}"/>
                </a:ext>
              </a:extLst>
            </p:cNvPr>
            <p:cNvSpPr txBox="1"/>
            <p:nvPr/>
          </p:nvSpPr>
          <p:spPr>
            <a:xfrm>
              <a:off x="5638800" y="5330847"/>
              <a:ext cx="838200" cy="195580"/>
            </a:xfrm>
            <a:prstGeom prst="rect">
              <a:avLst/>
            </a:prstGeom>
            <a:noFill/>
          </p:spPr>
          <p:txBody>
            <a:bodyPr vertOverflow="overflow" vert="horz" wrap="square" rtlCol="0" anchor="t">
              <a:noAutofit/>
            </a:bodyPr>
            <a:lstStyle/>
            <a:p>
              <a:pPr algn="l"/>
              <a:r>
                <a:rPr lang="en-US" altLang="ko-KR" sz="1000" b="1" dirty="0">
                  <a:solidFill>
                    <a:srgbClr val="555555"/>
                  </a:solidFill>
                  <a:latin typeface="KoPubWorld돋움체 Light"/>
                  <a:ea typeface="KoPubWorld돋움체 Light"/>
                  <a:cs typeface="KoPubWorld돋움체 Light"/>
                </a:rPr>
                <a:t>Est.(3</a:t>
              </a:r>
              <a:r>
                <a:rPr lang="ko-KR" altLang="en-US" sz="1000" b="1" dirty="0" err="1">
                  <a:solidFill>
                    <a:srgbClr val="555555"/>
                  </a:solidFill>
                  <a:latin typeface="KoPubWorld돋움체 Light"/>
                  <a:ea typeface="KoPubWorld돋움체 Light"/>
                  <a:cs typeface="KoPubWorld돋움체 Light"/>
                </a:rPr>
                <a:t>년후</a:t>
              </a:r>
              <a:r>
                <a:rPr lang="en-US" altLang="ko-KR" sz="1000" b="1" dirty="0">
                  <a:solidFill>
                    <a:srgbClr val="555555"/>
                  </a:solidFill>
                  <a:latin typeface="KoPubWorld돋움체 Light"/>
                  <a:ea typeface="KoPubWorld돋움체 Light"/>
                  <a:cs typeface="KoPubWorld돋움체 Light"/>
                </a:rPr>
                <a:t>)</a:t>
              </a:r>
              <a:endParaRPr lang="ko-KR" altLang="en-US" sz="1000" b="1" dirty="0">
                <a:solidFill>
                  <a:srgbClr val="555555"/>
                </a:solidFill>
                <a:latin typeface="KoPubWorld돋움체 Light"/>
                <a:ea typeface="KoPubWorld돋움체 Light"/>
                <a:cs typeface="KoPubWorld돋움체 Light"/>
              </a:endParaRPr>
            </a:p>
          </p:txBody>
        </p:sp>
        <p:sp>
          <p:nvSpPr>
            <p:cNvPr id="51" name="TextBox 50">
              <a:extLst>
                <a:ext uri="{FF2B5EF4-FFF2-40B4-BE49-F238E27FC236}">
                  <a16:creationId xmlns:a16="http://schemas.microsoft.com/office/drawing/2014/main" id="{E81305C6-20B9-4DE3-B03D-8B73E41F0CDA}"/>
                </a:ext>
              </a:extLst>
            </p:cNvPr>
            <p:cNvSpPr txBox="1"/>
            <p:nvPr/>
          </p:nvSpPr>
          <p:spPr>
            <a:xfrm>
              <a:off x="4013200" y="3698406"/>
              <a:ext cx="2832100" cy="246453"/>
            </a:xfrm>
            <a:prstGeom prst="rect">
              <a:avLst/>
            </a:prstGeom>
            <a:noFill/>
          </p:spPr>
          <p:txBody>
            <a:bodyPr vertOverflow="overflow" vert="horz" wrap="square" rtlCol="0" anchor="t">
              <a:spAutoFit/>
            </a:bodyPr>
            <a:lstStyle/>
            <a:p>
              <a:pPr algn="l"/>
              <a:r>
                <a:rPr lang="en-US" altLang="ko-KR" sz="1000" dirty="0">
                  <a:solidFill>
                    <a:srgbClr val="888888"/>
                  </a:solidFill>
                  <a:latin typeface="KoPubWorld돋움체 Light"/>
                  <a:ea typeface="KoPubWorld돋움체 Light"/>
                  <a:cs typeface="KoPubWorld돋움체 Light"/>
                </a:rPr>
                <a:t>In-place vs Market vs Estimated Rent</a:t>
              </a:r>
              <a:endParaRPr lang="ko-KR" altLang="en-US" sz="1000" dirty="0">
                <a:solidFill>
                  <a:srgbClr val="888888"/>
                </a:solidFill>
                <a:latin typeface="KoPubWorld돋움체 Light"/>
                <a:ea typeface="KoPubWorld돋움체 Light"/>
                <a:cs typeface="KoPubWorld돋움체 Light"/>
              </a:endParaRPr>
            </a:p>
          </p:txBody>
        </p:sp>
        <p:sp>
          <p:nvSpPr>
            <p:cNvPr id="52" name="TextBox 51">
              <a:extLst>
                <a:ext uri="{FF2B5EF4-FFF2-40B4-BE49-F238E27FC236}">
                  <a16:creationId xmlns:a16="http://schemas.microsoft.com/office/drawing/2014/main" id="{04C1B9E1-A77F-49B3-83F1-BA92B07AC7D8}"/>
                </a:ext>
              </a:extLst>
            </p:cNvPr>
            <p:cNvSpPr txBox="1"/>
            <p:nvPr/>
          </p:nvSpPr>
          <p:spPr>
            <a:xfrm>
              <a:off x="4013200" y="5711768"/>
              <a:ext cx="2794000" cy="499069"/>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인접지 임대료 최대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사례</a:t>
              </a:r>
              <a:r>
                <a:rPr lang="ko-KR" altLang="en-US" sz="1100" dirty="0">
                  <a:solidFill>
                    <a:srgbClr val="1A1A1A"/>
                  </a:solidFill>
                  <a:latin typeface="KoPubWorld돋움체 Light"/>
                  <a:ea typeface="KoPubWorld돋움체 Light"/>
                  <a:cs typeface="KoPubWorld돋움체 Light"/>
                </a:rPr>
                <a:t>
</a:t>
              </a:r>
              <a:r>
                <a:rPr lang="en-US" altLang="ko-KR" sz="1100" dirty="0">
                  <a:solidFill>
                    <a:srgbClr val="1A1A1A"/>
                  </a:solidFill>
                  <a:latin typeface="KoPubWorld돋움체 Light"/>
                  <a:ea typeface="KoPubWorld돋움체 Light"/>
                  <a:cs typeface="KoPubWorld돋움체 Light"/>
                </a:rPr>
                <a:t>• Rent Reversion Upside</a:t>
              </a:r>
              <a:r>
                <a:rPr lang="ko-KR" altLang="en-US" sz="1100" dirty="0">
                  <a:solidFill>
                    <a:srgbClr val="1A1A1A"/>
                  </a:solidFill>
                  <a:latin typeface="KoPubWorld돋움체 Light"/>
                  <a:ea typeface="KoPubWorld돋움체 Light"/>
                  <a:cs typeface="KoPubWorld돋움체 Light"/>
                </a:rPr>
                <a:t>로 자산가치 상승</a:t>
              </a:r>
            </a:p>
          </p:txBody>
        </p:sp>
        <p:sp>
          <p:nvSpPr>
            <p:cNvPr id="53" name="TextBox 52">
              <a:extLst>
                <a:ext uri="{FF2B5EF4-FFF2-40B4-BE49-F238E27FC236}">
                  <a16:creationId xmlns:a16="http://schemas.microsoft.com/office/drawing/2014/main" id="{9D947AF1-3CCE-4CC3-95B6-D6AC75D21C35}"/>
                </a:ext>
              </a:extLst>
            </p:cNvPr>
            <p:cNvSpPr txBox="1"/>
            <p:nvPr/>
          </p:nvSpPr>
          <p:spPr>
            <a:xfrm>
              <a:off x="7442779" y="2772322"/>
              <a:ext cx="2794000" cy="558800"/>
            </a:xfrm>
            <a:prstGeom prst="rect">
              <a:avLst/>
            </a:prstGeom>
            <a:noFill/>
          </p:spPr>
          <p:txBody>
            <a:bodyPr vertOverflow="overflow" vert="horz" wrap="square" rtlCol="0" anchor="t">
              <a:noAutofit/>
            </a:bodyPr>
            <a:lstStyle/>
            <a:p>
              <a:pPr algn="l"/>
              <a:r>
                <a:rPr lang="en-US" altLang="ko-KR" sz="3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9.0</a:t>
              </a:r>
              <a:r>
                <a:rPr lang="ko-KR" altLang="en-US"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백만원</a:t>
              </a:r>
              <a:r>
                <a:rPr lang="en-US" altLang="ko-KR"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a:t>
              </a:r>
              <a:r>
                <a:rPr lang="ko-KR" altLang="en-US" sz="1600" b="1" dirty="0">
                  <a:solidFill>
                    <a:srgbClr val="8B3A2A"/>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평</a:t>
              </a:r>
            </a:p>
          </p:txBody>
        </p:sp>
        <p:sp>
          <p:nvSpPr>
            <p:cNvPr id="54" name="TextBox 53">
              <a:extLst>
                <a:ext uri="{FF2B5EF4-FFF2-40B4-BE49-F238E27FC236}">
                  <a16:creationId xmlns:a16="http://schemas.microsoft.com/office/drawing/2014/main" id="{1B2B0B43-E980-49AC-B9DE-3B53076F5ADE}"/>
                </a:ext>
              </a:extLst>
            </p:cNvPr>
            <p:cNvSpPr txBox="1"/>
            <p:nvPr/>
          </p:nvSpPr>
          <p:spPr>
            <a:xfrm>
              <a:off x="7366000" y="3467162"/>
              <a:ext cx="2794000" cy="246453"/>
            </a:xfrm>
            <a:prstGeom prst="rect">
              <a:avLst/>
            </a:prstGeom>
            <a:noFill/>
          </p:spPr>
          <p:txBody>
            <a:bodyPr vertOverflow="overflow" vert="horz" wrap="square" rtlCol="0" anchor="t">
              <a:spAutoFit/>
            </a:bodyPr>
            <a:lstStyle/>
            <a:p>
              <a:pPr algn="l"/>
              <a:r>
                <a:rPr lang="en-US" altLang="ko-KR" sz="1000" dirty="0">
                  <a:solidFill>
                    <a:srgbClr val="555555"/>
                  </a:solidFill>
                  <a:latin typeface="KoPubWorld돋움체 Light"/>
                  <a:ea typeface="KoPubWorld돋움체 Light"/>
                  <a:cs typeface="KoPubWorld돋움체 Light"/>
                </a:rPr>
                <a:t>2025</a:t>
              </a:r>
              <a:r>
                <a:rPr lang="ko-KR" altLang="en-US" sz="1000" dirty="0">
                  <a:solidFill>
                    <a:srgbClr val="555555"/>
                  </a:solidFill>
                  <a:latin typeface="KoPubWorld돋움체 Light"/>
                  <a:ea typeface="KoPubWorld돋움체 Light"/>
                  <a:cs typeface="KoPubWorld돋움체 Light"/>
                </a:rPr>
                <a:t>년 상온 물류센터 거래 </a:t>
              </a:r>
              <a:r>
                <a:rPr lang="ko-KR" altLang="en-US" sz="1000" dirty="0" err="1">
                  <a:solidFill>
                    <a:srgbClr val="555555"/>
                  </a:solidFill>
                  <a:latin typeface="KoPubWorld돋움체 Light"/>
                  <a:ea typeface="KoPubWorld돋움체 Light"/>
                  <a:cs typeface="KoPubWorld돋움체 Light"/>
                </a:rPr>
                <a:t>평당가</a:t>
              </a:r>
              <a:r>
                <a:rPr lang="ko-KR" altLang="en-US" sz="1000" dirty="0">
                  <a:solidFill>
                    <a:srgbClr val="555555"/>
                  </a:solidFill>
                  <a:latin typeface="KoPubWorld돋움체 Light"/>
                  <a:ea typeface="KoPubWorld돋움체 Light"/>
                  <a:cs typeface="KoPubWorld돋움체 Light"/>
                </a:rPr>
                <a:t> 최고치</a:t>
              </a:r>
            </a:p>
          </p:txBody>
        </p:sp>
        <p:sp>
          <p:nvSpPr>
            <p:cNvPr id="55" name="직사각형 54">
              <a:extLst>
                <a:ext uri="{FF2B5EF4-FFF2-40B4-BE49-F238E27FC236}">
                  <a16:creationId xmlns:a16="http://schemas.microsoft.com/office/drawing/2014/main" id="{E9FBC5B5-9E49-4EBF-84DC-D0031CEB8AFC}"/>
                </a:ext>
              </a:extLst>
            </p:cNvPr>
            <p:cNvSpPr/>
            <p:nvPr/>
          </p:nvSpPr>
          <p:spPr>
            <a:xfrm>
              <a:off x="7416800" y="5302907"/>
              <a:ext cx="2540000" cy="13970"/>
            </a:xfrm>
            <a:prstGeom prst="rect">
              <a:avLst/>
            </a:prstGeom>
            <a:solidFill>
              <a:srgbClr val="B0B0B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6" name="직사각형 55">
              <a:extLst>
                <a:ext uri="{FF2B5EF4-FFF2-40B4-BE49-F238E27FC236}">
                  <a16:creationId xmlns:a16="http://schemas.microsoft.com/office/drawing/2014/main" id="{41F72662-9AA0-48AA-8D64-84CFE2A60B68}"/>
                </a:ext>
              </a:extLst>
            </p:cNvPr>
            <p:cNvSpPr/>
            <p:nvPr/>
          </p:nvSpPr>
          <p:spPr>
            <a:xfrm>
              <a:off x="7416800" y="4953657"/>
              <a:ext cx="228600" cy="34925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7" name="TextBox 56">
              <a:extLst>
                <a:ext uri="{FF2B5EF4-FFF2-40B4-BE49-F238E27FC236}">
                  <a16:creationId xmlns:a16="http://schemas.microsoft.com/office/drawing/2014/main" id="{3A282594-CA40-4044-BAD3-66B1416DF615}"/>
                </a:ext>
              </a:extLst>
            </p:cNvPr>
            <p:cNvSpPr txBox="1"/>
            <p:nvPr/>
          </p:nvSpPr>
          <p:spPr>
            <a:xfrm>
              <a:off x="73660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'18</a:t>
              </a:r>
              <a:endParaRPr lang="ko-KR" altLang="en-US" sz="800">
                <a:solidFill>
                  <a:srgbClr val="555555"/>
                </a:solidFill>
                <a:latin typeface="KoPubWorld돋움체 Light"/>
                <a:ea typeface="KoPubWorld돋움체 Light"/>
                <a:cs typeface="KoPubWorld돋움체 Light"/>
              </a:endParaRPr>
            </a:p>
          </p:txBody>
        </p:sp>
        <p:sp>
          <p:nvSpPr>
            <p:cNvPr id="58" name="직사각형 57">
              <a:extLst>
                <a:ext uri="{FF2B5EF4-FFF2-40B4-BE49-F238E27FC236}">
                  <a16:creationId xmlns:a16="http://schemas.microsoft.com/office/drawing/2014/main" id="{D6783689-0E39-4213-A82A-F5339922469A}"/>
                </a:ext>
              </a:extLst>
            </p:cNvPr>
            <p:cNvSpPr/>
            <p:nvPr/>
          </p:nvSpPr>
          <p:spPr>
            <a:xfrm>
              <a:off x="7747000" y="4883807"/>
              <a:ext cx="228600" cy="4191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59" name="TextBox 58">
              <a:extLst>
                <a:ext uri="{FF2B5EF4-FFF2-40B4-BE49-F238E27FC236}">
                  <a16:creationId xmlns:a16="http://schemas.microsoft.com/office/drawing/2014/main" id="{36A4DE9A-024D-4CE9-8E66-B68BFC3C5501}"/>
                </a:ext>
              </a:extLst>
            </p:cNvPr>
            <p:cNvSpPr txBox="1"/>
            <p:nvPr/>
          </p:nvSpPr>
          <p:spPr>
            <a:xfrm>
              <a:off x="76962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'19</a:t>
              </a:r>
              <a:endParaRPr lang="ko-KR" altLang="en-US" sz="800">
                <a:solidFill>
                  <a:srgbClr val="555555"/>
                </a:solidFill>
                <a:latin typeface="KoPubWorld돋움체 Light"/>
                <a:ea typeface="KoPubWorld돋움체 Light"/>
                <a:cs typeface="KoPubWorld돋움체 Light"/>
              </a:endParaRPr>
            </a:p>
          </p:txBody>
        </p:sp>
        <p:sp>
          <p:nvSpPr>
            <p:cNvPr id="60" name="직사각형 59">
              <a:extLst>
                <a:ext uri="{FF2B5EF4-FFF2-40B4-BE49-F238E27FC236}">
                  <a16:creationId xmlns:a16="http://schemas.microsoft.com/office/drawing/2014/main" id="{DB36228F-8F48-4501-BF42-D3EFF719BC9E}"/>
                </a:ext>
              </a:extLst>
            </p:cNvPr>
            <p:cNvSpPr/>
            <p:nvPr/>
          </p:nvSpPr>
          <p:spPr>
            <a:xfrm>
              <a:off x="8077200" y="4716167"/>
              <a:ext cx="228600" cy="58674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1" name="TextBox 60">
              <a:extLst>
                <a:ext uri="{FF2B5EF4-FFF2-40B4-BE49-F238E27FC236}">
                  <a16:creationId xmlns:a16="http://schemas.microsoft.com/office/drawing/2014/main" id="{5D35069C-3E50-4AAE-B092-AE118BB73AD2}"/>
                </a:ext>
              </a:extLst>
            </p:cNvPr>
            <p:cNvSpPr txBox="1"/>
            <p:nvPr/>
          </p:nvSpPr>
          <p:spPr>
            <a:xfrm>
              <a:off x="80264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'20</a:t>
              </a:r>
              <a:endParaRPr lang="ko-KR" altLang="en-US" sz="800">
                <a:solidFill>
                  <a:srgbClr val="555555"/>
                </a:solidFill>
                <a:latin typeface="KoPubWorld돋움체 Light"/>
                <a:ea typeface="KoPubWorld돋움체 Light"/>
                <a:cs typeface="KoPubWorld돋움체 Light"/>
              </a:endParaRPr>
            </a:p>
          </p:txBody>
        </p:sp>
        <p:sp>
          <p:nvSpPr>
            <p:cNvPr id="62" name="직사각형 61">
              <a:extLst>
                <a:ext uri="{FF2B5EF4-FFF2-40B4-BE49-F238E27FC236}">
                  <a16:creationId xmlns:a16="http://schemas.microsoft.com/office/drawing/2014/main" id="{35C7725F-6A0F-4DDC-BB96-7E560B9072F0}"/>
                </a:ext>
              </a:extLst>
            </p:cNvPr>
            <p:cNvSpPr/>
            <p:nvPr/>
          </p:nvSpPr>
          <p:spPr>
            <a:xfrm>
              <a:off x="8407400" y="4632347"/>
              <a:ext cx="228600" cy="67056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3" name="TextBox 62">
              <a:extLst>
                <a:ext uri="{FF2B5EF4-FFF2-40B4-BE49-F238E27FC236}">
                  <a16:creationId xmlns:a16="http://schemas.microsoft.com/office/drawing/2014/main" id="{3AC08C21-4179-4014-A00B-1C6E2A4A1BBF}"/>
                </a:ext>
              </a:extLst>
            </p:cNvPr>
            <p:cNvSpPr txBox="1"/>
            <p:nvPr/>
          </p:nvSpPr>
          <p:spPr>
            <a:xfrm>
              <a:off x="83566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'21</a:t>
              </a:r>
              <a:endParaRPr lang="ko-KR" altLang="en-US" sz="800">
                <a:solidFill>
                  <a:srgbClr val="555555"/>
                </a:solidFill>
                <a:latin typeface="KoPubWorld돋움체 Light"/>
                <a:ea typeface="KoPubWorld돋움체 Light"/>
                <a:cs typeface="KoPubWorld돋움체 Light"/>
              </a:endParaRPr>
            </a:p>
          </p:txBody>
        </p:sp>
        <p:sp>
          <p:nvSpPr>
            <p:cNvPr id="64" name="직사각형 63">
              <a:extLst>
                <a:ext uri="{FF2B5EF4-FFF2-40B4-BE49-F238E27FC236}">
                  <a16:creationId xmlns:a16="http://schemas.microsoft.com/office/drawing/2014/main" id="{A985D240-9E00-4FD7-B235-FA7F33A1F6FA}"/>
                </a:ext>
              </a:extLst>
            </p:cNvPr>
            <p:cNvSpPr/>
            <p:nvPr/>
          </p:nvSpPr>
          <p:spPr>
            <a:xfrm>
              <a:off x="8737600" y="4534557"/>
              <a:ext cx="228600" cy="76835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5" name="TextBox 64">
              <a:extLst>
                <a:ext uri="{FF2B5EF4-FFF2-40B4-BE49-F238E27FC236}">
                  <a16:creationId xmlns:a16="http://schemas.microsoft.com/office/drawing/2014/main" id="{3BE55DB2-4671-42E1-837A-5CCC08DF90E5}"/>
                </a:ext>
              </a:extLst>
            </p:cNvPr>
            <p:cNvSpPr txBox="1"/>
            <p:nvPr/>
          </p:nvSpPr>
          <p:spPr>
            <a:xfrm>
              <a:off x="86868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'22</a:t>
              </a:r>
              <a:endParaRPr lang="ko-KR" altLang="en-US" sz="800">
                <a:solidFill>
                  <a:srgbClr val="555555"/>
                </a:solidFill>
                <a:latin typeface="KoPubWorld돋움체 Light"/>
                <a:ea typeface="KoPubWorld돋움체 Light"/>
                <a:cs typeface="KoPubWorld돋움체 Light"/>
              </a:endParaRPr>
            </a:p>
          </p:txBody>
        </p:sp>
        <p:sp>
          <p:nvSpPr>
            <p:cNvPr id="66" name="직사각형 65">
              <a:extLst>
                <a:ext uri="{FF2B5EF4-FFF2-40B4-BE49-F238E27FC236}">
                  <a16:creationId xmlns:a16="http://schemas.microsoft.com/office/drawing/2014/main" id="{C805DFD1-0542-4994-9B3A-3FF9C7B0E8E1}"/>
                </a:ext>
              </a:extLst>
            </p:cNvPr>
            <p:cNvSpPr/>
            <p:nvPr/>
          </p:nvSpPr>
          <p:spPr>
            <a:xfrm>
              <a:off x="9067800" y="4604407"/>
              <a:ext cx="228600" cy="69850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7" name="TextBox 66">
              <a:extLst>
                <a:ext uri="{FF2B5EF4-FFF2-40B4-BE49-F238E27FC236}">
                  <a16:creationId xmlns:a16="http://schemas.microsoft.com/office/drawing/2014/main" id="{3F8FD4C3-235F-4B0B-821D-9AF4CA614833}"/>
                </a:ext>
              </a:extLst>
            </p:cNvPr>
            <p:cNvSpPr txBox="1"/>
            <p:nvPr/>
          </p:nvSpPr>
          <p:spPr>
            <a:xfrm>
              <a:off x="90170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'23</a:t>
              </a:r>
              <a:endParaRPr lang="ko-KR" altLang="en-US" sz="800">
                <a:solidFill>
                  <a:srgbClr val="555555"/>
                </a:solidFill>
                <a:latin typeface="KoPubWorld돋움체 Light"/>
                <a:ea typeface="KoPubWorld돋움체 Light"/>
                <a:cs typeface="KoPubWorld돋움체 Light"/>
              </a:endParaRPr>
            </a:p>
          </p:txBody>
        </p:sp>
        <p:sp>
          <p:nvSpPr>
            <p:cNvPr id="68" name="직사각형 67">
              <a:extLst>
                <a:ext uri="{FF2B5EF4-FFF2-40B4-BE49-F238E27FC236}">
                  <a16:creationId xmlns:a16="http://schemas.microsoft.com/office/drawing/2014/main" id="{F7E0BF8D-D4C3-4549-A477-654D056715CC}"/>
                </a:ext>
              </a:extLst>
            </p:cNvPr>
            <p:cNvSpPr/>
            <p:nvPr/>
          </p:nvSpPr>
          <p:spPr>
            <a:xfrm>
              <a:off x="9398000" y="4674257"/>
              <a:ext cx="228600" cy="628650"/>
            </a:xfrm>
            <a:prstGeom prst="rect">
              <a:avLst/>
            </a:prstGeom>
            <a:solidFill>
              <a:srgbClr val="C9B8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69" name="TextBox 68">
              <a:extLst>
                <a:ext uri="{FF2B5EF4-FFF2-40B4-BE49-F238E27FC236}">
                  <a16:creationId xmlns:a16="http://schemas.microsoft.com/office/drawing/2014/main" id="{2D4DD784-EE21-4D5C-BDD6-83692EDF4799}"/>
                </a:ext>
              </a:extLst>
            </p:cNvPr>
            <p:cNvSpPr txBox="1"/>
            <p:nvPr/>
          </p:nvSpPr>
          <p:spPr>
            <a:xfrm>
              <a:off x="93472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'24</a:t>
              </a:r>
              <a:endParaRPr lang="ko-KR" altLang="en-US" sz="800">
                <a:solidFill>
                  <a:srgbClr val="555555"/>
                </a:solidFill>
                <a:latin typeface="KoPubWorld돋움체 Light"/>
                <a:ea typeface="KoPubWorld돋움체 Light"/>
                <a:cs typeface="KoPubWorld돋움체 Light"/>
              </a:endParaRPr>
            </a:p>
          </p:txBody>
        </p:sp>
        <p:sp>
          <p:nvSpPr>
            <p:cNvPr id="70" name="직사각형 69">
              <a:extLst>
                <a:ext uri="{FF2B5EF4-FFF2-40B4-BE49-F238E27FC236}">
                  <a16:creationId xmlns:a16="http://schemas.microsoft.com/office/drawing/2014/main" id="{0C56F5B4-FA31-4233-9E41-7BCF14872139}"/>
                </a:ext>
              </a:extLst>
            </p:cNvPr>
            <p:cNvSpPr/>
            <p:nvPr/>
          </p:nvSpPr>
          <p:spPr>
            <a:xfrm>
              <a:off x="9728200" y="4436767"/>
              <a:ext cx="228600" cy="86614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1" name="TextBox 70">
              <a:extLst>
                <a:ext uri="{FF2B5EF4-FFF2-40B4-BE49-F238E27FC236}">
                  <a16:creationId xmlns:a16="http://schemas.microsoft.com/office/drawing/2014/main" id="{9908E979-16B8-472E-A29F-B8EC30D426C8}"/>
                </a:ext>
              </a:extLst>
            </p:cNvPr>
            <p:cNvSpPr txBox="1"/>
            <p:nvPr/>
          </p:nvSpPr>
          <p:spPr>
            <a:xfrm>
              <a:off x="9677400" y="5330847"/>
              <a:ext cx="330200" cy="167640"/>
            </a:xfrm>
            <a:prstGeom prst="rect">
              <a:avLst/>
            </a:prstGeom>
            <a:noFill/>
          </p:spPr>
          <p:txBody>
            <a:bodyPr vertOverflow="overflow" vert="horz" wrap="square" rtlCol="0" anchor="t">
              <a:noAutofit/>
            </a:bodyPr>
            <a:lstStyle/>
            <a:p>
              <a:pPr algn="l"/>
              <a:r>
                <a:rPr lang="en-US" altLang="ko-KR" sz="800">
                  <a:solidFill>
                    <a:srgbClr val="555555"/>
                  </a:solidFill>
                  <a:latin typeface="KoPubWorld돋움체 Light"/>
                  <a:ea typeface="KoPubWorld돋움체 Light"/>
                  <a:cs typeface="KoPubWorld돋움체 Light"/>
                </a:rPr>
                <a:t>'25</a:t>
              </a:r>
              <a:endParaRPr lang="ko-KR" altLang="en-US" sz="800">
                <a:solidFill>
                  <a:srgbClr val="555555"/>
                </a:solidFill>
                <a:latin typeface="KoPubWorld돋움체 Light"/>
                <a:ea typeface="KoPubWorld돋움체 Light"/>
                <a:cs typeface="KoPubWorld돋움체 Light"/>
              </a:endParaRPr>
            </a:p>
          </p:txBody>
        </p:sp>
        <p:sp>
          <p:nvSpPr>
            <p:cNvPr id="72" name="TextBox 71">
              <a:extLst>
                <a:ext uri="{FF2B5EF4-FFF2-40B4-BE49-F238E27FC236}">
                  <a16:creationId xmlns:a16="http://schemas.microsoft.com/office/drawing/2014/main" id="{17095D04-FEBB-45D5-846B-F9D2FB289153}"/>
                </a:ext>
              </a:extLst>
            </p:cNvPr>
            <p:cNvSpPr txBox="1"/>
            <p:nvPr/>
          </p:nvSpPr>
          <p:spPr>
            <a:xfrm>
              <a:off x="9601200" y="4241187"/>
              <a:ext cx="508000" cy="167640"/>
            </a:xfrm>
            <a:prstGeom prst="rect">
              <a:avLst/>
            </a:prstGeom>
            <a:noFill/>
          </p:spPr>
          <p:txBody>
            <a:bodyPr vertOverflow="overflow" vert="horz" wrap="square" rtlCol="0" anchor="t">
              <a:noAutofit/>
            </a:bodyPr>
            <a:lstStyle/>
            <a:p>
              <a:pPr algn="l"/>
              <a:r>
                <a:rPr lang="ko-KR" altLang="en-US" sz="800" b="1">
                  <a:solidFill>
                    <a:srgbClr val="8B3A2A"/>
                  </a:solidFill>
                  <a:latin typeface="KoPubWorld돋움체 Bold"/>
                  <a:ea typeface="KoPubWorld돋움체 Bold"/>
                  <a:cs typeface="KoPubWorld돋움체 Bold"/>
                </a:rPr>
                <a:t>↑ 반등</a:t>
              </a:r>
            </a:p>
          </p:txBody>
        </p:sp>
        <p:sp>
          <p:nvSpPr>
            <p:cNvPr id="73" name="TextBox 72">
              <a:extLst>
                <a:ext uri="{FF2B5EF4-FFF2-40B4-BE49-F238E27FC236}">
                  <a16:creationId xmlns:a16="http://schemas.microsoft.com/office/drawing/2014/main" id="{824A78F3-81E0-42FC-8DDC-97ACC1260F13}"/>
                </a:ext>
              </a:extLst>
            </p:cNvPr>
            <p:cNvSpPr txBox="1"/>
            <p:nvPr/>
          </p:nvSpPr>
          <p:spPr>
            <a:xfrm>
              <a:off x="7349251" y="3669622"/>
              <a:ext cx="2794000" cy="246453"/>
            </a:xfrm>
            <a:prstGeom prst="rect">
              <a:avLst/>
            </a:prstGeom>
            <a:noFill/>
          </p:spPr>
          <p:txBody>
            <a:bodyPr vertOverflow="overflow" vert="horz" wrap="square" rtlCol="0" anchor="t">
              <a:spAutoFit/>
            </a:bodyPr>
            <a:lstStyle/>
            <a:p>
              <a:pPr algn="l"/>
              <a:r>
                <a:rPr lang="ko-KR" altLang="en-US" sz="1000" dirty="0">
                  <a:solidFill>
                    <a:srgbClr val="888888"/>
                  </a:solidFill>
                  <a:latin typeface="KoPubWorld돋움체 Light"/>
                  <a:ea typeface="KoPubWorld돋움체 Light"/>
                  <a:cs typeface="KoPubWorld돋움체 Light"/>
                </a:rPr>
                <a:t>상온 물류센터 거래 </a:t>
              </a:r>
              <a:r>
                <a:rPr lang="ko-KR" altLang="en-US" sz="1000" dirty="0" err="1">
                  <a:solidFill>
                    <a:srgbClr val="888888"/>
                  </a:solidFill>
                  <a:latin typeface="KoPubWorld돋움체 Light"/>
                  <a:ea typeface="KoPubWorld돋움체 Light"/>
                  <a:cs typeface="KoPubWorld돋움체 Light"/>
                </a:rPr>
                <a:t>평당가</a:t>
              </a:r>
              <a:r>
                <a:rPr lang="ko-KR" altLang="en-US" sz="1000" dirty="0">
                  <a:solidFill>
                    <a:srgbClr val="888888"/>
                  </a:solidFill>
                  <a:latin typeface="KoPubWorld돋움체 Light"/>
                  <a:ea typeface="KoPubWorld돋움체 Light"/>
                  <a:cs typeface="KoPubWorld돋움체 Light"/>
                </a:rPr>
                <a:t> 추이</a:t>
              </a:r>
            </a:p>
          </p:txBody>
        </p:sp>
        <p:sp>
          <p:nvSpPr>
            <p:cNvPr id="74" name="TextBox 73">
              <a:extLst>
                <a:ext uri="{FF2B5EF4-FFF2-40B4-BE49-F238E27FC236}">
                  <a16:creationId xmlns:a16="http://schemas.microsoft.com/office/drawing/2014/main" id="{A7B73032-BA55-4769-B422-8E0A69F062DB}"/>
                </a:ext>
              </a:extLst>
            </p:cNvPr>
            <p:cNvSpPr txBox="1"/>
            <p:nvPr/>
          </p:nvSpPr>
          <p:spPr>
            <a:xfrm>
              <a:off x="7290122" y="5711768"/>
              <a:ext cx="2984500" cy="702393"/>
            </a:xfrm>
            <a:prstGeom prst="rect">
              <a:avLst/>
            </a:prstGeom>
            <a:noFill/>
          </p:spPr>
          <p:txBody>
            <a:bodyPr vertOverflow="overflow" vert="horz" wrap="square" rtlCol="0" anchor="t">
              <a:spAutoFit/>
            </a:bodyPr>
            <a:lstStyle/>
            <a:p>
              <a:pPr algn="l">
                <a:lnSpc>
                  <a:spcPct val="120000"/>
                </a:lnSpc>
              </a:pPr>
              <a:r>
                <a:rPr lang="en-US" altLang="ko-KR" sz="1100" dirty="0">
                  <a:solidFill>
                    <a:srgbClr val="1A1A1A"/>
                  </a:solidFill>
                  <a:latin typeface="KoPubWorld돋움체 Light"/>
                  <a:ea typeface="KoPubWorld돋움체 Light"/>
                  <a:cs typeface="KoPubWorld돋움체 Light"/>
                </a:rPr>
                <a:t>• Rent Upside </a:t>
              </a:r>
              <a:r>
                <a:rPr lang="ko-KR" altLang="en-US" sz="1100" dirty="0">
                  <a:solidFill>
                    <a:srgbClr val="1A1A1A"/>
                  </a:solidFill>
                  <a:latin typeface="KoPubWorld돋움체 Light"/>
                  <a:ea typeface="KoPubWorld돋움체 Light"/>
                  <a:cs typeface="KoPubWorld돋움체 Light"/>
                </a:rPr>
                <a:t>반영한 투자 재개
</a:t>
              </a:r>
              <a:r>
                <a:rPr lang="en-US" altLang="ko-KR" sz="1100" dirty="0">
                  <a:solidFill>
                    <a:srgbClr val="1A1A1A"/>
                  </a:solidFill>
                  <a:latin typeface="KoPubWorld돋움체 Light"/>
                  <a:ea typeface="KoPubWorld돋움체 Light"/>
                  <a:cs typeface="KoPubWorld돋움체 Light"/>
                </a:rPr>
                <a:t>• Going-in </a:t>
              </a:r>
              <a:r>
                <a:rPr lang="en-US" altLang="ko-KR" sz="1100" dirty="0" err="1">
                  <a:solidFill>
                    <a:srgbClr val="1A1A1A"/>
                  </a:solidFill>
                  <a:latin typeface="KoPubWorld돋움체 Light"/>
                  <a:ea typeface="KoPubWorld돋움체 Light"/>
                  <a:cs typeface="KoPubWorld돋움체 Light"/>
                </a:rPr>
                <a:t>Cap.Rate</a:t>
              </a:r>
              <a:r>
                <a:rPr lang="en-US" altLang="ko-KR" sz="1100" dirty="0">
                  <a:solidFill>
                    <a:srgbClr val="1A1A1A"/>
                  </a:solidFill>
                  <a:latin typeface="KoPubWorld돋움체 Light"/>
                  <a:ea typeface="KoPubWorld돋움체 Light"/>
                  <a:cs typeface="KoPubWorld돋움체 Light"/>
                </a:rPr>
                <a:t> </a:t>
              </a:r>
              <a:r>
                <a:rPr lang="ko-KR" altLang="en-US" sz="1100" dirty="0">
                  <a:solidFill>
                    <a:srgbClr val="1A1A1A"/>
                  </a:solidFill>
                  <a:latin typeface="KoPubWorld돋움체 Light"/>
                  <a:ea typeface="KoPubWorld돋움체 Light"/>
                  <a:cs typeface="KoPubWorld돋움체 Light"/>
                </a:rPr>
                <a:t>낮아도 </a:t>
              </a: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Upside Potential</a:t>
              </a:r>
            </a:p>
            <a:p>
              <a:pPr algn="l">
                <a:lnSpc>
                  <a:spcPct val="120000"/>
                </a:lnSpc>
              </a:pPr>
              <a:r>
                <a:rPr lang="en-US" altLang="ko-KR"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1A1A1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자산에 대하여 가격 상승을 반영</a:t>
              </a:r>
              <a:r>
                <a:rPr lang="ko-KR" altLang="en-US" sz="1100" dirty="0">
                  <a:solidFill>
                    <a:srgbClr val="1A1A1A"/>
                  </a:solidFill>
                  <a:latin typeface="KoPubWorld돋움체 Light"/>
                  <a:ea typeface="KoPubWorld돋움체 Light"/>
                  <a:cs typeface="KoPubWorld돋움체 Light"/>
                </a:rPr>
                <a:t>하여 투자가 진행</a:t>
              </a:r>
              <a:endParaRPr lang="en-US" altLang="ko-KR" sz="1100" dirty="0">
                <a:solidFill>
                  <a:srgbClr val="1A1A1A"/>
                </a:solidFill>
                <a:latin typeface="KoPubWorld돋움체 Light"/>
                <a:ea typeface="KoPubWorld돋움체 Light"/>
                <a:cs typeface="KoPubWorld돋움체 Light"/>
              </a:endParaRPr>
            </a:p>
          </p:txBody>
        </p:sp>
        <p:sp>
          <p:nvSpPr>
            <p:cNvPr id="75" name="화살표: 오른쪽 74">
              <a:extLst>
                <a:ext uri="{FF2B5EF4-FFF2-40B4-BE49-F238E27FC236}">
                  <a16:creationId xmlns:a16="http://schemas.microsoft.com/office/drawing/2014/main" id="{A61C8E01-377E-4CD2-AEFC-4ED202AA8934}"/>
                </a:ext>
              </a:extLst>
            </p:cNvPr>
            <p:cNvSpPr/>
            <p:nvPr/>
          </p:nvSpPr>
          <p:spPr>
            <a:xfrm>
              <a:off x="3644900" y="4227217"/>
              <a:ext cx="152400" cy="223520"/>
            </a:xfrm>
            <a:prstGeom prst="rightArrow">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6" name="화살표: 오른쪽 75">
              <a:extLst>
                <a:ext uri="{FF2B5EF4-FFF2-40B4-BE49-F238E27FC236}">
                  <a16:creationId xmlns:a16="http://schemas.microsoft.com/office/drawing/2014/main" id="{C225EF6E-D72D-4D7A-8555-87E1EEB66C8A}"/>
                </a:ext>
              </a:extLst>
            </p:cNvPr>
            <p:cNvSpPr/>
            <p:nvPr/>
          </p:nvSpPr>
          <p:spPr>
            <a:xfrm>
              <a:off x="6997700" y="4227217"/>
              <a:ext cx="152400" cy="223520"/>
            </a:xfrm>
            <a:prstGeom prst="rightArrow">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sp>
        <p:nvSpPr>
          <p:cNvPr id="80" name="TextBox 79">
            <a:extLst>
              <a:ext uri="{FF2B5EF4-FFF2-40B4-BE49-F238E27FC236}">
                <a16:creationId xmlns:a16="http://schemas.microsoft.com/office/drawing/2014/main" id="{5660E861-1523-E9E7-C46C-4444D03439E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물류센터는 신축공급 절벽의 영향으로 </a:t>
            </a:r>
            <a:r>
              <a:rPr lang="en-US" altLang="ko-KR" sz="1600" dirty="0">
                <a:solidFill>
                  <a:schemeClr val="tx1"/>
                </a:solidFill>
              </a:rPr>
              <a:t>’26</a:t>
            </a:r>
            <a:r>
              <a:rPr lang="ko-KR" altLang="en-US" sz="1600" dirty="0">
                <a:solidFill>
                  <a:schemeClr val="tx1"/>
                </a:solidFill>
              </a:rPr>
              <a:t>년 이후 임대료 및 거래가격이 동반 반등하는 추세임</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상승여력이 있는 물건을 중심으로 거래가 소화되면서</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상승여력이 있는 자산에 대한 프리미엄이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상승중</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TextBox 3">
            <a:extLst>
              <a:ext uri="{FF2B5EF4-FFF2-40B4-BE49-F238E27FC236}">
                <a16:creationId xmlns:a16="http://schemas.microsoft.com/office/drawing/2014/main" id="{AFEDEBA5-6595-D66A-EF8E-973B39126136}"/>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임대료는 상온 기준</a:t>
            </a:r>
          </a:p>
        </p:txBody>
      </p:sp>
      <p:grpSp>
        <p:nvGrpSpPr>
          <p:cNvPr id="6" name="그룹 5">
            <a:extLst>
              <a:ext uri="{FF2B5EF4-FFF2-40B4-BE49-F238E27FC236}">
                <a16:creationId xmlns:a16="http://schemas.microsoft.com/office/drawing/2014/main" id="{507FD395-CECB-2BB0-2443-B7F39B908600}"/>
              </a:ext>
            </a:extLst>
          </p:cNvPr>
          <p:cNvGrpSpPr/>
          <p:nvPr/>
        </p:nvGrpSpPr>
        <p:grpSpPr>
          <a:xfrm>
            <a:off x="458887" y="1987916"/>
            <a:ext cx="9783663" cy="247712"/>
            <a:chOff x="417444" y="1605420"/>
            <a:chExt cx="8983731" cy="247712"/>
          </a:xfrm>
        </p:grpSpPr>
        <p:sp>
          <p:nvSpPr>
            <p:cNvPr id="7" name="직사각형 6">
              <a:extLst>
                <a:ext uri="{FF2B5EF4-FFF2-40B4-BE49-F238E27FC236}">
                  <a16:creationId xmlns:a16="http://schemas.microsoft.com/office/drawing/2014/main" id="{26407D76-07E5-81C8-8325-F06C608FAB6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C3AB00CC-391D-0541-4583-D5F4BAD60A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 name="자유형 6">
              <a:extLst>
                <a:ext uri="{FF2B5EF4-FFF2-40B4-BE49-F238E27FC236}">
                  <a16:creationId xmlns:a16="http://schemas.microsoft.com/office/drawing/2014/main" id="{C6328650-E1C5-CF9B-6D25-1399DFEA494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 name="자유형 7">
              <a:extLst>
                <a:ext uri="{FF2B5EF4-FFF2-40B4-BE49-F238E27FC236}">
                  <a16:creationId xmlns:a16="http://schemas.microsoft.com/office/drawing/2014/main" id="{FFA19557-F77D-D781-FA74-2A16220F12C0}"/>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A4DEB57D-CB71-34E3-63D9-C77004F3F04C}"/>
                </a:ext>
              </a:extLst>
            </p:cNvPr>
            <p:cNvSpPr txBox="1"/>
            <p:nvPr/>
          </p:nvSpPr>
          <p:spPr>
            <a:xfrm>
              <a:off x="417444" y="1652332"/>
              <a:ext cx="143321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물류마켓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Overview</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9" name="TextBox 78">
            <a:extLst>
              <a:ext uri="{FF2B5EF4-FFF2-40B4-BE49-F238E27FC236}">
                <a16:creationId xmlns:a16="http://schemas.microsoft.com/office/drawing/2014/main" id="{DB560C66-DBA8-EC5C-260F-DED83F1D297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15300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37772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endParaRPr lang="ko-KR" altLang="en-US"/>
                    </a:p>
                  </a:txBody>
                  <a:tcP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주 임차인</a:t>
            </a:r>
            <a:r>
              <a:rPr lang="en-US" altLang="ko-KR" sz="900" dirty="0">
                <a:latin typeface="KoPubWorld돋움체 Light" panose="00000300000000000000" pitchFamily="2" charset="-127"/>
                <a:ea typeface="KoPubWorld돋움체 Light" panose="00000300000000000000" pitchFamily="2" charset="-127"/>
              </a:rPr>
              <a:t>(76.5%) </a:t>
            </a:r>
            <a:r>
              <a:rPr lang="ko-KR" altLang="en-US" sz="900" dirty="0">
                <a:latin typeface="KoPubWorld돋움체 Light" panose="00000300000000000000" pitchFamily="2" charset="-127"/>
                <a:ea typeface="KoPubWorld돋움체 Light" panose="00000300000000000000" pitchFamily="2" charset="-127"/>
              </a:rPr>
              <a:t>인 </a:t>
            </a:r>
            <a:r>
              <a:rPr lang="ko-KR" altLang="en-US" sz="900" dirty="0" err="1">
                <a:latin typeface="KoPubWorld돋움체 Light" panose="00000300000000000000" pitchFamily="2" charset="-127"/>
                <a:ea typeface="KoPubWorld돋움체 Light" panose="00000300000000000000" pitchFamily="2" charset="-127"/>
              </a:rPr>
              <a:t>쿠팡에</a:t>
            </a:r>
            <a:r>
              <a:rPr lang="ko-KR" altLang="en-US" sz="900" dirty="0">
                <a:latin typeface="KoPubWorld돋움체 Light" panose="00000300000000000000" pitchFamily="2" charset="-127"/>
                <a:ea typeface="KoPubWorld돋움체 Light" panose="00000300000000000000" pitchFamily="2" charset="-127"/>
              </a:rPr>
              <a:t> 한하며</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시설 전체 평균 </a:t>
            </a:r>
            <a:r>
              <a:rPr lang="en-US" altLang="ko-KR" sz="900" dirty="0">
                <a:latin typeface="KoPubWorld돋움체 Light" panose="00000300000000000000" pitchFamily="2" charset="-127"/>
                <a:ea typeface="KoPubWorld돋움체 Light" panose="00000300000000000000" pitchFamily="2" charset="-127"/>
              </a:rPr>
              <a:t>Effective Rent</a:t>
            </a:r>
            <a:r>
              <a:rPr lang="ko-KR" altLang="en-US" sz="900" dirty="0">
                <a:latin typeface="KoPubWorld돋움체 Light" panose="00000300000000000000" pitchFamily="2" charset="-127"/>
                <a:ea typeface="KoPubWorld돋움체 Light" panose="00000300000000000000" pitchFamily="2" charset="-127"/>
              </a:rPr>
              <a:t>는 약 </a:t>
            </a:r>
            <a:r>
              <a:rPr lang="en-US" altLang="ko-KR" sz="900" dirty="0">
                <a:latin typeface="KoPubWorld돋움체 Light" panose="00000300000000000000" pitchFamily="2" charset="-127"/>
                <a:ea typeface="KoPubWorld돋움체 Light" panose="00000300000000000000" pitchFamily="2" charset="-127"/>
              </a:rPr>
              <a:t>58</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 수준</a:t>
            </a:r>
            <a:endParaRPr lang="en-US" altLang="ko-KR" sz="900" dirty="0">
              <a:latin typeface="KoPubWorld돋움체 Light" panose="00000300000000000000" pitchFamily="2" charset="-127"/>
              <a:ea typeface="KoPubWorld돋움체 Light" panose="00000300000000000000" pitchFamily="2" charset="-127"/>
            </a:endParaRP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247A682-69C1-F266-6873-AE79ACDB52FF}"/>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임대료는 상온 기준</a:t>
            </a:r>
          </a:p>
        </p:txBody>
      </p:sp>
      <p:sp>
        <p:nvSpPr>
          <p:cNvPr id="11" name="직사각형 10">
            <a:extLst>
              <a:ext uri="{FF2B5EF4-FFF2-40B4-BE49-F238E27FC236}">
                <a16:creationId xmlns:a16="http://schemas.microsoft.com/office/drawing/2014/main" id="{90D62638-612E-4B38-B391-FBBB4EBC3C0A}"/>
              </a:ext>
            </a:extLst>
          </p:cNvPr>
          <p:cNvSpPr/>
          <p:nvPr/>
        </p:nvSpPr>
        <p:spPr>
          <a:xfrm>
            <a:off x="485366" y="6252018"/>
            <a:ext cx="9779000" cy="262396"/>
          </a:xfrm>
          <a:prstGeom prst="rect">
            <a:avLst/>
          </a:prstGeom>
          <a:solidFill>
            <a:srgbClr val="FFF4E6"/>
          </a:solidFill>
          <a:ln w="9525" cap="flat" cmpd="sng" algn="ctr">
            <a:solidFill>
              <a:srgbClr val="C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lstStyle/>
          <a:p>
            <a:pPr algn="l"/>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본건 현 시설 평균 임대수준인 </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 58</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평은 서울 복합</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100" b="1" dirty="0" err="1">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수준으로 권역 임대료 하단 </a:t>
            </a:r>
            <a:r>
              <a:rPr lang="en-US" altLang="ko-KR"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재계약 시 임대료 업사이드 확보</a:t>
            </a:r>
          </a:p>
        </p:txBody>
      </p:sp>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62456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 임대료 수준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핵심입지 </a:t>
            </a:r>
            <a:r>
              <a:rPr lang="en-US" altLang="ko-KR" sz="1600" dirty="0">
                <a:solidFill>
                  <a:schemeClr val="tx1"/>
                </a:solidFill>
              </a:rPr>
              <a:t>Last-mile </a:t>
            </a:r>
            <a:r>
              <a:rPr lang="ko-KR" altLang="en-US" sz="1600" dirty="0">
                <a:solidFill>
                  <a:schemeClr val="tx1"/>
                </a:solidFill>
              </a:rPr>
              <a:t>물류센터 상온 임대사례는 </a:t>
            </a:r>
            <a:r>
              <a:rPr lang="en-US" altLang="ko-KR" sz="1600" dirty="0">
                <a:solidFill>
                  <a:schemeClr val="tx1"/>
                </a:solidFill>
              </a:rPr>
              <a:t>Eff. Rent 4.7</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a:t>
            </a:r>
            <a:r>
              <a:rPr lang="en-US" altLang="ko-KR" sz="1600" dirty="0">
                <a:solidFill>
                  <a:schemeClr val="tx1"/>
                </a:solidFill>
              </a:rPr>
              <a:t>~6.0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 수준으로 분포</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건의 경우 전체 면적에 대한 평균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Eff. Rent 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수준으로 향후 상승여력에 대한 기대 가능</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TextBox 1">
            <a:extLst>
              <a:ext uri="{FF2B5EF4-FFF2-40B4-BE49-F238E27FC236}">
                <a16:creationId xmlns:a16="http://schemas.microsoft.com/office/drawing/2014/main" id="{2DB4DC07-AAC4-5A54-B202-9643BADF4E4F}"/>
              </a:ext>
            </a:extLst>
          </p:cNvPr>
          <p:cNvSpPr txBox="1"/>
          <p:nvPr/>
        </p:nvSpPr>
        <p:spPr>
          <a:xfrm>
            <a:off x="5671924"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기준</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시설 별 평균 임대료 수준</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그룹 매매 및 임대현황</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 name="표 3">
            <a:extLst>
              <a:ext uri="{FF2B5EF4-FFF2-40B4-BE49-F238E27FC236}">
                <a16:creationId xmlns:a16="http://schemas.microsoft.com/office/drawing/2014/main" id="{2A14C376-3E08-55AE-6F45-F74094263E81}"/>
              </a:ext>
            </a:extLst>
          </p:cNvPr>
          <p:cNvGraphicFramePr>
            <a:graphicFrameLocks noGrp="1"/>
          </p:cNvGraphicFramePr>
          <p:nvPr>
            <p:extLst>
              <p:ext uri="{D42A27DB-BD31-4B8C-83A1-F6EECF244321}">
                <p14:modId xmlns:p14="http://schemas.microsoft.com/office/powerpoint/2010/main" val="3095653133"/>
              </p:ext>
            </p:extLst>
          </p:nvPr>
        </p:nvGraphicFramePr>
        <p:xfrm>
          <a:off x="458886" y="2382827"/>
          <a:ext cx="9853513" cy="3737641"/>
        </p:xfrm>
        <a:graphic>
          <a:graphicData uri="http://schemas.openxmlformats.org/drawingml/2006/table">
            <a:tbl>
              <a:tblPr firstRow="1" bandRow="1"/>
              <a:tblGrid>
                <a:gridCol w="807665">
                  <a:extLst>
                    <a:ext uri="{9D8B030D-6E8A-4147-A177-3AD203B41FA5}">
                      <a16:colId xmlns:a16="http://schemas.microsoft.com/office/drawing/2014/main" val="652098296"/>
                    </a:ext>
                  </a:extLst>
                </a:gridCol>
                <a:gridCol w="1130731">
                  <a:extLst>
                    <a:ext uri="{9D8B030D-6E8A-4147-A177-3AD203B41FA5}">
                      <a16:colId xmlns:a16="http://schemas.microsoft.com/office/drawing/2014/main" val="2561274320"/>
                    </a:ext>
                  </a:extLst>
                </a:gridCol>
                <a:gridCol w="1130731">
                  <a:extLst>
                    <a:ext uri="{9D8B030D-6E8A-4147-A177-3AD203B41FA5}">
                      <a16:colId xmlns:a16="http://schemas.microsoft.com/office/drawing/2014/main" val="3486997258"/>
                    </a:ext>
                  </a:extLst>
                </a:gridCol>
                <a:gridCol w="1130731">
                  <a:extLst>
                    <a:ext uri="{9D8B030D-6E8A-4147-A177-3AD203B41FA5}">
                      <a16:colId xmlns:a16="http://schemas.microsoft.com/office/drawing/2014/main" val="3900631156"/>
                    </a:ext>
                  </a:extLst>
                </a:gridCol>
                <a:gridCol w="1130731">
                  <a:extLst>
                    <a:ext uri="{9D8B030D-6E8A-4147-A177-3AD203B41FA5}">
                      <a16:colId xmlns:a16="http://schemas.microsoft.com/office/drawing/2014/main" val="2916642655"/>
                    </a:ext>
                  </a:extLst>
                </a:gridCol>
                <a:gridCol w="1130731">
                  <a:extLst>
                    <a:ext uri="{9D8B030D-6E8A-4147-A177-3AD203B41FA5}">
                      <a16:colId xmlns:a16="http://schemas.microsoft.com/office/drawing/2014/main" val="669351211"/>
                    </a:ext>
                  </a:extLst>
                </a:gridCol>
                <a:gridCol w="1130731">
                  <a:extLst>
                    <a:ext uri="{9D8B030D-6E8A-4147-A177-3AD203B41FA5}">
                      <a16:colId xmlns:a16="http://schemas.microsoft.com/office/drawing/2014/main" val="2829689093"/>
                    </a:ext>
                  </a:extLst>
                </a:gridCol>
                <a:gridCol w="1130731">
                  <a:extLst>
                    <a:ext uri="{9D8B030D-6E8A-4147-A177-3AD203B41FA5}">
                      <a16:colId xmlns:a16="http://schemas.microsoft.com/office/drawing/2014/main" val="1186410053"/>
                    </a:ext>
                  </a:extLst>
                </a:gridCol>
                <a:gridCol w="1130731">
                  <a:extLst>
                    <a:ext uri="{9D8B030D-6E8A-4147-A177-3AD203B41FA5}">
                      <a16:colId xmlns:a16="http://schemas.microsoft.com/office/drawing/2014/main" val="1148353427"/>
                    </a:ext>
                  </a:extLst>
                </a:gridCol>
              </a:tblGrid>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부천삼정동물류센터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야탑물류센터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로지스김포고촌</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1013068048"/>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소재지</a:t>
                      </a:r>
                    </a:p>
                  </a:txBody>
                  <a:tcPr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 장지동</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875</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삼정동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분당구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야탑동</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222-11</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 오금동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687</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p>
                  </a:txBody>
                  <a:tcPr marL="9525" marR="9525" marT="9525"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87199446"/>
                  </a:ext>
                </a:extLst>
              </a:tr>
              <a:tr h="900000">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3"/>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4"/>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5"/>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6"/>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7"/>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8"/>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9"/>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blipFill>
                      <a:blip r:embed="rId10"/>
                      <a:stretch>
                        <a:fillRect/>
                      </a:stretch>
                    </a:blipFill>
                  </a:tcPr>
                </a:tc>
                <a:extLst>
                  <a:ext uri="{0D108BD9-81ED-4DB2-BD59-A6C34878D82A}">
                    <a16:rowId xmlns:a16="http://schemas.microsoft.com/office/drawing/2014/main" val="4062539357"/>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519087316"/>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준공연도</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3857847"/>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B3/5F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46119135"/>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1200"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altLang="en-US" sz="1000" b="0" i="0" u="none" strike="noStrike" kern="1200"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06819972"/>
                  </a:ext>
                </a:extLst>
              </a:tr>
              <a:tr h="275792">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27230375"/>
                  </a:ext>
                </a:extLst>
              </a:tr>
              <a:tr h="275792">
                <a:tc>
                  <a:txBody>
                    <a:bodyPr/>
                    <a:lstStyle/>
                    <a:p>
                      <a:pPr marL="0" algn="ctr" defTabSz="914400" rtl="0" eaLnBrk="1" latinLnBrk="1" hangingPunct="1"/>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R/F+TI(M)</a:t>
                      </a:r>
                      <a:endPar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3618875130"/>
                  </a:ext>
                </a:extLst>
              </a:tr>
              <a:tr h="275792">
                <a:tc>
                  <a:txBody>
                    <a:bodyPr/>
                    <a:lstStyle/>
                    <a:p>
                      <a:pPr marL="0" algn="ctr" defTabSz="914400" rtl="0" eaLnBrk="1" latinLnBrk="1" hangingPunct="1"/>
                      <a:r>
                        <a:rPr lang="en-US" altLang="ko-KR"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endParaRPr lang="ko-KR" altLang="en-US" sz="1000" kern="1200"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54,300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48,000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53,500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32044065"/>
                  </a:ext>
                </a:extLst>
              </a:tr>
              <a:tr h="355513">
                <a:tc>
                  <a:txBody>
                    <a:bodyPr/>
                    <a:lstStyle/>
                    <a:p>
                      <a:pPr marL="0" algn="ctr" defTabSz="914400" rtl="0" eaLnBrk="1" latinLnBrk="1" hangingPunct="1"/>
                      <a:r>
                        <a:rPr lang="ko-KR" altLang="en-US" sz="10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 임차인</a:t>
                      </a:r>
                    </a:p>
                  </a:txBody>
                  <a:tcPr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마켓컬리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한진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선임차</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쿠팡로지스틱스</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세이고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GS</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네트웍스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GS</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 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746225995"/>
                  </a:ext>
                </a:extLst>
              </a:tr>
            </a:tbl>
          </a:graphicData>
        </a:graphic>
      </p:graphicFrame>
      <p:sp>
        <p:nvSpPr>
          <p:cNvPr id="7" name="직사각형 6">
            <a:extLst>
              <a:ext uri="{FF2B5EF4-FFF2-40B4-BE49-F238E27FC236}">
                <a16:creationId xmlns:a16="http://schemas.microsoft.com/office/drawing/2014/main" id="{E3143C9E-B99E-07EA-52EC-446B3A302F96}"/>
              </a:ext>
            </a:extLst>
          </p:cNvPr>
          <p:cNvSpPr/>
          <p:nvPr/>
        </p:nvSpPr>
        <p:spPr>
          <a:xfrm>
            <a:off x="1277454" y="2381911"/>
            <a:ext cx="1138208" cy="3737641"/>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매매사례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라스트마일</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핵심입지 </a:t>
            </a:r>
            <a:r>
              <a:rPr lang="en-US" altLang="ko-KR" sz="1600" dirty="0">
                <a:solidFill>
                  <a:schemeClr val="tx1"/>
                </a:solidFill>
              </a:rPr>
              <a:t>Last-mile</a:t>
            </a:r>
            <a:r>
              <a:rPr lang="ko-KR" altLang="en-US" sz="1600" dirty="0">
                <a:solidFill>
                  <a:schemeClr val="tx1"/>
                </a:solidFill>
              </a:rPr>
              <a:t> 물류센터 매매사례는 연면적 평당 </a:t>
            </a:r>
            <a:r>
              <a:rPr lang="en-US" altLang="ko-KR" sz="1600" dirty="0">
                <a:solidFill>
                  <a:schemeClr val="tx1"/>
                </a:solidFill>
              </a:rPr>
              <a:t>900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a:t>
            </a:r>
            <a:r>
              <a:rPr lang="en-US" altLang="ko-KR" sz="1600" dirty="0">
                <a:solidFill>
                  <a:schemeClr val="tx1"/>
                </a:solidFill>
              </a:rPr>
              <a:t>~1,250</a:t>
            </a:r>
            <a:r>
              <a:rPr lang="ko-KR" altLang="en-US" sz="1600" dirty="0">
                <a:solidFill>
                  <a:schemeClr val="tx1"/>
                </a:solidFill>
              </a:rPr>
              <a:t>만원</a:t>
            </a:r>
            <a:r>
              <a:rPr lang="en-US" altLang="ko-KR" sz="1600" dirty="0">
                <a:solidFill>
                  <a:schemeClr val="tx1"/>
                </a:solidFill>
              </a:rPr>
              <a:t>/</a:t>
            </a:r>
            <a:r>
              <a:rPr lang="ko-KR" altLang="en-US" sz="1600" dirty="0">
                <a:solidFill>
                  <a:schemeClr val="tx1"/>
                </a:solidFill>
              </a:rPr>
              <a:t>평 수준으로 분포</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건의 경우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자산으로서 규모 및 입지적 경쟁력을 감안 시 낮은 가격 수준의 거래로 판단됨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직사각형 1">
            <a:extLst>
              <a:ext uri="{FF2B5EF4-FFF2-40B4-BE49-F238E27FC236}">
                <a16:creationId xmlns:a16="http://schemas.microsoft.com/office/drawing/2014/main" id="{08DFB19A-0A00-CCB4-FFE5-45FAF4920204}"/>
              </a:ext>
            </a:extLst>
          </p:cNvPr>
          <p:cNvSpPr/>
          <p:nvPr/>
        </p:nvSpPr>
        <p:spPr>
          <a:xfrm>
            <a:off x="485366" y="6408129"/>
            <a:ext cx="9779000" cy="262396"/>
          </a:xfrm>
          <a:prstGeom prst="rect">
            <a:avLst/>
          </a:prstGeom>
          <a:solidFill>
            <a:srgbClr val="FFF4E6"/>
          </a:solidFill>
          <a:ln w="9525" cap="flat" cmpd="sng" algn="ctr">
            <a:solidFill>
              <a:srgbClr val="C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lstStyle/>
          <a:p>
            <a:r>
              <a:rPr lang="ko-KR" altLang="en-US" sz="1100" b="1" dirty="0">
                <a:solidFill>
                  <a:srgbClr val="8B0000"/>
                </a:solidFill>
                <a:latin typeface="KoPubWorld돋움체 Light"/>
                <a:ea typeface="KoPubWorld돋움체 Light"/>
                <a:cs typeface="KoPubWorld돋움체 Light"/>
              </a:rPr>
              <a:t>  ▶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강남권역 </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15km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접근 가능한 자산으로</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 경쟁력 대비 합리적 매입가 </a:t>
            </a:r>
            <a:r>
              <a:rPr lang="en-US" altLang="ko-KR"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거래사례 대비 입지 프리미엄 未반영</a:t>
            </a:r>
          </a:p>
        </p:txBody>
      </p:sp>
      <p:sp>
        <p:nvSpPr>
          <p:cNvPr id="11" name="TextBox 10">
            <a:extLst>
              <a:ext uri="{FF2B5EF4-FFF2-40B4-BE49-F238E27FC236}">
                <a16:creationId xmlns:a16="http://schemas.microsoft.com/office/drawing/2014/main" id="{60B96980-EF3A-18BE-1892-4847C72E912C}"/>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Savills Korea Logistics Market Report / 단위: 원/평, 매매가는 상온 기준</a:t>
            </a:r>
          </a:p>
        </p:txBody>
      </p:sp>
      <p:sp>
        <p:nvSpPr>
          <p:cNvPr id="13" name="직사각형 12">
            <a:extLst>
              <a:ext uri="{FF2B5EF4-FFF2-40B4-BE49-F238E27FC236}">
                <a16:creationId xmlns:a16="http://schemas.microsoft.com/office/drawing/2014/main" id="{D97D4D00-9C2F-2BD3-0AA2-C14A910EAF72}"/>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E282BFBD-6A7F-33BC-F142-5AB37AE73C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FF080439-4873-F7AB-FA67-D569A53CFE76}"/>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Peer</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그룹 매매 및 임대현황</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2" name="표 11">
            <a:extLst>
              <a:ext uri="{FF2B5EF4-FFF2-40B4-BE49-F238E27FC236}">
                <a16:creationId xmlns:a16="http://schemas.microsoft.com/office/drawing/2014/main" id="{A8DD323F-C0EF-C319-B285-D68242F54206}"/>
              </a:ext>
            </a:extLst>
          </p:cNvPr>
          <p:cNvGraphicFramePr>
            <a:graphicFrameLocks noGrp="1"/>
          </p:cNvGraphicFramePr>
          <p:nvPr>
            <p:extLst>
              <p:ext uri="{D42A27DB-BD31-4B8C-83A1-F6EECF244321}">
                <p14:modId xmlns:p14="http://schemas.microsoft.com/office/powerpoint/2010/main" val="247840500"/>
              </p:ext>
            </p:extLst>
          </p:nvPr>
        </p:nvGraphicFramePr>
        <p:xfrm>
          <a:off x="458888" y="2381911"/>
          <a:ext cx="9853511" cy="3902367"/>
        </p:xfrm>
        <a:graphic>
          <a:graphicData uri="http://schemas.openxmlformats.org/drawingml/2006/table">
            <a:tbl>
              <a:tblPr firstRow="1" bandRow="1"/>
              <a:tblGrid>
                <a:gridCol w="808839">
                  <a:extLst>
                    <a:ext uri="{9D8B030D-6E8A-4147-A177-3AD203B41FA5}">
                      <a16:colId xmlns:a16="http://schemas.microsoft.com/office/drawing/2014/main" val="652098296"/>
                    </a:ext>
                  </a:extLst>
                </a:gridCol>
                <a:gridCol w="1130584">
                  <a:extLst>
                    <a:ext uri="{9D8B030D-6E8A-4147-A177-3AD203B41FA5}">
                      <a16:colId xmlns:a16="http://schemas.microsoft.com/office/drawing/2014/main" val="1830811667"/>
                    </a:ext>
                  </a:extLst>
                </a:gridCol>
                <a:gridCol w="1130584">
                  <a:extLst>
                    <a:ext uri="{9D8B030D-6E8A-4147-A177-3AD203B41FA5}">
                      <a16:colId xmlns:a16="http://schemas.microsoft.com/office/drawing/2014/main" val="2291381386"/>
                    </a:ext>
                  </a:extLst>
                </a:gridCol>
                <a:gridCol w="1130584">
                  <a:extLst>
                    <a:ext uri="{9D8B030D-6E8A-4147-A177-3AD203B41FA5}">
                      <a16:colId xmlns:a16="http://schemas.microsoft.com/office/drawing/2014/main" val="74910637"/>
                    </a:ext>
                  </a:extLst>
                </a:gridCol>
                <a:gridCol w="1130584">
                  <a:extLst>
                    <a:ext uri="{9D8B030D-6E8A-4147-A177-3AD203B41FA5}">
                      <a16:colId xmlns:a16="http://schemas.microsoft.com/office/drawing/2014/main" val="79899230"/>
                    </a:ext>
                  </a:extLst>
                </a:gridCol>
                <a:gridCol w="1130584">
                  <a:extLst>
                    <a:ext uri="{9D8B030D-6E8A-4147-A177-3AD203B41FA5}">
                      <a16:colId xmlns:a16="http://schemas.microsoft.com/office/drawing/2014/main" val="3406948910"/>
                    </a:ext>
                  </a:extLst>
                </a:gridCol>
                <a:gridCol w="1130584">
                  <a:extLst>
                    <a:ext uri="{9D8B030D-6E8A-4147-A177-3AD203B41FA5}">
                      <a16:colId xmlns:a16="http://schemas.microsoft.com/office/drawing/2014/main" val="2039103635"/>
                    </a:ext>
                  </a:extLst>
                </a:gridCol>
                <a:gridCol w="1130584">
                  <a:extLst>
                    <a:ext uri="{9D8B030D-6E8A-4147-A177-3AD203B41FA5}">
                      <a16:colId xmlns:a16="http://schemas.microsoft.com/office/drawing/2014/main" val="1078638406"/>
                    </a:ext>
                  </a:extLst>
                </a:gridCol>
                <a:gridCol w="1130584">
                  <a:extLst>
                    <a:ext uri="{9D8B030D-6E8A-4147-A177-3AD203B41FA5}">
                      <a16:colId xmlns:a16="http://schemas.microsoft.com/office/drawing/2014/main" val="2852693973"/>
                    </a:ext>
                  </a:extLst>
                </a:gridCol>
              </a:tblGrid>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로지스남양주</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모우 김포물류센터</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김포성광물류센터</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SSG</a:t>
                      </a: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닷컴 네오</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003</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MQ</a:t>
                      </a: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로지스김포고촌</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하남미사지구</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2049158771"/>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소재지</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spc="-15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a:t>
                      </a:r>
                      <a:r>
                        <a:rPr lang="ko-KR" altLang="en-US"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spc="-15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차산리</a:t>
                      </a:r>
                      <a:r>
                        <a:rPr lang="ko-KR" altLang="en-US"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spc="-15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434-6</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737</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648</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전호리</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 </a:t>
                      </a:r>
                      <a:r>
                        <a:rPr lang="ko-KR" altLang="en-US" sz="1000" b="0" i="0" u="none" strike="noStrike" kern="1200" dirty="0" err="1">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내동</a:t>
                      </a:r>
                      <a:r>
                        <a:rPr lang="ko-KR" altLang="en-US"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222-11</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2367200722"/>
                  </a:ext>
                </a:extLst>
              </a:tr>
              <a:tr h="810364">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사진</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3"/>
                      <a:stretch>
                        <a:fillRect/>
                      </a:stretch>
                    </a:blipFill>
                  </a:tcPr>
                </a:tc>
                <a:tc>
                  <a:txBody>
                    <a:bodyPr/>
                    <a:lstStyle/>
                    <a:p>
                      <a:pPr algn="ctr" latinLnBrk="1"/>
                      <a:endParaRPr lang="ko-KR" altLang="en-US" sz="10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4"/>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5"/>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6"/>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7"/>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8"/>
                      <a:stretch>
                        <a:fillRect/>
                      </a:stretch>
                    </a:blipFill>
                  </a:tcPr>
                </a:tc>
                <a:tc>
                  <a:txBody>
                    <a:bodyPr/>
                    <a:lstStyle/>
                    <a:p>
                      <a:pPr algn="ctr" latinLnBrk="1"/>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9"/>
                      <a:stretch>
                        <a:fillRect/>
                      </a:stretch>
                    </a:blipFill>
                  </a:tcPr>
                </a:tc>
                <a:tc>
                  <a:txBody>
                    <a:bodyPr/>
                    <a:lstStyle/>
                    <a:p>
                      <a:pPr algn="ctr" latinLnBrk="1"/>
                      <a:endParaRPr lang="ko-KR" altLang="en-US" sz="10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blipFill>
                      <a:blip r:embed="rId10"/>
                      <a:stretch>
                        <a:fillRect/>
                      </a:stretch>
                    </a:blipFill>
                  </a:tcPr>
                </a:tc>
                <a:extLst>
                  <a:ext uri="{0D108BD9-81ED-4DB2-BD59-A6C34878D82A}">
                    <a16:rowId xmlns:a16="http://schemas.microsoft.com/office/drawing/2014/main" val="4062539357"/>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57847"/>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65764590"/>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p>
                  </a:txBody>
                  <a:tcPr marL="0" marR="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46119135"/>
                  </a:ext>
                </a:extLst>
              </a:tr>
              <a:tr h="273372">
                <a:tc>
                  <a:txBody>
                    <a:bodyPr/>
                    <a:lstStyle/>
                    <a:p>
                      <a:pPr marL="0" algn="ctr" defTabSz="914400" rtl="0" eaLnBrk="1" latinLnBrk="1" hangingPunct="1"/>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92827603"/>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거래시점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Q3/2026 (</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예정</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94070861"/>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매매가격</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2,700</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6819972"/>
                  </a:ext>
                </a:extLst>
              </a:tr>
              <a:tr h="273372">
                <a:tc>
                  <a:txBody>
                    <a:bodyPr/>
                    <a:lstStyle/>
                    <a:p>
                      <a:pPr marL="0" algn="ctr" defTabSz="914400" rtl="0" eaLnBrk="1" latinLnBrk="1" hangingPunct="1"/>
                      <a:r>
                        <a:rPr lang="ko-KR" altLang="en-US" sz="1000" b="0" i="0" u="none" strike="noStrike" kern="1200" spc="0" dirty="0" err="1">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r>
                        <a:rPr lang="en-US" altLang="ko-KR"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kern="1200" spc="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36000" marB="3600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921</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 </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p>
                  </a:txBody>
                  <a:tcPr marL="9525" marR="9525" marT="36000" marB="3600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7230375"/>
                  </a:ext>
                </a:extLst>
              </a:tr>
              <a:tr h="273372">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코크렙안양</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PFV</a:t>
                      </a:r>
                      <a:endPar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닷컴</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32044065"/>
                  </a:ext>
                </a:extLst>
              </a:tr>
              <a:tr h="358283">
                <a:tc>
                  <a:txBody>
                    <a:bodyPr/>
                    <a:lstStyle/>
                    <a:p>
                      <a:pPr marL="0" algn="ctr" defTabSz="914400" rtl="0" eaLnBrk="1" latinLnBrk="1" hangingPunct="1"/>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매수자</a:t>
                      </a:r>
                    </a:p>
                  </a:txBody>
                  <a:tcPr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리츠</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endPar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자산운용</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PFV</a:t>
                      </a: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tc>
                  <a:txBody>
                    <a:body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endPar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bg1">
                          <a:lumMod val="8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894955516"/>
                  </a:ext>
                </a:extLst>
              </a:tr>
            </a:tbl>
          </a:graphicData>
        </a:graphic>
      </p:graphicFrame>
      <p:sp>
        <p:nvSpPr>
          <p:cNvPr id="19" name="직사각형 18">
            <a:extLst>
              <a:ext uri="{FF2B5EF4-FFF2-40B4-BE49-F238E27FC236}">
                <a16:creationId xmlns:a16="http://schemas.microsoft.com/office/drawing/2014/main" id="{7D1CCE4B-467C-DF0F-B721-9F0E007EE76D}"/>
              </a:ext>
            </a:extLst>
          </p:cNvPr>
          <p:cNvSpPr/>
          <p:nvPr/>
        </p:nvSpPr>
        <p:spPr>
          <a:xfrm>
            <a:off x="1277454" y="2381911"/>
            <a:ext cx="1138208" cy="3902367"/>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319029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장부가액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2,885</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및 여유현금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예정</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케이라이프로지스</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2,985</a:t>
                      </a: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(Equity : 984</a:t>
                      </a: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1,980</a:t>
                      </a: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21</a:t>
                      </a: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666</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15</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0.01%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6.13%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34.33%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16.66%</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10.35%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 기간은 </a:t>
            </a:r>
            <a:r>
              <a:rPr lang="en-US" altLang="ko-KR" sz="1600" dirty="0">
                <a:solidFill>
                  <a:schemeClr val="tx1"/>
                </a:solidFill>
              </a:rPr>
              <a:t>10</a:t>
            </a:r>
            <a:r>
              <a:rPr lang="ko-KR" altLang="en-US" sz="1600" dirty="0" err="1">
                <a:solidFill>
                  <a:schemeClr val="tx1"/>
                </a:solidFill>
              </a:rPr>
              <a:t>년으로써</a:t>
            </a:r>
            <a:r>
              <a:rPr lang="ko-KR" altLang="en-US" sz="1600" dirty="0">
                <a:solidFill>
                  <a:schemeClr val="tx1"/>
                </a:solidFill>
              </a:rPr>
              <a:t> </a:t>
            </a:r>
            <a:r>
              <a:rPr lang="en-US" altLang="ko-KR" sz="1600" dirty="0">
                <a:solidFill>
                  <a:schemeClr val="tx1"/>
                </a:solidFill>
              </a:rPr>
              <a:t>Equity </a:t>
            </a:r>
            <a:r>
              <a:rPr lang="ko-KR" altLang="en-US" sz="1600" dirty="0">
                <a:solidFill>
                  <a:schemeClr val="tx1"/>
                </a:solidFill>
              </a:rPr>
              <a:t>전체 수익률 </a:t>
            </a:r>
            <a:r>
              <a:rPr lang="en-US" altLang="ko-KR" sz="1600" dirty="0">
                <a:solidFill>
                  <a:schemeClr val="tx1"/>
                </a:solidFill>
              </a:rPr>
              <a:t>6.13%</a:t>
            </a:r>
            <a:r>
              <a:rPr lang="ko-KR" altLang="en-US" sz="1600" dirty="0">
                <a:solidFill>
                  <a:schemeClr val="tx1"/>
                </a:solidFill>
              </a:rPr>
              <a:t>이며</a:t>
            </a:r>
            <a:r>
              <a:rPr lang="en-US" altLang="ko-KR" sz="1600" dirty="0">
                <a:solidFill>
                  <a:schemeClr val="tx1"/>
                </a:solidFill>
              </a:rPr>
              <a:t>, IRR 10.35% </a:t>
            </a:r>
            <a:r>
              <a:rPr lang="ko-KR" altLang="en-US" sz="1600" dirty="0">
                <a:solidFill>
                  <a:schemeClr val="tx1"/>
                </a:solidFill>
              </a:rPr>
              <a:t>예상</a:t>
            </a:r>
            <a:endParaRPr lang="en-US" altLang="ko-KR" sz="1600" dirty="0">
              <a:solidFill>
                <a:schemeClr val="tx1"/>
              </a:solidFill>
            </a:endParaRP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7.00% IRR 7.12%,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7.50% IRR 9.21%,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0.75% IRR 16.66%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수익률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[TBD]</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우리투자증권</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a:t>
              </a: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59.9%</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[2,985]</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[144]</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감정가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제공</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나라감정평가법인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`26.04.)</a:t>
            </a: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매입부대비용</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59.9%</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[2,985]</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[144]</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[3,035]</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[884]</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 감정가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경과 분 물가상승률</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281591063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감정가 대비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19.2%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할인 매입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(4.9% </a:t>
                      </a:r>
                      <a:r>
                        <a:rPr lang="en-US" alt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Cap.Rate</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실질</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983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대출한도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298,500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a:t>
            </a:r>
            <a:r>
              <a:rPr lang="en-US" altLang="ko-KR" sz="1600" dirty="0">
                <a:solidFill>
                  <a:schemeClr val="tx1"/>
                </a:solidFill>
              </a:rPr>
              <a:t>2,985</a:t>
            </a:r>
            <a:r>
              <a:rPr lang="ko-KR" altLang="en-US" sz="1600" dirty="0">
                <a:solidFill>
                  <a:schemeClr val="tx1"/>
                </a:solidFill>
              </a:rPr>
              <a:t>억원으로 매입금액</a:t>
            </a:r>
            <a:r>
              <a:rPr lang="en-US" altLang="ko-KR" sz="1600" dirty="0">
                <a:solidFill>
                  <a:schemeClr val="tx1"/>
                </a:solidFill>
              </a:rPr>
              <a:t>(90.5%), </a:t>
            </a:r>
            <a:r>
              <a:rPr lang="ko-KR" altLang="en-US" sz="1600" dirty="0">
                <a:solidFill>
                  <a:schemeClr val="tx1"/>
                </a:solidFill>
              </a:rPr>
              <a:t>매입부대비용</a:t>
            </a:r>
            <a:r>
              <a:rPr lang="en-US" altLang="ko-KR" sz="1600" dirty="0">
                <a:solidFill>
                  <a:schemeClr val="tx1"/>
                </a:solidFill>
              </a:rPr>
              <a:t>(6.1%), </a:t>
            </a:r>
            <a:r>
              <a:rPr lang="ko-KR" altLang="en-US" sz="1600" dirty="0">
                <a:solidFill>
                  <a:schemeClr val="tx1"/>
                </a:solidFill>
              </a:rPr>
              <a:t>예비현금</a:t>
            </a:r>
            <a:r>
              <a:rPr lang="en-US" altLang="ko-KR" sz="1600" dirty="0">
                <a:solidFill>
                  <a:schemeClr val="tx1"/>
                </a:solidFill>
              </a:rPr>
              <a:t>(3.4%)</a:t>
            </a:r>
            <a:r>
              <a:rPr lang="ko-KR" altLang="en-US" sz="1600" dirty="0">
                <a:solidFill>
                  <a:schemeClr val="tx1"/>
                </a:solidFill>
              </a:rPr>
              <a:t>로 구성</a:t>
            </a:r>
            <a:endParaRPr lang="en-US" altLang="ko-KR" sz="1600" dirty="0">
              <a:solidFill>
                <a:schemeClr val="tx1"/>
              </a:solidFill>
            </a:endParaRP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 </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등</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확정배당 지급을 위한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편성</a:t>
            </a: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734125516"/>
              </p:ext>
            </p:extLst>
          </p:nvPr>
        </p:nvGraphicFramePr>
        <p:xfrm>
          <a:off x="458887" y="4823953"/>
          <a:ext cx="9853513" cy="183600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204000">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204000">
                <a:tc>
                  <a:txBody>
                    <a:bodyPr/>
                    <a:lstStyle/>
                    <a:p>
                      <a:pPr algn="l"/>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04000">
                <a:tc>
                  <a:txBody>
                    <a:bodyPr/>
                    <a:lstStyle/>
                    <a:p>
                      <a:pPr algn="l"/>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a:t>
                      </a:r>
                      <a:r>
                        <a:rPr lang="en-US" altLang="ko-KR" sz="1000" dirty="0">
                          <a:solidFill>
                            <a:srgbClr val="1F1F1F"/>
                          </a:solidFill>
                          <a:latin typeface="KoPubWorld돋움체 Light"/>
                          <a:ea typeface="KoPubWorld돋움체 Light"/>
                          <a:cs typeface="KoPubWorld돋움체 Light"/>
                        </a:rPr>
                        <a:t>[5.0]%,</a:t>
                      </a:r>
                      <a:r>
                        <a:rPr lang="ko-KR" altLang="en-US" sz="1000" dirty="0">
                          <a:solidFill>
                            <a:srgbClr val="1F1F1F"/>
                          </a:solidFill>
                          <a:latin typeface="KoPubWorld돋움체 Light"/>
                          <a:ea typeface="KoPubWorld돋움체 Light"/>
                          <a:cs typeface="KoPubWorld돋움체 Light"/>
                        </a:rPr>
                        <a:t>수수료 </a:t>
                      </a:r>
                      <a:r>
                        <a:rPr lang="en-US" altLang="ko-KR" sz="1000" dirty="0">
                          <a:solidFill>
                            <a:srgbClr val="1F1F1F"/>
                          </a:solidFill>
                          <a:latin typeface="KoPubWorld돋움체 Light"/>
                          <a:ea typeface="KoPubWorld돋움체 Light"/>
                          <a:cs typeface="KoPubWorld돋움체 Light"/>
                        </a:rPr>
                        <a:t>[1.0]%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r>
                        <a:rPr lang="ko-KR" altLang="en-US" sz="1000" dirty="0">
                          <a:solidFill>
                            <a:srgbClr val="1F1F1F"/>
                          </a:solidFill>
                          <a:latin typeface="KoPubWorld돋움체 Light"/>
                          <a:ea typeface="KoPubWorld돋움체 Light"/>
                          <a:cs typeface="KoPubWorld돋움체 Light"/>
                        </a:rPr>
                        <a:t>우리은행 대출의향서 접수</a:t>
                      </a:r>
                      <a:endParaRPr lang="en-US" altLang="ko-KR" sz="1000" dirty="0">
                        <a:solidFill>
                          <a:srgbClr val="1F1F1F"/>
                        </a:solidFill>
                        <a:latin typeface="KoPubWorld돋움체 Light"/>
                        <a:ea typeface="KoPubWorld돋움체 Light"/>
                        <a:cs typeface="KoPubWorld돋움체 Light"/>
                      </a:endParaRPr>
                    </a:p>
                    <a:p>
                      <a:pPr algn="l"/>
                      <a:r>
                        <a:rPr lang="en-US" altLang="ko-KR" sz="1000" dirty="0">
                          <a:solidFill>
                            <a:srgbClr val="1F1F1F"/>
                          </a:solidFill>
                          <a:latin typeface="KoPubWorld돋움체 Light"/>
                          <a:ea typeface="KoPubWorld돋움체 Light"/>
                          <a:cs typeface="KoPubWorld돋움체 Light"/>
                        </a:rPr>
                        <a:t>(9</a:t>
                      </a:r>
                      <a:r>
                        <a:rPr lang="ko-KR" altLang="en-US" sz="1000" dirty="0">
                          <a:solidFill>
                            <a:srgbClr val="1F1F1F"/>
                          </a:solidFill>
                          <a:latin typeface="KoPubWorld돋움체 Light"/>
                          <a:ea typeface="KoPubWorld돋움체 Light"/>
                          <a:cs typeface="KoPubWorld돋움체 Light"/>
                        </a:rPr>
                        <a:t>월초 심의예정</a:t>
                      </a: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04000">
                <a:tc>
                  <a:txBody>
                    <a:bodyPr/>
                    <a:lstStyle/>
                    <a:p>
                      <a:pPr algn="l"/>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a:t>
                      </a:r>
                      <a:r>
                        <a:rPr lang="en-US" altLang="ko-KR" sz="1000" dirty="0">
                          <a:solidFill>
                            <a:srgbClr val="1F1F1F"/>
                          </a:solidFill>
                          <a:latin typeface="KoPubWorld돋움체 Light"/>
                          <a:ea typeface="KoPubWorld돋움체 Light"/>
                          <a:cs typeface="KoPubWorld돋움체 Light"/>
                        </a:rPr>
                        <a:t>[6.0]%,</a:t>
                      </a:r>
                      <a:r>
                        <a:rPr lang="ko-KR" altLang="en-US" sz="1000" dirty="0">
                          <a:solidFill>
                            <a:srgbClr val="1F1F1F"/>
                          </a:solidFill>
                          <a:latin typeface="KoPubWorld돋움체 Light"/>
                          <a:ea typeface="KoPubWorld돋움체 Light"/>
                          <a:cs typeface="KoPubWorld돋움체 Light"/>
                        </a:rPr>
                        <a:t>수수료 </a:t>
                      </a:r>
                      <a:r>
                        <a:rPr lang="en-US" altLang="ko-KR" sz="1000" dirty="0">
                          <a:solidFill>
                            <a:srgbClr val="1F1F1F"/>
                          </a:solidFill>
                          <a:latin typeface="KoPubWorld돋움체 Light"/>
                          <a:ea typeface="KoPubWorld돋움체 Light"/>
                          <a:cs typeface="KoPubWorld돋움체 Light"/>
                        </a:rPr>
                        <a:t>[1.0]%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우리투자증권 인수확약서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rgbClr val="1F1F1F"/>
                          </a:solidFill>
                          <a:latin typeface="KoPubWorld돋움체 Light"/>
                          <a:ea typeface="KoPubWorld돋움체 Light"/>
                          <a:cs typeface="KoPubWorld돋움체 Light"/>
                        </a:rPr>
                        <a:t>삼성증권 인수확약서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204000">
                <a:tc>
                  <a:txBody>
                    <a:bodyPr/>
                    <a:lstStyle/>
                    <a:p>
                      <a:pPr algn="l"/>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a:t>
                      </a:r>
                      <a:r>
                        <a:rPr lang="en-US" altLang="ko-KR" sz="1000" dirty="0">
                          <a:solidFill>
                            <a:srgbClr val="1F1F1F"/>
                          </a:solidFill>
                          <a:latin typeface="KoPubWorld돋움체 Light"/>
                          <a:ea typeface="KoPubWorld돋움체 Light"/>
                          <a:cs typeface="KoPubWorld돋움체 Light"/>
                        </a:rPr>
                        <a:t>, </a:t>
                      </a:r>
                      <a:r>
                        <a:rPr lang="ko-KR" altLang="en-US" sz="1000" dirty="0">
                          <a:solidFill>
                            <a:srgbClr val="1F1F1F"/>
                          </a:solidFill>
                          <a:latin typeface="KoPubWorld돋움체 Light"/>
                          <a:ea typeface="KoPubWorld돋움체 Light"/>
                          <a:cs typeface="KoPubWorld돋움체 Light"/>
                        </a:rPr>
                        <a:t>무의결권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chemeClr val="tx1"/>
                          </a:solidFill>
                          <a:latin typeface="KoPubWorld돋움체 Light"/>
                          <a:ea typeface="KoPubWorld돋움체 Light"/>
                          <a:cs typeface="KoPubWorld돋움체 Light"/>
                        </a:rPr>
                        <a:t>모집 예정</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204000">
                <a:tc>
                  <a:txBody>
                    <a:bodyPr/>
                    <a:lstStyle/>
                    <a:p>
                      <a:pPr algn="l"/>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14,400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r>
                        <a:rPr lang="ko-KR" altLang="en-US" sz="1000" dirty="0">
                          <a:solidFill>
                            <a:schemeClr val="tx1"/>
                          </a:solidFill>
                          <a:latin typeface="KoPubWorld돋움체 Light"/>
                          <a:ea typeface="KoPubWorld돋움체 Light"/>
                          <a:cs typeface="KoPubWorld돋움체 Light"/>
                        </a:rPr>
                        <a:t>모집 예정</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204000">
                <a:tc>
                  <a:txBody>
                    <a:bodyPr/>
                    <a:lstStyle/>
                    <a:p>
                      <a:pPr algn="l"/>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298,500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임대수익</a:t>
              </a:r>
              <a:r>
                <a:rPr kumimoji="0" lang="en-US" altLang="ko-KR"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A2BA5460-34B4-8A94-2B27-9C7E32745FE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1120914574"/>
              </p:ext>
            </p:extLst>
          </p:nvPr>
        </p:nvGraphicFramePr>
        <p:xfrm>
          <a:off x="449263" y="2374901"/>
          <a:ext cx="6372807" cy="3839736"/>
        </p:xfrm>
        <a:graphic>
          <a:graphicData uri="http://schemas.openxmlformats.org/drawingml/2006/table">
            <a:tbl>
              <a:tblPr>
                <a:tableStyleId>{5C22544A-7EE6-4342-B048-85BDC9FD1C3A}</a:tableStyleId>
              </a:tblPr>
              <a:tblGrid>
                <a:gridCol w="359737">
                  <a:extLst>
                    <a:ext uri="{9D8B030D-6E8A-4147-A177-3AD203B41FA5}">
                      <a16:colId xmlns:a16="http://schemas.microsoft.com/office/drawing/2014/main" val="646663967"/>
                    </a:ext>
                  </a:extLst>
                </a:gridCol>
                <a:gridCol w="727779">
                  <a:extLst>
                    <a:ext uri="{9D8B030D-6E8A-4147-A177-3AD203B41FA5}">
                      <a16:colId xmlns:a16="http://schemas.microsoft.com/office/drawing/2014/main" val="1425530335"/>
                    </a:ext>
                  </a:extLst>
                </a:gridCol>
                <a:gridCol w="595761">
                  <a:extLst>
                    <a:ext uri="{9D8B030D-6E8A-4147-A177-3AD203B41FA5}">
                      <a16:colId xmlns:a16="http://schemas.microsoft.com/office/drawing/2014/main" val="413513969"/>
                    </a:ext>
                  </a:extLst>
                </a:gridCol>
                <a:gridCol w="768037">
                  <a:extLst>
                    <a:ext uri="{9D8B030D-6E8A-4147-A177-3AD203B41FA5}">
                      <a16:colId xmlns:a16="http://schemas.microsoft.com/office/drawing/2014/main" val="1127324243"/>
                    </a:ext>
                  </a:extLst>
                </a:gridCol>
                <a:gridCol w="846458">
                  <a:extLst>
                    <a:ext uri="{9D8B030D-6E8A-4147-A177-3AD203B41FA5}">
                      <a16:colId xmlns:a16="http://schemas.microsoft.com/office/drawing/2014/main" val="2697937942"/>
                    </a:ext>
                  </a:extLst>
                </a:gridCol>
                <a:gridCol w="846458">
                  <a:extLst>
                    <a:ext uri="{9D8B030D-6E8A-4147-A177-3AD203B41FA5}">
                      <a16:colId xmlns:a16="http://schemas.microsoft.com/office/drawing/2014/main" val="2263992824"/>
                    </a:ext>
                  </a:extLst>
                </a:gridCol>
                <a:gridCol w="846458">
                  <a:extLst>
                    <a:ext uri="{9D8B030D-6E8A-4147-A177-3AD203B41FA5}">
                      <a16:colId xmlns:a16="http://schemas.microsoft.com/office/drawing/2014/main" val="1076015135"/>
                    </a:ext>
                  </a:extLst>
                </a:gridCol>
                <a:gridCol w="846458">
                  <a:extLst>
                    <a:ext uri="{9D8B030D-6E8A-4147-A177-3AD203B41FA5}">
                      <a16:colId xmlns:a16="http://schemas.microsoft.com/office/drawing/2014/main" val="4128469592"/>
                    </a:ext>
                  </a:extLst>
                </a:gridCol>
                <a:gridCol w="535661">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endParaRPr lang="ko-KR" altLang="en-US"/>
                    </a:p>
                  </a:txBody>
                  <a:tcPr/>
                </a:tc>
                <a:tc vMerge="1">
                  <a:txBody>
                    <a:bodyPr/>
                    <a:lstStyle/>
                    <a:p>
                      <a:pPr algn="ctr" latinLnBrk="0">
                        <a:spcBef>
                          <a:spcPts val="200"/>
                        </a:spcBef>
                        <a:spcAft>
                          <a:spcPts val="200"/>
                        </a:spcAft>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9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9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9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graphicFrame>
        <p:nvGraphicFramePr>
          <p:cNvPr id="48" name="표 47">
            <a:extLst>
              <a:ext uri="{FF2B5EF4-FFF2-40B4-BE49-F238E27FC236}">
                <a16:creationId xmlns:a16="http://schemas.microsoft.com/office/drawing/2014/main" id="{446BB1BB-BA62-55FA-D056-12FF66EF2E4E}"/>
              </a:ext>
            </a:extLst>
          </p:cNvPr>
          <p:cNvGraphicFramePr>
            <a:graphicFrameLocks noGrp="1"/>
          </p:cNvGraphicFramePr>
          <p:nvPr>
            <p:extLst>
              <p:ext uri="{D42A27DB-BD31-4B8C-83A1-F6EECF244321}">
                <p14:modId xmlns:p14="http://schemas.microsoft.com/office/powerpoint/2010/main" val="892019530"/>
              </p:ext>
            </p:extLst>
          </p:nvPr>
        </p:nvGraphicFramePr>
        <p:xfrm>
          <a:off x="6966086" y="2374902"/>
          <a:ext cx="3313438" cy="4141786"/>
        </p:xfrm>
        <a:graphic>
          <a:graphicData uri="http://schemas.openxmlformats.org/drawingml/2006/table">
            <a:tbl>
              <a:tblPr/>
              <a:tblGrid>
                <a:gridCol w="263329">
                  <a:extLst>
                    <a:ext uri="{9D8B030D-6E8A-4147-A177-3AD203B41FA5}">
                      <a16:colId xmlns:a16="http://schemas.microsoft.com/office/drawing/2014/main" val="3467979851"/>
                    </a:ext>
                  </a:extLst>
                </a:gridCol>
                <a:gridCol w="33160">
                  <a:extLst>
                    <a:ext uri="{9D8B030D-6E8A-4147-A177-3AD203B41FA5}">
                      <a16:colId xmlns:a16="http://schemas.microsoft.com/office/drawing/2014/main" val="3846343154"/>
                    </a:ext>
                  </a:extLst>
                </a:gridCol>
                <a:gridCol w="296489">
                  <a:extLst>
                    <a:ext uri="{9D8B030D-6E8A-4147-A177-3AD203B41FA5}">
                      <a16:colId xmlns:a16="http://schemas.microsoft.com/office/drawing/2014/main" val="3447968702"/>
                    </a:ext>
                  </a:extLst>
                </a:gridCol>
                <a:gridCol w="570871">
                  <a:extLst>
                    <a:ext uri="{9D8B030D-6E8A-4147-A177-3AD203B41FA5}">
                      <a16:colId xmlns:a16="http://schemas.microsoft.com/office/drawing/2014/main" val="3579879218"/>
                    </a:ext>
                  </a:extLst>
                </a:gridCol>
                <a:gridCol w="318595">
                  <a:extLst>
                    <a:ext uri="{9D8B030D-6E8A-4147-A177-3AD203B41FA5}">
                      <a16:colId xmlns:a16="http://schemas.microsoft.com/office/drawing/2014/main" val="3904375968"/>
                    </a:ext>
                  </a:extLst>
                </a:gridCol>
                <a:gridCol w="410185">
                  <a:extLst>
                    <a:ext uri="{9D8B030D-6E8A-4147-A177-3AD203B41FA5}">
                      <a16:colId xmlns:a16="http://schemas.microsoft.com/office/drawing/2014/main" val="2083001267"/>
                    </a:ext>
                  </a:extLst>
                </a:gridCol>
                <a:gridCol w="490823">
                  <a:extLst>
                    <a:ext uri="{9D8B030D-6E8A-4147-A177-3AD203B41FA5}">
                      <a16:colId xmlns:a16="http://schemas.microsoft.com/office/drawing/2014/main" val="1671789582"/>
                    </a:ext>
                  </a:extLst>
                </a:gridCol>
                <a:gridCol w="148936">
                  <a:extLst>
                    <a:ext uri="{9D8B030D-6E8A-4147-A177-3AD203B41FA5}">
                      <a16:colId xmlns:a16="http://schemas.microsoft.com/office/drawing/2014/main" val="3287685345"/>
                    </a:ext>
                  </a:extLst>
                </a:gridCol>
                <a:gridCol w="162672">
                  <a:extLst>
                    <a:ext uri="{9D8B030D-6E8A-4147-A177-3AD203B41FA5}">
                      <a16:colId xmlns:a16="http://schemas.microsoft.com/office/drawing/2014/main" val="4121997976"/>
                    </a:ext>
                  </a:extLst>
                </a:gridCol>
                <a:gridCol w="25400">
                  <a:extLst>
                    <a:ext uri="{9D8B030D-6E8A-4147-A177-3AD203B41FA5}">
                      <a16:colId xmlns:a16="http://schemas.microsoft.com/office/drawing/2014/main" val="2117112774"/>
                    </a:ext>
                  </a:extLst>
                </a:gridCol>
                <a:gridCol w="296489">
                  <a:extLst>
                    <a:ext uri="{9D8B030D-6E8A-4147-A177-3AD203B41FA5}">
                      <a16:colId xmlns:a16="http://schemas.microsoft.com/office/drawing/2014/main" val="387710068"/>
                    </a:ext>
                  </a:extLst>
                </a:gridCol>
                <a:gridCol w="296489">
                  <a:extLst>
                    <a:ext uri="{9D8B030D-6E8A-4147-A177-3AD203B41FA5}">
                      <a16:colId xmlns:a16="http://schemas.microsoft.com/office/drawing/2014/main" val="1623982421"/>
                    </a:ext>
                  </a:extLst>
                </a:gridCol>
              </a:tblGrid>
              <a:tr h="395779">
                <a:tc gridSpan="2">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endParaRPr lang="ko-KR" altLang="en-US"/>
                    </a:p>
                  </a:txBody>
                  <a:tcP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(141.95</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gridSpan="2">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ctr" rtl="0" fontAlgn="ct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382363">
                <a:tc gridSpan="11">
                  <a:txBody>
                    <a:bodyPr/>
                    <a:lstStyle/>
                    <a:p>
                      <a:pPr algn="ctr" rtl="0" fontAlgn="ct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rtl="0" fontAlgn="ct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a:t>
                      </a:r>
                      <a:r>
                        <a:rPr kumimoji="0" lang="en-US" altLang="ko-KR"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395779">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(856.05</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(1,092.94</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lnL w="6350" cap="flat" cmpd="sng" algn="ctr">
                      <a:solidFill>
                        <a:schemeClr val="bg1">
                          <a:lumMod val="75000"/>
                        </a:schemeClr>
                      </a:solidFill>
                      <a:prstDash val="solid"/>
                      <a:round/>
                      <a:headEnd type="none" w="med" len="med"/>
                      <a:tailEnd type="none" w="med" len="med"/>
                    </a:lnL>
                  </a:tcPr>
                </a:tc>
                <a:tc hMerge="1">
                  <a:txBody>
                    <a:bodyPr/>
                    <a:lstStyle/>
                    <a:p>
                      <a:pPr latinLnBrk="1"/>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a:t>
                      </a:r>
                      <a:r>
                        <a:rPr kumimoji="0" lang="ko-KR" altLang="en-US"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382363">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a:t>
                      </a: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1324">
                <a:tc gridSpan="11">
                  <a:txBody>
                    <a:bodyPr/>
                    <a:lstStyle/>
                    <a:p>
                      <a:pPr algn="ctr" latinLnBrk="1"/>
                      <a:r>
                        <a:rPr lang="en-US" altLang="ko-KR"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1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126983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운영비용</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55</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1</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백만원</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백만원</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9272567" y="2555164"/>
            <a:ext cx="757194"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pPr>
                      <a:r>
                        <a:rPr lang="ko-KR" altLang="en-US" sz="105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5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360572879"/>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337</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69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624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5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770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082</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85.3</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9</a:t>
                      </a:r>
                      <a:r>
                        <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rPr>
                        <a:t>8,500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5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41</a:t>
                      </a:r>
                      <a:r>
                        <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131053698"/>
              </p:ext>
            </p:extLst>
          </p:nvPr>
        </p:nvGraphicFramePr>
        <p:xfrm>
          <a:off x="449263" y="2374901"/>
          <a:ext cx="9863150" cy="4144693"/>
        </p:xfrm>
        <a:graphic>
          <a:graphicData uri="http://schemas.openxmlformats.org/drawingml/2006/table">
            <a:tbl>
              <a:tblPr>
                <a:tableStyleId>{5C22544A-7EE6-4342-B048-85BDC9FD1C3A}</a:tableStyleId>
              </a:tblPr>
              <a:tblGrid>
                <a:gridCol w="180119">
                  <a:extLst>
                    <a:ext uri="{9D8B030D-6E8A-4147-A177-3AD203B41FA5}">
                      <a16:colId xmlns:a16="http://schemas.microsoft.com/office/drawing/2014/main" val="2657387137"/>
                    </a:ext>
                  </a:extLst>
                </a:gridCol>
                <a:gridCol w="1008112">
                  <a:extLst>
                    <a:ext uri="{9D8B030D-6E8A-4147-A177-3AD203B41FA5}">
                      <a16:colId xmlns:a16="http://schemas.microsoft.com/office/drawing/2014/main" val="646663967"/>
                    </a:ext>
                  </a:extLst>
                </a:gridCol>
                <a:gridCol w="788629">
                  <a:extLst>
                    <a:ext uri="{9D8B030D-6E8A-4147-A177-3AD203B41FA5}">
                      <a16:colId xmlns:a16="http://schemas.microsoft.com/office/drawing/2014/main" val="1425530335"/>
                    </a:ext>
                  </a:extLst>
                </a:gridCol>
                <a:gridCol w="788629">
                  <a:extLst>
                    <a:ext uri="{9D8B030D-6E8A-4147-A177-3AD203B41FA5}">
                      <a16:colId xmlns:a16="http://schemas.microsoft.com/office/drawing/2014/main" val="413513969"/>
                    </a:ext>
                  </a:extLst>
                </a:gridCol>
                <a:gridCol w="788629">
                  <a:extLst>
                    <a:ext uri="{9D8B030D-6E8A-4147-A177-3AD203B41FA5}">
                      <a16:colId xmlns:a16="http://schemas.microsoft.com/office/drawing/2014/main" val="1127324243"/>
                    </a:ext>
                  </a:extLst>
                </a:gridCol>
                <a:gridCol w="788629">
                  <a:extLst>
                    <a:ext uri="{9D8B030D-6E8A-4147-A177-3AD203B41FA5}">
                      <a16:colId xmlns:a16="http://schemas.microsoft.com/office/drawing/2014/main" val="3372183182"/>
                    </a:ext>
                  </a:extLst>
                </a:gridCol>
                <a:gridCol w="788629">
                  <a:extLst>
                    <a:ext uri="{9D8B030D-6E8A-4147-A177-3AD203B41FA5}">
                      <a16:colId xmlns:a16="http://schemas.microsoft.com/office/drawing/2014/main" val="2366460184"/>
                    </a:ext>
                  </a:extLst>
                </a:gridCol>
                <a:gridCol w="788629">
                  <a:extLst>
                    <a:ext uri="{9D8B030D-6E8A-4147-A177-3AD203B41FA5}">
                      <a16:colId xmlns:a16="http://schemas.microsoft.com/office/drawing/2014/main" val="3036774309"/>
                    </a:ext>
                  </a:extLst>
                </a:gridCol>
                <a:gridCol w="788629">
                  <a:extLst>
                    <a:ext uri="{9D8B030D-6E8A-4147-A177-3AD203B41FA5}">
                      <a16:colId xmlns:a16="http://schemas.microsoft.com/office/drawing/2014/main" val="2695928432"/>
                    </a:ext>
                  </a:extLst>
                </a:gridCol>
                <a:gridCol w="788629">
                  <a:extLst>
                    <a:ext uri="{9D8B030D-6E8A-4147-A177-3AD203B41FA5}">
                      <a16:colId xmlns:a16="http://schemas.microsoft.com/office/drawing/2014/main" val="347705897"/>
                    </a:ext>
                  </a:extLst>
                </a:gridCol>
                <a:gridCol w="788629">
                  <a:extLst>
                    <a:ext uri="{9D8B030D-6E8A-4147-A177-3AD203B41FA5}">
                      <a16:colId xmlns:a16="http://schemas.microsoft.com/office/drawing/2014/main" val="3591845056"/>
                    </a:ext>
                  </a:extLst>
                </a:gridCol>
                <a:gridCol w="788629">
                  <a:extLst>
                    <a:ext uri="{9D8B030D-6E8A-4147-A177-3AD203B41FA5}">
                      <a16:colId xmlns:a16="http://schemas.microsoft.com/office/drawing/2014/main" val="1815909224"/>
                    </a:ext>
                  </a:extLst>
                </a:gridCol>
                <a:gridCol w="788629">
                  <a:extLst>
                    <a:ext uri="{9D8B030D-6E8A-4147-A177-3AD203B41FA5}">
                      <a16:colId xmlns:a16="http://schemas.microsoft.com/office/drawing/2014/main" val="2941370719"/>
                    </a:ext>
                  </a:extLst>
                </a:gridCol>
              </a:tblGrid>
              <a:tr h="241833">
                <a:tc grid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9580">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9580">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2,245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2,939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9580">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9580">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9580">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9580">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9580">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376,332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사업계획기간 예상되는 순영업소득</a:t>
            </a:r>
            <a:r>
              <a:rPr lang="en-US" altLang="ko-KR" sz="1600" spc="-20" dirty="0">
                <a:solidFill>
                  <a:schemeClr val="tx1"/>
                </a:solidFill>
              </a:rPr>
              <a:t>(NOI) </a:t>
            </a:r>
            <a:r>
              <a:rPr lang="ko-KR" altLang="en-US" sz="1600" spc="-20" dirty="0">
                <a:solidFill>
                  <a:schemeClr val="tx1"/>
                </a:solidFill>
              </a:rPr>
              <a:t>추이는 다음과 같으며</a:t>
            </a:r>
            <a:r>
              <a:rPr lang="en-US" altLang="ko-KR" sz="1600" spc="-20" dirty="0">
                <a:solidFill>
                  <a:schemeClr val="tx1"/>
                </a:solidFill>
              </a:rPr>
              <a:t> </a:t>
            </a:r>
            <a:r>
              <a:rPr lang="ko-KR" altLang="en-US" sz="1600" spc="-20" dirty="0">
                <a:solidFill>
                  <a:schemeClr val="tx1"/>
                </a:solidFill>
              </a:rPr>
              <a:t>임대료 상승으로 인한 자산수익성 향상 예상 </a:t>
            </a:r>
            <a:endParaRPr lang="en-US" altLang="ko-KR" sz="1600" spc="-2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임대차계약에 따라 연장 시 연장 직후 최초년도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5</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적용 예정 </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grpSp>
        <p:nvGrpSpPr>
          <p:cNvPr id="3" name="그룹 2">
            <a:extLst>
              <a:ext uri="{FF2B5EF4-FFF2-40B4-BE49-F238E27FC236}">
                <a16:creationId xmlns:a16="http://schemas.microsoft.com/office/drawing/2014/main" id="{44B03149-DBC8-7FB7-ACFD-E2DE419B9E70}"/>
              </a:ext>
            </a:extLst>
          </p:cNvPr>
          <p:cNvGrpSpPr/>
          <p:nvPr/>
        </p:nvGrpSpPr>
        <p:grpSpPr>
          <a:xfrm>
            <a:off x="385897" y="2345675"/>
            <a:ext cx="883575" cy="261610"/>
            <a:chOff x="455544" y="-592941"/>
            <a:chExt cx="883575" cy="261610"/>
          </a:xfrm>
        </p:grpSpPr>
        <p:sp>
          <p:nvSpPr>
            <p:cNvPr id="4" name="TextBox 3">
              <a:extLst>
                <a:ext uri="{FF2B5EF4-FFF2-40B4-BE49-F238E27FC236}">
                  <a16:creationId xmlns:a16="http://schemas.microsoft.com/office/drawing/2014/main" id="{812B0DAC-D844-A91B-3577-4AF57BE2A4F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 name="직사각형 4">
              <a:extLst>
                <a:ext uri="{FF2B5EF4-FFF2-40B4-BE49-F238E27FC236}">
                  <a16:creationId xmlns:a16="http://schemas.microsoft.com/office/drawing/2014/main" id="{E56DD97F-8AA6-67B8-3DA8-D51EA38E293A}"/>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6" name="그룹 5">
            <a:extLst>
              <a:ext uri="{FF2B5EF4-FFF2-40B4-BE49-F238E27FC236}">
                <a16:creationId xmlns:a16="http://schemas.microsoft.com/office/drawing/2014/main" id="{3C21D126-6AC6-1731-9498-34F23C2F0084}"/>
              </a:ext>
            </a:extLst>
          </p:cNvPr>
          <p:cNvGrpSpPr/>
          <p:nvPr/>
        </p:nvGrpSpPr>
        <p:grpSpPr>
          <a:xfrm>
            <a:off x="5298281" y="2346255"/>
            <a:ext cx="883575" cy="261610"/>
            <a:chOff x="458630" y="-592941"/>
            <a:chExt cx="883575" cy="261610"/>
          </a:xfrm>
        </p:grpSpPr>
        <p:sp>
          <p:nvSpPr>
            <p:cNvPr id="7" name="TextBox 6">
              <a:extLst>
                <a:ext uri="{FF2B5EF4-FFF2-40B4-BE49-F238E27FC236}">
                  <a16:creationId xmlns:a16="http://schemas.microsoft.com/office/drawing/2014/main" id="{9F4864B3-9ACD-9ECC-C033-BFE0B32C537E}"/>
                </a:ext>
              </a:extLst>
            </p:cNvPr>
            <p:cNvSpPr txBox="1"/>
            <p:nvPr/>
          </p:nvSpPr>
          <p:spPr>
            <a:xfrm>
              <a:off x="458630"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 name="직사각형 7">
              <a:extLst>
                <a:ext uri="{FF2B5EF4-FFF2-40B4-BE49-F238E27FC236}">
                  <a16:creationId xmlns:a16="http://schemas.microsoft.com/office/drawing/2014/main" id="{045D2E21-5989-9A22-4EA8-E0E255A44ED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a:t>
            </a:r>
            <a:r>
              <a:rPr lang="en-US" altLang="ko-KR" sz="1600" dirty="0">
                <a:solidFill>
                  <a:schemeClr val="tx1"/>
                </a:solidFill>
              </a:rPr>
              <a:t>10</a:t>
            </a:r>
            <a:r>
              <a:rPr lang="ko-KR" altLang="en-US" sz="1600" dirty="0">
                <a:solidFill>
                  <a:schemeClr val="tx1"/>
                </a:solidFill>
              </a:rPr>
              <a:t>년 가정한 투자자 별 수익률 다음과 같음</a:t>
            </a:r>
            <a:r>
              <a:rPr lang="en-US" altLang="ko-KR" sz="1600" dirty="0">
                <a:solidFill>
                  <a:schemeClr val="tx1"/>
                </a:solidFill>
              </a:rPr>
              <a:t>. </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우선주 및 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우선주의 경우 누적적 확정 배당수익률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7.0%, 7.5%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각각 지급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2857565118"/>
              </p:ext>
            </p:extLst>
          </p:nvPr>
        </p:nvGraphicFramePr>
        <p:xfrm>
          <a:off x="5346700" y="2597100"/>
          <a:ext cx="4965700" cy="4046885"/>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49,587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9.21%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0430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grpSp>
        <p:nvGrpSpPr>
          <p:cNvPr id="15" name="그룹 14">
            <a:extLst>
              <a:ext uri="{FF2B5EF4-FFF2-40B4-BE49-F238E27FC236}">
                <a16:creationId xmlns:a16="http://schemas.microsoft.com/office/drawing/2014/main" id="{601AF56A-8A6E-C9D1-B315-85CF6DD6EE35}"/>
              </a:ext>
            </a:extLst>
          </p:cNvPr>
          <p:cNvGrpSpPr/>
          <p:nvPr/>
        </p:nvGrpSpPr>
        <p:grpSpPr>
          <a:xfrm>
            <a:off x="387808" y="2345228"/>
            <a:ext cx="883575" cy="261610"/>
            <a:chOff x="455544" y="-592941"/>
            <a:chExt cx="883575" cy="261610"/>
          </a:xfrm>
        </p:grpSpPr>
        <p:sp>
          <p:nvSpPr>
            <p:cNvPr id="16" name="TextBox 15">
              <a:extLst>
                <a:ext uri="{FF2B5EF4-FFF2-40B4-BE49-F238E27FC236}">
                  <a16:creationId xmlns:a16="http://schemas.microsoft.com/office/drawing/2014/main" id="{6350769D-3867-5780-76AF-6A6D75867CC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3</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 name="직사각형 16">
              <a:extLst>
                <a:ext uri="{FF2B5EF4-FFF2-40B4-BE49-F238E27FC236}">
                  <a16:creationId xmlns:a16="http://schemas.microsoft.com/office/drawing/2014/main" id="{D3260FCF-8333-A793-68A9-059515C8BFD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8" name="그룹 17">
            <a:extLst>
              <a:ext uri="{FF2B5EF4-FFF2-40B4-BE49-F238E27FC236}">
                <a16:creationId xmlns:a16="http://schemas.microsoft.com/office/drawing/2014/main" id="{B3CCCC5D-2EE0-BE14-B559-41AF17B0D7B2}"/>
              </a:ext>
            </a:extLst>
          </p:cNvPr>
          <p:cNvGrpSpPr/>
          <p:nvPr/>
        </p:nvGrpSpPr>
        <p:grpSpPr>
          <a:xfrm>
            <a:off x="5294026" y="2345228"/>
            <a:ext cx="638316" cy="261610"/>
            <a:chOff x="455544" y="-592941"/>
            <a:chExt cx="638316" cy="261610"/>
          </a:xfrm>
        </p:grpSpPr>
        <p:sp>
          <p:nvSpPr>
            <p:cNvPr id="19" name="TextBox 18">
              <a:extLst>
                <a:ext uri="{FF2B5EF4-FFF2-40B4-BE49-F238E27FC236}">
                  <a16:creationId xmlns:a16="http://schemas.microsoft.com/office/drawing/2014/main" id="{23769EC3-168D-0B65-B2B0-B713931C7691}"/>
                </a:ext>
              </a:extLst>
            </p:cNvPr>
            <p:cNvSpPr txBox="1"/>
            <p:nvPr/>
          </p:nvSpPr>
          <p:spPr>
            <a:xfrm>
              <a:off x="455544" y="-592941"/>
              <a:ext cx="6383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302B0E5E-EC69-9B85-240B-7B0E047C340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a:t>
            </a:r>
            <a:r>
              <a:rPr lang="en-US" altLang="ko-KR" sz="1600" dirty="0">
                <a:solidFill>
                  <a:schemeClr val="tx1"/>
                </a:solidFill>
              </a:rPr>
              <a:t>10</a:t>
            </a:r>
            <a:r>
              <a:rPr lang="ko-KR" altLang="en-US" sz="1600" dirty="0">
                <a:solidFill>
                  <a:schemeClr val="tx1"/>
                </a:solidFill>
              </a:rPr>
              <a:t>년 가정한 투자자 별 수익률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 금액은 배당 미지급 계획이며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 후 원본감자 예정</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코람코라이프인프라리츠가</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설립 시점 출자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0430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046885"/>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671.51%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49,429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14,400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16.66%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4.43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회사 내부자료</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a:t>
            </a:r>
            <a:r>
              <a:rPr lang="en-US" altLang="ko-KR" sz="1600" dirty="0">
                <a:solidFill>
                  <a:schemeClr val="tx1"/>
                </a:solidFill>
              </a:rPr>
              <a:t>10</a:t>
            </a:r>
            <a:r>
              <a:rPr lang="ko-KR" altLang="en-US" sz="1600" dirty="0">
                <a:solidFill>
                  <a:schemeClr val="tx1"/>
                </a:solidFill>
              </a:rPr>
              <a:t>년 가정한 대출기관 및 </a:t>
            </a:r>
            <a:r>
              <a:rPr lang="en-US" altLang="ko-KR" sz="1600" dirty="0">
                <a:solidFill>
                  <a:schemeClr val="tx1"/>
                </a:solidFill>
              </a:rPr>
              <a:t>1,2</a:t>
            </a:r>
            <a:r>
              <a:rPr lang="ko-KR" altLang="en-US" sz="1600" dirty="0">
                <a:solidFill>
                  <a:schemeClr val="tx1"/>
                </a:solidFill>
              </a:rPr>
              <a:t>종 우선주의 </a:t>
            </a:r>
            <a:r>
              <a:rPr lang="en-US" altLang="ko-KR" sz="1600" dirty="0">
                <a:solidFill>
                  <a:schemeClr val="tx1"/>
                </a:solidFill>
              </a:rPr>
              <a:t>DSCR</a:t>
            </a:r>
            <a:r>
              <a:rPr lang="ko-KR" altLang="en-US" sz="1600" dirty="0">
                <a:solidFill>
                  <a:schemeClr val="tx1"/>
                </a:solidFill>
              </a:rPr>
              <a:t>은 다음과 같음</a:t>
            </a:r>
            <a:r>
              <a:rPr lang="en-US" altLang="ko-KR" sz="1600" dirty="0">
                <a:solidFill>
                  <a:schemeClr val="tx1"/>
                </a:solidFill>
              </a:rPr>
              <a:t> </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배당지급 재원 부족분은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투자금</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을 통해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Overfunding</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하여 지급 예정</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높은 원리금상환능력이 예상됨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2956376634"/>
              </p:ext>
            </p:extLst>
          </p:nvPr>
        </p:nvGraphicFramePr>
        <p:xfrm>
          <a:off x="438150" y="2374899"/>
          <a:ext cx="9890860" cy="442912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276820">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endParaRPr lang="ko-KR" altLang="en-US"/>
                    </a:p>
                  </a:txBody>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76820">
                <a:tc gridSpan="2" vMerge="1">
                  <a:txBody>
                    <a:bodyPr/>
                    <a:lstStyle/>
                    <a:p>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15,855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378,951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6820">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6820">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741736972"/>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0193877"/>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123097548"/>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6820">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564449429"/>
                  </a:ext>
                </a:extLst>
              </a:tr>
              <a:tr h="276820">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381491"/>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155647990"/>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9.51%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11.96%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3686979547"/>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5.56%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기간</a:t>
            </a:r>
            <a:r>
              <a:rPr lang="en-US" altLang="ko-KR" sz="1000" dirty="0">
                <a:latin typeface="KoPubWorld돋움체 Light" panose="00000300000000000000" pitchFamily="2" charset="-127"/>
                <a:ea typeface="KoPubWorld돋움체 Light" panose="00000300000000000000" pitchFamily="2" charset="-127"/>
              </a:rPr>
              <a:t>(24</a:t>
            </a:r>
            <a:r>
              <a:rPr lang="ko-KR" altLang="en-US" sz="1000" dirty="0">
                <a:latin typeface="KoPubWorld돋움체 Light" panose="00000300000000000000" pitchFamily="2" charset="-127"/>
                <a:ea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내 </a:t>
            </a:r>
            <a:r>
              <a:rPr lang="en-US" altLang="ko-KR" sz="1000" dirty="0">
                <a:latin typeface="KoPubWorld돋움체 Light" panose="00000300000000000000" pitchFamily="2" charset="-127"/>
                <a:ea typeface="KoPubWorld돋움체 Light" panose="00000300000000000000" pitchFamily="2" charset="-127"/>
              </a:rPr>
              <a:t>DSCR </a:t>
            </a:r>
            <a:r>
              <a:rPr lang="ko-KR" altLang="en-US" sz="1000" dirty="0">
                <a:latin typeface="KoPubWorld돋움체 Light" panose="00000300000000000000" pitchFamily="2" charset="-127"/>
                <a:ea typeface="KoPubWorld돋움체 Light" panose="00000300000000000000" pitchFamily="2" charset="-127"/>
              </a:rPr>
              <a:t>중 최소 수치 반영</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27131" y="2376495"/>
            <a:ext cx="17852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6A2519E-4A77-BB98-ACB0-B5AFAFEB0EDF}"/>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C814C464-1F41-5C5F-DD04-8545AFF7AA33}"/>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32A6E95-A9C5-5DC6-7D21-D2D225FA91A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8223DD80-31E2-1219-E238-B3C3A61EE0D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AB84447B-A30A-D10E-489D-B35F1CBAA07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4B9606-1D76-2228-9DEF-43912C707FE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B3900D8-DCD4-1F11-EE87-25C0BBA5E53A}"/>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B3956B18-39F6-3BCC-595F-C397922ACF8E}"/>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135A9672-8430-17E3-F292-1A3603744535}"/>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92951BBB-274F-8DE8-CE62-A73A1773B02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4A4014C-F794-0584-9D4A-0552013D0354}"/>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7FDAE2D7-A2C5-E1A5-7704-1F11853147AC}"/>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CC9B30BB-4E68-9C46-679A-35727CB6A3CA}"/>
                </a:ext>
              </a:extLst>
            </p:cNvPr>
            <p:cNvGraphicFramePr/>
            <p:nvPr>
              <p:extLst>
                <p:ext uri="{D42A27DB-BD31-4B8C-83A1-F6EECF244321}">
                  <p14:modId xmlns:p14="http://schemas.microsoft.com/office/powerpoint/2010/main" val="788071747"/>
                </p:ext>
              </p:extLst>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5C2A150D-B78F-2066-3FF8-C3E9563FF864}"/>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7A30D999-CCF6-9519-B4B7-D28FC08F8A84}"/>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A53AB10B-9764-A9B9-D6D4-228AE69795A1}"/>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957A78AE-3DF3-904C-1487-532D5BC3B797}"/>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0FAE8834-19F8-A537-E8F1-CFF917DA4BD2}"/>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A658DDE4-7DEE-6749-E7FB-72195B758D49}"/>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9EB7EFE3-846E-CA67-6635-6090C9F144A6}"/>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6835CD8D-77C5-461B-5AD1-AEED9FD06405}"/>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086BEB78-F35E-AFEF-97F8-C9EFFBDE6279}"/>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45A1057B-B67B-7251-481F-B362F311DAED}"/>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16D49972-4522-A0A3-CF68-F1C4B895B764}"/>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33C7CC60-0BDA-DFDD-85C6-7A40FE57B8A1}"/>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2128ECF4-BF39-DE34-7403-55DE9B6B48C6}"/>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FF527C29-923E-26EC-30FF-DCE60D0FF212}"/>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14A89E83-948F-BC47-7D3E-BF2D71D010D1}"/>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E1AE5349-0168-DA35-2794-697C41BD2296}"/>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B3F13860-B895-001C-1255-926C3EB70675}"/>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8914CF01-43F4-4549-CA36-6BE47CABA991}"/>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9BA60541-919E-F379-B449-2B1707080CE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656C2913-D26F-B333-E5F5-E44F945CA9FA}"/>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182FCB0A-9EFC-C5A3-D194-5DFF728966BB}"/>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185E32E-7A5D-05C6-B0FD-8AF3EEF5839D}"/>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C27E2383-6A4A-68E3-71E9-E8738F5D8B9D}"/>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5526280A-5D04-04B1-6E6A-223DA9EDE324}"/>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B2D5DF6B-3F13-AE01-7F57-941CC30B035A}"/>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62F8AFEF-1BA6-F308-8563-BAF15FE941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F8D21EF7-0C30-B116-57E2-E7F575BD2C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F0F05CE0-F1EF-DCBA-C7C7-E8F058C40E6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D9E65159-4E3E-615F-100C-A141C987FC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3478447043"/>
              </p:ext>
            </p:extLst>
          </p:nvPr>
        </p:nvGraphicFramePr>
        <p:xfrm>
          <a:off x="520699" y="2374902"/>
          <a:ext cx="9792596" cy="3660479"/>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231200">
                <a:tc>
                  <a:txBody>
                    <a:bodyPr/>
                    <a:lstStyle/>
                    <a:p>
                      <a:pPr algn="ctr" latinLnBrk="1"/>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중순위</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개월으로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조달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차환 협의에 착수하고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463256">
                <a:tc>
                  <a:txBody>
                    <a:bodyPr/>
                    <a:lstStyle/>
                    <a:p>
                      <a:pPr algn="ctr" latinLnBrk="1">
                        <a:lnSpc>
                          <a:spcPct val="100000"/>
                        </a:lnSpc>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 59.9%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이나 매입가 기준 실질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레버리지 수준 관리 필요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대주</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담보인정비율 이내로 설정되어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최초 대출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최소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운영기간 내 누적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유지</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Char cha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Cap Rate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하락 및 목표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IRR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미달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Cap Rate 4.88%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안정적 가정함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동일 권역 경쟁자산의 공급 및 거래사례를 지속 모니터링하여 매각 시점 탄력적으로 조정 예정</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그룹 10">
            <a:extLst>
              <a:ext uri="{FF2B5EF4-FFF2-40B4-BE49-F238E27FC236}">
                <a16:creationId xmlns:a16="http://schemas.microsoft.com/office/drawing/2014/main" id="{4CDBD5DE-C8D4-B788-F266-769127425FEA}"/>
              </a:ext>
            </a:extLst>
          </p:cNvPr>
          <p:cNvGrpSpPr/>
          <p:nvPr/>
        </p:nvGrpSpPr>
        <p:grpSpPr>
          <a:xfrm>
            <a:off x="458887" y="1987916"/>
            <a:ext cx="9783663" cy="247712"/>
            <a:chOff x="417444" y="1605420"/>
            <a:chExt cx="8983731" cy="247712"/>
          </a:xfrm>
        </p:grpSpPr>
        <p:sp>
          <p:nvSpPr>
            <p:cNvPr id="12" name="직사각형 11">
              <a:extLst>
                <a:ext uri="{FF2B5EF4-FFF2-40B4-BE49-F238E27FC236}">
                  <a16:creationId xmlns:a16="http://schemas.microsoft.com/office/drawing/2014/main" id="{3AE5CFD9-73B0-D672-16C1-015258ADA54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3" name="직선 연결선 12">
              <a:extLst>
                <a:ext uri="{FF2B5EF4-FFF2-40B4-BE49-F238E27FC236}">
                  <a16:creationId xmlns:a16="http://schemas.microsoft.com/office/drawing/2014/main" id="{674F4B22-1616-5A57-1E65-65DD43FBD9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4" name="자유형 5">
              <a:extLst>
                <a:ext uri="{FF2B5EF4-FFF2-40B4-BE49-F238E27FC236}">
                  <a16:creationId xmlns:a16="http://schemas.microsoft.com/office/drawing/2014/main" id="{1FE04362-25CE-CF8D-9D88-B02847DF37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자유형 6">
              <a:extLst>
                <a:ext uri="{FF2B5EF4-FFF2-40B4-BE49-F238E27FC236}">
                  <a16:creationId xmlns:a16="http://schemas.microsoft.com/office/drawing/2014/main" id="{7D2A5C97-A67F-17DB-686E-837849FF5C2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6E1FB1D3-887F-DFF4-7652-04FE6ED6290B}"/>
                </a:ext>
              </a:extLst>
            </p:cNvPr>
            <p:cNvSpPr txBox="1"/>
            <p:nvPr/>
          </p:nvSpPr>
          <p:spPr>
            <a:xfrm>
              <a:off x="417444" y="1652332"/>
              <a:ext cx="166283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Checklist</a:t>
              </a:r>
              <a:r>
                <a:rPr kumimoji="0" lang="en-US" altLang="ko-KR" sz="1000" b="0" i="0" u="none" strike="noStrike" kern="1200" cap="none" spc="0" normalizeH="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및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조치 </a:t>
              </a: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예정사항</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17" name="표 16">
            <a:extLst>
              <a:ext uri="{FF2B5EF4-FFF2-40B4-BE49-F238E27FC236}">
                <a16:creationId xmlns:a16="http://schemas.microsoft.com/office/drawing/2014/main" id="{3D2B0DFC-F034-D3C4-5CA1-7C9DB5EAC1B8}"/>
              </a:ext>
            </a:extLst>
          </p:cNvPr>
          <p:cNvGraphicFramePr>
            <a:graphicFrameLocks noGrp="1"/>
          </p:cNvGraphicFramePr>
          <p:nvPr>
            <p:extLst>
              <p:ext uri="{D42A27DB-BD31-4B8C-83A1-F6EECF244321}">
                <p14:modId xmlns:p14="http://schemas.microsoft.com/office/powerpoint/2010/main" val="918064245"/>
              </p:ext>
            </p:extLst>
          </p:nvPr>
        </p:nvGraphicFramePr>
        <p:xfrm>
          <a:off x="520698" y="2357346"/>
          <a:ext cx="9792597" cy="3906766"/>
        </p:xfrm>
        <a:graphic>
          <a:graphicData uri="http://schemas.openxmlformats.org/drawingml/2006/table">
            <a:tbl>
              <a:tblPr>
                <a:tableStyleId>{5940675A-B579-460E-94D1-54222C63F5DA}</a:tableStyleId>
              </a:tblPr>
              <a:tblGrid>
                <a:gridCol w="1332820">
                  <a:extLst>
                    <a:ext uri="{9D8B030D-6E8A-4147-A177-3AD203B41FA5}">
                      <a16:colId xmlns:a16="http://schemas.microsoft.com/office/drawing/2014/main" val="20000"/>
                    </a:ext>
                  </a:extLst>
                </a:gridCol>
                <a:gridCol w="4320480">
                  <a:extLst>
                    <a:ext uri="{9D8B030D-6E8A-4147-A177-3AD203B41FA5}">
                      <a16:colId xmlns:a16="http://schemas.microsoft.com/office/drawing/2014/main" val="846093259"/>
                    </a:ext>
                  </a:extLst>
                </a:gridCol>
                <a:gridCol w="4139297">
                  <a:extLst>
                    <a:ext uri="{9D8B030D-6E8A-4147-A177-3AD203B41FA5}">
                      <a16:colId xmlns:a16="http://schemas.microsoft.com/office/drawing/2014/main" val="20001"/>
                    </a:ext>
                  </a:extLst>
                </a:gridCol>
              </a:tblGrid>
              <a:tr h="333611">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 </a:t>
                      </a: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투자심의</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전 </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Checklist</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 투자심의위원회 前 </a:t>
                      </a: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보완방향</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924275">
                <a:tc>
                  <a:txBody>
                    <a:bodyPr/>
                    <a:lstStyle/>
                    <a:p>
                      <a:pPr algn="ctr" latinLnBrk="1">
                        <a:lnSpc>
                          <a:spcPct val="150000"/>
                        </a:lnSpc>
                      </a:pP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거래관계 투명성</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50000"/>
                        </a:lnSpc>
                      </a:pPr>
                      <a:r>
                        <a:rPr lang="ko-KR" altLang="en-US" sz="110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공정성</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확보</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매도인과 매수인의 </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AMC</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 동일회사</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 점</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리스크관리팀</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및 법무팀 협업 하에 </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및 거래절차에 필요한 법률의견서 요청 및 수령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82960">
                <a:tc>
                  <a:txBody>
                    <a:bodyPr/>
                    <a:lstStyle/>
                    <a:p>
                      <a:pPr algn="ctr" latinLnBrk="1">
                        <a:lnSpc>
                          <a:spcPct val="150000"/>
                        </a:lnSpc>
                      </a:pP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 조건부</a:t>
                      </a:r>
                      <a:endPar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lnSpc>
                          <a:spcPct val="150000"/>
                        </a:lnSpc>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인수확약서</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투자자의 인수확약 조건인 </a:t>
                      </a: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b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매입확약에 대한 당사자 별 세부조건 합의 필요</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내 매매에 대한 내용 명기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별도 당사자간 합의서를 통한 </a:t>
                      </a: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위약벌</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지연이자 합의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78159693"/>
                  </a:ext>
                </a:extLst>
              </a:tr>
              <a:tr h="882960">
                <a:tc>
                  <a:txBody>
                    <a:bodyPr/>
                    <a:lstStyle/>
                    <a:p>
                      <a:pPr algn="ctr" latinLnBrk="1">
                        <a:lnSpc>
                          <a:spcPct val="150000"/>
                        </a:lnSpc>
                      </a:pPr>
                      <a:r>
                        <a:rPr lang="ko-KR" altLang="en-US" sz="11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 및 우선주 매입확약 의사결정에 대한 투자심의 필요</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latinLnBrk="1">
                        <a:lnSpc>
                          <a:spcPct val="150000"/>
                        </a:lnSpc>
                        <a:buFont typeface="Arial" panose="020B0604020202020204" pitchFamily="34" charset="0"/>
                        <a:buChar cha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단계별 지분 매입에 따른 </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입장에서의 수익률 검토</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 시 </a:t>
                      </a:r>
                      <a:r>
                        <a:rPr lang="ko-KR" altLang="en-US" sz="11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상장리츠의</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투자에 대한 심의 별도 진행 예정</a:t>
                      </a:r>
                      <a:b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 제출의 건 등</a:t>
                      </a: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53547054"/>
                  </a:ext>
                </a:extLst>
              </a:tr>
              <a:tr h="882960">
                <a:tc>
                  <a:txBody>
                    <a:bodyPr/>
                    <a:lstStyle/>
                    <a:p>
                      <a:pPr algn="ctr" latinLnBrk="1">
                        <a:lnSpc>
                          <a:spcPct val="150000"/>
                        </a:lnSpc>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기타사항</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71450" indent="-171450" latinLnBrk="1">
                        <a:lnSpc>
                          <a:spcPct val="150000"/>
                        </a:lnSpc>
                        <a:buFont typeface="Arial" panose="020B0604020202020204" pitchFamily="34" charset="0"/>
                        <a:buChar char="•"/>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최근 물류센터 화재에 따른 소방시설에 대한 실사 및 보험료에 대한 확인 필요</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171450" indent="-171450" latinLnBrk="1">
                        <a:lnSpc>
                          <a:spcPct val="150000"/>
                        </a:lnSpc>
                        <a:buFont typeface="Wingdings" panose="05000000000000000000" pitchFamily="2" charset="2"/>
                        <a:buChar char="ü"/>
                      </a:pP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기술팀 협업 하에 물리실사 진행 시 소방시설에 대한 실사도 </a:t>
                      </a:r>
                      <a:b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병행하여 실행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19804780"/>
                  </a:ext>
                </a:extLst>
              </a:tr>
            </a:tbl>
          </a:graphicData>
        </a:graphic>
      </p:graphicFrame>
      <p:sp>
        <p:nvSpPr>
          <p:cNvPr id="19" name="TextBox 18">
            <a:extLst>
              <a:ext uri="{FF2B5EF4-FFF2-40B4-BE49-F238E27FC236}">
                <a16:creationId xmlns:a16="http://schemas.microsoft.com/office/drawing/2014/main" id="{D836C4AE-5A9D-13F5-F384-5726B553A846}"/>
              </a:ext>
            </a:extLst>
          </p:cNvPr>
          <p:cNvSpPr txBox="1"/>
          <p:nvPr/>
        </p:nvSpPr>
        <p:spPr>
          <a:xfrm>
            <a:off x="283368" y="1040097"/>
            <a:ext cx="10152063" cy="68268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 </a:t>
            </a: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a:t>
            </a: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투자심의위원회 이후 향후 보완 예정사항은 다음과 같으며 관계자와의 협의를 통해 </a:t>
            </a:r>
            <a:r>
              <a:rPr lang="en-US" altLang="ko-KR" sz="1400" dirty="0">
                <a:solidFill>
                  <a:prstClr val="black"/>
                </a:solidFill>
              </a:rPr>
              <a:t>10</a:t>
            </a:r>
            <a:r>
              <a:rPr lang="ko-KR" altLang="en-US" sz="1400" dirty="0">
                <a:solidFill>
                  <a:prstClr val="black"/>
                </a:solidFill>
              </a:rPr>
              <a:t>월내</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매매계약 체결 예정</a:t>
            </a:r>
            <a:endPar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Checklist</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기준으로 보완할 예정이며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추가 심의위원 의견 청취 후 본 투자심의위원회 개회 전 주요 계약서 내용 반영 및 보완할 예정임</a:t>
            </a:r>
            <a:endPar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85998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1A33-6576-FE3C-6709-B60DF8C389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CDA013-3020-F2F1-F603-D7EC385981F4}"/>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Appendix. </a:t>
            </a:r>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 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 name="TextBox 1">
            <a:extLst>
              <a:ext uri="{FF2B5EF4-FFF2-40B4-BE49-F238E27FC236}">
                <a16:creationId xmlns:a16="http://schemas.microsoft.com/office/drawing/2014/main" id="{D8CE082C-A4E7-E0C7-BA5A-EB5778FA81C1}"/>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53C64A7-B43A-B395-F2C8-72BA23439BAF}"/>
              </a:ext>
            </a:extLst>
          </p:cNvPr>
          <p:cNvSpPr txBox="1"/>
          <p:nvPr/>
        </p:nvSpPr>
        <p:spPr>
          <a:xfrm>
            <a:off x="7339373" y="2832310"/>
            <a:ext cx="2743300" cy="1962076"/>
          </a:xfrm>
          <a:prstGeom prst="rect">
            <a:avLst/>
          </a:prstGeom>
        </p:spPr>
        <p:txBody>
          <a:bodyPr wrap="square" rtlCol="0" anchor="t" anchorCtr="0">
            <a:spAutoFit/>
          </a:bodyPr>
          <a:lstStyle/>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Upside Potential</a:t>
            </a: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Appendix.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도면</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8" name="직선 연결선 7">
            <a:extLst>
              <a:ext uri="{FF2B5EF4-FFF2-40B4-BE49-F238E27FC236}">
                <a16:creationId xmlns:a16="http://schemas.microsoft.com/office/drawing/2014/main" id="{749C83A7-7C4B-9F52-68CA-D05F81707307}"/>
              </a:ext>
            </a:extLst>
          </p:cNvPr>
          <p:cNvCxnSpPr>
            <a:cxnSpLocks/>
          </p:cNvCxnSpPr>
          <p:nvPr/>
        </p:nvCxnSpPr>
        <p:spPr>
          <a:xfrm>
            <a:off x="3833738" y="2195512"/>
            <a:ext cx="6408812"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70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848B-6DDB-DDF7-69B0-AE82AC30B06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A672A0A1-71E4-294C-BBE4-716A05448B3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045525C9-C9C2-86C6-B2D0-A95F6758E5E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F74FB23-A634-6B62-9009-0E8E2EEEAF1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8BF05521-4FD8-8385-8C20-EEFA014AE080}"/>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062FB601-29B8-258A-6A3D-00450B6D212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FA229369-402F-8028-6504-5E6BCC13F5CF}"/>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7EB73558-E4AC-9508-5E99-3C1D4CCFF305}"/>
              </a:ext>
            </a:extLst>
          </p:cNvPr>
          <p:cNvGrpSpPr/>
          <p:nvPr/>
        </p:nvGrpSpPr>
        <p:grpSpPr>
          <a:xfrm>
            <a:off x="458887" y="1439577"/>
            <a:ext cx="760144" cy="261610"/>
            <a:chOff x="455544" y="-592941"/>
            <a:chExt cx="760144" cy="261610"/>
          </a:xfrm>
        </p:grpSpPr>
        <p:sp>
          <p:nvSpPr>
            <p:cNvPr id="11" name="TextBox 10">
              <a:extLst>
                <a:ext uri="{FF2B5EF4-FFF2-40B4-BE49-F238E27FC236}">
                  <a16:creationId xmlns:a16="http://schemas.microsoft.com/office/drawing/2014/main" id="{47536B38-6A5F-A83A-36FC-09A8767D777B}"/>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DD0FE03-637E-5E04-BC7F-5FF328E9266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 name="그림 2">
            <a:extLst>
              <a:ext uri="{FF2B5EF4-FFF2-40B4-BE49-F238E27FC236}">
                <a16:creationId xmlns:a16="http://schemas.microsoft.com/office/drawing/2014/main" id="{883C777D-3AF8-8525-A857-0E90A692283E}"/>
              </a:ext>
            </a:extLst>
          </p:cNvPr>
          <p:cNvPicPr>
            <a:picLocks noChangeAspect="1"/>
          </p:cNvPicPr>
          <p:nvPr/>
        </p:nvPicPr>
        <p:blipFill rotWithShape="1">
          <a:blip r:embed="rId3"/>
          <a:srcRect l="7071" r="9499"/>
          <a:stretch/>
        </p:blipFill>
        <p:spPr>
          <a:xfrm>
            <a:off x="612997" y="1778754"/>
            <a:ext cx="4084837" cy="2245308"/>
          </a:xfrm>
          <a:prstGeom prst="rect">
            <a:avLst/>
          </a:prstGeom>
          <a:ln>
            <a:solidFill>
              <a:schemeClr val="bg1">
                <a:lumMod val="75000"/>
              </a:schemeClr>
            </a:solidFill>
          </a:ln>
        </p:spPr>
      </p:pic>
      <p:pic>
        <p:nvPicPr>
          <p:cNvPr id="13" name="그림 12">
            <a:extLst>
              <a:ext uri="{FF2B5EF4-FFF2-40B4-BE49-F238E27FC236}">
                <a16:creationId xmlns:a16="http://schemas.microsoft.com/office/drawing/2014/main" id="{0CED4C7E-DA32-A1A6-5EB6-0DEB9821BA98}"/>
              </a:ext>
            </a:extLst>
          </p:cNvPr>
          <p:cNvPicPr>
            <a:picLocks noChangeAspect="1"/>
          </p:cNvPicPr>
          <p:nvPr/>
        </p:nvPicPr>
        <p:blipFill rotWithShape="1">
          <a:blip r:embed="rId4"/>
          <a:srcRect l="7280" r="8599"/>
          <a:stretch/>
        </p:blipFill>
        <p:spPr>
          <a:xfrm>
            <a:off x="612997" y="4456195"/>
            <a:ext cx="4084837" cy="2245308"/>
          </a:xfrm>
          <a:prstGeom prst="rect">
            <a:avLst/>
          </a:prstGeom>
          <a:ln>
            <a:solidFill>
              <a:schemeClr val="bg1">
                <a:lumMod val="75000"/>
              </a:schemeClr>
            </a:solidFill>
          </a:ln>
        </p:spPr>
      </p:pic>
      <p:grpSp>
        <p:nvGrpSpPr>
          <p:cNvPr id="14" name="그룹 13">
            <a:extLst>
              <a:ext uri="{FF2B5EF4-FFF2-40B4-BE49-F238E27FC236}">
                <a16:creationId xmlns:a16="http://schemas.microsoft.com/office/drawing/2014/main" id="{A7ACF34C-1ED7-0692-A654-628F9D29E8E5}"/>
              </a:ext>
            </a:extLst>
          </p:cNvPr>
          <p:cNvGrpSpPr/>
          <p:nvPr/>
        </p:nvGrpSpPr>
        <p:grpSpPr>
          <a:xfrm>
            <a:off x="462657" y="4117018"/>
            <a:ext cx="760144" cy="261610"/>
            <a:chOff x="455544" y="-592941"/>
            <a:chExt cx="760144" cy="261610"/>
          </a:xfrm>
        </p:grpSpPr>
        <p:sp>
          <p:nvSpPr>
            <p:cNvPr id="15" name="TextBox 14">
              <a:extLst>
                <a:ext uri="{FF2B5EF4-FFF2-40B4-BE49-F238E27FC236}">
                  <a16:creationId xmlns:a16="http://schemas.microsoft.com/office/drawing/2014/main" id="{C6E0683E-3F1F-9E6C-8F09-741988F79AD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4F285B9C-337D-76AA-62C7-7AAE7753D87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9" name="그림 18">
            <a:extLst>
              <a:ext uri="{FF2B5EF4-FFF2-40B4-BE49-F238E27FC236}">
                <a16:creationId xmlns:a16="http://schemas.microsoft.com/office/drawing/2014/main" id="{610ACDE8-CCC0-8643-CE4C-3F92533889A5}"/>
              </a:ext>
            </a:extLst>
          </p:cNvPr>
          <p:cNvPicPr>
            <a:picLocks noChangeAspect="1"/>
          </p:cNvPicPr>
          <p:nvPr/>
        </p:nvPicPr>
        <p:blipFill rotWithShape="1">
          <a:blip r:embed="rId5"/>
          <a:srcRect l="6951" r="9434"/>
          <a:stretch/>
        </p:blipFill>
        <p:spPr>
          <a:xfrm>
            <a:off x="5509541" y="1778754"/>
            <a:ext cx="4084837" cy="2245308"/>
          </a:xfrm>
          <a:prstGeom prst="rect">
            <a:avLst/>
          </a:prstGeom>
          <a:ln>
            <a:solidFill>
              <a:schemeClr val="bg1">
                <a:lumMod val="75000"/>
              </a:schemeClr>
            </a:solidFill>
          </a:ln>
        </p:spPr>
      </p:pic>
      <p:pic>
        <p:nvPicPr>
          <p:cNvPr id="20" name="그림 19">
            <a:extLst>
              <a:ext uri="{FF2B5EF4-FFF2-40B4-BE49-F238E27FC236}">
                <a16:creationId xmlns:a16="http://schemas.microsoft.com/office/drawing/2014/main" id="{A792C125-062C-C054-2537-DCB0073AB332}"/>
              </a:ext>
            </a:extLst>
          </p:cNvPr>
          <p:cNvPicPr>
            <a:picLocks noChangeAspect="1"/>
          </p:cNvPicPr>
          <p:nvPr/>
        </p:nvPicPr>
        <p:blipFill rotWithShape="1">
          <a:blip r:embed="rId6"/>
          <a:srcRect l="7931" r="11268"/>
          <a:stretch/>
        </p:blipFill>
        <p:spPr>
          <a:xfrm>
            <a:off x="5509541" y="4456196"/>
            <a:ext cx="4084837" cy="2245308"/>
          </a:xfrm>
          <a:prstGeom prst="rect">
            <a:avLst/>
          </a:prstGeom>
          <a:ln>
            <a:solidFill>
              <a:schemeClr val="bg1">
                <a:lumMod val="75000"/>
              </a:schemeClr>
            </a:solidFill>
          </a:ln>
        </p:spPr>
      </p:pic>
      <p:grpSp>
        <p:nvGrpSpPr>
          <p:cNvPr id="21" name="그룹 20">
            <a:extLst>
              <a:ext uri="{FF2B5EF4-FFF2-40B4-BE49-F238E27FC236}">
                <a16:creationId xmlns:a16="http://schemas.microsoft.com/office/drawing/2014/main" id="{DB5C45EC-EC47-265D-73AE-C47CC6CC9E8A}"/>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A57F2B5A-7BA4-1AFD-C37E-E403A7A92834}"/>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1E5B5C76-6717-1DA8-8EB4-D1DBA4441A3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4" name="그룹 23">
            <a:extLst>
              <a:ext uri="{FF2B5EF4-FFF2-40B4-BE49-F238E27FC236}">
                <a16:creationId xmlns:a16="http://schemas.microsoft.com/office/drawing/2014/main" id="{0E53F16C-77DC-C2DD-A7D8-05897279B258}"/>
              </a:ext>
            </a:extLst>
          </p:cNvPr>
          <p:cNvGrpSpPr/>
          <p:nvPr/>
        </p:nvGrpSpPr>
        <p:grpSpPr>
          <a:xfrm>
            <a:off x="5345906" y="4117018"/>
            <a:ext cx="1120820" cy="261610"/>
            <a:chOff x="455544" y="-592941"/>
            <a:chExt cx="1120820" cy="261610"/>
          </a:xfrm>
        </p:grpSpPr>
        <p:sp>
          <p:nvSpPr>
            <p:cNvPr id="25" name="TextBox 24">
              <a:extLst>
                <a:ext uri="{FF2B5EF4-FFF2-40B4-BE49-F238E27FC236}">
                  <a16:creationId xmlns:a16="http://schemas.microsoft.com/office/drawing/2014/main" id="{43C6225C-ABA3-6B2B-A41C-A3F26163BF88}"/>
                </a:ext>
              </a:extLst>
            </p:cNvPr>
            <p:cNvSpPr txBox="1"/>
            <p:nvPr/>
          </p:nvSpPr>
          <p:spPr>
            <a:xfrm>
              <a:off x="455544" y="-592941"/>
              <a:ext cx="1120820"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5</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C8FF3854-58E1-2DC3-3A13-B1BE8DE394F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F2E14B58-05E1-D741-C2B8-6A12152B398D}"/>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12749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BD88-DCF2-BD25-BC26-8BC70385164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9486DE11-4476-7F25-5B1B-68079FDF170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30E6424A-1604-4F09-1669-35E8EBC61DF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FA34CD6-E0D1-D395-9DF6-D7F71C6ADA2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59C180B3-9D18-211F-EA1B-4D3C5764C12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57319933-31AC-3F64-98ED-44BE2D9D669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5F7D74CC-6896-0321-B283-EDF42E725661}"/>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8" name="그룹 17">
            <a:extLst>
              <a:ext uri="{FF2B5EF4-FFF2-40B4-BE49-F238E27FC236}">
                <a16:creationId xmlns:a16="http://schemas.microsoft.com/office/drawing/2014/main" id="{7E24F2B8-84F7-79F6-4260-631CBBD4132C}"/>
              </a:ext>
            </a:extLst>
          </p:cNvPr>
          <p:cNvGrpSpPr/>
          <p:nvPr/>
        </p:nvGrpSpPr>
        <p:grpSpPr>
          <a:xfrm>
            <a:off x="458887" y="1439577"/>
            <a:ext cx="704039" cy="246221"/>
            <a:chOff x="455544" y="-592941"/>
            <a:chExt cx="704039" cy="246221"/>
          </a:xfrm>
        </p:grpSpPr>
        <p:sp>
          <p:nvSpPr>
            <p:cNvPr id="19" name="TextBox 18">
              <a:extLst>
                <a:ext uri="{FF2B5EF4-FFF2-40B4-BE49-F238E27FC236}">
                  <a16:creationId xmlns:a16="http://schemas.microsoft.com/office/drawing/2014/main" id="{29A11206-B9D2-A2BC-90A3-641630560863}"/>
                </a:ext>
              </a:extLst>
            </p:cNvPr>
            <p:cNvSpPr txBox="1"/>
            <p:nvPr/>
          </p:nvSpPr>
          <p:spPr>
            <a:xfrm>
              <a:off x="455544" y="-592941"/>
              <a:ext cx="7040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6</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6D4C0BE-5A37-CC86-F5E1-8D0828ACE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1" name="그룹 20">
            <a:extLst>
              <a:ext uri="{FF2B5EF4-FFF2-40B4-BE49-F238E27FC236}">
                <a16:creationId xmlns:a16="http://schemas.microsoft.com/office/drawing/2014/main" id="{B753FD01-23EA-7658-49CA-75303CA76A1B}"/>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8E24F0F7-D0C6-A16A-82C9-B788C3AA854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8</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28BEDB28-A5E8-4F61-523C-EF1721AB6664}"/>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24" name="그림 23">
            <a:extLst>
              <a:ext uri="{FF2B5EF4-FFF2-40B4-BE49-F238E27FC236}">
                <a16:creationId xmlns:a16="http://schemas.microsoft.com/office/drawing/2014/main" id="{8492B159-FB7F-E50D-C928-7FB212D5C75C}"/>
              </a:ext>
            </a:extLst>
          </p:cNvPr>
          <p:cNvPicPr>
            <a:picLocks noChangeAspect="1"/>
          </p:cNvPicPr>
          <p:nvPr/>
        </p:nvPicPr>
        <p:blipFill rotWithShape="1">
          <a:blip r:embed="rId3"/>
          <a:srcRect l="8577" r="11770"/>
          <a:stretch/>
        </p:blipFill>
        <p:spPr>
          <a:xfrm>
            <a:off x="863279" y="1732655"/>
            <a:ext cx="3618531" cy="2264984"/>
          </a:xfrm>
          <a:prstGeom prst="rect">
            <a:avLst/>
          </a:prstGeom>
          <a:ln>
            <a:solidFill>
              <a:schemeClr val="bg1">
                <a:lumMod val="75000"/>
              </a:schemeClr>
            </a:solidFill>
          </a:ln>
        </p:spPr>
      </p:pic>
      <p:pic>
        <p:nvPicPr>
          <p:cNvPr id="25" name="그림 24">
            <a:extLst>
              <a:ext uri="{FF2B5EF4-FFF2-40B4-BE49-F238E27FC236}">
                <a16:creationId xmlns:a16="http://schemas.microsoft.com/office/drawing/2014/main" id="{363C2C9B-1485-5194-C9A2-B9A489A33741}"/>
              </a:ext>
            </a:extLst>
          </p:cNvPr>
          <p:cNvPicPr>
            <a:picLocks noChangeAspect="1"/>
          </p:cNvPicPr>
          <p:nvPr/>
        </p:nvPicPr>
        <p:blipFill rotWithShape="1">
          <a:blip r:embed="rId4"/>
          <a:srcRect l="8597" r="12054"/>
          <a:stretch/>
        </p:blipFill>
        <p:spPr>
          <a:xfrm>
            <a:off x="863279" y="4418183"/>
            <a:ext cx="3618531" cy="2277978"/>
          </a:xfrm>
          <a:prstGeom prst="rect">
            <a:avLst/>
          </a:prstGeom>
          <a:ln>
            <a:solidFill>
              <a:schemeClr val="bg1">
                <a:lumMod val="75000"/>
              </a:schemeClr>
            </a:solidFill>
          </a:ln>
        </p:spPr>
      </p:pic>
      <p:grpSp>
        <p:nvGrpSpPr>
          <p:cNvPr id="26" name="그룹 25">
            <a:extLst>
              <a:ext uri="{FF2B5EF4-FFF2-40B4-BE49-F238E27FC236}">
                <a16:creationId xmlns:a16="http://schemas.microsoft.com/office/drawing/2014/main" id="{CB291365-4124-7279-41FB-BC700196D708}"/>
              </a:ext>
            </a:extLst>
          </p:cNvPr>
          <p:cNvGrpSpPr/>
          <p:nvPr/>
        </p:nvGrpSpPr>
        <p:grpSpPr>
          <a:xfrm>
            <a:off x="458887" y="1439577"/>
            <a:ext cx="760144" cy="261610"/>
            <a:chOff x="455544" y="-592941"/>
            <a:chExt cx="760144" cy="261610"/>
          </a:xfrm>
        </p:grpSpPr>
        <p:sp>
          <p:nvSpPr>
            <p:cNvPr id="27" name="TextBox 26">
              <a:extLst>
                <a:ext uri="{FF2B5EF4-FFF2-40B4-BE49-F238E27FC236}">
                  <a16:creationId xmlns:a16="http://schemas.microsoft.com/office/drawing/2014/main" id="{30B6A057-A7B3-B45E-6925-538081CBA30E}"/>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8" name="직사각형 27">
              <a:extLst>
                <a:ext uri="{FF2B5EF4-FFF2-40B4-BE49-F238E27FC236}">
                  <a16:creationId xmlns:a16="http://schemas.microsoft.com/office/drawing/2014/main" id="{5D0F9AAB-FCDE-A282-F68B-2C16EC9594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9" name="그룹 28">
            <a:extLst>
              <a:ext uri="{FF2B5EF4-FFF2-40B4-BE49-F238E27FC236}">
                <a16:creationId xmlns:a16="http://schemas.microsoft.com/office/drawing/2014/main" id="{2384E01F-7E8D-1093-3C04-49B6C22832CE}"/>
              </a:ext>
            </a:extLst>
          </p:cNvPr>
          <p:cNvGrpSpPr/>
          <p:nvPr/>
        </p:nvGrpSpPr>
        <p:grpSpPr>
          <a:xfrm>
            <a:off x="462657" y="4117018"/>
            <a:ext cx="760144" cy="261610"/>
            <a:chOff x="455544" y="-592941"/>
            <a:chExt cx="760144" cy="261610"/>
          </a:xfrm>
        </p:grpSpPr>
        <p:sp>
          <p:nvSpPr>
            <p:cNvPr id="30" name="TextBox 29">
              <a:extLst>
                <a:ext uri="{FF2B5EF4-FFF2-40B4-BE49-F238E27FC236}">
                  <a16:creationId xmlns:a16="http://schemas.microsoft.com/office/drawing/2014/main" id="{FEAF3007-8776-AD17-7200-89BD60E4B1B2}"/>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1" name="직사각형 30">
              <a:extLst>
                <a:ext uri="{FF2B5EF4-FFF2-40B4-BE49-F238E27FC236}">
                  <a16:creationId xmlns:a16="http://schemas.microsoft.com/office/drawing/2014/main" id="{517DE81A-E2F0-24F2-4C3B-4562CC97DAA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2" name="그림 31">
            <a:extLst>
              <a:ext uri="{FF2B5EF4-FFF2-40B4-BE49-F238E27FC236}">
                <a16:creationId xmlns:a16="http://schemas.microsoft.com/office/drawing/2014/main" id="{2A1E3D9E-F1C5-B0A8-386E-AEE9AA66C739}"/>
              </a:ext>
            </a:extLst>
          </p:cNvPr>
          <p:cNvPicPr>
            <a:picLocks noChangeAspect="1"/>
          </p:cNvPicPr>
          <p:nvPr/>
        </p:nvPicPr>
        <p:blipFill rotWithShape="1">
          <a:blip r:embed="rId5"/>
          <a:srcRect l="8511" r="11881"/>
          <a:stretch/>
        </p:blipFill>
        <p:spPr>
          <a:xfrm>
            <a:off x="5372292" y="1990387"/>
            <a:ext cx="4798150" cy="3013586"/>
          </a:xfrm>
          <a:prstGeom prst="rect">
            <a:avLst/>
          </a:prstGeom>
        </p:spPr>
      </p:pic>
      <p:sp>
        <p:nvSpPr>
          <p:cNvPr id="10" name="TextBox 9">
            <a:extLst>
              <a:ext uri="{FF2B5EF4-FFF2-40B4-BE49-F238E27FC236}">
                <a16:creationId xmlns:a16="http://schemas.microsoft.com/office/drawing/2014/main" id="{E77ACD13-D9AB-68C0-4CCD-1444BA562561}"/>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01190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219B-D830-8173-D259-CD184BEE6B8B}"/>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B321D38-6C01-8783-CD56-6B1E4AD4096E}"/>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F621ABF0-1671-8438-97B2-D2B32C210C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5F0B4F28-CBD7-5277-9ADE-37D847F91524}"/>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3DA5BA5E-AFEA-EACF-1CCA-6C7FA6FB221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1AA3D0-8FBB-8B3A-38DA-FA49FC5FA3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27E6602-7B3C-7512-E700-F2A8C6779A78}"/>
                </a:ext>
              </a:extLst>
            </p:cNvPr>
            <p:cNvSpPr txBox="1"/>
            <p:nvPr/>
          </p:nvSpPr>
          <p:spPr>
            <a:xfrm>
              <a:off x="417444" y="1652332"/>
              <a:ext cx="90626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 도면 및 구조</a:t>
              </a:r>
            </a:p>
          </p:txBody>
        </p:sp>
      </p:grpSp>
      <p:pic>
        <p:nvPicPr>
          <p:cNvPr id="2" name="그림 1">
            <a:extLst>
              <a:ext uri="{FF2B5EF4-FFF2-40B4-BE49-F238E27FC236}">
                <a16:creationId xmlns:a16="http://schemas.microsoft.com/office/drawing/2014/main" id="{E12E0A6F-E5CF-2BEF-9B60-8AF94F640434}"/>
              </a:ext>
            </a:extLst>
          </p:cNvPr>
          <p:cNvPicPr>
            <a:picLocks noChangeAspect="1"/>
          </p:cNvPicPr>
          <p:nvPr/>
        </p:nvPicPr>
        <p:blipFill>
          <a:blip r:embed="rId3"/>
          <a:stretch>
            <a:fillRect/>
          </a:stretch>
        </p:blipFill>
        <p:spPr>
          <a:xfrm>
            <a:off x="1781510" y="1843969"/>
            <a:ext cx="7102607" cy="4528156"/>
          </a:xfrm>
          <a:prstGeom prst="rect">
            <a:avLst/>
          </a:prstGeom>
          <a:ln>
            <a:solidFill>
              <a:schemeClr val="bg1">
                <a:lumMod val="95000"/>
              </a:schemeClr>
            </a:solidFill>
          </a:ln>
        </p:spPr>
      </p:pic>
      <p:grpSp>
        <p:nvGrpSpPr>
          <p:cNvPr id="14" name="그룹 13">
            <a:extLst>
              <a:ext uri="{FF2B5EF4-FFF2-40B4-BE49-F238E27FC236}">
                <a16:creationId xmlns:a16="http://schemas.microsoft.com/office/drawing/2014/main" id="{9C0EC32B-647A-C4EF-27C8-CAD2D30B9AD6}"/>
              </a:ext>
            </a:extLst>
          </p:cNvPr>
          <p:cNvGrpSpPr/>
          <p:nvPr/>
        </p:nvGrpSpPr>
        <p:grpSpPr>
          <a:xfrm>
            <a:off x="458887" y="1439577"/>
            <a:ext cx="885179" cy="261610"/>
            <a:chOff x="455544" y="-592941"/>
            <a:chExt cx="885179" cy="261610"/>
          </a:xfrm>
        </p:grpSpPr>
        <p:sp>
          <p:nvSpPr>
            <p:cNvPr id="15" name="TextBox 14">
              <a:extLst>
                <a:ext uri="{FF2B5EF4-FFF2-40B4-BE49-F238E27FC236}">
                  <a16:creationId xmlns:a16="http://schemas.microsoft.com/office/drawing/2014/main" id="{372F144A-8DCD-6550-40E6-40840F38B8BE}"/>
                </a:ext>
              </a:extLst>
            </p:cNvPr>
            <p:cNvSpPr txBox="1"/>
            <p:nvPr/>
          </p:nvSpPr>
          <p:spPr>
            <a:xfrm>
              <a:off x="455544" y="-592941"/>
              <a:ext cx="885179"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건축단면도</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541D67AA-B439-4380-7DFF-8CE96666F9F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2A2AAF4-91A6-82CD-2388-3CA7AF7B670A}"/>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01737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74B8-FEC3-54D2-E792-9BD3D95558D5}"/>
            </a:ext>
          </a:extLst>
        </p:cNvPr>
        <p:cNvGrpSpPr/>
        <p:nvPr/>
      </p:nvGrpSpPr>
      <p:grpSpPr>
        <a:xfrm>
          <a:off x="0" y="0"/>
          <a:ext cx="0" cy="0"/>
          <a:chOff x="0" y="0"/>
          <a:chExt cx="0" cy="0"/>
        </a:xfrm>
      </p:grpSpPr>
      <p:pic>
        <p:nvPicPr>
          <p:cNvPr id="17" name="그림 16">
            <a:extLst>
              <a:ext uri="{FF2B5EF4-FFF2-40B4-BE49-F238E27FC236}">
                <a16:creationId xmlns:a16="http://schemas.microsoft.com/office/drawing/2014/main" id="{E6DC6870-1195-73A1-73C5-4502364E474C}"/>
              </a:ext>
            </a:extLst>
          </p:cNvPr>
          <p:cNvPicPr>
            <a:picLocks noChangeAspect="1"/>
          </p:cNvPicPr>
          <p:nvPr/>
        </p:nvPicPr>
        <p:blipFill>
          <a:blip r:embed="rId3"/>
          <a:stretch>
            <a:fillRect/>
          </a:stretch>
        </p:blipFill>
        <p:spPr>
          <a:xfrm>
            <a:off x="694964" y="1151545"/>
            <a:ext cx="4191960" cy="5386555"/>
          </a:xfrm>
          <a:prstGeom prst="rect">
            <a:avLst/>
          </a:prstGeom>
          <a:ln>
            <a:solidFill>
              <a:schemeClr val="bg1">
                <a:lumMod val="75000"/>
              </a:schemeClr>
            </a:solidFill>
          </a:ln>
        </p:spPr>
      </p:pic>
      <p:sp>
        <p:nvSpPr>
          <p:cNvPr id="4" name="TextBox 3">
            <a:extLst>
              <a:ext uri="{FF2B5EF4-FFF2-40B4-BE49-F238E27FC236}">
                <a16:creationId xmlns:a16="http://schemas.microsoft.com/office/drawing/2014/main" id="{D7FB1019-8C6E-73EA-B5D4-0675C05408FC}"/>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31176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76680</TotalTime>
  <Words>9748</Words>
  <Application>Microsoft Office PowerPoint</Application>
  <PresentationFormat>사용자 지정</PresentationFormat>
  <Paragraphs>3018</Paragraphs>
  <Slides>44</Slides>
  <Notes>25</Notes>
  <HiddenSlides>0</HiddenSlides>
  <MMClips>0</MMClips>
  <ScaleCrop>false</ScaleCrop>
  <HeadingPairs>
    <vt:vector size="6" baseType="variant">
      <vt:variant>
        <vt:lpstr>사용한 글꼴</vt:lpstr>
      </vt:variant>
      <vt:variant>
        <vt:i4>10</vt:i4>
      </vt:variant>
      <vt:variant>
        <vt:lpstr>테마</vt:lpstr>
      </vt:variant>
      <vt:variant>
        <vt:i4>3</vt:i4>
      </vt:variant>
      <vt:variant>
        <vt:lpstr>슬라이드 제목</vt:lpstr>
      </vt:variant>
      <vt:variant>
        <vt:i4>44</vt:i4>
      </vt:variant>
    </vt:vector>
  </HeadingPairs>
  <TitlesOfParts>
    <vt:vector size="57" baseType="lpstr">
      <vt:lpstr>KoPubWorld돋움체 Bold</vt:lpstr>
      <vt:lpstr>KoPubWorld돋움체 Light</vt:lpstr>
      <vt:lpstr>KoPubWorld돋움체 Medium</vt:lpstr>
      <vt:lpstr>KoPubWorld바탕체 Bold</vt:lpstr>
      <vt:lpstr>KoPubWorld바탕체 Medium</vt:lpstr>
      <vt:lpstr>Pretendard</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임영규 부장(상장리츠팀)</cp:lastModifiedBy>
  <cp:revision>5187</cp:revision>
  <cp:lastPrinted>2026-08-23T23:34:57Z</cp:lastPrinted>
  <dcterms:created xsi:type="dcterms:W3CDTF">2019-10-07T05:08:42Z</dcterms:created>
  <dcterms:modified xsi:type="dcterms:W3CDTF">2026-08-24T06:55:15Z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TlqSUOvUz2jqmGfWs-WogWvifac202402010000000</vt:lpwstr>
  </property>
  <property fmtid="{D5CDD505-2E9C-101B-9397-08002B2CF9AE}" pid="3" name="docPath">
    <vt:lpwstr>QzpcVXNlcnNceW9uZ2h5ZW9uYWhuXERvd25sb2Fkc1xbS0xJXSDslYjslpHrrLzrpZjshLzthLAg7JiI67mE7Yis7Ius7J6Q66OMXzI2MDgyNF92MyjstZzsooUpLnBwdHg=</vt:lpwstr>
  </property>
  <property fmtid="{D5CDD505-2E9C-101B-9397-08002B2CF9AE}" pid="4" name="docUid">
    <vt:lpwstr>TlqSUOvUz2jqmGfWs-WogWvifac</vt:lpwstr>
  </property>
  <property fmtid="{D5CDD505-2E9C-101B-9397-08002B2CF9AE}" pid="5" name="parentBranchUid">
    <vt:lpwstr/>
  </property>
</Properties>
</file>