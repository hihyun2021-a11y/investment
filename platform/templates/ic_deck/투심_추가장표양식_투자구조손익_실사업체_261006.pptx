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07200" cy="99393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>
        <p:guide pos="27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63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376" tIns="40188" rIns="80376" bIns="40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376" tIns="40188" rIns="80376" bIns="4018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376" tIns="40188" rIns="80376" bIns="40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376" tIns="40188" rIns="80376" bIns="4018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686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블라인드 투자구조 및 당사 손익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1457432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052560" y="109728"/>
            <a:ext cx="277063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One </a:t>
            </a: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 </a:t>
            </a:r>
            <a:r>
              <a:rPr lang="en-US" sz="11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New </a:t>
            </a: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05256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850392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구조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2834640" cy="640080"/>
          </a:xfrm>
          <a:prstGeom prst="rect">
            <a:avLst/>
          </a:prstGeom>
          <a:solidFill>
            <a:srgbClr val="6F6255"/>
          </a:solidFill>
          <a:ln>
            <a:solidFill>
              <a:srgbClr val="6F625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코람코프라임에셋 모리츠</a:t>
            </a:r>
            <a:endParaRPr lang="en-US" sz="10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(우본 5,000억)</a:t>
            </a:r>
            <a:endParaRPr lang="en-US" sz="1000" dirty="0"/>
          </a:p>
        </p:txBody>
      </p:sp>
      <p:sp>
        <p:nvSpPr>
          <p:cNvPr id="51" name="보수구조 목표수익률"/>
          <p:cNvSpPr/>
          <p:nvPr/>
        </p:nvSpPr>
        <p:spPr>
          <a:xfrm>
            <a:off x="3657600" y="1207008"/>
            <a:ext cx="711200" cy="304800"/>
          </a:xfrm>
          <a:prstGeom prst="rect">
            <a:avLst/>
          </a:prstGeom>
          <a:solidFill>
            <a:srgbClr val="A39382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/>
            <a:r>
              <a:rPr lang="ko-KR" altLang="en-US" sz="900" dirty="0">
                <a:solidFill>
                  <a:srgbClr val="FFFFFF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목표수익률</a:t>
            </a:r>
            <a:endParaRPr lang="en-US" altLang="ko-KR" sz="900" dirty="0"/>
          </a:p>
        </p:txBody>
      </p:sp>
      <p:sp>
        <p:nvSpPr>
          <p:cNvPr id="52" name="보수구조 매입보수"/>
          <p:cNvSpPr/>
          <p:nvPr/>
        </p:nvSpPr>
        <p:spPr>
          <a:xfrm>
            <a:off x="4368800" y="1207008"/>
            <a:ext cx="660400" cy="304800"/>
          </a:xfrm>
          <a:prstGeom prst="rect">
            <a:avLst/>
          </a:prstGeom>
          <a:solidFill>
            <a:srgbClr val="A39382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/>
            <a:r>
              <a:rPr lang="ko-KR" altLang="en-US" sz="900" dirty="0">
                <a:solidFill>
                  <a:srgbClr val="FFFFFF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매입보수</a:t>
            </a:r>
            <a:endParaRPr lang="en-US" altLang="ko-KR" sz="900" dirty="0"/>
          </a:p>
        </p:txBody>
      </p:sp>
      <p:sp>
        <p:nvSpPr>
          <p:cNvPr id="53" name="보수구조 운용보수"/>
          <p:cNvSpPr/>
          <p:nvPr/>
        </p:nvSpPr>
        <p:spPr>
          <a:xfrm>
            <a:off x="5029200" y="1207008"/>
            <a:ext cx="1828800" cy="152400"/>
          </a:xfrm>
          <a:prstGeom prst="rect">
            <a:avLst/>
          </a:prstGeom>
          <a:solidFill>
            <a:srgbClr val="A39382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/>
            <a:r>
              <a:rPr lang="ko-KR" altLang="en-US" sz="900" dirty="0">
                <a:solidFill>
                  <a:srgbClr val="FFFFFF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운용보수</a:t>
            </a:r>
            <a:endParaRPr lang="en-US" altLang="ko-KR" sz="900" dirty="0"/>
          </a:p>
        </p:txBody>
      </p:sp>
      <p:sp>
        <p:nvSpPr>
          <p:cNvPr id="54" name="보수구조 매각보수"/>
          <p:cNvSpPr/>
          <p:nvPr/>
        </p:nvSpPr>
        <p:spPr>
          <a:xfrm>
            <a:off x="6858000" y="1207008"/>
            <a:ext cx="1791079" cy="152400"/>
          </a:xfrm>
          <a:prstGeom prst="rect">
            <a:avLst/>
          </a:prstGeom>
          <a:solidFill>
            <a:srgbClr val="A39382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/>
            <a:r>
              <a:rPr lang="ko-KR" altLang="en-US" sz="900" dirty="0">
                <a:solidFill>
                  <a:srgbClr val="FFFFFF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매각보수</a:t>
            </a:r>
            <a:endParaRPr lang="en-US" altLang="ko-KR" sz="900" dirty="0"/>
          </a:p>
        </p:txBody>
      </p:sp>
      <p:sp>
        <p:nvSpPr>
          <p:cNvPr id="55" name="보수구조 소구분2"/>
          <p:cNvSpPr/>
          <p:nvPr/>
        </p:nvSpPr>
        <p:spPr>
          <a:xfrm>
            <a:off x="5029200" y="1359408"/>
            <a:ext cx="1117600" cy="152400"/>
          </a:xfrm>
          <a:prstGeom prst="rect">
            <a:avLst/>
          </a:prstGeom>
          <a:solidFill>
            <a:srgbClr val="A39382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/>
            <a:r>
              <a:rPr lang="ko-KR" altLang="en-US" sz="850" dirty="0">
                <a:solidFill>
                  <a:srgbClr val="FFFFFF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기본</a:t>
            </a:r>
            <a:endParaRPr lang="en-US" altLang="ko-KR" sz="850" dirty="0"/>
          </a:p>
        </p:txBody>
      </p:sp>
      <p:sp>
        <p:nvSpPr>
          <p:cNvPr id="56" name="보수구조 소구분3"/>
          <p:cNvSpPr/>
          <p:nvPr/>
        </p:nvSpPr>
        <p:spPr>
          <a:xfrm>
            <a:off x="6146800" y="1359408"/>
            <a:ext cx="711200" cy="152400"/>
          </a:xfrm>
          <a:prstGeom prst="rect">
            <a:avLst/>
          </a:prstGeom>
          <a:solidFill>
            <a:srgbClr val="A39382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/>
            <a:r>
              <a:rPr lang="ko-KR" altLang="en-US" sz="850" dirty="0">
                <a:solidFill>
                  <a:srgbClr val="FFFFFF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성과</a:t>
            </a:r>
            <a:endParaRPr lang="en-US" altLang="ko-KR" sz="850" dirty="0"/>
          </a:p>
        </p:txBody>
      </p:sp>
      <p:sp>
        <p:nvSpPr>
          <p:cNvPr id="57" name="보수구조 소구분4"/>
          <p:cNvSpPr/>
          <p:nvPr/>
        </p:nvSpPr>
        <p:spPr>
          <a:xfrm>
            <a:off x="6858000" y="1359408"/>
            <a:ext cx="711200" cy="152400"/>
          </a:xfrm>
          <a:prstGeom prst="rect">
            <a:avLst/>
          </a:prstGeom>
          <a:solidFill>
            <a:srgbClr val="A39382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/>
            <a:r>
              <a:rPr lang="ko-KR" altLang="en-US" sz="850" dirty="0">
                <a:solidFill>
                  <a:srgbClr val="FFFFFF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기본</a:t>
            </a:r>
            <a:endParaRPr lang="en-US" altLang="ko-KR" sz="850" dirty="0"/>
          </a:p>
        </p:txBody>
      </p:sp>
      <p:sp>
        <p:nvSpPr>
          <p:cNvPr id="58" name="보수구조 소구분5"/>
          <p:cNvSpPr/>
          <p:nvPr/>
        </p:nvSpPr>
        <p:spPr>
          <a:xfrm>
            <a:off x="7569200" y="1359408"/>
            <a:ext cx="1079879" cy="152400"/>
          </a:xfrm>
          <a:prstGeom prst="rect">
            <a:avLst/>
          </a:prstGeom>
          <a:solidFill>
            <a:srgbClr val="A39382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/>
            <a:r>
              <a:rPr lang="ko-KR" altLang="en-US" sz="850" dirty="0">
                <a:solidFill>
                  <a:srgbClr val="FFFFFF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성과</a:t>
            </a:r>
            <a:endParaRPr lang="en-US" altLang="ko-KR" sz="850" dirty="0"/>
          </a:p>
        </p:txBody>
      </p:sp>
      <p:sp>
        <p:nvSpPr>
          <p:cNvPr id="59" name="보수구조 값0"/>
          <p:cNvSpPr/>
          <p:nvPr/>
        </p:nvSpPr>
        <p:spPr>
          <a:xfrm>
            <a:off x="3657600" y="1511808"/>
            <a:ext cx="711200" cy="335280"/>
          </a:xfrm>
          <a:prstGeom prst="rect">
            <a:avLst/>
          </a:prstGeom>
          <a:solidFill>
            <a:srgbClr val="FFFFFF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IRR 8%</a:t>
            </a:r>
            <a:endParaRPr lang="en-US" sz="1100" dirty="0"/>
          </a:p>
        </p:txBody>
      </p:sp>
      <p:sp>
        <p:nvSpPr>
          <p:cNvPr id="60" name="보수구조 값1"/>
          <p:cNvSpPr/>
          <p:nvPr/>
        </p:nvSpPr>
        <p:spPr>
          <a:xfrm>
            <a:off x="4368800" y="1511808"/>
            <a:ext cx="660400" cy="335280"/>
          </a:xfrm>
          <a:prstGeom prst="rect">
            <a:avLst/>
          </a:prstGeom>
          <a:solidFill>
            <a:srgbClr val="FFFFFF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-</a:t>
            </a:r>
            <a:endParaRPr lang="en-US" sz="1100" dirty="0"/>
          </a:p>
        </p:txBody>
      </p:sp>
      <p:sp>
        <p:nvSpPr>
          <p:cNvPr id="61" name="보수구조 값2"/>
          <p:cNvSpPr/>
          <p:nvPr/>
        </p:nvSpPr>
        <p:spPr>
          <a:xfrm>
            <a:off x="5029200" y="1511808"/>
            <a:ext cx="1117600" cy="335280"/>
          </a:xfrm>
          <a:prstGeom prst="rect">
            <a:avLst/>
          </a:prstGeom>
          <a:solidFill>
            <a:srgbClr val="FFFFFF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Equity × 0.36%</a:t>
            </a:r>
            <a:endParaRPr lang="en-US" sz="900" dirty="0"/>
          </a:p>
        </p:txBody>
      </p:sp>
      <p:sp>
        <p:nvSpPr>
          <p:cNvPr id="62" name="보수구조 값3"/>
          <p:cNvSpPr/>
          <p:nvPr/>
        </p:nvSpPr>
        <p:spPr>
          <a:xfrm>
            <a:off x="6146800" y="1511808"/>
            <a:ext cx="711200" cy="335280"/>
          </a:xfrm>
          <a:prstGeom prst="rect">
            <a:avLst/>
          </a:prstGeom>
          <a:solidFill>
            <a:srgbClr val="FFFFFF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-</a:t>
            </a:r>
            <a:endParaRPr lang="en-US" sz="1100" dirty="0"/>
          </a:p>
        </p:txBody>
      </p:sp>
      <p:sp>
        <p:nvSpPr>
          <p:cNvPr id="63" name="보수구조 값4"/>
          <p:cNvSpPr/>
          <p:nvPr/>
        </p:nvSpPr>
        <p:spPr>
          <a:xfrm>
            <a:off x="6858000" y="1511808"/>
            <a:ext cx="711200" cy="335280"/>
          </a:xfrm>
          <a:prstGeom prst="rect">
            <a:avLst/>
          </a:prstGeom>
          <a:solidFill>
            <a:srgbClr val="FFFFFF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-</a:t>
            </a:r>
            <a:endParaRPr lang="en-US" sz="1100" dirty="0"/>
          </a:p>
        </p:txBody>
      </p:sp>
      <p:sp>
        <p:nvSpPr>
          <p:cNvPr id="64" name="보수구조 값5"/>
          <p:cNvSpPr/>
          <p:nvPr/>
        </p:nvSpPr>
        <p:spPr>
          <a:xfrm>
            <a:off x="7569200" y="1511808"/>
            <a:ext cx="1079879" cy="335280"/>
          </a:xfrm>
          <a:prstGeom prst="rect">
            <a:avLst/>
          </a:prstGeom>
          <a:solidFill>
            <a:srgbClr val="FFFFFF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IRR 8% 초과금액의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10%</a:t>
            </a:r>
            <a:endParaRPr lang="en-US" sz="900" dirty="0"/>
          </a:p>
        </p:txBody>
      </p:sp>
      <p:sp>
        <p:nvSpPr>
          <p:cNvPr id="65" name="보수구조 주석"/>
          <p:cNvSpPr txBox="1"/>
          <p:nvPr/>
        </p:nvSpPr>
        <p:spPr>
          <a:xfrm>
            <a:off x="3666959" y="1034797"/>
            <a:ext cx="2248279" cy="19833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altLang="ko-KR" sz="9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· </a:t>
            </a:r>
            <a:r>
              <a:rPr lang="en-US" sz="9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 블라인드 </a:t>
            </a:r>
            <a:r>
              <a:rPr lang="en-US" sz="900" dirty="0" err="1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모리츠</a:t>
            </a:r>
            <a:r>
              <a:rPr lang="en-US" sz="9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 </a:t>
            </a:r>
            <a:r>
              <a:rPr lang="en-US" sz="900" dirty="0" err="1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기준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664648" y="1959863"/>
            <a:ext cx="3232023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※ 실물 : 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코람코 의무출자 4%     </a:t>
            </a:r>
            <a:r>
              <a:rPr lang="en-US" sz="9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개발 : 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우본 100%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25880" y="1847088"/>
            <a:ext cx="0" cy="329184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417320" y="1883664"/>
            <a:ext cx="15544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+ 코람코 100억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25880" y="2176272"/>
            <a:ext cx="53949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325880" y="2176272"/>
            <a:ext cx="0" cy="18288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012482" y="2176272"/>
            <a:ext cx="0" cy="182880"/>
          </a:xfrm>
          <a:prstGeom prst="line">
            <a:avLst/>
          </a:prstGeom>
          <a:noFill/>
          <a:ln w="12700">
            <a:solidFill>
              <a:srgbClr val="A6A6A6"/>
            </a:solidFill>
            <a:prstDash val="sys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88432" y="2176272"/>
            <a:ext cx="0" cy="182880"/>
          </a:xfrm>
          <a:prstGeom prst="line">
            <a:avLst/>
          </a:prstGeom>
          <a:noFill/>
          <a:ln w="12700">
            <a:solidFill>
              <a:srgbClr val="A6A6A6"/>
            </a:solidFill>
            <a:prstDash val="sys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720840" y="2176272"/>
            <a:ext cx="0" cy="182880"/>
          </a:xfrm>
          <a:prstGeom prst="line">
            <a:avLst/>
          </a:prstGeom>
          <a:noFill/>
          <a:ln w="12700">
            <a:solidFill>
              <a:srgbClr val="A6A6A6"/>
            </a:solidFill>
            <a:prstDash val="sys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2267712"/>
            <a:ext cx="2487168" cy="2194560"/>
          </a:xfrm>
          <a:prstGeom prst="rect">
            <a:avLst/>
          </a:prstGeom>
          <a:solidFill>
            <a:srgbClr val="FDF7F7"/>
          </a:solidFill>
          <a:ln w="12700">
            <a:solidFill>
              <a:srgbClr val="C0000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2359152"/>
            <a:ext cx="1554480" cy="384048"/>
          </a:xfrm>
          <a:prstGeom prst="rect">
            <a:avLst/>
          </a:prstGeom>
          <a:solidFill>
            <a:srgbClr val="EDE6DF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자1 </a:t>
            </a:r>
            <a:r>
              <a:rPr lang="en-US" sz="10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(2,800억)</a:t>
            </a:r>
          </a:p>
          <a:p>
            <a:pPr marL="0" indent="0" algn="ctr">
              <a:buNone/>
            </a:pPr>
            <a:r>
              <a:rPr lang="ko-KR" altLang="en-US" sz="900" b="1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</a:rPr>
              <a:t>롯데덕평물류센터</a:t>
            </a:r>
            <a:endParaRPr lang="en-US" sz="1000" b="1" dirty="0"/>
          </a:p>
        </p:txBody>
      </p:sp>
      <p:sp>
        <p:nvSpPr>
          <p:cNvPr id="23" name="Text 21"/>
          <p:cNvSpPr/>
          <p:nvPr/>
        </p:nvSpPr>
        <p:spPr>
          <a:xfrm>
            <a:off x="3476910" y="2359152"/>
            <a:ext cx="1080000" cy="384048"/>
          </a:xfrm>
          <a:prstGeom prst="rect">
            <a:avLst/>
          </a:prstGeom>
          <a:solidFill>
            <a:srgbClr val="EDE6DF"/>
          </a:solidFill>
          <a:ln>
            <a:solidFill>
              <a:srgbClr val="A39382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자2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52856" y="2359152"/>
            <a:ext cx="1080000" cy="384048"/>
          </a:xfrm>
          <a:prstGeom prst="rect">
            <a:avLst/>
          </a:prstGeom>
          <a:solidFill>
            <a:srgbClr val="EDE6DF"/>
          </a:solidFill>
          <a:ln>
            <a:solidFill>
              <a:srgbClr val="A39382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자3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85266" y="2359152"/>
            <a:ext cx="1080000" cy="384048"/>
          </a:xfrm>
          <a:prstGeom prst="rect">
            <a:avLst/>
          </a:prstGeom>
          <a:solidFill>
            <a:srgbClr val="EDE6DF"/>
          </a:solidFill>
          <a:ln>
            <a:solidFill>
              <a:srgbClr val="A39382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자4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25880" y="2743200"/>
            <a:ext cx="0" cy="201168"/>
          </a:xfrm>
          <a:prstGeom prst="line">
            <a:avLst/>
          </a:pr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1060704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매매대금</a:t>
            </a:r>
            <a:endParaRPr lang="en-US" sz="95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2,622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3813048"/>
            <a:ext cx="10607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부대비용</a:t>
            </a: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138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4087368"/>
            <a:ext cx="10607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예비비 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40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609344" y="2944368"/>
            <a:ext cx="1060704" cy="502920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Equity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1,260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09344" y="3447288"/>
            <a:ext cx="106070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Loan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1,420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609344" y="4087368"/>
            <a:ext cx="1060704" cy="274320"/>
          </a:xfrm>
          <a:prstGeom prst="rect">
            <a:avLst/>
          </a:prstGeom>
          <a:solidFill>
            <a:srgbClr val="F5F3F1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보증금</a:t>
            </a: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120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70048" y="3191256"/>
            <a:ext cx="347472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3054096" y="2962656"/>
            <a:ext cx="1234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우본 </a:t>
            </a:r>
            <a:r>
              <a:rPr lang="en-US" sz="10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1,212억 </a:t>
            </a:r>
            <a:r>
              <a:rPr lang="en-US" sz="9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(96%)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코람코 </a:t>
            </a:r>
            <a:r>
              <a:rPr lang="en-US" sz="10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48억</a:t>
            </a:r>
            <a:r>
              <a:rPr lang="en-US" sz="9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 (4%)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70048" y="3767328"/>
            <a:ext cx="347472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3054096" y="3493008"/>
            <a:ext cx="1234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LTV 55%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3개월 변동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</a:t>
            </a:r>
            <a:r>
              <a:rPr lang="en-US" sz="10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oo</a:t>
            </a:r>
            <a:r>
              <a:rPr lang="ko-KR" altLang="en-US" sz="10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은행</a:t>
            </a:r>
            <a:r>
              <a:rPr lang="en-US" altLang="ko-KR" sz="10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, </a:t>
            </a:r>
            <a:r>
              <a:rPr lang="en-US" altLang="ko-KR" sz="10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oo</a:t>
            </a:r>
            <a:r>
              <a:rPr lang="ko-KR" altLang="en-US" sz="10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중앙회 등</a:t>
            </a:r>
            <a:r>
              <a:rPr lang="en-US" altLang="ko-KR" sz="10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24528" y="3657600"/>
            <a:ext cx="310896" cy="237744"/>
          </a:xfrm>
          <a:prstGeom prst="right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46634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[ </a:t>
            </a:r>
            <a:r>
              <a:rPr lang="ko-KR" altLang="en-US" sz="11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대출 </a:t>
            </a:r>
            <a:r>
              <a:rPr lang="en-US" sz="1100" dirty="0" err="1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마케팅</a:t>
            </a:r>
            <a:r>
              <a:rPr lang="en-US" sz="11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 기관 ]</a:t>
            </a:r>
            <a:endParaRPr lang="en-US" sz="1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425765"/>
              </p:ext>
            </p:extLst>
          </p:nvPr>
        </p:nvGraphicFramePr>
        <p:xfrm>
          <a:off x="4663440" y="3236976"/>
          <a:ext cx="3108960" cy="1069848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</a:t>
                      </a:r>
                      <a:endParaRPr lang="en-US" sz="10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  <a:endParaRPr lang="en-US" sz="10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비고</a:t>
                      </a:r>
                      <a:endParaRPr lang="en-US" sz="10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KDB</a:t>
                      </a: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산은</a:t>
                      </a:r>
                      <a:endParaRPr lang="en-US" sz="10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1,000억</a:t>
                      </a:r>
                      <a:endParaRPr lang="en-US" sz="10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나눔스퀘어" charset="0"/>
                          <a:ea typeface="나눔스퀘어" charset="0"/>
                          <a:cs typeface="나눔스퀘어" charset="0"/>
                        </a:rPr>
                        <a:t>CD +150bps </a:t>
                      </a:r>
                      <a:r>
                        <a:rPr lang="ko-KR" altLang="en-US" sz="900" dirty="0">
                          <a:latin typeface="나눔스퀘어" charset="0"/>
                          <a:ea typeface="나눔스퀘어" charset="0"/>
                          <a:cs typeface="나눔스퀘어" charset="0"/>
                        </a:rPr>
                        <a:t>내외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농협</a:t>
                      </a: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은행</a:t>
                      </a:r>
                      <a:endParaRPr lang="en-US" sz="10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400~1,000억</a:t>
                      </a:r>
                      <a:endParaRPr lang="en-US" sz="10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나눔스퀘어" charset="0"/>
                          <a:ea typeface="나눔스퀘어" charset="0"/>
                          <a:cs typeface="나눔스퀘어" charset="0"/>
                        </a:rPr>
                        <a:t>CD +160bps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기업</a:t>
                      </a: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은행</a:t>
                      </a:r>
                      <a:endParaRPr lang="en-US" sz="10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700억</a:t>
                      </a:r>
                      <a:endParaRPr lang="en-US" sz="10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나눔스퀘어" charset="0"/>
                          <a:ea typeface="나눔스퀘어" charset="0"/>
                          <a:cs typeface="나눔스퀘어" charset="0"/>
                        </a:rPr>
                        <a:t>CD + 180bps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365760" y="4608576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548640" y="4553712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당사</a:t>
            </a:r>
            <a:r>
              <a:rPr lang="en-US" sz="13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 </a:t>
            </a:r>
            <a:r>
              <a:rPr lang="en-US" sz="1300" dirty="0" err="1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손익</a:t>
            </a:r>
            <a:r>
              <a:rPr lang="en-US" sz="11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 </a:t>
            </a:r>
            <a:r>
              <a:rPr lang="en-US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(</a:t>
            </a:r>
            <a:r>
              <a:rPr lang="ko-KR" altLang="en-US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자</a:t>
            </a:r>
            <a:r>
              <a:rPr lang="en-US" altLang="ko-KR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1</a:t>
            </a:r>
            <a:r>
              <a:rPr lang="ko-KR" altLang="en-US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기준</a:t>
            </a:r>
            <a:r>
              <a:rPr lang="en-US" altLang="ko-KR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)</a:t>
            </a:r>
            <a:endParaRPr lang="en-US" sz="10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2" name="Text 39"/>
          <p:cNvSpPr txBox="1"/>
          <p:nvPr/>
        </p:nvSpPr>
        <p:spPr>
          <a:xfrm>
            <a:off x="7224733" y="4631436"/>
            <a:ext cx="1371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(단위 : 억원)</a:t>
            </a:r>
            <a:endParaRPr lang="en-US" sz="9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980786"/>
              </p:ext>
            </p:extLst>
          </p:nvPr>
        </p:nvGraphicFramePr>
        <p:xfrm>
          <a:off x="365759" y="4873751"/>
          <a:ext cx="8283320" cy="1683798"/>
        </p:xfrm>
        <a:graphic>
          <a:graphicData uri="http://schemas.openxmlformats.org/drawingml/2006/table">
            <a:tbl>
              <a:tblPr/>
              <a:tblGrid>
                <a:gridCol w="177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4120507096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1249940299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3745833386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2299136110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3008600075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2797721272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1380477134"/>
                    </a:ext>
                  </a:extLst>
                </a:gridCol>
                <a:gridCol w="5101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4817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 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'26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'27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'28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'29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'30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'31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'32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'33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'34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'35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'36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'37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'38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charset="0"/>
                        </a:rPr>
                        <a:t>’39</a:t>
                      </a:r>
                      <a:r>
                        <a:rPr lang="ko-KR" alt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charset="0"/>
                        </a:rPr>
                        <a:t>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62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33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보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수</a:t>
                      </a:r>
                      <a:endParaRPr lang="en-US" sz="8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운용</a:t>
                      </a:r>
                      <a:endParaRPr lang="en-US" sz="8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4.5</a:t>
                      </a: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59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33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매각</a:t>
                      </a:r>
                      <a:endParaRPr lang="en-US" sz="8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pitchFamily="34" charset="-120"/>
                        </a:rPr>
                        <a:t>86.5</a:t>
                      </a: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86.5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133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계</a:t>
                      </a:r>
                      <a:endParaRPr lang="en-US" sz="8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4.5</a:t>
                      </a:r>
                      <a:endParaRPr lang="en-US" sz="8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4.5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91.0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145.5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33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P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I</a:t>
                      </a:r>
                      <a:endParaRPr lang="en-US" sz="8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charset="0"/>
                        </a:rPr>
                        <a:t>I.G</a:t>
                      </a:r>
                      <a:endParaRPr lang="en-US" sz="8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2.9</a:t>
                      </a: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38.1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133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charset="0"/>
                        </a:rPr>
                        <a:t>C.G</a:t>
                      </a:r>
                      <a:endParaRPr lang="en-US" sz="8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 Bold" charset="0"/>
                        </a:rPr>
                        <a:t>52.9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52.9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33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계</a:t>
                      </a:r>
                      <a:endParaRPr lang="en-US" sz="8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2.9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55.8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 Bold" charset="0"/>
                          <a:ea typeface="나눔스퀘어 Bold" charset="0"/>
                          <a:cs typeface="나눔스퀘어 Bold" charset="0"/>
                        </a:rPr>
                        <a:t>91.0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989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합 계</a:t>
                      </a:r>
                      <a:endParaRPr lang="en-US" sz="8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7.5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7.5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7.5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7.5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7.5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7.5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7.5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7.5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7.5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7.5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7.5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7.5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146.8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나눔스퀘어 ExtraBold" charset="0"/>
                          <a:ea typeface="나눔스퀘어 ExtraBold" charset="0"/>
                          <a:cs typeface="나눔스퀘어 ExtraBold" charset="0"/>
                        </a:rPr>
                        <a:t>236.5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" name="Shape 40"/>
          <p:cNvSpPr/>
          <p:nvPr/>
        </p:nvSpPr>
        <p:spPr>
          <a:xfrm>
            <a:off x="8764143" y="896112"/>
            <a:ext cx="0" cy="557784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1"/>
          <p:cNvSpPr/>
          <p:nvPr/>
        </p:nvSpPr>
        <p:spPr>
          <a:xfrm>
            <a:off x="8879205" y="905256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2"/>
          <p:cNvSpPr txBox="1"/>
          <p:nvPr/>
        </p:nvSpPr>
        <p:spPr>
          <a:xfrm>
            <a:off x="9062085" y="850392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보수</a:t>
            </a:r>
            <a:r>
              <a:rPr lang="en-US" sz="13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 </a:t>
            </a:r>
            <a:r>
              <a:rPr lang="en-US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(</a:t>
            </a:r>
            <a:r>
              <a:rPr lang="ko-KR" altLang="en-US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자</a:t>
            </a:r>
            <a:r>
              <a:rPr lang="en-US" altLang="ko-KR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1</a:t>
            </a:r>
            <a:r>
              <a:rPr lang="ko-KR" altLang="en-US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기준</a:t>
            </a:r>
            <a:r>
              <a:rPr lang="en-US" altLang="ko-KR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)</a:t>
            </a:r>
            <a:endParaRPr lang="en-US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4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354102"/>
              </p:ext>
            </p:extLst>
          </p:nvPr>
        </p:nvGraphicFramePr>
        <p:xfrm>
          <a:off x="8931953" y="1207008"/>
          <a:ext cx="3041730" cy="2761488"/>
        </p:xfrm>
        <a:graphic>
          <a:graphicData uri="http://schemas.openxmlformats.org/drawingml/2006/table">
            <a:tbl>
              <a:tblPr/>
              <a:tblGrid>
                <a:gridCol w="473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 분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산출근거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err="1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매입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-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err="1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운용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(자1호)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59억</a:t>
                      </a:r>
                      <a:endParaRPr lang="en-US" sz="12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Equity x 0.36%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  (AUM × 0.16%)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err="1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매각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기본</a:t>
                      </a:r>
                      <a:endParaRPr lang="en-US" sz="10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-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성과</a:t>
                      </a:r>
                      <a:endParaRPr lang="en-US" sz="10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86.5억</a:t>
                      </a:r>
                      <a:endParaRPr lang="en-US" sz="12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IRR 8% </a:t>
                      </a: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초과금액의 </a:t>
                      </a:r>
                      <a:r>
                        <a:rPr lang="en-US" altLang="ko-KR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10%</a:t>
                      </a:r>
                      <a:endParaRPr lang="en-US" altLang="ko-KR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계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86.5억</a:t>
                      </a:r>
                      <a:endParaRPr lang="en-US" sz="12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합 계</a:t>
                      </a:r>
                      <a:endParaRPr lang="en-US" sz="12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145.5</a:t>
                      </a:r>
                      <a:r>
                        <a:rPr lang="en-US" sz="12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억</a:t>
                      </a:r>
                      <a:endParaRPr lang="en-US" sz="15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Shape 43"/>
          <p:cNvSpPr/>
          <p:nvPr/>
        </p:nvSpPr>
        <p:spPr>
          <a:xfrm>
            <a:off x="8879205" y="4370832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4"/>
          <p:cNvSpPr txBox="1"/>
          <p:nvPr/>
        </p:nvSpPr>
        <p:spPr>
          <a:xfrm>
            <a:off x="9062085" y="4315968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PI </a:t>
            </a:r>
            <a:r>
              <a:rPr lang="en-US" sz="1300" dirty="0" err="1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투자수익</a:t>
            </a:r>
            <a:r>
              <a:rPr lang="en-US" sz="13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 </a:t>
            </a:r>
            <a:r>
              <a:rPr lang="en-US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(</a:t>
            </a:r>
            <a:r>
              <a:rPr lang="ko-KR" altLang="en-US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자</a:t>
            </a:r>
            <a:r>
              <a:rPr lang="en-US" altLang="ko-KR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1</a:t>
            </a:r>
            <a:r>
              <a:rPr lang="ko-KR" altLang="en-US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기준</a:t>
            </a:r>
            <a:r>
              <a:rPr lang="en-US" altLang="ko-KR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)</a:t>
            </a:r>
            <a:endParaRPr lang="en-US" sz="10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5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752814"/>
              </p:ext>
            </p:extLst>
          </p:nvPr>
        </p:nvGraphicFramePr>
        <p:xfrm>
          <a:off x="8931954" y="4663439"/>
          <a:ext cx="3041729" cy="1894110"/>
        </p:xfrm>
        <a:graphic>
          <a:graphicData uri="http://schemas.openxmlformats.org/drawingml/2006/table">
            <a:tbl>
              <a:tblPr/>
              <a:tblGrid>
                <a:gridCol w="850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 분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산출근거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2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charset="0"/>
                        </a:rPr>
                        <a:t>I.G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38.1억</a:t>
                      </a:r>
                      <a:endParaRPr lang="en-US" sz="12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</a:t>
                      </a: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누적적배당 </a:t>
                      </a: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6.1%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charset="0"/>
                        </a:rPr>
                        <a:t>  (</a:t>
                      </a: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charset="0"/>
                        </a:rPr>
                        <a:t>연 </a:t>
                      </a:r>
                      <a:r>
                        <a:rPr lang="en-US" altLang="ko-KR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charset="0"/>
                        </a:rPr>
                        <a:t>2.93</a:t>
                      </a: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charset="0"/>
                        </a:rPr>
                        <a:t>억 </a:t>
                      </a:r>
                      <a:r>
                        <a:rPr lang="en-US" altLang="ko-KR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charset="0"/>
                        </a:rPr>
                        <a:t>x13</a:t>
                      </a: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charset="0"/>
                        </a:rPr>
                        <a:t>년</a:t>
                      </a:r>
                      <a:r>
                        <a:rPr lang="en-US" altLang="ko-KR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charset="0"/>
                        </a:rPr>
                        <a:t>)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4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charset="0"/>
                        </a:rPr>
                        <a:t>C.G</a:t>
                      </a:r>
                      <a:endParaRPr lang="en-US" sz="10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52.9억</a:t>
                      </a:r>
                      <a:endParaRPr lang="en-US" sz="120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50" dirty="0">
                          <a:latin typeface="나눔스퀘어" charset="0"/>
                          <a:ea typeface="나눔스퀘어" charset="0"/>
                          <a:cs typeface="나눔스퀘어" charset="0"/>
                        </a:rPr>
                        <a:t>· 4,285</a:t>
                      </a:r>
                      <a:r>
                        <a:rPr lang="ko-KR" altLang="en-US" sz="950" dirty="0">
                          <a:latin typeface="나눔스퀘어" charset="0"/>
                          <a:ea typeface="나눔스퀘어" charset="0"/>
                          <a:cs typeface="나눔스퀘어" charset="0"/>
                        </a:rPr>
                        <a:t>억</a:t>
                      </a:r>
                      <a:r>
                        <a:rPr lang="en-US" altLang="ko-KR" sz="950" dirty="0">
                          <a:latin typeface="나눔스퀘어" charset="0"/>
                          <a:ea typeface="나눔스퀘어" charset="0"/>
                          <a:cs typeface="나눔스퀘어" charset="0"/>
                        </a:rPr>
                        <a:t>(@1,095</a:t>
                      </a:r>
                      <a:r>
                        <a:rPr lang="ko-KR" altLang="en-US" sz="950" dirty="0">
                          <a:latin typeface="나눔스퀘어" charset="0"/>
                          <a:ea typeface="나눔스퀘어" charset="0"/>
                          <a:cs typeface="나눔스퀘어" charset="0"/>
                        </a:rPr>
                        <a:t>만</a:t>
                      </a:r>
                      <a:r>
                        <a:rPr lang="en-US" altLang="ko-KR" sz="950" dirty="0">
                          <a:latin typeface="나눔스퀘어" charset="0"/>
                          <a:ea typeface="나눔스퀘어" charset="0"/>
                          <a:cs typeface="나눔스퀘어" charset="0"/>
                        </a:rPr>
                        <a:t>) </a:t>
                      </a:r>
                      <a:r>
                        <a:rPr lang="ko-KR" altLang="en-US" sz="950" dirty="0">
                          <a:latin typeface="나눔스퀘어" charset="0"/>
                          <a:ea typeface="나눔스퀘어" charset="0"/>
                          <a:cs typeface="나눔스퀘어" charset="0"/>
                        </a:rPr>
                        <a:t>매각기준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계</a:t>
                      </a:r>
                      <a:endParaRPr lang="en-US" sz="12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91.0</a:t>
                      </a:r>
                      <a:r>
                        <a:rPr lang="en-US" sz="12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억</a:t>
                      </a:r>
                      <a:endParaRPr lang="en-US" sz="15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0"/>
          <p:cNvSpPr/>
          <p:nvPr/>
        </p:nvSpPr>
        <p:spPr>
          <a:xfrm>
            <a:off x="6094476" y="1236617"/>
            <a:ext cx="0" cy="827314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417320" y="1588436"/>
            <a:ext cx="0" cy="28800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3755898" y="1588436"/>
            <a:ext cx="0" cy="28800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8433054" y="1588436"/>
            <a:ext cx="0" cy="28800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10771632" y="1588436"/>
            <a:ext cx="0" cy="28800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 0"/>
          <p:cNvSpPr txBox="1"/>
          <p:nvPr/>
        </p:nvSpPr>
        <p:spPr>
          <a:xfrm>
            <a:off x="365760" y="201168"/>
            <a:ext cx="8686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제반 실사 업체 선정 현황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1457432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052560" y="109728"/>
            <a:ext cx="277063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One </a:t>
            </a: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 </a:t>
            </a:r>
            <a:r>
              <a:rPr lang="en-US" sz="11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New </a:t>
            </a: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10328" y="871727"/>
            <a:ext cx="2377440" cy="43891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제반실사 선정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08008" y="932688"/>
            <a:ext cx="2615184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총  </a:t>
            </a:r>
            <a:r>
              <a:rPr lang="en-US" sz="16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219백만원</a:t>
            </a:r>
            <a:r>
              <a:rPr 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 (VAT 별도)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597151"/>
            <a:ext cx="9354312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2850" y="1805292"/>
            <a:ext cx="1872000" cy="457200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법률실사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850" y="2262492"/>
            <a:ext cx="1872000" cy="821211"/>
          </a:xfrm>
          <a:prstGeom prst="rect">
            <a:avLst/>
          </a:prstGeom>
          <a:solidFill>
            <a:srgbClr val="F5F3F1"/>
          </a:solidFill>
          <a:ln w="6350">
            <a:solidFill>
              <a:srgbClr val="D9D9D9"/>
            </a:solidFill>
          </a:ln>
        </p:spPr>
        <p:txBody>
          <a:bodyPr wrap="square" lIns="50800" tIns="101600" rIns="50800" bIns="5080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법률실사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진행 및 보고서 작성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매입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거래 관련 계약서 작성·검토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기타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AMC 자문 및 자료 검토 지원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43584" y="3328416"/>
            <a:ext cx="347472" cy="347472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709928" y="3383280"/>
            <a:ext cx="67665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성공불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2850" y="3767328"/>
            <a:ext cx="1872000" cy="713232"/>
          </a:xfrm>
          <a:prstGeom prst="rect">
            <a:avLst/>
          </a:prstGeom>
          <a:solidFill>
            <a:srgbClr val="FBEEEE"/>
          </a:solidFill>
          <a:ln w="15875">
            <a:solidFill>
              <a:srgbClr val="C00000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세한</a:t>
            </a:r>
            <a:endParaRPr lang="en-US" sz="1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50</a:t>
            </a:r>
            <a:r>
              <a:rPr lang="en-US" sz="115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백만원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971386"/>
              </p:ext>
            </p:extLst>
          </p:nvPr>
        </p:nvGraphicFramePr>
        <p:xfrm>
          <a:off x="442912" y="4736592"/>
          <a:ext cx="1881937" cy="1280160"/>
        </p:xfrm>
        <a:graphic>
          <a:graphicData uri="http://schemas.openxmlformats.org/drawingml/2006/table">
            <a:tbl>
              <a:tblPr/>
              <a:tblGrid>
                <a:gridCol w="1129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제안가격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법무법인 세한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50 백만원</a:t>
                      </a:r>
                      <a:endParaRPr lang="en-US" sz="95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법무법인 세종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70 백만원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법무법인 담우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60 백만원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2791428" y="1805292"/>
            <a:ext cx="1872000" cy="457200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감정평가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791428" y="2262492"/>
            <a:ext cx="1872000" cy="821211"/>
          </a:xfrm>
          <a:prstGeom prst="rect">
            <a:avLst/>
          </a:prstGeom>
          <a:solidFill>
            <a:srgbClr val="F5F3F1"/>
          </a:solidFill>
          <a:ln w="6350">
            <a:solidFill>
              <a:srgbClr val="D9D9D9"/>
            </a:solidFill>
          </a:ln>
        </p:spPr>
        <p:txBody>
          <a:bodyPr wrap="square" lIns="50800" tIns="101600" rIns="50800" bIns="5080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감정평가서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(담보·일반시가) 작성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기타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AMC 자문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582162" y="3328416"/>
            <a:ext cx="347472" cy="347472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4048506" y="3383280"/>
            <a:ext cx="67665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성공불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791428" y="3767328"/>
            <a:ext cx="1872000" cy="713232"/>
          </a:xfrm>
          <a:prstGeom prst="rect">
            <a:avLst/>
          </a:prstGeom>
          <a:solidFill>
            <a:srgbClr val="FBEEEE"/>
          </a:solidFill>
          <a:ln w="15875">
            <a:solidFill>
              <a:srgbClr val="C00000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대화</a:t>
            </a:r>
            <a:endParaRPr lang="en-US" sz="1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74</a:t>
            </a:r>
            <a:r>
              <a:rPr lang="en-US" sz="115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백만원 내외</a:t>
            </a:r>
            <a:endParaRPr lang="en-US" sz="11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542269"/>
              </p:ext>
            </p:extLst>
          </p:nvPr>
        </p:nvGraphicFramePr>
        <p:xfrm>
          <a:off x="2791428" y="4736592"/>
          <a:ext cx="1872000" cy="1609344"/>
        </p:xfrm>
        <a:graphic>
          <a:graphicData uri="http://schemas.openxmlformats.org/drawingml/2006/table">
            <a:tbl>
              <a:tblPr/>
              <a:tblGrid>
                <a:gridCol w="112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최종 수수료율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대화감정평가법인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28%</a:t>
                      </a:r>
                      <a:endParaRPr lang="en-US" sz="95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대일감정평가법인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35%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가람감정평가법인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34%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태평양감정평가법인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34%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130006" y="1805292"/>
            <a:ext cx="1872000" cy="457200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재무실사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130006" y="2262492"/>
            <a:ext cx="1872000" cy="821211"/>
          </a:xfrm>
          <a:prstGeom prst="rect">
            <a:avLst/>
          </a:prstGeom>
          <a:solidFill>
            <a:srgbClr val="F5F3F1"/>
          </a:solidFill>
          <a:ln w="6350">
            <a:solidFill>
              <a:srgbClr val="D9D9D9"/>
            </a:solidFill>
          </a:ln>
        </p:spPr>
        <p:txBody>
          <a:bodyPr wrap="square" lIns="50800" tIns="101600" rIns="50800" bIns="5080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재무모델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및 민감도 분석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추정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재무제표·수익률 분석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회계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및 세무 자문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재무실사보고서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작성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920740" y="3328416"/>
            <a:ext cx="347472" cy="347472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6387084" y="3383280"/>
            <a:ext cx="67665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성공불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130006" y="3767328"/>
            <a:ext cx="1872000" cy="713232"/>
          </a:xfrm>
          <a:prstGeom prst="rect">
            <a:avLst/>
          </a:prstGeom>
          <a:solidFill>
            <a:srgbClr val="FBEEEE"/>
          </a:solidFill>
          <a:ln w="15875">
            <a:solidFill>
              <a:srgbClr val="C00000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삼덕</a:t>
            </a:r>
            <a:endParaRPr lang="en-US" sz="1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40</a:t>
            </a:r>
            <a:r>
              <a:rPr lang="en-US" sz="115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백만원</a:t>
            </a:r>
            <a:endParaRPr lang="en-US" sz="1150" dirty="0"/>
          </a:p>
        </p:txBody>
      </p:sp>
      <p:graphicFrame>
        <p:nvGraphicFramePr>
          <p:cNvPr id="3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395365"/>
              </p:ext>
            </p:extLst>
          </p:nvPr>
        </p:nvGraphicFramePr>
        <p:xfrm>
          <a:off x="5130006" y="4736592"/>
          <a:ext cx="1872000" cy="1280160"/>
        </p:xfrm>
        <a:graphic>
          <a:graphicData uri="http://schemas.openxmlformats.org/drawingml/2006/table">
            <a:tbl>
              <a:tblPr/>
              <a:tblGrid>
                <a:gridCol w="112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제안가격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삼덕 회계법인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40 백만원</a:t>
                      </a:r>
                      <a:endParaRPr lang="en-US" sz="95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딜로이트 안진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65 백만원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삼도 회계법인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50 백만원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 27"/>
          <p:cNvSpPr/>
          <p:nvPr/>
        </p:nvSpPr>
        <p:spPr>
          <a:xfrm>
            <a:off x="7468584" y="1805292"/>
            <a:ext cx="1872000" cy="457200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물리실사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7468584" y="2262492"/>
            <a:ext cx="1872000" cy="821211"/>
          </a:xfrm>
          <a:prstGeom prst="rect">
            <a:avLst/>
          </a:prstGeom>
          <a:solidFill>
            <a:srgbClr val="F5F3F1"/>
          </a:solidFill>
          <a:ln w="6350">
            <a:solidFill>
              <a:srgbClr val="D9D9D9"/>
            </a:solidFill>
          </a:ln>
        </p:spPr>
        <p:txBody>
          <a:bodyPr wrap="square" lIns="50800" tIns="101600" rIns="50800" bIns="5080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물리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/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소방실사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및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보고서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작성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CAPEX/OPEX 추정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기타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AMC 자문 및 자료 검토 지원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8259318" y="3328416"/>
            <a:ext cx="347472" cy="347472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8725662" y="3383280"/>
            <a:ext cx="67665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성공불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7468584" y="3767328"/>
            <a:ext cx="1872000" cy="713232"/>
          </a:xfrm>
          <a:prstGeom prst="rect">
            <a:avLst/>
          </a:prstGeom>
          <a:solidFill>
            <a:srgbClr val="FBEEEE"/>
          </a:solidFill>
          <a:ln w="15875">
            <a:solidFill>
              <a:srgbClr val="C00000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CBRE</a:t>
            </a:r>
            <a:endParaRPr lang="en-US" sz="1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25</a:t>
            </a:r>
            <a:r>
              <a:rPr lang="en-US" sz="115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백만원</a:t>
            </a:r>
            <a:endParaRPr lang="en-US" sz="1150" dirty="0"/>
          </a:p>
        </p:txBody>
      </p:sp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057829"/>
              </p:ext>
            </p:extLst>
          </p:nvPr>
        </p:nvGraphicFramePr>
        <p:xfrm>
          <a:off x="7468584" y="4736592"/>
          <a:ext cx="1872000" cy="1280160"/>
        </p:xfrm>
        <a:graphic>
          <a:graphicData uri="http://schemas.openxmlformats.org/drawingml/2006/table">
            <a:tbl>
              <a:tblPr/>
              <a:tblGrid>
                <a:gridCol w="112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제안가격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CBRE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25 백만원</a:t>
                      </a:r>
                      <a:endParaRPr lang="en-US" sz="95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젠스타메이트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28 백만원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S&amp;I Corp.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불참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Text 33"/>
          <p:cNvSpPr/>
          <p:nvPr/>
        </p:nvSpPr>
        <p:spPr>
          <a:xfrm>
            <a:off x="9807162" y="1805292"/>
            <a:ext cx="1872000" cy="457200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시장실사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9807162" y="2262492"/>
            <a:ext cx="1872000" cy="821211"/>
          </a:xfrm>
          <a:prstGeom prst="rect">
            <a:avLst/>
          </a:prstGeom>
          <a:solidFill>
            <a:srgbClr val="F5F3F1"/>
          </a:solidFill>
          <a:ln w="6350">
            <a:solidFill>
              <a:srgbClr val="D9D9D9"/>
            </a:solidFill>
          </a:ln>
        </p:spPr>
        <p:txBody>
          <a:bodyPr wrap="square" lIns="50800" tIns="101600" rIns="50800" bIns="5080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시장조사보고서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작성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거래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및 임대사례 조사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적정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임대료 분석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altLang="ko-KR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 </a:t>
            </a: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기타</a:t>
            </a: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AMC 자문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10597896" y="3328416"/>
            <a:ext cx="347472" cy="347472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6"/>
          <p:cNvSpPr/>
          <p:nvPr/>
        </p:nvSpPr>
        <p:spPr>
          <a:xfrm>
            <a:off x="11064240" y="3383280"/>
            <a:ext cx="67665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성공불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9807162" y="3767328"/>
            <a:ext cx="1872000" cy="713232"/>
          </a:xfrm>
          <a:prstGeom prst="rect">
            <a:avLst/>
          </a:prstGeom>
          <a:solidFill>
            <a:srgbClr val="FBEEEE"/>
          </a:solidFill>
          <a:ln w="15875">
            <a:solidFill>
              <a:srgbClr val="C00000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알스퀘어</a:t>
            </a:r>
            <a:endParaRPr lang="en-US" sz="1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30</a:t>
            </a:r>
            <a:r>
              <a:rPr lang="en-US" sz="115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백만원</a:t>
            </a:r>
            <a:endParaRPr lang="en-US" sz="1150" dirty="0"/>
          </a:p>
        </p:txBody>
      </p:sp>
      <p:graphicFrame>
        <p:nvGraphicFramePr>
          <p:cNvPr id="4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651108"/>
              </p:ext>
            </p:extLst>
          </p:nvPr>
        </p:nvGraphicFramePr>
        <p:xfrm>
          <a:off x="9807162" y="4736592"/>
          <a:ext cx="1872000" cy="1280160"/>
        </p:xfrm>
        <a:graphic>
          <a:graphicData uri="http://schemas.openxmlformats.org/drawingml/2006/table">
            <a:tbl>
              <a:tblPr/>
              <a:tblGrid>
                <a:gridCol w="112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제안가격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알스퀘어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30 백만원</a:t>
                      </a:r>
                      <a:endParaRPr lang="en-US" sz="95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세빌스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40 백만원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젠스타메이트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45 백만원</a:t>
                      </a:r>
                      <a:endParaRPr lang="en-US" sz="95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Text 38"/>
          <p:cNvSpPr txBox="1"/>
          <p:nvPr/>
        </p:nvSpPr>
        <p:spPr>
          <a:xfrm>
            <a:off x="444303" y="6029811"/>
            <a:ext cx="1463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</a:t>
            </a:r>
            <a:r>
              <a:rPr lang="ko-KR" alt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법무실 선정</a:t>
            </a:r>
            <a:r>
              <a:rPr lang="en-US" altLang="ko-KR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/</a:t>
            </a:r>
            <a:r>
              <a:rPr lang="ko-KR" alt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협의 완료</a:t>
            </a:r>
            <a:endParaRPr lang="en-US" sz="950" dirty="0"/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8C260385-7513-A293-6A6A-A6E2B3E7A4D7}"/>
              </a:ext>
            </a:extLst>
          </p:cNvPr>
          <p:cNvSpPr txBox="1"/>
          <p:nvPr/>
        </p:nvSpPr>
        <p:spPr>
          <a:xfrm>
            <a:off x="2788978" y="6353773"/>
            <a:ext cx="1463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</a:t>
            </a:r>
            <a:r>
              <a:rPr lang="ko-KR" altLang="en-US" sz="950" dirty="0" err="1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리츠지원팀</a:t>
            </a:r>
            <a:r>
              <a:rPr lang="ko-KR" alt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선정</a:t>
            </a:r>
            <a:r>
              <a:rPr lang="en-US" altLang="ko-KR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/</a:t>
            </a:r>
            <a:r>
              <a:rPr lang="ko-KR" alt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협의 완료</a:t>
            </a:r>
            <a:endParaRPr lang="en-US" sz="950" dirty="0"/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AE7E79C4-6F38-B2B6-3C34-F8B58A19DC64}"/>
              </a:ext>
            </a:extLst>
          </p:cNvPr>
          <p:cNvSpPr txBox="1"/>
          <p:nvPr/>
        </p:nvSpPr>
        <p:spPr>
          <a:xfrm>
            <a:off x="5130168" y="6021102"/>
            <a:ext cx="1463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</a:t>
            </a:r>
            <a:r>
              <a:rPr lang="ko-KR" altLang="en-US" sz="950" dirty="0" err="1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리츠지원팀</a:t>
            </a:r>
            <a:r>
              <a:rPr lang="ko-KR" alt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선정</a:t>
            </a:r>
            <a:r>
              <a:rPr lang="en-US" altLang="ko-KR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/</a:t>
            </a:r>
            <a:r>
              <a:rPr lang="ko-KR" alt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협의 완료</a:t>
            </a:r>
            <a:endParaRPr lang="en-US" sz="950" dirty="0"/>
          </a:p>
        </p:txBody>
      </p:sp>
      <p:sp>
        <p:nvSpPr>
          <p:cNvPr id="51" name="Text 38">
            <a:extLst>
              <a:ext uri="{FF2B5EF4-FFF2-40B4-BE49-F238E27FC236}">
                <a16:creationId xmlns:a16="http://schemas.microsoft.com/office/drawing/2014/main" id="{7B8D2273-ACB2-6BC9-1A42-17E488AD5A3A}"/>
              </a:ext>
            </a:extLst>
          </p:cNvPr>
          <p:cNvSpPr txBox="1"/>
          <p:nvPr/>
        </p:nvSpPr>
        <p:spPr>
          <a:xfrm>
            <a:off x="7460037" y="6016317"/>
            <a:ext cx="1463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</a:t>
            </a:r>
            <a:r>
              <a:rPr lang="ko-KR" altLang="en-US" sz="950" dirty="0" err="1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리츠기술팀</a:t>
            </a:r>
            <a:r>
              <a:rPr lang="ko-KR" alt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선정</a:t>
            </a:r>
            <a:r>
              <a:rPr lang="en-US" altLang="ko-KR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/</a:t>
            </a:r>
            <a:r>
              <a:rPr lang="ko-KR" alt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협의 완료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584</Words>
  <Application>Microsoft Office PowerPoint</Application>
  <PresentationFormat>와이드스크린</PresentationFormat>
  <Paragraphs>280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나눔스퀘어</vt:lpstr>
      <vt:lpstr>나눔스퀘어 Bold</vt:lpstr>
      <vt:lpstr>나눔스퀘어 ExtraBold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윤 상원</cp:lastModifiedBy>
  <cp:revision>18</cp:revision>
  <cp:lastPrinted>2026-10-06T01:39:36Z</cp:lastPrinted>
  <dcterms:created xsi:type="dcterms:W3CDTF">2026-10-02T02:28:43Z</dcterms:created>
  <dcterms:modified xsi:type="dcterms:W3CDTF">2026-10-06T01:43:32Z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ranchUid">
    <vt:lpwstr>FDY2VVBL4xkyidNR1EI0L9e7FUg202504030000000</vt:lpwstr>
  </property>
  <property fmtid="{D5CDD505-2E9C-101B-9397-08002B2CF9AE}" pid="3" name="docPath">
    <vt:lpwstr>VDpcMC4g66as7Lig7KeA7JuQ7YyAKDIwMjF+KVwyMS4g7Yis7J6Q7Ius7J2Y7JyE7JuQ7ZqMXDAuIOq3nOyglVzimIXsi6zsnZjsnpDro4wg6rSA66CoIOqwgOydtOuTnOudvOyduFzilqAg64yA7ZGc64uYIOyngOyLnOyWkeyLnV/smrDrs7jruJTrnbzsnbjrk5wgKOuhr+uNsOuNle2PieusvOulmCkucHB0eA==</vt:lpwstr>
  </property>
  <property fmtid="{D5CDD505-2E9C-101B-9397-08002B2CF9AE}" pid="4" name="docUid">
    <vt:lpwstr>dNZoZMKbvyP8WkkyiekIVOZe4HY</vt:lpwstr>
  </property>
  <property fmtid="{D5CDD505-2E9C-101B-9397-08002B2CF9AE}" pid="5" name="parentBranchUid">
    <vt:lpwstr>dNZoZMKbvyP8WkkyiekIVOZe4HY202504070000000</vt:lpwstr>
  </property>
</Properties>
</file>