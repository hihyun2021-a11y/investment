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8" r:id="rId2"/>
  </p:sldIdLst>
  <p:sldSz cx="12192000" cy="6858000"/>
  <p:notesSz cx="6807200" cy="993933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279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393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17" autoAdjust="0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642" y="102"/>
      </p:cViewPr>
      <p:guideLst>
        <p:guide pos="27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66364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01168"/>
            <a:ext cx="8686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altLang="ko-KR" sz="2200" dirty="0">
                <a:solidFill>
                  <a:srgbClr val="262626"/>
                </a:solidFill>
                <a:latin typeface="나눔스퀘어 ExtraBold" pitchFamily="34" charset="0"/>
                <a:ea typeface="나눔스퀘어 ExtraBold" pitchFamily="34" charset="-122"/>
                <a:cs typeface="나눔스퀘어 ExtraBold" pitchFamily="34" charset="-120"/>
              </a:rPr>
              <a:t>2. </a:t>
            </a:r>
            <a:r>
              <a:rPr lang="ko-KR" altLang="en-US" sz="2200" dirty="0">
                <a:solidFill>
                  <a:srgbClr val="262626"/>
                </a:solidFill>
                <a:latin typeface="나눔스퀘어 ExtraBold" pitchFamily="34" charset="0"/>
                <a:ea typeface="나눔스퀘어 ExtraBold" pitchFamily="34" charset="-122"/>
                <a:cs typeface="나눔스퀘어 ExtraBold" pitchFamily="34" charset="-120"/>
              </a:rPr>
              <a:t>참여</a:t>
            </a:r>
            <a:r>
              <a:rPr lang="en-US" sz="2200" dirty="0">
                <a:solidFill>
                  <a:srgbClr val="262626"/>
                </a:solidFill>
                <a:latin typeface="나눔스퀘어 ExtraBold" pitchFamily="34" charset="0"/>
                <a:ea typeface="나눔스퀘어 ExtraBold" pitchFamily="34" charset="-122"/>
                <a:cs typeface="나눔스퀘어 ExtraBold" pitchFamily="34" charset="-120"/>
              </a:rPr>
              <a:t> 주체별 역할 및 수익률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365760" y="731520"/>
            <a:ext cx="11457432" cy="0"/>
          </a:xfrm>
          <a:prstGeom prst="line">
            <a:avLst/>
          </a:prstGeom>
          <a:noFill/>
          <a:ln w="190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65760" y="731520"/>
            <a:ext cx="3291840" cy="0"/>
          </a:xfrm>
          <a:prstGeom prst="line">
            <a:avLst/>
          </a:prstGeom>
          <a:noFill/>
          <a:ln w="3175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9052560" y="109728"/>
            <a:ext cx="2770632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00000"/>
                </a:solidFill>
                <a:latin typeface="나눔스퀘어 Bold" pitchFamily="34" charset="0"/>
                <a:ea typeface="나눔스퀘어 Bold" pitchFamily="34" charset="-122"/>
                <a:cs typeface="나눔스퀘어 Bold" pitchFamily="34" charset="-120"/>
              </a:rPr>
              <a:t>One </a:t>
            </a:r>
            <a:r>
              <a:rPr lang="en-US" sz="1100" dirty="0">
                <a:solidFill>
                  <a:srgbClr val="262626"/>
                </a:solidFill>
                <a:latin typeface="나눔스퀘어 Bold" pitchFamily="34" charset="0"/>
                <a:ea typeface="나눔스퀘어 Bold" pitchFamily="34" charset="-122"/>
                <a:cs typeface="나눔스퀘어 Bold" pitchFamily="34" charset="-120"/>
              </a:rPr>
              <a:t>KORAMCO </a:t>
            </a:r>
            <a:r>
              <a:rPr lang="en-US" sz="1100" dirty="0">
                <a:solidFill>
                  <a:srgbClr val="C00000"/>
                </a:solidFill>
                <a:latin typeface="나눔스퀘어 Bold" pitchFamily="34" charset="0"/>
                <a:ea typeface="나눔스퀘어 Bold" pitchFamily="34" charset="-122"/>
                <a:cs typeface="나눔스퀘어 Bold" pitchFamily="34" charset="-120"/>
              </a:rPr>
              <a:t>New </a:t>
            </a:r>
            <a:r>
              <a:rPr lang="en-US" sz="1100" dirty="0">
                <a:solidFill>
                  <a:srgbClr val="262626"/>
                </a:solidFill>
                <a:latin typeface="나눔스퀘어 Bold" pitchFamily="34" charset="0"/>
                <a:ea typeface="나눔스퀘어 Bold" pitchFamily="34" charset="-122"/>
                <a:cs typeface="나눔스퀘어 Bold" pitchFamily="34" charset="-120"/>
              </a:rPr>
              <a:t>KORAMCO</a:t>
            </a:r>
            <a:endParaRPr lang="en-US" sz="1100" dirty="0"/>
          </a:p>
        </p:txBody>
      </p:sp>
      <p:sp>
        <p:nvSpPr>
          <p:cNvPr id="101" name="섹션 마커"/>
          <p:cNvSpPr/>
          <p:nvPr/>
        </p:nvSpPr>
        <p:spPr>
          <a:xfrm>
            <a:off x="365760" y="905256"/>
            <a:ext cx="118872" cy="18288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 wrap="square" lIns="18000" tIns="381" rIns="18000" bIns="381" rtlCol="0" anchor="ctr"/>
          <a:lstStyle/>
          <a:p>
            <a:endParaRPr lang="ko-KR" altLang="en-US"/>
          </a:p>
        </p:txBody>
      </p:sp>
      <p:sp>
        <p:nvSpPr>
          <p:cNvPr id="102" name="섹션 제목"/>
          <p:cNvSpPr txBox="1"/>
          <p:nvPr/>
        </p:nvSpPr>
        <p:spPr>
          <a:xfrm>
            <a:off x="548640" y="850392"/>
            <a:ext cx="4200000" cy="292608"/>
          </a:xfrm>
          <a:prstGeom prst="rect">
            <a:avLst/>
          </a:prstGeom>
          <a:noFill/>
          <a:ln>
            <a:noFill/>
          </a:ln>
        </p:spPr>
        <p:txBody>
          <a:bodyPr wrap="square" lIns="18000" tIns="381" rIns="18000" bIns="381" rtlCol="0" anchor="ctr"/>
          <a:lstStyle/>
          <a:p>
            <a:pPr marL="0" indent="0" algn="l">
              <a:buNone/>
            </a:pPr>
            <a:r>
              <a:rPr lang="ko-KR" altLang="en-US" sz="1300" dirty="0">
                <a:solidFill>
                  <a:srgbClr val="262626"/>
                </a:solidFill>
                <a:latin typeface="나눔스퀘어 ExtraBold" pitchFamily="34" charset="0"/>
                <a:ea typeface="나눔스퀘어 ExtraBold" pitchFamily="34" charset="-122"/>
                <a:cs typeface="나눔스퀘어 ExtraBold" pitchFamily="34" charset="-120"/>
              </a:rPr>
              <a:t>투자구조</a:t>
            </a:r>
          </a:p>
        </p:txBody>
      </p:sp>
      <p:sp>
        <p:nvSpPr>
          <p:cNvPr id="103" name="리츠"/>
          <p:cNvSpPr/>
          <p:nvPr/>
        </p:nvSpPr>
        <p:spPr>
          <a:xfrm>
            <a:off x="365760" y="1207008"/>
            <a:ext cx="2760000" cy="500000"/>
          </a:xfrm>
          <a:prstGeom prst="rect">
            <a:avLst/>
          </a:prstGeom>
          <a:solidFill>
            <a:srgbClr val="6F6255"/>
          </a:solidFill>
          <a:ln w="6350">
            <a:solidFill>
              <a:srgbClr val="6F6255"/>
            </a:solidFill>
            <a:prstDash val="solid"/>
          </a:ln>
        </p:spPr>
        <p:txBody>
          <a:bodyPr wrap="square" lIns="18000" tIns="381" rIns="18000" bIns="381" rtlCol="0" anchor="ctr"/>
          <a:lstStyle/>
          <a:p>
            <a:pPr marL="0" indent="0" algn="ctr">
              <a:buNone/>
            </a:pPr>
            <a:r>
              <a:rPr lang="ko-KR" altLang="en-US" sz="1200" dirty="0">
                <a:solidFill>
                  <a:srgbClr val="FFFFFF"/>
                </a:solidFill>
                <a:latin typeface="나눔스퀘어 ExtraBold" pitchFamily="34" charset="0"/>
                <a:ea typeface="나눔스퀘어 ExtraBold" pitchFamily="34" charset="-122"/>
                <a:cs typeface="나눔스퀘어 ExtraBold" pitchFamily="34" charset="-120"/>
              </a:rPr>
              <a:t>코람코라이프로지스리츠 (KLL)</a:t>
            </a:r>
          </a:p>
          <a:p>
            <a:pPr marL="0" indent="0" algn="ctr">
              <a:buNone/>
            </a:pPr>
            <a:r>
              <a:rPr lang="ko-KR" altLang="en-US" sz="900" dirty="0">
                <a:solidFill>
                  <a:srgbClr val="FFFFF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( 총 투자비 2,989억  ·  AMC 코람코자산신탁 )</a:t>
            </a:r>
          </a:p>
        </p:txBody>
      </p:sp>
      <p:sp>
        <p:nvSpPr>
          <p:cNvPr id="104" name="연결선 리츠-자산"/>
          <p:cNvSpPr/>
          <p:nvPr/>
        </p:nvSpPr>
        <p:spPr>
          <a:xfrm>
            <a:off x="1745760" y="1707008"/>
            <a:ext cx="0" cy="190000"/>
          </a:xfrm>
          <a:prstGeom prst="line">
            <a:avLst/>
          </a:prstGeom>
          <a:noFill/>
          <a:ln w="9525">
            <a:solidFill>
              <a:srgbClr val="A393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5" name="자산 프레임"/>
          <p:cNvSpPr/>
          <p:nvPr/>
        </p:nvSpPr>
        <p:spPr>
          <a:xfrm>
            <a:off x="365760" y="1897008"/>
            <a:ext cx="2760000" cy="4110600"/>
          </a:xfrm>
          <a:prstGeom prst="rect">
            <a:avLst/>
          </a:prstGeom>
          <a:solidFill>
            <a:srgbClr val="FDF7F7"/>
          </a:solidFill>
          <a:ln w="12700">
            <a:solidFill>
              <a:srgbClr val="C00000"/>
            </a:solidFill>
            <a:prstDash val="dash"/>
          </a:ln>
        </p:spPr>
        <p:txBody>
          <a:bodyPr wrap="square" lIns="18000" tIns="381" rIns="18000" bIns="381" rtlCol="0" anchor="ctr"/>
          <a:lstStyle/>
          <a:p>
            <a:endParaRPr lang="ko-KR" altLang="en-US"/>
          </a:p>
        </p:txBody>
      </p:sp>
      <p:sp>
        <p:nvSpPr>
          <p:cNvPr id="106" name="자산명"/>
          <p:cNvSpPr/>
          <p:nvPr/>
        </p:nvSpPr>
        <p:spPr>
          <a:xfrm>
            <a:off x="515760" y="1987008"/>
            <a:ext cx="1500000" cy="330000"/>
          </a:xfrm>
          <a:prstGeom prst="rect">
            <a:avLst/>
          </a:prstGeom>
          <a:solidFill>
            <a:srgbClr val="EDE6DF"/>
          </a:solidFill>
          <a:ln w="9525">
            <a:solidFill>
              <a:srgbClr val="A39382"/>
            </a:solidFill>
            <a:prstDash val="solid"/>
          </a:ln>
        </p:spPr>
        <p:txBody>
          <a:bodyPr wrap="square" lIns="18000" tIns="381" rIns="18000" bIns="381" rtlCol="0" anchor="ctr"/>
          <a:lstStyle/>
          <a:p>
            <a:pPr marL="0" indent="0" algn="ctr">
              <a:buNone/>
            </a:pPr>
            <a:r>
              <a:rPr lang="ko-KR" altLang="en-US" sz="1000" dirty="0">
                <a:solidFill>
                  <a:srgbClr val="262626"/>
                </a:solidFill>
                <a:latin typeface="나눔스퀘어 ExtraBold" pitchFamily="34" charset="0"/>
                <a:ea typeface="나눔스퀘어 ExtraBold" pitchFamily="34" charset="-122"/>
                <a:cs typeface="나눔스퀘어 ExtraBold" pitchFamily="34" charset="-120"/>
              </a:rPr>
              <a:t>안양물류센터</a:t>
            </a:r>
          </a:p>
        </p:txBody>
      </p:sp>
      <p:sp>
        <p:nvSpPr>
          <p:cNvPr id="107" name="스택 라벨"/>
          <p:cNvSpPr txBox="1"/>
          <p:nvPr/>
        </p:nvSpPr>
        <p:spPr>
          <a:xfrm>
            <a:off x="2075760" y="1987008"/>
            <a:ext cx="9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18000" tIns="381" rIns="18000" bIns="381" rtlCol="0" anchor="ctr"/>
          <a:lstStyle/>
          <a:p>
            <a:pPr marL="0" indent="0" algn="r">
              <a:buNone/>
            </a:pPr>
            <a:r>
              <a:rPr lang="ko-KR" altLang="en-US" sz="800" dirty="0">
                <a:solidFill>
                  <a:srgbClr val="7F7F7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투자비 | 재원조달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75939929-51C5-238F-7ED3-D9B8DCBAC21A}"/>
              </a:ext>
            </a:extLst>
          </p:cNvPr>
          <p:cNvGrpSpPr/>
          <p:nvPr/>
        </p:nvGrpSpPr>
        <p:grpSpPr>
          <a:xfrm>
            <a:off x="515760" y="2407008"/>
            <a:ext cx="2460000" cy="3526890"/>
            <a:chOff x="515760" y="2407008"/>
            <a:chExt cx="2460000" cy="2736000"/>
          </a:xfrm>
        </p:grpSpPr>
        <p:sp>
          <p:nvSpPr>
            <p:cNvPr id="108" name="투자비 부동산 매입금액"/>
            <p:cNvSpPr/>
            <p:nvPr/>
          </p:nvSpPr>
          <p:spPr>
            <a:xfrm>
              <a:off x="515760" y="2407008"/>
              <a:ext cx="1160000" cy="19360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FBFBF"/>
              </a:solidFill>
              <a:prstDash val="solid"/>
            </a:ln>
          </p:spPr>
          <p:txBody>
            <a:bodyPr wrap="square" lIns="18000" tIns="381" rIns="18000" bIns="381" rtlCol="0" anchor="ctr"/>
            <a:lstStyle/>
            <a:p>
              <a:pPr marL="0" indent="0" algn="ctr">
                <a:buNone/>
              </a:pPr>
              <a:r>
                <a:rPr lang="ko-KR" altLang="en-US" sz="900" dirty="0">
                  <a:solidFill>
                    <a:srgbClr val="262626"/>
                  </a:solidFill>
                  <a:latin typeface="나눔스퀘어 Bold" pitchFamily="34" charset="0"/>
                  <a:ea typeface="나눔스퀘어 Bold" pitchFamily="34" charset="-122"/>
                  <a:cs typeface="나눔스퀘어 Bold" pitchFamily="34" charset="-120"/>
                </a:rPr>
                <a:t>부동산 매입금액</a:t>
              </a:r>
            </a:p>
            <a:p>
              <a:pPr marL="0" indent="0" algn="ctr">
                <a:buNone/>
              </a:pPr>
              <a:r>
                <a:rPr lang="ko-KR" altLang="en-US" sz="1200" dirty="0">
                  <a:solidFill>
                    <a:srgbClr val="262626"/>
                  </a:solidFill>
                  <a:latin typeface="나눔스퀘어 ExtraBold" pitchFamily="34" charset="0"/>
                  <a:ea typeface="나눔스퀘어 ExtraBold" pitchFamily="34" charset="-122"/>
                  <a:cs typeface="나눔스퀘어 ExtraBold" pitchFamily="34" charset="-120"/>
                </a:rPr>
                <a:t>2,700</a:t>
              </a:r>
            </a:p>
          </p:txBody>
        </p:sp>
        <p:sp>
          <p:nvSpPr>
            <p:cNvPr id="109" name="투자비 취득부대비용 등"/>
            <p:cNvSpPr/>
            <p:nvPr/>
          </p:nvSpPr>
          <p:spPr>
            <a:xfrm>
              <a:off x="515760" y="4343008"/>
              <a:ext cx="1160000" cy="4000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FBFBF"/>
              </a:solidFill>
              <a:prstDash val="solid"/>
            </a:ln>
          </p:spPr>
          <p:txBody>
            <a:bodyPr wrap="square" lIns="18000" tIns="381" rIns="18000" bIns="381" rtlCol="0" anchor="ctr"/>
            <a:lstStyle/>
            <a:p>
              <a:pPr marL="0" indent="0" algn="ctr">
                <a:buNone/>
              </a:pPr>
              <a:r>
                <a:rPr lang="ko-KR" altLang="en-US" sz="800" dirty="0">
                  <a:solidFill>
                    <a:srgbClr val="262626"/>
                  </a:solidFill>
                  <a:latin typeface="나눔스퀘어" pitchFamily="34" charset="0"/>
                  <a:ea typeface="나눔스퀘어" pitchFamily="34" charset="-122"/>
                  <a:cs typeface="나눔스퀘어" pitchFamily="34" charset="-120"/>
                </a:rPr>
                <a:t>취득부대비용 등 189</a:t>
              </a:r>
            </a:p>
          </p:txBody>
        </p:sp>
        <p:sp>
          <p:nvSpPr>
            <p:cNvPr id="111" name="투자비 보증금·예비비 등"/>
            <p:cNvSpPr/>
            <p:nvPr/>
          </p:nvSpPr>
          <p:spPr>
            <a:xfrm>
              <a:off x="515760" y="4743008"/>
              <a:ext cx="1160000" cy="4000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FBFBF"/>
              </a:solidFill>
              <a:prstDash val="solid"/>
            </a:ln>
          </p:spPr>
          <p:txBody>
            <a:bodyPr wrap="square" lIns="18000" tIns="381" rIns="18000" bIns="381" rtlCol="0" anchor="ctr"/>
            <a:lstStyle/>
            <a:p>
              <a:pPr marL="0" indent="0" algn="ctr">
                <a:buNone/>
              </a:pPr>
              <a:r>
                <a:rPr lang="ko-KR" altLang="en-US" sz="800" dirty="0">
                  <a:solidFill>
                    <a:srgbClr val="262626"/>
                  </a:solidFill>
                  <a:latin typeface="나눔스퀘어" pitchFamily="34" charset="0"/>
                  <a:ea typeface="나눔스퀘어" pitchFamily="34" charset="-122"/>
                  <a:cs typeface="나눔스퀘어" pitchFamily="34" charset="-120"/>
                </a:rPr>
                <a:t>예비비 100</a:t>
              </a:r>
            </a:p>
          </p:txBody>
        </p:sp>
        <p:sp>
          <p:nvSpPr>
            <p:cNvPr id="112" name="재원 보증금"/>
            <p:cNvSpPr/>
            <p:nvPr/>
          </p:nvSpPr>
          <p:spPr>
            <a:xfrm>
              <a:off x="1675760" y="2407008"/>
              <a:ext cx="1300000" cy="300000"/>
            </a:xfrm>
            <a:prstGeom prst="rect">
              <a:avLst/>
            </a:prstGeom>
            <a:solidFill>
              <a:srgbClr val="F5F3F1"/>
            </a:solidFill>
            <a:ln w="6350">
              <a:solidFill>
                <a:srgbClr val="BFBFBF"/>
              </a:solidFill>
              <a:prstDash val="solid"/>
            </a:ln>
          </p:spPr>
          <p:txBody>
            <a:bodyPr wrap="square" lIns="18000" tIns="381" rIns="18000" bIns="381" rtlCol="0" anchor="ctr"/>
            <a:lstStyle/>
            <a:p>
              <a:pPr marL="0" indent="0" algn="ctr">
                <a:buNone/>
              </a:pPr>
              <a:r>
                <a:rPr lang="ko-KR" altLang="en-US" sz="850" dirty="0">
                  <a:solidFill>
                    <a:srgbClr val="262626"/>
                  </a:solidFill>
                  <a:latin typeface="나눔스퀘어 Bold" pitchFamily="34" charset="0"/>
                  <a:ea typeface="나눔스퀘어 Bold" pitchFamily="34" charset="-122"/>
                  <a:cs typeface="나눔스퀘어 Bold" pitchFamily="34" charset="-120"/>
                </a:rPr>
                <a:t>보증금 21</a:t>
              </a:r>
            </a:p>
          </p:txBody>
        </p:sp>
        <p:sp>
          <p:nvSpPr>
            <p:cNvPr id="113" name="재원 선순위 대출"/>
            <p:cNvSpPr/>
            <p:nvPr/>
          </p:nvSpPr>
          <p:spPr>
            <a:xfrm>
              <a:off x="1675760" y="2707008"/>
              <a:ext cx="1300000" cy="7760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FBFBF"/>
              </a:solidFill>
              <a:prstDash val="solid"/>
            </a:ln>
          </p:spPr>
          <p:txBody>
            <a:bodyPr wrap="square" lIns="18000" tIns="381" rIns="18000" bIns="381" rtlCol="0" anchor="ctr"/>
            <a:lstStyle/>
            <a:p>
              <a:pPr marL="0" indent="0" algn="ctr">
                <a:buNone/>
              </a:pPr>
              <a:r>
                <a:rPr lang="ko-KR" altLang="en-US" sz="900" dirty="0">
                  <a:solidFill>
                    <a:srgbClr val="262626"/>
                  </a:solidFill>
                  <a:latin typeface="나눔스퀘어 Bold" pitchFamily="34" charset="0"/>
                  <a:ea typeface="나눔스퀘어 Bold" pitchFamily="34" charset="-122"/>
                  <a:cs typeface="나눔스퀘어 Bold" pitchFamily="34" charset="-120"/>
                </a:rPr>
                <a:t>선순위 대출</a:t>
              </a:r>
            </a:p>
            <a:p>
              <a:pPr marL="0" indent="0" algn="ctr">
                <a:buNone/>
              </a:pPr>
              <a:r>
                <a:rPr lang="ko-KR" altLang="en-US" sz="1200" dirty="0">
                  <a:solidFill>
                    <a:srgbClr val="262626"/>
                  </a:solidFill>
                  <a:latin typeface="나눔스퀘어 ExtraBold" pitchFamily="34" charset="0"/>
                  <a:ea typeface="나눔스퀘어 ExtraBold" pitchFamily="34" charset="-122"/>
                  <a:cs typeface="나눔스퀘어 ExtraBold" pitchFamily="34" charset="-120"/>
                </a:rPr>
                <a:t>1,600</a:t>
              </a:r>
            </a:p>
            <a:p>
              <a:pPr marL="0" indent="0" algn="ctr">
                <a:buNone/>
              </a:pPr>
              <a:r>
                <a:rPr lang="ko-KR" altLang="en-US" sz="800" dirty="0">
                  <a:solidFill>
                    <a:srgbClr val="262626"/>
                  </a:solidFill>
                  <a:latin typeface="나눔스퀘어" pitchFamily="34" charset="0"/>
                  <a:ea typeface="나눔스퀘어" pitchFamily="34" charset="-122"/>
                  <a:cs typeface="나눔스퀘어" pitchFamily="34" charset="-120"/>
                </a:rPr>
                <a:t>LTV 48.5%</a:t>
              </a:r>
            </a:p>
          </p:txBody>
        </p:sp>
        <p:sp>
          <p:nvSpPr>
            <p:cNvPr id="114" name="재원 중순위 대출"/>
            <p:cNvSpPr/>
            <p:nvPr/>
          </p:nvSpPr>
          <p:spPr>
            <a:xfrm>
              <a:off x="1675760" y="3483008"/>
              <a:ext cx="1300000" cy="3600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FBFBF"/>
              </a:solidFill>
              <a:prstDash val="solid"/>
            </a:ln>
          </p:spPr>
          <p:txBody>
            <a:bodyPr wrap="square" lIns="18000" tIns="381" rIns="18000" bIns="381" rtlCol="0" anchor="ctr"/>
            <a:lstStyle/>
            <a:p>
              <a:pPr marL="0" indent="0" algn="ctr">
                <a:buNone/>
              </a:pPr>
              <a:r>
                <a:rPr lang="ko-KR" altLang="en-US" sz="850" dirty="0">
                  <a:solidFill>
                    <a:srgbClr val="262626"/>
                  </a:solidFill>
                  <a:latin typeface="나눔스퀘어 Bold" pitchFamily="34" charset="0"/>
                  <a:ea typeface="나눔스퀘어 Bold" pitchFamily="34" charset="-122"/>
                  <a:cs typeface="나눔스퀘어 Bold" pitchFamily="34" charset="-120"/>
                </a:rPr>
                <a:t>중순위 대출 380</a:t>
              </a:r>
            </a:p>
            <a:p>
              <a:pPr marL="0" indent="0" algn="ctr">
                <a:buNone/>
              </a:pPr>
              <a:r>
                <a:rPr lang="ko-KR" altLang="en-US" sz="850" dirty="0">
                  <a:solidFill>
                    <a:srgbClr val="262626"/>
                  </a:solidFill>
                  <a:latin typeface="나눔스퀘어 Bold" pitchFamily="34" charset="0"/>
                  <a:ea typeface="나눔스퀘어 Bold" pitchFamily="34" charset="-122"/>
                  <a:cs typeface="나눔스퀘어 Bold" pitchFamily="34" charset="-120"/>
                </a:rPr>
                <a:t>(누적 LTV 59.8%)</a:t>
              </a:r>
            </a:p>
          </p:txBody>
        </p:sp>
        <p:sp>
          <p:nvSpPr>
            <p:cNvPr id="115" name="재원 1종 종류주"/>
            <p:cNvSpPr/>
            <p:nvPr/>
          </p:nvSpPr>
          <p:spPr>
            <a:xfrm>
              <a:off x="1675760" y="3843008"/>
              <a:ext cx="1300000" cy="300000"/>
            </a:xfrm>
            <a:prstGeom prst="rect">
              <a:avLst/>
            </a:prstGeom>
            <a:solidFill>
              <a:srgbClr val="A39382"/>
            </a:solidFill>
            <a:ln w="6350">
              <a:solidFill>
                <a:srgbClr val="BFBFBF"/>
              </a:solidFill>
              <a:prstDash val="solid"/>
            </a:ln>
          </p:spPr>
          <p:txBody>
            <a:bodyPr wrap="square" lIns="18000" tIns="381" rIns="18000" bIns="381" rtlCol="0" anchor="ctr"/>
            <a:lstStyle/>
            <a:p>
              <a:pPr marL="0" indent="0" algn="ctr">
                <a:buNone/>
              </a:pPr>
              <a:r>
                <a:rPr lang="ko-KR" altLang="en-US" sz="850" dirty="0">
                  <a:solidFill>
                    <a:srgbClr val="FFFFFF"/>
                  </a:solidFill>
                  <a:latin typeface="나눔스퀘어 Bold" pitchFamily="34" charset="0"/>
                  <a:ea typeface="나눔스퀘어 Bold" pitchFamily="34" charset="-122"/>
                  <a:cs typeface="나눔스퀘어 Bold" pitchFamily="34" charset="-120"/>
                </a:rPr>
                <a:t>1종 종류주 240</a:t>
              </a:r>
            </a:p>
          </p:txBody>
        </p:sp>
        <p:sp>
          <p:nvSpPr>
            <p:cNvPr id="123" name="재원 2종 종류주"/>
            <p:cNvSpPr/>
            <p:nvPr/>
          </p:nvSpPr>
          <p:spPr>
            <a:xfrm>
              <a:off x="1675760" y="4143008"/>
              <a:ext cx="1300000" cy="400000"/>
            </a:xfrm>
            <a:prstGeom prst="rect">
              <a:avLst/>
            </a:prstGeom>
            <a:solidFill>
              <a:srgbClr val="A39382"/>
            </a:solidFill>
            <a:ln w="6350">
              <a:solidFill>
                <a:srgbClr val="BFBFBF"/>
              </a:solidFill>
              <a:prstDash val="solid"/>
            </a:ln>
          </p:spPr>
          <p:txBody>
            <a:bodyPr wrap="square" lIns="18000" tIns="381" rIns="18000" bIns="381" rtlCol="0" anchor="ctr"/>
            <a:lstStyle/>
            <a:p>
              <a:pPr marL="0" indent="0" algn="ctr">
                <a:buNone/>
              </a:pPr>
              <a:r>
                <a:rPr lang="ko-KR" altLang="en-US" sz="850" dirty="0">
                  <a:solidFill>
                    <a:srgbClr val="FFFFFF"/>
                  </a:solidFill>
                  <a:latin typeface="나눔스퀘어 Bold" pitchFamily="34" charset="0"/>
                  <a:ea typeface="나눔스퀘어 Bold" pitchFamily="34" charset="-122"/>
                  <a:cs typeface="나눔스퀘어 Bold" pitchFamily="34" charset="-120"/>
                </a:rPr>
                <a:t>2종 종류주 500</a:t>
              </a:r>
            </a:p>
          </p:txBody>
        </p:sp>
        <p:sp>
          <p:nvSpPr>
            <p:cNvPr id="124" name="재원 3종 종류주"/>
            <p:cNvSpPr/>
            <p:nvPr/>
          </p:nvSpPr>
          <p:spPr>
            <a:xfrm>
              <a:off x="1675760" y="4543008"/>
              <a:ext cx="1300000" cy="300000"/>
            </a:xfrm>
            <a:prstGeom prst="rect">
              <a:avLst/>
            </a:prstGeom>
            <a:solidFill>
              <a:srgbClr val="A39382"/>
            </a:solidFill>
            <a:ln w="6350">
              <a:solidFill>
                <a:srgbClr val="BFBFBF"/>
              </a:solidFill>
              <a:prstDash val="solid"/>
            </a:ln>
          </p:spPr>
          <p:txBody>
            <a:bodyPr wrap="square" lIns="18000" tIns="381" rIns="18000" bIns="381" rtlCol="0" anchor="ctr"/>
            <a:lstStyle/>
            <a:p>
              <a:pPr marL="0" indent="0" algn="ctr">
                <a:buNone/>
              </a:pPr>
              <a:r>
                <a:rPr lang="ko-KR" altLang="en-US" sz="850" dirty="0">
                  <a:solidFill>
                    <a:srgbClr val="FFFFFF"/>
                  </a:solidFill>
                  <a:latin typeface="나눔스퀘어 Bold" pitchFamily="34" charset="0"/>
                  <a:ea typeface="나눔스퀘어 Bold" pitchFamily="34" charset="-122"/>
                  <a:cs typeface="나눔스퀘어 Bold" pitchFamily="34" charset="-120"/>
                </a:rPr>
                <a:t>3종 종류주 100</a:t>
              </a:r>
            </a:p>
          </p:txBody>
        </p:sp>
        <p:sp>
          <p:nvSpPr>
            <p:cNvPr id="116" name="재원 보통주"/>
            <p:cNvSpPr/>
            <p:nvPr/>
          </p:nvSpPr>
          <p:spPr>
            <a:xfrm>
              <a:off x="1675760" y="4843008"/>
              <a:ext cx="1300000" cy="300000"/>
            </a:xfrm>
            <a:prstGeom prst="rect">
              <a:avLst/>
            </a:prstGeom>
            <a:solidFill>
              <a:srgbClr val="A39382"/>
            </a:solidFill>
            <a:ln w="6350">
              <a:solidFill>
                <a:srgbClr val="BFBFBF"/>
              </a:solidFill>
              <a:prstDash val="solid"/>
            </a:ln>
          </p:spPr>
          <p:txBody>
            <a:bodyPr wrap="square" lIns="18000" tIns="381" rIns="18000" bIns="381" rtlCol="0" anchor="ctr"/>
            <a:lstStyle/>
            <a:p>
              <a:pPr marL="0" indent="0" algn="ctr">
                <a:buNone/>
              </a:pPr>
              <a:r>
                <a:rPr lang="ko-KR" altLang="en-US" sz="850" dirty="0">
                  <a:solidFill>
                    <a:srgbClr val="FFFFFF"/>
                  </a:solidFill>
                  <a:latin typeface="나눔스퀘어 Bold" pitchFamily="34" charset="0"/>
                  <a:ea typeface="나눔스퀘어 Bold" pitchFamily="34" charset="-122"/>
                  <a:cs typeface="나눔스퀘어 Bold" pitchFamily="34" charset="-120"/>
                </a:rPr>
                <a:t>보통주 148</a:t>
              </a:r>
            </a:p>
          </p:txBody>
        </p:sp>
      </p:grpSp>
      <p:sp>
        <p:nvSpPr>
          <p:cNvPr id="117" name="구분선"/>
          <p:cNvSpPr/>
          <p:nvPr/>
        </p:nvSpPr>
        <p:spPr>
          <a:xfrm>
            <a:off x="3200000" y="896112"/>
            <a:ext cx="0" cy="557784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8" name="섹션 마커"/>
          <p:cNvSpPr/>
          <p:nvPr/>
        </p:nvSpPr>
        <p:spPr>
          <a:xfrm>
            <a:off x="3275760" y="905256"/>
            <a:ext cx="118872" cy="18288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 wrap="square" lIns="18000" tIns="381" rIns="18000" bIns="381" rtlCol="0" anchor="ctr"/>
          <a:lstStyle/>
          <a:p>
            <a:endParaRPr lang="ko-KR" altLang="en-US"/>
          </a:p>
        </p:txBody>
      </p:sp>
      <p:sp>
        <p:nvSpPr>
          <p:cNvPr id="119" name="섹션 제목"/>
          <p:cNvSpPr txBox="1"/>
          <p:nvPr/>
        </p:nvSpPr>
        <p:spPr>
          <a:xfrm>
            <a:off x="3458640" y="850392"/>
            <a:ext cx="5200000" cy="292608"/>
          </a:xfrm>
          <a:prstGeom prst="rect">
            <a:avLst/>
          </a:prstGeom>
          <a:noFill/>
          <a:ln>
            <a:noFill/>
          </a:ln>
        </p:spPr>
        <p:txBody>
          <a:bodyPr wrap="square" lIns="18000" tIns="381" rIns="18000" bIns="381" rtlCol="0" anchor="ctr"/>
          <a:lstStyle/>
          <a:p>
            <a:pPr marL="0" indent="0" algn="l">
              <a:buNone/>
            </a:pPr>
            <a:r>
              <a:rPr lang="ko-KR" altLang="en-US" sz="1300" dirty="0">
                <a:solidFill>
                  <a:srgbClr val="262626"/>
                </a:solidFill>
                <a:latin typeface="나눔스퀘어 ExtraBold" pitchFamily="34" charset="0"/>
                <a:ea typeface="나눔스퀘어 ExtraBold" pitchFamily="34" charset="-122"/>
                <a:cs typeface="나눔스퀘어 ExtraBold" pitchFamily="34" charset="-120"/>
              </a:rPr>
              <a:t>참여 주체별 역할 및 수익률</a:t>
            </a:r>
            <a:r>
              <a:rPr lang="ko-KR" altLang="en-US" sz="900" dirty="0">
                <a:solidFill>
                  <a:srgbClr val="262626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  ( 수익률 : 재무모델 Base case 기준 )</a:t>
            </a:r>
          </a:p>
        </p:txBody>
      </p:sp>
      <p:sp>
        <p:nvSpPr>
          <p:cNvPr id="120" name="단위"/>
          <p:cNvSpPr txBox="1"/>
          <p:nvPr/>
        </p:nvSpPr>
        <p:spPr>
          <a:xfrm>
            <a:off x="10451592" y="96000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18000" tIns="381" rIns="18000" bIns="381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262626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(단위 : 억원, %)</a:t>
            </a:r>
          </a:p>
        </p:txBody>
      </p:sp>
      <p:graphicFrame>
        <p:nvGraphicFramePr>
          <p:cNvPr id="121" name="주체별 수익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5222387"/>
              </p:ext>
            </p:extLst>
          </p:nvPr>
        </p:nvGraphicFramePr>
        <p:xfrm>
          <a:off x="3275759" y="1207008"/>
          <a:ext cx="8469711" cy="3881060"/>
        </p:xfrm>
        <a:graphic>
          <a:graphicData uri="http://schemas.openxmlformats.org/drawingml/2006/table">
            <a:tbl>
              <a:tblPr/>
              <a:tblGrid>
                <a:gridCol w="5221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8290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290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3148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5577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167994236"/>
                    </a:ext>
                  </a:extLst>
                </a:gridCol>
              </a:tblGrid>
              <a:tr h="121966">
                <a:tc rowSpan="2"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 dirty="0">
                          <a:solidFill>
                            <a:srgbClr val="FFFFFF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구분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 dirty="0">
                          <a:solidFill>
                            <a:srgbClr val="FFFFFF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기관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 dirty="0">
                          <a:solidFill>
                            <a:srgbClr val="FFFFFF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기관 성격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 dirty="0">
                          <a:solidFill>
                            <a:srgbClr val="FFFFFF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본 사업 내 역할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 dirty="0">
                          <a:solidFill>
                            <a:srgbClr val="FFFFFF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금액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 dirty="0">
                          <a:solidFill>
                            <a:srgbClr val="FFFFFF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All-in = 수수료 + Coupon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 dirty="0">
                          <a:solidFill>
                            <a:srgbClr val="FFFFFF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부수 용역 등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66">
                <a:tc gridSpan="2"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00" dirty="0">
                          <a:solidFill>
                            <a:srgbClr val="FFFFFF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All-in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00" dirty="0">
                          <a:solidFill>
                            <a:srgbClr val="FFFFFF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수수료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00" dirty="0">
                          <a:solidFill>
                            <a:srgbClr val="FFFFFF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Coupon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 dirty="0">
                          <a:solidFill>
                            <a:srgbClr val="FFFFFF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내용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 dirty="0">
                          <a:solidFill>
                            <a:srgbClr val="FFFFFF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금액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000">
                <a:tc rowSpan="6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 dirty="0">
                          <a:solidFill>
                            <a:srgbClr val="262626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Loan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 dirty="0">
                          <a:solidFill>
                            <a:srgbClr val="262626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선순위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ko-KR" altLang="en-US" sz="80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(1,600억,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ko-KR" altLang="en-US" sz="80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5.50%)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 dirty="0">
                          <a:solidFill>
                            <a:srgbClr val="262626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우리은행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은행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0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· 선순위 Tr.A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ko-KR" altLang="en-US" sz="80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· LOC 1,600억 (9/21)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 dirty="0">
                          <a:solidFill>
                            <a:srgbClr val="262626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1,600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 dirty="0">
                          <a:solidFill>
                            <a:srgbClr val="C00000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5.50%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0.73%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4.78%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-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8255"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 dirty="0">
                          <a:solidFill>
                            <a:srgbClr val="262626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중순위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ko-KR" altLang="en-US" sz="80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(380억,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ko-KR" altLang="en-US" sz="80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6.50%)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 dirty="0">
                          <a:solidFill>
                            <a:srgbClr val="262626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키움캐피탈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캐피탈사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0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· 중순위 (LOC 200억)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 dirty="0">
                          <a:solidFill>
                            <a:srgbClr val="262626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200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 dirty="0">
                          <a:solidFill>
                            <a:srgbClr val="C00000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6.50%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0.50%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6.00%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-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8255"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00" dirty="0">
                          <a:solidFill>
                            <a:srgbClr val="262626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엠지캐피탈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캐피탈사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0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· 중순위 (LOC 100억)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 dirty="0">
                          <a:solidFill>
                            <a:srgbClr val="262626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100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 dirty="0">
                          <a:solidFill>
                            <a:srgbClr val="C00000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6.50%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0.50%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6.00%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-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8255"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00" dirty="0">
                          <a:solidFill>
                            <a:srgbClr val="262626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DB저축은행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저축은행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0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· 중순위 (LOC [미접수])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 dirty="0">
                          <a:solidFill>
                            <a:srgbClr val="262626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80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 dirty="0">
                          <a:solidFill>
                            <a:srgbClr val="C00000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6.50%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0.50%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6.00%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-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8255"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 dirty="0">
                          <a:solidFill>
                            <a:srgbClr val="7F7F7F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보증금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ko-KR" altLang="en-US" sz="800" dirty="0">
                          <a:solidFill>
                            <a:srgbClr val="7F7F7F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(21억)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 dirty="0">
                          <a:solidFill>
                            <a:srgbClr val="7F7F7F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쿠팡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 dirty="0">
                          <a:solidFill>
                            <a:srgbClr val="7F7F7F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임차인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00" dirty="0">
                          <a:solidFill>
                            <a:srgbClr val="7F7F7F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· 임대차보증금 (무수익)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 dirty="0">
                          <a:solidFill>
                            <a:srgbClr val="7F7F7F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21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 dirty="0">
                          <a:solidFill>
                            <a:srgbClr val="7F7F7F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0.0%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 dirty="0">
                          <a:solidFill>
                            <a:srgbClr val="7F7F7F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-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 dirty="0">
                          <a:solidFill>
                            <a:srgbClr val="7F7F7F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-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 dirty="0">
                          <a:solidFill>
                            <a:srgbClr val="7F7F7F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-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48975"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 dirty="0">
                          <a:solidFill>
                            <a:srgbClr val="262626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Loan 소계 (가중평균)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 dirty="0">
                          <a:solidFill>
                            <a:srgbClr val="262626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2,001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 dirty="0">
                          <a:solidFill>
                            <a:srgbClr val="262626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5.63%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 dirty="0">
                          <a:solidFill>
                            <a:srgbClr val="262626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0.67%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 dirty="0">
                          <a:solidFill>
                            <a:srgbClr val="262626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4.96%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 dirty="0">
                          <a:solidFill>
                            <a:srgbClr val="262626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-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2196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ko-KR" altLang="en-US" sz="900" dirty="0">
                        <a:solidFill>
                          <a:srgbClr val="262626"/>
                        </a:solidFill>
                        <a:latin typeface="나눔스퀘어 ExtraBold" pitchFamily="34" charset="0"/>
                        <a:ea typeface="나눔스퀘어 ExtraBold" pitchFamily="34" charset="-122"/>
                        <a:cs typeface="나눔스퀘어 ExtraBold" pitchFamily="34" charset="-12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ko-KR" altLang="en-US" sz="800" dirty="0">
                        <a:solidFill>
                          <a:srgbClr val="262626"/>
                        </a:solidFill>
                        <a:latin typeface="나눔스퀘어" pitchFamily="34" charset="0"/>
                        <a:ea typeface="나눔스퀘어" pitchFamily="34" charset="-122"/>
                        <a:cs typeface="나눔스퀘어" pitchFamily="34" charset="-12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ko-KR" altLang="en-US" sz="200" dirty="0">
                        <a:solidFill>
                          <a:srgbClr val="C00000"/>
                        </a:solidFill>
                        <a:latin typeface="나눔스퀘어 ExtraBold" pitchFamily="34" charset="0"/>
                        <a:ea typeface="나눔스퀘어 ExtraBold" pitchFamily="34" charset="-122"/>
                        <a:cs typeface="나눔스퀘어 ExtraBold" pitchFamily="34" charset="-12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ko-KR" altLang="en-US" sz="850" dirty="0">
                        <a:solidFill>
                          <a:srgbClr val="262626"/>
                        </a:solidFill>
                        <a:latin typeface="나눔스퀘어" pitchFamily="34" charset="0"/>
                        <a:ea typeface="나눔스퀘어" pitchFamily="34" charset="-122"/>
                        <a:cs typeface="나눔스퀘어" pitchFamily="34" charset="-12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altLang="en-US" sz="800" dirty="0">
                        <a:solidFill>
                          <a:srgbClr val="262626"/>
                        </a:solidFill>
                        <a:latin typeface="나눔스퀘어" pitchFamily="34" charset="0"/>
                        <a:ea typeface="나눔스퀘어" pitchFamily="34" charset="-122"/>
                        <a:cs typeface="나눔스퀘어" pitchFamily="34" charset="-12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ko-KR" altLang="en-US" sz="900" dirty="0">
                        <a:solidFill>
                          <a:srgbClr val="262626"/>
                        </a:solidFill>
                        <a:latin typeface="나눔스퀘어 Bold" pitchFamily="34" charset="0"/>
                        <a:ea typeface="나눔스퀘어 Bold" pitchFamily="34" charset="-122"/>
                        <a:cs typeface="나눔스퀘어 Bold" pitchFamily="34" charset="-12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ko-KR" altLang="en-US" sz="850" dirty="0">
                        <a:solidFill>
                          <a:srgbClr val="262626"/>
                        </a:solidFill>
                        <a:latin typeface="나눔스퀘어" pitchFamily="34" charset="0"/>
                        <a:ea typeface="나눔스퀘어" pitchFamily="34" charset="-122"/>
                        <a:cs typeface="나눔스퀘어" pitchFamily="34" charset="-12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ko-KR" altLang="en-US" sz="850" dirty="0">
                        <a:solidFill>
                          <a:srgbClr val="262626"/>
                        </a:solidFill>
                        <a:latin typeface="나눔스퀘어" pitchFamily="34" charset="0"/>
                        <a:ea typeface="나눔스퀘어" pitchFamily="34" charset="-122"/>
                        <a:cs typeface="나눔스퀘어" pitchFamily="34" charset="-12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ko-KR" altLang="en-US" sz="850" dirty="0">
                        <a:solidFill>
                          <a:srgbClr val="262626"/>
                        </a:solidFill>
                        <a:latin typeface="나눔스퀘어" pitchFamily="34" charset="0"/>
                        <a:ea typeface="나눔스퀘어" pitchFamily="34" charset="-122"/>
                        <a:cs typeface="나눔스퀘어" pitchFamily="34" charset="-12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ko-KR" altLang="en-US" sz="800" dirty="0">
                        <a:solidFill>
                          <a:srgbClr val="262626"/>
                        </a:solidFill>
                        <a:latin typeface="나눔스퀘어" pitchFamily="34" charset="0"/>
                        <a:ea typeface="나눔스퀘어" pitchFamily="34" charset="-122"/>
                        <a:cs typeface="나눔스퀘어" pitchFamily="34" charset="-12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38857961"/>
                  </a:ext>
                </a:extLst>
              </a:tr>
              <a:tr h="121966">
                <a:tc rowSpan="2"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 dirty="0">
                          <a:solidFill>
                            <a:srgbClr val="FFFFFF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구분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 dirty="0">
                          <a:solidFill>
                            <a:srgbClr val="FFFFFF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기관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 dirty="0">
                          <a:solidFill>
                            <a:srgbClr val="FFFFFF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기관 성격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 dirty="0">
                          <a:solidFill>
                            <a:srgbClr val="FFFFFF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본 사업 내 역할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 dirty="0">
                          <a:solidFill>
                            <a:srgbClr val="FFFFFF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금액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 dirty="0">
                          <a:solidFill>
                            <a:srgbClr val="FFFFFF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투자수익률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 dirty="0">
                          <a:solidFill>
                            <a:srgbClr val="FFFFFF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부수 용역 등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558303017"/>
                  </a:ext>
                </a:extLst>
              </a:tr>
              <a:tr h="121966">
                <a:tc gridSpan="2"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E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ko-KR" sz="800" dirty="0">
                          <a:solidFill>
                            <a:srgbClr val="FFFFFF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IRR (%)</a:t>
                      </a:r>
                      <a:endParaRPr lang="ko-KR" altLang="en-US" sz="800" dirty="0">
                        <a:solidFill>
                          <a:srgbClr val="FFFFFF"/>
                        </a:solidFill>
                        <a:latin typeface="나눔스퀘어 Bold" pitchFamily="34" charset="0"/>
                        <a:ea typeface="나눔스퀘어 Bold" pitchFamily="34" charset="-122"/>
                        <a:cs typeface="나눔스퀘어 Bold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ko-KR" sz="800" dirty="0">
                          <a:solidFill>
                            <a:srgbClr val="FFFFFF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I.G (%)</a:t>
                      </a:r>
                      <a:endParaRPr lang="ko-KR" altLang="en-US" sz="800" dirty="0">
                        <a:solidFill>
                          <a:srgbClr val="FFFFFF"/>
                        </a:solidFill>
                        <a:latin typeface="나눔스퀘어 Bold" pitchFamily="34" charset="0"/>
                        <a:ea typeface="나눔스퀘어 Bold" pitchFamily="34" charset="-122"/>
                        <a:cs typeface="나눔스퀘어 Bold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ko-KR" sz="800" dirty="0">
                          <a:solidFill>
                            <a:srgbClr val="FFFFFF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C.G (%)</a:t>
                      </a:r>
                      <a:endParaRPr lang="ko-KR" altLang="en-US" sz="800" dirty="0">
                        <a:solidFill>
                          <a:srgbClr val="FFFFFF"/>
                        </a:solidFill>
                        <a:latin typeface="나눔스퀘어 Bold" pitchFamily="34" charset="0"/>
                        <a:ea typeface="나눔스퀘어 Bold" pitchFamily="34" charset="-122"/>
                        <a:cs typeface="나눔스퀘어 Bold" pitchFamily="34" charset="-12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 dirty="0">
                          <a:solidFill>
                            <a:srgbClr val="FFFFFF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내용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 dirty="0">
                          <a:solidFill>
                            <a:srgbClr val="FFFFFF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금액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93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5070225"/>
                  </a:ext>
                </a:extLst>
              </a:tr>
              <a:tr h="250000">
                <a:tc rowSpan="7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 dirty="0">
                          <a:solidFill>
                            <a:srgbClr val="262626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Equity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 dirty="0">
                          <a:solidFill>
                            <a:srgbClr val="262626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보통주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ko-KR" altLang="en-US" sz="80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(148억)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KLI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상장 리츠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ko-KR" altLang="en-US" sz="85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(모리츠)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0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· 보통주 출자 (100%)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ko-KR" altLang="en-US" sz="80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· 의결권 71.4%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 dirty="0">
                          <a:solidFill>
                            <a:srgbClr val="262626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148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 dirty="0">
                          <a:solidFill>
                            <a:srgbClr val="C00000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16.18%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 dirty="0">
                          <a:solidFill>
                            <a:srgbClr val="C00000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0.75%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 dirty="0">
                          <a:solidFill>
                            <a:srgbClr val="C00000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31.80%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-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/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0000"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/>
                        <a:t/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 dirty="0">
                          <a:solidFill>
                            <a:srgbClr val="262626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1종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ko-KR" altLang="en-US" sz="80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종류주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ko-KR" altLang="en-US" sz="80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(240억)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1종 FI 4개사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FI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0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· 1종 인수 (LOC)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ko-KR" altLang="en-US" sz="80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· 2년 후 KLI 매도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 dirty="0">
                          <a:solidFill>
                            <a:srgbClr val="262626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240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 dirty="0">
                          <a:solidFill>
                            <a:srgbClr val="C00000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7.12%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 dirty="0">
                          <a:solidFill>
                            <a:srgbClr val="C00000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7.00%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 dirty="0">
                          <a:solidFill>
                            <a:srgbClr val="C00000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-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-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/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0000"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/>
                        <a:t/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 dirty="0">
                          <a:solidFill>
                            <a:srgbClr val="262626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2종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ko-KR" altLang="en-US" sz="80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종류주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ko-KR" altLang="en-US" sz="80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(500억)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2종 FI 3개사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FI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0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· 2종 인수 (LOC)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ko-KR" altLang="en-US" sz="80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· 1년 후 KLI 매도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 dirty="0">
                          <a:solidFill>
                            <a:srgbClr val="262626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340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 dirty="0">
                          <a:solidFill>
                            <a:srgbClr val="C00000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7.59%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 dirty="0">
                          <a:solidFill>
                            <a:srgbClr val="C00000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7.50%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 dirty="0">
                          <a:solidFill>
                            <a:srgbClr val="C00000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-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-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/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0000"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/>
                        <a:t/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/>
                        <a:t/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KLI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상장 리츠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0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· 2종 출자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ko-KR" altLang="en-US" sz="80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· C.G 20% 배분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 dirty="0">
                          <a:solidFill>
                            <a:srgbClr val="262626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160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 dirty="0">
                          <a:solidFill>
                            <a:srgbClr val="C00000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9.15%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 dirty="0">
                          <a:solidFill>
                            <a:srgbClr val="C00000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7.50%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 dirty="0">
                          <a:solidFill>
                            <a:srgbClr val="C00000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2.35%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-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/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0000"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 dirty="0">
                          <a:solidFill>
                            <a:srgbClr val="262626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/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 dirty="0">
                          <a:solidFill>
                            <a:srgbClr val="262626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3종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ko-KR" altLang="en-US" sz="80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종류주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ko-KR" altLang="en-US" sz="80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(100억)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50" dirty="0">
                          <a:solidFill>
                            <a:srgbClr val="C00000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코크렙안양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매도인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ko-KR" altLang="en-US" sz="85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(LF 계열)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0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· 매매대금 상계납입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ko-KR" altLang="en-US" sz="800" dirty="0">
                          <a:solidFill>
                            <a:srgbClr val="C00000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· 2년 내 유상감자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 dirty="0">
                          <a:solidFill>
                            <a:srgbClr val="262626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100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 dirty="0">
                          <a:solidFill>
                            <a:srgbClr val="C00000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0.00%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 dirty="0">
                          <a:solidFill>
                            <a:srgbClr val="C00000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0.00%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 dirty="0">
                          <a:solidFill>
                            <a:srgbClr val="C00000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0.00%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 dirty="0">
                          <a:solidFill>
                            <a:srgbClr val="C00000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본건 매도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 dirty="0">
                          <a:solidFill>
                            <a:srgbClr val="C00000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2,700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0000"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/>
                        <a:t/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 dirty="0">
                          <a:solidFill>
                            <a:srgbClr val="262626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KLI 합산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KLI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상장 리츠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0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· 1·2종 580 매입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ko-KR" altLang="en-US" sz="80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· 최종 888억 보유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 dirty="0">
                          <a:solidFill>
                            <a:srgbClr val="7F7F7F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(580)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 dirty="0">
                          <a:solidFill>
                            <a:srgbClr val="C00000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10.99%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 dirty="0">
                          <a:solidFill>
                            <a:srgbClr val="C00000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5.44%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 dirty="0">
                          <a:solidFill>
                            <a:srgbClr val="C00000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6.63%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50" dirty="0">
                          <a:solidFill>
                            <a:srgbClr val="262626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-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/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8255"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 dirty="0">
                          <a:solidFill>
                            <a:srgbClr val="262626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Equity 소계 (3종 제외 888억 기준 수익률)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 dirty="0">
                          <a:solidFill>
                            <a:srgbClr val="262626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988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 dirty="0">
                          <a:solidFill>
                            <a:srgbClr val="262626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10.21%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 dirty="0">
                          <a:solidFill>
                            <a:srgbClr val="262626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6.10%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 dirty="0">
                          <a:solidFill>
                            <a:srgbClr val="262626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6.48%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00" dirty="0">
                          <a:solidFill>
                            <a:srgbClr val="262626"/>
                          </a:solidFill>
                          <a:latin typeface="나눔스퀘어 Bold" pitchFamily="34" charset="0"/>
                          <a:ea typeface="나눔스퀘어 Bold" pitchFamily="34" charset="-122"/>
                          <a:cs typeface="나눔스퀘어 Bold" pitchFamily="34" charset="-120"/>
                        </a:rPr>
                        <a:t>-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0980">
                <a:tc gridSpan="5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ko-KR" sz="950" dirty="0">
                          <a:solidFill>
                            <a:srgbClr val="262626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E + L </a:t>
                      </a: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합 계  (= 총 투자비)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50" dirty="0">
                          <a:solidFill>
                            <a:srgbClr val="C00000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2,989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-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-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-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-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122" name="작성요령"/>
          <p:cNvSpPr txBox="1"/>
          <p:nvPr/>
        </p:nvSpPr>
        <p:spPr>
          <a:xfrm>
            <a:off x="3275760" y="6250000"/>
            <a:ext cx="7845086" cy="557554"/>
          </a:xfrm>
          <a:prstGeom prst="rect">
            <a:avLst/>
          </a:prstGeom>
          <a:noFill/>
          <a:ln>
            <a:noFill/>
          </a:ln>
        </p:spPr>
        <p:txBody>
          <a:bodyPr wrap="square" lIns="18000" tIns="381" rIns="18000" bIns="381" rtlCol="0" anchor="t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7F7F7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※ 대주 : All-in = 취급수수료(24개월 연환산) + Coupon. 보증금 21억(쿠팡 5~7층, 담보신탁 1순위)은 무이자 조달로 Loan에 포함(그 외 보증금 50.7억은 예금질권 예치로 S&amp;U 제외). 중순위 구성은 10/6 의견본 기준</a:t>
            </a:r>
          </a:p>
          <a:p>
            <a:r>
              <a:rPr lang="ko-KR" altLang="en-US" sz="800" dirty="0">
                <a:solidFill>
                  <a:srgbClr val="7F7F7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※ 투자자 : IRR(C.G 포함)·I.G(운영배당 CoC)·C.G(매각차익÷투자금÷10년), 재무모델 Base case. KLI = 코람코라이프인프라리츠. 1종 FI = 이지스리츠3호·키움·애큐온·엠지캐피탈, 2종 FI = 삼성증권·이지스K리츠·기계설비조합(발행가 매도, C.G 없음)</a:t>
            </a:r>
          </a:p>
          <a:p>
            <a:pPr marL="0" indent="0" algn="l">
              <a:buNone/>
            </a:pPr>
            <a:r>
              <a:rPr lang="ko-KR" altLang="en-US" sz="800" dirty="0">
                <a:solidFill>
                  <a:srgbClr val="7F7F7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※ 출자·용역 겸업 기관은 붉은색 / [ ] 는 미확정 / 출처 : 재무모델 v04(2026-10-06) IM·Sell-down 탭, 확정 T/S(9/22), 주주간계약서 BKL v30.5, 투심자료 v12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263</TotalTime>
  <Words>494</Words>
  <Application>Microsoft Office PowerPoint</Application>
  <PresentationFormat>와이드스크린</PresentationFormat>
  <Paragraphs>167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나눔스퀘어</vt:lpstr>
      <vt:lpstr>나눔스퀘어 Bold</vt:lpstr>
      <vt:lpstr>나눔스퀘어 ExtraBold</vt:lpstr>
      <vt:lpstr>Arial</vt:lpstr>
      <vt:lpstr>Office Theme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안 용현(Yonghyeon,Ahn)</cp:lastModifiedBy>
  <cp:revision>31</cp:revision>
  <cp:lastPrinted>2026-10-07T00:13:53Z</cp:lastPrinted>
  <dcterms:created xsi:type="dcterms:W3CDTF">2026-10-02T02:28:43Z</dcterms:created>
  <dcterms:modified xsi:type="dcterms:W3CDTF">2026-10-07T08:02:10Z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ranchUid">
    <vt:lpwstr>Vy15GeTVEJyp-_v6ziN0YnSZvo4202504070000000</vt:lpwstr>
  </property>
  <property fmtid="{D5CDD505-2E9C-101B-9397-08002B2CF9AE}" pid="3" name="docPath">
    <vt:lpwstr>QzpcVXNlcnNceXN3NDAwMVxEZXNrdG9wXOyyqOu2gDEuIOKRoSDrpqzsuKDtiKzsnpDsi6zsnZjsnITsm5Dtmowg7ZWE7IiY7J6Q66OMIOyWkeyLnV8yNjEwMDZfM+uyiCDstpTqsIBfdjUucHB0eA==</vt:lpwstr>
  </property>
  <property fmtid="{D5CDD505-2E9C-101B-9397-08002B2CF9AE}" pid="4" name="docUid">
    <vt:lpwstr>dNZoZMKbvyP8WkkyiekIVOZe4HY</vt:lpwstr>
  </property>
  <property fmtid="{D5CDD505-2E9C-101B-9397-08002B2CF9AE}" pid="5" name="parentBranchUid">
    <vt:lpwstr>A7BafkKde0riDlfw9grJczNLDpk202504070000000</vt:lpwstr>
  </property>
</Properties>
</file>