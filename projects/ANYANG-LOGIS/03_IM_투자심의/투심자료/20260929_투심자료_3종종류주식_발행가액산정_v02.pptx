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1"/>
    <p:sldMasterId id="2147483756" r:id="rId2"/>
    <p:sldMasterId id="2147483769" r:id="rId3"/>
  </p:sldMasterIdLst>
  <p:notesMasterIdLst>
    <p:notesMasterId r:id="rId48"/>
  </p:notesMasterIdLst>
  <p:handoutMasterIdLst>
    <p:handoutMasterId r:id="rId49"/>
  </p:handoutMasterIdLst>
  <p:sldIdLst>
    <p:sldId id="256" r:id="rId10"/>
    <p:sldId id="257" r:id="rId11"/>
  </p:sldIdLst>
  <p:sldSz cx="10691813" cy="7559675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F664334-81FB-4AF7-A59E-6AD854F49133}">
          <p14:sldIdLst>
            <p14:sldId id="1174"/>
            <p14:sldId id="1175"/>
            <p14:sldId id="1176"/>
            <p14:sldId id="1657"/>
            <p14:sldId id="1658"/>
            <p14:sldId id="1812"/>
            <p14:sldId id="1813"/>
            <p14:sldId id="1183"/>
            <p14:sldId id="1814"/>
            <p14:sldId id="1656"/>
          </p14:sldIdLst>
        </p14:section>
        <p14:section name="제목 없는 구역" id="{173DE95B-9F57-4D39-B3FD-CED6B2100408}">
          <p14:sldIdLst>
            <p14:sldId id="1686"/>
            <p14:sldId id="1798"/>
            <p14:sldId id="1739"/>
            <p14:sldId id="1740"/>
            <p14:sldId id="1743"/>
            <p14:sldId id="1799"/>
            <p14:sldId id="1768"/>
            <p14:sldId id="1806"/>
            <p14:sldId id="1805"/>
            <p14:sldId id="1807"/>
            <p14:sldId id="1786"/>
            <p14:sldId id="1785"/>
            <p14:sldId id="1777"/>
            <p14:sldId id="1781"/>
            <p14:sldId id="1782"/>
            <p14:sldId id="1809"/>
            <p14:sldId id="1748"/>
            <p14:sldId id="1789"/>
            <p14:sldId id="1795"/>
            <p14:sldId id="1752"/>
            <p14:sldId id="1754"/>
            <p14:sldId id="1771"/>
            <p14:sldId id="1772"/>
            <p14:sldId id="1773"/>
            <p14:sldId id="1815"/>
            <p14:sldId id="1787"/>
            <p14:sldId id="1791"/>
            <p14:sldId id="1810"/>
            <p14:sldId id="1796"/>
            <p14:sldId id="1817"/>
            <p14:sldId id="1818"/>
            <p14:sldId id="1816"/>
            <p14:sldId id="1819"/>
            <p14:sldId id="1779"/>
          </p14:sldIdLst>
        </p14:section>
        <p14:section name="이전자료" id="{B501CF5B-16A0-46C0-95DB-100F682887D5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4195" userDrawn="1">
          <p15:clr>
            <a:srgbClr val="A4A3A4"/>
          </p15:clr>
        </p15:guide>
        <p15:guide id="13" orient="horz" pos="680" userDrawn="1">
          <p15:clr>
            <a:srgbClr val="A4A3A4"/>
          </p15:clr>
        </p15:guide>
        <p15:guide id="14" orient="horz" pos="1111" userDrawn="1">
          <p15:clr>
            <a:srgbClr val="A4A3A4"/>
          </p15:clr>
        </p15:guide>
        <p15:guide id="16" orient="horz" pos="3606" userDrawn="1">
          <p15:clr>
            <a:srgbClr val="A4A3A4"/>
          </p15:clr>
        </p15:guide>
        <p15:guide id="20" orient="horz" pos="1496" userDrawn="1">
          <p15:clr>
            <a:srgbClr val="A4A3A4"/>
          </p15:clr>
        </p15:guide>
        <p15:guide id="23" orient="horz" pos="4105" userDrawn="1">
          <p15:clr>
            <a:srgbClr val="A4A3A4"/>
          </p15:clr>
        </p15:guide>
        <p15:guide id="24" pos="601" userDrawn="1">
          <p15:clr>
            <a:srgbClr val="A4A3A4"/>
          </p15:clr>
        </p15:guide>
        <p15:guide id="26" pos="1780" userDrawn="1">
          <p15:clr>
            <a:srgbClr val="A4A3A4"/>
          </p15:clr>
        </p15:guide>
        <p15:guide id="27" pos="396" userDrawn="1">
          <p15:clr>
            <a:srgbClr val="A4A3A4"/>
          </p15:clr>
        </p15:guide>
        <p15:guide id="28" pos="1689" userDrawn="1">
          <p15:clr>
            <a:srgbClr val="A4A3A4"/>
          </p15:clr>
        </p15:guide>
        <p15:guide id="29" pos="4842" userDrawn="1">
          <p15:clr>
            <a:srgbClr val="A4A3A4"/>
          </p15:clr>
        </p15:guide>
        <p15:guide id="30" orient="horz" pos="2993" userDrawn="1">
          <p15:clr>
            <a:srgbClr val="A4A3A4"/>
          </p15:clr>
        </p15:guide>
        <p15:guide id="31" pos="4910" userDrawn="1">
          <p15:clr>
            <a:srgbClr val="A4A3A4"/>
          </p15:clr>
        </p15:guide>
        <p15:guide id="32" orient="horz" pos="907" userDrawn="1">
          <p15:clr>
            <a:srgbClr val="A4A3A4"/>
          </p15:clr>
        </p15:guide>
        <p15:guide id="33" pos="283" userDrawn="1">
          <p15:clr>
            <a:srgbClr val="9FCC3B"/>
          </p15:clr>
        </p15:guide>
        <p15:guide id="34" orient="horz" pos="1406" userDrawn="1">
          <p15:clr>
            <a:srgbClr val="9FCC3B"/>
          </p15:clr>
        </p15:guide>
        <p15:guide id="35" orient="horz" pos="1633" userDrawn="1">
          <p15:clr>
            <a:srgbClr val="9FCC3B"/>
          </p15:clr>
        </p15:guide>
        <p15:guide id="36" pos="3367" userDrawn="1">
          <p15:clr>
            <a:srgbClr val="A4A3A4"/>
          </p15:clr>
        </p15:guide>
        <p15:guide id="37" pos="3299" userDrawn="1">
          <p15:clr>
            <a:srgbClr val="9FCC3B"/>
          </p15:clr>
        </p15:guide>
        <p15:guide id="38" pos="6565" userDrawn="1">
          <p15:clr>
            <a:srgbClr val="9FCC3B"/>
          </p15:clr>
        </p15:guide>
        <p15:guide id="39" pos="3436" userDrawn="1">
          <p15:clr>
            <a:srgbClr val="9FCC3B"/>
          </p15:clr>
        </p15:guide>
        <p15:guide id="40" pos="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843C0C"/>
    <a:srgbClr val="6DA7F2"/>
    <a:srgbClr val="F4B183"/>
    <a:srgbClr val="FBE5D6"/>
    <a:srgbClr val="C55A11"/>
    <a:srgbClr val="345B86"/>
    <a:srgbClr val="F2F2F2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242" autoAdjust="0"/>
  </p:normalViewPr>
  <p:slideViewPr>
    <p:cSldViewPr showGuides="1">
      <p:cViewPr varScale="1">
        <p:scale>
          <a:sx n="97" d="100"/>
          <a:sy n="97" d="100"/>
        </p:scale>
        <p:origin x="978" y="90"/>
      </p:cViewPr>
      <p:guideLst>
        <p:guide orient="horz" pos="4195"/>
        <p:guide orient="horz" pos="680"/>
        <p:guide orient="horz" pos="1111"/>
        <p:guide orient="horz" pos="3606"/>
        <p:guide orient="horz" pos="1496"/>
        <p:guide orient="horz" pos="4105"/>
        <p:guide pos="601"/>
        <p:guide pos="1780"/>
        <p:guide pos="396"/>
        <p:guide pos="1689"/>
        <p:guide pos="4842"/>
        <p:guide orient="horz" pos="2993"/>
        <p:guide pos="4910"/>
        <p:guide orient="horz" pos="907"/>
        <p:guide pos="283"/>
        <p:guide orient="horz" pos="1406"/>
        <p:guide orient="horz" pos="1633"/>
        <p:guide pos="3367"/>
        <p:guide pos="3299"/>
        <p:guide pos="6565"/>
        <p:guide pos="3436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2910" y="108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3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r">
              <a:defRPr sz="1200"/>
            </a:lvl1pPr>
          </a:lstStyle>
          <a:p>
            <a:fld id="{B3B3F390-6613-4BAA-9D69-173A9EE88975}" type="datetimeFigureOut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2026-08-24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3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r">
              <a:defRPr sz="1200"/>
            </a:lvl1pPr>
          </a:lstStyle>
          <a:p>
            <a:fld id="{8EAD6D3B-F975-4577-9BE7-7EA334E8F2CF}" type="slidenum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‹#›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8710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7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5C657A66-7FD2-4757-A30E-DD765D01DE0F}" type="datetimeFigureOut">
              <a:rPr lang="ko-KR" altLang="en-US" smtClean="0"/>
              <a:pPr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705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4" tIns="45761" rIns="91524" bIns="457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91"/>
            <a:ext cx="5445760" cy="4472702"/>
          </a:xfrm>
          <a:prstGeom prst="rect">
            <a:avLst/>
          </a:prstGeom>
        </p:spPr>
        <p:txBody>
          <a:bodyPr vert="horz" lIns="91524" tIns="45761" rIns="91524" bIns="45761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7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6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2B8DFE68-44DA-46E6-B8A3-9F09BDCA52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5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1pPr>
    <a:lvl2pPr marL="497495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2pPr>
    <a:lvl3pPr marL="994986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3pPr>
    <a:lvl4pPr marL="1492478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4pPr>
    <a:lvl5pPr marL="1989973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5pPr>
    <a:lvl6pPr marL="248746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6pPr>
    <a:lvl7pPr marL="2984958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7pPr>
    <a:lvl8pPr marL="3482451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8pPr>
    <a:lvl9pPr marL="397994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496F34-2D2E-7200-596D-F5A884BEB510}"/>
              </a:ext>
            </a:extLst>
          </p:cNvPr>
          <p:cNvSpPr/>
          <p:nvPr userDrawn="1"/>
        </p:nvSpPr>
        <p:spPr>
          <a:xfrm>
            <a:off x="6388270" y="7142318"/>
            <a:ext cx="4261488" cy="253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660073" y="7173747"/>
            <a:ext cx="8253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grpSp>
        <p:nvGrpSpPr>
          <p:cNvPr id="43" name="그룹 42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0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2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5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7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0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2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80" name="직선 연결선 79"/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F3DAC25-3C73-5200-93E9-4A840B104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6588" userDrawn="1">
          <p15:clr>
            <a:srgbClr val="FBAE40"/>
          </p15:clr>
        </p15:guide>
        <p15:guide id="3" pos="56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 추진 배경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0AD58965-4F98-1A73-F8FC-D5222B7060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138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197B6F54-0315-951A-50F1-10ED03E2F5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3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772160A2-C39D-56FE-7995-5A43B4A6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83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Investment Highlights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4318152-D1D7-599B-1278-DD568174EB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376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투자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37432D96-AC78-AE08-F52D-853EBD0B42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8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투자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8A6B8528-268D-FF81-075B-13B4540033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602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 운영 및 Exit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운영계획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53F51F5-2033-9B4E-E332-7A24DA56B9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59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리스크 요인분석 및 관리방안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6B38A0F-6595-3B67-99AA-2059109C8A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450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</a:t>
            </a:r>
            <a:r>
              <a:rPr lang="en-US" altLang="ko-KR" sz="1886" b="1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향후조치 예정사항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518CF041-E7A6-8CE4-32F4-38B1394747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77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A66CB652-AC17-B956-4B4C-F16F1A40A3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066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018D775-8D4D-2DC9-D188-3F967A8C02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82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330C79B4-2F4A-FF14-8AC4-9B44C2C04EE9}"/>
              </a:ext>
            </a:extLst>
          </p:cNvPr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5092940" y="7174697"/>
            <a:ext cx="5220205" cy="23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0"/>
          <a:lstStyle/>
          <a:p>
            <a:pPr marL="0" marR="0" lvl="0" indent="0" algn="r" defTabSz="91406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안양물류센터 매입 프로젝트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I</a:t>
            </a:r>
            <a:r>
              <a:rPr lang="en-US" altLang="ko-KR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예비투자심의위원회 설명자료 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| 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리츠투자부문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상장리츠본부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 </a:t>
            </a:r>
            <a:fld id="{AC62A5EC-D10B-4D96-80FB-7B5CF2531C58}" type="slidenum">
              <a:rPr lang="en-US" altLang="ko-KR" sz="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pPr marL="0" marR="0" lvl="0" indent="0" algn="r" defTabSz="91406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600" b="1" dirty="0">
              <a:solidFill>
                <a:srgbClr val="006D52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0" r:id="rId2"/>
    <p:sldLayoutId id="2147483754" r:id="rId3"/>
    <p:sldLayoutId id="2147483731" r:id="rId4"/>
    <p:sldLayoutId id="2147483728" r:id="rId5"/>
    <p:sldLayoutId id="2147483751" r:id="rId6"/>
    <p:sldLayoutId id="2147483752" r:id="rId7"/>
    <p:sldLayoutId id="2147483755" r:id="rId8"/>
    <p:sldLayoutId id="2147483772" r:id="rId9"/>
    <p:sldLayoutId id="2147483773" r:id="rId10"/>
    <p:sldLayoutId id="2147483750" r:id="rId11"/>
    <p:sldLayoutId id="21474837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F26B43"/>
          </p15:clr>
        </p15:guide>
        <p15:guide id="2" pos="6565" userDrawn="1">
          <p15:clr>
            <a:srgbClr val="F26B43"/>
          </p15:clr>
        </p15:guide>
        <p15:guide id="3" pos="3368" userDrawn="1">
          <p15:clr>
            <a:srgbClr val="F26B43"/>
          </p15:clr>
        </p15:guide>
        <p15:guide id="4" orient="horz" pos="4513" userDrawn="1">
          <p15:clr>
            <a:srgbClr val="F26B43"/>
          </p15:clr>
        </p15:guide>
        <p15:guide id="5" orient="horz" pos="181" userDrawn="1">
          <p15:clr>
            <a:srgbClr val="F26B43"/>
          </p15:clr>
        </p15:guide>
        <p15:guide id="6" orient="horz" pos="1247" userDrawn="1">
          <p15:clr>
            <a:srgbClr val="F26B43"/>
          </p15:clr>
        </p15:guide>
        <p15:guide id="7" orient="horz" pos="4286" userDrawn="1">
          <p15:clr>
            <a:srgbClr val="F26B43"/>
          </p15:clr>
        </p15:guide>
        <p15:guide id="8" orient="horz" pos="11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F30820D-A359-7966-E7A3-6D53921FFA89}"/>
              </a:ext>
            </a:extLst>
          </p:cNvPr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E564AFD-C30C-9DBA-5002-F6E812779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51E90CC-8D7A-63E0-36C9-AF29EA1B8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D9911ED-3B18-00E4-3E1F-2979344E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8D1B741-163F-BD1E-F371-EF1C16255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57805D9-22D3-6A19-3CCE-7740ECA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49BD92-816A-33A5-E5B1-CA0F31E5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7A4CB68-9CD6-9FB1-3B7D-A4AEA808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623848-DB6D-6EAC-929B-EF75EBA85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7B4E377-9786-FEB2-84CD-BF77601A4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E863C8B-3EA1-71B1-E55C-9C546CB7F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8CE2AC9-0A90-B93A-2322-B5027C97F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2C7CDC0-65B5-4EA3-1269-C5B79B4CE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E68990B-E719-BF89-4E46-9E9560715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AFFF04-2310-2736-FCE0-00A78AF97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CB03CC3-003A-1743-7260-263292960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5A67BFA-6211-D110-8D34-5E771458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F298147-97CF-1936-ED12-83D42AD03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E68E8DA-22BC-A222-CE49-BB01A56D5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CB9C02C-C91E-B9F8-E84D-1366EF0C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09F1CF6-EF49-4A31-6EAE-95A6421D8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338A05C-71C0-4AEE-BE4D-24449A09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539291-3DFD-940E-3EFB-4DCEA1EA43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D7A24A-5774-01ED-0B1F-3D814948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F6879C6-A900-9C7C-B73E-2C5961A77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9E86578-D7C1-FD51-6643-4C655C25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C0D2284-EB70-80AF-B795-2BAAE437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AACA248-6704-C346-B420-D06E7EE7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91A4110-B0E7-87CA-1B61-CE1ECAECD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22087A-17AC-9E88-CF76-6B852337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2B888F4-2318-1261-10C8-0E5556A39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DEB4D31-2AD9-ADE7-19AA-73784831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B393208-F0B9-89DF-4F8D-388AAF628197}"/>
              </a:ext>
            </a:extLst>
          </p:cNvPr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52BA00D0-0115-35ED-37F4-19021EEC7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96874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47269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"/>
            <a:ext cx="5961888" cy="530352"/>
          </a:xfrm>
          <a:prstGeom prst="rect">
            <a:avLst/>
          </a:prstGeom>
          <a:noFill/>
        </p:spPr>
        <p:txBody>
          <a:bodyPr wrap="square" lIns="1655064" rIns="0" tIns="0" bIns="0">
            <a:spAutoFit/>
          </a:bodyPr>
          <a:lstStyle/>
          <a:p>
            <a:r>
              <a:rPr sz="1100" b="1">
                <a:solidFill>
                  <a:srgbClr val="002060"/>
                </a:solidFill>
                <a:latin typeface="KoPubWorld돋움체 Light"/>
              </a:rPr>
              <a:t>&gt; 3종 종류주식 발행가액 산정 (상증세법 순자산가치)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42415"/>
            <a:ext cx="999439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KoPubWorld돋움체 Light"/>
              </a:rPr>
              <a:t>상증세법 시가 기준 3종 주당가치 약 23,000원, 발행가 25,000원은 시가 대비 +8.4%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부동산 80% 이상·사업개시 3년 미만 법인 → 순자산가치 100% 평가(시행령 §54④), 최대주주 할증 배제(§53⑦)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부동산은 취득원가가 아닌 상증세법 시가(감정가액 평균)로 평가, 취득부대비용은 자산 제외(시행령 §55)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1. 순자산가액 및 1주당 순자산가치 산정 (3종 납입 직전 기준, 단위: 억원)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7" y="2359152"/>
          <a:ext cx="978408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03120"/>
                <a:gridCol w="1188720"/>
                <a:gridCol w="566928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구분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항목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금액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근거·비고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부동산 시가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3,345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미래새한 감정('26.09, 담보목적). 기준시가 10억 초과 → 2개 기관 평균 필요(추가 1건)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임대보증금 예치금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72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임차인 보증금 정기예금 예치분(부채와 상쇄)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취득부대비용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취득세·수수료·금융비용 189억은 상증세법상 자산 제외(선급비용·이연자산 성격)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부채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담보·중순위 대출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(1,980)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선순위 1,600 + 중순위 380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부채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임대보증금 반환채무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(72)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임차인 보증금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순자산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순자산가액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1,365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 3,417 − 부채 2,052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주식수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3종 납입 직전 발행주식총수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5,920,000주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보통주 2,960,000주(5,000원) + 1·2종 2,960,000주(25,000원)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결과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1주당 순자산가치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23,057원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1,365억 ÷ 5,920,000주 (3종 25,000원 납입 후 재계산 시 23,180원)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7274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2. 발행가액 대안 비교 (3종 100억원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7" y="5102352"/>
          <a:ext cx="97840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005840"/>
                <a:gridCol w="731520"/>
                <a:gridCol w="1005840"/>
                <a:gridCol w="822960"/>
                <a:gridCol w="356616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발행가액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3종 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지분율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무의결권 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시가 대비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평가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A. 25,000원 유지 (권고)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400,000주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+8.4%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상증세법 30% 기준 이내(3억·정당한 사유 별도), 정관 변경 불요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B. 시가 일치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434,783주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6.9%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이익분여 0, 부투법 주요주주(10%) 미해당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참고. 취득원가 기준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12,162원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822,232주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12.2%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25.2%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무의결권 25% 한도 초과·주요주주 해당 → 채택 불가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464" y="635508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* 성립 조건: ① 감정평가 2개 기관 평균(기준시가 10억 초과) ② 감정 가격시점·작성일이 매매계약일(10/2)보다 3종 납입일(10/31)에 가까울 것(시행령 §49②)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" y="650138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   미충족 시 매매가액 2,700억이 시가가 되어 1주당 약 12,000원대로 하락. 공정거래법 심사지침 안전지대(7%·30억)에는 해당하지 않아 정상가격 산정 근거·지원의도 부재 자료로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" y="66476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※ 출처: 기준 재무모델 v02(A&amp;R 주식발행계획·Sources&amp;Uses), 미래새한 감정평가서, 매도인 보증금 내역('26.07.31). 내부 검토안으로 세무법인·BKL 확인 필요, 협의 과정에서 변동될 수 있음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"/>
            <a:ext cx="5961888" cy="530352"/>
          </a:xfrm>
          <a:prstGeom prst="rect">
            <a:avLst/>
          </a:prstGeom>
          <a:noFill/>
        </p:spPr>
        <p:txBody>
          <a:bodyPr wrap="square" lIns="1655064" rIns="0" tIns="0" bIns="0">
            <a:spAutoFit/>
          </a:bodyPr>
          <a:lstStyle/>
          <a:p>
            <a:r>
              <a:rPr sz="1100" b="1">
                <a:solidFill>
                  <a:srgbClr val="002060"/>
                </a:solidFill>
                <a:latin typeface="KoPubWorld돋움체 Light"/>
              </a:rPr>
              <a:t>&gt; 3종 종류주식 23,000원 발행 시 지분구성 (안)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42415"/>
            <a:ext cx="999439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KoPubWorld돋움체 Light"/>
              </a:rPr>
              <a:t>3종 434,783주 발행 시 무의결권 20.7%(한도 25%)·KLI 의결권 58.7%, 총 6,354,783주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3종 발행가액 23,000원 = 상증세법 시가(감정가 기준 1주당 순자산가치 23,057원) 반올림, 출자금 100억·감자대가 동일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자본금 6,355백만 원(액면 1,000원)·주식발행초과금 92,445백만 원, 자기자본 988억 원 불변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1. 종류별 지분 구성 (단위: 백만 원, 주)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7" y="2359152"/>
          <a:ext cx="9966960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914400"/>
                <a:gridCol w="914400"/>
                <a:gridCol w="822960"/>
                <a:gridCol w="1188720"/>
                <a:gridCol w="1097280"/>
                <a:gridCol w="822960"/>
                <a:gridCol w="1097280"/>
                <a:gridCol w="822960"/>
              </a:tblGrid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구분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의결권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투자금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발행가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자본금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주식발행초과금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지분율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의결권주식수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의결권비율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제1-1종 종류주식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유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24,000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960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23,040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960,000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15.1%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960,000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19.0%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제2-1종 종류주식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유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28,000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1,120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26,880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1,120,000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17.6%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1,120,000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22.2%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제2-2종 종류주식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22,000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880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21,120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880,000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13.8%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0.0%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제3종 종류주식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435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9,565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434,783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6.8%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0.0%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보통주식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유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14,800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2,960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11,840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2,960,000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46.6%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2,960,000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58.7%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합계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/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98,800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/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6,355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92,445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6,354,783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100.0%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5,040,000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100.0%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890772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2. 주주별 세부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7" y="4219956"/>
          <a:ext cx="9966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822960"/>
                <a:gridCol w="914400"/>
                <a:gridCol w="1005840"/>
                <a:gridCol w="731520"/>
                <a:gridCol w="1097280"/>
                <a:gridCol w="914400"/>
                <a:gridCol w="2286000"/>
              </a:tblGrid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구분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주주명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투자금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발행가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지분율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의결권주식수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의결권비율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비고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제1-1종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이지스자산운용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400,000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400,000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7.9%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LOC 9/23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제1-1종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키움캐피탈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240,000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3.8%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240,000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4.8%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LOC 9/18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제1-1종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에큐온캐피탈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3.1%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4.0%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투심 완료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제1-1종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MG캐피탈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1.9%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2.4%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LOC 9/22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제2-1종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KLI리츠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16,000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640,000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10.1%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640,000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12.7%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보통주 합산 71.4%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제2-1종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삼성증권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480,000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7.6%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480,000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9.5%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LOC 7/31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제2-2종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이지스자산운용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400,000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LOC 9/21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제2-2종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기계설비조합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480,000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7.6%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무의결권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제3종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매도인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434,783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6.8%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2년 후 유상감자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보통주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KLI리츠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14,800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2,960,000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46.6%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2,960,000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58.7%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1·2종 매입확약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합계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/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98,800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/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6,354,783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100.0%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5,040,000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100.0%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무의결권 비율 20.7%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464" y="651052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* 지분율 = 주식수 ÷ 발행주식총수, 의결권비율 = 의결권주식수 ÷ 의결권주식총수(5,040,000주). 3종 주식수는 100억 ÷ 23,000원(단수 절상). 2-1/2-2종 배분(280/220억)은 확정 배정 기준이며 기준 재무모델(각 250억)과 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" y="66476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※ 출처: 3종 종류주 지분구성 검토표(2026-09-29), 투자자별 LOC(INDEX #20~23). 내부 검토안으로 협의 과정에서 변동될 수 있으며, 3종 조건 변경 시 정관·주주간계약·영업인가 신청서 반영 필요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AkjE_7M3E.x0Wsx5gBksw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75AEA6-EC78-4E7B-9971-CE736CECF225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b8433e69-c0a4-4b3a-8097-18957660da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76680</TotalTime>
  <Words>9748</Words>
  <Application>Microsoft Office PowerPoint</Application>
  <PresentationFormat>사용자 지정</PresentationFormat>
  <Paragraphs>3018</Paragraphs>
  <Slides>44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KoPubWorld돋움체 Bold</vt:lpstr>
      <vt:lpstr>KoPubWorld돋움체 Light</vt:lpstr>
      <vt:lpstr>KoPubWorld돋움체 Medium</vt:lpstr>
      <vt:lpstr>KoPubWorld바탕체 Bold</vt:lpstr>
      <vt:lpstr>KoPubWorld바탕체 Medium</vt:lpstr>
      <vt:lpstr>Pretendard</vt:lpstr>
      <vt:lpstr>하나 CM</vt:lpstr>
      <vt:lpstr>Arial</vt:lpstr>
      <vt:lpstr>Calibri</vt:lpstr>
      <vt:lpstr>Wingdings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jsp</dc:creator>
  <cp:lastModifiedBy>임영규 부장(상장리츠팀)</cp:lastModifiedBy>
  <cp:revision>5187</cp:revision>
  <cp:lastPrinted>2026-08-23T23:34:57Z</cp:lastPrinted>
  <dcterms:created xsi:type="dcterms:W3CDTF">2019-10-07T05:08:42Z</dcterms:created>
  <dcterms:modified xsi:type="dcterms:W3CDTF">2026-08-24T06:55:15Z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TlqSUOvUz2jqmGfWs-WogWvifac202402010000000</vt:lpwstr>
  </property>
  <property fmtid="{D5CDD505-2E9C-101B-9397-08002B2CF9AE}" pid="3" name="docPath">
    <vt:lpwstr>QzpcVXNlcnNceW9uZ2h5ZW9uYWhuXERvd25sb2Fkc1xbS0xJXSDslYjslpHrrLzrpZjshLzthLAg7JiI67mE7Yis7Ius7J6Q66OMXzI2MDgyNF92MyjstZzsooUpLnBwdHg=</vt:lpwstr>
  </property>
  <property fmtid="{D5CDD505-2E9C-101B-9397-08002B2CF9AE}" pid="4" name="docUid">
    <vt:lpwstr>TlqSUOvUz2jqmGfWs-WogWvifac</vt:lpwstr>
  </property>
  <property fmtid="{D5CDD505-2E9C-101B-9397-08002B2CF9AE}" pid="5" name="parentBranchUid">
    <vt:lpwstr/>
  </property>
</Properties>
</file>