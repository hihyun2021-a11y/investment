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52"/>
  </p:notesMasterIdLst>
  <p:handoutMasterIdLst>
    <p:handoutMasterId r:id="rId53"/>
  </p:handoutMasterIdLst>
  <p:sldIdLst>
    <p:sldId id="1174" r:id="rId4"/>
    <p:sldId id="1175" r:id="rId5"/>
    <p:sldId id="1176" r:id="rId6"/>
    <p:sldId id="1657" r:id="rId7"/>
    <p:sldId id="1658" r:id="rId8"/>
    <p:sldId id="1820" r:id="rId9"/>
    <p:sldId id="1821" r:id="rId10"/>
    <p:sldId id="1822" r:id="rId11"/>
    <p:sldId id="1183" r:id="rId12"/>
    <p:sldId id="1814" r:id="rId13"/>
    <p:sldId id="1656" r:id="rId14"/>
    <p:sldId id="1686" r:id="rId15"/>
    <p:sldId id="1798" r:id="rId16"/>
    <p:sldId id="1739" r:id="rId17"/>
    <p:sldId id="1740" r:id="rId18"/>
    <p:sldId id="1743" r:id="rId19"/>
    <p:sldId id="1799" r:id="rId20"/>
    <p:sldId id="1806" r:id="rId21"/>
    <p:sldId id="1825" r:id="rId22"/>
    <p:sldId id="1805" r:id="rId23"/>
    <p:sldId id="1807" r:id="rId24"/>
    <p:sldId id="1786" r:id="rId25"/>
    <p:sldId id="1785" r:id="rId26"/>
    <p:sldId id="1828" r:id="rId27"/>
    <p:sldId id="1777" r:id="rId28"/>
    <p:sldId id="1781" r:id="rId29"/>
    <p:sldId id="1829" r:id="rId30"/>
    <p:sldId id="1782" r:id="rId31"/>
    <p:sldId id="1809" r:id="rId32"/>
    <p:sldId id="1748" r:id="rId33"/>
    <p:sldId id="1789" r:id="rId34"/>
    <p:sldId id="1795" r:id="rId35"/>
    <p:sldId id="1752" r:id="rId36"/>
    <p:sldId id="1771" r:id="rId37"/>
    <p:sldId id="1754" r:id="rId38"/>
    <p:sldId id="1830" r:id="rId39"/>
    <p:sldId id="1831" r:id="rId40"/>
    <p:sldId id="1772" r:id="rId41"/>
    <p:sldId id="1773" r:id="rId42"/>
    <p:sldId id="1815" r:id="rId43"/>
    <p:sldId id="1787" r:id="rId44"/>
    <p:sldId id="1791" r:id="rId45"/>
    <p:sldId id="1796" r:id="rId46"/>
    <p:sldId id="1817" r:id="rId47"/>
    <p:sldId id="1818" r:id="rId48"/>
    <p:sldId id="1816" r:id="rId49"/>
    <p:sldId id="1819" r:id="rId50"/>
    <p:sldId id="1779" r:id="rId51"/>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 id="1175"/>
            <p14:sldId id="1176"/>
            <p14:sldId id="1657"/>
            <p14:sldId id="1658"/>
            <p14:sldId id="1820"/>
            <p14:sldId id="1821"/>
            <p14:sldId id="1822"/>
            <p14:sldId id="1183"/>
            <p14:sldId id="1814"/>
            <p14:sldId id="1656"/>
          </p14:sldIdLst>
        </p14:section>
        <p14:section name="제목 없는 구역" id="{173DE95B-9F57-4D39-B3FD-CED6B2100408}">
          <p14:sldIdLst>
            <p14:sldId id="1686"/>
            <p14:sldId id="1798"/>
            <p14:sldId id="1739"/>
            <p14:sldId id="1740"/>
            <p14:sldId id="1743"/>
            <p14:sldId id="1799"/>
            <p14:sldId id="1806"/>
            <p14:sldId id="1825"/>
            <p14:sldId id="1805"/>
            <p14:sldId id="1807"/>
            <p14:sldId id="1786"/>
            <p14:sldId id="1785"/>
            <p14:sldId id="1828"/>
            <p14:sldId id="1777"/>
            <p14:sldId id="1781"/>
            <p14:sldId id="1829"/>
            <p14:sldId id="1782"/>
            <p14:sldId id="1809"/>
            <p14:sldId id="1748"/>
            <p14:sldId id="1789"/>
            <p14:sldId id="1795"/>
            <p14:sldId id="1752"/>
            <p14:sldId id="1771"/>
            <p14:sldId id="1754"/>
            <p14:sldId id="1830"/>
            <p14:sldId id="1831"/>
            <p14:sldId id="1772"/>
            <p14:sldId id="1773"/>
            <p14:sldId id="1815"/>
            <p14:sldId id="1787"/>
            <p14:sldId id="1791"/>
            <p14:sldId id="1796"/>
            <p14:sldId id="1817"/>
            <p14:sldId id="1818"/>
            <p14:sldId id="1816"/>
            <p14:sldId id="1819"/>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406"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565" userDrawn="1">
          <p15:clr>
            <a:srgbClr val="9FCC3B"/>
          </p15:clr>
        </p15:guide>
        <p15:guide id="39" pos="3436"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DAE3F3"/>
    <a:srgbClr val="0000FF"/>
    <a:srgbClr val="843C0C"/>
    <a:srgbClr val="6DA7F2"/>
    <a:srgbClr val="F4B183"/>
    <a:srgbClr val="FBE5D6"/>
    <a:srgbClr val="C55A11"/>
    <a:srgbClr val="345B86"/>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9" autoAdjust="0"/>
    <p:restoredTop sz="96242" autoAdjust="0"/>
  </p:normalViewPr>
  <p:slideViewPr>
    <p:cSldViewPr showGuides="1">
      <p:cViewPr varScale="1">
        <p:scale>
          <a:sx n="97" d="100"/>
          <a:sy n="97" d="100"/>
        </p:scale>
        <p:origin x="1710" y="90"/>
      </p:cViewPr>
      <p:guideLst>
        <p:guide orient="horz" pos="4195"/>
        <p:guide orient="horz" pos="680"/>
        <p:guide orient="horz" pos="1111"/>
        <p:guide orient="horz" pos="3606"/>
        <p:guide orient="horz" pos="1496"/>
        <p:guide orient="horz" pos="4105"/>
        <p:guide pos="601"/>
        <p:guide pos="1780"/>
        <p:guide pos="396"/>
        <p:guide pos="1689"/>
        <p:guide pos="4842"/>
        <p:guide orient="horz" pos="2993"/>
        <p:guide pos="4910"/>
        <p:guide orient="horz" pos="907"/>
        <p:guide pos="283"/>
        <p:guide orient="horz" pos="1406"/>
        <p:guide orient="horz" pos="1633"/>
        <p:guide pos="3367"/>
        <p:guide pos="3299"/>
        <p:guide pos="6565"/>
        <p:guide pos="3436"/>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handoutMaster" Target="handoutMasters/handout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42" tIns="45770" rIns="91542" bIns="45770"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3" y="3"/>
            <a:ext cx="2950529" cy="499033"/>
          </a:xfrm>
          <a:prstGeom prst="rect">
            <a:avLst/>
          </a:prstGeom>
        </p:spPr>
        <p:txBody>
          <a:bodyPr vert="horz" lIns="91542" tIns="45770" rIns="91542" bIns="45770"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2026-09-16</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42" tIns="45770" rIns="91542" bIns="45770"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3" y="9440309"/>
            <a:ext cx="2950529" cy="499033"/>
          </a:xfrm>
          <a:prstGeom prst="rect">
            <a:avLst/>
          </a:prstGeom>
        </p:spPr>
        <p:txBody>
          <a:bodyPr vert="horz" lIns="91542" tIns="45770" rIns="91542" bIns="45770"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4" tIns="45761" rIns="91524"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4" tIns="45761" rIns="91524"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2026-09-16</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4" tIns="45761" rIns="91524"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4" tIns="45761" rIns="91524"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4" tIns="45761" rIns="91524"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4" tIns="45761" rIns="91524"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defTabSz="457755">
              <a:defRPr/>
            </a:pPr>
            <a:fld id="{2B8DFE68-44DA-46E6-B8A3-9F09BDCA52AB}" type="slidenum">
              <a:rPr lang="ko-KR" altLang="en-US">
                <a:solidFill>
                  <a:prstClr val="black"/>
                </a:solidFill>
              </a:rPr>
              <a:pPr defTabSz="457755">
                <a:defRPr/>
              </a:pPr>
              <a:t>2</a:t>
            </a:fld>
            <a:endParaRPr lang="ko-KR" altLang="en-US">
              <a:solidFill>
                <a:prstClr val="black"/>
              </a:solidFill>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8</a:t>
            </a:fld>
            <a:endParaRPr lang="ko-KR" altLang="en-US"/>
          </a:p>
        </p:txBody>
      </p:sp>
    </p:spTree>
    <p:extLst>
      <p:ext uri="{BB962C8B-B14F-4D97-AF65-F5344CB8AC3E}">
        <p14:creationId xmlns:p14="http://schemas.microsoft.com/office/powerpoint/2010/main" val="3077805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E0D8-1321-460A-0E64-3EE156F56C7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A65280A-2655-98E5-8643-168ECE824CA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040F80-F548-59E9-38A8-ECDE30B829BB}"/>
              </a:ext>
            </a:extLst>
          </p:cNvPr>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a:extLst>
              <a:ext uri="{FF2B5EF4-FFF2-40B4-BE49-F238E27FC236}">
                <a16:creationId xmlns:a16="http://schemas.microsoft.com/office/drawing/2014/main" id="{3D5B94C4-441D-0D42-9F0C-4EB3C2D7897D}"/>
              </a:ext>
            </a:extLst>
          </p:cNvPr>
          <p:cNvSpPr>
            <a:spLocks noGrp="1"/>
          </p:cNvSpPr>
          <p:nvPr>
            <p:ph type="sldNum" sz="quarter" idx="5"/>
          </p:nvPr>
        </p:nvSpPr>
        <p:spPr/>
        <p:txBody>
          <a:bodyPr/>
          <a:lstStyle/>
          <a:p>
            <a:fld id="{2B8DFE68-44DA-46E6-B8A3-9F09BDCA52AB}" type="slidenum">
              <a:rPr lang="ko-KR" altLang="en-US" smtClean="0"/>
              <a:pPr/>
              <a:t>9</a:t>
            </a:fld>
            <a:endParaRPr lang="ko-KR" altLang="en-US"/>
          </a:p>
        </p:txBody>
      </p:sp>
    </p:spTree>
    <p:extLst>
      <p:ext uri="{BB962C8B-B14F-4D97-AF65-F5344CB8AC3E}">
        <p14:creationId xmlns:p14="http://schemas.microsoft.com/office/powerpoint/2010/main" val="1237848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11</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13</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15</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21</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22</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fld id="{2B8DFE68-44DA-46E6-B8A3-9F09BDCA52AB}" type="slidenum">
              <a:rPr lang="ko-KR" altLang="en-US" smtClean="0"/>
              <a:pPr/>
              <a:t>24</a:t>
            </a:fld>
            <a:endParaRPr lang="ko-KR" altLang="en-US"/>
          </a:p>
        </p:txBody>
      </p:sp>
    </p:spTree>
    <p:extLst>
      <p:ext uri="{BB962C8B-B14F-4D97-AF65-F5344CB8AC3E}">
        <p14:creationId xmlns:p14="http://schemas.microsoft.com/office/powerpoint/2010/main" val="2542284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29</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30</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31</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32</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33</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34</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37</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38</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13DA-4510-27D4-4F4E-2FDEF18F2A9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A9AA2CB-5E19-22C4-9A6B-F8C127B63C7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D62D206-178D-3BCD-C1CB-F7B5AAEEC5C9}"/>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27E6255-5684-6829-3C12-3B0BF225901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43</a:t>
            </a:fld>
            <a:endParaRPr lang="ko-KR" altLang="en-US">
              <a:solidFill>
                <a:prstClr val="black"/>
              </a:solidFill>
            </a:endParaRPr>
          </a:p>
        </p:txBody>
      </p:sp>
    </p:spTree>
    <p:extLst>
      <p:ext uri="{BB962C8B-B14F-4D97-AF65-F5344CB8AC3E}">
        <p14:creationId xmlns:p14="http://schemas.microsoft.com/office/powerpoint/2010/main" val="491932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13FF-87B5-09AD-07F6-F22F8655C99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E551DCA-2B62-615F-8B38-1ECBBDCA686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410210-E407-9331-E722-4F59C3C65588}"/>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1796DA44-67D7-B32B-D460-2A6ABB877D8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44</a:t>
            </a:fld>
            <a:endParaRPr lang="ko-KR" altLang="en-US">
              <a:solidFill>
                <a:prstClr val="black"/>
              </a:solidFill>
            </a:endParaRPr>
          </a:p>
        </p:txBody>
      </p:sp>
    </p:spTree>
    <p:extLst>
      <p:ext uri="{BB962C8B-B14F-4D97-AF65-F5344CB8AC3E}">
        <p14:creationId xmlns:p14="http://schemas.microsoft.com/office/powerpoint/2010/main" val="9855915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DE4B2-ED5B-26E9-62B2-F2A354B3305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8D1455A-3900-F08F-316A-7C105F4EBF0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411B4FD-AED3-E8A0-3707-823F1722C96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2E6C61D3-F6C4-81BF-8426-E914E27FA79E}"/>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45</a:t>
            </a:fld>
            <a:endParaRPr lang="ko-KR" altLang="en-US">
              <a:solidFill>
                <a:prstClr val="black"/>
              </a:solidFill>
            </a:endParaRPr>
          </a:p>
        </p:txBody>
      </p:sp>
    </p:spTree>
    <p:extLst>
      <p:ext uri="{BB962C8B-B14F-4D97-AF65-F5344CB8AC3E}">
        <p14:creationId xmlns:p14="http://schemas.microsoft.com/office/powerpoint/2010/main" val="943743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09C62-96CD-E5A8-C79C-F24C08629D2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1ED936-0E7A-F5F4-EFFE-A6F3589650D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E1BCD25-0F94-F19A-E8F9-1C098AD80B03}"/>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A6DB1246-18C1-C239-F0C0-44950396EC54}"/>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46</a:t>
            </a:fld>
            <a:endParaRPr lang="ko-KR" altLang="en-US">
              <a:solidFill>
                <a:prstClr val="black"/>
              </a:solidFill>
            </a:endParaRPr>
          </a:p>
        </p:txBody>
      </p:sp>
    </p:spTree>
    <p:extLst>
      <p:ext uri="{BB962C8B-B14F-4D97-AF65-F5344CB8AC3E}">
        <p14:creationId xmlns:p14="http://schemas.microsoft.com/office/powerpoint/2010/main" val="11075894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a:t>
            </a:r>
            <a:r>
              <a:rPr lang="en-US" altLang="ko-KR" sz="1886" b="1" kern="120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향후조치 예정사항</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chart" Target="../charts/chart5.xml"/><Relationship Id="rId7" Type="http://schemas.openxmlformats.org/officeDocument/2006/relationships/image" Target="../media/image40.jpeg"/><Relationship Id="rId2" Type="http://schemas.openxmlformats.org/officeDocument/2006/relationships/image" Target="../media/image36.png"/><Relationship Id="rId1" Type="http://schemas.openxmlformats.org/officeDocument/2006/relationships/slideLayout" Target="../slideLayouts/slideLayout8.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48.png"/><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ㅣ신규</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투자의 건</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투자심의위원회 심의자료</a:t>
            </a:r>
          </a:p>
          <a:p>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September.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6" name="Picture 6" descr="CI기본형">
            <a:extLst>
              <a:ext uri="{FF2B5EF4-FFF2-40B4-BE49-F238E27FC236}">
                <a16:creationId xmlns:a16="http://schemas.microsoft.com/office/drawing/2014/main" id="{1536FE6F-3B17-0312-DB34-D3DD7EBC788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322863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spAutoFit/>
          </a:bodyPr>
          <a:lstStyle/>
          <a:p>
            <a:r>
              <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lang="ko-KR" altLang="en-US" sz="1107" dirty="0" err="1">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7211958" y="3240217"/>
            <a:ext cx="3246515" cy="1688924"/>
          </a:xfrm>
          <a:prstGeom prst="rect">
            <a:avLst/>
          </a:prstGeom>
          <a:noFill/>
        </p:spPr>
        <p:txBody>
          <a:bodyPr wrap="square" rtlCol="0" anchor="t" anchorCtr="0">
            <a:spAutoFit/>
          </a:bodyPr>
          <a:lstStyle/>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개요</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안건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Ⅰ. 매매계약서의 체결</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Ⅱ. 주주간계약서의 체결</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Ⅲ. 코람코라이프인프라리츠 매입확약서(LOC) 날인</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관계사 인수확약서 및 당사 예상수익</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투자 대상 물건 설명자료</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a:t>
            </a:r>
            <a:r>
              <a:rPr lang="ko-KR" altLang="en-US"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 안</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건은 매매계약·주주간계약 체결 및 </a:t>
            </a:r>
            <a:r>
              <a:rPr lang="en-US" altLang="ko-KR"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KLI</a:t>
            </a:r>
            <a:r>
              <a:rPr lang="ko-KR" altLang="en-US"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의 </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매입확약서(LOC) 날인 건임</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심의 종료로부터 </a:t>
            </a:r>
            <a:r>
              <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내 자 리츠의 부동산 소유권 이전으로 거래종결을 완료할 예정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건 및 추진일정</a:t>
              </a:r>
            </a:p>
          </p:txBody>
        </p:sp>
      </p:grpSp>
      <p:graphicFrame>
        <p:nvGraphicFramePr>
          <p:cNvPr id="11" name="표 10"/>
          <p:cNvGraphicFramePr>
            <a:graphicFrameLocks noGrp="1"/>
          </p:cNvGraphicFramePr>
          <p:nvPr>
            <p:extLst>
              <p:ext uri="{D42A27DB-BD31-4B8C-83A1-F6EECF244321}">
                <p14:modId xmlns:p14="http://schemas.microsoft.com/office/powerpoint/2010/main" val="4241037282"/>
              </p:ext>
            </p:extLst>
          </p:nvPr>
        </p:nvGraphicFramePr>
        <p:xfrm>
          <a:off x="509644" y="2357351"/>
          <a:ext cx="9756000" cy="1752600"/>
        </p:xfrm>
        <a:graphic>
          <a:graphicData uri="http://schemas.openxmlformats.org/drawingml/2006/table">
            <a:tbl>
              <a:tblPr>
                <a:tableStyleId>{5940675A-B579-460E-94D1-54222C63F5DA}</a:tableStyleId>
              </a:tblPr>
              <a:tblGrid>
                <a:gridCol w="1368000">
                  <a:extLst>
                    <a:ext uri="{9D8B030D-6E8A-4147-A177-3AD203B41FA5}">
                      <a16:colId xmlns:a16="http://schemas.microsoft.com/office/drawing/2014/main" val="20000"/>
                    </a:ext>
                  </a:extLst>
                </a:gridCol>
                <a:gridCol w="2136114">
                  <a:extLst>
                    <a:ext uri="{9D8B030D-6E8A-4147-A177-3AD203B41FA5}">
                      <a16:colId xmlns:a16="http://schemas.microsoft.com/office/drawing/2014/main" val="20001"/>
                    </a:ext>
                  </a:extLst>
                </a:gridCol>
                <a:gridCol w="6251886">
                  <a:extLst>
                    <a:ext uri="{9D8B030D-6E8A-4147-A177-3AD203B41FA5}">
                      <a16:colId xmlns:a16="http://schemas.microsoft.com/office/drawing/2014/main" val="4219783623"/>
                    </a:ext>
                  </a:extLst>
                </a:gridCol>
              </a:tblGrid>
              <a:tr h="237744">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안건명</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Ⅰ</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1">
                        <a:lnSpc>
                          <a:spcPct val="120000"/>
                        </a:lnSpc>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매매계약서의 체결</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코크렙안양㈜와 매매대금 2,700억원의 부동산매매계약 체결 (거래종결 10/22 예정)</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Ⅱ</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주주간계약서의 체결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우리투자증권·삼성증권·㈜엘에프·KLI리츠 간 주주간계약 체결 (배당·매입확약·지배구조)</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Ⅲ</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 매입확약서(LOC) 날인</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제1종(24개월)·제2종(12개월) 종류주식 매입확약서를 주주간계약 체결일에 제출</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86226292"/>
                  </a:ext>
                </a:extLst>
              </a:tr>
            </a:tbl>
          </a:graphicData>
        </a:graphic>
      </p:graphicFrame>
      <p:cxnSp>
        <p:nvCxnSpPr>
          <p:cNvPr id="37" name="꺾인 연결선 22">
            <a:extLst>
              <a:ext uri="{FF2B5EF4-FFF2-40B4-BE49-F238E27FC236}">
                <a16:creationId xmlns:a16="http://schemas.microsoft.com/office/drawing/2014/main" id="{0DB8BE85-BA40-2273-2D22-D6062390D50C}"/>
              </a:ext>
            </a:extLst>
          </p:cNvPr>
          <p:cNvCxnSpPr>
            <a:cxnSpLocks/>
            <a:stCxn id="128" idx="0"/>
            <a:endCxn id="107" idx="0"/>
          </p:cNvCxnSpPr>
          <p:nvPr/>
        </p:nvCxnSpPr>
        <p:spPr>
          <a:xfrm rot="5400000" flipH="1" flipV="1">
            <a:off x="5225871" y="3778929"/>
            <a:ext cx="12700" cy="2414585"/>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6741AF1-BAD2-5C01-53D6-56C22C06D785}"/>
              </a:ext>
            </a:extLst>
          </p:cNvPr>
          <p:cNvSpPr txBox="1"/>
          <p:nvPr/>
        </p:nvSpPr>
        <p:spPr>
          <a:xfrm>
            <a:off x="4789082" y="4680021"/>
            <a:ext cx="713905"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err="1">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실사기간</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4</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a:t>
            </a:r>
          </a:p>
        </p:txBody>
      </p:sp>
      <p:sp>
        <p:nvSpPr>
          <p:cNvPr id="41" name="직사각형 40">
            <a:extLst>
              <a:ext uri="{FF2B5EF4-FFF2-40B4-BE49-F238E27FC236}">
                <a16:creationId xmlns:a16="http://schemas.microsoft.com/office/drawing/2014/main" id="{FBF764AD-9F4D-007E-53D4-B86677FB241D}"/>
              </a:ext>
            </a:extLst>
          </p:cNvPr>
          <p:cNvSpPr/>
          <p:nvPr/>
        </p:nvSpPr>
        <p:spPr>
          <a:xfrm>
            <a:off x="521371" y="4255705"/>
            <a:ext cx="9793286" cy="244045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27CDB938-FE60-2B09-8A37-524FC46A4095}"/>
              </a:ext>
            </a:extLst>
          </p:cNvPr>
          <p:cNvGrpSpPr/>
          <p:nvPr/>
        </p:nvGrpSpPr>
        <p:grpSpPr>
          <a:xfrm>
            <a:off x="611892" y="4169801"/>
            <a:ext cx="1939955" cy="246221"/>
            <a:chOff x="455544" y="-592941"/>
            <a:chExt cx="1939955" cy="246221"/>
          </a:xfrm>
        </p:grpSpPr>
        <p:sp>
          <p:nvSpPr>
            <p:cNvPr id="46" name="TextBox 45">
              <a:extLst>
                <a:ext uri="{FF2B5EF4-FFF2-40B4-BE49-F238E27FC236}">
                  <a16:creationId xmlns:a16="http://schemas.microsoft.com/office/drawing/2014/main" id="{E1FAB967-07D7-8FD3-425E-0D3109939F03}"/>
                </a:ext>
              </a:extLst>
            </p:cNvPr>
            <p:cNvSpPr txBox="1"/>
            <p:nvPr/>
          </p:nvSpPr>
          <p:spPr>
            <a:xfrm>
              <a:off x="455544" y="-592941"/>
              <a:ext cx="193995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진행경과 및 향후 사업 예상일정</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9" name="직사각형 48">
              <a:extLst>
                <a:ext uri="{FF2B5EF4-FFF2-40B4-BE49-F238E27FC236}">
                  <a16:creationId xmlns:a16="http://schemas.microsoft.com/office/drawing/2014/main" id="{E86436BC-529B-CDEB-D50C-452D2F00AD9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0" name="오른쪽 화살표 16">
            <a:extLst>
              <a:ext uri="{FF2B5EF4-FFF2-40B4-BE49-F238E27FC236}">
                <a16:creationId xmlns:a16="http://schemas.microsoft.com/office/drawing/2014/main" id="{77E91E03-98F2-450B-77A1-43629DA4947B}"/>
              </a:ext>
            </a:extLst>
          </p:cNvPr>
          <p:cNvSpPr/>
          <p:nvPr/>
        </p:nvSpPr>
        <p:spPr>
          <a:xfrm>
            <a:off x="845406" y="5241095"/>
            <a:ext cx="9420238" cy="468154"/>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1" name="오른쪽 화살표 17">
            <a:extLst>
              <a:ext uri="{FF2B5EF4-FFF2-40B4-BE49-F238E27FC236}">
                <a16:creationId xmlns:a16="http://schemas.microsoft.com/office/drawing/2014/main" id="{CD838F5B-8BA9-2276-8BBF-715F081CA06D}"/>
              </a:ext>
            </a:extLst>
          </p:cNvPr>
          <p:cNvSpPr/>
          <p:nvPr/>
        </p:nvSpPr>
        <p:spPr>
          <a:xfrm>
            <a:off x="7172456" y="5241095"/>
            <a:ext cx="3093188" cy="468154"/>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3" name="TextBox 52">
            <a:extLst>
              <a:ext uri="{FF2B5EF4-FFF2-40B4-BE49-F238E27FC236}">
                <a16:creationId xmlns:a16="http://schemas.microsoft.com/office/drawing/2014/main" id="{D970675F-0876-D174-6135-52B374A54357}"/>
              </a:ext>
            </a:extLst>
          </p:cNvPr>
          <p:cNvSpPr txBox="1"/>
          <p:nvPr/>
        </p:nvSpPr>
        <p:spPr>
          <a:xfrm>
            <a:off x="2352916" y="4986221"/>
            <a:ext cx="822566" cy="230832"/>
          </a:xfrm>
          <a:prstGeom prst="rect">
            <a:avLst/>
          </a:prstGeom>
          <a:solidFill>
            <a:schemeClr val="bg1"/>
          </a:solid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8" name="타원 67">
            <a:extLst>
              <a:ext uri="{FF2B5EF4-FFF2-40B4-BE49-F238E27FC236}">
                <a16:creationId xmlns:a16="http://schemas.microsoft.com/office/drawing/2014/main" id="{70D1D696-6606-5D96-F8CA-FCD3F6A9FB36}"/>
              </a:ext>
            </a:extLst>
          </p:cNvPr>
          <p:cNvSpPr/>
          <p:nvPr/>
        </p:nvSpPr>
        <p:spPr>
          <a:xfrm>
            <a:off x="2641486"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69" name="TextBox 68">
            <a:extLst>
              <a:ext uri="{FF2B5EF4-FFF2-40B4-BE49-F238E27FC236}">
                <a16:creationId xmlns:a16="http://schemas.microsoft.com/office/drawing/2014/main" id="{7D2E9ED6-7362-DE30-0B31-C1578C9866B8}"/>
              </a:ext>
            </a:extLst>
          </p:cNvPr>
          <p:cNvSpPr txBox="1"/>
          <p:nvPr/>
        </p:nvSpPr>
        <p:spPr>
          <a:xfrm>
            <a:off x="2245982" y="5738449"/>
            <a:ext cx="1400757" cy="415498"/>
          </a:xfrm>
          <a:prstGeom prst="rect">
            <a:avLst/>
          </a:prstGeom>
          <a:noFill/>
        </p:spPr>
        <p:txBody>
          <a:bodyPr wrap="square" lIns="0" tIns="0" rIns="0" bIns="0" rtlCol="0">
            <a:noAutofit/>
          </a:bodyPr>
          <a:lstStyle/>
          <a:p>
            <a:pPr marL="0" marR="0" lvl="0" indent="0" algn="l"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예비투자심의위원회</a:t>
            </a: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양해각서 체결의 건</a:t>
            </a:r>
          </a:p>
          <a:p>
            <a:pPr lvl="0">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실사기관 선정의 건</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1" name="TextBox 70">
            <a:extLst>
              <a:ext uri="{FF2B5EF4-FFF2-40B4-BE49-F238E27FC236}">
                <a16:creationId xmlns:a16="http://schemas.microsoft.com/office/drawing/2014/main" id="{115C11F2-9E38-B74F-254D-622DC354C0D0}"/>
              </a:ext>
            </a:extLst>
          </p:cNvPr>
          <p:cNvSpPr txBox="1"/>
          <p:nvPr/>
        </p:nvSpPr>
        <p:spPr>
          <a:xfrm>
            <a:off x="8858900"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2" name="TextBox 71">
            <a:extLst>
              <a:ext uri="{FF2B5EF4-FFF2-40B4-BE49-F238E27FC236}">
                <a16:creationId xmlns:a16="http://schemas.microsoft.com/office/drawing/2014/main" id="{5802985F-42AB-2FCB-80B6-76F06B19D051}"/>
              </a:ext>
            </a:extLst>
          </p:cNvPr>
          <p:cNvSpPr txBox="1"/>
          <p:nvPr/>
        </p:nvSpPr>
        <p:spPr>
          <a:xfrm>
            <a:off x="8825409"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73" name="타원 72">
            <a:extLst>
              <a:ext uri="{FF2B5EF4-FFF2-40B4-BE49-F238E27FC236}">
                <a16:creationId xmlns:a16="http://schemas.microsoft.com/office/drawing/2014/main" id="{432A4B53-2301-9464-B196-EC65F5A61494}"/>
              </a:ext>
            </a:extLst>
          </p:cNvPr>
          <p:cNvSpPr/>
          <p:nvPr/>
        </p:nvSpPr>
        <p:spPr>
          <a:xfrm>
            <a:off x="9054277"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80" name="TextBox 79">
            <a:extLst>
              <a:ext uri="{FF2B5EF4-FFF2-40B4-BE49-F238E27FC236}">
                <a16:creationId xmlns:a16="http://schemas.microsoft.com/office/drawing/2014/main" id="{6DFFD4EE-87BB-0698-6FED-0AACAF2F6A79}"/>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입찰참여</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1" name="TextBox 80">
            <a:extLst>
              <a:ext uri="{FF2B5EF4-FFF2-40B4-BE49-F238E27FC236}">
                <a16:creationId xmlns:a16="http://schemas.microsoft.com/office/drawing/2014/main" id="{D1397358-E35E-A927-FB9E-0BD060B3B4A0}"/>
              </a:ext>
            </a:extLst>
          </p:cNvPr>
          <p:cNvSpPr txBox="1"/>
          <p:nvPr/>
        </p:nvSpPr>
        <p:spPr>
          <a:xfrm>
            <a:off x="463705"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타원 83">
            <a:extLst>
              <a:ext uri="{FF2B5EF4-FFF2-40B4-BE49-F238E27FC236}">
                <a16:creationId xmlns:a16="http://schemas.microsoft.com/office/drawing/2014/main" id="{AD94EA02-D19C-8C10-B6A4-826DD48CB6FC}"/>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47" name="그룹 146">
            <a:extLst>
              <a:ext uri="{FF2B5EF4-FFF2-40B4-BE49-F238E27FC236}">
                <a16:creationId xmlns:a16="http://schemas.microsoft.com/office/drawing/2014/main" id="{D82D1F4D-AC1D-336B-F40F-C3F225004812}"/>
              </a:ext>
            </a:extLst>
          </p:cNvPr>
          <p:cNvGrpSpPr/>
          <p:nvPr/>
        </p:nvGrpSpPr>
        <p:grpSpPr>
          <a:xfrm>
            <a:off x="1183060" y="4992572"/>
            <a:ext cx="925254" cy="889018"/>
            <a:chOff x="1777019" y="4986221"/>
            <a:chExt cx="925254" cy="889018"/>
          </a:xfrm>
        </p:grpSpPr>
        <p:sp>
          <p:nvSpPr>
            <p:cNvPr id="95" name="TextBox 94">
              <a:extLst>
                <a:ext uri="{FF2B5EF4-FFF2-40B4-BE49-F238E27FC236}">
                  <a16:creationId xmlns:a16="http://schemas.microsoft.com/office/drawing/2014/main" id="{F6431406-7568-7589-EB39-B69A904D4348}"/>
                </a:ext>
              </a:extLst>
            </p:cNvPr>
            <p:cNvSpPr txBox="1"/>
            <p:nvPr/>
          </p:nvSpPr>
          <p:spPr>
            <a:xfrm>
              <a:off x="1777019" y="5736740"/>
              <a:ext cx="925254"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우선협상자 통지</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6" name="TextBox 95">
              <a:extLst>
                <a:ext uri="{FF2B5EF4-FFF2-40B4-BE49-F238E27FC236}">
                  <a16:creationId xmlns:a16="http://schemas.microsoft.com/office/drawing/2014/main" id="{AD0C1413-248E-C2E6-DD04-800B8BC8E6E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18일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7" name="타원 96">
              <a:extLst>
                <a:ext uri="{FF2B5EF4-FFF2-40B4-BE49-F238E27FC236}">
                  <a16:creationId xmlns:a16="http://schemas.microsoft.com/office/drawing/2014/main" id="{856E6372-F09C-2050-1115-6439A40C5986}"/>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6" name="TextBox 105">
            <a:extLst>
              <a:ext uri="{FF2B5EF4-FFF2-40B4-BE49-F238E27FC236}">
                <a16:creationId xmlns:a16="http://schemas.microsoft.com/office/drawing/2014/main" id="{F2ACFEBC-6570-5CB2-BCC3-51851881A24B}"/>
              </a:ext>
            </a:extLst>
          </p:cNvPr>
          <p:cNvSpPr txBox="1"/>
          <p:nvPr/>
        </p:nvSpPr>
        <p:spPr>
          <a:xfrm>
            <a:off x="6096697"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 접수(9/11)</a:t>
            </a: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최종본(9/17)</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7" name="TextBox 106">
            <a:extLst>
              <a:ext uri="{FF2B5EF4-FFF2-40B4-BE49-F238E27FC236}">
                <a16:creationId xmlns:a16="http://schemas.microsoft.com/office/drawing/2014/main" id="{A9303C4E-5718-6FBB-625F-B6A060B01B66}"/>
              </a:ext>
            </a:extLst>
          </p:cNvPr>
          <p:cNvSpPr txBox="1"/>
          <p:nvPr/>
        </p:nvSpPr>
        <p:spPr>
          <a:xfrm>
            <a:off x="606320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17일</a:t>
            </a:r>
          </a:p>
        </p:txBody>
      </p:sp>
      <p:sp>
        <p:nvSpPr>
          <p:cNvPr id="108" name="타원 107">
            <a:extLst>
              <a:ext uri="{FF2B5EF4-FFF2-40B4-BE49-F238E27FC236}">
                <a16:creationId xmlns:a16="http://schemas.microsoft.com/office/drawing/2014/main" id="{59A4AA78-428E-DDCC-B56C-2DACCA88C748}"/>
              </a:ext>
            </a:extLst>
          </p:cNvPr>
          <p:cNvSpPr/>
          <p:nvPr/>
        </p:nvSpPr>
        <p:spPr>
          <a:xfrm>
            <a:off x="629207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3385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설립자본금 3억원 출자 및 발기설립 완료(8/28)</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p:txBody>
      </p:sp>
      <p:sp>
        <p:nvSpPr>
          <p:cNvPr id="117" name="TextBox 116">
            <a:extLst>
              <a:ext uri="{FF2B5EF4-FFF2-40B4-BE49-F238E27FC236}">
                <a16:creationId xmlns:a16="http://schemas.microsoft.com/office/drawing/2014/main" id="{91A8CA2F-12BF-26F2-3FD2-6FF1D0B79A7F}"/>
              </a:ext>
            </a:extLst>
          </p:cNvPr>
          <p:cNvSpPr txBox="1"/>
          <p:nvPr/>
        </p:nvSpPr>
        <p:spPr>
          <a:xfrm>
            <a:off x="9610895" y="5743842"/>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독점적 협상기간</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만료일</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8" name="TextBox 117">
            <a:extLst>
              <a:ext uri="{FF2B5EF4-FFF2-40B4-BE49-F238E27FC236}">
                <a16:creationId xmlns:a16="http://schemas.microsoft.com/office/drawing/2014/main" id="{03DE435F-1FA6-57EA-F3C7-96C660A9F6F9}"/>
              </a:ext>
            </a:extLst>
          </p:cNvPr>
          <p:cNvSpPr txBox="1"/>
          <p:nvPr/>
        </p:nvSpPr>
        <p:spPr>
          <a:xfrm>
            <a:off x="9577404"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26일</a:t>
            </a:r>
          </a:p>
        </p:txBody>
      </p:sp>
      <p:sp>
        <p:nvSpPr>
          <p:cNvPr id="119" name="타원 118">
            <a:extLst>
              <a:ext uri="{FF2B5EF4-FFF2-40B4-BE49-F238E27FC236}">
                <a16:creationId xmlns:a16="http://schemas.microsoft.com/office/drawing/2014/main" id="{438AADBD-DB37-CD70-39AF-101D0F9E270E}"/>
              </a:ext>
            </a:extLst>
          </p:cNvPr>
          <p:cNvSpPr/>
          <p:nvPr/>
        </p:nvSpPr>
        <p:spPr>
          <a:xfrm>
            <a:off x="980627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27" name="TextBox 126">
            <a:extLst>
              <a:ext uri="{FF2B5EF4-FFF2-40B4-BE49-F238E27FC236}">
                <a16:creationId xmlns:a16="http://schemas.microsoft.com/office/drawing/2014/main" id="{C14872E0-8C10-B7A7-708E-8488ACE5348B}"/>
              </a:ext>
            </a:extLst>
          </p:cNvPr>
          <p:cNvSpPr txBox="1"/>
          <p:nvPr/>
        </p:nvSpPr>
        <p:spPr>
          <a:xfrm>
            <a:off x="3685903" y="5765897"/>
            <a:ext cx="908761"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체결</a:t>
            </a:r>
          </a:p>
        </p:txBody>
      </p:sp>
      <p:sp>
        <p:nvSpPr>
          <p:cNvPr id="128" name="TextBox 127">
            <a:extLst>
              <a:ext uri="{FF2B5EF4-FFF2-40B4-BE49-F238E27FC236}">
                <a16:creationId xmlns:a16="http://schemas.microsoft.com/office/drawing/2014/main" id="{A54E3A0F-3C25-CB6F-412C-53299D74FC9F}"/>
              </a:ext>
            </a:extLst>
          </p:cNvPr>
          <p:cNvSpPr txBox="1"/>
          <p:nvPr/>
        </p:nvSpPr>
        <p:spPr>
          <a:xfrm>
            <a:off x="3648621"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27일</a:t>
            </a:r>
          </a:p>
        </p:txBody>
      </p:sp>
      <p:sp>
        <p:nvSpPr>
          <p:cNvPr id="129" name="타원 128">
            <a:extLst>
              <a:ext uri="{FF2B5EF4-FFF2-40B4-BE49-F238E27FC236}">
                <a16:creationId xmlns:a16="http://schemas.microsoft.com/office/drawing/2014/main" id="{8B34E54B-59F8-FB4D-CEC4-4B5848F7C560}"/>
              </a:ext>
            </a:extLst>
          </p:cNvPr>
          <p:cNvSpPr/>
          <p:nvPr/>
        </p:nvSpPr>
        <p:spPr>
          <a:xfrm>
            <a:off x="387748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99" name="TextBox 98">
            <a:extLst>
              <a:ext uri="{FF2B5EF4-FFF2-40B4-BE49-F238E27FC236}">
                <a16:creationId xmlns:a16="http://schemas.microsoft.com/office/drawing/2014/main" id="{53B93C17-3FD3-D6EE-FDDB-04EDF93F10E3}"/>
              </a:ext>
            </a:extLst>
          </p:cNvPr>
          <p:cNvSpPr txBox="1"/>
          <p:nvPr/>
        </p:nvSpPr>
        <p:spPr>
          <a:xfrm>
            <a:off x="6946251"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100" name="타원 99">
            <a:extLst>
              <a:ext uri="{FF2B5EF4-FFF2-40B4-BE49-F238E27FC236}">
                <a16:creationId xmlns:a16="http://schemas.microsoft.com/office/drawing/2014/main" id="{9AE1258E-3BEF-8BEC-2A4C-5E2DF185077B}"/>
              </a:ext>
            </a:extLst>
          </p:cNvPr>
          <p:cNvSpPr/>
          <p:nvPr/>
        </p:nvSpPr>
        <p:spPr>
          <a:xfrm>
            <a:off x="717511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16" name="그룹 15">
            <a:extLst>
              <a:ext uri="{FF2B5EF4-FFF2-40B4-BE49-F238E27FC236}">
                <a16:creationId xmlns:a16="http://schemas.microsoft.com/office/drawing/2014/main" id="{77391365-80BF-7F00-621D-CA55310CCAC4}"/>
              </a:ext>
            </a:extLst>
          </p:cNvPr>
          <p:cNvGrpSpPr/>
          <p:nvPr/>
        </p:nvGrpSpPr>
        <p:grpSpPr>
          <a:xfrm>
            <a:off x="6054076" y="4327490"/>
            <a:ext cx="1668094" cy="892507"/>
            <a:chOff x="147739" y="4679937"/>
            <a:chExt cx="1668094" cy="892507"/>
          </a:xfrm>
          <a:effectLst>
            <a:outerShdw blurRad="50800" dist="38100" dir="2700000" algn="tl" rotWithShape="0">
              <a:prstClr val="black">
                <a:alpha val="40000"/>
              </a:prstClr>
            </a:outerShdw>
          </a:effectLst>
        </p:grpSpPr>
        <p:cxnSp>
          <p:nvCxnSpPr>
            <p:cNvPr id="35" name="직선 화살표 연결선 34">
              <a:extLst>
                <a:ext uri="{FF2B5EF4-FFF2-40B4-BE49-F238E27FC236}">
                  <a16:creationId xmlns:a16="http://schemas.microsoft.com/office/drawing/2014/main" id="{463ED6E2-9651-4166-80F6-1E19766039E0}"/>
                </a:ext>
              </a:extLst>
            </p:cNvPr>
            <p:cNvCxnSpPr>
              <a:cxnSpLocks/>
            </p:cNvCxnSpPr>
            <p:nvPr/>
          </p:nvCxnSpPr>
          <p:spPr>
            <a:xfrm>
              <a:off x="1382831" y="4679937"/>
              <a:ext cx="0" cy="892507"/>
            </a:xfrm>
            <a:prstGeom prst="straightConnector1">
              <a:avLst/>
            </a:prstGeom>
            <a:ln>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6" name="직사각형 35">
              <a:extLst>
                <a:ext uri="{FF2B5EF4-FFF2-40B4-BE49-F238E27FC236}">
                  <a16:creationId xmlns:a16="http://schemas.microsoft.com/office/drawing/2014/main" id="{759A2804-C822-6514-AB52-33AEADC618F7}"/>
                </a:ext>
              </a:extLst>
            </p:cNvPr>
            <p:cNvSpPr/>
            <p:nvPr/>
          </p:nvSpPr>
          <p:spPr>
            <a:xfrm>
              <a:off x="147739" y="4679937"/>
              <a:ext cx="1668094" cy="296662"/>
            </a:xfrm>
            <a:prstGeom prst="rect">
              <a:avLst/>
            </a:prstGeom>
            <a:solidFill>
              <a:srgbClr val="74808A">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 투자심의위원회</a:t>
              </a:r>
              <a:r>
                <a:rPr kumimoji="0" lang="en-US" altLang="ko-KR"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[9/30]</a:t>
              </a: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19" name="TextBox 18">
            <a:extLst>
              <a:ext uri="{FF2B5EF4-FFF2-40B4-BE49-F238E27FC236}">
                <a16:creationId xmlns:a16="http://schemas.microsoft.com/office/drawing/2014/main" id="{39A7B024-B9AB-71BD-BEAA-BE016B6C55ED}"/>
              </a:ext>
            </a:extLst>
          </p:cNvPr>
          <p:cNvSpPr txBox="1"/>
          <p:nvPr/>
        </p:nvSpPr>
        <p:spPr>
          <a:xfrm>
            <a:off x="7614158" y="5764444"/>
            <a:ext cx="1296144" cy="203362"/>
          </a:xfrm>
          <a:prstGeom prst="rect">
            <a:avLst/>
          </a:prstGeom>
          <a:noFill/>
        </p:spPr>
        <p:txBody>
          <a:bodyPr wrap="none" tIns="0" bIns="0" rtlCol="0">
            <a:noAutofit/>
          </a:bodyPr>
          <a:lstStyle/>
          <a:p>
            <a:pPr marL="171450" marR="0" lvl="0" indent="-171450" defTabSz="457200" rtl="0" eaLnBrk="1" fontAlgn="auto" latinLnBrk="0" hangingPunct="1">
              <a:spcBef>
                <a:spcPts val="0"/>
              </a:spcBef>
              <a:spcAft>
                <a:spcPts val="0"/>
              </a:spcAft>
              <a:buClrTx/>
              <a:buSzTx/>
              <a:buFont typeface="Arial" panose="020B0604020202020204" pitchFamily="34" charset="0"/>
              <a:buChar char="•"/>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체결</a:t>
            </a:r>
          </a:p>
          <a:p>
            <a:pPr marL="171450" marR="0" lvl="0" indent="-171450" defTabSz="457200" rtl="0" eaLnBrk="1" fontAlgn="auto" latinLnBrk="0" hangingPunct="1">
              <a:spcBef>
                <a:spcPts val="0"/>
              </a:spcBef>
              <a:spcAft>
                <a:spcPts val="0"/>
              </a:spcAft>
              <a:buClrTx/>
              <a:buSzTx/>
              <a:buFont typeface="Arial" panose="020B0604020202020204" pitchFamily="34" charset="0"/>
              <a:buChar char="•"/>
              <a:tabLst/>
              <a:defRPr/>
            </a:pPr>
            <a:r>
              <a:rPr lang="ko-KR" altLang="en-US" sz="9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완료</a:t>
            </a:r>
          </a:p>
          <a:p>
            <a:pPr marL="171450" marR="0" lvl="0" indent="-171450" defTabSz="457200" rtl="0" eaLnBrk="1" fontAlgn="auto" latinLnBrk="0" hangingPunct="1">
              <a:spcBef>
                <a:spcPts val="0"/>
              </a:spcBef>
              <a:spcAft>
                <a:spcPts val="0"/>
              </a:spcAft>
              <a:buClrTx/>
              <a:buSzTx/>
              <a:buFont typeface="Arial" panose="020B0604020202020204" pitchFamily="34" charset="0"/>
              <a:buChar char="•"/>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defTabSz="457200" rtl="0" eaLnBrk="1" fontAlgn="auto" latinLnBrk="0" hangingPunct="1">
              <a:spcBef>
                <a:spcPts val="0"/>
              </a:spcBef>
              <a:spcAft>
                <a:spcPts val="0"/>
              </a:spcAft>
              <a:buClrTx/>
              <a:buSzTx/>
              <a:buFont typeface="Arial" panose="020B0604020202020204" pitchFamily="34" charset="0"/>
              <a:buChar char="•"/>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체결</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1F472091-6262-E5A6-705F-906C7932A00C}"/>
              </a:ext>
            </a:extLst>
          </p:cNvPr>
          <p:cNvSpPr txBox="1"/>
          <p:nvPr/>
        </p:nvSpPr>
        <p:spPr>
          <a:xfrm>
            <a:off x="7758174"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13일</a:t>
            </a:r>
          </a:p>
        </p:txBody>
      </p:sp>
      <p:sp>
        <p:nvSpPr>
          <p:cNvPr id="21" name="타원 20">
            <a:extLst>
              <a:ext uri="{FF2B5EF4-FFF2-40B4-BE49-F238E27FC236}">
                <a16:creationId xmlns:a16="http://schemas.microsoft.com/office/drawing/2014/main" id="{9CF824AA-60CE-FFD4-2C83-4B2C908A4346}"/>
              </a:ext>
            </a:extLst>
          </p:cNvPr>
          <p:cNvSpPr/>
          <p:nvPr/>
        </p:nvSpPr>
        <p:spPr>
          <a:xfrm>
            <a:off x="798704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30" name="그룹 29">
            <a:extLst>
              <a:ext uri="{FF2B5EF4-FFF2-40B4-BE49-F238E27FC236}">
                <a16:creationId xmlns:a16="http://schemas.microsoft.com/office/drawing/2014/main" id="{F52D1B80-0EC2-08C8-9469-555B869581D3}"/>
              </a:ext>
            </a:extLst>
          </p:cNvPr>
          <p:cNvGrpSpPr/>
          <p:nvPr/>
        </p:nvGrpSpPr>
        <p:grpSpPr>
          <a:xfrm>
            <a:off x="4589822" y="4986221"/>
            <a:ext cx="739915" cy="983038"/>
            <a:chOff x="4705046" y="4986221"/>
            <a:chExt cx="739915" cy="983038"/>
          </a:xfrm>
        </p:grpSpPr>
        <p:sp>
          <p:nvSpPr>
            <p:cNvPr id="26" name="TextBox 25">
              <a:extLst>
                <a:ext uri="{FF2B5EF4-FFF2-40B4-BE49-F238E27FC236}">
                  <a16:creationId xmlns:a16="http://schemas.microsoft.com/office/drawing/2014/main" id="{BC2AC806-326D-4F36-2226-BBD166E7B1DB}"/>
                </a:ext>
              </a:extLst>
            </p:cNvPr>
            <p:cNvSpPr txBox="1"/>
            <p:nvPr/>
          </p:nvSpPr>
          <p:spPr>
            <a:xfrm>
              <a:off x="4738537"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발기설립 완료</a:t>
              </a:r>
            </a:p>
          </p:txBody>
        </p:sp>
        <p:sp>
          <p:nvSpPr>
            <p:cNvPr id="27" name="TextBox 26">
              <a:extLst>
                <a:ext uri="{FF2B5EF4-FFF2-40B4-BE49-F238E27FC236}">
                  <a16:creationId xmlns:a16="http://schemas.microsoft.com/office/drawing/2014/main" id="{C859A1E0-2E46-A9D7-5879-E87608313D74}"/>
                </a:ext>
              </a:extLst>
            </p:cNvPr>
            <p:cNvSpPr txBox="1"/>
            <p:nvPr/>
          </p:nvSpPr>
          <p:spPr>
            <a:xfrm>
              <a:off x="4705046"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28일</a:t>
              </a:r>
            </a:p>
          </p:txBody>
        </p:sp>
        <p:sp>
          <p:nvSpPr>
            <p:cNvPr id="28" name="타원 27">
              <a:extLst>
                <a:ext uri="{FF2B5EF4-FFF2-40B4-BE49-F238E27FC236}">
                  <a16:creationId xmlns:a16="http://schemas.microsoft.com/office/drawing/2014/main" id="{EB389287-1073-4887-0213-7ACEF76434D8}"/>
                </a:ext>
              </a:extLst>
            </p:cNvPr>
            <p:cNvSpPr/>
            <p:nvPr/>
          </p:nvSpPr>
          <p:spPr>
            <a:xfrm>
              <a:off x="49339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 주요 조건</a:t>
              </a:r>
            </a:p>
          </p:txBody>
        </p:sp>
      </p:grpSp>
      <p:graphicFrame>
        <p:nvGraphicFramePr>
          <p:cNvPr id="8" name="표 7">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3888928633"/>
              </p:ext>
            </p:extLst>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 예정일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 10월 13일(</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체결</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체결당사자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코크렙안양 주식회사 (PFV) / 매수인: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코람코라이프로지스위탁관리부동산투자회사</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매매목적물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관양동 934 외 2필지 토지 및 지상 건물, 부속 동산·시설·설비 일체</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면적개요</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대지 15,287.5㎡ (4,624.47평) / 연면적 95,474.59㎡ (28,881.06평) / 임대면적 69,058.12㎡ (20,890.08평)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매매대금</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 2,700억원 (건물·동산 부가가치세 별도)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 방식</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거래종결일 현재의 법률상·사실상 현황 그대로(as-is, where-is) 매수</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거래종결시 지급금액</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매매대금 − 승계 임대차보증금 ± 정산금(세금·부담금·유틸리티·임대료 일할 정산) + 부가가치세</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임대차 승계</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매수인이 임대차계약 전부 승계, 보증금 반환의무 인수 (승계동의서 미징구가 거래종결에 영향 없음)</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r>
                        <a:rPr lang="ko-KR" altLang="en-US" sz="1000" kern="1200" baseline="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매도인의 진술 및 보장</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설립·존속, 권한, 제3자 동의, 상충 없음, 완전한 소유권(허용된 부담 제외), 소송 부존재 — 거래종결일로부터 2개월간 유효</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손해배상책임 한도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매매대금의 5% 상당액 (135억원), 청구기한 거래종결일로부터 2개월</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거래신고 / 준거법</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계약일 30일 이내 부동산 거래신고 / 대한민국 법, 서울중앙지방법원 전속관할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(1/2)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부동산매매계약서(clean, 2026-09-07) 제1~5조, 제9조 / 감정평가서(미래새한, 기준시점 2026-08-31). 상기 내용 중 일부는 협의 과정에서 변동될 수 있음.</a:t>
            </a:r>
          </a:p>
        </p:txBody>
      </p: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65F0-F335-9001-86A0-316D685CE569}"/>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3321FD17-662F-2125-8B77-E6AEA05FD08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7A7E55A-9090-62F6-4CF1-17D35684EDD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9B6D70F0-C694-405F-2E0E-48BCEB7466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2B5D0CDF-DC2D-D7FE-BD64-A93EA06A04A5}"/>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4421265-02B2-C0D5-5F84-BFE81D0071C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43EBC35A-2451-D1E9-AF5D-E6FB54DBA07E}"/>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조항 및 검토 의견</a:t>
              </a:r>
            </a:p>
          </p:txBody>
        </p:sp>
      </p:grpSp>
      <p:sp>
        <p:nvSpPr>
          <p:cNvPr id="13" name="직사각형 12">
            <a:extLst>
              <a:ext uri="{FF2B5EF4-FFF2-40B4-BE49-F238E27FC236}">
                <a16:creationId xmlns:a16="http://schemas.microsoft.com/office/drawing/2014/main" id="{5B572E70-AEA2-C681-F179-884219B16CB2}"/>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부동산매매계약서(clean, 2026-09-07) 제4~9조. 본 검토는 내부 검토이며 최종 법률자문은 외부 법무법인 확인이 필요함.</a:t>
            </a:r>
          </a:p>
        </p:txBody>
      </p:sp>
      <p:sp>
        <p:nvSpPr>
          <p:cNvPr id="14" name="TextBox 13">
            <a:extLst>
              <a:ext uri="{FF2B5EF4-FFF2-40B4-BE49-F238E27FC236}">
                <a16:creationId xmlns:a16="http://schemas.microsoft.com/office/drawing/2014/main" id="{7EDA7A46-1285-9E8A-7E90-E660D0CEE6DC}"/>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(2/2)</a:t>
            </a:r>
          </a:p>
        </p:txBody>
      </p:sp>
      <p:graphicFrame>
        <p:nvGraphicFramePr>
          <p:cNvPr id="15" name="신규표"/>
          <p:cNvGraphicFramePr>
            <a:graphicFrameLocks noGrp="1"/>
          </p:cNvGraphicFramePr>
          <p:nvPr>
            <p:extLst>
              <p:ext uri="{D42A27DB-BD31-4B8C-83A1-F6EECF244321}">
                <p14:modId xmlns:p14="http://schemas.microsoft.com/office/powerpoint/2010/main" val="827079413"/>
              </p:ext>
            </p:extLst>
          </p:nvPr>
        </p:nvGraphicFramePr>
        <p:xfrm>
          <a:off x="457200" y="1453896"/>
          <a:ext cx="9875520" cy="4754880"/>
        </p:xfrm>
        <a:graphic>
          <a:graphicData uri="http://schemas.openxmlformats.org/drawingml/2006/table">
            <a:tbl>
              <a:tblPr>
                <a:tableStyleId>{5940675A-B579-460E-94D1-54222C63F5DA}</a:tableStyleId>
              </a:tblPr>
              <a:tblGrid>
                <a:gridCol w="155448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조항</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제4조 진술 및 보장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설립·존속, 권한, 제3자 동의, 상충 없음, 완전한 소유권, 소송 부존재</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 권한, 실사 완료, 담보책임 배제 (as-is 매입 확인)</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실사 완료 진술로 미발견 하자는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부담</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제4.4조 존속기간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진술·보장은 거래종결일로부터 2개월간 유효, 기간 내 서면청구 없으면 면책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제5조 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거래종결 노력, 특정사항 통지, 거래신고, 임대차 승계, 매도인 운영 유지·협상 금지·세금 완납</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승계동의서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확보</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제6조 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확약·의무 이행, 진술·보장의 진실성, 중대한 부정적 법규·행정절차·소송 부존재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제7조 손해배상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 매매대금의 5%, 청구기한 거래종결일로부터 2개월, 간접·특별·징벌적 손해 배제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 135억원 수준</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제8조 해제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서면 합의 / 불가항력 30일 지속 / 중요 위반 후 10영업일 미시정 / 도산절차 / </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선행조건</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미충족</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위약금</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금액 [협의 중]</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제9조 일반조항</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양도 제한, 비밀유지(종결 후 1년), 비용 각자 부담, 준거법·전속관할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318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 구성 및 배당 구조</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(1/2)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v22(clean) 제1.2조·제2조·제5조 / IM(2026.09) p.15. 종류주식 셀다운 예정으로 계약서상 인수 주식수 표는 지분 구성 확정 후 보충 예정.</a:t>
            </a:r>
          </a:p>
        </p:txBody>
      </p:sp>
      <p:graphicFrame>
        <p:nvGraphicFramePr>
          <p:cNvPr id="17" name="신규표"/>
          <p:cNvGraphicFramePr>
            <a:graphicFrameLocks noGrp="1"/>
          </p:cNvGraphicFramePr>
          <p:nvPr>
            <p:extLst>
              <p:ext uri="{D42A27DB-BD31-4B8C-83A1-F6EECF244321}">
                <p14:modId xmlns:p14="http://schemas.microsoft.com/office/powerpoint/2010/main" val="1376695811"/>
              </p:ext>
            </p:extLst>
          </p:nvPr>
        </p:nvGraphicFramePr>
        <p:xfrm>
          <a:off x="457200" y="1453896"/>
          <a:ext cx="9875520" cy="1920240"/>
        </p:xfrm>
        <a:graphic>
          <a:graphicData uri="http://schemas.openxmlformats.org/drawingml/2006/table">
            <a:tbl>
              <a:tblPr>
                <a:tableStyleId>{5940675A-B579-460E-94D1-54222C63F5DA}</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금액(백만원)</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지분율</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배분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918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종류주식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누적확정 연 7.0%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없음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 (LOC 완료)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제2종 종류주식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누적확정 연 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 (LOC 완료)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제3종 종류주식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무배당·무의결권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없음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엘에프</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승인완료</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잔여배당 (초기 1년 연 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합계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98,800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4" name="그룹 1">
            <a:extLst>
              <a:ext uri="{FF2B5EF4-FFF2-40B4-BE49-F238E27FC236}">
                <a16:creationId xmlns:a16="http://schemas.microsoft.com/office/drawing/2014/main" id="{1E241363-A27F-F3D9-54EB-21A376A61587}"/>
              </a:ext>
            </a:extLst>
          </p:cNvPr>
          <p:cNvGrpSpPr/>
          <p:nvPr/>
        </p:nvGrpSpPr>
        <p:grpSpPr>
          <a:xfrm>
            <a:off x="458887" y="361188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자본거래 구조 (유상증자·유상감자)</a:t>
              </a:r>
            </a:p>
          </p:txBody>
        </p:sp>
      </p:grpSp>
      <p:graphicFrame>
        <p:nvGraphicFramePr>
          <p:cNvPr id="18" name="신규표"/>
          <p:cNvGraphicFramePr>
            <a:graphicFrameLocks noGrp="1"/>
          </p:cNvGraphicFramePr>
          <p:nvPr>
            <p:extLst>
              <p:ext uri="{D42A27DB-BD31-4B8C-83A1-F6EECF244321}">
                <p14:modId xmlns:p14="http://schemas.microsoft.com/office/powerpoint/2010/main" val="1975177706"/>
              </p:ext>
            </p:extLst>
          </p:nvPr>
        </p:nvGraphicFramePr>
        <p:xfrm>
          <a:off x="457200" y="3986784"/>
          <a:ext cx="9875520" cy="2322576"/>
        </p:xfrm>
        <a:graphic>
          <a:graphicData uri="http://schemas.openxmlformats.org/drawingml/2006/table">
            <a:tbl>
              <a:tblPr>
                <a:tableStyleId>{5940675A-B579-460E-94D1-54222C63F5DA}</a:tableStyleId>
              </a:tblPr>
              <a:tblGrid>
                <a:gridCol w="210312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5120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 순위 (제1.2조)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연 7.0%·제2종 연 7.5% 누적배당 → 제3종 무배당 → 보통주 잔여배당. 보통주는 초기 1년간 발행가액의 연 7.5%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협조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(자본준비금 감액 포함)</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유상증자 (제2.1~2.2조)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매매계약상 거래종결일 2영업일 전까지 이사회 결의, 주주별 납입예정일 15:00까지 출자금 전액 납입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유상감자 (제2.3조)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증자 완료 후 발기인(코람코라이프인프라리츠) 보유 보통주식 300,000주 전부를 감자비율 100%(1주당 1,000원)로 유상감자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제3종 유상감자 (제5조)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 내 유상감자로 소각</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㈜엘에프에 발행가액 기준 감자대금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지급</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채권자보호절차</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지연 시 최대 3개월 연장)</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 · 지배구조 · 양도 제한</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(2/2)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v22(clean) 제3~7조. 대괄호 항목은 협의 중. 본 검토는 내부 검토이며 최종 법률자문은 외부 법무법인 확인이 필요함.</a:t>
            </a:r>
          </a:p>
        </p:txBody>
      </p:sp>
      <p:graphicFrame>
        <p:nvGraphicFramePr>
          <p:cNvPr id="17" name="신규표"/>
          <p:cNvGraphicFramePr>
            <a:graphicFrameLocks noGrp="1"/>
          </p:cNvGraphicFramePr>
          <p:nvPr>
            <p:extLst>
              <p:ext uri="{D42A27DB-BD31-4B8C-83A1-F6EECF244321}">
                <p14:modId xmlns:p14="http://schemas.microsoft.com/office/powerpoint/2010/main" val="965355978"/>
              </p:ext>
            </p:extLst>
          </p:nvPr>
        </p:nvGraphicFramePr>
        <p:xfrm>
          <a:off x="457200" y="1453895"/>
          <a:ext cx="9875520" cy="4901366"/>
        </p:xfrm>
        <a:graphic>
          <a:graphicData uri="http://schemas.openxmlformats.org/drawingml/2006/table">
            <a:tbl>
              <a:tblPr>
                <a:tableStyleId>{5940675A-B579-460E-94D1-54222C63F5DA}</a:tableStyleId>
              </a:tblPr>
              <a:tblGrid>
                <a:gridCol w="173736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297654">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조항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24개월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응당일까지</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코람코라이프인프라리츠가</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전부를</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발행가액으로</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분할</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주식수</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비례</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제3.1~3.2조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제2종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12개월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응당일까지</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코람코라이프인프라리츠가</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제2종 전부를 발행가액으로 매입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제4.1~4.2조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 방식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지분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양수</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또는</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유상증자 후 구주감자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동일한 경제적 효과를 달성하는 거래 포함</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제3.2조·제4.2조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매입완료일 직전일까지 누적배당률 기준 최대한도액에서 기수령 배당을 공제한 금액을 매입금액과 함께 정산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제3.3~3.4조·제4.3~4.4조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575464">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 </a:t>
                      </a: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확약서 제출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인수의무기간</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도래 후 </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우선주에 대하여 </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코람코라이프인프라리츠로</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매도를 확약하며</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 이행 시 손해배상 및 </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위약벌</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부과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제3.5조·제4.5조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이사회·대표이사</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 [3]인 중 [2]인 및 대표이사를 코람코라이프인프라리츠가 지명, 나머지 1인과 감사는 주주총회 선임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제6.1~6.3조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양도 제한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 전원 서면동의 없이 양도·담보제공 금지, 정관에 주식양도 시 이사회 승인 명시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제7.1조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57546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셀다운·후속양도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인수인(우리투자증권·삼성증권)의 최초 셀다운은 KLI 동의 면제, </a:t>
                      </a: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 외 셀다운·후속양도는 KLI 사전 서면동의 필요</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제7.6조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주요 내용</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Ⅲ.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코람코 제1종·제2종 우선주 매입확약 공문(안)(투자자용) / 주주간계약서 v22 제3.5조·제4.5조. 발행회사명·주식수·문서번호는 확정 후 기재.</a:t>
            </a:r>
          </a:p>
        </p:txBody>
      </p:sp>
      <p:graphicFrame>
        <p:nvGraphicFramePr>
          <p:cNvPr id="17" name="신규표"/>
          <p:cNvGraphicFramePr>
            <a:graphicFrameLocks noGrp="1"/>
          </p:cNvGraphicFramePr>
          <p:nvPr>
            <p:extLst>
              <p:ext uri="{D42A27DB-BD31-4B8C-83A1-F6EECF244321}">
                <p14:modId xmlns:p14="http://schemas.microsoft.com/office/powerpoint/2010/main" val="2326794441"/>
              </p:ext>
            </p:extLst>
          </p:nvPr>
        </p:nvGraphicFramePr>
        <p:xfrm>
          <a:off x="457200" y="1453896"/>
          <a:ext cx="9875520" cy="2139696"/>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제1종 종류주식</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제2종 종류주식</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 주체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발행회사 / 기초자산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자리츠</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안양물류센터 (관양동 934 외 2필지)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우선배당률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24개월이 되는 달의 응당일</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12개월이 되는 달의 응당일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매입금액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(240억원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(500억원 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 (기준 일정 2026-10-13)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14" name="그룹 1">
            <a:extLst>
              <a:ext uri="{FF2B5EF4-FFF2-40B4-BE49-F238E27FC236}">
                <a16:creationId xmlns:a16="http://schemas.microsoft.com/office/drawing/2014/main" id="{1E241363-A27F-F3D9-54EB-21A376A61587}"/>
              </a:ext>
            </a:extLst>
          </p:cNvPr>
          <p:cNvGrpSpPr/>
          <p:nvPr/>
        </p:nvGrpSpPr>
        <p:grpSpPr>
          <a:xfrm>
            <a:off x="458887" y="3739896"/>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 매도확약서 대응 조건</a:t>
              </a:r>
            </a:p>
          </p:txBody>
        </p:sp>
      </p:grpSp>
      <p:graphicFrame>
        <p:nvGraphicFramePr>
          <p:cNvPr id="18" name="신규표"/>
          <p:cNvGraphicFramePr>
            <a:graphicFrameLocks noGrp="1"/>
          </p:cNvGraphicFramePr>
          <p:nvPr>
            <p:extLst>
              <p:ext uri="{D42A27DB-BD31-4B8C-83A1-F6EECF244321}">
                <p14:modId xmlns:p14="http://schemas.microsoft.com/office/powerpoint/2010/main" val="3223449578"/>
              </p:ext>
            </p:extLst>
          </p:nvPr>
        </p:nvGraphicFramePr>
        <p:xfrm>
          <a:off x="457200" y="4114800"/>
          <a:ext cx="9875520" cy="2651760"/>
        </p:xfrm>
        <a:graphic>
          <a:graphicData uri="http://schemas.openxmlformats.org/drawingml/2006/table">
            <a:tbl>
              <a:tblPr>
                <a:tableStyleId>{5940675A-B579-460E-94D1-54222C63F5DA}</a:tableStyleId>
              </a:tblPr>
              <a:tblGrid>
                <a:gridCol w="13716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(KLI리츠 → 종류주주)</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매도확약서 (종류주주 → KLI리츠)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의무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체결일에 KLI리츠가 각 종류주주에게 제출 (제3.5조·제4.5조)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같은 날 각 종류주주가 KLI리츠에 제출. 셀다운 양수인은 거래 완결 전 제출</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핵심 내용</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 내 대상주식 전부를 발행가액(25,000원/주)으로 매입 확약</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KLI리츠의 매도 요청일로부터 [*]일 내 동일 조건으로 매도 확약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영업인가 취득·소유권 확보 ② 종류주주의 완전한 소유권 ③ 부담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부존재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④ 매도확약서 제출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매입확약서와 동일 — 매도확약서 제출이 매입확약 효력 발생 조건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불이행 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미매입잔액에 연 5.0% 지연손해금, 초과 손해 별도 배상, 매입의무 존속</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미매도잔액에 연 5.0% 지연이자 포함 모든 손해 배상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효력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매입일 전일까지 종류주주, 매입일부터 KLI리츠 귀속 (5영업일 내 정산)</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매입 목적 외 사용 불가, 주주간계약과 상충 시 주주간계약 우선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7C20337-93FE-803D-3AD4-2779E20623E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F315987A-B3D0-CD05-A926-61AFE3518B1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FF4173C4-8E54-2961-16E6-5C58C9F4E0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3D46E3E1-8A61-9AE9-9709-E301CA190E0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1E53B446-C077-7F8B-0CAE-8773780097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5E21DCFE-6F6B-CE40-15FC-19965D943D4E}"/>
                </a:ext>
              </a:extLst>
            </p:cNvPr>
            <p:cNvSpPr txBox="1"/>
            <p:nvPr/>
          </p:nvSpPr>
          <p:spPr>
            <a:xfrm>
              <a:off x="417444" y="1652332"/>
              <a:ext cx="104462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참여확약서</a:t>
              </a:r>
            </a:p>
          </p:txBody>
        </p:sp>
      </p:grpSp>
      <p:sp>
        <p:nvSpPr>
          <p:cNvPr id="8" name="TextBox 7">
            <a:extLst>
              <a:ext uri="{FF2B5EF4-FFF2-40B4-BE49-F238E27FC236}">
                <a16:creationId xmlns:a16="http://schemas.microsoft.com/office/drawing/2014/main" id="{BFA5D19D-DA0C-9A26-F1EF-358A2715654C}"/>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1F17B364-A95C-7BC0-7FEC-902F11BD85AE}"/>
              </a:ext>
            </a:extLst>
          </p:cNvPr>
          <p:cNvGrpSpPr/>
          <p:nvPr/>
        </p:nvGrpSpPr>
        <p:grpSpPr>
          <a:xfrm>
            <a:off x="519697" y="1722986"/>
            <a:ext cx="2021707" cy="246221"/>
            <a:chOff x="455544" y="-592941"/>
            <a:chExt cx="2021707" cy="246221"/>
          </a:xfrm>
        </p:grpSpPr>
        <p:sp>
          <p:nvSpPr>
            <p:cNvPr id="10" name="TextBox 9">
              <a:extLst>
                <a:ext uri="{FF2B5EF4-FFF2-40B4-BE49-F238E27FC236}">
                  <a16:creationId xmlns:a16="http://schemas.microsoft.com/office/drawing/2014/main" id="{78CBE6C7-8F3F-6DE0-F500-3B52268A055C}"/>
                </a:ext>
              </a:extLst>
            </p:cNvPr>
            <p:cNvSpPr txBox="1"/>
            <p:nvPr/>
          </p:nvSpPr>
          <p:spPr>
            <a:xfrm>
              <a:off x="455544" y="-592941"/>
              <a:ext cx="202170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C5B3002B-B791-1D7D-49C8-CD946C0D2D9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4EF2E80-AD69-C0B5-63CD-8D55D43FCE4A}"/>
              </a:ext>
            </a:extLst>
          </p:cNvPr>
          <p:cNvGrpSpPr/>
          <p:nvPr/>
        </p:nvGrpSpPr>
        <p:grpSpPr>
          <a:xfrm>
            <a:off x="5489922" y="1722986"/>
            <a:ext cx="2246128" cy="246221"/>
            <a:chOff x="455544" y="-592941"/>
            <a:chExt cx="2246128" cy="246221"/>
          </a:xfrm>
        </p:grpSpPr>
        <p:sp>
          <p:nvSpPr>
            <p:cNvPr id="13" name="TextBox 12">
              <a:extLst>
                <a:ext uri="{FF2B5EF4-FFF2-40B4-BE49-F238E27FC236}">
                  <a16:creationId xmlns:a16="http://schemas.microsoft.com/office/drawing/2014/main" id="{3BCFE083-9238-F4C0-5A04-4E32A12CBDF9}"/>
                </a:ext>
              </a:extLst>
            </p:cNvPr>
            <p:cNvSpPr txBox="1"/>
            <p:nvPr/>
          </p:nvSpPr>
          <p:spPr>
            <a:xfrm>
              <a:off x="455544" y="-592941"/>
              <a:ext cx="2246128"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21C58825-62FC-4665-5B13-9CD2B78A6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7" name="그림 16">
            <a:extLst>
              <a:ext uri="{FF2B5EF4-FFF2-40B4-BE49-F238E27FC236}">
                <a16:creationId xmlns:a16="http://schemas.microsoft.com/office/drawing/2014/main" id="{6396858F-9D33-1B90-FB4E-A6DA60E16D87}"/>
              </a:ext>
            </a:extLst>
          </p:cNvPr>
          <p:cNvPicPr>
            <a:picLocks noChangeAspect="1"/>
          </p:cNvPicPr>
          <p:nvPr/>
        </p:nvPicPr>
        <p:blipFill>
          <a:blip r:embed="rId3"/>
          <a:stretch>
            <a:fillRect/>
          </a:stretch>
        </p:blipFill>
        <p:spPr>
          <a:xfrm>
            <a:off x="970472" y="2007358"/>
            <a:ext cx="3141863" cy="4495281"/>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4A49C404-4213-3078-E6C1-7BC81C074DC6}"/>
              </a:ext>
            </a:extLst>
          </p:cNvPr>
          <p:cNvPicPr>
            <a:picLocks noChangeAspect="1"/>
          </p:cNvPicPr>
          <p:nvPr/>
        </p:nvPicPr>
        <p:blipFill>
          <a:blip r:embed="rId4"/>
          <a:stretch>
            <a:fillRect/>
          </a:stretch>
        </p:blipFill>
        <p:spPr>
          <a:xfrm>
            <a:off x="5885966" y="2020609"/>
            <a:ext cx="3180531" cy="4495280"/>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4686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277B-EEA7-2F22-0529-1820DAE962D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4B52EC05-77DB-8DC9-1EC3-7FD1BD89987B}"/>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797F0050-974A-4AD6-73B3-8CFE5CC27C1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1DECC14-A89F-8052-57F0-B7CCD24696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03585A4F-7AE7-439E-02C0-6B72E4454F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5AC666AB-1B1A-0C70-62AF-6E0CD3A9E92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2122AE7-EEEF-B54B-F98A-B07F013882CD}"/>
                </a:ext>
              </a:extLst>
            </p:cNvPr>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참여의향서</a:t>
              </a:r>
            </a:p>
          </p:txBody>
        </p:sp>
      </p:grpSp>
      <p:grpSp>
        <p:nvGrpSpPr>
          <p:cNvPr id="9" name="그룹 8">
            <a:extLst>
              <a:ext uri="{FF2B5EF4-FFF2-40B4-BE49-F238E27FC236}">
                <a16:creationId xmlns:a16="http://schemas.microsoft.com/office/drawing/2014/main" id="{F7563E82-586F-BBA9-4697-1ABA3CAD530D}"/>
              </a:ext>
            </a:extLst>
          </p:cNvPr>
          <p:cNvGrpSpPr/>
          <p:nvPr/>
        </p:nvGrpSpPr>
        <p:grpSpPr>
          <a:xfrm>
            <a:off x="519697" y="1722986"/>
            <a:ext cx="1872629" cy="246221"/>
            <a:chOff x="455544" y="-592941"/>
            <a:chExt cx="1872629" cy="246221"/>
          </a:xfrm>
        </p:grpSpPr>
        <p:sp>
          <p:nvSpPr>
            <p:cNvPr id="10" name="TextBox 9">
              <a:extLst>
                <a:ext uri="{FF2B5EF4-FFF2-40B4-BE49-F238E27FC236}">
                  <a16:creationId xmlns:a16="http://schemas.microsoft.com/office/drawing/2014/main" id="{E884DA35-AB45-6C0F-FF1B-17891F4691FF}"/>
                </a:ext>
              </a:extLst>
            </p:cNvPr>
            <p:cNvSpPr txBox="1"/>
            <p:nvPr/>
          </p:nvSpPr>
          <p:spPr>
            <a:xfrm>
              <a:off x="455544" y="-592941"/>
              <a:ext cx="187262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우리은행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인수의향서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선</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599D5268-1ECB-F70E-C70E-34A62ECB240D}"/>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5DBBD0F-0939-146E-B3B0-9D7BA2457DBA}"/>
              </a:ext>
            </a:extLst>
          </p:cNvPr>
          <p:cNvGrpSpPr/>
          <p:nvPr/>
        </p:nvGrpSpPr>
        <p:grpSpPr>
          <a:xfrm>
            <a:off x="5489922" y="1722986"/>
            <a:ext cx="2212465" cy="246221"/>
            <a:chOff x="455544" y="-592941"/>
            <a:chExt cx="2212465" cy="246221"/>
          </a:xfrm>
        </p:grpSpPr>
        <p:sp>
          <p:nvSpPr>
            <p:cNvPr id="13" name="TextBox 12">
              <a:extLst>
                <a:ext uri="{FF2B5EF4-FFF2-40B4-BE49-F238E27FC236}">
                  <a16:creationId xmlns:a16="http://schemas.microsoft.com/office/drawing/2014/main" id="{14A88CD1-9576-D48A-9668-95CB38C8E6E2}"/>
                </a:ext>
              </a:extLst>
            </p:cNvPr>
            <p:cNvSpPr txBox="1"/>
            <p:nvPr/>
          </p:nvSpPr>
          <p:spPr>
            <a:xfrm>
              <a:off x="455544" y="-592941"/>
              <a:ext cx="221246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참여의향서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선</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D6F46E2B-BF91-E59B-402E-AFB094DBC77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FC0DEB9D-0E80-4CE4-EF9D-10F2E80C1203}"/>
              </a:ext>
            </a:extLst>
          </p:cNvPr>
          <p:cNvPicPr>
            <a:picLocks noChangeAspect="1"/>
          </p:cNvPicPr>
          <p:nvPr/>
        </p:nvPicPr>
        <p:blipFill>
          <a:blip r:embed="rId3"/>
          <a:stretch>
            <a:fillRect/>
          </a:stretch>
        </p:blipFill>
        <p:spPr>
          <a:xfrm>
            <a:off x="811011" y="2020609"/>
            <a:ext cx="3162629" cy="4495279"/>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19" name="그림 18">
            <a:extLst>
              <a:ext uri="{FF2B5EF4-FFF2-40B4-BE49-F238E27FC236}">
                <a16:creationId xmlns:a16="http://schemas.microsoft.com/office/drawing/2014/main" id="{804E61A6-3E44-EC85-C240-A7B9C5462D71}"/>
              </a:ext>
            </a:extLst>
          </p:cNvPr>
          <p:cNvPicPr>
            <a:picLocks noChangeAspect="1"/>
          </p:cNvPicPr>
          <p:nvPr/>
        </p:nvPicPr>
        <p:blipFill>
          <a:blip r:embed="rId4"/>
          <a:stretch>
            <a:fillRect/>
          </a:stretch>
        </p:blipFill>
        <p:spPr>
          <a:xfrm>
            <a:off x="5962536" y="2023831"/>
            <a:ext cx="3176837" cy="4492058"/>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17" name="TextBox 16">
            <a:extLst>
              <a:ext uri="{FF2B5EF4-FFF2-40B4-BE49-F238E27FC236}">
                <a16:creationId xmlns:a16="http://schemas.microsoft.com/office/drawing/2014/main" id="{E71FECEC-8289-830D-FDA0-D0434D3CBECB}"/>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41986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C2386C-E1D9-F300-0D07-AAA0F6B73025}"/>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33C2471-7675-DAE0-5778-4C4B8B1BEC7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BA508E2D-CC89-54DE-A964-BE5C04887B5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6108FAF1-A580-F67E-3ADF-B8F1790DAB7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86C77C4D-122E-5753-B476-01C4A93961C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B0CFBE6E-D334-3D36-2E26-66E1320AC839}"/>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당사 예상수익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48FD46C8-8498-35EC-48BF-FA75B1D69172}"/>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당사 예상수익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9" name="표 8">
            <a:extLst>
              <a:ext uri="{FF2B5EF4-FFF2-40B4-BE49-F238E27FC236}">
                <a16:creationId xmlns:a16="http://schemas.microsoft.com/office/drawing/2014/main" id="{CFD9F141-C04C-2146-1608-E28C80EF8167}"/>
              </a:ext>
            </a:extLst>
          </p:cNvPr>
          <p:cNvGraphicFramePr>
            <a:graphicFrameLocks noGrp="1"/>
          </p:cNvGraphicFramePr>
          <p:nvPr>
            <p:extLst>
              <p:ext uri="{D42A27DB-BD31-4B8C-83A1-F6EECF244321}">
                <p14:modId xmlns:p14="http://schemas.microsoft.com/office/powerpoint/2010/main" val="994531999"/>
              </p:ext>
            </p:extLst>
          </p:nvPr>
        </p:nvGraphicFramePr>
        <p:xfrm>
          <a:off x="449263" y="1583593"/>
          <a:ext cx="9799734" cy="2784549"/>
        </p:xfrm>
        <a:graphic>
          <a:graphicData uri="http://schemas.openxmlformats.org/drawingml/2006/table">
            <a:tbl>
              <a:tblPr firstRow="1" bandRow="1">
                <a:tableStyleId>{5940675A-B579-460E-94D1-54222C63F5DA}</a:tableStyleId>
              </a:tblPr>
              <a:tblGrid>
                <a:gridCol w="1113433">
                  <a:extLst>
                    <a:ext uri="{9D8B030D-6E8A-4147-A177-3AD203B41FA5}">
                      <a16:colId xmlns:a16="http://schemas.microsoft.com/office/drawing/2014/main" val="20000"/>
                    </a:ext>
                  </a:extLst>
                </a:gridCol>
                <a:gridCol w="1430956">
                  <a:extLst>
                    <a:ext uri="{9D8B030D-6E8A-4147-A177-3AD203B41FA5}">
                      <a16:colId xmlns:a16="http://schemas.microsoft.com/office/drawing/2014/main" val="20001"/>
                    </a:ext>
                  </a:extLst>
                </a:gridCol>
                <a:gridCol w="1612756">
                  <a:extLst>
                    <a:ext uri="{9D8B030D-6E8A-4147-A177-3AD203B41FA5}">
                      <a16:colId xmlns:a16="http://schemas.microsoft.com/office/drawing/2014/main" val="20004"/>
                    </a:ext>
                  </a:extLst>
                </a:gridCol>
                <a:gridCol w="5642589">
                  <a:extLst>
                    <a:ext uri="{9D8B030D-6E8A-4147-A177-3AD203B41FA5}">
                      <a16:colId xmlns:a16="http://schemas.microsoft.com/office/drawing/2014/main" val="20003"/>
                    </a:ext>
                  </a:extLst>
                </a:gridCol>
              </a:tblGrid>
              <a:tr h="336549">
                <a:tc gridSpan="2">
                  <a:txBody>
                    <a:bodyPr/>
                    <a:lstStyle/>
                    <a:p>
                      <a:pPr algn="ctr" latinLnBrk="1">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lnSpc>
                          <a:spcPct val="150000"/>
                        </a:lnSpc>
                        <a:buNone/>
                      </a:pPr>
                      <a:endParaRPr lang="ko-KR" altLang="en-US" sz="105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10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345B86"/>
                    </a:solidFill>
                  </a:tcPr>
                </a:tc>
                <a:tc>
                  <a:txBody>
                    <a:bodyPr/>
                    <a:lstStyle/>
                    <a:p>
                      <a:pPr algn="ctr" latinLnBrk="1">
                        <a:lnSpc>
                          <a:spcPct val="150000"/>
                        </a:lnSpc>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 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lnSpc>
                          <a:spcPct val="150000"/>
                        </a:lnSpc>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360000">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운용수익</a:t>
                      </a:r>
                      <a:endParaRPr lang="ko-KR" altLang="en-US" sz="1100" b="1"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매입금액 </a:t>
                      </a:r>
                      <a:r>
                        <a:rPr lang="en-US" altLang="ko-KR"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1000" b="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0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6000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66.7억원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None/>
                      </a:pPr>
                      <a:r>
                        <a:rPr lang="en-US" altLang="ko-KR"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2,989억원 (매입장부금액의 0.223%/연) x 운용기간 약 10년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60000">
                <a:tc vMerge="1">
                  <a:txBody>
                    <a:bodyPr/>
                    <a:lstStyle/>
                    <a:p>
                      <a:pPr latinLnBrk="1">
                        <a:buNone/>
                      </a:pPr>
                      <a:endParaRPr lang="ko-KR" altLang="en-US"/>
                    </a:p>
                  </a:txBody>
                  <a:tcPr>
                    <a:lnT w="3175" cap="flat" cmpd="sng" algn="ctr">
                      <a:solidFill>
                        <a:schemeClr val="tx1">
                          <a:lumMod val="50000"/>
                          <a:lumOff val="50000"/>
                        </a:schemeClr>
                      </a:solidFill>
                      <a:prstDash val="solid"/>
                      <a:round/>
                      <a:headEnd type="none" w="med" len="med"/>
                      <a:tailEnd type="none" w="med" len="med"/>
                    </a:lnT>
                  </a:tcPr>
                </a:tc>
                <a:tc>
                  <a:txBody>
                    <a:bodyPr/>
                    <a:lstStyle/>
                    <a:p>
                      <a:pPr algn="l" latinLnBrk="1">
                        <a:buNone/>
                      </a:pPr>
                      <a:r>
                        <a:rPr lang="ko-KR" altLang="en-US"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고정보수</a:t>
                      </a:r>
                      <a:r>
                        <a:rPr lang="en-US" altLang="ko-KR"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소계</a:t>
                      </a:r>
                      <a:r>
                        <a:rPr lang="en-US" altLang="ko-KR"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80.2억원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171450" indent="-171450" algn="l" latinLnBrk="1">
                        <a:lnSpc>
                          <a:spcPct val="150000"/>
                        </a:lnSpc>
                        <a:buFont typeface="Arial" panose="020B0604020202020204" pitchFamily="34" charset="0"/>
                        <a:buNone/>
                      </a:pPr>
                      <a:endParaRPr lang="ko-KR" altLang="en-US" sz="1100" b="0" u="sng"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651194603"/>
                  </a:ext>
                </a:extLst>
              </a:tr>
              <a:tr h="504000">
                <a:tc vMerge="1">
                  <a:txBody>
                    <a:bodyPr/>
                    <a:lstStyle/>
                    <a:p>
                      <a:pPr latinLnBrk="1">
                        <a:buNone/>
                      </a:pPr>
                      <a:endParaRPr lang="ko-KR" altLang="en-US"/>
                    </a:p>
                  </a:txBody>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0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513910"/>
                  </a:ext>
                </a:extLst>
              </a:tr>
              <a:tr h="504000">
                <a:tc vMerge="1">
                  <a:txBody>
                    <a:bodyPr/>
                    <a:lstStyle/>
                    <a:p>
                      <a:pPr latinLnBrk="1">
                        <a:buNone/>
                      </a:pPr>
                      <a:endParaRPr lang="ko-KR" altLang="en-US"/>
                    </a:p>
                  </a:txBody>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매각성과보수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0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a:t>
                      </a:r>
                      <a:r>
                        <a:rPr lang="ko-KR" altLang="en-US" sz="1000" b="0"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차감후</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이익</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매입장부금액</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매각부대비용</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853191"/>
                  </a:ext>
                </a:extLst>
              </a:tr>
              <a:tr h="36000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1"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223.8억원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indent="0" algn="l" latinLnBrk="1">
                        <a:lnSpc>
                          <a:spcPct val="150000"/>
                        </a:lnSpc>
                        <a:buFont typeface="Arial" panose="020B0604020202020204" pitchFamily="34" charset="0"/>
                        <a:buNone/>
                      </a:pP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ACE028EC-FB3D-2FFD-08AB-44B2CE25272D}"/>
              </a:ext>
            </a:extLst>
          </p:cNvPr>
          <p:cNvSpPr/>
          <p:nvPr/>
        </p:nvSpPr>
        <p:spPr>
          <a:xfrm>
            <a:off x="458887" y="4377020"/>
            <a:ext cx="9793287" cy="276999"/>
          </a:xfrm>
          <a:prstGeom prst="rect">
            <a:avLst/>
          </a:prstGeom>
        </p:spPr>
        <p:txBody>
          <a:bodyPr wrap="square">
            <a:spAutoFit/>
          </a:bodyPr>
          <a:lstStyle/>
          <a:p>
            <a:pPr marL="228600" marR="0" lvl="0" indent="-228600" algn="l" defTabSz="457200" rtl="0" eaLnBrk="1" fontAlgn="auto" latinLnBrk="0" hangingPunct="1">
              <a:lnSpc>
                <a:spcPct val="120000"/>
              </a:lnSpc>
              <a:spcBef>
                <a:spcPts val="0"/>
              </a:spcBef>
              <a:spcAft>
                <a:spcPts val="0"/>
              </a:spcAft>
              <a:buClrTx/>
              <a:buSzTx/>
              <a:buAutoNum type="arabicParenR"/>
              <a:tabLst/>
              <a:defRPr/>
            </a:pPr>
            <a:r>
              <a:rPr lang="ko-KR" altLang="en-US"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취득부대비용을 제외한 매입 금액</a:t>
            </a:r>
            <a:endParaRPr lang="en-US" altLang="ko-KR"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76341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en-US" altLang="ko-KR"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Information Memorandum</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사업개요</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 및 임대현황</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defTabSz="414772" latinLnBrk="0">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Miliestone</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a:p>
            <a:pPr>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1227259"/>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CPM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통합관리 </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리스크 요인분석 및 관리방안</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주요 리스크 및 대응방안</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 </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별첨</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대상 물건 설명자료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500" dirty="0">
                <a:solidFill>
                  <a:schemeClr val="tx1"/>
                </a:solidFill>
              </a:rPr>
              <a:t>수도권 프라임</a:t>
            </a:r>
            <a:r>
              <a:rPr lang="en-US" altLang="ko-KR" sz="1500" dirty="0">
                <a:solidFill>
                  <a:schemeClr val="tx1"/>
                </a:solidFill>
              </a:rPr>
              <a:t> </a:t>
            </a:r>
            <a:r>
              <a:rPr lang="ko-KR" altLang="en-US" sz="1500" dirty="0">
                <a:solidFill>
                  <a:schemeClr val="tx1"/>
                </a:solidFill>
              </a:rPr>
              <a:t>물류센터를 경쟁력 있는 가격에 투자할 수 있는 기회로 향후 자산가치의 상승 기대</a:t>
            </a:r>
            <a:endParaRPr lang="en-US" altLang="ko-KR" sz="1500" dirty="0">
              <a:solidFill>
                <a:schemeClr val="tx1"/>
              </a:solidFill>
            </a:endParaRPr>
          </a:p>
          <a:p>
            <a:pPr marL="180000" indent="-216000"/>
            <a:r>
              <a:rPr lang="ko-KR" altLang="en-US" sz="1500" dirty="0" err="1">
                <a:solidFill>
                  <a:schemeClr val="tx1"/>
                </a:solidFill>
              </a:rPr>
              <a:t>공실률</a:t>
            </a:r>
            <a:r>
              <a:rPr lang="ko-KR" altLang="en-US" sz="1500" dirty="0">
                <a:solidFill>
                  <a:schemeClr val="tx1"/>
                </a:solidFill>
              </a:rPr>
              <a:t> </a:t>
            </a:r>
            <a:r>
              <a:rPr lang="en-US" altLang="ko-KR" sz="1500" dirty="0">
                <a:solidFill>
                  <a:schemeClr val="tx1"/>
                </a:solidFill>
              </a:rPr>
              <a:t>0% </a:t>
            </a:r>
            <a:r>
              <a:rPr lang="ko-KR" altLang="en-US" sz="1500" dirty="0">
                <a:solidFill>
                  <a:schemeClr val="tx1"/>
                </a:solidFill>
              </a:rPr>
              <a:t>대의 안정적 운영자산으로 향후 임대료 상승 시 추가 수익률 확보 가능</a:t>
            </a:r>
          </a:p>
        </p:txBody>
      </p:sp>
      <p:grpSp>
        <p:nvGrpSpPr>
          <p:cNvPr id="56" name="그룹 55">
            <a:extLst>
              <a:ext uri="{FF2B5EF4-FFF2-40B4-BE49-F238E27FC236}">
                <a16:creationId xmlns:a16="http://schemas.microsoft.com/office/drawing/2014/main" id="{AE05554B-E9CD-E060-E1E6-B0E8DD47722C}"/>
              </a:ext>
            </a:extLst>
          </p:cNvPr>
          <p:cNvGrpSpPr/>
          <p:nvPr/>
        </p:nvGrpSpPr>
        <p:grpSpPr>
          <a:xfrm>
            <a:off x="341350" y="2213297"/>
            <a:ext cx="1941736" cy="1206500"/>
            <a:chOff x="341350" y="2213297"/>
            <a:chExt cx="1941736"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chemeClr val="accent5">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algn="l"/>
              <a:r>
                <a:rPr lang="ko-KR" altLang="en-US" sz="1000" dirty="0">
                  <a:solidFill>
                    <a:srgbClr val="666666"/>
                  </a:solidFill>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2,700</a:t>
              </a:r>
              <a:r>
                <a:rPr lang="ko-KR" altLang="en-US" sz="2200" b="1" dirty="0">
                  <a:solidFill>
                    <a:srgbClr val="1F1F1F"/>
                  </a:solidFill>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algn="l"/>
              <a:r>
                <a:rPr lang="ko-KR" altLang="en-US" sz="900" dirty="0">
                  <a:solidFill>
                    <a:srgbClr val="555555"/>
                  </a:solidFill>
                  <a:latin typeface="KoPubWorld돋움체 Light"/>
                  <a:ea typeface="KoPubWorld돋움체 Light"/>
                  <a:cs typeface="KoPubWorld돋움체 Light"/>
                </a:rPr>
                <a:t>감정가 3,345억 대비 −19.3%</a:t>
              </a:r>
            </a:p>
            <a:p>
              <a:pPr algn="l"/>
              <a:r>
                <a:rPr lang="en-US" altLang="ko-KR" sz="900" dirty="0" err="1">
                  <a:solidFill>
                    <a:srgbClr val="555555"/>
                  </a:solidFill>
                  <a:latin typeface="KoPubWorld돋움체 Light"/>
                  <a:ea typeface="KoPubWorld돋움체 Light"/>
                  <a:cs typeface="KoPubWorld돋움체 Light"/>
                </a:rPr>
                <a:t>Cap.Rate</a:t>
              </a:r>
              <a:r>
                <a:rPr lang="en-US" altLang="ko-KR" sz="900" dirty="0">
                  <a:solidFill>
                    <a:srgbClr val="555555"/>
                  </a:solidFill>
                  <a:latin typeface="KoPubWorld돋움체 Light"/>
                  <a:ea typeface="KoPubWorld돋움체 Light"/>
                  <a:cs typeface="KoPubWorld돋움체 Light"/>
                </a:rPr>
                <a:t> – 4.9%*</a:t>
              </a:r>
              <a:endParaRPr lang="ko-KR" altLang="en-US" sz="900" dirty="0">
                <a:solidFill>
                  <a:srgbClr val="555555"/>
                </a:solidFill>
                <a:latin typeface="KoPubWorld돋움체 Light"/>
                <a:ea typeface="KoPubWorld돋움체 Light"/>
                <a:cs typeface="KoPubWorld돋움체 Light"/>
              </a:endParaRPr>
            </a:p>
          </p:txBody>
        </p:sp>
      </p:grpSp>
      <p:grpSp>
        <p:nvGrpSpPr>
          <p:cNvPr id="55" name="그룹 54">
            <a:extLst>
              <a:ext uri="{FF2B5EF4-FFF2-40B4-BE49-F238E27FC236}">
                <a16:creationId xmlns:a16="http://schemas.microsoft.com/office/drawing/2014/main" id="{1576D645-7BD9-BB56-A1D4-A07BD2137393}"/>
              </a:ext>
            </a:extLst>
          </p:cNvPr>
          <p:cNvGrpSpPr/>
          <p:nvPr/>
        </p:nvGrpSpPr>
        <p:grpSpPr>
          <a:xfrm>
            <a:off x="2349193" y="2213297"/>
            <a:ext cx="1941736" cy="1206500"/>
            <a:chOff x="2367052" y="2213297"/>
            <a:chExt cx="1941736" cy="1206500"/>
          </a:xfrm>
        </p:grpSpPr>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chemeClr val="bg1">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LTV (</a:t>
                </a:r>
                <a:r>
                  <a:rPr lang="ko-KR" altLang="en-US" sz="1000" dirty="0">
                    <a:solidFill>
                      <a:srgbClr val="666666"/>
                    </a:solidFill>
                    <a:latin typeface="KoPubWorld돋움체 Light"/>
                    <a:ea typeface="KoPubWorld돋움체 Light"/>
                    <a:cs typeface="KoPubWorld돋움체 Light"/>
                  </a:rPr>
                  <a:t>감정가 기준</a:t>
                </a:r>
                <a:r>
                  <a:rPr lang="en-US" altLang="ko-KR" sz="1000" dirty="0">
                    <a:solidFill>
                      <a:srgbClr val="666666"/>
                    </a:solidFill>
                    <a:latin typeface="KoPubWorld돋움체 Light"/>
                    <a:ea typeface="KoPubWorld돋움체 Light"/>
                    <a:cs typeface="KoPubWorld돋움체 Light"/>
                  </a:rPr>
                  <a:t>)</a:t>
                </a:r>
                <a:endParaRPr lang="ko-KR" altLang="en-US" sz="1000" dirty="0">
                  <a:solidFill>
                    <a:srgbClr val="666666"/>
                  </a:solidFill>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59.8%</a:t>
                </a:r>
                <a:endParaRPr lang="ko-KR" altLang="en-US" sz="2200" b="1" dirty="0">
                  <a:solidFill>
                    <a:srgbClr val="1F1F1F"/>
                  </a:solidFill>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r>
                  <a:rPr lang="ko-KR" altLang="en-US" sz="900" dirty="0">
                    <a:solidFill>
                      <a:srgbClr val="555555"/>
                    </a:solidFill>
                    <a:latin typeface="KoPubWorld돋움체 Light"/>
                    <a:ea typeface="KoPubWorld돋움체 Light"/>
                    <a:cs typeface="KoPubWorld돋움체 Light"/>
                  </a:rPr>
                  <a:t>보증금</a:t>
                </a:r>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선순위</a:t>
                </a:r>
                <a:r>
                  <a:rPr lang="en-US" altLang="ko-KR" sz="900" dirty="0">
                    <a:solidFill>
                      <a:srgbClr val="555555"/>
                    </a:solidFill>
                    <a:latin typeface="KoPubWorld돋움체 Light"/>
                    <a:ea typeface="KoPubWorld돋움체 Light"/>
                    <a:cs typeface="KoPubWorld돋움체 Light"/>
                  </a:rPr>
                  <a:t>·</a:t>
                </a:r>
                <a:r>
                  <a:rPr lang="ko-KR" altLang="en-US" sz="900" dirty="0" err="1">
                    <a:solidFill>
                      <a:srgbClr val="555555"/>
                    </a:solidFill>
                    <a:latin typeface="KoPubWorld돋움체 Light"/>
                    <a:ea typeface="KoPubWorld돋움체 Light"/>
                    <a:cs typeface="KoPubWorld돋움체 Light"/>
                  </a:rPr>
                  <a:t>중순위</a:t>
                </a:r>
                <a:r>
                  <a:rPr lang="ko-KR" altLang="en-US" sz="900" dirty="0">
                    <a:solidFill>
                      <a:srgbClr val="555555"/>
                    </a:solidFill>
                    <a:latin typeface="KoPubWorld돋움체 Light"/>
                    <a:ea typeface="KoPubWorld돋움체 Light"/>
                    <a:cs typeface="KoPubWorld돋움체 Light"/>
                  </a:rPr>
                  <a:t> 포함</a:t>
                </a:r>
                <a:r>
                  <a:rPr lang="en-US" altLang="ko-KR" sz="900" dirty="0">
                    <a:solidFill>
                      <a:srgbClr val="555555"/>
                    </a:solidFill>
                    <a:latin typeface="KoPubWorld돋움체 Light"/>
                    <a:ea typeface="KoPubWorld돋움체 Light"/>
                    <a:cs typeface="KoPubWorld돋움체 Light"/>
                  </a:rPr>
                  <a:t> </a:t>
                </a:r>
              </a:p>
              <a:p>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매도인 제시 </a:t>
                </a:r>
                <a:r>
                  <a:rPr lang="ko-KR" altLang="en-US" sz="900" dirty="0" err="1">
                    <a:solidFill>
                      <a:srgbClr val="555555"/>
                    </a:solidFill>
                    <a:latin typeface="KoPubWorld돋움체 Light"/>
                    <a:ea typeface="KoPubWorld돋움체 Light"/>
                    <a:cs typeface="KoPubWorld돋움체 Light"/>
                  </a:rPr>
                  <a:t>담보감정가</a:t>
                </a:r>
                <a:r>
                  <a:rPr lang="ko-KR" altLang="en-US" sz="900" dirty="0">
                    <a:solidFill>
                      <a:srgbClr val="555555"/>
                    </a:solidFill>
                    <a:latin typeface="KoPubWorld돋움체 Light"/>
                    <a:ea typeface="KoPubWorld돋움체 Light"/>
                    <a:cs typeface="KoPubWorld돋움체 Light"/>
                  </a:rPr>
                  <a:t> 기준</a:t>
                </a:r>
                <a:r>
                  <a:rPr lang="en-US" altLang="ko-KR" sz="900" dirty="0">
                    <a:solidFill>
                      <a:srgbClr val="555555"/>
                    </a:solidFill>
                    <a:latin typeface="KoPubWorld돋움체 Light"/>
                    <a:ea typeface="KoPubWorld돋움체 Light"/>
                    <a:cs typeface="KoPubWorld돋움체 Light"/>
                  </a:rPr>
                  <a:t>)</a:t>
                </a:r>
                <a:endParaRPr lang="ko-KR" altLang="en-US" sz="900" dirty="0">
                  <a:solidFill>
                    <a:srgbClr val="555555"/>
                  </a:solidFill>
                  <a:latin typeface="KoPubWorld돋움체 Light"/>
                  <a:ea typeface="KoPubWorld돋움체 Light"/>
                  <a:cs typeface="KoPubWorld돋움체 Light"/>
                </a:endParaRPr>
              </a:p>
            </p:txBody>
          </p:sp>
        </p:grpSp>
      </p:grpSp>
      <p:grpSp>
        <p:nvGrpSpPr>
          <p:cNvPr id="51" name="그룹 50">
            <a:extLst>
              <a:ext uri="{FF2B5EF4-FFF2-40B4-BE49-F238E27FC236}">
                <a16:creationId xmlns:a16="http://schemas.microsoft.com/office/drawing/2014/main" id="{4B60B213-CEFB-9F68-4A51-1FFC6A46493D}"/>
              </a:ext>
            </a:extLst>
          </p:cNvPr>
          <p:cNvGrpSpPr/>
          <p:nvPr/>
        </p:nvGrpSpPr>
        <p:grpSpPr>
          <a:xfrm>
            <a:off x="4357036" y="2213297"/>
            <a:ext cx="1941736" cy="1206500"/>
            <a:chOff x="4315051"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15051" y="2213297"/>
              <a:ext cx="41983" cy="1206500"/>
            </a:xfrm>
            <a:prstGeom prst="rect">
              <a:avLst/>
            </a:prstGeom>
            <a:solidFill>
              <a:schemeClr val="accent2">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3" name="TextBox 22">
              <a:extLst>
                <a:ext uri="{FF2B5EF4-FFF2-40B4-BE49-F238E27FC236}">
                  <a16:creationId xmlns:a16="http://schemas.microsoft.com/office/drawing/2014/main" id="{BE3C658D-81DA-4C16-9F82-281FB7ECD01E}"/>
                </a:ext>
              </a:extLst>
            </p:cNvPr>
            <p:cNvSpPr txBox="1"/>
            <p:nvPr/>
          </p:nvSpPr>
          <p:spPr>
            <a:xfrm>
              <a:off x="4441001"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1</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441001"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7.0%</a:t>
              </a:r>
              <a:endParaRPr lang="ko-KR" altLang="en-US" sz="2200" b="1" dirty="0">
                <a:solidFill>
                  <a:srgbClr val="1F1F1F"/>
                </a:solidFill>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441001"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7.1%</a:t>
              </a:r>
            </a:p>
          </p:txBody>
        </p:sp>
      </p:grpSp>
      <p:grpSp>
        <p:nvGrpSpPr>
          <p:cNvPr id="54" name="그룹 53">
            <a:extLst>
              <a:ext uri="{FF2B5EF4-FFF2-40B4-BE49-F238E27FC236}">
                <a16:creationId xmlns:a16="http://schemas.microsoft.com/office/drawing/2014/main" id="{46778238-3527-D098-3B29-ED25E17E6A09}"/>
              </a:ext>
            </a:extLst>
          </p:cNvPr>
          <p:cNvGrpSpPr/>
          <p:nvPr/>
        </p:nvGrpSpPr>
        <p:grpSpPr>
          <a:xfrm>
            <a:off x="8372722" y="2213297"/>
            <a:ext cx="1941736" cy="1206500"/>
            <a:chOff x="8372722" y="2213297"/>
            <a:chExt cx="1941736" cy="1206500"/>
          </a:xfrm>
        </p:grpSpPr>
        <p:sp>
          <p:nvSpPr>
            <p:cNvPr id="26" name="직사각형 25">
              <a:extLst>
                <a:ext uri="{FF2B5EF4-FFF2-40B4-BE49-F238E27FC236}">
                  <a16:creationId xmlns:a16="http://schemas.microsoft.com/office/drawing/2014/main" id="{F02CC458-68CE-4525-9C6F-D6E75CC16EBE}"/>
                </a:ext>
              </a:extLst>
            </p:cNvPr>
            <p:cNvSpPr/>
            <p:nvPr/>
          </p:nvSpPr>
          <p:spPr>
            <a:xfrm>
              <a:off x="837272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7" name="직사각형 26">
              <a:extLst>
                <a:ext uri="{FF2B5EF4-FFF2-40B4-BE49-F238E27FC236}">
                  <a16:creationId xmlns:a16="http://schemas.microsoft.com/office/drawing/2014/main" id="{8C6D2269-FD9E-4D88-883C-A2F4C17F8261}"/>
                </a:ext>
              </a:extLst>
            </p:cNvPr>
            <p:cNvSpPr/>
            <p:nvPr/>
          </p:nvSpPr>
          <p:spPr>
            <a:xfrm>
              <a:off x="8372722" y="2213297"/>
              <a:ext cx="41983" cy="1206500"/>
            </a:xfrm>
            <a:prstGeom prst="rect">
              <a:avLst/>
            </a:prstGeom>
            <a:solidFill>
              <a:schemeClr val="accent6">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8" name="TextBox 27">
              <a:extLst>
                <a:ext uri="{FF2B5EF4-FFF2-40B4-BE49-F238E27FC236}">
                  <a16:creationId xmlns:a16="http://schemas.microsoft.com/office/drawing/2014/main" id="{A8F7D32F-6910-40A9-8518-41A351DFAC85}"/>
                </a:ext>
              </a:extLst>
            </p:cNvPr>
            <p:cNvSpPr txBox="1"/>
            <p:nvPr/>
          </p:nvSpPr>
          <p:spPr>
            <a:xfrm>
              <a:off x="8498673" y="2340297"/>
              <a:ext cx="1731818" cy="203200"/>
            </a:xfrm>
            <a:prstGeom prst="rect">
              <a:avLst/>
            </a:prstGeom>
            <a:noFill/>
          </p:spPr>
          <p:txBody>
            <a:bodyPr vertOverflow="overflow" vert="horz" wrap="square" rtlCol="0" anchor="t">
              <a:noAutofit/>
            </a:bodyPr>
            <a:lstStyle/>
            <a:p>
              <a:pPr algn="l"/>
              <a:r>
                <a:rPr lang="ko-KR" altLang="en-US" sz="1000" dirty="0" err="1">
                  <a:solidFill>
                    <a:srgbClr val="666666"/>
                  </a:solidFill>
                  <a:latin typeface="KoPubWorld돋움체 Light"/>
                  <a:ea typeface="KoPubWorld돋움체 Light"/>
                  <a:cs typeface="KoPubWorld돋움체 Light"/>
                </a:rPr>
                <a:t>보통주</a:t>
              </a:r>
              <a:r>
                <a:rPr lang="ko-KR" altLang="en-US" sz="1000" dirty="0">
                  <a:solidFill>
                    <a:srgbClr val="666666"/>
                  </a:solidFill>
                  <a:latin typeface="KoPubWorld돋움체 Light"/>
                  <a:ea typeface="KoPubWorld돋움체 Light"/>
                  <a:cs typeface="KoPubWorld돋움체 Light"/>
                </a:rPr>
                <a:t> 투자수익률</a:t>
              </a:r>
            </a:p>
          </p:txBody>
        </p:sp>
        <p:sp>
          <p:nvSpPr>
            <p:cNvPr id="29" name="TextBox 28">
              <a:extLst>
                <a:ext uri="{FF2B5EF4-FFF2-40B4-BE49-F238E27FC236}">
                  <a16:creationId xmlns:a16="http://schemas.microsoft.com/office/drawing/2014/main" id="{466F0100-1A36-4964-9090-3C77C5D4737F}"/>
                </a:ext>
              </a:extLst>
            </p:cNvPr>
            <p:cNvSpPr txBox="1"/>
            <p:nvPr/>
          </p:nvSpPr>
          <p:spPr>
            <a:xfrm>
              <a:off x="849867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16.44%</a:t>
              </a:r>
              <a:endParaRPr lang="ko-KR" altLang="en-US" sz="2200" b="1" dirty="0">
                <a:solidFill>
                  <a:srgbClr val="1F1F1F"/>
                </a:solidFill>
                <a:latin typeface="KoPubWorld돋움체 Bold"/>
                <a:ea typeface="KoPubWorld돋움체 Bold"/>
                <a:cs typeface="KoPubWorld돋움체 Bold"/>
              </a:endParaRPr>
            </a:p>
          </p:txBody>
        </p:sp>
        <p:sp>
          <p:nvSpPr>
            <p:cNvPr id="30" name="TextBox 29">
              <a:extLst>
                <a:ext uri="{FF2B5EF4-FFF2-40B4-BE49-F238E27FC236}">
                  <a16:creationId xmlns:a16="http://schemas.microsoft.com/office/drawing/2014/main" id="{3D7AAD1E-86DC-4202-A234-187CA5F72817}"/>
                </a:ext>
              </a:extLst>
            </p:cNvPr>
            <p:cNvSpPr txBox="1"/>
            <p:nvPr/>
          </p:nvSpPr>
          <p:spPr>
            <a:xfrm>
              <a:off x="8498673"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E. Multiple 4.35 예상</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80%</a:t>
              </a:r>
              <a:r>
                <a:rPr lang="ko-KR" altLang="en-US" sz="900" dirty="0">
                  <a:solidFill>
                    <a:srgbClr val="555555"/>
                  </a:solidFill>
                  <a:latin typeface="KoPubWorld돋움체 Light"/>
                  <a:ea typeface="KoPubWorld돋움체 Light"/>
                  <a:cs typeface="KoPubWorld돋움체 Light"/>
                </a:rPr>
                <a:t> </a:t>
              </a: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algn="l"/>
            <a:r>
              <a:rPr lang="en-US" altLang="ko-KR" sz="1300" b="1" dirty="0">
                <a:solidFill>
                  <a:srgbClr val="8B0000"/>
                </a:solidFill>
                <a:latin typeface="KoPubWorld돋움체 Bold"/>
                <a:ea typeface="KoPubWorld돋움체 Bold"/>
                <a:cs typeface="KoPubWorld돋움체 Bold"/>
              </a:rPr>
              <a:t>Key Investment Highlights</a:t>
            </a:r>
            <a:endParaRPr lang="ko-KR" altLang="en-US" sz="1300" b="1" dirty="0">
              <a:solidFill>
                <a:srgbClr val="8B0000"/>
              </a:solidFill>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신축 Core 물류센터 자산을 개발원가 수준(감정가 대비 약 -19.3%, Cap.Rate 약 4.9%*)에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r>
                <a:rPr lang="ko-KR" altLang="en-US" sz="1200" dirty="0">
                  <a:solidFill>
                    <a:srgbClr val="1F1F1F"/>
                  </a:solidFill>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r>
                <a:rPr lang="en-US" altLang="ko-KR" sz="1200" dirty="0">
                  <a:solidFill>
                    <a:srgbClr val="1F1F1F"/>
                  </a:solidFill>
                  <a:latin typeface="KoPubWorld돋움체 Light"/>
                  <a:ea typeface="KoPubWorld돋움체 Light"/>
                  <a:cs typeface="KoPubWorld돋움체 Light"/>
                </a:rPr>
                <a:t>WALE 6.7</a:t>
              </a:r>
              <a:r>
                <a:rPr lang="ko-KR" altLang="en-US" sz="1200" dirty="0">
                  <a:solidFill>
                    <a:srgbClr val="1F1F1F"/>
                  </a:solidFill>
                  <a:latin typeface="KoPubWorld돋움체 Light"/>
                  <a:ea typeface="KoPubWorld돋움체 Light"/>
                  <a:cs typeface="KoPubWorld돋움체 Light"/>
                </a:rPr>
                <a:t>년</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거래 종결일 기준</a:t>
              </a:r>
              <a:r>
                <a:rPr lang="en-US" altLang="ko-KR" sz="1200" dirty="0">
                  <a:solidFill>
                    <a:srgbClr val="1F1F1F"/>
                  </a:solidFill>
                  <a:latin typeface="KoPubWorld돋움체 Light"/>
                  <a:ea typeface="KoPubWorld돋움체 Light"/>
                  <a:cs typeface="KoPubWorld돋움체 Light"/>
                </a:rPr>
                <a:t>), </a:t>
              </a:r>
              <a:r>
                <a:rPr lang="ko-KR" altLang="en-US" sz="1200" dirty="0" err="1">
                  <a:solidFill>
                    <a:srgbClr val="1F1F1F"/>
                  </a:solidFill>
                  <a:latin typeface="KoPubWorld돋움체 Light"/>
                  <a:ea typeface="KoPubWorld돋움체 Light"/>
                  <a:cs typeface="KoPubWorld돋움체 Light"/>
                </a:rPr>
                <a:t>공실률</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0.68%</a:t>
              </a:r>
              <a:r>
                <a:rPr lang="ko-KR" altLang="en-US" sz="1200" dirty="0">
                  <a:solidFill>
                    <a:srgbClr val="1F1F1F"/>
                  </a:solidFill>
                  <a:latin typeface="KoPubWorld돋움체 Light"/>
                  <a:ea typeface="KoPubWorld돋움체 Light"/>
                  <a:cs typeface="KoPubWorld돋움체 Light"/>
                </a:rPr>
                <a:t>의 초과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수도권 초 근접지로서 </a:t>
              </a:r>
              <a:r>
                <a:rPr lang="ko-KR" altLang="en-US" sz="1200" dirty="0" err="1">
                  <a:solidFill>
                    <a:srgbClr val="1F1F1F"/>
                  </a:solidFill>
                  <a:latin typeface="KoPubWorld돋움체 Light"/>
                  <a:ea typeface="KoPubWorld돋움체 Light"/>
                  <a:cs typeface="KoPubWorld돋움체 Light"/>
                </a:rPr>
                <a:t>라스트마일</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공급 제한</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중부권역 희소한 자산으로 임대료 상승 시 </a:t>
              </a:r>
              <a:r>
                <a:rPr lang="en-US" altLang="ko-KR" sz="1200" dirty="0">
                  <a:solidFill>
                    <a:srgbClr val="1F1F1F"/>
                  </a:solidFill>
                  <a:latin typeface="KoPubWorld돋움체 Light"/>
                  <a:ea typeface="KoPubWorld돋움체 Light"/>
                  <a:cs typeface="KoPubWorld돋움체 Light"/>
                </a:rPr>
                <a:t>Upside Potential </a:t>
              </a:r>
              <a:r>
                <a:rPr lang="ko-KR" altLang="en-US" sz="1200" dirty="0">
                  <a:solidFill>
                    <a:srgbClr val="1F1F1F"/>
                  </a:solidFill>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a:t>
            </a:r>
            <a:r>
              <a:rPr lang="en-US" altLang="ko-KR" sz="1000" dirty="0" err="1">
                <a:latin typeface="KoPubWorld돋움체 Light" panose="00000300000000000000" pitchFamily="2" charset="-127"/>
                <a:ea typeface="KoPubWorld돋움체 Light" panose="00000300000000000000" pitchFamily="2" charset="-127"/>
              </a:rPr>
              <a:t>Cap.Rate</a:t>
            </a:r>
            <a:r>
              <a:rPr lang="en-US" altLang="ko-KR" sz="1000" dirty="0">
                <a:latin typeface="KoPubWorld돋움체 Light" panose="00000300000000000000" pitchFamily="2" charset="-127"/>
                <a:ea typeface="KoPubWorld돋움체 Light" panose="00000300000000000000" pitchFamily="2" charset="-127"/>
              </a:rPr>
              <a:t> : NOI/(</a:t>
            </a:r>
            <a:r>
              <a:rPr lang="ko-KR" altLang="en-US" sz="1000" dirty="0">
                <a:latin typeface="KoPubWorld돋움체 Light" panose="00000300000000000000" pitchFamily="2" charset="-127"/>
                <a:ea typeface="KoPubWorld돋움체 Light" panose="00000300000000000000" pitchFamily="2" charset="-127"/>
              </a:rPr>
              <a:t>매입가</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임대보증금</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53" name="그룹 52">
            <a:extLst>
              <a:ext uri="{FF2B5EF4-FFF2-40B4-BE49-F238E27FC236}">
                <a16:creationId xmlns:a16="http://schemas.microsoft.com/office/drawing/2014/main" id="{84E88418-7CA1-4D7E-168C-94475340F377}"/>
              </a:ext>
            </a:extLst>
          </p:cNvPr>
          <p:cNvGrpSpPr/>
          <p:nvPr/>
        </p:nvGrpSpPr>
        <p:grpSpPr>
          <a:xfrm>
            <a:off x="6364879" y="2213297"/>
            <a:ext cx="1941736" cy="1206500"/>
            <a:chOff x="6343886"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6343886"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6343886" y="2213297"/>
              <a:ext cx="41983" cy="1206500"/>
            </a:xfrm>
            <a:prstGeom prst="rect">
              <a:avLst/>
            </a:prstGeom>
            <a:solidFill>
              <a:schemeClr val="accent4">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38" name="TextBox 37">
              <a:extLst>
                <a:ext uri="{FF2B5EF4-FFF2-40B4-BE49-F238E27FC236}">
                  <a16:creationId xmlns:a16="http://schemas.microsoft.com/office/drawing/2014/main" id="{3BD86DB4-62F8-4BBC-B788-0BFA9AEC2BE4}"/>
                </a:ext>
              </a:extLst>
            </p:cNvPr>
            <p:cNvSpPr txBox="1"/>
            <p:nvPr/>
          </p:nvSpPr>
          <p:spPr>
            <a:xfrm>
              <a:off x="6469836"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2</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6469836"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7.5%</a:t>
              </a:r>
            </a:p>
          </p:txBody>
        </p:sp>
        <p:sp>
          <p:nvSpPr>
            <p:cNvPr id="42" name="TextBox 41">
              <a:extLst>
                <a:ext uri="{FF2B5EF4-FFF2-40B4-BE49-F238E27FC236}">
                  <a16:creationId xmlns:a16="http://schemas.microsoft.com/office/drawing/2014/main" id="{B41C4E8A-3475-4098-25FC-CBE35492B88C}"/>
                </a:ext>
              </a:extLst>
            </p:cNvPr>
            <p:cNvSpPr txBox="1"/>
            <p:nvPr/>
          </p:nvSpPr>
          <p:spPr>
            <a:xfrm>
              <a:off x="6462030"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9.24%</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20%</a:t>
              </a:r>
            </a:p>
          </p:txBody>
        </p:sp>
      </p:grpSp>
      <p:grpSp>
        <p:nvGrpSpPr>
          <p:cNvPr id="4" name="그룹 3">
            <a:extLst>
              <a:ext uri="{FF2B5EF4-FFF2-40B4-BE49-F238E27FC236}">
                <a16:creationId xmlns:a16="http://schemas.microsoft.com/office/drawing/2014/main" id="{DB322881-B859-D811-4DC2-2779BBB0C4CE}"/>
              </a:ext>
            </a:extLst>
          </p:cNvPr>
          <p:cNvGrpSpPr/>
          <p:nvPr/>
        </p:nvGrpSpPr>
        <p:grpSpPr>
          <a:xfrm>
            <a:off x="-558750" y="2591705"/>
            <a:ext cx="288032" cy="1368185"/>
            <a:chOff x="-558750" y="2591705"/>
            <a:chExt cx="288032" cy="1368185"/>
          </a:xfrm>
        </p:grpSpPr>
        <p:sp>
          <p:nvSpPr>
            <p:cNvPr id="5" name="직사각형 4">
              <a:extLst>
                <a:ext uri="{FF2B5EF4-FFF2-40B4-BE49-F238E27FC236}">
                  <a16:creationId xmlns:a16="http://schemas.microsoft.com/office/drawing/2014/main" id="{3149645B-94A4-7A4C-EB68-170AAED3F34D}"/>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4626758F-8006-D204-4118-7BFCBBABCDA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a:extLst>
                <a:ext uri="{FF2B5EF4-FFF2-40B4-BE49-F238E27FC236}">
                  <a16:creationId xmlns:a16="http://schemas.microsoft.com/office/drawing/2014/main" id="{B3DF73E6-C1A5-8FC6-3C4C-BC02D94F7D53}"/>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직사각형 46">
              <a:extLst>
                <a:ext uri="{FF2B5EF4-FFF2-40B4-BE49-F238E27FC236}">
                  <a16:creationId xmlns:a16="http://schemas.microsoft.com/office/drawing/2014/main" id="{0C44CE88-2D96-22A3-4257-533469CB14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9848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초 우량입지 자산으로서 안정성과 </a:t>
            </a:r>
            <a:r>
              <a:rPr lang="en-US" altLang="ko-KR" sz="1500" dirty="0">
                <a:solidFill>
                  <a:schemeClr val="tx1"/>
                </a:solidFill>
              </a:rPr>
              <a:t>Upside Potential</a:t>
            </a:r>
            <a:r>
              <a:rPr lang="ko-KR" altLang="en-US" sz="1500" dirty="0">
                <a:solidFill>
                  <a:schemeClr val="tx1"/>
                </a:solidFill>
              </a:rPr>
              <a:t>을 모두 향유 가능한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감정가 334,500백만원(매도인 제시 담보가) 대비 약 ▼19.3% 할인 매입
• 매입 Init. Cap Rate 약 4.9%(운용기간 평균 Cap.Rate 약 5.6% 예상)
• 유사사례 대비 낮은 매입가격 935만원(수도권 Core센터 거래사례 중하단)</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4161839692"/>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감정평가 약 </a:t>
                      </a: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nvGraphicFramePr>
        <p:xfrm>
          <a:off x="5588386" y="5141857"/>
          <a:ext cx="4635921" cy="148440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r>
                        <a:rPr lang="en-US" altLang="ko-KR" sz="10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buNone/>
                      </a:pPr>
                      <a:endParaRPr lang="ko-KR" altLang="en-US"/>
                    </a:p>
                  </a:txBody>
                  <a:tcP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lang="en-US" altLang="ko-KR" sz="1100" b="1"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 내 대형 물류센터는 본건을 포함해 9개소로 공급이 극히 제한적임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본건(28,869평, 2023년 준공)은 권역 내 최대 규모·최신축 자산으로 임대료 60,300원/평 수준</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물류센터 현황</a:t>
              </a:r>
            </a:p>
          </p:txBody>
        </p:sp>
      </p:grpSp>
      <p:pic>
        <p:nvPicPr>
          <p:cNvPr id="365" name="Picture 364" descr="mkt12_map.png"/>
          <p:cNvPicPr>
            <a:picLocks noChangeAspect="1"/>
          </p:cNvPicPr>
          <p:nvPr/>
        </p:nvPicPr>
        <p:blipFill>
          <a:blip r:embed="rId2"/>
          <a:stretch>
            <a:fillRect/>
          </a:stretch>
        </p:blipFill>
        <p:spPr>
          <a:xfrm>
            <a:off x="457200" y="2359152"/>
            <a:ext cx="3125153" cy="4160520"/>
          </a:xfrm>
          <a:prstGeom prst="rect">
            <a:avLst/>
          </a:prstGeom>
        </p:spPr>
      </p:pic>
      <p:graphicFrame>
        <p:nvGraphicFramePr>
          <p:cNvPr id="366" name="신규표"/>
          <p:cNvGraphicFramePr>
            <a:graphicFrameLocks noGrp="1"/>
          </p:cNvGraphicFramePr>
          <p:nvPr>
            <p:extLst>
              <p:ext uri="{D42A27DB-BD31-4B8C-83A1-F6EECF244321}">
                <p14:modId xmlns:p14="http://schemas.microsoft.com/office/powerpoint/2010/main" val="1412595688"/>
              </p:ext>
            </p:extLst>
          </p:nvPr>
        </p:nvGraphicFramePr>
        <p:xfrm>
          <a:off x="3703320" y="2359152"/>
          <a:ext cx="6537960" cy="4160423"/>
        </p:xfrm>
        <a:graphic>
          <a:graphicData uri="http://schemas.openxmlformats.org/drawingml/2006/table">
            <a:tbl>
              <a:tblPr>
                <a:tableStyleId>{5940675A-B579-460E-94D1-54222C63F5DA}</a:tableStyleId>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527599">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Type</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저온(원/평)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주임차인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1852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SITE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지오영, 용마로지스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25,964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롯데제과의왕물류창고1)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4,257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부곡화물터미널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101,013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당정동물류창고1)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오비맥주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GS홈쇼핑군포신물류센터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12,329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 수원시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5,268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p.12. Note) 과거 임대마케팅 가격 참고 (롯데제과·당정동)</a:t>
            </a: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2536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110896657"/>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buNone/>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83505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임대사례</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임대사례 Eff.Rent 4.0~6.0만원/평 중 본건 5.8만원은 상단 수준</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서울복합·부천 삼정동(6.0만원/평) 등 신축 Core 자산과 유사 수준, 준공연도·규모 감안 시 상승 여력</a:t>
            </a:r>
            <a:endParaRPr lang="en-US" altLang="ko-KR" sz="1600" dirty="0">
              <a:solidFill>
                <a:schemeClr val="tx1"/>
              </a:solidFill>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6" name="신규표"/>
          <p:cNvGraphicFramePr>
            <a:graphicFrameLocks noGrp="1"/>
          </p:cNvGraphicFramePr>
          <p:nvPr>
            <p:extLst>
              <p:ext uri="{D42A27DB-BD31-4B8C-83A1-F6EECF244321}">
                <p14:modId xmlns:p14="http://schemas.microsoft.com/office/powerpoint/2010/main" val="4072527369"/>
              </p:ext>
            </p:extLst>
          </p:nvPr>
        </p:nvGraphicFramePr>
        <p:xfrm>
          <a:off x="457200" y="2359152"/>
          <a:ext cx="9785907" cy="4180586"/>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(안양)</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인천·부천</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686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부천삼정동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CBRE IM </a:t>
                      </a: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김포고촌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삼송로지스힐</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송파구장지동875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오정구오정동802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오정구삼정동15-6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고촌읍전호리662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덕양구원흥동701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덕양구오금동687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92,278평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60,403평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임대료(상온)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관리비(상온)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R/F+TI(M)</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 Rent</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2018년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주임차인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 한진등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샤넬, BGF 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 세이고등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CJ대한통운(선임차)</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 GS리테일등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 GS네트웍스등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27" name="Picture 26" descr="mkt45_ph0.png"/>
          <p:cNvPicPr>
            <a:picLocks noChangeAspect="1"/>
          </p:cNvPicPr>
          <p:nvPr/>
        </p:nvPicPr>
        <p:blipFill>
          <a:blip r:embed="rId3"/>
          <a:stretch>
            <a:fillRect/>
          </a:stretch>
        </p:blipFill>
        <p:spPr>
          <a:xfrm>
            <a:off x="1408176" y="2807729"/>
            <a:ext cx="914400" cy="813816"/>
          </a:xfrm>
          <a:prstGeom prst="rect">
            <a:avLst/>
          </a:prstGeom>
        </p:spPr>
      </p:pic>
      <p:pic>
        <p:nvPicPr>
          <p:cNvPr id="28" name="Picture 27" descr="mkt45_ph1.png"/>
          <p:cNvPicPr>
            <a:picLocks noChangeAspect="1"/>
          </p:cNvPicPr>
          <p:nvPr/>
        </p:nvPicPr>
        <p:blipFill>
          <a:blip r:embed="rId4"/>
          <a:stretch>
            <a:fillRect/>
          </a:stretch>
        </p:blipFill>
        <p:spPr>
          <a:xfrm>
            <a:off x="2393899" y="2807729"/>
            <a:ext cx="914400" cy="813816"/>
          </a:xfrm>
          <a:prstGeom prst="rect">
            <a:avLst/>
          </a:prstGeom>
        </p:spPr>
      </p:pic>
      <p:pic>
        <p:nvPicPr>
          <p:cNvPr id="29" name="Picture 28" descr="mkt45_ph2.png"/>
          <p:cNvPicPr>
            <a:picLocks noChangeAspect="1"/>
          </p:cNvPicPr>
          <p:nvPr/>
        </p:nvPicPr>
        <p:blipFill>
          <a:blip r:embed="rId5"/>
          <a:stretch>
            <a:fillRect/>
          </a:stretch>
        </p:blipFill>
        <p:spPr>
          <a:xfrm>
            <a:off x="3379622" y="2807729"/>
            <a:ext cx="914400" cy="813816"/>
          </a:xfrm>
          <a:prstGeom prst="rect">
            <a:avLst/>
          </a:prstGeom>
        </p:spPr>
      </p:pic>
      <p:pic>
        <p:nvPicPr>
          <p:cNvPr id="30" name="Picture 29" descr="mkt45_ph3.png"/>
          <p:cNvPicPr>
            <a:picLocks noChangeAspect="1"/>
          </p:cNvPicPr>
          <p:nvPr/>
        </p:nvPicPr>
        <p:blipFill>
          <a:blip r:embed="rId6"/>
          <a:stretch>
            <a:fillRect/>
          </a:stretch>
        </p:blipFill>
        <p:spPr>
          <a:xfrm>
            <a:off x="4365345" y="2807729"/>
            <a:ext cx="914400" cy="813816"/>
          </a:xfrm>
          <a:prstGeom prst="rect">
            <a:avLst/>
          </a:prstGeom>
        </p:spPr>
      </p:pic>
      <p:pic>
        <p:nvPicPr>
          <p:cNvPr id="31" name="Picture 30" descr="mkt45_ph4.png"/>
          <p:cNvPicPr>
            <a:picLocks noChangeAspect="1"/>
          </p:cNvPicPr>
          <p:nvPr/>
        </p:nvPicPr>
        <p:blipFill>
          <a:blip r:embed="rId7"/>
          <a:stretch>
            <a:fillRect/>
          </a:stretch>
        </p:blipFill>
        <p:spPr>
          <a:xfrm>
            <a:off x="5351068" y="2807729"/>
            <a:ext cx="914400" cy="813816"/>
          </a:xfrm>
          <a:prstGeom prst="rect">
            <a:avLst/>
          </a:prstGeom>
        </p:spPr>
      </p:pic>
      <p:pic>
        <p:nvPicPr>
          <p:cNvPr id="32" name="Picture 31" descr="mkt45_ph5.png"/>
          <p:cNvPicPr>
            <a:picLocks noChangeAspect="1"/>
          </p:cNvPicPr>
          <p:nvPr/>
        </p:nvPicPr>
        <p:blipFill>
          <a:blip r:embed="rId8"/>
          <a:stretch>
            <a:fillRect/>
          </a:stretch>
        </p:blipFill>
        <p:spPr>
          <a:xfrm>
            <a:off x="6336792" y="2807729"/>
            <a:ext cx="914400" cy="813816"/>
          </a:xfrm>
          <a:prstGeom prst="rect">
            <a:avLst/>
          </a:prstGeom>
        </p:spPr>
      </p:pic>
      <p:pic>
        <p:nvPicPr>
          <p:cNvPr id="33" name="Picture 32" descr="mkt45_ph6.png"/>
          <p:cNvPicPr>
            <a:picLocks noChangeAspect="1"/>
          </p:cNvPicPr>
          <p:nvPr/>
        </p:nvPicPr>
        <p:blipFill>
          <a:blip r:embed="rId9"/>
          <a:stretch>
            <a:fillRect/>
          </a:stretch>
        </p:blipFill>
        <p:spPr>
          <a:xfrm>
            <a:off x="7322515" y="2807729"/>
            <a:ext cx="914400" cy="813816"/>
          </a:xfrm>
          <a:prstGeom prst="rect">
            <a:avLst/>
          </a:prstGeom>
        </p:spPr>
      </p:pic>
      <p:pic>
        <p:nvPicPr>
          <p:cNvPr id="34" name="Picture 33" descr="mkt45_ph7.png"/>
          <p:cNvPicPr>
            <a:picLocks noChangeAspect="1"/>
          </p:cNvPicPr>
          <p:nvPr/>
        </p:nvPicPr>
        <p:blipFill>
          <a:blip r:embed="rId10"/>
          <a:stretch>
            <a:fillRect/>
          </a:stretch>
        </p:blipFill>
        <p:spPr>
          <a:xfrm>
            <a:off x="8308238" y="2807729"/>
            <a:ext cx="914400" cy="813816"/>
          </a:xfrm>
          <a:prstGeom prst="rect">
            <a:avLst/>
          </a:prstGeom>
        </p:spPr>
      </p:pic>
      <p:pic>
        <p:nvPicPr>
          <p:cNvPr id="35" name="Picture 34" descr="mkt45_ph8.png"/>
          <p:cNvPicPr>
            <a:picLocks noChangeAspect="1"/>
          </p:cNvPicPr>
          <p:nvPr/>
        </p:nvPicPr>
        <p:blipFill>
          <a:blip r:embed="rId11"/>
          <a:stretch>
            <a:fillRect/>
          </a:stretch>
        </p:blipFill>
        <p:spPr>
          <a:xfrm>
            <a:off x="9293961" y="2807729"/>
            <a:ext cx="914400" cy="81381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p.45 [Savills RE Strategy &amp; Solutions]</a:t>
            </a:r>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거래사례</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매입가(평당 935만원)는 유사 거래사례 736~1,248만원/평 중 중하단에 위치함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신축 Core 자산인 하남미사(1,248만원)·부천내동(1,220만원) 대비 낮은 수준으로 적정 매입가 범위(891~1,014만원) 내</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2" name="신규표"/>
          <p:cNvGraphicFramePr>
            <a:graphicFrameLocks noGrp="1"/>
          </p:cNvGraphicFramePr>
          <p:nvPr>
            <p:extLst>
              <p:ext uri="{D42A27DB-BD31-4B8C-83A1-F6EECF244321}">
                <p14:modId xmlns:p14="http://schemas.microsoft.com/office/powerpoint/2010/main" val="1427780768"/>
              </p:ext>
            </p:extLst>
          </p:nvPr>
        </p:nvGraphicFramePr>
        <p:xfrm>
          <a:off x="457200" y="2359152"/>
          <a:ext cx="9785907" cy="4208018"/>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 (본건)</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315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하남미사지구유통업무설비시설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별내ONE</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SSG닷컴네오003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MQ로지스큐브김포고촌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모우김포물류센터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김포성광물류센터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별내동798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14,700평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Q3/2026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매매가격(억원)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평당가(만원/평)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 Rate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코크렙안양PFV</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옳은생각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매수자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[신설예정리츠]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하남엣지센터PFV</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화성산업</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23" name="Picture 22" descr="mkt46_ph0.png"/>
          <p:cNvPicPr>
            <a:picLocks noChangeAspect="1"/>
          </p:cNvPicPr>
          <p:nvPr/>
        </p:nvPicPr>
        <p:blipFill>
          <a:blip r:embed="rId3"/>
          <a:stretch>
            <a:fillRect/>
          </a:stretch>
        </p:blipFill>
        <p:spPr>
          <a:xfrm>
            <a:off x="1408176" y="2779145"/>
            <a:ext cx="914400" cy="676656"/>
          </a:xfrm>
          <a:prstGeom prst="rect">
            <a:avLst/>
          </a:prstGeom>
        </p:spPr>
      </p:pic>
      <p:pic>
        <p:nvPicPr>
          <p:cNvPr id="24" name="Picture 23" descr="mkt46_ph1.png"/>
          <p:cNvPicPr>
            <a:picLocks noChangeAspect="1"/>
          </p:cNvPicPr>
          <p:nvPr/>
        </p:nvPicPr>
        <p:blipFill>
          <a:blip r:embed="rId4"/>
          <a:stretch>
            <a:fillRect/>
          </a:stretch>
        </p:blipFill>
        <p:spPr>
          <a:xfrm>
            <a:off x="2393899" y="2779145"/>
            <a:ext cx="914400" cy="676656"/>
          </a:xfrm>
          <a:prstGeom prst="rect">
            <a:avLst/>
          </a:prstGeom>
        </p:spPr>
      </p:pic>
      <p:pic>
        <p:nvPicPr>
          <p:cNvPr id="25" name="Picture 24" descr="mkt46_ph2.png"/>
          <p:cNvPicPr>
            <a:picLocks noChangeAspect="1"/>
          </p:cNvPicPr>
          <p:nvPr/>
        </p:nvPicPr>
        <p:blipFill>
          <a:blip r:embed="rId5"/>
          <a:stretch>
            <a:fillRect/>
          </a:stretch>
        </p:blipFill>
        <p:spPr>
          <a:xfrm>
            <a:off x="3379622" y="2779145"/>
            <a:ext cx="914400" cy="676656"/>
          </a:xfrm>
          <a:prstGeom prst="rect">
            <a:avLst/>
          </a:prstGeom>
        </p:spPr>
      </p:pic>
      <p:pic>
        <p:nvPicPr>
          <p:cNvPr id="26" name="Picture 25" descr="mkt46_ph3.png"/>
          <p:cNvPicPr>
            <a:picLocks noChangeAspect="1"/>
          </p:cNvPicPr>
          <p:nvPr/>
        </p:nvPicPr>
        <p:blipFill>
          <a:blip r:embed="rId6"/>
          <a:stretch>
            <a:fillRect/>
          </a:stretch>
        </p:blipFill>
        <p:spPr>
          <a:xfrm>
            <a:off x="4365345" y="2779145"/>
            <a:ext cx="914400" cy="676656"/>
          </a:xfrm>
          <a:prstGeom prst="rect">
            <a:avLst/>
          </a:prstGeom>
        </p:spPr>
      </p:pic>
      <p:pic>
        <p:nvPicPr>
          <p:cNvPr id="27" name="Picture 26" descr="mkt46_ph4.png"/>
          <p:cNvPicPr>
            <a:picLocks noChangeAspect="1"/>
          </p:cNvPicPr>
          <p:nvPr/>
        </p:nvPicPr>
        <p:blipFill>
          <a:blip r:embed="rId7"/>
          <a:stretch>
            <a:fillRect/>
          </a:stretch>
        </p:blipFill>
        <p:spPr>
          <a:xfrm>
            <a:off x="5351068" y="2779145"/>
            <a:ext cx="914400" cy="676656"/>
          </a:xfrm>
          <a:prstGeom prst="rect">
            <a:avLst/>
          </a:prstGeom>
        </p:spPr>
      </p:pic>
      <p:pic>
        <p:nvPicPr>
          <p:cNvPr id="28" name="Picture 27" descr="mkt46_ph5.png"/>
          <p:cNvPicPr>
            <a:picLocks noChangeAspect="1"/>
          </p:cNvPicPr>
          <p:nvPr/>
        </p:nvPicPr>
        <p:blipFill>
          <a:blip r:embed="rId8"/>
          <a:stretch>
            <a:fillRect/>
          </a:stretch>
        </p:blipFill>
        <p:spPr>
          <a:xfrm>
            <a:off x="6336792" y="2779145"/>
            <a:ext cx="914400" cy="676656"/>
          </a:xfrm>
          <a:prstGeom prst="rect">
            <a:avLst/>
          </a:prstGeom>
        </p:spPr>
      </p:pic>
      <p:pic>
        <p:nvPicPr>
          <p:cNvPr id="29" name="Picture 28" descr="mkt46_ph6.png"/>
          <p:cNvPicPr>
            <a:picLocks noChangeAspect="1"/>
          </p:cNvPicPr>
          <p:nvPr/>
        </p:nvPicPr>
        <p:blipFill>
          <a:blip r:embed="rId9"/>
          <a:stretch>
            <a:fillRect/>
          </a:stretch>
        </p:blipFill>
        <p:spPr>
          <a:xfrm>
            <a:off x="7322515" y="2779145"/>
            <a:ext cx="914400" cy="676656"/>
          </a:xfrm>
          <a:prstGeom prst="rect">
            <a:avLst/>
          </a:prstGeom>
        </p:spPr>
      </p:pic>
      <p:pic>
        <p:nvPicPr>
          <p:cNvPr id="30" name="Picture 29" descr="mkt46_ph7.png"/>
          <p:cNvPicPr>
            <a:picLocks noChangeAspect="1"/>
          </p:cNvPicPr>
          <p:nvPr/>
        </p:nvPicPr>
        <p:blipFill>
          <a:blip r:embed="rId10"/>
          <a:stretch>
            <a:fillRect/>
          </a:stretch>
        </p:blipFill>
        <p:spPr>
          <a:xfrm>
            <a:off x="8308238" y="2779145"/>
            <a:ext cx="914400" cy="676656"/>
          </a:xfrm>
          <a:prstGeom prst="rect">
            <a:avLst/>
          </a:prstGeom>
        </p:spPr>
      </p:pic>
      <p:pic>
        <p:nvPicPr>
          <p:cNvPr id="31" name="Picture 30" descr="mkt46_ph8.png"/>
          <p:cNvPicPr>
            <a:picLocks noChangeAspect="1"/>
          </p:cNvPicPr>
          <p:nvPr/>
        </p:nvPicPr>
        <p:blipFill>
          <a:blip r:embed="rId11"/>
          <a:stretch>
            <a:fillRect/>
          </a:stretch>
        </p:blipFill>
        <p:spPr>
          <a:xfrm>
            <a:off x="9293961" y="2779145"/>
            <a:ext cx="914400" cy="67665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p.46 [Savills RE Strategy &amp; Solutions]. 본건 Cap. Rate 5.16%는 시장조사 산정 기준</a:t>
            </a: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적정 임대가 산정 (비교사례 보정 및 시장 상승률 2.5% 반영)</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적정 Eff.Rent는 2026년 기준 6.14만원/평으로 현 5.8만원 대비 약 6% 상승 여력</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 매입가 범위 891~1,014만원/평 (본건 935만원), 투자적정성 검토 Exit Cap 5.20%·매각대금 3,667억원</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시장조사 결론 — 적정 임대료 및 매매가</a:t>
            </a:r>
          </a:p>
        </p:txBody>
      </p:sp>
      <p:graphicFrame>
        <p:nvGraphicFramePr>
          <p:cNvPr id="22" name="신규표"/>
          <p:cNvGraphicFramePr>
            <a:graphicFrameLocks noGrp="1"/>
          </p:cNvGraphicFramePr>
          <p:nvPr>
            <p:extLst>
              <p:ext uri="{D42A27DB-BD31-4B8C-83A1-F6EECF244321}">
                <p14:modId xmlns:p14="http://schemas.microsoft.com/office/powerpoint/2010/main" val="4157957742"/>
              </p:ext>
            </p:extLst>
          </p:nvPr>
        </p:nvGraphicFramePr>
        <p:xfrm>
          <a:off x="457200" y="2359152"/>
          <a:ext cx="9784080" cy="164592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삼송 로지스힐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① 보정 전 Eff.Rent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② 보정치 합계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③ 적용 보정치 값 [1-②]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④ 보정 후 Eff.Rent (원/평) [①×③]</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63,665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자산 적정 Eff.Rent ('26)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4">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61,463 (비교사례 평균)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3" name="신규표"/>
          <p:cNvGraphicFramePr>
            <a:graphicFrameLocks noGrp="1"/>
          </p:cNvGraphicFramePr>
          <p:nvPr>
            <p:extLst>
              <p:ext uri="{D42A27DB-BD31-4B8C-83A1-F6EECF244321}">
                <p14:modId xmlns:p14="http://schemas.microsoft.com/office/powerpoint/2010/main" val="3069406213"/>
              </p:ext>
            </p:extLst>
          </p:nvPr>
        </p:nvGraphicFramePr>
        <p:xfrm>
          <a:off x="457200" y="4160520"/>
          <a:ext cx="9784080" cy="54864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2027년</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2028년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2029년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2030년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예상 E.NOC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64,575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66,189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67,844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4" name="Picture 23" descr="mkt52_range.png"/>
          <p:cNvPicPr>
            <a:picLocks noChangeAspect="1"/>
          </p:cNvPicPr>
          <p:nvPr/>
        </p:nvPicPr>
        <p:blipFill>
          <a:blip r:embed="rId2"/>
          <a:stretch>
            <a:fillRect/>
          </a:stretch>
        </p:blipFill>
        <p:spPr>
          <a:xfrm>
            <a:off x="457200" y="4997452"/>
            <a:ext cx="9784080" cy="1554693"/>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p.52~53, p.55 종합의견 [Savills RE Strategy &amp; Solutions]. 임대료 상승은 예상치이며 확정된 것이 아님</a:t>
            </a: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BAA1E22D-5302-9824-B0E6-5023C667FD1B}"/>
              </a:ext>
            </a:extLst>
          </p:cNvPr>
          <p:cNvSpPr txBox="1"/>
          <p:nvPr/>
        </p:nvSpPr>
        <p:spPr>
          <a:xfrm>
            <a:off x="283368" y="6813808"/>
            <a:ext cx="3190297"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자산가액: 부동산 장부가액 2,889억원 및 여유현금 100억원 예정 / 수익률·보수는 재무모델 2026-09-15 인가ver(v02) 기준 (Equity 전체 IRR: IM 탭 전체기준 10.33%, A&amp;R 민감도 Base 10.34%)</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extLst>
              <p:ext uri="{D42A27DB-BD31-4B8C-83A1-F6EECF244321}">
                <p14:modId xmlns:p14="http://schemas.microsoft.com/office/powerpoint/2010/main" val="2506700302"/>
              </p:ext>
            </p:extLst>
          </p:nvPr>
        </p:nvGraphicFramePr>
        <p:xfrm>
          <a:off x="520700" y="2357352"/>
          <a:ext cx="9721850" cy="4346412"/>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69717">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46145">
                <a:tc>
                  <a:txBody>
                    <a:bodyPr/>
                    <a:lstStyle/>
                    <a:p>
                      <a:pPr algn="ctr" latinLnBrk="1">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케이라이프로지스</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46145">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46145">
                <a:tc>
                  <a:txBody>
                    <a:bodyPr/>
                    <a:lstStyle/>
                    <a:p>
                      <a:pPr algn="ct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46145">
                <a:tc>
                  <a:txBody>
                    <a:bodyPr/>
                    <a:lstStyle/>
                    <a:p>
                      <a:pPr algn="ctr" latinLnBrk="1">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2,989억원 (Equity : 988억원, 담보대출 : 1,980억원, 보증금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83582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56000">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100800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30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extLst>
              <p:ext uri="{D42A27DB-BD31-4B8C-83A1-F6EECF244321}">
                <p14:modId xmlns:p14="http://schemas.microsoft.com/office/powerpoint/2010/main" val="3292097306"/>
              </p:ext>
            </p:extLst>
          </p:nvPr>
        </p:nvGraphicFramePr>
        <p:xfrm>
          <a:off x="1903236" y="4199246"/>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667백만원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38백만원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0.013%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extLst>
              <p:ext uri="{D42A27DB-BD31-4B8C-83A1-F6EECF244321}">
                <p14:modId xmlns:p14="http://schemas.microsoft.com/office/powerpoint/2010/main" val="2991819701"/>
              </p:ext>
            </p:extLst>
          </p:nvPr>
        </p:nvGraphicFramePr>
        <p:xfrm>
          <a:off x="1903236" y="5003506"/>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extLst>
              <p:ext uri="{D42A27DB-BD31-4B8C-83A1-F6EECF244321}">
                <p14:modId xmlns:p14="http://schemas.microsoft.com/office/powerpoint/2010/main" val="4023389073"/>
              </p:ext>
            </p:extLst>
          </p:nvPr>
        </p:nvGraphicFramePr>
        <p:xfrm>
          <a:off x="1903236" y="5744310"/>
          <a:ext cx="8223772" cy="86400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12.77%</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216000">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10.33%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Equity 전체 연평균 CoC 6.10%(매각차익 제외), IRR 10.33%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1종 CoC 7.00%·IRR 7.12%, 2종 CoC 7.50%·IRR 9.24%, 보통주 CoC 0.75%·IRR 16.44%</a:t>
            </a:r>
            <a:endParaRPr lang="en-US" altLang="ko-KR" sz="1600" dirty="0">
              <a:solidFill>
                <a:schemeClr val="tx1"/>
              </a:solidFill>
            </a:endParaRPr>
          </a:p>
        </p:txBody>
      </p:sp>
    </p:spTree>
    <p:extLst>
      <p:ext uri="{BB962C8B-B14F-4D97-AF65-F5344CB8AC3E}">
        <p14:creationId xmlns:p14="http://schemas.microsoft.com/office/powerpoint/2010/main" val="425954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633858" y="2643905"/>
              <a:ext cx="529312" cy="279308"/>
            </a:xfrm>
            <a:prstGeom prst="rect">
              <a:avLst/>
            </a:prstGeom>
          </p:spPr>
          <p:txBody>
            <a:bodyPr wrap="none">
              <a:spAutoFit/>
            </a:bodyPr>
            <a:lstStyle/>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[TBD]</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739046" y="2573573"/>
              <a:ext cx="886781"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우리투자증권</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a:t>
              </a: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케이라이프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호</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endPar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[5.5]%</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71</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a:t>
            </a:r>
            <a:r>
              <a:rPr kumimoji="0" lang="en-US" altLang="ko-KR"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4216219"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 모집 예정</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 매도인 제공(나라감정평가법인, `26.04.)</a:t>
            </a: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케이라이프로지스</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호</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투자는 ㈜</a:t>
            </a:r>
            <a:r>
              <a:rPr lang="ko-KR" altLang="en-US" sz="1600" dirty="0" err="1">
                <a:solidFill>
                  <a:schemeClr val="tx1"/>
                </a:solidFill>
              </a:rPr>
              <a:t>코람코라이프인프라리츠의</a:t>
            </a:r>
            <a:r>
              <a:rPr lang="ko-KR" altLang="en-US" sz="1600" dirty="0">
                <a:solidFill>
                  <a:schemeClr val="tx1"/>
                </a:solidFill>
              </a:rPr>
              <a:t> 주도하에 </a:t>
            </a:r>
            <a:r>
              <a:rPr lang="ko-KR" altLang="en-US" sz="1600" dirty="0" err="1">
                <a:solidFill>
                  <a:schemeClr val="tx1"/>
                </a:solidFill>
              </a:rPr>
              <a:t>보통주</a:t>
            </a:r>
            <a:r>
              <a:rPr lang="ko-KR" altLang="en-US" sz="1600" dirty="0">
                <a:solidFill>
                  <a:schemeClr val="tx1"/>
                </a:solidFill>
              </a:rPr>
              <a:t> 투자 및 매입확약 조건부로 우선주 조달을 완료한 상태임</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기존 매도인 제공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 조달할 계획임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매입부대비용</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 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투자구조 — 사업구조도 (IM 기준)</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공모예외기관(KLI리츠)이 발기인으로 자리츠를 설립한 뒤 증자로 Equity를 모집하는 구조임</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매도인(코크렙안양PFV)으로부터 소유권 이전, AMC 코람코자산신탁·자산보관·사무수탁회사와 위탁계약</a:t>
            </a:r>
          </a:p>
        </p:txBody>
      </p:sp>
      <p:pic>
        <p:nvPicPr>
          <p:cNvPr id="13" name="Picture 12" descr="im06_diagram.png"/>
          <p:cNvPicPr>
            <a:picLocks noChangeAspect="1"/>
          </p:cNvPicPr>
          <p:nvPr/>
        </p:nvPicPr>
        <p:blipFill>
          <a:blip r:embed="rId2"/>
          <a:stretch>
            <a:fillRect/>
          </a:stretch>
        </p:blipFill>
        <p:spPr>
          <a:xfrm>
            <a:off x="960154" y="2359152"/>
            <a:ext cx="8778240" cy="433442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안양물류센터 Information Memorandum(2026.09) p.5 사업 구조도</a:t>
            </a: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[3,035]</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[884]</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605217279"/>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buNone/>
                      </a:pP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[TBD]</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[TBD]</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81" name="그룹 80">
            <a:extLst>
              <a:ext uri="{FF2B5EF4-FFF2-40B4-BE49-F238E27FC236}">
                <a16:creationId xmlns:a16="http://schemas.microsoft.com/office/drawing/2014/main" id="{6FD76439-40DB-7F2C-3611-C792AFD249C5}"/>
              </a:ext>
            </a:extLst>
          </p:cNvPr>
          <p:cNvGrpSpPr/>
          <p:nvPr/>
        </p:nvGrpSpPr>
        <p:grpSpPr>
          <a:xfrm>
            <a:off x="5168892" y="4319268"/>
            <a:ext cx="1379169" cy="676183"/>
            <a:chOff x="5057874" y="3517857"/>
            <a:chExt cx="1379169" cy="676183"/>
          </a:xfrm>
          <a:solidFill>
            <a:schemeClr val="tx2">
              <a:lumMod val="75000"/>
            </a:schemeClr>
          </a:solidFill>
          <a:effectLst>
            <a:outerShdw blurRad="50800" dist="38100" dir="2700000" algn="tl" rotWithShape="0">
              <a:prstClr val="black">
                <a:alpha val="40000"/>
              </a:prstClr>
            </a:outerShdw>
          </a:effectLst>
        </p:grpSpPr>
        <p:sp>
          <p:nvSpPr>
            <p:cNvPr id="80" name="이등변 삼각형 79">
              <a:extLst>
                <a:ext uri="{FF2B5EF4-FFF2-40B4-BE49-F238E27FC236}">
                  <a16:creationId xmlns:a16="http://schemas.microsoft.com/office/drawing/2014/main" id="{2983E957-FDC6-4C00-4034-CD9E0247C934}"/>
                </a:ext>
              </a:extLst>
            </p:cNvPr>
            <p:cNvSpPr/>
            <p:nvPr/>
          </p:nvSpPr>
          <p:spPr>
            <a:xfrm rot="10800000">
              <a:off x="5231986" y="3890141"/>
              <a:ext cx="131519" cy="303899"/>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91D004F9-88AB-29A7-6720-74CFDC2834A9}"/>
                </a:ext>
              </a:extLst>
            </p:cNvPr>
            <p:cNvSpPr/>
            <p:nvPr/>
          </p:nvSpPr>
          <p:spPr>
            <a:xfrm>
              <a:off x="5057874" y="3517857"/>
              <a:ext cx="1379169" cy="43591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지분율</a:t>
              </a:r>
              <a:endPar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65.2%</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확보</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거래종결 후 </a:t>
            </a:r>
            <a:r>
              <a:rPr lang="en-US" altLang="ko-KR" sz="1600" dirty="0">
                <a:solidFill>
                  <a:schemeClr val="tx1"/>
                </a:solidFill>
              </a:rPr>
              <a:t>2</a:t>
            </a:r>
            <a:r>
              <a:rPr lang="ko-KR" altLang="en-US" sz="1600" dirty="0">
                <a:solidFill>
                  <a:schemeClr val="tx1"/>
                </a:solidFill>
              </a:rPr>
              <a:t>년간 </a:t>
            </a:r>
            <a:r>
              <a:rPr lang="en-US" altLang="ko-KR" sz="1600" dirty="0">
                <a:solidFill>
                  <a:schemeClr val="tx1"/>
                </a:solidFill>
              </a:rPr>
              <a:t>1</a:t>
            </a:r>
            <a:r>
              <a:rPr lang="ko-KR" altLang="en-US" sz="1600" dirty="0">
                <a:solidFill>
                  <a:schemeClr val="tx1"/>
                </a:solidFill>
              </a:rPr>
              <a:t>종 및 </a:t>
            </a:r>
            <a:r>
              <a:rPr lang="en-US" altLang="ko-KR" sz="1600" dirty="0">
                <a:solidFill>
                  <a:schemeClr val="tx1"/>
                </a:solidFill>
              </a:rPr>
              <a:t>2</a:t>
            </a:r>
            <a:r>
              <a:rPr lang="ko-KR" altLang="en-US" sz="1600" dirty="0">
                <a:solidFill>
                  <a:schemeClr val="tx1"/>
                </a:solidFill>
              </a:rPr>
              <a:t>종 우선주 지분 매입을 통하여 ㈜</a:t>
            </a:r>
            <a:r>
              <a:rPr lang="ko-KR" altLang="en-US" sz="1600" dirty="0" err="1">
                <a:solidFill>
                  <a:schemeClr val="tx1"/>
                </a:solidFill>
              </a:rPr>
              <a:t>코람코라이프인프라리츠의</a:t>
            </a:r>
            <a:r>
              <a:rPr lang="ko-KR" altLang="en-US" sz="1600" dirty="0">
                <a:solidFill>
                  <a:schemeClr val="tx1"/>
                </a:solidFill>
              </a:rPr>
              <a:t> </a:t>
            </a:r>
            <a:r>
              <a:rPr lang="ko-KR" altLang="en-US" sz="1600" dirty="0" err="1">
                <a:solidFill>
                  <a:schemeClr val="tx1"/>
                </a:solidFill>
              </a:rPr>
              <a:t>자리츠로</a:t>
            </a:r>
            <a:r>
              <a:rPr lang="ko-KR" altLang="en-US" sz="1600" dirty="0">
                <a:solidFill>
                  <a:schemeClr val="tx1"/>
                </a:solidFill>
              </a:rPr>
              <a:t> 편입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주주간계약 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감자에 대한 내용 합의 및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주주와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투자자 간 매매에 대한 내용 주주간계약 상 포함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r>
              <a:rPr lang="ko-KR" altLang="en-US" sz="1100" b="1" kern="0" dirty="0">
                <a:solidFill>
                  <a:prstClr val="black"/>
                </a:solidFill>
              </a:rPr>
              <a:t>시점</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감정가(3,345억원)에 24개월 경과 분 물가상승률(2%) 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상장리츠로써</a:t>
            </a:r>
            <a:r>
              <a:rPr lang="ko-KR" altLang="en-US" sz="1600" dirty="0">
                <a:solidFill>
                  <a:schemeClr val="tx1"/>
                </a:solidFill>
              </a:rPr>
              <a:t> 금번 투자 시 별도 유상증자 없이 </a:t>
            </a:r>
            <a:r>
              <a:rPr lang="en-US" altLang="ko-KR" sz="1600" dirty="0">
                <a:solidFill>
                  <a:schemeClr val="tx1"/>
                </a:solidFill>
              </a:rPr>
              <a:t>2</a:t>
            </a:r>
            <a:r>
              <a:rPr lang="ko-KR" altLang="en-US" sz="1600" dirty="0">
                <a:solidFill>
                  <a:schemeClr val="tx1"/>
                </a:solidFill>
              </a:rPr>
              <a:t>년의 기간에 걸쳐 단계적으로 매입할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extLst>
              <p:ext uri="{D42A27DB-BD31-4B8C-83A1-F6EECF244321}">
                <p14:modId xmlns:p14="http://schemas.microsoft.com/office/powerpoint/2010/main" val="2267097233"/>
              </p:ext>
            </p:extLst>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인수확약 조건 주요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 확약조건 주요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extLst>
              <p:ext uri="{D42A27DB-BD31-4B8C-83A1-F6EECF244321}">
                <p14:modId xmlns:p14="http://schemas.microsoft.com/office/powerpoint/2010/main" val="1058166299"/>
              </p:ext>
            </p:extLst>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ko-KR" altLang="en-US" sz="900" dirty="0" err="1">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err="1">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err="1">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2815910631"/>
              </p:ext>
            </p:extLst>
          </p:nvPr>
        </p:nvGraphicFramePr>
        <p:xfrm>
          <a:off x="456670" y="2623054"/>
          <a:ext cx="9853513" cy="1840859"/>
        </p:xfrm>
        <a:graphic>
          <a:graphicData uri="http://schemas.openxmlformats.org/drawingml/2006/table">
            <a:tbl>
              <a:tblPr firstRow="1" bandRow="1">
                <a:tableStyleId>{5C22544A-7EE6-4342-B048-85BDC9FD1C3A}</a:tableStyleId>
              </a:tblPr>
              <a:tblGrid>
                <a:gridCol w="1521150">
                  <a:extLst>
                    <a:ext uri="{9D8B030D-6E8A-4147-A177-3AD203B41FA5}">
                      <a16:colId xmlns:a16="http://schemas.microsoft.com/office/drawing/2014/main" val="2497295097"/>
                    </a:ext>
                  </a:extLst>
                </a:gridCol>
                <a:gridCol w="1376652">
                  <a:extLst>
                    <a:ext uri="{9D8B030D-6E8A-4147-A177-3AD203B41FA5}">
                      <a16:colId xmlns:a16="http://schemas.microsoft.com/office/drawing/2014/main" val="3279365848"/>
                    </a:ext>
                  </a:extLst>
                </a:gridCol>
                <a:gridCol w="905691">
                  <a:extLst>
                    <a:ext uri="{9D8B030D-6E8A-4147-A177-3AD203B41FA5}">
                      <a16:colId xmlns:a16="http://schemas.microsoft.com/office/drawing/2014/main" val="2589598502"/>
                    </a:ext>
                  </a:extLst>
                </a:gridCol>
                <a:gridCol w="6050020">
                  <a:extLst>
                    <a:ext uri="{9D8B030D-6E8A-4147-A177-3AD203B41FA5}">
                      <a16:colId xmlns:a16="http://schemas.microsoft.com/office/drawing/2014/main" val="2413943451"/>
                    </a:ext>
                  </a:extLst>
                </a:gridCol>
              </a:tblGrid>
              <a:tr h="22950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2,700억원, 감정가 대비 −19.3%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12,498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662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4,390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대출한도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2,989억원으로 매입금액(90.3%), 매입부대비용(6.3%), 예비현금(3.3%)로 구성</a:t>
            </a:r>
          </a:p>
          <a:p>
            <a:pPr marL="432000" indent="-180000">
              <a:buFont typeface="Arial" panose="020B0604020202020204" pitchFamily="34" charset="0"/>
              <a:buChar char="•"/>
              <a:defRPr/>
            </a:pP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Carry기간 1종 우선주(7.0%) 및 2종 우선주(7.5%) 등 확정배당 지급을 위한 Overfunding금액 100억원 편성</a:t>
            </a:r>
            <a:endParaRPr lang="en-US" altLang="ko-KR" sz="1600" dirty="0">
              <a:solidFill>
                <a:schemeClr val="tx1"/>
              </a:solidFill>
            </a:endParaRP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734125516"/>
              </p:ext>
            </p:extLst>
          </p:nvPr>
        </p:nvGraphicFramePr>
        <p:xfrm>
          <a:off x="458887" y="4823953"/>
          <a:ext cx="9853513" cy="1729740"/>
        </p:xfrm>
        <a:graphic>
          <a:graphicData uri="http://schemas.openxmlformats.org/drawingml/2006/table">
            <a:tbl>
              <a:tblPr firstRow="1" bandRow="1">
                <a:tableStyleId>{5C22544A-7EE6-4342-B048-85BDC9FD1C3A}</a:tableStyleId>
              </a:tblPr>
              <a:tblGrid>
                <a:gridCol w="1517858">
                  <a:extLst>
                    <a:ext uri="{9D8B030D-6E8A-4147-A177-3AD203B41FA5}">
                      <a16:colId xmlns:a16="http://schemas.microsoft.com/office/drawing/2014/main" val="111567077"/>
                    </a:ext>
                  </a:extLst>
                </a:gridCol>
                <a:gridCol w="1373670">
                  <a:extLst>
                    <a:ext uri="{9D8B030D-6E8A-4147-A177-3AD203B41FA5}">
                      <a16:colId xmlns:a16="http://schemas.microsoft.com/office/drawing/2014/main" val="4230421169"/>
                    </a:ext>
                  </a:extLst>
                </a:gridCol>
                <a:gridCol w="903731">
                  <a:extLst>
                    <a:ext uri="{9D8B030D-6E8A-4147-A177-3AD203B41FA5}">
                      <a16:colId xmlns:a16="http://schemas.microsoft.com/office/drawing/2014/main" val="1121758613"/>
                    </a:ext>
                  </a:extLst>
                </a:gridCol>
                <a:gridCol w="1771312">
                  <a:extLst>
                    <a:ext uri="{9D8B030D-6E8A-4147-A177-3AD203B41FA5}">
                      <a16:colId xmlns:a16="http://schemas.microsoft.com/office/drawing/2014/main" val="3132496807"/>
                    </a:ext>
                  </a:extLst>
                </a:gridCol>
                <a:gridCol w="1192924">
                  <a:extLst>
                    <a:ext uri="{9D8B030D-6E8A-4147-A177-3AD203B41FA5}">
                      <a16:colId xmlns:a16="http://schemas.microsoft.com/office/drawing/2014/main" val="3876656458"/>
                    </a:ext>
                  </a:extLst>
                </a:gridCol>
                <a:gridCol w="3094018">
                  <a:extLst>
                    <a:ext uri="{9D8B030D-6E8A-4147-A177-3AD203B41FA5}">
                      <a16:colId xmlns:a16="http://schemas.microsoft.com/office/drawing/2014/main" val="1684827944"/>
                    </a:ext>
                  </a:extLst>
                </a:gridCol>
              </a:tblGrid>
              <a:tr h="16002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16002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Tr.A</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4.78%, 수수료 1.45% (All-in 5.50%)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rowSpan="2">
                  <a:txBody>
                    <a:bodyPr/>
                    <a:lstStyle/>
                    <a:p>
                      <a:pPr algn="l">
                        <a:buNone/>
                      </a:pPr>
                      <a:r>
                        <a:rPr lang="ko-KR" altLang="en-US" sz="1000" dirty="0">
                          <a:solidFill>
                            <a:srgbClr val="1F1F1F"/>
                          </a:solidFill>
                          <a:latin typeface="KoPubWorld돋움체 Light"/>
                          <a:ea typeface="KoPubWorld돋움체 Light"/>
                          <a:cs typeface="KoPubWorld돋움체 Light"/>
                        </a:rPr>
                        <a:t>우리은행 심사 완료(9/3), 대출약정 협의 중</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Tr.B</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6.00%, 수수료 1.00% (All-in 6.50%)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buNone/>
                      </a:pPr>
                      <a:r>
                        <a:rPr sz="1000"/>
                        <a:t>우리은행 등, 심사 완료</a:t>
                      </a:r>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a:solidFill>
                            <a:srgbClr val="1F1F1F"/>
                          </a:solidFill>
                          <a:latin typeface="KoPubWorld돋움체 Light"/>
                          <a:ea typeface="KoPubWorld돋움체 Light"/>
                          <a:cs typeface="KoPubWorld돋움체 Light"/>
                        </a:rPr>
                        <a:t>우리투자증권 인수확약서(LOC) 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119820624"/>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삼성증권 인수확약서(LOC) 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920661005"/>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a:t>
                      </a:r>
                      <a:r>
                        <a:rPr lang="en-US" altLang="ko-KR" sz="1000" dirty="0">
                          <a:solidFill>
                            <a:srgbClr val="1F1F1F"/>
                          </a:solidFill>
                          <a:latin typeface="KoPubWorld돋움체 Light"/>
                          <a:ea typeface="KoPubWorld돋움체 Light"/>
                          <a:cs typeface="KoPubWorld돋움체 Light"/>
                        </a:rPr>
                        <a:t>, </a:t>
                      </a:r>
                      <a:r>
                        <a:rPr lang="ko-KR" altLang="en-US" sz="1000" dirty="0">
                          <a:solidFill>
                            <a:srgbClr val="1F1F1F"/>
                          </a:solidFill>
                          <a:latin typeface="KoPubWorld돋움체 Light"/>
                          <a:ea typeface="KoPubWorld돋움체 Light"/>
                          <a:cs typeface="KoPubWorld돋움체 Light"/>
                        </a:rPr>
                        <a:t>무의결권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㈜엘에프 재투자 (주주간계약 협의 중)</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039941698"/>
                  </a:ext>
                </a:extLst>
              </a:tr>
              <a:tr h="160020">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KLI리츠 이사회 승인 예정(10/1)</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160020">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25369"/>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임차인별 임대차 조건</a:t>
              </a: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A2BA5460-34B4-8A94-2B27-9C7E32745FE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운영가정 — 임대차 현황</a:t>
            </a:r>
          </a:p>
        </p:txBody>
      </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3888442869"/>
              </p:ext>
            </p:extLst>
          </p:nvPr>
        </p:nvGraphicFramePr>
        <p:xfrm>
          <a:off x="457200" y="2374901"/>
          <a:ext cx="7048946" cy="3839736"/>
        </p:xfrm>
        <a:graphic>
          <a:graphicData uri="http://schemas.openxmlformats.org/drawingml/2006/table">
            <a:tbl>
              <a:tblPr>
                <a:tableStyleId>{5C22544A-7EE6-4342-B048-85BDC9FD1C3A}</a:tableStyleId>
              </a:tblPr>
              <a:tblGrid>
                <a:gridCol w="397904">
                  <a:extLst>
                    <a:ext uri="{9D8B030D-6E8A-4147-A177-3AD203B41FA5}">
                      <a16:colId xmlns:a16="http://schemas.microsoft.com/office/drawing/2014/main" val="646663967"/>
                    </a:ext>
                  </a:extLst>
                </a:gridCol>
                <a:gridCol w="804995">
                  <a:extLst>
                    <a:ext uri="{9D8B030D-6E8A-4147-A177-3AD203B41FA5}">
                      <a16:colId xmlns:a16="http://schemas.microsoft.com/office/drawing/2014/main" val="1425530335"/>
                    </a:ext>
                  </a:extLst>
                </a:gridCol>
                <a:gridCol w="658970">
                  <a:extLst>
                    <a:ext uri="{9D8B030D-6E8A-4147-A177-3AD203B41FA5}">
                      <a16:colId xmlns:a16="http://schemas.microsoft.com/office/drawing/2014/main" val="413513969"/>
                    </a:ext>
                  </a:extLst>
                </a:gridCol>
                <a:gridCol w="849524">
                  <a:extLst>
                    <a:ext uri="{9D8B030D-6E8A-4147-A177-3AD203B41FA5}">
                      <a16:colId xmlns:a16="http://schemas.microsoft.com/office/drawing/2014/main" val="1127324243"/>
                    </a:ext>
                  </a:extLst>
                </a:gridCol>
                <a:gridCol w="936265">
                  <a:extLst>
                    <a:ext uri="{9D8B030D-6E8A-4147-A177-3AD203B41FA5}">
                      <a16:colId xmlns:a16="http://schemas.microsoft.com/office/drawing/2014/main" val="2697937942"/>
                    </a:ext>
                  </a:extLst>
                </a:gridCol>
                <a:gridCol w="936265">
                  <a:extLst>
                    <a:ext uri="{9D8B030D-6E8A-4147-A177-3AD203B41FA5}">
                      <a16:colId xmlns:a16="http://schemas.microsoft.com/office/drawing/2014/main" val="2263992824"/>
                    </a:ext>
                  </a:extLst>
                </a:gridCol>
                <a:gridCol w="936265">
                  <a:extLst>
                    <a:ext uri="{9D8B030D-6E8A-4147-A177-3AD203B41FA5}">
                      <a16:colId xmlns:a16="http://schemas.microsoft.com/office/drawing/2014/main" val="1076015135"/>
                    </a:ext>
                  </a:extLst>
                </a:gridCol>
                <a:gridCol w="936265">
                  <a:extLst>
                    <a:ext uri="{9D8B030D-6E8A-4147-A177-3AD203B41FA5}">
                      <a16:colId xmlns:a16="http://schemas.microsoft.com/office/drawing/2014/main" val="4128469592"/>
                    </a:ext>
                  </a:extLst>
                </a:gridCol>
                <a:gridCol w="592493">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buNone/>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buNone/>
                      </a:pPr>
                      <a:endParaRPr lang="ko-KR" altLang="en-US"/>
                    </a:p>
                  </a:txBody>
                  <a:tcPr/>
                </a:tc>
                <a:tc vMerge="1">
                  <a:txBody>
                    <a:bodyPr/>
                    <a:lstStyle/>
                    <a:p>
                      <a:pPr algn="ctr" latinLnBrk="0">
                        <a:spcBef>
                          <a:spcPts val="200"/>
                        </a:spcBef>
                        <a:spcAft>
                          <a:spcPts val="200"/>
                        </a:spcAft>
                        <a:buNone/>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a:buNone/>
                      </a:pPr>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만기 예정인 임차인</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을 활용한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04173"/>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graphicFrame>
        <p:nvGraphicFramePr>
          <p:cNvPr id="10" name="표 9">
            <a:extLst>
              <a:ext uri="{FF2B5EF4-FFF2-40B4-BE49-F238E27FC236}">
                <a16:creationId xmlns:a16="http://schemas.microsoft.com/office/drawing/2014/main" id="{D894288A-0D8F-3146-7FF5-A48B02CF082C}"/>
              </a:ext>
            </a:extLst>
          </p:cNvPr>
          <p:cNvGraphicFramePr>
            <a:graphicFrameLocks noGrp="1"/>
          </p:cNvGraphicFramePr>
          <p:nvPr>
            <p:extLst>
              <p:ext uri="{D42A27DB-BD31-4B8C-83A1-F6EECF244321}">
                <p14:modId xmlns:p14="http://schemas.microsoft.com/office/powerpoint/2010/main" val="2803096935"/>
              </p:ext>
            </p:extLst>
          </p:nvPr>
        </p:nvGraphicFramePr>
        <p:xfrm>
          <a:off x="7650162" y="2374902"/>
          <a:ext cx="2772308" cy="4050792"/>
        </p:xfrm>
        <a:graphic>
          <a:graphicData uri="http://schemas.openxmlformats.org/drawingml/2006/table">
            <a:tbl>
              <a:tblPr/>
              <a:tblGrid>
                <a:gridCol w="219436">
                  <a:extLst>
                    <a:ext uri="{9D8B030D-6E8A-4147-A177-3AD203B41FA5}">
                      <a16:colId xmlns:a16="http://schemas.microsoft.com/office/drawing/2014/main" val="3467979851"/>
                    </a:ext>
                  </a:extLst>
                </a:gridCol>
                <a:gridCol w="29983">
                  <a:extLst>
                    <a:ext uri="{9D8B030D-6E8A-4147-A177-3AD203B41FA5}">
                      <a16:colId xmlns:a16="http://schemas.microsoft.com/office/drawing/2014/main" val="3846343154"/>
                    </a:ext>
                  </a:extLst>
                </a:gridCol>
                <a:gridCol w="247069">
                  <a:extLst>
                    <a:ext uri="{9D8B030D-6E8A-4147-A177-3AD203B41FA5}">
                      <a16:colId xmlns:a16="http://schemas.microsoft.com/office/drawing/2014/main" val="3447968702"/>
                    </a:ext>
                  </a:extLst>
                </a:gridCol>
                <a:gridCol w="475716">
                  <a:extLst>
                    <a:ext uri="{9D8B030D-6E8A-4147-A177-3AD203B41FA5}">
                      <a16:colId xmlns:a16="http://schemas.microsoft.com/office/drawing/2014/main" val="3579879218"/>
                    </a:ext>
                  </a:extLst>
                </a:gridCol>
                <a:gridCol w="265490">
                  <a:extLst>
                    <a:ext uri="{9D8B030D-6E8A-4147-A177-3AD203B41FA5}">
                      <a16:colId xmlns:a16="http://schemas.microsoft.com/office/drawing/2014/main" val="3904375968"/>
                    </a:ext>
                  </a:extLst>
                </a:gridCol>
                <a:gridCol w="341814">
                  <a:extLst>
                    <a:ext uri="{9D8B030D-6E8A-4147-A177-3AD203B41FA5}">
                      <a16:colId xmlns:a16="http://schemas.microsoft.com/office/drawing/2014/main" val="2083001267"/>
                    </a:ext>
                  </a:extLst>
                </a:gridCol>
                <a:gridCol w="409011">
                  <a:extLst>
                    <a:ext uri="{9D8B030D-6E8A-4147-A177-3AD203B41FA5}">
                      <a16:colId xmlns:a16="http://schemas.microsoft.com/office/drawing/2014/main" val="1671789582"/>
                    </a:ext>
                  </a:extLst>
                </a:gridCol>
                <a:gridCol w="124111">
                  <a:extLst>
                    <a:ext uri="{9D8B030D-6E8A-4147-A177-3AD203B41FA5}">
                      <a16:colId xmlns:a16="http://schemas.microsoft.com/office/drawing/2014/main" val="3287685345"/>
                    </a:ext>
                  </a:extLst>
                </a:gridCol>
                <a:gridCol w="135557">
                  <a:extLst>
                    <a:ext uri="{9D8B030D-6E8A-4147-A177-3AD203B41FA5}">
                      <a16:colId xmlns:a16="http://schemas.microsoft.com/office/drawing/2014/main" val="4121997976"/>
                    </a:ext>
                  </a:extLst>
                </a:gridCol>
                <a:gridCol w="29983">
                  <a:extLst>
                    <a:ext uri="{9D8B030D-6E8A-4147-A177-3AD203B41FA5}">
                      <a16:colId xmlns:a16="http://schemas.microsoft.com/office/drawing/2014/main" val="2117112774"/>
                    </a:ext>
                  </a:extLst>
                </a:gridCol>
                <a:gridCol w="247069">
                  <a:extLst>
                    <a:ext uri="{9D8B030D-6E8A-4147-A177-3AD203B41FA5}">
                      <a16:colId xmlns:a16="http://schemas.microsoft.com/office/drawing/2014/main" val="387710068"/>
                    </a:ext>
                  </a:extLst>
                </a:gridCol>
                <a:gridCol w="247069">
                  <a:extLst>
                    <a:ext uri="{9D8B030D-6E8A-4147-A177-3AD203B41FA5}">
                      <a16:colId xmlns:a16="http://schemas.microsoft.com/office/drawing/2014/main" val="1623982421"/>
                    </a:ext>
                  </a:extLst>
                </a:gridCol>
              </a:tblGrid>
              <a:tr h="298196">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479평</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207평</a:t>
                      </a: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298196">
                <a:tc gridSpan="11">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algn="ctr" rtl="0" fontAlgn="ctr">
                        <a:buNone/>
                      </a:pP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1009396">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tc>
                <a:tc hMerge="1">
                  <a:txBody>
                    <a:bodyPr/>
                    <a:lstStyle/>
                    <a:p>
                      <a:pPr latinLnBrk="1">
                        <a:buNone/>
                      </a:pPr>
                      <a:endParaRPr lang="ko-KR" altLang="en-US"/>
                    </a:p>
                  </a:txBody>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1,093평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lnL w="6350" cap="flat" cmpd="sng" algn="ctr">
                      <a:solidFill>
                        <a:schemeClr val="bg1">
                          <a:lumMod val="75000"/>
                        </a:schemeClr>
                      </a:solidFill>
                      <a:prstDash val="solid"/>
                      <a:round/>
                      <a:headEnd type="none" w="med" len="med"/>
                      <a:tailEnd type="none" w="med" len="med"/>
                    </a:lnL>
                  </a:tcPr>
                </a:tc>
                <a:tc hMerge="1">
                  <a:txBody>
                    <a:bodyPr/>
                    <a:lstStyle/>
                    <a:p>
                      <a:pPr latinLnBrk="1">
                        <a:buNone/>
                      </a:pPr>
                      <a:endParaRPr lang="ko-KR" altLang="en-US"/>
                    </a:p>
                  </a:txBody>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8196">
                <a:tc gridSpan="11">
                  <a:txBody>
                    <a:bodyPr/>
                    <a:lstStyle/>
                    <a:p>
                      <a:pPr algn="ct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mpd="sng">
                      <a:noFill/>
                      <a:prstDash val="solid"/>
                    </a:lnL>
                  </a:tcPr>
                </a:tc>
                <a:tc hMerge="1">
                  <a:txBody>
                    <a:bodyPr/>
                    <a:lstStyle/>
                    <a:p>
                      <a:pPr latinLnBrk="1">
                        <a:buNone/>
                      </a:pPr>
                      <a:endParaRPr lang="ko-KR" altLang="en-US"/>
                    </a:p>
                  </a:txBody>
                  <a:tcPr>
                    <a:lnL w="12700" cmpd="sng">
                      <a:noFill/>
                      <a:prstDash val="solid"/>
                    </a:lnL>
                  </a:tcPr>
                </a:tc>
                <a:tc hMerge="1">
                  <a:txBody>
                    <a:bodyPr/>
                    <a:lstStyle/>
                    <a:p>
                      <a:pPr latinLnBrk="1">
                        <a:buNone/>
                      </a:pPr>
                      <a:endParaRPr lang="ko-KR" altLang="en-US"/>
                    </a:p>
                  </a:txBody>
                  <a:tcPr/>
                </a:tc>
                <a:tc hMerge="1">
                  <a:txBody>
                    <a:bodyPr/>
                    <a:lstStyle/>
                    <a:p>
                      <a:pPr latinLnBrk="1">
                        <a:buNone/>
                      </a:pPr>
                      <a:endParaRPr lang="ko-KR" altLang="en-US"/>
                    </a:p>
                  </a:txBody>
                  <a:tcPr>
                    <a:lnL w="12700" cmpd="sng">
                      <a:noFill/>
                      <a:prstDash val="soli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algn="ctr" latinLnBrk="1">
                        <a:buNone/>
                      </a:pPr>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126983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운영비용</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3백만원/월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67백만원/월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9272567" y="2555164"/>
            <a:ext cx="757194"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1,838원/평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2,142원/평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0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1360572879"/>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 </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637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4.8%</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288,900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4.57%</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측 운영비용 검토 후 </a:t>
            </a:r>
            <a:r>
              <a:rPr lang="en-US" altLang="ko-KR" sz="1600" spc="-20" dirty="0">
                <a:solidFill>
                  <a:schemeClr val="tx1"/>
                </a:solidFill>
              </a:rPr>
              <a:t>CPM</a:t>
            </a:r>
            <a:r>
              <a:rPr lang="ko-KR" altLang="en-US" sz="1600" spc="-20" dirty="0">
                <a:solidFill>
                  <a:schemeClr val="tx1"/>
                </a:solidFill>
              </a:rPr>
              <a:t>을 활용한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절감 비용 적용하였으며</a:t>
            </a:r>
            <a:r>
              <a:rPr lang="en-US" altLang="ko-KR" sz="1600" spc="-20" dirty="0">
                <a:solidFill>
                  <a:schemeClr val="tx1"/>
                </a:solidFill>
              </a:rPr>
              <a:t>, </a:t>
            </a:r>
            <a:r>
              <a:rPr lang="ko-KR" altLang="en-US" sz="1600" spc="-20" dirty="0" err="1">
                <a:solidFill>
                  <a:schemeClr val="tx1"/>
                </a:solidFill>
              </a:rPr>
              <a:t>수도광열비는</a:t>
            </a:r>
            <a:r>
              <a:rPr lang="ko-KR" altLang="en-US" sz="1600" spc="-20" dirty="0">
                <a:solidFill>
                  <a:schemeClr val="tx1"/>
                </a:solidFill>
              </a:rPr>
              <a:t> 임차인 부담임</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3627288703"/>
              </p:ext>
            </p:extLst>
          </p:nvPr>
        </p:nvGraphicFramePr>
        <p:xfrm>
          <a:off x="449263" y="2374900"/>
          <a:ext cx="9863140" cy="4094334"/>
        </p:xfrm>
        <a:graphic>
          <a:graphicData uri="http://schemas.openxmlformats.org/drawingml/2006/table">
            <a:tbl>
              <a:tblPr>
                <a:tableStyleId>{5C22544A-7EE6-4342-B048-85BDC9FD1C3A}</a:tableStyleId>
              </a:tblPr>
              <a:tblGrid>
                <a:gridCol w="1011994">
                  <a:extLst>
                    <a:ext uri="{9D8B030D-6E8A-4147-A177-3AD203B41FA5}">
                      <a16:colId xmlns:a16="http://schemas.microsoft.com/office/drawing/2014/main" val="2657387137"/>
                    </a:ext>
                  </a:extLst>
                </a:gridCol>
                <a:gridCol w="1011994">
                  <a:extLst>
                    <a:ext uri="{9D8B030D-6E8A-4147-A177-3AD203B41FA5}">
                      <a16:colId xmlns:a16="http://schemas.microsoft.com/office/drawing/2014/main" val="646663967"/>
                    </a:ext>
                  </a:extLst>
                </a:gridCol>
                <a:gridCol w="678919">
                  <a:extLst>
                    <a:ext uri="{9D8B030D-6E8A-4147-A177-3AD203B41FA5}">
                      <a16:colId xmlns:a16="http://schemas.microsoft.com/office/drawing/2014/main" val="1425530335"/>
                    </a:ext>
                  </a:extLst>
                </a:gridCol>
                <a:gridCol w="678919">
                  <a:extLst>
                    <a:ext uri="{9D8B030D-6E8A-4147-A177-3AD203B41FA5}">
                      <a16:colId xmlns:a16="http://schemas.microsoft.com/office/drawing/2014/main" val="413513969"/>
                    </a:ext>
                  </a:extLst>
                </a:gridCol>
                <a:gridCol w="694451">
                  <a:extLst>
                    <a:ext uri="{9D8B030D-6E8A-4147-A177-3AD203B41FA5}">
                      <a16:colId xmlns:a16="http://schemas.microsoft.com/office/drawing/2014/main" val="1127324243"/>
                    </a:ext>
                  </a:extLst>
                </a:gridCol>
                <a:gridCol w="678919">
                  <a:extLst>
                    <a:ext uri="{9D8B030D-6E8A-4147-A177-3AD203B41FA5}">
                      <a16:colId xmlns:a16="http://schemas.microsoft.com/office/drawing/2014/main" val="3372183182"/>
                    </a:ext>
                  </a:extLst>
                </a:gridCol>
                <a:gridCol w="678919">
                  <a:extLst>
                    <a:ext uri="{9D8B030D-6E8A-4147-A177-3AD203B41FA5}">
                      <a16:colId xmlns:a16="http://schemas.microsoft.com/office/drawing/2014/main" val="2366460184"/>
                    </a:ext>
                  </a:extLst>
                </a:gridCol>
                <a:gridCol w="678919">
                  <a:extLst>
                    <a:ext uri="{9D8B030D-6E8A-4147-A177-3AD203B41FA5}">
                      <a16:colId xmlns:a16="http://schemas.microsoft.com/office/drawing/2014/main" val="3036774309"/>
                    </a:ext>
                  </a:extLst>
                </a:gridCol>
                <a:gridCol w="678919">
                  <a:extLst>
                    <a:ext uri="{9D8B030D-6E8A-4147-A177-3AD203B41FA5}">
                      <a16:colId xmlns:a16="http://schemas.microsoft.com/office/drawing/2014/main" val="2695928432"/>
                    </a:ext>
                  </a:extLst>
                </a:gridCol>
                <a:gridCol w="678919">
                  <a:extLst>
                    <a:ext uri="{9D8B030D-6E8A-4147-A177-3AD203B41FA5}">
                      <a16:colId xmlns:a16="http://schemas.microsoft.com/office/drawing/2014/main" val="347705897"/>
                    </a:ext>
                  </a:extLst>
                </a:gridCol>
                <a:gridCol w="678919">
                  <a:extLst>
                    <a:ext uri="{9D8B030D-6E8A-4147-A177-3AD203B41FA5}">
                      <a16:colId xmlns:a16="http://schemas.microsoft.com/office/drawing/2014/main" val="3591845056"/>
                    </a:ext>
                  </a:extLst>
                </a:gridCol>
                <a:gridCol w="684097">
                  <a:extLst>
                    <a:ext uri="{9D8B030D-6E8A-4147-A177-3AD203B41FA5}">
                      <a16:colId xmlns:a16="http://schemas.microsoft.com/office/drawing/2014/main" val="1815909224"/>
                    </a:ext>
                  </a:extLst>
                </a:gridCol>
                <a:gridCol w="1029252">
                  <a:extLst>
                    <a:ext uri="{9D8B030D-6E8A-4147-A177-3AD203B41FA5}">
                      <a16:colId xmlns:a16="http://schemas.microsoft.com/office/drawing/2014/main" val="2941370719"/>
                    </a:ext>
                  </a:extLst>
                </a:gridCol>
              </a:tblGrid>
              <a:tr h="227463">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7463">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27463">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375,861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임대료 상승으로 NOI는 1년차 13,105 → 10년차 17,673백만원 증가 예상</a:t>
            </a: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3년차는 쿠팡 연장 Rent-Free 5개월 적용으로 일시 감소 / 매각가치 375,861백만원</a:t>
            </a:r>
            <a:endParaRPr lang="en-US" altLang="ko-KR" sz="1600" spc="-20" dirty="0">
              <a:solidFill>
                <a:schemeClr val="tx1"/>
              </a:solidFill>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16141"/>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grpSp>
        <p:nvGrpSpPr>
          <p:cNvPr id="15" name="그룹 14">
            <a:extLst>
              <a:ext uri="{FF2B5EF4-FFF2-40B4-BE49-F238E27FC236}">
                <a16:creationId xmlns:a16="http://schemas.microsoft.com/office/drawing/2014/main" id="{601AF56A-8A6E-C9D1-B315-85CF6DD6EE35}"/>
              </a:ext>
            </a:extLst>
          </p:cNvPr>
          <p:cNvGrpSpPr/>
          <p:nvPr/>
        </p:nvGrpSpPr>
        <p:grpSpPr>
          <a:xfrm>
            <a:off x="387808" y="2345228"/>
            <a:ext cx="883575" cy="261610"/>
            <a:chOff x="455544" y="-592941"/>
            <a:chExt cx="883575" cy="261610"/>
          </a:xfrm>
        </p:grpSpPr>
        <p:sp>
          <p:nvSpPr>
            <p:cNvPr id="16" name="TextBox 15">
              <a:extLst>
                <a:ext uri="{FF2B5EF4-FFF2-40B4-BE49-F238E27FC236}">
                  <a16:creationId xmlns:a16="http://schemas.microsoft.com/office/drawing/2014/main" id="{6350769D-3867-5780-76AF-6A6D75867CC4}"/>
                </a:ext>
              </a:extLst>
            </p:cNvPr>
            <p:cNvSpPr txBox="1"/>
            <p:nvPr/>
          </p:nvSpPr>
          <p:spPr>
            <a:xfrm>
              <a:off x="455544" y="-592941"/>
              <a:ext cx="883575"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1종 우선주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 name="직사각형 16">
              <a:extLst>
                <a:ext uri="{FF2B5EF4-FFF2-40B4-BE49-F238E27FC236}">
                  <a16:creationId xmlns:a16="http://schemas.microsoft.com/office/drawing/2014/main" id="{D3260FCF-8333-A793-68A9-059515C8BFD3}"/>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8" name="그룹 17">
            <a:extLst>
              <a:ext uri="{FF2B5EF4-FFF2-40B4-BE49-F238E27FC236}">
                <a16:creationId xmlns:a16="http://schemas.microsoft.com/office/drawing/2014/main" id="{B3CCCC5D-2EE0-BE14-B559-41AF17B0D7B2}"/>
              </a:ext>
            </a:extLst>
          </p:cNvPr>
          <p:cNvGrpSpPr/>
          <p:nvPr/>
        </p:nvGrpSpPr>
        <p:grpSpPr>
          <a:xfrm>
            <a:off x="5294026" y="2345228"/>
            <a:ext cx="638316" cy="261610"/>
            <a:chOff x="455544" y="-592941"/>
            <a:chExt cx="638316" cy="261610"/>
          </a:xfrm>
        </p:grpSpPr>
        <p:sp>
          <p:nvSpPr>
            <p:cNvPr id="19" name="TextBox 18">
              <a:extLst>
                <a:ext uri="{FF2B5EF4-FFF2-40B4-BE49-F238E27FC236}">
                  <a16:creationId xmlns:a16="http://schemas.microsoft.com/office/drawing/2014/main" id="{23769EC3-168D-0B65-B2B0-B713931C7691}"/>
                </a:ext>
              </a:extLst>
            </p:cNvPr>
            <p:cNvSpPr txBox="1"/>
            <p:nvPr/>
          </p:nvSpPr>
          <p:spPr>
            <a:xfrm>
              <a:off x="455544" y="-592941"/>
              <a:ext cx="6383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2종 우선주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6" name="직사각형 25">
              <a:extLst>
                <a:ext uri="{FF2B5EF4-FFF2-40B4-BE49-F238E27FC236}">
                  <a16:creationId xmlns:a16="http://schemas.microsoft.com/office/drawing/2014/main" id="{302B0E5E-EC69-9B85-240B-7B0E047C340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3" name="TextBox 2">
            <a:extLst>
              <a:ext uri="{FF2B5EF4-FFF2-40B4-BE49-F238E27FC236}">
                <a16:creationId xmlns:a16="http://schemas.microsoft.com/office/drawing/2014/main" id="{2B4CCA83-9A22-1CB6-4F81-E017FC8936F5}"/>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 name="TextBox 3">
            <a:extLst>
              <a:ext uri="{FF2B5EF4-FFF2-40B4-BE49-F238E27FC236}">
                <a16:creationId xmlns:a16="http://schemas.microsoft.com/office/drawing/2014/main" id="{B4CB1B30-0EFA-169B-C42C-AB0054EC3753}"/>
              </a:ext>
            </a:extLst>
          </p:cNvPr>
          <p:cNvSpPr txBox="1"/>
          <p:nvPr/>
        </p:nvSpPr>
        <p:spPr>
          <a:xfrm>
            <a:off x="8310999" y="2339677"/>
            <a:ext cx="1993005"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 가정 투자자별 수익률은 1종 IRR 7.12%, 2종 IRR 9.24%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제1종·제2종 우선주는 누적적 확정 배당수익률 연 7.0%, 7.5%를 각각 지급 예정</a:t>
            </a:r>
          </a:p>
        </p:txBody>
      </p:sp>
      <p:sp>
        <p:nvSpPr>
          <p:cNvPr id="6" name="TextBox 5">
            <a:extLst>
              <a:ext uri="{FF2B5EF4-FFF2-40B4-BE49-F238E27FC236}">
                <a16:creationId xmlns:a16="http://schemas.microsoft.com/office/drawing/2014/main" id="{1131AC5F-CF17-F601-E40D-1D962581CB60}"/>
              </a:ext>
            </a:extLst>
          </p:cNvPr>
          <p:cNvSpPr txBox="1"/>
          <p:nvPr/>
        </p:nvSpPr>
        <p:spPr>
          <a:xfrm>
            <a:off x="5330249" y="6842354"/>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전 </a:t>
            </a:r>
            <a:r>
              <a:rPr lang="ko-KR" altLang="en-US" sz="1000" dirty="0" err="1">
                <a:latin typeface="KoPubWorld돋움체 Light" panose="00000300000000000000" pitchFamily="2" charset="-127"/>
                <a:ea typeface="KoPubWorld돋움체 Light" panose="00000300000000000000" pitchFamily="2" charset="-127"/>
              </a:rPr>
              <a:t>무수익</a:t>
            </a:r>
            <a:r>
              <a:rPr lang="ko-KR" altLang="en-US" sz="1000" dirty="0">
                <a:latin typeface="KoPubWorld돋움체 Light" panose="00000300000000000000" pitchFamily="2" charset="-127"/>
                <a:ea typeface="KoPubWorld돋움체 Light" panose="00000300000000000000" pitchFamily="2" charset="-127"/>
              </a:rPr>
              <a:t> 기간 최소 배당수익률 확보를 위한 지급 </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자본준비금 감액</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3178394597"/>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7.12%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aphicFrame>
        <p:nvGraphicFramePr>
          <p:cNvPr id="38" name="Table 6">
            <a:extLst>
              <a:ext uri="{FF2B5EF4-FFF2-40B4-BE49-F238E27FC236}">
                <a16:creationId xmlns:a16="http://schemas.microsoft.com/office/drawing/2014/main" id="{446ECC06-05D8-1C90-8485-820ECD690FB6}"/>
              </a:ext>
            </a:extLst>
          </p:cNvPr>
          <p:cNvGraphicFramePr>
            <a:graphicFrameLocks noGrp="1"/>
          </p:cNvGraphicFramePr>
          <p:nvPr>
            <p:extLst>
              <p:ext uri="{D42A27DB-BD31-4B8C-83A1-F6EECF244321}">
                <p14:modId xmlns:p14="http://schemas.microsoft.com/office/powerpoint/2010/main" val="1664228264"/>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12,115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13,990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56.0%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37,500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12,115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49,615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47" name="TextBox 46">
            <a:extLst>
              <a:ext uri="{FF2B5EF4-FFF2-40B4-BE49-F238E27FC236}">
                <a16:creationId xmlns:a16="http://schemas.microsoft.com/office/drawing/2014/main" id="{68D12BFB-CAE7-E3EA-0377-B16E52D51660}"/>
              </a:ext>
            </a:extLst>
          </p:cNvPr>
          <p:cNvSpPr txBox="1"/>
          <p:nvPr/>
        </p:nvSpPr>
        <p:spPr>
          <a:xfrm>
            <a:off x="458886" y="6840177"/>
            <a:ext cx="4630951" cy="246221"/>
          </a:xfrm>
          <a:prstGeom prst="rect">
            <a:avLst/>
          </a:prstGeom>
          <a:noFill/>
        </p:spPr>
        <p:txBody>
          <a:bodyPr wrap="square" rtlCol="0">
            <a:spAutoFit/>
          </a:bodyPr>
          <a:lstStyle/>
          <a:p>
            <a:r>
              <a:rPr lang="ko-KR" altLang="en-US" sz="1000" dirty="0">
                <a:latin typeface="KoPubWorld돋움체 Light" panose="00000300000000000000" pitchFamily="2" charset="-127"/>
                <a:ea typeface="KoPubWorld돋움체 Light" panose="00000300000000000000" pitchFamily="2" charset="-127"/>
              </a:rPr>
              <a:t>Source: 재무모델 2026-09-15 인가ver(v02) IM 탭(B25:N51)</a:t>
            </a:r>
          </a:p>
        </p:txBody>
      </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grpSp>
        <p:nvGrpSpPr>
          <p:cNvPr id="3" name="그룹 2">
            <a:extLst>
              <a:ext uri="{FF2B5EF4-FFF2-40B4-BE49-F238E27FC236}">
                <a16:creationId xmlns:a16="http://schemas.microsoft.com/office/drawing/2014/main" id="{44B03149-DBC8-7FB7-ACFD-E2DE419B9E70}"/>
              </a:ext>
            </a:extLst>
          </p:cNvPr>
          <p:cNvGrpSpPr/>
          <p:nvPr/>
        </p:nvGrpSpPr>
        <p:grpSpPr>
          <a:xfrm>
            <a:off x="385897" y="2345675"/>
            <a:ext cx="883575" cy="261610"/>
            <a:chOff x="455544" y="-592941"/>
            <a:chExt cx="883575" cy="261610"/>
          </a:xfrm>
        </p:grpSpPr>
        <p:sp>
          <p:nvSpPr>
            <p:cNvPr id="4" name="TextBox 3">
              <a:extLst>
                <a:ext uri="{FF2B5EF4-FFF2-40B4-BE49-F238E27FC236}">
                  <a16:creationId xmlns:a16="http://schemas.microsoft.com/office/drawing/2014/main" id="{812B0DAC-D844-A91B-3577-4AF57BE2A4F4}"/>
                </a:ext>
              </a:extLst>
            </p:cNvPr>
            <p:cNvSpPr txBox="1"/>
            <p:nvPr/>
          </p:nvSpPr>
          <p:spPr>
            <a:xfrm>
              <a:off x="455544" y="-592941"/>
              <a:ext cx="883575"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3종 우선주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 name="직사각형 4">
              <a:extLst>
                <a:ext uri="{FF2B5EF4-FFF2-40B4-BE49-F238E27FC236}">
                  <a16:creationId xmlns:a16="http://schemas.microsoft.com/office/drawing/2014/main" id="{E56DD97F-8AA6-67B8-3DA8-D51EA38E293A}"/>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6" name="그룹 5">
            <a:extLst>
              <a:ext uri="{FF2B5EF4-FFF2-40B4-BE49-F238E27FC236}">
                <a16:creationId xmlns:a16="http://schemas.microsoft.com/office/drawing/2014/main" id="{3C21D126-6AC6-1731-9498-34F23C2F0084}"/>
              </a:ext>
            </a:extLst>
          </p:cNvPr>
          <p:cNvGrpSpPr/>
          <p:nvPr/>
        </p:nvGrpSpPr>
        <p:grpSpPr>
          <a:xfrm>
            <a:off x="5298281" y="2346255"/>
            <a:ext cx="883575" cy="261610"/>
            <a:chOff x="458630" y="-592941"/>
            <a:chExt cx="883575" cy="261610"/>
          </a:xfrm>
        </p:grpSpPr>
        <p:sp>
          <p:nvSpPr>
            <p:cNvPr id="7" name="TextBox 6">
              <a:extLst>
                <a:ext uri="{FF2B5EF4-FFF2-40B4-BE49-F238E27FC236}">
                  <a16:creationId xmlns:a16="http://schemas.microsoft.com/office/drawing/2014/main" id="{9F4864B3-9ACD-9ECC-C033-BFE0B32C537E}"/>
                </a:ext>
              </a:extLst>
            </p:cNvPr>
            <p:cNvSpPr txBox="1"/>
            <p:nvPr/>
          </p:nvSpPr>
          <p:spPr>
            <a:xfrm>
              <a:off x="458630" y="-592941"/>
              <a:ext cx="883575"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8" name="직사각형 7">
              <a:extLst>
                <a:ext uri="{FF2B5EF4-FFF2-40B4-BE49-F238E27FC236}">
                  <a16:creationId xmlns:a16="http://schemas.microsoft.com/office/drawing/2014/main" id="{045D2E21-5989-9A22-4EA8-E0E255A44ED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9" name="TextBox 8">
            <a:extLst>
              <a:ext uri="{FF2B5EF4-FFF2-40B4-BE49-F238E27FC236}">
                <a16:creationId xmlns:a16="http://schemas.microsoft.com/office/drawing/2014/main" id="{5875226F-7915-E3B9-CD36-F571DBED04BC}"/>
              </a:ext>
            </a:extLst>
          </p:cNvPr>
          <p:cNvSpPr txBox="1"/>
          <p:nvPr/>
        </p:nvSpPr>
        <p:spPr>
          <a:xfrm>
            <a:off x="3255523" y="2366207"/>
            <a:ext cx="1832414"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0" name="TextBox 9">
            <a:extLst>
              <a:ext uri="{FF2B5EF4-FFF2-40B4-BE49-F238E27FC236}">
                <a16:creationId xmlns:a16="http://schemas.microsoft.com/office/drawing/2014/main" id="{BF6A044B-C94D-21E7-6B4B-B8A326C74369}"/>
              </a:ext>
            </a:extLst>
          </p:cNvPr>
          <p:cNvSpPr txBox="1"/>
          <p:nvPr/>
        </p:nvSpPr>
        <p:spPr>
          <a:xfrm>
            <a:off x="8407978" y="2361064"/>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3종은 무배당·2년 후 원본 유상감자, 보통주 IRR 16.44%·E.M 4.35x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보통주는 초기 1년 연 7.5% 배당 후 잔여배당, 매각차익의 80%(48,460백만원) 배분</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2857565118"/>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654.9%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49,570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4.35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983231355"/>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재무모델 2026-09-15 인가ver(v02) IM 탭(B77:N103). 3종 E.Multiple 0.00x는 배당·C.G 기준 산출값으로 FY4 원본 유상감자(100억원) 회수분 제외 (FY는 반기)</a:t>
            </a:r>
          </a:p>
        </p:txBody>
      </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grpSp>
        <p:nvGrpSpPr>
          <p:cNvPr id="3" name="그룹 2">
            <a:extLst>
              <a:ext uri="{FF2B5EF4-FFF2-40B4-BE49-F238E27FC236}">
                <a16:creationId xmlns:a16="http://schemas.microsoft.com/office/drawing/2014/main" id="{44B03149-DBC8-7FB7-ACFD-E2DE419B9E70}"/>
              </a:ext>
            </a:extLst>
          </p:cNvPr>
          <p:cNvGrpSpPr/>
          <p:nvPr/>
        </p:nvGrpSpPr>
        <p:grpSpPr>
          <a:xfrm>
            <a:off x="385897" y="2345675"/>
            <a:ext cx="883575" cy="261610"/>
            <a:chOff x="455544" y="-592941"/>
            <a:chExt cx="883575" cy="261610"/>
          </a:xfrm>
        </p:grpSpPr>
        <p:sp>
          <p:nvSpPr>
            <p:cNvPr id="4" name="TextBox 3">
              <a:extLst>
                <a:ext uri="{FF2B5EF4-FFF2-40B4-BE49-F238E27FC236}">
                  <a16:creationId xmlns:a16="http://schemas.microsoft.com/office/drawing/2014/main" id="{812B0DAC-D844-A91B-3577-4AF57BE2A4F4}"/>
                </a:ext>
              </a:extLst>
            </p:cNvPr>
            <p:cNvSpPr txBox="1"/>
            <p:nvPr/>
          </p:nvSpPr>
          <p:spPr>
            <a:xfrm>
              <a:off x="455544" y="-592941"/>
              <a:ext cx="883575"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 (KLI 초기 출자)</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 name="직사각형 4">
              <a:extLst>
                <a:ext uri="{FF2B5EF4-FFF2-40B4-BE49-F238E27FC236}">
                  <a16:creationId xmlns:a16="http://schemas.microsoft.com/office/drawing/2014/main" id="{E56DD97F-8AA6-67B8-3DA8-D51EA38E293A}"/>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6" name="그룹 5">
            <a:extLst>
              <a:ext uri="{FF2B5EF4-FFF2-40B4-BE49-F238E27FC236}">
                <a16:creationId xmlns:a16="http://schemas.microsoft.com/office/drawing/2014/main" id="{3C21D126-6AC6-1731-9498-34F23C2F0084}"/>
              </a:ext>
            </a:extLst>
          </p:cNvPr>
          <p:cNvGrpSpPr/>
          <p:nvPr/>
        </p:nvGrpSpPr>
        <p:grpSpPr>
          <a:xfrm>
            <a:off x="5298281" y="2346255"/>
            <a:ext cx="883575" cy="261610"/>
            <a:chOff x="458630" y="-592941"/>
            <a:chExt cx="883575" cy="261610"/>
          </a:xfrm>
        </p:grpSpPr>
        <p:sp>
          <p:nvSpPr>
            <p:cNvPr id="7" name="TextBox 6">
              <a:extLst>
                <a:ext uri="{FF2B5EF4-FFF2-40B4-BE49-F238E27FC236}">
                  <a16:creationId xmlns:a16="http://schemas.microsoft.com/office/drawing/2014/main" id="{9F4864B3-9ACD-9ECC-C033-BFE0B32C537E}"/>
                </a:ext>
              </a:extLst>
            </p:cNvPr>
            <p:cNvSpPr txBox="1"/>
            <p:nvPr/>
          </p:nvSpPr>
          <p:spPr>
            <a:xfrm>
              <a:off x="458630" y="-592941"/>
              <a:ext cx="883575"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통합 (1종+2종+보통주)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8" name="직사각형 7">
              <a:extLst>
                <a:ext uri="{FF2B5EF4-FFF2-40B4-BE49-F238E27FC236}">
                  <a16:creationId xmlns:a16="http://schemas.microsoft.com/office/drawing/2014/main" id="{045D2E21-5989-9A22-4EA8-E0E255A44ED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9" name="TextBox 8">
            <a:extLst>
              <a:ext uri="{FF2B5EF4-FFF2-40B4-BE49-F238E27FC236}">
                <a16:creationId xmlns:a16="http://schemas.microsoft.com/office/drawing/2014/main" id="{5875226F-7915-E3B9-CD36-F571DBED04BC}"/>
              </a:ext>
            </a:extLst>
          </p:cNvPr>
          <p:cNvSpPr txBox="1"/>
          <p:nvPr/>
        </p:nvSpPr>
        <p:spPr>
          <a:xfrm>
            <a:off x="3255523" y="2366207"/>
            <a:ext cx="1832414"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0" name="TextBox 9">
            <a:extLst>
              <a:ext uri="{FF2B5EF4-FFF2-40B4-BE49-F238E27FC236}">
                <a16:creationId xmlns:a16="http://schemas.microsoft.com/office/drawing/2014/main" id="{BF6A044B-C94D-21E7-6B4B-B8A326C74369}"/>
              </a:ext>
            </a:extLst>
          </p:cNvPr>
          <p:cNvSpPr txBox="1"/>
          <p:nvPr/>
        </p:nvSpPr>
        <p:spPr>
          <a:xfrm>
            <a:off x="8407978" y="2361064"/>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KLI 통합 기준 투자잔액 895억원, IRR 10.98%, E.Multiple 2.21x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보통주(148억원)는 초기 출자, 2종·1종 매입 완료 후 FY5부터 통합 Yield 약 6.1% 수준</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2857565118"/>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65,255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65,255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2,678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2,678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2,884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2,884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59,906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62,621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48,300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59,906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108,206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89,470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10.98%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2.21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983231355"/>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654.9%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1,110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48,460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49,570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16.44%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4.35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투자수익률 — KLI 단계별 매입(Sell-down) 배당스케줄 (2/2)</a:t>
            </a: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재무모델 2026-09-15 인가ver(v02) Sell-down 탭. 통합 C.G 59,906백만원(1종 -215·2종 11,660·보통주 48,460)</a:t>
            </a:r>
          </a:p>
        </p:txBody>
      </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grpSp>
        <p:nvGrpSpPr>
          <p:cNvPr id="15" name="그룹 14">
            <a:extLst>
              <a:ext uri="{FF2B5EF4-FFF2-40B4-BE49-F238E27FC236}">
                <a16:creationId xmlns:a16="http://schemas.microsoft.com/office/drawing/2014/main" id="{601AF56A-8A6E-C9D1-B315-85CF6DD6EE35}"/>
              </a:ext>
            </a:extLst>
          </p:cNvPr>
          <p:cNvGrpSpPr/>
          <p:nvPr/>
        </p:nvGrpSpPr>
        <p:grpSpPr>
          <a:xfrm>
            <a:off x="387808" y="2345228"/>
            <a:ext cx="883575" cy="261610"/>
            <a:chOff x="455544" y="-592941"/>
            <a:chExt cx="883575" cy="261610"/>
          </a:xfrm>
        </p:grpSpPr>
        <p:sp>
          <p:nvSpPr>
            <p:cNvPr id="16" name="TextBox 15">
              <a:extLst>
                <a:ext uri="{FF2B5EF4-FFF2-40B4-BE49-F238E27FC236}">
                  <a16:creationId xmlns:a16="http://schemas.microsoft.com/office/drawing/2014/main" id="{6350769D-3867-5780-76AF-6A6D75867CC4}"/>
                </a:ext>
              </a:extLst>
            </p:cNvPr>
            <p:cNvSpPr txBox="1"/>
            <p:nvPr/>
          </p:nvSpPr>
          <p:spPr>
            <a:xfrm>
              <a:off x="455544" y="-592941"/>
              <a:ext cx="883575"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1종 우선주 (KLI 매입, FY5~)</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 name="직사각형 16">
              <a:extLst>
                <a:ext uri="{FF2B5EF4-FFF2-40B4-BE49-F238E27FC236}">
                  <a16:creationId xmlns:a16="http://schemas.microsoft.com/office/drawing/2014/main" id="{D3260FCF-8333-A793-68A9-059515C8BFD3}"/>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8" name="그룹 17">
            <a:extLst>
              <a:ext uri="{FF2B5EF4-FFF2-40B4-BE49-F238E27FC236}">
                <a16:creationId xmlns:a16="http://schemas.microsoft.com/office/drawing/2014/main" id="{B3CCCC5D-2EE0-BE14-B559-41AF17B0D7B2}"/>
              </a:ext>
            </a:extLst>
          </p:cNvPr>
          <p:cNvGrpSpPr/>
          <p:nvPr/>
        </p:nvGrpSpPr>
        <p:grpSpPr>
          <a:xfrm>
            <a:off x="5294026" y="2345228"/>
            <a:ext cx="638316" cy="261610"/>
            <a:chOff x="455544" y="-592941"/>
            <a:chExt cx="638316" cy="261610"/>
          </a:xfrm>
        </p:grpSpPr>
        <p:sp>
          <p:nvSpPr>
            <p:cNvPr id="19" name="TextBox 18">
              <a:extLst>
                <a:ext uri="{FF2B5EF4-FFF2-40B4-BE49-F238E27FC236}">
                  <a16:creationId xmlns:a16="http://schemas.microsoft.com/office/drawing/2014/main" id="{23769EC3-168D-0B65-B2B0-B713931C7691}"/>
                </a:ext>
              </a:extLst>
            </p:cNvPr>
            <p:cNvSpPr txBox="1"/>
            <p:nvPr/>
          </p:nvSpPr>
          <p:spPr>
            <a:xfrm>
              <a:off x="455544" y="-592941"/>
              <a:ext cx="6383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2종 우선주 (KLI 매입, FY3~)</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6" name="직사각형 25">
              <a:extLst>
                <a:ext uri="{FF2B5EF4-FFF2-40B4-BE49-F238E27FC236}">
                  <a16:creationId xmlns:a16="http://schemas.microsoft.com/office/drawing/2014/main" id="{302B0E5E-EC69-9B85-240B-7B0E047C340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3" name="TextBox 2">
            <a:extLst>
              <a:ext uri="{FF2B5EF4-FFF2-40B4-BE49-F238E27FC236}">
                <a16:creationId xmlns:a16="http://schemas.microsoft.com/office/drawing/2014/main" id="{2B4CCA83-9A22-1CB6-4F81-E017FC8936F5}"/>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 name="TextBox 3">
            <a:extLst>
              <a:ext uri="{FF2B5EF4-FFF2-40B4-BE49-F238E27FC236}">
                <a16:creationId xmlns:a16="http://schemas.microsoft.com/office/drawing/2014/main" id="{B4CB1B30-0EFA-169B-C42C-AB0054EC3753}"/>
              </a:ext>
            </a:extLst>
          </p:cNvPr>
          <p:cNvSpPr txBox="1"/>
          <p:nvPr/>
        </p:nvSpPr>
        <p:spPr>
          <a:xfrm>
            <a:off x="8310999" y="2339677"/>
            <a:ext cx="1993005"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KLI리츠가 2종(12개월 후)·1종(24개월 후)을 순차 매입할 경우의 배당스케줄 및 수익률</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매입가에 간주취득세를 포함한 Yield는 1종 6.9%, 2종 7.4% 수준 (반기 기준 FY)</a:t>
            </a:r>
          </a:p>
        </p:txBody>
      </p:sp>
      <p:sp>
        <p:nvSpPr>
          <p:cNvPr id="6" name="TextBox 5">
            <a:extLst>
              <a:ext uri="{FF2B5EF4-FFF2-40B4-BE49-F238E27FC236}">
                <a16:creationId xmlns:a16="http://schemas.microsoft.com/office/drawing/2014/main" id="{1131AC5F-CF17-F601-E40D-1D962581CB60}"/>
              </a:ext>
            </a:extLst>
          </p:cNvPr>
          <p:cNvSpPr txBox="1"/>
          <p:nvPr/>
        </p:nvSpPr>
        <p:spPr>
          <a:xfrm>
            <a:off x="5330249" y="6842354"/>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Source: 재무모델 2026-09-15 인가ver(v02) Sell-down 탭 ‘Sell-down 인수 시 수익률’ 블록</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3178394597"/>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13,440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13,225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24,215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6.88%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1.55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aphicFrame>
        <p:nvGraphicFramePr>
          <p:cNvPr id="38" name="Table 6">
            <a:extLst>
              <a:ext uri="{FF2B5EF4-FFF2-40B4-BE49-F238E27FC236}">
                <a16:creationId xmlns:a16="http://schemas.microsoft.com/office/drawing/2014/main" id="{446ECC06-05D8-1C90-8485-820ECD690FB6}"/>
              </a:ext>
            </a:extLst>
          </p:cNvPr>
          <p:cNvGraphicFramePr>
            <a:graphicFrameLocks noGrp="1"/>
          </p:cNvGraphicFramePr>
          <p:nvPr>
            <p:extLst>
              <p:ext uri="{D42A27DB-BD31-4B8C-83A1-F6EECF244321}">
                <p14:modId xmlns:p14="http://schemas.microsoft.com/office/powerpoint/2010/main" val="1664228264"/>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11,660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13,535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53.7%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33,750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11,660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45,410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50,455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9.28%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1.90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47" name="TextBox 46">
            <a:extLst>
              <a:ext uri="{FF2B5EF4-FFF2-40B4-BE49-F238E27FC236}">
                <a16:creationId xmlns:a16="http://schemas.microsoft.com/office/drawing/2014/main" id="{68D12BFB-CAE7-E3EA-0377-B16E52D51660}"/>
              </a:ext>
            </a:extLst>
          </p:cNvPr>
          <p:cNvSpPr txBox="1"/>
          <p:nvPr/>
        </p:nvSpPr>
        <p:spPr>
          <a:xfrm>
            <a:off x="458886" y="6840177"/>
            <a:ext cx="4630951" cy="246221"/>
          </a:xfrm>
          <a:prstGeom prst="rect">
            <a:avLst/>
          </a:prstGeom>
          <a:noFill/>
        </p:spPr>
        <p:txBody>
          <a:bodyPr wrap="square" rtlCol="0">
            <a:spAutoFit/>
          </a:bodyPr>
          <a:lstStyle/>
          <a:p>
            <a:r>
              <a:rPr lang="ko-KR" altLang="en-US" sz="1000" dirty="0">
                <a:latin typeface="KoPubWorld돋움체 Light" panose="00000300000000000000" pitchFamily="2" charset="-127"/>
                <a:ea typeface="KoPubWorld돋움체 Light" panose="00000300000000000000" pitchFamily="2" charset="-127"/>
              </a:rPr>
              <a:t>* FY는 운용 개시(2026-10-31) 기준 반기, 단위 백만원 / 간주취득세 포함 매입가 기준</a:t>
            </a:r>
          </a:p>
        </p:txBody>
      </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투자수익률 — KLI 단계별 매입(Sell-down) 배당스케줄 (1/2)</a:t>
            </a:r>
          </a:p>
        </p:txBody>
      </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선순위 단순 DSCR은 Carry 2개년 최소 1.72·평균 1.74, 중순위 최소 1.32 수준</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제1·2종 우선주 배당 재원 부족분은 3종 우선주 투자금(100억원) Overfunding으로 충당 예정</a:t>
            </a: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3157562910"/>
              </p:ext>
            </p:extLst>
          </p:nvPr>
        </p:nvGraphicFramePr>
        <p:xfrm>
          <a:off x="438150" y="2374900"/>
          <a:ext cx="9890860" cy="4460880"/>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416702">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pPr>
                        <a:buNone/>
                      </a:pPr>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buNone/>
                      </a:pPr>
                      <a:endParaRPr lang="ko-KR" altLang="en-US"/>
                    </a:p>
                  </a:txBody>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23614">
                <a:tc gridSpan="2" vMerge="1">
                  <a:txBody>
                    <a:bodyPr/>
                    <a:lstStyle/>
                    <a:p>
                      <a:pPr>
                        <a:buNone/>
                      </a:pPr>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pPr>
                        <a:buNone/>
                      </a:pPr>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13,311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35,657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16,206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379,491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70629">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741736972"/>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FFFFF"/>
                    </a:solid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0193877"/>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123097548"/>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564449429"/>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44712" y="2411057"/>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155647990"/>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12.95%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19.18%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21.46%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23.48%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11.47%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13.43%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257685054"/>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8.91%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8.50%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12.54%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10.19%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-0.88%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9.64%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7.29%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5.52%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2222468840"/>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15.27%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5.24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pPr>
                        <a:buNone/>
                      </a:pPr>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29" name="TextBox 28">
            <a:extLst>
              <a:ext uri="{FF2B5EF4-FFF2-40B4-BE49-F238E27FC236}">
                <a16:creationId xmlns:a16="http://schemas.microsoft.com/office/drawing/2014/main" id="{ADAF028F-6E6E-0C41-D71C-AA0D4E4BF56C}"/>
              </a:ext>
            </a:extLst>
          </p:cNvPr>
          <p:cNvSpPr txBox="1"/>
          <p:nvPr/>
        </p:nvSpPr>
        <p:spPr>
          <a:xfrm>
            <a:off x="426324" y="6811466"/>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기간</a:t>
            </a:r>
            <a:r>
              <a:rPr lang="en-US" altLang="ko-KR" sz="1000" dirty="0">
                <a:latin typeface="KoPubWorld돋움체 Light" panose="00000300000000000000" pitchFamily="2" charset="-127"/>
                <a:ea typeface="KoPubWorld돋움체 Light" panose="00000300000000000000" pitchFamily="2" charset="-127"/>
              </a:rPr>
              <a:t>(24</a:t>
            </a:r>
            <a:r>
              <a:rPr lang="ko-KR" altLang="en-US" sz="1000" dirty="0">
                <a:latin typeface="KoPubWorld돋움체 Light" panose="00000300000000000000" pitchFamily="2" charset="-127"/>
                <a:ea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내 </a:t>
            </a:r>
            <a:r>
              <a:rPr lang="en-US" altLang="ko-KR" sz="1000" dirty="0">
                <a:latin typeface="KoPubWorld돋움체 Light" panose="00000300000000000000" pitchFamily="2" charset="-127"/>
                <a:ea typeface="KoPubWorld돋움체 Light" panose="00000300000000000000" pitchFamily="2" charset="-127"/>
              </a:rPr>
              <a:t>DSCR </a:t>
            </a:r>
            <a:r>
              <a:rPr lang="ko-KR" altLang="en-US" sz="1000" dirty="0">
                <a:latin typeface="KoPubWorld돋움체 Light" panose="00000300000000000000" pitchFamily="2" charset="-127"/>
                <a:ea typeface="KoPubWorld돋움체 Light" panose="00000300000000000000" pitchFamily="2" charset="-127"/>
              </a:rPr>
              <a:t>중 최소 수치 반영</a:t>
            </a:r>
          </a:p>
        </p:txBody>
      </p:sp>
      <p:sp>
        <p:nvSpPr>
          <p:cNvPr id="30" name="TextBox 29">
            <a:extLst>
              <a:ext uri="{FF2B5EF4-FFF2-40B4-BE49-F238E27FC236}">
                <a16:creationId xmlns:a16="http://schemas.microsoft.com/office/drawing/2014/main" id="{D9DF41DE-95B1-9496-0C2C-AA73D25D3703}"/>
              </a:ext>
            </a:extLst>
          </p:cNvPr>
          <p:cNvSpPr txBox="1"/>
          <p:nvPr/>
        </p:nvSpPr>
        <p:spPr>
          <a:xfrm>
            <a:off x="8527131" y="2376495"/>
            <a:ext cx="17852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16A2519E-4A77-BB98-ACB0-B5AFAFEB0EDF}"/>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C814C464-1F41-5C5F-DD04-8545AFF7AA33}"/>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32A6E95-A9C5-5DC6-7D21-D2D225FA91A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8223DD80-31E2-1219-E238-B3C3A61EE0D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AB84447B-A30A-D10E-489D-B35F1CBAA07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BA4B9606-1D76-2228-9DEF-43912C707FE5}"/>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B3900D8-DCD4-1F11-EE87-25C0BBA5E53A}"/>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B3956B18-39F6-3BCC-595F-C397922ACF8E}"/>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135A9672-8430-17E3-F292-1A3603744535}"/>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92951BBB-274F-8DE8-CE62-A73A1773B02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4A4014C-F794-0584-9D4A-0552013D0354}"/>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1</a:t>
            </a:r>
            <a:r>
              <a:rPr lang="ko-KR" altLang="en-US" sz="1600" dirty="0">
                <a:solidFill>
                  <a:schemeClr val="tx1"/>
                </a:solidFill>
              </a:rPr>
              <a:t>년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7FDAE2D7-A2C5-E1A5-7704-1F11853147AC}"/>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CC9B30BB-4E68-9C46-679A-35727CB6A3CA}"/>
                </a:ext>
              </a:extLst>
            </p:cNvPr>
            <p:cNvGraphicFramePr/>
            <p:nvPr>
              <p:extLst>
                <p:ext uri="{D42A27DB-BD31-4B8C-83A1-F6EECF244321}">
                  <p14:modId xmlns:p14="http://schemas.microsoft.com/office/powerpoint/2010/main" val="788071747"/>
                </p:ext>
              </p:extLst>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5C2A150D-B78F-2066-3FF8-C3E9563FF864}"/>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7A30D999-CCF6-9519-B4B7-D28FC08F8A84}"/>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A53AB10B-9764-A9B9-D6D4-228AE69795A1}"/>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957A78AE-3DF3-904C-1487-532D5BC3B797}"/>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0FAE8834-19F8-A537-E8F1-CFF917DA4BD2}"/>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A658DDE4-7DEE-6749-E7FB-72195B758D49}"/>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9EB7EFE3-846E-CA67-6635-6090C9F144A6}"/>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6835CD8D-77C5-461B-5AD1-AEED9FD06405}"/>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086BEB78-F35E-AFEF-97F8-C9EFFBDE6279}"/>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45A1057B-B67B-7251-481F-B362F311DAED}"/>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16D49972-4522-A0A3-CF68-F1C4B895B764}"/>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33C7CC60-0BDA-DFDD-85C6-7A40FE57B8A1}"/>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2128ECF4-BF39-DE34-7403-55DE9B6B48C6}"/>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FF527C29-923E-26EC-30FF-DCE60D0FF212}"/>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14A89E83-948F-BC47-7D3E-BF2D71D010D1}"/>
              </a:ext>
            </a:extLst>
          </p:cNvPr>
          <p:cNvSpPr/>
          <p:nvPr/>
        </p:nvSpPr>
        <p:spPr>
          <a:xfrm>
            <a:off x="3662849" y="5620204"/>
            <a:ext cx="1401110" cy="331219"/>
          </a:xfrm>
          <a:prstGeom prst="rect">
            <a:avLst/>
          </a:prstGeom>
          <a:noFill/>
          <a:ln w="1270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E1AE5349-0168-DA35-2794-697C41BD2296}"/>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B3F13860-B895-001C-1255-926C3EB70675}"/>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8914CF01-43F4-4549-CA36-6BE47CABA991}"/>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9BA60541-919E-F379-B449-2B1707080CE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656C2913-D26F-B333-E5F5-E44F945CA9FA}"/>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182FCB0A-9EFC-C5A3-D194-5DFF728966BB}"/>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185E32E-7A5D-05C6-B0FD-8AF3EEF5839D}"/>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C27E2383-6A4A-68E3-71E9-E8738F5D8B9D}"/>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5526280A-5D04-04B1-6E6A-223DA9EDE324}"/>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B2D5DF6B-3F13-AE01-7F57-941CC30B035A}"/>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62F8AFEF-1BA6-F308-8563-BAF15FE9412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F8D21EF7-0C30-B116-57E2-E7F575BD2C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F0F05CE0-F1EF-DCBA-C7C7-E8F058C40E6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D9E65159-4E3E-615F-100C-A141C987FC2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285538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067792563"/>
              </p:ext>
            </p:extLst>
          </p:nvPr>
        </p:nvGraphicFramePr>
        <p:xfrm>
          <a:off x="520700" y="2374902"/>
          <a:ext cx="9792000" cy="4006670"/>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31200">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Pineline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기회화하고자</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694786381"/>
              </p:ext>
            </p:extLst>
          </p:nvPr>
        </p:nvGraphicFramePr>
        <p:xfrm>
          <a:off x="520699" y="2374902"/>
          <a:ext cx="9792596" cy="4144676"/>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30862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존재함/선순위 금리 4.78%(All-in 5.50%), 중순위 6.00%(All-in 6.50%) 고정, </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24개월으로 조달. 만기 6개월 전 차환 협의 착수 및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618393">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LTV 59.8%(선순위 48.5%)이나 매입가 기준 실질 LTV 약 74.1%로 레버리지 수준 관리 필요/대주 담보인정비율 이내로 설정되어 있으며, Carry 2개년 선순위 단순 DSCR 최소 1.72, 운영기간 내 2종 우선주 누적 DSCR 1.00 이상 유지</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744086">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Exit Cap Rate 상승시 매각가 하락 및 목표 IRR 미달 가능성</a:t>
                      </a: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Exit Cap Rate 4.89%로 안정적 가정함. 동일 권역 경쟁자산의 공급 및 거래사례를 지속 모니터링하여 매각 시점 탄력적으로 조정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F1A33-6576-FE3C-6709-B60DF8C389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CDA013-3020-F2F1-F603-D7EC385981F4}"/>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Appendix. </a:t>
            </a:r>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 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 name="TextBox 1">
            <a:extLst>
              <a:ext uri="{FF2B5EF4-FFF2-40B4-BE49-F238E27FC236}">
                <a16:creationId xmlns:a16="http://schemas.microsoft.com/office/drawing/2014/main" id="{D8CE082C-A4E7-E0C7-BA5A-EB5778FA81C1}"/>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사업개요</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입지개요</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 및 임대현황</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defTabSz="414772" latinLnBrk="0">
              <a:lnSpc>
                <a:spcPct val="150000"/>
              </a:lnSpc>
              <a:defRPr/>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lang="en-US" altLang="ko-KR" sz="1000" dirty="0" err="1">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Miliestone</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 </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a:p>
            <a:pPr>
              <a:lnSpc>
                <a:spcPct val="150000"/>
              </a:lnSpc>
              <a:defRPr/>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53C64A7-B43A-B395-F2C8-72BA23439BAF}"/>
              </a:ext>
            </a:extLst>
          </p:cNvPr>
          <p:cNvSpPr txBox="1"/>
          <p:nvPr/>
        </p:nvSpPr>
        <p:spPr>
          <a:xfrm>
            <a:off x="7339373" y="2832310"/>
            <a:ext cx="2743300" cy="1962076"/>
          </a:xfrm>
          <a:prstGeom prst="rect">
            <a:avLst/>
          </a:prstGeom>
        </p:spPr>
        <p:txBody>
          <a:bodyPr wrap="square" rtlCol="0" anchor="t" anchorCtr="0">
            <a:spAutoFit/>
          </a:bodyPr>
          <a:lstStyle/>
          <a:p>
            <a:pPr>
              <a:lnSpc>
                <a:spcPct val="150000"/>
              </a:lnSpc>
              <a:defRPr/>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운영계획</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CPM </a:t>
            </a:r>
            <a:r>
              <a:rPr kumimoji="0" lang="ko-KR" altLang="en-US"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통합관리 </a:t>
            </a:r>
            <a:endParaRPr kumimoji="0" lang="en-US" altLang="ko-KR"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bg1">
                    <a:lumMod val="7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Upside Potential</a:t>
            </a: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 </a:t>
            </a:r>
            <a:r>
              <a:rPr lang="ko-KR" altLang="en-US"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리스크 요인분석 및 관리방안</a:t>
            </a:r>
            <a:endParaRPr lang="en-US" altLang="ko-KR" sz="1200" dirty="0">
              <a:solidFill>
                <a:schemeClr val="bg1">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주요 리스크 및 대응방안</a:t>
            </a:r>
            <a:endParaRPr lang="en-US" altLang="ko-KR" sz="1000" dirty="0">
              <a:solidFill>
                <a:schemeClr val="bg1">
                  <a:lumMod val="7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Appendix.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층별</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도면</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8" name="직선 연결선 7">
            <a:extLst>
              <a:ext uri="{FF2B5EF4-FFF2-40B4-BE49-F238E27FC236}">
                <a16:creationId xmlns:a16="http://schemas.microsoft.com/office/drawing/2014/main" id="{749C83A7-7C4B-9F52-68CA-D05F81707307}"/>
              </a:ext>
            </a:extLst>
          </p:cNvPr>
          <p:cNvCxnSpPr>
            <a:cxnSpLocks/>
          </p:cNvCxnSpPr>
          <p:nvPr/>
        </p:nvCxnSpPr>
        <p:spPr>
          <a:xfrm>
            <a:off x="3833738" y="2195512"/>
            <a:ext cx="6408812"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70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3848B-6DDB-DDF7-69B0-AE82AC30B06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A672A0A1-71E4-294C-BBE4-716A05448B30}"/>
              </a:ext>
            </a:extLst>
          </p:cNvPr>
          <p:cNvGrpSpPr/>
          <p:nvPr/>
        </p:nvGrpSpPr>
        <p:grpSpPr>
          <a:xfrm>
            <a:off x="458887" y="1043533"/>
            <a:ext cx="9783663" cy="247712"/>
            <a:chOff x="417444" y="1605420"/>
            <a:chExt cx="8983731" cy="247712"/>
          </a:xfrm>
        </p:grpSpPr>
        <p:sp>
          <p:nvSpPr>
            <p:cNvPr id="5" name="직사각형 4">
              <a:extLst>
                <a:ext uri="{FF2B5EF4-FFF2-40B4-BE49-F238E27FC236}">
                  <a16:creationId xmlns:a16="http://schemas.microsoft.com/office/drawing/2014/main" id="{045525C9-C9C2-86C6-B2D0-A95F6758E5E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CF74FB23-A634-6B62-9009-0E8E2EEEAF1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8BF05521-4FD8-8385-8C20-EEFA014AE080}"/>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062FB601-29B8-258A-6A3D-00450B6D212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FA229369-402F-8028-6504-5E6BCC13F5CF}"/>
                </a:ext>
              </a:extLst>
            </p:cNvPr>
            <p:cNvSpPr txBox="1"/>
            <p:nvPr/>
          </p:nvSpPr>
          <p:spPr>
            <a:xfrm>
              <a:off x="417444" y="1652332"/>
              <a:ext cx="60451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Floor Plan</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7EB73558-E4AC-9508-5E99-3C1D4CCFF305}"/>
              </a:ext>
            </a:extLst>
          </p:cNvPr>
          <p:cNvGrpSpPr/>
          <p:nvPr/>
        </p:nvGrpSpPr>
        <p:grpSpPr>
          <a:xfrm>
            <a:off x="458887" y="1439577"/>
            <a:ext cx="760144" cy="261610"/>
            <a:chOff x="455544" y="-592941"/>
            <a:chExt cx="760144" cy="261610"/>
          </a:xfrm>
        </p:grpSpPr>
        <p:sp>
          <p:nvSpPr>
            <p:cNvPr id="11" name="TextBox 10">
              <a:extLst>
                <a:ext uri="{FF2B5EF4-FFF2-40B4-BE49-F238E27FC236}">
                  <a16:creationId xmlns:a16="http://schemas.microsoft.com/office/drawing/2014/main" id="{47536B38-6A5F-A83A-36FC-09A8767D777B}"/>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지하</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2</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DD0FE03-637E-5E04-BC7F-5FF328E9266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3" name="그림 2">
            <a:extLst>
              <a:ext uri="{FF2B5EF4-FFF2-40B4-BE49-F238E27FC236}">
                <a16:creationId xmlns:a16="http://schemas.microsoft.com/office/drawing/2014/main" id="{883C777D-3AF8-8525-A857-0E90A692283E}"/>
              </a:ext>
            </a:extLst>
          </p:cNvPr>
          <p:cNvPicPr>
            <a:picLocks noChangeAspect="1"/>
          </p:cNvPicPr>
          <p:nvPr/>
        </p:nvPicPr>
        <p:blipFill rotWithShape="1">
          <a:blip r:embed="rId3"/>
          <a:srcRect l="7071" r="9499"/>
          <a:stretch/>
        </p:blipFill>
        <p:spPr>
          <a:xfrm>
            <a:off x="612997" y="1778754"/>
            <a:ext cx="4084837" cy="2245308"/>
          </a:xfrm>
          <a:prstGeom prst="rect">
            <a:avLst/>
          </a:prstGeom>
          <a:ln>
            <a:solidFill>
              <a:schemeClr val="bg1">
                <a:lumMod val="75000"/>
              </a:schemeClr>
            </a:solidFill>
          </a:ln>
        </p:spPr>
      </p:pic>
      <p:pic>
        <p:nvPicPr>
          <p:cNvPr id="13" name="그림 12">
            <a:extLst>
              <a:ext uri="{FF2B5EF4-FFF2-40B4-BE49-F238E27FC236}">
                <a16:creationId xmlns:a16="http://schemas.microsoft.com/office/drawing/2014/main" id="{0CED4C7E-DA32-A1A6-5EB6-0DEB9821BA98}"/>
              </a:ext>
            </a:extLst>
          </p:cNvPr>
          <p:cNvPicPr>
            <a:picLocks noChangeAspect="1"/>
          </p:cNvPicPr>
          <p:nvPr/>
        </p:nvPicPr>
        <p:blipFill rotWithShape="1">
          <a:blip r:embed="rId4"/>
          <a:srcRect l="7280" r="8599"/>
          <a:stretch/>
        </p:blipFill>
        <p:spPr>
          <a:xfrm>
            <a:off x="612997" y="4456195"/>
            <a:ext cx="4084837" cy="2245308"/>
          </a:xfrm>
          <a:prstGeom prst="rect">
            <a:avLst/>
          </a:prstGeom>
          <a:ln>
            <a:solidFill>
              <a:schemeClr val="bg1">
                <a:lumMod val="75000"/>
              </a:schemeClr>
            </a:solidFill>
          </a:ln>
        </p:spPr>
      </p:pic>
      <p:grpSp>
        <p:nvGrpSpPr>
          <p:cNvPr id="14" name="그룹 13">
            <a:extLst>
              <a:ext uri="{FF2B5EF4-FFF2-40B4-BE49-F238E27FC236}">
                <a16:creationId xmlns:a16="http://schemas.microsoft.com/office/drawing/2014/main" id="{A7ACF34C-1ED7-0692-A654-628F9D29E8E5}"/>
              </a:ext>
            </a:extLst>
          </p:cNvPr>
          <p:cNvGrpSpPr/>
          <p:nvPr/>
        </p:nvGrpSpPr>
        <p:grpSpPr>
          <a:xfrm>
            <a:off x="462657" y="4117018"/>
            <a:ext cx="760144" cy="261610"/>
            <a:chOff x="455544" y="-592941"/>
            <a:chExt cx="760144" cy="261610"/>
          </a:xfrm>
        </p:grpSpPr>
        <p:sp>
          <p:nvSpPr>
            <p:cNvPr id="15" name="TextBox 14">
              <a:extLst>
                <a:ext uri="{FF2B5EF4-FFF2-40B4-BE49-F238E27FC236}">
                  <a16:creationId xmlns:a16="http://schemas.microsoft.com/office/drawing/2014/main" id="{C6E0683E-3F1F-9E6C-8F09-741988F79AD7}"/>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지하</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1</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4F285B9C-337D-76AA-62C7-7AAE7753D873}"/>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9" name="그림 18">
            <a:extLst>
              <a:ext uri="{FF2B5EF4-FFF2-40B4-BE49-F238E27FC236}">
                <a16:creationId xmlns:a16="http://schemas.microsoft.com/office/drawing/2014/main" id="{610ACDE8-CCC0-8643-CE4C-3F92533889A5}"/>
              </a:ext>
            </a:extLst>
          </p:cNvPr>
          <p:cNvPicPr>
            <a:picLocks noChangeAspect="1"/>
          </p:cNvPicPr>
          <p:nvPr/>
        </p:nvPicPr>
        <p:blipFill rotWithShape="1">
          <a:blip r:embed="rId5"/>
          <a:srcRect l="6951" r="9434"/>
          <a:stretch/>
        </p:blipFill>
        <p:spPr>
          <a:xfrm>
            <a:off x="5509541" y="1778754"/>
            <a:ext cx="4084837" cy="2245308"/>
          </a:xfrm>
          <a:prstGeom prst="rect">
            <a:avLst/>
          </a:prstGeom>
          <a:ln>
            <a:solidFill>
              <a:schemeClr val="bg1">
                <a:lumMod val="75000"/>
              </a:schemeClr>
            </a:solidFill>
          </a:ln>
        </p:spPr>
      </p:pic>
      <p:pic>
        <p:nvPicPr>
          <p:cNvPr id="20" name="그림 19">
            <a:extLst>
              <a:ext uri="{FF2B5EF4-FFF2-40B4-BE49-F238E27FC236}">
                <a16:creationId xmlns:a16="http://schemas.microsoft.com/office/drawing/2014/main" id="{A792C125-062C-C054-2537-DCB0073AB332}"/>
              </a:ext>
            </a:extLst>
          </p:cNvPr>
          <p:cNvPicPr>
            <a:picLocks noChangeAspect="1"/>
          </p:cNvPicPr>
          <p:nvPr/>
        </p:nvPicPr>
        <p:blipFill rotWithShape="1">
          <a:blip r:embed="rId6"/>
          <a:srcRect l="7931" r="11268"/>
          <a:stretch/>
        </p:blipFill>
        <p:spPr>
          <a:xfrm>
            <a:off x="5509541" y="4456196"/>
            <a:ext cx="4084837" cy="2245308"/>
          </a:xfrm>
          <a:prstGeom prst="rect">
            <a:avLst/>
          </a:prstGeom>
          <a:ln>
            <a:solidFill>
              <a:schemeClr val="bg1">
                <a:lumMod val="75000"/>
              </a:schemeClr>
            </a:solidFill>
          </a:ln>
        </p:spPr>
      </p:pic>
      <p:grpSp>
        <p:nvGrpSpPr>
          <p:cNvPr id="21" name="그룹 20">
            <a:extLst>
              <a:ext uri="{FF2B5EF4-FFF2-40B4-BE49-F238E27FC236}">
                <a16:creationId xmlns:a16="http://schemas.microsoft.com/office/drawing/2014/main" id="{DB5C45EC-EC47-265D-73AE-C47CC6CC9E8A}"/>
              </a:ext>
            </a:extLst>
          </p:cNvPr>
          <p:cNvGrpSpPr/>
          <p:nvPr/>
        </p:nvGrpSpPr>
        <p:grpSpPr>
          <a:xfrm>
            <a:off x="5345906" y="1439577"/>
            <a:ext cx="760144" cy="261610"/>
            <a:chOff x="455544" y="-592941"/>
            <a:chExt cx="760144" cy="261610"/>
          </a:xfrm>
        </p:grpSpPr>
        <p:sp>
          <p:nvSpPr>
            <p:cNvPr id="22" name="TextBox 21">
              <a:extLst>
                <a:ext uri="{FF2B5EF4-FFF2-40B4-BE49-F238E27FC236}">
                  <a16:creationId xmlns:a16="http://schemas.microsoft.com/office/drawing/2014/main" id="{A57F2B5A-7BA4-1AFD-C37E-E403A7A92834}"/>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1</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1E5B5C76-6717-1DA8-8EB4-D1DBA4441A3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4" name="그룹 23">
            <a:extLst>
              <a:ext uri="{FF2B5EF4-FFF2-40B4-BE49-F238E27FC236}">
                <a16:creationId xmlns:a16="http://schemas.microsoft.com/office/drawing/2014/main" id="{0E53F16C-77DC-C2DD-A7D8-05897279B258}"/>
              </a:ext>
            </a:extLst>
          </p:cNvPr>
          <p:cNvGrpSpPr/>
          <p:nvPr/>
        </p:nvGrpSpPr>
        <p:grpSpPr>
          <a:xfrm>
            <a:off x="5345906" y="4117018"/>
            <a:ext cx="1120820" cy="261610"/>
            <a:chOff x="455544" y="-592941"/>
            <a:chExt cx="1120820" cy="261610"/>
          </a:xfrm>
        </p:grpSpPr>
        <p:sp>
          <p:nvSpPr>
            <p:cNvPr id="25" name="TextBox 24">
              <a:extLst>
                <a:ext uri="{FF2B5EF4-FFF2-40B4-BE49-F238E27FC236}">
                  <a16:creationId xmlns:a16="http://schemas.microsoft.com/office/drawing/2014/main" id="{43C6225C-ABA3-6B2B-A41C-A3F26163BF88}"/>
                </a:ext>
              </a:extLst>
            </p:cNvPr>
            <p:cNvSpPr txBox="1"/>
            <p:nvPr/>
          </p:nvSpPr>
          <p:spPr>
            <a:xfrm>
              <a:off x="455544" y="-592941"/>
              <a:ext cx="1120820"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2</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 </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5</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6" name="직사각형 25">
              <a:extLst>
                <a:ext uri="{FF2B5EF4-FFF2-40B4-BE49-F238E27FC236}">
                  <a16:creationId xmlns:a16="http://schemas.microsoft.com/office/drawing/2014/main" id="{C8FF3854-58E1-2DC3-3A13-B1BE8DE394F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F2E14B58-05E1-D741-C2B8-6A12152B398D}"/>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4127494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BD88-DCF2-BD25-BC26-8BC70385164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9486DE11-4476-7F25-5B1B-68079FDF1700}"/>
              </a:ext>
            </a:extLst>
          </p:cNvPr>
          <p:cNvGrpSpPr/>
          <p:nvPr/>
        </p:nvGrpSpPr>
        <p:grpSpPr>
          <a:xfrm>
            <a:off x="458887" y="1043533"/>
            <a:ext cx="9783663" cy="247712"/>
            <a:chOff x="417444" y="1605420"/>
            <a:chExt cx="8983731" cy="247712"/>
          </a:xfrm>
        </p:grpSpPr>
        <p:sp>
          <p:nvSpPr>
            <p:cNvPr id="5" name="직사각형 4">
              <a:extLst>
                <a:ext uri="{FF2B5EF4-FFF2-40B4-BE49-F238E27FC236}">
                  <a16:creationId xmlns:a16="http://schemas.microsoft.com/office/drawing/2014/main" id="{30E6424A-1604-4F09-1669-35E8EBC61DF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FA34CD6-E0D1-D395-9DF6-D7F71C6ADA2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59C180B3-9D18-211F-EA1B-4D3C5764C12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57319933-31AC-3F64-98ED-44BE2D9D669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5F7D74CC-6896-0321-B283-EDF42E725661}"/>
                </a:ext>
              </a:extLst>
            </p:cNvPr>
            <p:cNvSpPr txBox="1"/>
            <p:nvPr/>
          </p:nvSpPr>
          <p:spPr>
            <a:xfrm>
              <a:off x="417444" y="1652332"/>
              <a:ext cx="60451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Floor Plan</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8" name="그룹 17">
            <a:extLst>
              <a:ext uri="{FF2B5EF4-FFF2-40B4-BE49-F238E27FC236}">
                <a16:creationId xmlns:a16="http://schemas.microsoft.com/office/drawing/2014/main" id="{7E24F2B8-84F7-79F6-4260-631CBBD4132C}"/>
              </a:ext>
            </a:extLst>
          </p:cNvPr>
          <p:cNvGrpSpPr/>
          <p:nvPr/>
        </p:nvGrpSpPr>
        <p:grpSpPr>
          <a:xfrm>
            <a:off x="458887" y="1439577"/>
            <a:ext cx="704039" cy="246221"/>
            <a:chOff x="455544" y="-592941"/>
            <a:chExt cx="704039" cy="246221"/>
          </a:xfrm>
        </p:grpSpPr>
        <p:sp>
          <p:nvSpPr>
            <p:cNvPr id="19" name="TextBox 18">
              <a:extLst>
                <a:ext uri="{FF2B5EF4-FFF2-40B4-BE49-F238E27FC236}">
                  <a16:creationId xmlns:a16="http://schemas.microsoft.com/office/drawing/2014/main" id="{29A11206-B9D2-A2BC-90A3-641630560863}"/>
                </a:ext>
              </a:extLst>
            </p:cNvPr>
            <p:cNvSpPr txBox="1"/>
            <p:nvPr/>
          </p:nvSpPr>
          <p:spPr>
            <a:xfrm>
              <a:off x="455544" y="-592941"/>
              <a:ext cx="70403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6</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6D4C0BE-5A37-CC86-F5E1-8D0828ACE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1" name="그룹 20">
            <a:extLst>
              <a:ext uri="{FF2B5EF4-FFF2-40B4-BE49-F238E27FC236}">
                <a16:creationId xmlns:a16="http://schemas.microsoft.com/office/drawing/2014/main" id="{B753FD01-23EA-7658-49CA-75303CA76A1B}"/>
              </a:ext>
            </a:extLst>
          </p:cNvPr>
          <p:cNvGrpSpPr/>
          <p:nvPr/>
        </p:nvGrpSpPr>
        <p:grpSpPr>
          <a:xfrm>
            <a:off x="5345906" y="1439577"/>
            <a:ext cx="760144" cy="261610"/>
            <a:chOff x="455544" y="-592941"/>
            <a:chExt cx="760144" cy="261610"/>
          </a:xfrm>
        </p:grpSpPr>
        <p:sp>
          <p:nvSpPr>
            <p:cNvPr id="22" name="TextBox 21">
              <a:extLst>
                <a:ext uri="{FF2B5EF4-FFF2-40B4-BE49-F238E27FC236}">
                  <a16:creationId xmlns:a16="http://schemas.microsoft.com/office/drawing/2014/main" id="{8E24F0F7-D0C6-A16A-82C9-B788C3AA8547}"/>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8</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28BEDB28-A5E8-4F61-523C-EF1721AB6664}"/>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24" name="그림 23">
            <a:extLst>
              <a:ext uri="{FF2B5EF4-FFF2-40B4-BE49-F238E27FC236}">
                <a16:creationId xmlns:a16="http://schemas.microsoft.com/office/drawing/2014/main" id="{8492B159-FB7F-E50D-C928-7FB212D5C75C}"/>
              </a:ext>
            </a:extLst>
          </p:cNvPr>
          <p:cNvPicPr>
            <a:picLocks noChangeAspect="1"/>
          </p:cNvPicPr>
          <p:nvPr/>
        </p:nvPicPr>
        <p:blipFill rotWithShape="1">
          <a:blip r:embed="rId3"/>
          <a:srcRect l="8577" r="11770"/>
          <a:stretch/>
        </p:blipFill>
        <p:spPr>
          <a:xfrm>
            <a:off x="863279" y="1732655"/>
            <a:ext cx="3618531" cy="2264984"/>
          </a:xfrm>
          <a:prstGeom prst="rect">
            <a:avLst/>
          </a:prstGeom>
          <a:ln>
            <a:solidFill>
              <a:schemeClr val="bg1">
                <a:lumMod val="75000"/>
              </a:schemeClr>
            </a:solidFill>
          </a:ln>
        </p:spPr>
      </p:pic>
      <p:pic>
        <p:nvPicPr>
          <p:cNvPr id="25" name="그림 24">
            <a:extLst>
              <a:ext uri="{FF2B5EF4-FFF2-40B4-BE49-F238E27FC236}">
                <a16:creationId xmlns:a16="http://schemas.microsoft.com/office/drawing/2014/main" id="{363C2C9B-1485-5194-C9A2-B9A489A33741}"/>
              </a:ext>
            </a:extLst>
          </p:cNvPr>
          <p:cNvPicPr>
            <a:picLocks noChangeAspect="1"/>
          </p:cNvPicPr>
          <p:nvPr/>
        </p:nvPicPr>
        <p:blipFill rotWithShape="1">
          <a:blip r:embed="rId4"/>
          <a:srcRect l="8597" r="12054"/>
          <a:stretch/>
        </p:blipFill>
        <p:spPr>
          <a:xfrm>
            <a:off x="863279" y="4418183"/>
            <a:ext cx="3618531" cy="2277978"/>
          </a:xfrm>
          <a:prstGeom prst="rect">
            <a:avLst/>
          </a:prstGeom>
          <a:ln>
            <a:solidFill>
              <a:schemeClr val="bg1">
                <a:lumMod val="75000"/>
              </a:schemeClr>
            </a:solidFill>
          </a:ln>
        </p:spPr>
      </p:pic>
      <p:grpSp>
        <p:nvGrpSpPr>
          <p:cNvPr id="26" name="그룹 25">
            <a:extLst>
              <a:ext uri="{FF2B5EF4-FFF2-40B4-BE49-F238E27FC236}">
                <a16:creationId xmlns:a16="http://schemas.microsoft.com/office/drawing/2014/main" id="{CB291365-4124-7279-41FB-BC700196D708}"/>
              </a:ext>
            </a:extLst>
          </p:cNvPr>
          <p:cNvGrpSpPr/>
          <p:nvPr/>
        </p:nvGrpSpPr>
        <p:grpSpPr>
          <a:xfrm>
            <a:off x="458887" y="1439577"/>
            <a:ext cx="760144" cy="261610"/>
            <a:chOff x="455544" y="-592941"/>
            <a:chExt cx="760144" cy="261610"/>
          </a:xfrm>
        </p:grpSpPr>
        <p:sp>
          <p:nvSpPr>
            <p:cNvPr id="27" name="TextBox 26">
              <a:extLst>
                <a:ext uri="{FF2B5EF4-FFF2-40B4-BE49-F238E27FC236}">
                  <a16:creationId xmlns:a16="http://schemas.microsoft.com/office/drawing/2014/main" id="{30B6A057-A7B3-B45E-6925-538081CBA30E}"/>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 </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8" name="직사각형 27">
              <a:extLst>
                <a:ext uri="{FF2B5EF4-FFF2-40B4-BE49-F238E27FC236}">
                  <a16:creationId xmlns:a16="http://schemas.microsoft.com/office/drawing/2014/main" id="{5D0F9AAB-FCDE-A282-F68B-2C16EC9594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9" name="그룹 28">
            <a:extLst>
              <a:ext uri="{FF2B5EF4-FFF2-40B4-BE49-F238E27FC236}">
                <a16:creationId xmlns:a16="http://schemas.microsoft.com/office/drawing/2014/main" id="{2384E01F-7E8D-1093-3C04-49B6C22832CE}"/>
              </a:ext>
            </a:extLst>
          </p:cNvPr>
          <p:cNvGrpSpPr/>
          <p:nvPr/>
        </p:nvGrpSpPr>
        <p:grpSpPr>
          <a:xfrm>
            <a:off x="462657" y="4117018"/>
            <a:ext cx="760144" cy="261610"/>
            <a:chOff x="455544" y="-592941"/>
            <a:chExt cx="760144" cy="261610"/>
          </a:xfrm>
        </p:grpSpPr>
        <p:sp>
          <p:nvSpPr>
            <p:cNvPr id="30" name="TextBox 29">
              <a:extLst>
                <a:ext uri="{FF2B5EF4-FFF2-40B4-BE49-F238E27FC236}">
                  <a16:creationId xmlns:a16="http://schemas.microsoft.com/office/drawing/2014/main" id="{FEAF3007-8776-AD17-7200-89BD60E4B1B2}"/>
                </a:ext>
              </a:extLst>
            </p:cNvPr>
            <p:cNvSpPr txBox="1"/>
            <p:nvPr/>
          </p:nvSpPr>
          <p:spPr>
            <a:xfrm>
              <a:off x="455544" y="-592941"/>
              <a:ext cx="760144"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지상 </a:t>
              </a: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1" name="직사각형 30">
              <a:extLst>
                <a:ext uri="{FF2B5EF4-FFF2-40B4-BE49-F238E27FC236}">
                  <a16:creationId xmlns:a16="http://schemas.microsoft.com/office/drawing/2014/main" id="{517DE81A-E2F0-24F2-4C3B-4562CC97DAA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32" name="그림 31">
            <a:extLst>
              <a:ext uri="{FF2B5EF4-FFF2-40B4-BE49-F238E27FC236}">
                <a16:creationId xmlns:a16="http://schemas.microsoft.com/office/drawing/2014/main" id="{2A1E3D9E-F1C5-B0A8-386E-AEE9AA66C739}"/>
              </a:ext>
            </a:extLst>
          </p:cNvPr>
          <p:cNvPicPr>
            <a:picLocks noChangeAspect="1"/>
          </p:cNvPicPr>
          <p:nvPr/>
        </p:nvPicPr>
        <p:blipFill rotWithShape="1">
          <a:blip r:embed="rId5"/>
          <a:srcRect l="8511" r="11881"/>
          <a:stretch/>
        </p:blipFill>
        <p:spPr>
          <a:xfrm>
            <a:off x="5372292" y="1990387"/>
            <a:ext cx="4798150" cy="3013586"/>
          </a:xfrm>
          <a:prstGeom prst="rect">
            <a:avLst/>
          </a:prstGeom>
        </p:spPr>
      </p:pic>
      <p:sp>
        <p:nvSpPr>
          <p:cNvPr id="10" name="TextBox 9">
            <a:extLst>
              <a:ext uri="{FF2B5EF4-FFF2-40B4-BE49-F238E27FC236}">
                <a16:creationId xmlns:a16="http://schemas.microsoft.com/office/drawing/2014/main" id="{E77ACD13-D9AB-68C0-4CCD-1444BA562561}"/>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1011906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219B-D830-8173-D259-CD184BEE6B8B}"/>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B321D38-6C01-8783-CD56-6B1E4AD4096E}"/>
              </a:ext>
            </a:extLst>
          </p:cNvPr>
          <p:cNvGrpSpPr/>
          <p:nvPr/>
        </p:nvGrpSpPr>
        <p:grpSpPr>
          <a:xfrm>
            <a:off x="458887" y="1043533"/>
            <a:ext cx="9783663" cy="247712"/>
            <a:chOff x="417444" y="1605420"/>
            <a:chExt cx="8983731" cy="247712"/>
          </a:xfrm>
        </p:grpSpPr>
        <p:sp>
          <p:nvSpPr>
            <p:cNvPr id="5" name="직사각형 4">
              <a:extLst>
                <a:ext uri="{FF2B5EF4-FFF2-40B4-BE49-F238E27FC236}">
                  <a16:creationId xmlns:a16="http://schemas.microsoft.com/office/drawing/2014/main" id="{F621ABF0-1671-8438-97B2-D2B32C210C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5F0B4F28-CBD7-5277-9ADE-37D847F91524}"/>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3DA5BA5E-AFEA-EACF-1CCA-6C7FA6FB221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BA1AA3D0-8FBB-8B3A-38DA-FA49FC5FA3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27E6602-7B3C-7512-E700-F2A8C6779A78}"/>
                </a:ext>
              </a:extLst>
            </p:cNvPr>
            <p:cNvSpPr txBox="1"/>
            <p:nvPr/>
          </p:nvSpPr>
          <p:spPr>
            <a:xfrm>
              <a:off x="417444" y="1652332"/>
              <a:ext cx="90626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층별 도면 및 구조</a:t>
              </a:r>
            </a:p>
          </p:txBody>
        </p:sp>
      </p:grpSp>
      <p:pic>
        <p:nvPicPr>
          <p:cNvPr id="2" name="그림 1">
            <a:extLst>
              <a:ext uri="{FF2B5EF4-FFF2-40B4-BE49-F238E27FC236}">
                <a16:creationId xmlns:a16="http://schemas.microsoft.com/office/drawing/2014/main" id="{E12E0A6F-E5CF-2BEF-9B60-8AF94F640434}"/>
              </a:ext>
            </a:extLst>
          </p:cNvPr>
          <p:cNvPicPr>
            <a:picLocks noChangeAspect="1"/>
          </p:cNvPicPr>
          <p:nvPr/>
        </p:nvPicPr>
        <p:blipFill>
          <a:blip r:embed="rId3"/>
          <a:stretch>
            <a:fillRect/>
          </a:stretch>
        </p:blipFill>
        <p:spPr>
          <a:xfrm>
            <a:off x="1781510" y="1843969"/>
            <a:ext cx="7102607" cy="4528156"/>
          </a:xfrm>
          <a:prstGeom prst="rect">
            <a:avLst/>
          </a:prstGeom>
          <a:ln>
            <a:solidFill>
              <a:schemeClr val="bg1">
                <a:lumMod val="95000"/>
              </a:schemeClr>
            </a:solidFill>
          </a:ln>
        </p:spPr>
      </p:pic>
      <p:grpSp>
        <p:nvGrpSpPr>
          <p:cNvPr id="14" name="그룹 13">
            <a:extLst>
              <a:ext uri="{FF2B5EF4-FFF2-40B4-BE49-F238E27FC236}">
                <a16:creationId xmlns:a16="http://schemas.microsoft.com/office/drawing/2014/main" id="{9C0EC32B-647A-C4EF-27C8-CAD2D30B9AD6}"/>
              </a:ext>
            </a:extLst>
          </p:cNvPr>
          <p:cNvGrpSpPr/>
          <p:nvPr/>
        </p:nvGrpSpPr>
        <p:grpSpPr>
          <a:xfrm>
            <a:off x="458887" y="1439577"/>
            <a:ext cx="885179" cy="261610"/>
            <a:chOff x="455544" y="-592941"/>
            <a:chExt cx="885179" cy="261610"/>
          </a:xfrm>
        </p:grpSpPr>
        <p:sp>
          <p:nvSpPr>
            <p:cNvPr id="15" name="TextBox 14">
              <a:extLst>
                <a:ext uri="{FF2B5EF4-FFF2-40B4-BE49-F238E27FC236}">
                  <a16:creationId xmlns:a16="http://schemas.microsoft.com/office/drawing/2014/main" id="{372F144A-8DCD-6550-40E6-40840F38B8BE}"/>
                </a:ext>
              </a:extLst>
            </p:cNvPr>
            <p:cNvSpPr txBox="1"/>
            <p:nvPr/>
          </p:nvSpPr>
          <p:spPr>
            <a:xfrm>
              <a:off x="455544" y="-592941"/>
              <a:ext cx="885179"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건축단면도</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541D67AA-B439-4380-7DFF-8CE96666F9F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E2A2AAF4-91A6-82CD-2388-3CA7AF7B670A}"/>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4017374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774B8-FEC3-54D2-E792-9BD3D95558D5}"/>
            </a:ext>
          </a:extLst>
        </p:cNvPr>
        <p:cNvGrpSpPr/>
        <p:nvPr/>
      </p:nvGrpSpPr>
      <p:grpSpPr>
        <a:xfrm>
          <a:off x="0" y="0"/>
          <a:ext cx="0" cy="0"/>
          <a:chOff x="0" y="0"/>
          <a:chExt cx="0" cy="0"/>
        </a:xfrm>
      </p:grpSpPr>
      <p:pic>
        <p:nvPicPr>
          <p:cNvPr id="17" name="그림 16">
            <a:extLst>
              <a:ext uri="{FF2B5EF4-FFF2-40B4-BE49-F238E27FC236}">
                <a16:creationId xmlns:a16="http://schemas.microsoft.com/office/drawing/2014/main" id="{E6DC6870-1195-73A1-73C5-4502364E474C}"/>
              </a:ext>
            </a:extLst>
          </p:cNvPr>
          <p:cNvPicPr>
            <a:picLocks noChangeAspect="1"/>
          </p:cNvPicPr>
          <p:nvPr/>
        </p:nvPicPr>
        <p:blipFill>
          <a:blip r:embed="rId3"/>
          <a:stretch>
            <a:fillRect/>
          </a:stretch>
        </p:blipFill>
        <p:spPr>
          <a:xfrm>
            <a:off x="694964" y="1151545"/>
            <a:ext cx="4191960" cy="5386555"/>
          </a:xfrm>
          <a:prstGeom prst="rect">
            <a:avLst/>
          </a:prstGeom>
          <a:ln>
            <a:solidFill>
              <a:schemeClr val="bg1">
                <a:lumMod val="75000"/>
              </a:schemeClr>
            </a:solidFill>
          </a:ln>
        </p:spPr>
      </p:pic>
      <p:sp>
        <p:nvSpPr>
          <p:cNvPr id="4" name="TextBox 3">
            <a:extLst>
              <a:ext uri="{FF2B5EF4-FFF2-40B4-BE49-F238E27FC236}">
                <a16:creationId xmlns:a16="http://schemas.microsoft.com/office/drawing/2014/main" id="{D7FB1019-8C6E-73EA-B5D4-0675C05408FC}"/>
              </a:ext>
            </a:extLst>
          </p:cNvPr>
          <p:cNvSpPr txBox="1"/>
          <p:nvPr/>
        </p:nvSpPr>
        <p:spPr>
          <a:xfrm>
            <a:off x="458886" y="6840757"/>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Tree>
    <p:extLst>
      <p:ext uri="{BB962C8B-B14F-4D97-AF65-F5344CB8AC3E}">
        <p14:creationId xmlns:p14="http://schemas.microsoft.com/office/powerpoint/2010/main" val="1311768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76736</TotalTime>
  <Words>11110</Words>
  <Application>Microsoft Office PowerPoint</Application>
  <PresentationFormat>사용자 지정</PresentationFormat>
  <Paragraphs>3688</Paragraphs>
  <Slides>48</Slides>
  <Notes>23</Notes>
  <HiddenSlides>0</HiddenSlides>
  <MMClips>0</MMClips>
  <ScaleCrop>false</ScaleCrop>
  <HeadingPairs>
    <vt:vector size="6" baseType="variant">
      <vt:variant>
        <vt:lpstr>사용한 글꼴</vt:lpstr>
      </vt:variant>
      <vt:variant>
        <vt:i4>9</vt:i4>
      </vt:variant>
      <vt:variant>
        <vt:lpstr>테마</vt:lpstr>
      </vt:variant>
      <vt:variant>
        <vt:i4>3</vt:i4>
      </vt:variant>
      <vt:variant>
        <vt:lpstr>슬라이드 제목</vt:lpstr>
      </vt:variant>
      <vt:variant>
        <vt:i4>48</vt:i4>
      </vt:variant>
    </vt:vector>
  </HeadingPairs>
  <TitlesOfParts>
    <vt:vector size="60" baseType="lpstr">
      <vt:lpstr>KoPubWorld돋움체 Bold</vt:lpstr>
      <vt:lpstr>KoPubWorld돋움체 Light</vt:lpstr>
      <vt:lpstr>KoPubWorld돋움체 Medium</vt:lpstr>
      <vt:lpstr>KoPubWorld바탕체 Bold</vt:lpstr>
      <vt:lpstr>KoPubWorld바탕체 Medium</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5194</cp:revision>
  <cp:lastPrinted>2026-08-23T23:34:57Z</cp:lastPrinted>
  <dcterms:created xsi:type="dcterms:W3CDTF">2019-10-07T05:08:42Z</dcterms:created>
  <dcterms:modified xsi:type="dcterms:W3CDTF">2026-09-16T07:38:41Z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TlqSUOvUz2jqmGfWs-WogWvifac202402010000000</vt:lpwstr>
  </property>
  <property fmtid="{D5CDD505-2E9C-101B-9397-08002B2CF9AE}" pid="3" name="docPath">
    <vt:lpwstr>QzpcVXNlcnNceW9uZ2h5ZW9uYWhuXERvd25sb2Fkc1xbS0xJXSDslYjslpHrrLzrpZjshLzthLAg7JiI67mE7Yis7Ius7J6Q66OMXzI2MDgyNF92MyjstZzsooUpLnBwdHg=</vt:lpwstr>
  </property>
  <property fmtid="{D5CDD505-2E9C-101B-9397-08002B2CF9AE}" pid="4" name="docUid">
    <vt:lpwstr>TlqSUOvUz2jqmGfWs-WogWvifac</vt:lpwstr>
  </property>
  <property fmtid="{D5CDD505-2E9C-101B-9397-08002B2CF9AE}" pid="5" name="parentBranchUid">
    <vt:lpwstr/>
  </property>
</Properties>
</file>