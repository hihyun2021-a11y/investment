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07200" cy="99393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79"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94" y="114"/>
      </p:cViewPr>
      <p:guideLst>
        <p:guide pos="279"/>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663640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376" tIns="40188" rIns="80376" bIns="40188"/>
          <a:lstStyle/>
          <a:p>
            <a:endParaRPr lang="en-US" dirty="0"/>
          </a:p>
        </p:txBody>
      </p:sp>
      <p:sp>
        <p:nvSpPr>
          <p:cNvPr id="4" name="Slide Number Placeholder 3"/>
          <p:cNvSpPr>
            <a:spLocks noGrp="1"/>
          </p:cNvSpPr>
          <p:nvPr>
            <p:ph type="sldNum" sz="quarter" idx="10"/>
          </p:nvPr>
        </p:nvSpPr>
        <p:spPr/>
        <p:txBody>
          <a:bodyPr lIns="80376" tIns="40188" rIns="80376" bIns="40188"/>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376" tIns="40188" rIns="80376" bIns="40188"/>
          <a:lstStyle/>
          <a:p>
            <a:endParaRPr lang="en-US" dirty="0"/>
          </a:p>
        </p:txBody>
      </p:sp>
      <p:sp>
        <p:nvSpPr>
          <p:cNvPr id="4" name="Slide Number Placeholder 3"/>
          <p:cNvSpPr>
            <a:spLocks noGrp="1"/>
          </p:cNvSpPr>
          <p:nvPr>
            <p:ph type="sldNum" sz="quarter" idx="10"/>
          </p:nvPr>
        </p:nvSpPr>
        <p:spPr/>
        <p:txBody>
          <a:bodyPr lIns="80376" tIns="40188" rIns="80376" bIns="40188"/>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365760" y="201168"/>
            <a:ext cx="8686800" cy="475488"/>
          </a:xfrm>
          <a:prstGeom prst="rect">
            <a:avLst/>
          </a:prstGeom>
          <a:noFill/>
          <a:ln/>
        </p:spPr>
        <p:txBody>
          <a:bodyPr wrap="square" lIns="381" tIns="381" rIns="381" bIns="381" rtlCol="0" anchor="ctr"/>
          <a:lstStyle/>
          <a:p>
            <a:pPr marL="0" indent="0">
              <a:buNone/>
            </a:pPr>
            <a:r>
              <a:rPr lang="en-US" sz="2200" dirty="0">
                <a:solidFill>
                  <a:srgbClr val="262626"/>
                </a:solidFill>
                <a:latin typeface="나눔스퀘어 ExtraBold" pitchFamily="34" charset="0"/>
                <a:ea typeface="나눔스퀘어 ExtraBold" pitchFamily="34" charset="-122"/>
                <a:cs typeface="나눔스퀘어 ExtraBold" pitchFamily="34" charset="-120"/>
              </a:rPr>
              <a:t>투자구조 및 당사 손익</a:t>
            </a:r>
          </a:p>
        </p:txBody>
      </p:sp>
      <p:sp>
        <p:nvSpPr>
          <p:cNvPr id="3" name="Shape 1"/>
          <p:cNvSpPr/>
          <p:nvPr/>
        </p:nvSpPr>
        <p:spPr>
          <a:xfrm>
            <a:off x="365760" y="731520"/>
            <a:ext cx="11457432" cy="0"/>
          </a:xfrm>
          <a:prstGeom prst="line">
            <a:avLst/>
          </a:prstGeom>
          <a:noFill/>
          <a:ln w="19050">
            <a:solidFill>
              <a:srgbClr val="D9D9D9"/>
            </a:solidFill>
            <a:prstDash val="solid"/>
          </a:ln>
        </p:spPr>
        <p:txBody>
          <a:bodyPr anchor="ctr"/>
          <a:lstStyle/>
          <a:p>
            <a:endParaRPr lang="ko-KR" altLang="en-US"/>
          </a:p>
        </p:txBody>
      </p:sp>
      <p:sp>
        <p:nvSpPr>
          <p:cNvPr id="4" name="Shape 2"/>
          <p:cNvSpPr/>
          <p:nvPr/>
        </p:nvSpPr>
        <p:spPr>
          <a:xfrm>
            <a:off x="365760" y="731520"/>
            <a:ext cx="3291840" cy="0"/>
          </a:xfrm>
          <a:prstGeom prst="line">
            <a:avLst/>
          </a:prstGeom>
          <a:noFill/>
          <a:ln w="31750">
            <a:solidFill>
              <a:srgbClr val="C00000"/>
            </a:solidFill>
            <a:prstDash val="solid"/>
          </a:ln>
        </p:spPr>
        <p:txBody>
          <a:bodyPr anchor="ctr"/>
          <a:lstStyle/>
          <a:p>
            <a:endParaRPr lang="ko-KR" altLang="en-US"/>
          </a:p>
        </p:txBody>
      </p:sp>
      <p:sp>
        <p:nvSpPr>
          <p:cNvPr id="5" name="Text 3"/>
          <p:cNvSpPr txBox="1"/>
          <p:nvPr/>
        </p:nvSpPr>
        <p:spPr>
          <a:xfrm>
            <a:off x="9052560" y="109728"/>
            <a:ext cx="2770632" cy="274320"/>
          </a:xfrm>
          <a:prstGeom prst="rect">
            <a:avLst/>
          </a:prstGeom>
          <a:noFill/>
          <a:ln/>
        </p:spPr>
        <p:txBody>
          <a:bodyPr wrap="square" lIns="381" tIns="381" rIns="381" bIns="381" rtlCol="0" anchor="ctr"/>
          <a:lstStyle/>
          <a:p>
            <a:pPr marL="0" indent="0" algn="r">
              <a:buNone/>
            </a:pPr>
            <a:r>
              <a:rPr lang="en-US" sz="1100" dirty="0">
                <a:solidFill>
                  <a:srgbClr val="C00000"/>
                </a:solidFill>
                <a:latin typeface="나눔스퀘어 Bold" pitchFamily="34" charset="0"/>
                <a:ea typeface="나눔스퀘어 Bold" pitchFamily="34" charset="-122"/>
                <a:cs typeface="나눔스퀘어 Bold" pitchFamily="34" charset="-120"/>
              </a:rPr>
              <a:t>One </a:t>
            </a:r>
            <a:r>
              <a:rPr lang="en-US" sz="1100" dirty="0">
                <a:solidFill>
                  <a:srgbClr val="262626"/>
                </a:solidFill>
                <a:latin typeface="나눔스퀘어 Bold" pitchFamily="34" charset="0"/>
                <a:ea typeface="나눔스퀘어 Bold" pitchFamily="34" charset="-122"/>
                <a:cs typeface="나눔스퀘어 Bold" pitchFamily="34" charset="-120"/>
              </a:rPr>
              <a:t>KORAMCO </a:t>
            </a:r>
            <a:r>
              <a:rPr lang="en-US" sz="1100" dirty="0">
                <a:solidFill>
                  <a:srgbClr val="C00000"/>
                </a:solidFill>
                <a:latin typeface="나눔스퀘어 Bold" pitchFamily="34" charset="0"/>
                <a:ea typeface="나눔스퀘어 Bold" pitchFamily="34" charset="-122"/>
                <a:cs typeface="나눔스퀘어 Bold" pitchFamily="34" charset="-120"/>
              </a:rPr>
              <a:t>New </a:t>
            </a:r>
            <a:r>
              <a:rPr lang="en-US" sz="1100" dirty="0">
                <a:solidFill>
                  <a:srgbClr val="262626"/>
                </a:solidFill>
                <a:latin typeface="나눔스퀘어 Bold" pitchFamily="34" charset="0"/>
                <a:ea typeface="나눔스퀘어 Bold" pitchFamily="34" charset="-122"/>
                <a:cs typeface="나눔스퀘어 Bold" pitchFamily="34" charset="-120"/>
              </a:rPr>
              <a:t>KORAMCO</a:t>
            </a:r>
            <a:endParaRPr lang="en-US" sz="1100" dirty="0"/>
          </a:p>
        </p:txBody>
      </p:sp>
      <p:sp>
        <p:nvSpPr>
          <p:cNvPr id="6" name="Shape 4"/>
          <p:cNvSpPr/>
          <p:nvPr/>
        </p:nvSpPr>
        <p:spPr>
          <a:xfrm>
            <a:off x="365760" y="905256"/>
            <a:ext cx="118872" cy="182880"/>
          </a:xfrm>
          <a:prstGeom prst="rect">
            <a:avLst/>
          </a:prstGeom>
          <a:solidFill>
            <a:srgbClr val="C00000"/>
          </a:solidFill>
          <a:ln w="12700">
            <a:solidFill>
              <a:srgbClr val="C00000"/>
            </a:solidFill>
            <a:prstDash val="solid"/>
          </a:ln>
        </p:spPr>
        <p:txBody>
          <a:bodyPr anchor="ctr"/>
          <a:lstStyle/>
          <a:p>
            <a:endParaRPr lang="ko-KR" altLang="en-US"/>
          </a:p>
        </p:txBody>
      </p:sp>
      <p:sp>
        <p:nvSpPr>
          <p:cNvPr id="7" name="Text 5"/>
          <p:cNvSpPr txBox="1"/>
          <p:nvPr/>
        </p:nvSpPr>
        <p:spPr>
          <a:xfrm>
            <a:off x="548640" y="850392"/>
            <a:ext cx="2743200" cy="292608"/>
          </a:xfrm>
          <a:prstGeom prst="rect">
            <a:avLst/>
          </a:prstGeom>
          <a:noFill/>
          <a:ln/>
        </p:spPr>
        <p:txBody>
          <a:bodyPr wrap="square" lIns="381" tIns="381" rIns="381" bIns="381" rtlCol="0" anchor="ctr"/>
          <a:lstStyle/>
          <a:p>
            <a:pPr marL="0" indent="0">
              <a:buNone/>
            </a:pPr>
            <a:r>
              <a:rPr lang="en-US" sz="1300" dirty="0">
                <a:solidFill>
                  <a:srgbClr val="262626"/>
                </a:solidFill>
                <a:latin typeface="나눔스퀘어 ExtraBold" pitchFamily="34" charset="0"/>
                <a:ea typeface="나눔스퀘어 ExtraBold" pitchFamily="34" charset="-122"/>
                <a:cs typeface="나눔스퀘어 ExtraBold" pitchFamily="34" charset="-120"/>
              </a:rPr>
              <a:t>구조</a:t>
            </a:r>
            <a:endParaRPr lang="en-US" sz="1300" dirty="0"/>
          </a:p>
        </p:txBody>
      </p:sp>
      <p:sp>
        <p:nvSpPr>
          <p:cNvPr id="8" name="Text 6"/>
          <p:cNvSpPr/>
          <p:nvPr/>
        </p:nvSpPr>
        <p:spPr>
          <a:xfrm>
            <a:off x="365760" y="1207008"/>
            <a:ext cx="2834640" cy="640080"/>
          </a:xfrm>
          <a:prstGeom prst="rect">
            <a:avLst/>
          </a:prstGeom>
          <a:solidFill>
            <a:srgbClr val="6F6255"/>
          </a:solidFill>
          <a:ln>
            <a:solidFill>
              <a:srgbClr val="6F6255"/>
            </a:solidFill>
          </a:ln>
        </p:spPr>
        <p:txBody>
          <a:bodyPr wrap="square" lIns="381" tIns="381" rIns="381" bIns="381" rtlCol="0" anchor="ctr"/>
          <a:lstStyle/>
          <a:p>
            <a:pPr marL="0" indent="0" algn="ctr">
              <a:buNone/>
            </a:pPr>
            <a:r>
              <a:rPr lang="en-US" sz="1300" dirty="0">
                <a:solidFill>
                  <a:srgbClr val="FFFFFF"/>
                </a:solidFill>
                <a:latin typeface="나눔스퀘어 ExtraBold" pitchFamily="34" charset="0"/>
                <a:ea typeface="나눔스퀘어 ExtraBold" pitchFamily="34" charset="-122"/>
                <a:cs typeface="나눔스퀘어 ExtraBold" pitchFamily="34" charset="-120"/>
              </a:rPr>
              <a:t>코람코라이프인프라리츠</a:t>
            </a:r>
          </a:p>
          <a:p>
            <a:pPr marL="0" indent="0" algn="ctr">
              <a:buNone/>
            </a:pPr>
            <a:r>
              <a:rPr lang="en-US" sz="1050" dirty="0">
                <a:solidFill>
                  <a:srgbClr val="FFFFFF"/>
                </a:solidFill>
                <a:latin typeface="나눔스퀘어" pitchFamily="34" charset="0"/>
                <a:ea typeface="나눔스퀘어" pitchFamily="34" charset="-122"/>
                <a:cs typeface="나눔스퀘어" pitchFamily="34" charset="-120"/>
              </a:rPr>
              <a:t>(모리츠 · 상장리츠, 포트폴리오 약 1.68조)</a:t>
            </a:r>
          </a:p>
        </p:txBody>
      </p:sp>
      <p:sp>
        <p:nvSpPr>
          <p:cNvPr id="51" name="보수구조 목표수익률"/>
          <p:cNvSpPr/>
          <p:nvPr/>
        </p:nvSpPr>
        <p:spPr>
          <a:xfrm>
            <a:off x="3657600" y="1207008"/>
            <a:ext cx="711200" cy="304800"/>
          </a:xfrm>
          <a:prstGeom prst="rect">
            <a:avLst/>
          </a:prstGeom>
          <a:solidFill>
            <a:srgbClr val="A39382"/>
          </a:solidFill>
          <a:ln w="6350">
            <a:solidFill>
              <a:srgbClr val="FFFFFF"/>
            </a:solidFill>
          </a:ln>
        </p:spPr>
        <p:txBody>
          <a:bodyPr wrap="square" lIns="381" tIns="381" rIns="381" bIns="381" rtlCol="0" anchor="ctr"/>
          <a:lstStyle/>
          <a:p>
            <a:pPr algn="ctr"/>
            <a:r>
              <a:rPr lang="ko-KR" altLang="en-US" sz="900" dirty="0">
                <a:solidFill>
                  <a:srgbClr val="FFFFFF"/>
                </a:solidFill>
                <a:latin typeface="나눔스퀘어 Bold" pitchFamily="34" charset="0"/>
                <a:ea typeface="나눔스퀘어 Bold" pitchFamily="34" charset="-122"/>
                <a:cs typeface="나눔스퀘어 Bold" pitchFamily="34" charset="-120"/>
              </a:rPr>
              <a:t>예상수익률</a:t>
            </a:r>
          </a:p>
        </p:txBody>
      </p:sp>
      <p:sp>
        <p:nvSpPr>
          <p:cNvPr id="52" name="보수구조 매입보수"/>
          <p:cNvSpPr/>
          <p:nvPr/>
        </p:nvSpPr>
        <p:spPr>
          <a:xfrm>
            <a:off x="4368800" y="1207008"/>
            <a:ext cx="660400" cy="304800"/>
          </a:xfrm>
          <a:prstGeom prst="rect">
            <a:avLst/>
          </a:prstGeom>
          <a:solidFill>
            <a:srgbClr val="A39382"/>
          </a:solidFill>
          <a:ln w="6350">
            <a:solidFill>
              <a:srgbClr val="FFFFFF"/>
            </a:solidFill>
          </a:ln>
        </p:spPr>
        <p:txBody>
          <a:bodyPr wrap="square" lIns="381" tIns="381" rIns="381" bIns="381" rtlCol="0" anchor="ctr"/>
          <a:lstStyle/>
          <a:p>
            <a:pPr algn="ctr"/>
            <a:r>
              <a:rPr lang="ko-KR" altLang="en-US" sz="900" dirty="0">
                <a:solidFill>
                  <a:srgbClr val="FFFFFF"/>
                </a:solidFill>
                <a:latin typeface="나눔스퀘어 Bold" pitchFamily="34" charset="0"/>
                <a:ea typeface="나눔스퀘어 Bold" pitchFamily="34" charset="-122"/>
                <a:cs typeface="나눔스퀘어 Bold" pitchFamily="34" charset="-120"/>
              </a:rPr>
              <a:t>매입보수</a:t>
            </a:r>
            <a:endParaRPr lang="en-US" altLang="ko-KR" sz="900" dirty="0"/>
          </a:p>
        </p:txBody>
      </p:sp>
      <p:sp>
        <p:nvSpPr>
          <p:cNvPr id="53" name="보수구조 운용보수"/>
          <p:cNvSpPr/>
          <p:nvPr/>
        </p:nvSpPr>
        <p:spPr>
          <a:xfrm>
            <a:off x="5029200" y="1207008"/>
            <a:ext cx="1828800" cy="152400"/>
          </a:xfrm>
          <a:prstGeom prst="rect">
            <a:avLst/>
          </a:prstGeom>
          <a:solidFill>
            <a:srgbClr val="A39382"/>
          </a:solidFill>
          <a:ln w="6350">
            <a:solidFill>
              <a:srgbClr val="FFFFFF"/>
            </a:solidFill>
          </a:ln>
        </p:spPr>
        <p:txBody>
          <a:bodyPr wrap="square" lIns="381" tIns="381" rIns="381" bIns="381" rtlCol="0" anchor="ctr"/>
          <a:lstStyle/>
          <a:p>
            <a:pPr algn="ctr"/>
            <a:r>
              <a:rPr lang="ko-KR" altLang="en-US" sz="900" dirty="0">
                <a:solidFill>
                  <a:srgbClr val="FFFFFF"/>
                </a:solidFill>
                <a:latin typeface="나눔스퀘어 Bold" pitchFamily="34" charset="0"/>
                <a:ea typeface="나눔스퀘어 Bold" pitchFamily="34" charset="-122"/>
                <a:cs typeface="나눔스퀘어 Bold" pitchFamily="34" charset="-120"/>
              </a:rPr>
              <a:t>운용보수</a:t>
            </a:r>
            <a:endParaRPr lang="en-US" altLang="ko-KR" sz="900" dirty="0"/>
          </a:p>
        </p:txBody>
      </p:sp>
      <p:sp>
        <p:nvSpPr>
          <p:cNvPr id="54" name="보수구조 매각보수"/>
          <p:cNvSpPr/>
          <p:nvPr/>
        </p:nvSpPr>
        <p:spPr>
          <a:xfrm>
            <a:off x="6858000" y="1207008"/>
            <a:ext cx="1791079" cy="152400"/>
          </a:xfrm>
          <a:prstGeom prst="rect">
            <a:avLst/>
          </a:prstGeom>
          <a:solidFill>
            <a:srgbClr val="A39382"/>
          </a:solidFill>
          <a:ln w="6350">
            <a:solidFill>
              <a:srgbClr val="FFFFFF"/>
            </a:solidFill>
          </a:ln>
        </p:spPr>
        <p:txBody>
          <a:bodyPr wrap="square" lIns="381" tIns="381" rIns="381" bIns="381" rtlCol="0" anchor="ctr"/>
          <a:lstStyle/>
          <a:p>
            <a:pPr algn="ctr"/>
            <a:r>
              <a:rPr lang="ko-KR" altLang="en-US" sz="900" dirty="0">
                <a:solidFill>
                  <a:srgbClr val="FFFFFF"/>
                </a:solidFill>
                <a:latin typeface="나눔스퀘어 Bold" pitchFamily="34" charset="0"/>
                <a:ea typeface="나눔스퀘어 Bold" pitchFamily="34" charset="-122"/>
                <a:cs typeface="나눔스퀘어 Bold" pitchFamily="34" charset="-120"/>
              </a:rPr>
              <a:t>매각보수</a:t>
            </a:r>
            <a:endParaRPr lang="en-US" altLang="ko-KR" sz="900" dirty="0"/>
          </a:p>
        </p:txBody>
      </p:sp>
      <p:sp>
        <p:nvSpPr>
          <p:cNvPr id="55" name="보수구조 소구분2"/>
          <p:cNvSpPr/>
          <p:nvPr/>
        </p:nvSpPr>
        <p:spPr>
          <a:xfrm>
            <a:off x="5029200" y="1359408"/>
            <a:ext cx="1117600" cy="152400"/>
          </a:xfrm>
          <a:prstGeom prst="rect">
            <a:avLst/>
          </a:prstGeom>
          <a:solidFill>
            <a:srgbClr val="A39382"/>
          </a:solidFill>
          <a:ln w="6350">
            <a:solidFill>
              <a:srgbClr val="FFFFFF"/>
            </a:solidFill>
          </a:ln>
        </p:spPr>
        <p:txBody>
          <a:bodyPr wrap="square" lIns="381" tIns="381" rIns="381" bIns="381" rtlCol="0" anchor="ctr"/>
          <a:lstStyle/>
          <a:p>
            <a:pPr algn="ctr"/>
            <a:r>
              <a:rPr lang="ko-KR" altLang="en-US" sz="850" dirty="0">
                <a:solidFill>
                  <a:srgbClr val="FFFFFF"/>
                </a:solidFill>
                <a:latin typeface="나눔스퀘어 Bold" pitchFamily="34" charset="0"/>
                <a:ea typeface="나눔스퀘어 Bold" pitchFamily="34" charset="-122"/>
                <a:cs typeface="나눔스퀘어 Bold" pitchFamily="34" charset="-120"/>
              </a:rPr>
              <a:t>기본</a:t>
            </a:r>
            <a:endParaRPr lang="en-US" altLang="ko-KR" sz="850" dirty="0"/>
          </a:p>
        </p:txBody>
      </p:sp>
      <p:sp>
        <p:nvSpPr>
          <p:cNvPr id="56" name="보수구조 소구분3"/>
          <p:cNvSpPr/>
          <p:nvPr/>
        </p:nvSpPr>
        <p:spPr>
          <a:xfrm>
            <a:off x="6146800" y="1359408"/>
            <a:ext cx="711200" cy="152400"/>
          </a:xfrm>
          <a:prstGeom prst="rect">
            <a:avLst/>
          </a:prstGeom>
          <a:solidFill>
            <a:srgbClr val="A39382"/>
          </a:solidFill>
          <a:ln w="6350">
            <a:solidFill>
              <a:srgbClr val="FFFFFF"/>
            </a:solidFill>
          </a:ln>
        </p:spPr>
        <p:txBody>
          <a:bodyPr wrap="square" lIns="381" tIns="381" rIns="381" bIns="381" rtlCol="0" anchor="ctr"/>
          <a:lstStyle/>
          <a:p>
            <a:pPr algn="ctr"/>
            <a:r>
              <a:rPr lang="ko-KR" altLang="en-US" sz="850" dirty="0">
                <a:solidFill>
                  <a:srgbClr val="FFFFFF"/>
                </a:solidFill>
                <a:latin typeface="나눔스퀘어 Bold" pitchFamily="34" charset="0"/>
                <a:ea typeface="나눔스퀘어 Bold" pitchFamily="34" charset="-122"/>
                <a:cs typeface="나눔스퀘어 Bold" pitchFamily="34" charset="-120"/>
              </a:rPr>
              <a:t>성과</a:t>
            </a:r>
            <a:endParaRPr lang="en-US" altLang="ko-KR" sz="850" dirty="0"/>
          </a:p>
        </p:txBody>
      </p:sp>
      <p:sp>
        <p:nvSpPr>
          <p:cNvPr id="57" name="보수구조 소구분4"/>
          <p:cNvSpPr/>
          <p:nvPr/>
        </p:nvSpPr>
        <p:spPr>
          <a:xfrm>
            <a:off x="6858000" y="1359408"/>
            <a:ext cx="711200" cy="152400"/>
          </a:xfrm>
          <a:prstGeom prst="rect">
            <a:avLst/>
          </a:prstGeom>
          <a:solidFill>
            <a:srgbClr val="A39382"/>
          </a:solidFill>
          <a:ln w="6350">
            <a:solidFill>
              <a:srgbClr val="FFFFFF"/>
            </a:solidFill>
          </a:ln>
        </p:spPr>
        <p:txBody>
          <a:bodyPr wrap="square" lIns="381" tIns="381" rIns="381" bIns="381" rtlCol="0" anchor="ctr"/>
          <a:lstStyle/>
          <a:p>
            <a:pPr algn="ctr"/>
            <a:r>
              <a:rPr lang="ko-KR" altLang="en-US" sz="850" dirty="0">
                <a:solidFill>
                  <a:srgbClr val="FFFFFF"/>
                </a:solidFill>
                <a:latin typeface="나눔스퀘어 Bold" pitchFamily="34" charset="0"/>
                <a:ea typeface="나눔스퀘어 Bold" pitchFamily="34" charset="-122"/>
                <a:cs typeface="나눔스퀘어 Bold" pitchFamily="34" charset="-120"/>
              </a:rPr>
              <a:t>기본</a:t>
            </a:r>
            <a:endParaRPr lang="en-US" altLang="ko-KR" sz="850" dirty="0"/>
          </a:p>
        </p:txBody>
      </p:sp>
      <p:sp>
        <p:nvSpPr>
          <p:cNvPr id="58" name="보수구조 소구분5"/>
          <p:cNvSpPr/>
          <p:nvPr/>
        </p:nvSpPr>
        <p:spPr>
          <a:xfrm>
            <a:off x="7569200" y="1359408"/>
            <a:ext cx="1079879" cy="152400"/>
          </a:xfrm>
          <a:prstGeom prst="rect">
            <a:avLst/>
          </a:prstGeom>
          <a:solidFill>
            <a:srgbClr val="A39382"/>
          </a:solidFill>
          <a:ln w="6350">
            <a:solidFill>
              <a:srgbClr val="FFFFFF"/>
            </a:solidFill>
          </a:ln>
        </p:spPr>
        <p:txBody>
          <a:bodyPr wrap="square" lIns="381" tIns="381" rIns="381" bIns="381" rtlCol="0" anchor="ctr"/>
          <a:lstStyle/>
          <a:p>
            <a:pPr algn="ctr"/>
            <a:r>
              <a:rPr lang="ko-KR" altLang="en-US" sz="850" dirty="0">
                <a:solidFill>
                  <a:srgbClr val="FFFFFF"/>
                </a:solidFill>
                <a:latin typeface="나눔스퀘어 Bold" pitchFamily="34" charset="0"/>
                <a:ea typeface="나눔스퀘어 Bold" pitchFamily="34" charset="-122"/>
                <a:cs typeface="나눔스퀘어 Bold" pitchFamily="34" charset="-120"/>
              </a:rPr>
              <a:t>성과</a:t>
            </a:r>
            <a:endParaRPr lang="en-US" altLang="ko-KR" sz="850" dirty="0"/>
          </a:p>
        </p:txBody>
      </p:sp>
      <p:sp>
        <p:nvSpPr>
          <p:cNvPr id="59" name="보수구조 값0"/>
          <p:cNvSpPr/>
          <p:nvPr/>
        </p:nvSpPr>
        <p:spPr>
          <a:xfrm>
            <a:off x="3657600" y="1511808"/>
            <a:ext cx="711200" cy="335280"/>
          </a:xfrm>
          <a:prstGeom prst="rect">
            <a:avLst/>
          </a:prstGeom>
          <a:solidFill>
            <a:srgbClr val="FFFFFF"/>
          </a:solidFill>
          <a:ln>
            <a:solidFill>
              <a:srgbClr val="A39382"/>
            </a:solidFill>
          </a:ln>
        </p:spPr>
        <p:txBody>
          <a:bodyPr wrap="square" lIns="381" tIns="381" rIns="381" bIns="381" rtlCol="0" anchor="ctr"/>
          <a:lstStyle/>
          <a:p>
            <a:pPr marL="0" indent="0" algn="ctr">
              <a:buNone/>
            </a:pPr>
            <a:r>
              <a:rPr lang="en-US" sz="900" dirty="0">
                <a:solidFill>
                  <a:srgbClr val="C00000"/>
                </a:solidFill>
                <a:latin typeface="나눔스퀘어 ExtraBold" pitchFamily="34" charset="0"/>
                <a:ea typeface="나눔스퀘어 ExtraBold" pitchFamily="34" charset="-122"/>
                <a:cs typeface="나눔스퀘어 ExtraBold" pitchFamily="34" charset="-120"/>
              </a:rPr>
              <a:t>IRR 10.21%</a:t>
            </a:r>
          </a:p>
        </p:txBody>
      </p:sp>
      <p:sp>
        <p:nvSpPr>
          <p:cNvPr id="60" name="보수구조 값1"/>
          <p:cNvSpPr/>
          <p:nvPr/>
        </p:nvSpPr>
        <p:spPr>
          <a:xfrm>
            <a:off x="4368800" y="1511808"/>
            <a:ext cx="660400" cy="335280"/>
          </a:xfrm>
          <a:prstGeom prst="rect">
            <a:avLst/>
          </a:prstGeom>
          <a:solidFill>
            <a:srgbClr val="FFFFFF"/>
          </a:solidFill>
          <a:ln>
            <a:solidFill>
              <a:srgbClr val="A39382"/>
            </a:solidFill>
          </a:ln>
        </p:spPr>
        <p:txBody>
          <a:bodyPr wrap="square" lIns="381" tIns="381" rIns="381" bIns="381" rtlCol="0" anchor="ctr"/>
          <a:lstStyle/>
          <a:p>
            <a:pPr marL="0" indent="0" algn="ctr">
              <a:buNone/>
            </a:pPr>
            <a:r>
              <a:rPr lang="en-US" sz="800" dirty="0">
                <a:solidFill>
                  <a:srgbClr val="C00000"/>
                </a:solidFill>
                <a:latin typeface="나눔스퀘어 ExtraBold" pitchFamily="34" charset="0"/>
                <a:ea typeface="나눔스퀘어 ExtraBold" pitchFamily="34" charset="-122"/>
                <a:cs typeface="나눔스퀘어 ExtraBold" pitchFamily="34" charset="-120"/>
              </a:rPr>
              <a:t>매입가 0.5%</a:t>
            </a:r>
          </a:p>
        </p:txBody>
      </p:sp>
      <p:sp>
        <p:nvSpPr>
          <p:cNvPr id="61" name="보수구조 값2"/>
          <p:cNvSpPr/>
          <p:nvPr/>
        </p:nvSpPr>
        <p:spPr>
          <a:xfrm>
            <a:off x="5029200" y="1511808"/>
            <a:ext cx="1117600" cy="335280"/>
          </a:xfrm>
          <a:prstGeom prst="rect">
            <a:avLst/>
          </a:prstGeom>
          <a:solidFill>
            <a:srgbClr val="FFFFFF"/>
          </a:solidFill>
          <a:ln>
            <a:solidFill>
              <a:srgbClr val="A39382"/>
            </a:solidFill>
          </a:ln>
        </p:spPr>
        <p:txBody>
          <a:bodyPr wrap="square" lIns="381" tIns="381" rIns="381" bIns="381" rtlCol="0" anchor="ctr"/>
          <a:lstStyle/>
          <a:p>
            <a:pPr marL="0" indent="0" algn="ctr">
              <a:buNone/>
            </a:pPr>
            <a:r>
              <a:rPr lang="en-US" sz="900" dirty="0">
                <a:solidFill>
                  <a:srgbClr val="C00000"/>
                </a:solidFill>
                <a:latin typeface="나눔스퀘어 ExtraBold" pitchFamily="34" charset="0"/>
                <a:ea typeface="나눔스퀘어 ExtraBold" pitchFamily="34" charset="-122"/>
                <a:cs typeface="나눔스퀘어 ExtraBold" pitchFamily="34" charset="-120"/>
              </a:rPr>
              <a:t>AUM × 0.223%</a:t>
            </a:r>
          </a:p>
        </p:txBody>
      </p:sp>
      <p:sp>
        <p:nvSpPr>
          <p:cNvPr id="62" name="보수구조 값3"/>
          <p:cNvSpPr/>
          <p:nvPr/>
        </p:nvSpPr>
        <p:spPr>
          <a:xfrm>
            <a:off x="6146800" y="1511808"/>
            <a:ext cx="711200" cy="335280"/>
          </a:xfrm>
          <a:prstGeom prst="rect">
            <a:avLst/>
          </a:prstGeom>
          <a:solidFill>
            <a:srgbClr val="FFFFFF"/>
          </a:solidFill>
          <a:ln>
            <a:solidFill>
              <a:srgbClr val="A39382"/>
            </a:solidFill>
          </a:ln>
        </p:spPr>
        <p:txBody>
          <a:bodyPr wrap="square" lIns="381" tIns="381" rIns="381" bIns="381" rtlCol="0" anchor="ctr"/>
          <a:lstStyle/>
          <a:p>
            <a:pPr marL="0" indent="0" algn="ctr">
              <a:buNone/>
            </a:pPr>
            <a:r>
              <a:rPr lang="en-US" sz="1100" dirty="0">
                <a:solidFill>
                  <a:srgbClr val="C00000"/>
                </a:solidFill>
                <a:latin typeface="나눔스퀘어 ExtraBold" pitchFamily="34" charset="0"/>
                <a:ea typeface="나눔스퀘어 ExtraBold" pitchFamily="34" charset="-122"/>
                <a:cs typeface="나눔스퀘어 ExtraBold" pitchFamily="34" charset="-120"/>
              </a:rPr>
              <a:t>-</a:t>
            </a:r>
            <a:endParaRPr lang="en-US" sz="1100" dirty="0"/>
          </a:p>
        </p:txBody>
      </p:sp>
      <p:sp>
        <p:nvSpPr>
          <p:cNvPr id="63" name="보수구조 값4"/>
          <p:cNvSpPr/>
          <p:nvPr/>
        </p:nvSpPr>
        <p:spPr>
          <a:xfrm>
            <a:off x="6858000" y="1511808"/>
            <a:ext cx="711200" cy="335280"/>
          </a:xfrm>
          <a:prstGeom prst="rect">
            <a:avLst/>
          </a:prstGeom>
          <a:solidFill>
            <a:srgbClr val="FFFFFF"/>
          </a:solidFill>
          <a:ln>
            <a:solidFill>
              <a:srgbClr val="A39382"/>
            </a:solidFill>
          </a:ln>
        </p:spPr>
        <p:txBody>
          <a:bodyPr wrap="square" lIns="381" tIns="381" rIns="381" bIns="381" rtlCol="0" anchor="ctr"/>
          <a:lstStyle/>
          <a:p>
            <a:pPr marL="0" indent="0" algn="ctr">
              <a:buNone/>
            </a:pPr>
            <a:r>
              <a:rPr lang="en-US" sz="850" dirty="0">
                <a:solidFill>
                  <a:srgbClr val="C00000"/>
                </a:solidFill>
                <a:latin typeface="나눔스퀘어 ExtraBold" pitchFamily="34" charset="0"/>
                <a:ea typeface="나눔스퀘어 ExtraBold" pitchFamily="34" charset="-122"/>
                <a:cs typeface="나눔스퀘어 ExtraBold" pitchFamily="34" charset="-120"/>
              </a:rPr>
              <a:t>매각가 0.5%</a:t>
            </a:r>
          </a:p>
        </p:txBody>
      </p:sp>
      <p:sp>
        <p:nvSpPr>
          <p:cNvPr id="64" name="보수구조 값5"/>
          <p:cNvSpPr/>
          <p:nvPr/>
        </p:nvSpPr>
        <p:spPr>
          <a:xfrm>
            <a:off x="7569200" y="1511808"/>
            <a:ext cx="1079879" cy="335280"/>
          </a:xfrm>
          <a:prstGeom prst="rect">
            <a:avLst/>
          </a:prstGeom>
          <a:solidFill>
            <a:srgbClr val="FFFFFF"/>
          </a:solidFill>
          <a:ln>
            <a:solidFill>
              <a:srgbClr val="A39382"/>
            </a:solidFill>
          </a:ln>
        </p:spPr>
        <p:txBody>
          <a:bodyPr wrap="square" lIns="381" tIns="381" rIns="381" bIns="381" rtlCol="0" anchor="ctr"/>
          <a:lstStyle/>
          <a:p>
            <a:pPr marL="0" indent="0" algn="ctr">
              <a:buNone/>
            </a:pPr>
            <a:r>
              <a:rPr lang="en-US" sz="900" dirty="0">
                <a:solidFill>
                  <a:srgbClr val="C00000"/>
                </a:solidFill>
                <a:latin typeface="나눔스퀘어 ExtraBold" pitchFamily="34" charset="0"/>
                <a:ea typeface="나눔스퀘어 ExtraBold" pitchFamily="34" charset="-122"/>
                <a:cs typeface="나눔스퀘어 ExtraBold" pitchFamily="34" charset="-120"/>
              </a:rPr>
              <a:t>기본보수 차감 후</a:t>
            </a:r>
          </a:p>
          <a:p>
            <a:pPr marL="0" indent="0" algn="ctr">
              <a:buNone/>
            </a:pPr>
            <a:r>
              <a:rPr lang="en-US" sz="900" dirty="0">
                <a:solidFill>
                  <a:srgbClr val="C00000"/>
                </a:solidFill>
                <a:latin typeface="나눔스퀘어 ExtraBold" pitchFamily="34" charset="0"/>
                <a:ea typeface="나눔스퀘어 ExtraBold" pitchFamily="34" charset="-122"/>
                <a:cs typeface="나눔스퀘어 ExtraBold" pitchFamily="34" charset="-120"/>
              </a:rPr>
              <a:t>매각이익의 15%</a:t>
            </a:r>
          </a:p>
        </p:txBody>
      </p:sp>
      <p:sp>
        <p:nvSpPr>
          <p:cNvPr id="65" name="보수구조 주석"/>
          <p:cNvSpPr txBox="1"/>
          <p:nvPr/>
        </p:nvSpPr>
        <p:spPr>
          <a:xfrm>
            <a:off x="3666959" y="1034797"/>
            <a:ext cx="2248279" cy="198338"/>
          </a:xfrm>
          <a:prstGeom prst="rect">
            <a:avLst/>
          </a:prstGeom>
          <a:noFill/>
          <a:ln/>
        </p:spPr>
        <p:txBody>
          <a:bodyPr wrap="square" lIns="381" tIns="381" rIns="381" bIns="381" rtlCol="0" anchor="ctr"/>
          <a:lstStyle/>
          <a:p>
            <a:pPr marL="0" indent="0">
              <a:buNone/>
            </a:pPr>
            <a:r>
              <a:rPr lang="en-US" altLang="ko-KR" sz="900" dirty="0">
                <a:solidFill>
                  <a:srgbClr val="262626"/>
                </a:solidFill>
                <a:latin typeface="나눔스퀘어 Bold" pitchFamily="34" charset="0"/>
                <a:ea typeface="나눔스퀘어 Bold" pitchFamily="34" charset="-122"/>
                <a:cs typeface="나눔스퀘어 Bold" pitchFamily="34" charset="-120"/>
              </a:rPr>
              <a:t>· </a:t>
            </a:r>
            <a:r>
              <a:rPr lang="en-US" sz="900" dirty="0">
                <a:solidFill>
                  <a:srgbClr val="262626"/>
                </a:solidFill>
                <a:latin typeface="나눔스퀘어 Bold" pitchFamily="34" charset="0"/>
                <a:ea typeface="나눔스퀘어 Bold" pitchFamily="34" charset="-122"/>
                <a:cs typeface="나눔스퀘어 Bold" pitchFamily="34" charset="-120"/>
              </a:rPr>
              <a:t>자리츠(코람코라이프로지스리츠) 기준</a:t>
            </a:r>
          </a:p>
        </p:txBody>
      </p:sp>
      <p:sp>
        <p:nvSpPr>
          <p:cNvPr id="13" name="Text 11"/>
          <p:cNvSpPr txBox="1"/>
          <p:nvPr/>
        </p:nvSpPr>
        <p:spPr>
          <a:xfrm>
            <a:off x="3664648" y="1959863"/>
            <a:ext cx="4206240" cy="237744"/>
          </a:xfrm>
          <a:prstGeom prst="rect">
            <a:avLst/>
          </a:prstGeom>
          <a:noFill/>
          <a:ln/>
        </p:spPr>
        <p:txBody>
          <a:bodyPr wrap="square" lIns="381" tIns="381" rIns="381" bIns="381" rtlCol="0" anchor="ctr"/>
          <a:lstStyle/>
          <a:p>
            <a:pPr marL="0" indent="0">
              <a:buNone/>
            </a:pPr>
            <a:r>
              <a:rPr lang="en-US" sz="900" dirty="0">
                <a:solidFill>
                  <a:srgbClr val="262626"/>
                </a:solidFill>
                <a:latin typeface="나눔스퀘어 Bold" pitchFamily="34" charset="0"/>
                <a:ea typeface="나눔스퀘어 Bold" pitchFamily="34" charset="-122"/>
                <a:cs typeface="나눔스퀘어 Bold" pitchFamily="34" charset="-120"/>
              </a:rPr>
              <a:t>※ 매입확약 이행 후 : </a:t>
            </a:r>
            <a:r>
              <a:rPr lang="en-US" sz="900" dirty="0">
                <a:solidFill>
                  <a:srgbClr val="262626"/>
                </a:solidFill>
                <a:latin typeface="나눔스퀘어" pitchFamily="34" charset="0"/>
                <a:ea typeface="나눔스퀘어" pitchFamily="34" charset="-122"/>
                <a:cs typeface="나눔스퀘어" pitchFamily="34" charset="-120"/>
              </a:rPr>
              <a:t>KLI 888억 (보통주 148 · 2종 500 · 1종 240)</a:t>
            </a:r>
          </a:p>
        </p:txBody>
      </p:sp>
      <p:sp>
        <p:nvSpPr>
          <p:cNvPr id="14" name="Shape 12"/>
          <p:cNvSpPr/>
          <p:nvPr/>
        </p:nvSpPr>
        <p:spPr>
          <a:xfrm>
            <a:off x="1325880" y="1847088"/>
            <a:ext cx="0" cy="329184"/>
          </a:xfrm>
          <a:prstGeom prst="line">
            <a:avLst/>
          </a:prstGeom>
          <a:noFill/>
          <a:ln w="12700">
            <a:solidFill>
              <a:srgbClr val="A6A6A6"/>
            </a:solidFill>
            <a:prstDash val="solid"/>
          </a:ln>
        </p:spPr>
        <p:txBody>
          <a:bodyPr anchor="ctr"/>
          <a:lstStyle/>
          <a:p>
            <a:endParaRPr lang="ko-KR" altLang="en-US"/>
          </a:p>
        </p:txBody>
      </p:sp>
      <p:sp>
        <p:nvSpPr>
          <p:cNvPr id="15" name="Text 13"/>
          <p:cNvSpPr txBox="1"/>
          <p:nvPr/>
        </p:nvSpPr>
        <p:spPr>
          <a:xfrm>
            <a:off x="1417320" y="1883664"/>
            <a:ext cx="1554480" cy="237744"/>
          </a:xfrm>
          <a:prstGeom prst="rect">
            <a:avLst/>
          </a:prstGeom>
          <a:noFill/>
          <a:ln/>
        </p:spPr>
        <p:txBody>
          <a:bodyPr wrap="square" lIns="381" tIns="381" rIns="381" bIns="381" rtlCol="0" anchor="ctr"/>
          <a:lstStyle/>
          <a:p>
            <a:pPr marL="0" indent="0">
              <a:buNone/>
            </a:pPr>
            <a:r>
              <a:rPr lang="en-US" sz="1100" dirty="0">
                <a:solidFill>
                  <a:srgbClr val="C00000"/>
                </a:solidFill>
                <a:latin typeface="나눔스퀘어 ExtraBold" pitchFamily="34" charset="0"/>
                <a:ea typeface="나눔스퀘어 ExtraBold" pitchFamily="34" charset="-122"/>
                <a:cs typeface="나눔스퀘어 ExtraBold" pitchFamily="34" charset="-120"/>
              </a:rPr>
              <a:t>+ KLI 308억</a:t>
            </a:r>
          </a:p>
        </p:txBody>
      </p:sp>
      <p:sp>
        <p:nvSpPr>
          <p:cNvPr id="17" name="Shape 15"/>
          <p:cNvSpPr/>
          <p:nvPr/>
        </p:nvSpPr>
        <p:spPr>
          <a:xfrm>
            <a:off x="1325880" y="2176272"/>
            <a:ext cx="0" cy="182880"/>
          </a:xfrm>
          <a:prstGeom prst="line">
            <a:avLst/>
          </a:prstGeom>
          <a:noFill/>
          <a:ln w="12700">
            <a:solidFill>
              <a:srgbClr val="A6A6A6"/>
            </a:solidFill>
            <a:prstDash val="solid"/>
          </a:ln>
        </p:spPr>
        <p:txBody>
          <a:bodyPr anchor="ctr"/>
          <a:lstStyle/>
          <a:p>
            <a:endParaRPr lang="ko-KR" altLang="en-US"/>
          </a:p>
        </p:txBody>
      </p:sp>
      <p:sp>
        <p:nvSpPr>
          <p:cNvPr id="21" name="Shape 19"/>
          <p:cNvSpPr/>
          <p:nvPr/>
        </p:nvSpPr>
        <p:spPr>
          <a:xfrm>
            <a:off x="365760" y="2267712"/>
            <a:ext cx="2487168" cy="2194560"/>
          </a:xfrm>
          <a:prstGeom prst="rect">
            <a:avLst/>
          </a:prstGeom>
          <a:solidFill>
            <a:srgbClr val="FDF7F7"/>
          </a:solidFill>
          <a:ln w="12700">
            <a:solidFill>
              <a:srgbClr val="C00000"/>
            </a:solidFill>
            <a:prstDash val="dash"/>
          </a:ln>
        </p:spPr>
        <p:txBody>
          <a:bodyPr anchor="ctr"/>
          <a:lstStyle/>
          <a:p>
            <a:endParaRPr lang="ko-KR" altLang="en-US"/>
          </a:p>
        </p:txBody>
      </p:sp>
      <p:sp>
        <p:nvSpPr>
          <p:cNvPr id="22" name="Text 20"/>
          <p:cNvSpPr/>
          <p:nvPr/>
        </p:nvSpPr>
        <p:spPr>
          <a:xfrm>
            <a:off x="548640" y="2359152"/>
            <a:ext cx="2286000" cy="384048"/>
          </a:xfrm>
          <a:prstGeom prst="rect">
            <a:avLst/>
          </a:prstGeom>
          <a:solidFill>
            <a:srgbClr val="EDE6DF"/>
          </a:solidFill>
          <a:ln>
            <a:solidFill>
              <a:srgbClr val="A39382"/>
            </a:solidFill>
          </a:ln>
        </p:spPr>
        <p:txBody>
          <a:bodyPr wrap="square" lIns="381" tIns="381" rIns="381" bIns="381" rtlCol="0" anchor="ctr"/>
          <a:lstStyle/>
          <a:p>
            <a:pPr marL="0" indent="0" algn="ctr">
              <a:buNone/>
            </a:pPr>
            <a:r>
              <a:rPr lang="en-US" sz="1200" dirty="0">
                <a:solidFill>
                  <a:srgbClr val="262626"/>
                </a:solidFill>
                <a:latin typeface="나눔스퀘어 ExtraBold" pitchFamily="34" charset="0"/>
                <a:ea typeface="나눔스퀘어 ExtraBold" pitchFamily="34" charset="-122"/>
                <a:cs typeface="나눔스퀘어 ExtraBold" pitchFamily="34" charset="-120"/>
              </a:rPr>
              <a:t>코람코라이프로지스리츠</a:t>
            </a:r>
          </a:p>
          <a:p>
            <a:pPr marL="0" indent="0" algn="ctr">
              <a:buNone/>
            </a:pPr>
            <a:r>
              <a:rPr lang="ko-KR" altLang="en-US" sz="900" b="1" dirty="0" err="1">
                <a:solidFill>
                  <a:srgbClr val="262626"/>
                </a:solidFill>
                <a:latin typeface="나눔스퀘어" pitchFamily="34" charset="0"/>
                <a:ea typeface="나눔스퀘어" pitchFamily="34" charset="-122"/>
              </a:rPr>
              <a:t>(2,700억) </a:t>
            </a:r>
            <a:r>
              <a:rPr lang="ko-KR" altLang="en-US" sz="900" b="1" dirty="0" err="1">
                <a:solidFill>
                  <a:srgbClr val="262626"/>
                </a:solidFill>
                <a:latin typeface="나눔스퀘어" pitchFamily="34" charset="0"/>
                <a:ea typeface="나눔스퀘어" pitchFamily="34" charset="-122"/>
              </a:rPr>
              <a:t>안양물류센터</a:t>
            </a:r>
          </a:p>
        </p:txBody>
      </p:sp>
      <p:sp>
        <p:nvSpPr>
          <p:cNvPr id="26" name="Shape 24"/>
          <p:cNvSpPr/>
          <p:nvPr/>
        </p:nvSpPr>
        <p:spPr>
          <a:xfrm>
            <a:off x="1325880" y="2743200"/>
            <a:ext cx="0" cy="201168"/>
          </a:xfrm>
          <a:prstGeom prst="line">
            <a:avLst/>
          </a:prstGeom>
          <a:noFill/>
          <a:ln w="12700">
            <a:solidFill>
              <a:srgbClr val="A6A6A6"/>
            </a:solidFill>
            <a:prstDash val="dash"/>
          </a:ln>
        </p:spPr>
        <p:txBody>
          <a:bodyPr anchor="ctr"/>
          <a:lstStyle/>
          <a:p>
            <a:endParaRPr lang="ko-KR" altLang="en-US"/>
          </a:p>
        </p:txBody>
      </p:sp>
      <p:sp>
        <p:nvSpPr>
          <p:cNvPr id="27" name="Text 25"/>
          <p:cNvSpPr/>
          <p:nvPr/>
        </p:nvSpPr>
        <p:spPr>
          <a:xfrm>
            <a:off x="548640" y="2944368"/>
            <a:ext cx="1060704" cy="868680"/>
          </a:xfrm>
          <a:prstGeom prst="rect">
            <a:avLst/>
          </a:prstGeom>
          <a:solidFill>
            <a:srgbClr val="FFFFFF"/>
          </a:solidFill>
          <a:ln w="9525">
            <a:solidFill>
              <a:srgbClr val="A6A6A6"/>
            </a:solidFill>
          </a:ln>
        </p:spPr>
        <p:txBody>
          <a:bodyPr wrap="square" lIns="381" tIns="381" rIns="381" bIns="381" rtlCol="0"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매매대금</a:t>
            </a:r>
          </a:p>
          <a:p>
            <a:pPr marL="0" indent="0" algn="ctr">
              <a:buNone/>
            </a:pPr>
            <a:r>
              <a:rPr lang="en-US" sz="1200" dirty="0">
                <a:solidFill>
                  <a:srgbClr val="262626"/>
                </a:solidFill>
                <a:latin typeface="나눔스퀘어 ExtraBold" pitchFamily="34" charset="0"/>
                <a:ea typeface="나눔스퀘어 ExtraBold" pitchFamily="34" charset="-122"/>
                <a:cs typeface="나눔스퀘어 ExtraBold" pitchFamily="34" charset="-120"/>
              </a:rPr>
              <a:t>2,700</a:t>
            </a:r>
          </a:p>
        </p:txBody>
      </p:sp>
      <p:sp>
        <p:nvSpPr>
          <p:cNvPr id="28" name="Text 26"/>
          <p:cNvSpPr/>
          <p:nvPr/>
        </p:nvSpPr>
        <p:spPr>
          <a:xfrm>
            <a:off x="548640" y="3813048"/>
            <a:ext cx="1060704" cy="274320"/>
          </a:xfrm>
          <a:prstGeom prst="rect">
            <a:avLst/>
          </a:prstGeom>
          <a:solidFill>
            <a:srgbClr val="FFFFFF"/>
          </a:solidFill>
          <a:ln w="9525">
            <a:solidFill>
              <a:srgbClr val="A6A6A6"/>
            </a:solidFill>
          </a:ln>
        </p:spPr>
        <p:txBody>
          <a:bodyPr wrap="square" lIns="381" tIns="381" rIns="381" bIns="381" rtlCol="0" anchor="ctr"/>
          <a:lstStyle/>
          <a:p>
            <a:pPr marL="0" indent="0" algn="ctr">
              <a:buNone/>
            </a:pPr>
            <a:r>
              <a:rPr lang="en-US" sz="850" dirty="0" err="1">
                <a:solidFill>
                  <a:srgbClr val="262626"/>
                </a:solidFill>
                <a:latin typeface="나눔스퀘어" pitchFamily="34" charset="0"/>
                <a:ea typeface="나눔스퀘어" pitchFamily="34" charset="-122"/>
                <a:cs typeface="나눔스퀘어" pitchFamily="34" charset="-120"/>
              </a:rPr>
              <a:t>부대비용</a:t>
            </a:r>
            <a:r>
              <a:rPr lang="en-US" sz="850" dirty="0">
                <a:solidFill>
                  <a:srgbClr val="262626"/>
                </a:solidFill>
                <a:latin typeface="나눔스퀘어" pitchFamily="34" charset="0"/>
                <a:ea typeface="나눔스퀘어" pitchFamily="34" charset="-122"/>
                <a:cs typeface="나눔스퀘어" pitchFamily="34" charset="-120"/>
              </a:rPr>
              <a:t> </a:t>
            </a:r>
            <a:r>
              <a:rPr lang="en-US" sz="850" dirty="0">
                <a:solidFill>
                  <a:srgbClr val="262626"/>
                </a:solidFill>
                <a:latin typeface="나눔스퀘어 Bold" pitchFamily="34" charset="0"/>
                <a:ea typeface="나눔스퀘어 Bold" pitchFamily="34" charset="-122"/>
                <a:cs typeface="나눔스퀘어 Bold" pitchFamily="34" charset="-120"/>
              </a:rPr>
              <a:t>189</a:t>
            </a:r>
          </a:p>
        </p:txBody>
      </p:sp>
      <p:sp>
        <p:nvSpPr>
          <p:cNvPr id="29" name="Text 27"/>
          <p:cNvSpPr/>
          <p:nvPr/>
        </p:nvSpPr>
        <p:spPr>
          <a:xfrm>
            <a:off x="548640" y="4087368"/>
            <a:ext cx="1060704" cy="274320"/>
          </a:xfrm>
          <a:prstGeom prst="rect">
            <a:avLst/>
          </a:prstGeom>
          <a:solidFill>
            <a:srgbClr val="FFFFFF"/>
          </a:solidFill>
          <a:ln w="9525">
            <a:solidFill>
              <a:srgbClr val="A6A6A6"/>
            </a:solidFill>
          </a:ln>
        </p:spPr>
        <p:txBody>
          <a:bodyPr wrap="square" lIns="381" tIns="381" rIns="381" bIns="381" rtlCol="0" anchor="ctr"/>
          <a:lstStyle/>
          <a:p>
            <a:pPr marL="0" indent="0" algn="ctr">
              <a:buNone/>
            </a:pPr>
            <a:r>
              <a:rPr lang="en-US" sz="850" dirty="0">
                <a:solidFill>
                  <a:srgbClr val="262626"/>
                </a:solidFill>
                <a:latin typeface="나눔스퀘어" pitchFamily="34" charset="0"/>
                <a:ea typeface="나눔스퀘어" pitchFamily="34" charset="-122"/>
                <a:cs typeface="나눔스퀘어" pitchFamily="34" charset="-120"/>
              </a:rPr>
              <a:t>예비비 </a:t>
            </a:r>
            <a:r>
              <a:rPr lang="en-US" sz="850" dirty="0">
                <a:solidFill>
                  <a:srgbClr val="262626"/>
                </a:solidFill>
                <a:latin typeface="나눔스퀘어 Bold" pitchFamily="34" charset="0"/>
                <a:ea typeface="나눔스퀘어 Bold" pitchFamily="34" charset="-122"/>
                <a:cs typeface="나눔스퀘어 Bold" pitchFamily="34" charset="-120"/>
              </a:rPr>
              <a:t>100</a:t>
            </a:r>
          </a:p>
        </p:txBody>
      </p:sp>
      <p:sp>
        <p:nvSpPr>
          <p:cNvPr id="30" name="Text 28"/>
          <p:cNvSpPr/>
          <p:nvPr/>
        </p:nvSpPr>
        <p:spPr>
          <a:xfrm>
            <a:off x="1609344" y="2944368"/>
            <a:ext cx="1060704" cy="411480"/>
          </a:xfrm>
          <a:prstGeom prst="rect">
            <a:avLst/>
          </a:prstGeom>
          <a:solidFill>
            <a:srgbClr val="A39382"/>
          </a:solidFill>
          <a:ln>
            <a:solidFill>
              <a:srgbClr val="A39382"/>
            </a:solidFill>
          </a:ln>
        </p:spPr>
        <p:txBody>
          <a:bodyPr wrap="square" lIns="381" tIns="381" rIns="381" bIns="381" rtlCol="0" anchor="ctr"/>
          <a:lstStyle/>
          <a:p>
            <a:pPr marL="0" indent="0" algn="ctr">
              <a:buNone/>
            </a:pPr>
            <a:r>
              <a:rPr lang="en-US" sz="1000" dirty="0">
                <a:solidFill>
                  <a:srgbClr val="FFFFFF"/>
                </a:solidFill>
                <a:latin typeface="나눔스퀘어" panose="020B0600000101010101" pitchFamily="50" charset="-127"/>
                <a:ea typeface="나눔스퀘어" panose="020B0600000101010101" pitchFamily="50" charset="-127"/>
                <a:cs typeface="나눔스퀘어 ExtraBold" pitchFamily="34" charset="-120"/>
              </a:rPr>
              <a:t>Equity</a:t>
            </a:r>
          </a:p>
          <a:p>
            <a:pPr marL="0" indent="0" algn="ctr">
              <a:buNone/>
            </a:pPr>
            <a:r>
              <a:rPr lang="en-US" sz="1200" dirty="0">
                <a:solidFill>
                  <a:srgbClr val="FFFFFF"/>
                </a:solidFill>
                <a:latin typeface="나눔스퀘어 ExtraBold" pitchFamily="34" charset="0"/>
                <a:ea typeface="나눔스퀘어 ExtraBold" pitchFamily="34" charset="-122"/>
                <a:cs typeface="나눔스퀘어 ExtraBold" pitchFamily="34" charset="-120"/>
              </a:rPr>
              <a:t>988</a:t>
            </a:r>
          </a:p>
        </p:txBody>
      </p:sp>
      <p:sp>
        <p:nvSpPr>
          <p:cNvPr id="31" name="Text 29"/>
          <p:cNvSpPr/>
          <p:nvPr/>
        </p:nvSpPr>
        <p:spPr>
          <a:xfrm>
            <a:off x="1609344" y="3355848"/>
            <a:ext cx="1060704" cy="731520"/>
          </a:xfrm>
          <a:prstGeom prst="rect">
            <a:avLst/>
          </a:prstGeom>
          <a:solidFill>
            <a:srgbClr val="FFFFFF"/>
          </a:solidFill>
          <a:ln w="9525">
            <a:solidFill>
              <a:srgbClr val="A6A6A6"/>
            </a:solidFill>
          </a:ln>
        </p:spPr>
        <p:txBody>
          <a:bodyPr wrap="square" lIns="381" tIns="381" rIns="381" bIns="381" rtlCol="0" anchor="ctr"/>
          <a:lstStyle/>
          <a:p>
            <a:pPr marL="0" indent="0" algn="ctr">
              <a:buNone/>
            </a:pPr>
            <a:r>
              <a:rPr lang="en-US" sz="1200" dirty="0">
                <a:solidFill>
                  <a:srgbClr val="262626"/>
                </a:solidFill>
                <a:latin typeface="나눔스퀘어" panose="020B0600000101010101" pitchFamily="50" charset="-127"/>
                <a:ea typeface="나눔스퀘어" panose="020B0600000101010101" pitchFamily="50" charset="-127"/>
                <a:cs typeface="나눔스퀘어 ExtraBold" pitchFamily="34" charset="-120"/>
              </a:rPr>
              <a:t>Loan</a:t>
            </a:r>
          </a:p>
          <a:p>
            <a:pPr marL="0" indent="0" algn="ctr">
              <a:buNone/>
            </a:pPr>
            <a:r>
              <a:rPr lang="en-US" sz="1200" dirty="0">
                <a:solidFill>
                  <a:srgbClr val="262626"/>
                </a:solidFill>
                <a:latin typeface="나눔스퀘어 ExtraBold" pitchFamily="34" charset="0"/>
                <a:ea typeface="나눔스퀘어 ExtraBold" pitchFamily="34" charset="-122"/>
                <a:cs typeface="나눔스퀘어 ExtraBold" pitchFamily="34" charset="-120"/>
              </a:rPr>
              <a:t>1,980</a:t>
            </a:r>
          </a:p>
        </p:txBody>
      </p:sp>
      <p:sp>
        <p:nvSpPr>
          <p:cNvPr id="32" name="Text 30"/>
          <p:cNvSpPr/>
          <p:nvPr/>
        </p:nvSpPr>
        <p:spPr>
          <a:xfrm>
            <a:off x="1609344" y="4087368"/>
            <a:ext cx="1060704" cy="274320"/>
          </a:xfrm>
          <a:prstGeom prst="rect">
            <a:avLst/>
          </a:prstGeom>
          <a:solidFill>
            <a:srgbClr val="F5F3F1"/>
          </a:solidFill>
          <a:ln w="9525">
            <a:solidFill>
              <a:srgbClr val="A6A6A6"/>
            </a:solidFill>
          </a:ln>
        </p:spPr>
        <p:txBody>
          <a:bodyPr wrap="square" lIns="381" tIns="381" rIns="381" bIns="381" rtlCol="0" anchor="ctr"/>
          <a:lstStyle/>
          <a:p>
            <a:pPr marL="0" indent="0" algn="ctr">
              <a:buNone/>
            </a:pPr>
            <a:r>
              <a:rPr lang="en-US" sz="850" dirty="0" err="1">
                <a:solidFill>
                  <a:srgbClr val="262626"/>
                </a:solidFill>
                <a:latin typeface="나눔스퀘어" pitchFamily="34" charset="0"/>
                <a:ea typeface="나눔스퀘어" pitchFamily="34" charset="-122"/>
                <a:cs typeface="나눔스퀘어" pitchFamily="34" charset="-120"/>
              </a:rPr>
              <a:t>보증금</a:t>
            </a:r>
            <a:r>
              <a:rPr lang="en-US" sz="850" dirty="0">
                <a:solidFill>
                  <a:srgbClr val="262626"/>
                </a:solidFill>
                <a:latin typeface="나눔스퀘어" pitchFamily="34" charset="0"/>
                <a:ea typeface="나눔스퀘어" pitchFamily="34" charset="-122"/>
                <a:cs typeface="나눔스퀘어" pitchFamily="34" charset="-120"/>
              </a:rPr>
              <a:t> </a:t>
            </a:r>
            <a:r>
              <a:rPr lang="en-US" sz="850" dirty="0">
                <a:solidFill>
                  <a:srgbClr val="262626"/>
                </a:solidFill>
                <a:latin typeface="나눔스퀘어 Bold" pitchFamily="34" charset="0"/>
                <a:ea typeface="나눔스퀘어 Bold" pitchFamily="34" charset="-122"/>
                <a:cs typeface="나눔스퀘어 Bold" pitchFamily="34" charset="-120"/>
              </a:rPr>
              <a:t>21</a:t>
            </a:r>
          </a:p>
        </p:txBody>
      </p:sp>
      <p:sp>
        <p:nvSpPr>
          <p:cNvPr id="33" name="Shape 31"/>
          <p:cNvSpPr/>
          <p:nvPr/>
        </p:nvSpPr>
        <p:spPr>
          <a:xfrm>
            <a:off x="2670048" y="3150108"/>
            <a:ext cx="347472" cy="0"/>
          </a:xfrm>
          <a:prstGeom prst="line">
            <a:avLst/>
          </a:prstGeom>
          <a:noFill/>
          <a:ln w="12700">
            <a:solidFill>
              <a:srgbClr val="A6A6A6"/>
            </a:solidFill>
            <a:prstDash val="solid"/>
          </a:ln>
        </p:spPr>
        <p:txBody>
          <a:bodyPr anchor="ctr"/>
          <a:lstStyle/>
          <a:p>
            <a:endParaRPr lang="ko-KR" altLang="en-US"/>
          </a:p>
        </p:txBody>
      </p:sp>
      <p:sp>
        <p:nvSpPr>
          <p:cNvPr id="34" name="Text 32"/>
          <p:cNvSpPr txBox="1"/>
          <p:nvPr/>
        </p:nvSpPr>
        <p:spPr>
          <a:xfrm>
            <a:off x="3054096" y="2852928"/>
            <a:ext cx="1828800" cy="530352"/>
          </a:xfrm>
          <a:prstGeom prst="rect">
            <a:avLst/>
          </a:prstGeom>
          <a:noFill/>
          <a:ln/>
        </p:spPr>
        <p:txBody>
          <a:bodyPr wrap="square" lIns="381" tIns="381" rIns="381" bIns="381" rtlCol="0" anchor="ctr"/>
          <a:lstStyle/>
          <a:p>
            <a:pPr marL="0" indent="0">
              <a:buNone/>
            </a:pPr>
            <a:r>
              <a:rPr lang="en-US" sz="900" dirty="0">
                <a:solidFill>
                  <a:srgbClr val="262626"/>
                </a:solidFill>
                <a:latin typeface="나눔스퀘어" pitchFamily="34" charset="0"/>
                <a:ea typeface="나눔스퀘어" pitchFamily="34" charset="-122"/>
                <a:cs typeface="나눔스퀘어" pitchFamily="34" charset="-120"/>
              </a:rPr>
              <a:t>KLI </a:t>
            </a:r>
            <a:r>
              <a:rPr lang="en-US" sz="900" dirty="0">
                <a:solidFill>
                  <a:srgbClr val="262626"/>
                </a:solidFill>
                <a:latin typeface="나눔스퀘어 Bold" pitchFamily="34" charset="0"/>
                <a:ea typeface="나눔스퀘어 Bold" pitchFamily="34" charset="-122"/>
                <a:cs typeface="나눔스퀘어 Bold" pitchFamily="34" charset="-120"/>
              </a:rPr>
              <a:t>308억 </a:t>
            </a:r>
            <a:r>
              <a:rPr lang="en-US" sz="900" dirty="0">
                <a:solidFill>
                  <a:srgbClr val="262626"/>
                </a:solidFill>
                <a:latin typeface="나눔스퀘어 Bold" pitchFamily="34" charset="0"/>
                <a:ea typeface="나눔스퀘어 Bold" pitchFamily="34" charset="-122"/>
                <a:cs typeface="나눔스퀘어 Bold" pitchFamily="34" charset="-120"/>
              </a:rPr>
              <a:t>(31.2%)</a:t>
            </a:r>
          </a:p>
          <a:p>
            <a:pPr marL="0" indent="0">
              <a:buNone/>
            </a:pPr>
            <a:r>
              <a:rPr lang="en-US" sz="900" dirty="0">
                <a:solidFill>
                  <a:srgbClr val="262626"/>
                </a:solidFill>
                <a:latin typeface="나눔스퀘어" pitchFamily="34" charset="0"/>
                <a:ea typeface="나눔스퀘어" pitchFamily="34" charset="-122"/>
                <a:cs typeface="나눔스퀘어" pitchFamily="34" charset="-120"/>
              </a:rPr>
              <a:t>FI </a:t>
            </a:r>
            <a:r>
              <a:rPr lang="en-US" sz="900" dirty="0">
                <a:solidFill>
                  <a:srgbClr val="C00000"/>
                </a:solidFill>
                <a:latin typeface="나눔스퀘어 Bold" pitchFamily="34" charset="0"/>
                <a:ea typeface="나눔스퀘어 Bold" pitchFamily="34" charset="-122"/>
                <a:cs typeface="나눔스퀘어 Bold" pitchFamily="34" charset="-120"/>
              </a:rPr>
              <a:t>580억 </a:t>
            </a:r>
            <a:r>
              <a:rPr lang="en-US" sz="900" dirty="0">
                <a:solidFill>
                  <a:srgbClr val="C00000"/>
                </a:solidFill>
                <a:latin typeface="나눔스퀘어 Bold" pitchFamily="34" charset="0"/>
                <a:ea typeface="나눔스퀘어 Bold" pitchFamily="34" charset="-122"/>
                <a:cs typeface="나눔스퀘어 Bold" pitchFamily="34" charset="-120"/>
              </a:rPr>
              <a:t>(58.7%)</a:t>
            </a:r>
          </a:p>
          <a:p>
            <a:pPr marL="0" indent="0">
              <a:buNone/>
            </a:pPr>
            <a:r>
              <a:rPr lang="en-US" sz="900" dirty="0">
                <a:solidFill>
                  <a:srgbClr val="262626"/>
                </a:solidFill>
                <a:latin typeface="나눔스퀘어" pitchFamily="34" charset="0"/>
                <a:ea typeface="나눔스퀘어" pitchFamily="34" charset="-122"/>
                <a:cs typeface="나눔스퀘어" pitchFamily="34" charset="-120"/>
              </a:rPr>
              <a:t>매도인 3종 </a:t>
            </a:r>
            <a:r>
              <a:rPr lang="en-US" sz="900" dirty="0">
                <a:solidFill>
                  <a:srgbClr val="C00000"/>
                </a:solidFill>
                <a:latin typeface="나눔스퀘어 Bold" pitchFamily="34" charset="0"/>
                <a:ea typeface="나눔스퀘어 Bold" pitchFamily="34" charset="-122"/>
                <a:cs typeface="나눔스퀘어 Bold" pitchFamily="34" charset="-120"/>
              </a:rPr>
              <a:t>100억 </a:t>
            </a:r>
            <a:r>
              <a:rPr lang="en-US" sz="900" dirty="0">
                <a:solidFill>
                  <a:srgbClr val="C00000"/>
                </a:solidFill>
                <a:latin typeface="나눔스퀘어 Bold" pitchFamily="34" charset="0"/>
                <a:ea typeface="나눔스퀘어 Bold" pitchFamily="34" charset="-122"/>
                <a:cs typeface="나눔스퀘어 Bold" pitchFamily="34" charset="-120"/>
              </a:rPr>
              <a:t>(10.1%)</a:t>
            </a:r>
          </a:p>
        </p:txBody>
      </p:sp>
      <p:sp>
        <p:nvSpPr>
          <p:cNvPr id="35" name="Shape 33"/>
          <p:cNvSpPr/>
          <p:nvPr/>
        </p:nvSpPr>
        <p:spPr>
          <a:xfrm>
            <a:off x="2670048" y="3721608"/>
            <a:ext cx="347472" cy="0"/>
          </a:xfrm>
          <a:prstGeom prst="line">
            <a:avLst/>
          </a:prstGeom>
          <a:noFill/>
          <a:ln w="12700">
            <a:solidFill>
              <a:srgbClr val="A6A6A6"/>
            </a:solidFill>
            <a:prstDash val="solid"/>
          </a:ln>
        </p:spPr>
        <p:txBody>
          <a:bodyPr anchor="ctr"/>
          <a:lstStyle/>
          <a:p>
            <a:endParaRPr lang="ko-KR" altLang="en-US"/>
          </a:p>
        </p:txBody>
      </p:sp>
      <p:sp>
        <p:nvSpPr>
          <p:cNvPr id="36" name="Text 34"/>
          <p:cNvSpPr txBox="1"/>
          <p:nvPr/>
        </p:nvSpPr>
        <p:spPr>
          <a:xfrm>
            <a:off x="3054096" y="3447288"/>
            <a:ext cx="1828800" cy="731520"/>
          </a:xfrm>
          <a:prstGeom prst="rect">
            <a:avLst/>
          </a:prstGeom>
          <a:noFill/>
          <a:ln/>
        </p:spPr>
        <p:txBody>
          <a:bodyPr wrap="square" lIns="381" tIns="381" rIns="381" bIns="381" rtlCol="0" anchor="ctr"/>
          <a:lstStyle/>
          <a:p>
            <a:pPr marL="0" indent="0">
              <a:buNone/>
            </a:pPr>
            <a:r>
              <a:rPr lang="en-US" sz="900" dirty="0">
                <a:solidFill>
                  <a:srgbClr val="262626"/>
                </a:solidFill>
                <a:latin typeface="나눔스퀘어 Bold" pitchFamily="34" charset="0"/>
                <a:ea typeface="나눔스퀘어 Bold" pitchFamily="34" charset="-122"/>
                <a:cs typeface="나눔스퀘어 Bold" pitchFamily="34" charset="-120"/>
              </a:rPr>
              <a:t>LTV 59.8%</a:t>
            </a:r>
          </a:p>
          <a:p>
            <a:pPr marL="0" indent="0">
              <a:buNone/>
            </a:pPr>
            <a:r>
              <a:rPr lang="en-US" sz="900" dirty="0">
                <a:solidFill>
                  <a:srgbClr val="262626"/>
                </a:solidFill>
                <a:latin typeface="나눔스퀘어" pitchFamily="34" charset="0"/>
                <a:ea typeface="나눔스퀘어" pitchFamily="34" charset="-122"/>
                <a:cs typeface="나눔스퀘어" pitchFamily="34" charset="-120"/>
              </a:rPr>
              <a:t>(감정가 3,345억 기준)</a:t>
            </a:r>
          </a:p>
          <a:p>
            <a:pPr marL="0" indent="0">
              <a:buNone/>
            </a:pPr>
            <a:r>
              <a:rPr lang="en-US" sz="900" dirty="0">
                <a:solidFill>
                  <a:srgbClr val="262626"/>
                </a:solidFill>
                <a:latin typeface="나눔스퀘어" pitchFamily="34" charset="0"/>
                <a:ea typeface="나눔스퀘어" pitchFamily="34" charset="-122"/>
                <a:cs typeface="나눔스퀘어" pitchFamily="34" charset="-120"/>
              </a:rPr>
              <a:t>선순위 1,600 · 중순위 380</a:t>
            </a:r>
          </a:p>
          <a:p>
            <a:pPr marL="0" indent="0">
              <a:buNone/>
            </a:pPr>
            <a:r>
              <a:rPr lang="en-US" sz="900" dirty="0">
                <a:solidFill>
                  <a:srgbClr val="262626"/>
                </a:solidFill>
                <a:latin typeface="나눔스퀘어" pitchFamily="34" charset="0"/>
                <a:ea typeface="나눔스퀘어" pitchFamily="34" charset="-122"/>
                <a:cs typeface="나눔스퀘어" pitchFamily="34" charset="-120"/>
              </a:rPr>
              <a:t>만기 24개월</a:t>
            </a:r>
          </a:p>
        </p:txBody>
      </p:sp>
      <p:sp>
        <p:nvSpPr>
          <p:cNvPr id="37" name="Shape 35"/>
          <p:cNvSpPr/>
          <p:nvPr/>
        </p:nvSpPr>
        <p:spPr>
          <a:xfrm>
            <a:off x="4983480" y="3611880"/>
            <a:ext cx="310896" cy="237744"/>
          </a:xfrm>
          <a:prstGeom prst="rightArrow">
            <a:avLst/>
          </a:prstGeom>
          <a:solidFill>
            <a:srgbClr val="C00000"/>
          </a:solidFill>
          <a:ln w="12700">
            <a:solidFill>
              <a:srgbClr val="C00000"/>
            </a:solidFill>
            <a:prstDash val="solid"/>
          </a:ln>
        </p:spPr>
        <p:txBody>
          <a:bodyPr anchor="ctr"/>
          <a:lstStyle/>
          <a:p>
            <a:endParaRPr lang="ko-KR" altLang="en-US"/>
          </a:p>
        </p:txBody>
      </p:sp>
      <p:sp>
        <p:nvSpPr>
          <p:cNvPr id="38" name="Text 36"/>
          <p:cNvSpPr txBox="1"/>
          <p:nvPr/>
        </p:nvSpPr>
        <p:spPr>
          <a:xfrm>
            <a:off x="5440680" y="2834640"/>
            <a:ext cx="2743200" cy="274320"/>
          </a:xfrm>
          <a:prstGeom prst="rect">
            <a:avLst/>
          </a:prstGeom>
          <a:noFill/>
          <a:ln/>
        </p:spPr>
        <p:txBody>
          <a:bodyPr wrap="square" lIns="381" tIns="381" rIns="381" bIns="381" rtlCol="0" anchor="ctr"/>
          <a:lstStyle/>
          <a:p>
            <a:pPr marL="0" indent="0">
              <a:buNone/>
            </a:pPr>
            <a:r>
              <a:rPr lang="en-US" sz="1100" dirty="0">
                <a:solidFill>
                  <a:srgbClr val="262626"/>
                </a:solidFill>
                <a:latin typeface="나눔스퀘어 ExtraBold" pitchFamily="34" charset="0"/>
                <a:ea typeface="나눔스퀘어 ExtraBold" pitchFamily="34" charset="-122"/>
                <a:cs typeface="나눔스퀘어 ExtraBold" pitchFamily="34" charset="-120"/>
              </a:rPr>
              <a:t>[ </a:t>
            </a:r>
            <a:r>
              <a:rPr lang="ko-KR" altLang="en-US" sz="1100" dirty="0">
                <a:solidFill>
                  <a:srgbClr val="262626"/>
                </a:solidFill>
                <a:latin typeface="나눔스퀘어 ExtraBold" pitchFamily="34" charset="0"/>
                <a:ea typeface="나눔스퀘어 ExtraBold" pitchFamily="34" charset="-122"/>
                <a:cs typeface="나눔스퀘어 ExtraBold" pitchFamily="34" charset="-120"/>
              </a:rPr>
              <a:t>대주 구성 ]</a:t>
            </a:r>
          </a:p>
        </p:txBody>
      </p:sp>
      <p:graphicFrame>
        <p:nvGraphicFramePr>
          <p:cNvPr id="39" name="Table 0"/>
          <p:cNvGraphicFramePr>
            <a:graphicFrameLocks noGrp="1"/>
          </p:cNvGraphicFramePr>
          <p:nvPr>
            <p:extLst>
              <p:ext uri="{D42A27DB-BD31-4B8C-83A1-F6EECF244321}">
                <p14:modId xmlns:p14="http://schemas.microsoft.com/office/powerpoint/2010/main" val="1518425765"/>
              </p:ext>
            </p:extLst>
          </p:nvPr>
        </p:nvGraphicFramePr>
        <p:xfrm>
          <a:off x="5440680" y="3127248"/>
          <a:ext cx="3108960" cy="1344168"/>
        </p:xfrm>
        <a:graphic>
          <a:graphicData uri="http://schemas.openxmlformats.org/drawingml/2006/table">
            <a:tbl>
              <a:tblPr/>
              <a:tblGrid>
                <a:gridCol w="868680">
                  <a:extLst>
                    <a:ext uri="{9D8B030D-6E8A-4147-A177-3AD203B41FA5}">
                      <a16:colId xmlns:a16="http://schemas.microsoft.com/office/drawing/2014/main" val="20000"/>
                    </a:ext>
                  </a:extLst>
                </a:gridCol>
                <a:gridCol w="658368">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tblGrid>
              <a:tr h="246888">
                <a:tc>
                  <a:txBody>
                    <a:bodyPr anchor="ctr"/>
                    <a:lstStyle/>
                    <a:p>
                      <a:pPr marL="0" indent="0" algn="ctr">
                        <a:buNone/>
                      </a:pPr>
                      <a:r>
                        <a:rPr lang="en-US" sz="1000" dirty="0">
                          <a:solidFill>
                            <a:srgbClr val="FFFFFF"/>
                          </a:solidFill>
                          <a:latin typeface="나눔스퀘어 Bold" pitchFamily="34" charset="0"/>
                          <a:ea typeface="나눔스퀘어 Bold" pitchFamily="34" charset="-122"/>
                          <a:cs typeface="나눔스퀘어 Bold" pitchFamily="34" charset="-120"/>
                        </a:rPr>
                        <a:t>기관</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a:txBody>
                    <a:bodyPr anchor="ctr"/>
                    <a:lstStyle/>
                    <a:p>
                      <a:pPr marL="0" indent="0" algn="ctr">
                        <a:buNone/>
                      </a:pPr>
                      <a:r>
                        <a:rPr lang="en-US" sz="1000" dirty="0">
                          <a:solidFill>
                            <a:srgbClr val="FFFFFF"/>
                          </a:solidFill>
                          <a:latin typeface="나눔스퀘어 Bold" pitchFamily="34" charset="0"/>
                          <a:ea typeface="나눔스퀘어 Bold" pitchFamily="34" charset="-122"/>
                          <a:cs typeface="나눔스퀘어 Bold" pitchFamily="34" charset="-120"/>
                        </a:rPr>
                        <a:t>금액</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a:txBody>
                    <a:bodyPr anchor="ctr"/>
                    <a:lstStyle/>
                    <a:p>
                      <a:pPr marL="0" indent="0" algn="ctr">
                        <a:buNone/>
                      </a:pPr>
                      <a:r>
                        <a:rPr lang="en-US" sz="1000" dirty="0">
                          <a:solidFill>
                            <a:srgbClr val="FFFFFF"/>
                          </a:solidFill>
                          <a:latin typeface="나눔스퀘어 Bold" pitchFamily="34" charset="0"/>
                          <a:ea typeface="나눔스퀘어 Bold" pitchFamily="34" charset="-122"/>
                          <a:cs typeface="나눔스퀘어 Bold" pitchFamily="34" charset="-120"/>
                        </a:rPr>
                        <a:t>비고</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extLst>
                  <a:ext uri="{0D108BD9-81ED-4DB2-BD59-A6C34878D82A}">
                    <a16:rowId xmlns:a16="http://schemas.microsoft.com/office/drawing/2014/main" val="10000"/>
                  </a:ext>
                </a:extLst>
              </a:tr>
              <a:tr h="274320">
                <a:tc>
                  <a:txBody>
                    <a:bodyPr anchor="ctr"/>
                    <a:lstStyle/>
                    <a:p>
                      <a:pPr marL="0" indent="0" algn="ctr">
                        <a:buNone/>
                      </a:pPr>
                      <a:r>
                        <a:rPr lang="en-US" sz="1000" dirty="0">
                          <a:solidFill>
                            <a:srgbClr val="262626"/>
                          </a:solidFill>
                          <a:latin typeface="나눔스퀘어 Bold" pitchFamily="34" charset="0"/>
                          <a:ea typeface="나눔스퀘어 Bold" pitchFamily="34" charset="-122"/>
                          <a:cs typeface="나눔스퀘어 Bold" pitchFamily="34" charset="-120"/>
                        </a:rPr>
                        <a:t>우리은행</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r">
                        <a:buNone/>
                      </a:pPr>
                      <a:r>
                        <a:rPr lang="en-US" sz="1000" dirty="0">
                          <a:solidFill>
                            <a:srgbClr val="262626"/>
                          </a:solidFill>
                          <a:latin typeface="나눔스퀘어 Bold" pitchFamily="34" charset="0"/>
                          <a:ea typeface="나눔스퀘어 Bold" pitchFamily="34" charset="-122"/>
                          <a:cs typeface="나눔스퀘어 Bold" pitchFamily="34" charset="-120"/>
                        </a:rPr>
                        <a:t>1,600억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nchor="ctr"/>
                    <a:lstStyle/>
                    <a:p>
                      <a:pPr marL="0" indent="0" algn="l">
                        <a:buNone/>
                      </a:pPr>
                      <a:r>
                        <a:rPr lang="en-US" sz="900" dirty="0">
                          <a:latin typeface="나눔스퀘어" charset="0"/>
                          <a:ea typeface="나눔스퀘어" charset="0"/>
                          <a:cs typeface="나눔스퀘어" charset="0"/>
                        </a:rPr>
                        <a:t>선순위 4.78% (All-in 5.50%)</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nchor="ctr"/>
                    <a:lstStyle/>
                    <a:p>
                      <a:pPr marL="0" indent="0" algn="ctr">
                        <a:buNone/>
                      </a:pPr>
                      <a:r>
                        <a:rPr lang="en-US" sz="1000" dirty="0" err="1">
                          <a:solidFill>
                            <a:srgbClr val="262626"/>
                          </a:solidFill>
                          <a:latin typeface="나눔스퀘어 Bold" pitchFamily="34" charset="0"/>
                          <a:ea typeface="나눔스퀘어 Bold" pitchFamily="34" charset="-122"/>
                          <a:cs typeface="나눔스퀘어 Bold" pitchFamily="34" charset="-120"/>
                        </a:rPr>
                        <a:t>키움캐피탈</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r">
                        <a:buNone/>
                      </a:pPr>
                      <a:r>
                        <a:rPr lang="en-US" sz="1000" dirty="0">
                          <a:solidFill>
                            <a:srgbClr val="262626"/>
                          </a:solidFill>
                          <a:latin typeface="나눔스퀘어 Bold" pitchFamily="34" charset="0"/>
                          <a:ea typeface="나눔스퀘어 Bold" pitchFamily="34" charset="-122"/>
                          <a:cs typeface="나눔스퀘어 Bold" pitchFamily="34" charset="-120"/>
                        </a:rPr>
                        <a:t>200억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nchor="ctr"/>
                    <a:lstStyle/>
                    <a:p>
                      <a:pPr marL="0" indent="0" algn="l">
                        <a:buNone/>
                      </a:pPr>
                      <a:r>
                        <a:rPr lang="en-US" sz="900" dirty="0">
                          <a:latin typeface="나눔스퀘어" charset="0"/>
                          <a:ea typeface="나눔스퀘어" charset="0"/>
                          <a:cs typeface="나눔스퀘어" charset="0"/>
                        </a:rPr>
                        <a:t>중순위 6.00% (All-in 6.50%)</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nchor="ctr"/>
                    <a:lstStyle/>
                    <a:p>
                      <a:pPr marL="0" indent="0" algn="ctr">
                        <a:buNone/>
                      </a:pPr>
                      <a:r>
                        <a:rPr lang="en-US" sz="1000" dirty="0" err="1">
                          <a:solidFill>
                            <a:srgbClr val="262626"/>
                          </a:solidFill>
                          <a:latin typeface="나눔스퀘어 Bold" pitchFamily="34" charset="0"/>
                          <a:ea typeface="나눔스퀘어 Bold" pitchFamily="34" charset="-122"/>
                          <a:cs typeface="나눔스퀘어 Bold" pitchFamily="34" charset="-120"/>
                        </a:rPr>
                        <a:t>MG캐피탈</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r">
                        <a:buNone/>
                      </a:pPr>
                      <a:r>
                        <a:rPr lang="en-US" sz="1000" dirty="0">
                          <a:solidFill>
                            <a:srgbClr val="262626"/>
                          </a:solidFill>
                          <a:latin typeface="나눔스퀘어 Bold" pitchFamily="34" charset="0"/>
                          <a:ea typeface="나눔스퀘어 Bold" pitchFamily="34" charset="-122"/>
                          <a:cs typeface="나눔스퀘어 Bold" pitchFamily="34" charset="-120"/>
                        </a:rPr>
                        <a:t>100억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nchor="ctr"/>
                    <a:lstStyle/>
                    <a:p>
                      <a:pPr marL="0" indent="0" algn="l">
                        <a:buNone/>
                      </a:pPr>
                      <a:r>
                        <a:rPr lang="en-US" sz="900" dirty="0">
                          <a:latin typeface="나눔스퀘어" charset="0"/>
                          <a:ea typeface="나눔스퀘어" charset="0"/>
                          <a:cs typeface="나눔스퀘어" charset="0"/>
                        </a:rPr>
                        <a:t>중순위 (상동)</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nchor="ctr"/>
                    <a:lstStyle/>
                    <a:p>
                      <a:pPr marL="0" indent="0" algn="ctr">
                        <a:buNone/>
                      </a:pPr>
                      <a:r>
                        <a:rPr lang="en-US" sz="1000" dirty="0" err="1">
                          <a:solidFill>
                            <a:srgbClr val="262626"/>
                          </a:solidFill>
                          <a:latin typeface="나눔스퀘어 Bold" pitchFamily="34" charset="0"/>
                          <a:ea typeface="나눔스퀘어 Bold" pitchFamily="34" charset="-122"/>
                          <a:cs typeface="나눔스퀘어 Bold" pitchFamily="34" charset="-120"/>
                        </a:rPr>
                        <a:t>DB저축은행</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r">
                        <a:buNone/>
                      </a:pPr>
                      <a:r>
                        <a:rPr lang="en-US" sz="1000" dirty="0">
                          <a:solidFill>
                            <a:srgbClr val="262626"/>
                          </a:solidFill>
                          <a:latin typeface="나눔스퀘어 Bold" pitchFamily="34" charset="0"/>
                          <a:ea typeface="나눔스퀘어 Bold" pitchFamily="34" charset="-122"/>
                          <a:cs typeface="나눔스퀘어 Bold" pitchFamily="34" charset="-120"/>
                        </a:rPr>
                        <a:t>80억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nchor="ctr"/>
                    <a:lstStyle/>
                    <a:p>
                      <a:pPr marL="0" indent="0" algn="l">
                        <a:buNone/>
                      </a:pPr>
                      <a:r>
                        <a:rPr lang="en-US" sz="900" dirty="0">
                          <a:latin typeface="나눔스퀘어" charset="0"/>
                          <a:ea typeface="나눔스퀘어" charset="0"/>
                          <a:cs typeface="나눔스퀘어" charset="0"/>
                        </a:rPr>
                        <a:t>중순위 (상동) · LOC 미접수</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0" name="Shape 37"/>
          <p:cNvSpPr/>
          <p:nvPr/>
        </p:nvSpPr>
        <p:spPr>
          <a:xfrm>
            <a:off x="365760" y="4608576"/>
            <a:ext cx="118872" cy="182880"/>
          </a:xfrm>
          <a:prstGeom prst="rect">
            <a:avLst/>
          </a:prstGeom>
          <a:solidFill>
            <a:srgbClr val="C00000"/>
          </a:solidFill>
          <a:ln w="12700">
            <a:solidFill>
              <a:srgbClr val="C00000"/>
            </a:solidFill>
            <a:prstDash val="solid"/>
          </a:ln>
        </p:spPr>
        <p:txBody>
          <a:bodyPr anchor="ctr"/>
          <a:lstStyle/>
          <a:p>
            <a:endParaRPr lang="ko-KR" altLang="en-US"/>
          </a:p>
        </p:txBody>
      </p:sp>
      <p:sp>
        <p:nvSpPr>
          <p:cNvPr id="41" name="Text 38"/>
          <p:cNvSpPr txBox="1"/>
          <p:nvPr/>
        </p:nvSpPr>
        <p:spPr>
          <a:xfrm>
            <a:off x="548640" y="4553712"/>
            <a:ext cx="2743200" cy="292608"/>
          </a:xfrm>
          <a:prstGeom prst="rect">
            <a:avLst/>
          </a:prstGeom>
          <a:noFill/>
          <a:ln/>
        </p:spPr>
        <p:txBody>
          <a:bodyPr wrap="square" lIns="381" tIns="381" rIns="381" bIns="381" rtlCol="0" anchor="ctr"/>
          <a:lstStyle/>
          <a:p>
            <a:pPr marL="0" indent="0">
              <a:buNone/>
            </a:pPr>
            <a:r>
              <a:rPr lang="en-US" sz="1300" dirty="0" err="1">
                <a:solidFill>
                  <a:srgbClr val="262626"/>
                </a:solidFill>
                <a:latin typeface="나눔스퀘어 ExtraBold" pitchFamily="34" charset="0"/>
                <a:ea typeface="나눔스퀘어 ExtraBold" pitchFamily="34" charset="-122"/>
                <a:cs typeface="나눔스퀘어 ExtraBold" pitchFamily="34" charset="-120"/>
              </a:rPr>
              <a:t>당사 손익 </a:t>
            </a:r>
            <a:r>
              <a:rPr lang="en-US" sz="900" dirty="0">
                <a:solidFill>
                  <a:srgbClr val="262626"/>
                </a:solidFill>
                <a:latin typeface="나눔스퀘어" panose="020B0600000101010101" pitchFamily="50" charset="-127"/>
                <a:ea typeface="나눔스퀘어" panose="020B0600000101010101" pitchFamily="50" charset="-127"/>
                <a:cs typeface="나눔스퀘어 ExtraBold" pitchFamily="34" charset="-120"/>
              </a:rPr>
              <a:t>(자리츠 기준)</a:t>
            </a:r>
          </a:p>
        </p:txBody>
      </p:sp>
      <p:sp>
        <p:nvSpPr>
          <p:cNvPr id="42" name="Text 39"/>
          <p:cNvSpPr txBox="1"/>
          <p:nvPr/>
        </p:nvSpPr>
        <p:spPr>
          <a:xfrm>
            <a:off x="7224733" y="4631436"/>
            <a:ext cx="1371600" cy="228600"/>
          </a:xfrm>
          <a:prstGeom prst="rect">
            <a:avLst/>
          </a:prstGeom>
          <a:noFill/>
          <a:ln/>
        </p:spPr>
        <p:txBody>
          <a:bodyPr wrap="square" lIns="381" tIns="381" rIns="381" bIns="381" rtlCol="0" anchor="ctr"/>
          <a:lstStyle/>
          <a:p>
            <a:pPr marL="0" indent="0" algn="r">
              <a:buNone/>
            </a:pPr>
            <a:r>
              <a:rPr lang="en-US" sz="900" dirty="0">
                <a:solidFill>
                  <a:srgbClr val="7F7F7F"/>
                </a:solidFill>
                <a:latin typeface="나눔스퀘어" pitchFamily="34" charset="0"/>
                <a:ea typeface="나눔스퀘어" pitchFamily="34" charset="-122"/>
                <a:cs typeface="나눔스퀘어" pitchFamily="34" charset="-120"/>
              </a:rPr>
              <a:t>(단위 : 억원)</a:t>
            </a:r>
          </a:p>
        </p:txBody>
      </p:sp>
      <p:sp>
        <p:nvSpPr>
          <p:cNvPr id="44" name="Shape 40"/>
          <p:cNvSpPr/>
          <p:nvPr/>
        </p:nvSpPr>
        <p:spPr>
          <a:xfrm>
            <a:off x="8764143" y="896112"/>
            <a:ext cx="0" cy="5577840"/>
          </a:xfrm>
          <a:prstGeom prst="line">
            <a:avLst/>
          </a:prstGeom>
          <a:noFill/>
          <a:ln w="12700">
            <a:solidFill>
              <a:srgbClr val="BFBFBF"/>
            </a:solidFill>
            <a:prstDash val="dash"/>
          </a:ln>
        </p:spPr>
        <p:txBody>
          <a:bodyPr anchor="ctr"/>
          <a:lstStyle/>
          <a:p>
            <a:endParaRPr lang="ko-KR" altLang="en-US"/>
          </a:p>
        </p:txBody>
      </p:sp>
      <p:sp>
        <p:nvSpPr>
          <p:cNvPr id="45" name="Shape 41"/>
          <p:cNvSpPr/>
          <p:nvPr/>
        </p:nvSpPr>
        <p:spPr>
          <a:xfrm>
            <a:off x="8879205" y="905256"/>
            <a:ext cx="118872" cy="182880"/>
          </a:xfrm>
          <a:prstGeom prst="rect">
            <a:avLst/>
          </a:prstGeom>
          <a:solidFill>
            <a:srgbClr val="C00000"/>
          </a:solidFill>
          <a:ln w="12700">
            <a:solidFill>
              <a:srgbClr val="C00000"/>
            </a:solidFill>
            <a:prstDash val="solid"/>
          </a:ln>
        </p:spPr>
        <p:txBody>
          <a:bodyPr anchor="ctr"/>
          <a:lstStyle/>
          <a:p>
            <a:endParaRPr lang="ko-KR" altLang="en-US"/>
          </a:p>
        </p:txBody>
      </p:sp>
      <p:sp>
        <p:nvSpPr>
          <p:cNvPr id="46" name="Text 42"/>
          <p:cNvSpPr txBox="1"/>
          <p:nvPr/>
        </p:nvSpPr>
        <p:spPr>
          <a:xfrm>
            <a:off x="9062085" y="850392"/>
            <a:ext cx="2743200" cy="292608"/>
          </a:xfrm>
          <a:prstGeom prst="rect">
            <a:avLst/>
          </a:prstGeom>
          <a:noFill/>
          <a:ln/>
        </p:spPr>
        <p:txBody>
          <a:bodyPr wrap="square" lIns="381" tIns="381" rIns="381" bIns="381" rtlCol="0" anchor="ctr"/>
          <a:lstStyle/>
          <a:p>
            <a:pPr marL="0" indent="0">
              <a:buNone/>
            </a:pPr>
            <a:r>
              <a:rPr lang="en-US" sz="1300" dirty="0" err="1">
                <a:solidFill>
                  <a:srgbClr val="262626"/>
                </a:solidFill>
                <a:latin typeface="나눔스퀘어 ExtraBold" pitchFamily="34" charset="0"/>
                <a:ea typeface="나눔스퀘어 ExtraBold" pitchFamily="34" charset="-122"/>
                <a:cs typeface="나눔스퀘어 ExtraBold" pitchFamily="34" charset="-120"/>
              </a:rPr>
              <a:t>보수 </a:t>
            </a:r>
            <a:r>
              <a:rPr lang="ko-KR" altLang="en-US" sz="900" dirty="0">
                <a:solidFill>
                  <a:srgbClr val="262626"/>
                </a:solidFill>
                <a:latin typeface="나눔스퀘어" panose="020B0600000101010101" pitchFamily="50" charset="-127"/>
                <a:ea typeface="나눔스퀘어" panose="020B0600000101010101" pitchFamily="50" charset="-127"/>
                <a:cs typeface="나눔스퀘어 ExtraBold" pitchFamily="34" charset="-120"/>
              </a:rPr>
              <a:t>(자리츠 기준)</a:t>
            </a:r>
          </a:p>
        </p:txBody>
      </p:sp>
      <p:graphicFrame>
        <p:nvGraphicFramePr>
          <p:cNvPr id="47" name="Table 2"/>
          <p:cNvGraphicFramePr>
            <a:graphicFrameLocks noGrp="1"/>
          </p:cNvGraphicFramePr>
          <p:nvPr>
            <p:extLst>
              <p:ext uri="{D42A27DB-BD31-4B8C-83A1-F6EECF244321}">
                <p14:modId xmlns:p14="http://schemas.microsoft.com/office/powerpoint/2010/main" val="2658354102"/>
              </p:ext>
            </p:extLst>
          </p:nvPr>
        </p:nvGraphicFramePr>
        <p:xfrm>
          <a:off x="8931953" y="1207008"/>
          <a:ext cx="3041730" cy="2761488"/>
        </p:xfrm>
        <a:graphic>
          <a:graphicData uri="http://schemas.openxmlformats.org/drawingml/2006/table">
            <a:tbl>
              <a:tblPr/>
              <a:tblGrid>
                <a:gridCol w="473603">
                  <a:extLst>
                    <a:ext uri="{9D8B030D-6E8A-4147-A177-3AD203B41FA5}">
                      <a16:colId xmlns:a16="http://schemas.microsoft.com/office/drawing/2014/main" val="20000"/>
                    </a:ext>
                  </a:extLst>
                </a:gridCol>
                <a:gridCol w="394867">
                  <a:extLst>
                    <a:ext uri="{9D8B030D-6E8A-4147-A177-3AD203B41FA5}">
                      <a16:colId xmlns:a16="http://schemas.microsoft.com/office/drawing/2014/main" val="20001"/>
                    </a:ext>
                  </a:extLst>
                </a:gridCol>
                <a:gridCol w="953302">
                  <a:extLst>
                    <a:ext uri="{9D8B030D-6E8A-4147-A177-3AD203B41FA5}">
                      <a16:colId xmlns:a16="http://schemas.microsoft.com/office/drawing/2014/main" val="20002"/>
                    </a:ext>
                  </a:extLst>
                </a:gridCol>
                <a:gridCol w="1219958">
                  <a:extLst>
                    <a:ext uri="{9D8B030D-6E8A-4147-A177-3AD203B41FA5}">
                      <a16:colId xmlns:a16="http://schemas.microsoft.com/office/drawing/2014/main" val="20003"/>
                    </a:ext>
                  </a:extLst>
                </a:gridCol>
              </a:tblGrid>
              <a:tr h="292608">
                <a:tc gridSpan="2">
                  <a:txBody>
                    <a:bodyPr anchor="ctr"/>
                    <a:lstStyle/>
                    <a:p>
                      <a:pPr marL="0" indent="0" algn="ctr">
                        <a:buNone/>
                      </a:pPr>
                      <a:r>
                        <a:rPr lang="en-US" sz="1050" dirty="0">
                          <a:solidFill>
                            <a:srgbClr val="FFFFFF"/>
                          </a:solidFill>
                          <a:latin typeface="나눔스퀘어 Bold" pitchFamily="34" charset="0"/>
                          <a:ea typeface="나눔스퀘어 Bold" pitchFamily="34" charset="-122"/>
                          <a:cs typeface="나눔스퀘어 Bold" pitchFamily="34" charset="-120"/>
                        </a:rPr>
                        <a:t>구 분</a:t>
                      </a:r>
                      <a:endParaRPr lang="en-US" sz="1050" dirty="0">
                        <a:latin typeface="나눔스퀘어 Bold" charset="0"/>
                        <a:ea typeface="나눔스퀘어 Bold" charset="0"/>
                        <a:cs typeface="나눔스퀘어 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hMerge="1">
                  <a:txBody>
                    <a:bodyPr anchor="ctr"/>
                    <a:lstStyle/>
                    <a:p>
                      <a:endParaRPr lang="ko-KR"/>
                    </a:p>
                  </a:txBody>
                  <a:tcPr anchor="ctr"/>
                </a:tc>
                <a:tc>
                  <a:txBody>
                    <a:bodyPr anchor="ctr"/>
                    <a:lstStyle/>
                    <a:p>
                      <a:pPr marL="0" indent="0" algn="ctr">
                        <a:buNone/>
                      </a:pPr>
                      <a:r>
                        <a:rPr lang="en-US" sz="1050" dirty="0">
                          <a:solidFill>
                            <a:srgbClr val="FFFFFF"/>
                          </a:solidFill>
                          <a:latin typeface="나눔스퀘어 Bold" pitchFamily="34" charset="0"/>
                          <a:ea typeface="나눔스퀘어 Bold" pitchFamily="34" charset="-122"/>
                          <a:cs typeface="나눔스퀘어 Bold" pitchFamily="34" charset="-120"/>
                        </a:rPr>
                        <a:t>금액</a:t>
                      </a:r>
                      <a:endParaRPr lang="en-US" sz="1050" dirty="0">
                        <a:latin typeface="나눔스퀘어 Bold" charset="0"/>
                        <a:ea typeface="나눔스퀘어 Bold" charset="0"/>
                        <a:cs typeface="나눔스퀘어 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a:txBody>
                    <a:bodyPr anchor="ctr"/>
                    <a:lstStyle/>
                    <a:p>
                      <a:pPr marL="0" indent="0" algn="ctr">
                        <a:buNone/>
                      </a:pPr>
                      <a:r>
                        <a:rPr lang="en-US" sz="1050" dirty="0">
                          <a:solidFill>
                            <a:srgbClr val="FFFFFF"/>
                          </a:solidFill>
                          <a:latin typeface="나눔스퀘어 Bold" pitchFamily="34" charset="0"/>
                          <a:ea typeface="나눔스퀘어 Bold" pitchFamily="34" charset="-122"/>
                          <a:cs typeface="나눔스퀘어 Bold" pitchFamily="34" charset="-120"/>
                        </a:rPr>
                        <a:t>산출근거</a:t>
                      </a:r>
                      <a:endParaRPr lang="en-US" sz="1050" dirty="0">
                        <a:latin typeface="나눔스퀘어 Bold" charset="0"/>
                        <a:ea typeface="나눔스퀘어 Bold" charset="0"/>
                        <a:cs typeface="나눔스퀘어 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extLst>
                  <a:ext uri="{0D108BD9-81ED-4DB2-BD59-A6C34878D82A}">
                    <a16:rowId xmlns:a16="http://schemas.microsoft.com/office/drawing/2014/main" val="10000"/>
                  </a:ext>
                </a:extLst>
              </a:tr>
              <a:tr h="365760">
                <a:tc gridSpan="2">
                  <a:txBody>
                    <a:bodyPr anchor="ctr"/>
                    <a:lstStyle/>
                    <a:p>
                      <a:pPr marL="0" indent="0" algn="ctr">
                        <a:buNone/>
                      </a:pPr>
                      <a:r>
                        <a:rPr lang="en-US" sz="1050" dirty="0" err="1">
                          <a:solidFill>
                            <a:srgbClr val="262626"/>
                          </a:solidFill>
                          <a:latin typeface="나눔스퀘어 Bold" pitchFamily="34" charset="0"/>
                          <a:ea typeface="나눔스퀘어 Bold" pitchFamily="34" charset="-122"/>
                          <a:cs typeface="나눔스퀘어 Bold" pitchFamily="34" charset="-120"/>
                        </a:rPr>
                        <a:t>매입</a:t>
                      </a:r>
                      <a:endParaRPr lang="en-US" sz="1050" dirty="0">
                        <a:latin typeface="나눔스퀘어 Bold" charset="0"/>
                        <a:ea typeface="나눔스퀘어 Bold" charset="0"/>
                        <a:cs typeface="나눔스퀘어 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hMerge="1">
                  <a:txBody>
                    <a:bodyPr anchor="ctr"/>
                    <a:lstStyle/>
                    <a:p>
                      <a:endParaRPr lang="ko-KR"/>
                    </a:p>
                  </a:txBody>
                  <a:tcPr anchor="ctr"/>
                </a:tc>
                <a:tc>
                  <a:txBody>
                    <a:bodyPr anchor="ctr"/>
                    <a:lstStyle/>
                    <a:p>
                      <a:pPr marL="0" indent="0" algn="ctr">
                        <a:buNone/>
                      </a:pPr>
                      <a:r>
                        <a:rPr lang="en-US" sz="1050" dirty="0">
                          <a:solidFill>
                            <a:srgbClr val="262626"/>
                          </a:solidFill>
                          <a:latin typeface="나눔스퀘어 Bold" pitchFamily="34" charset="0"/>
                          <a:ea typeface="나눔스퀘어 Bold" pitchFamily="34" charset="-122"/>
                          <a:cs typeface="나눔스퀘어 Bold" pitchFamily="34" charset="-120"/>
                        </a:rPr>
                        <a:t>13.5억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nchor="ctr"/>
                    <a:lstStyle/>
                    <a:p>
                      <a:pPr marL="0" indent="0" algn="l">
                        <a:buNone/>
                      </a:pPr>
                      <a:r>
                        <a:rPr lang="en-US" sz="950" dirty="0">
                          <a:solidFill>
                            <a:srgbClr val="262626"/>
                          </a:solidFill>
                          <a:latin typeface="나눔스퀘어" pitchFamily="34" charset="0"/>
                          <a:ea typeface="나눔스퀘어" pitchFamily="34" charset="-122"/>
                          <a:cs typeface="나눔스퀘어" pitchFamily="34" charset="-120"/>
                        </a:rPr>
                        <a:t>· 2,700억 × 0.5%</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12064">
                <a:tc gridSpan="2">
                  <a:txBody>
                    <a:bodyPr anchor="ctr"/>
                    <a:lstStyle/>
                    <a:p>
                      <a:pPr marL="0" indent="0" algn="ctr">
                        <a:buNone/>
                      </a:pPr>
                      <a:r>
                        <a:rPr lang="en-US" sz="1050" dirty="0" err="1">
                          <a:solidFill>
                            <a:srgbClr val="262626"/>
                          </a:solidFill>
                          <a:latin typeface="나눔스퀘어 Bold" pitchFamily="34" charset="0"/>
                          <a:ea typeface="나눔스퀘어 Bold" pitchFamily="34" charset="-122"/>
                          <a:cs typeface="나눔스퀘어 Bold" pitchFamily="34" charset="-120"/>
                        </a:rPr>
                        <a:t>운용</a:t>
                      </a:r>
                    </a:p>
                    <a:p>
                      <a:pPr marL="0" indent="0" algn="ctr">
                        <a:buNone/>
                      </a:pPr>
                      <a:r>
                        <a:rPr lang="en-US" sz="1050" dirty="0">
                          <a:solidFill>
                            <a:srgbClr val="262626"/>
                          </a:solidFill>
                          <a:latin typeface="나눔스퀘어 Bold" pitchFamily="34" charset="0"/>
                          <a:ea typeface="나눔스퀘어 Bold" pitchFamily="34" charset="-122"/>
                          <a:cs typeface="나눔스퀘어 Bold" pitchFamily="34" charset="-120"/>
                        </a:rPr>
                        <a:t>(10년)</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hMerge="1">
                  <a:txBody>
                    <a:bodyPr anchor="ctr"/>
                    <a:lstStyle/>
                    <a:p>
                      <a:endParaRPr lang="ko-KR"/>
                    </a:p>
                  </a:txBody>
                  <a:tcPr anchor="ctr"/>
                </a:tc>
                <a:tc>
                  <a:txBody>
                    <a:bodyPr anchor="ctr"/>
                    <a:lstStyle/>
                    <a:p>
                      <a:pPr marL="0" indent="0" algn="r">
                        <a:buNone/>
                      </a:pPr>
                      <a:r>
                        <a:rPr lang="en-US" sz="1200" dirty="0">
                          <a:solidFill>
                            <a:srgbClr val="262626"/>
                          </a:solidFill>
                          <a:latin typeface="나눔스퀘어 Bold" pitchFamily="34" charset="0"/>
                          <a:ea typeface="나눔스퀘어 Bold" pitchFamily="34" charset="-122"/>
                          <a:cs typeface="나눔스퀘어 Bold" pitchFamily="34" charset="-120"/>
                        </a:rPr>
                        <a:t>66.7억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nchor="ctr"/>
                    <a:lstStyle/>
                    <a:p>
                      <a:pPr marL="0" indent="0" algn="l">
                        <a:buNone/>
                      </a:pPr>
                      <a:r>
                        <a:rPr lang="en-US" sz="950" dirty="0">
                          <a:solidFill>
                            <a:srgbClr val="262626"/>
                          </a:solidFill>
                          <a:latin typeface="나눔스퀘어" pitchFamily="34" charset="0"/>
                          <a:ea typeface="나눔스퀘어" pitchFamily="34" charset="-122"/>
                          <a:cs typeface="나눔스퀘어" pitchFamily="34" charset="-120"/>
                        </a:rPr>
                        <a:t>· 2,989억 × 0.223%</a:t>
                      </a:r>
                    </a:p>
                    <a:p>
                      <a:pPr marL="0" indent="0" algn="l">
                        <a:buNone/>
                      </a:pPr>
                      <a:r>
                        <a:rPr lang="en-US" sz="950" dirty="0">
                          <a:solidFill>
                            <a:srgbClr val="262626"/>
                          </a:solidFill>
                          <a:latin typeface="나눔스퀘어" pitchFamily="34" charset="0"/>
                          <a:ea typeface="나눔스퀘어" pitchFamily="34" charset="-122"/>
                          <a:cs typeface="나눔스퀘어" pitchFamily="34" charset="-120"/>
                        </a:rPr>
                        <a:t>  × 약 10년</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65760">
                <a:tc rowSpan="3">
                  <a:txBody>
                    <a:bodyPr anchor="ctr"/>
                    <a:lstStyle/>
                    <a:p>
                      <a:pPr marL="0" indent="0" algn="ctr">
                        <a:buNone/>
                      </a:pPr>
                      <a:r>
                        <a:rPr lang="en-US" sz="1050" dirty="0" err="1">
                          <a:solidFill>
                            <a:srgbClr val="262626"/>
                          </a:solidFill>
                          <a:latin typeface="나눔스퀘어 Bold" pitchFamily="34" charset="0"/>
                          <a:ea typeface="나눔스퀘어 Bold" pitchFamily="34" charset="-122"/>
                          <a:cs typeface="나눔스퀘어 Bold" pitchFamily="34" charset="-120"/>
                        </a:rPr>
                        <a:t>매각</a:t>
                      </a:r>
                      <a:endParaRPr lang="en-US" sz="1050" dirty="0">
                        <a:latin typeface="나눔스퀘어 Bold" charset="0"/>
                        <a:ea typeface="나눔스퀘어 Bold" charset="0"/>
                        <a:cs typeface="나눔스퀘어 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ctr">
                        <a:buNone/>
                      </a:pPr>
                      <a:r>
                        <a:rPr lang="en-US" sz="1050" dirty="0">
                          <a:solidFill>
                            <a:srgbClr val="262626"/>
                          </a:solidFill>
                          <a:latin typeface="나눔스퀘어" pitchFamily="34" charset="0"/>
                          <a:ea typeface="나눔스퀘어" pitchFamily="34" charset="-122"/>
                          <a:cs typeface="나눔스퀘어" pitchFamily="34" charset="-120"/>
                        </a:rPr>
                        <a:t>기본</a:t>
                      </a:r>
                      <a:endParaRPr lang="en-US" sz="1050" dirty="0">
                        <a:latin typeface="나눔스퀘어" charset="0"/>
                        <a:ea typeface="나눔스퀘어" charset="0"/>
                        <a:cs typeface="나눔스퀘어"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solidFill>
                      <a:srgbClr val="F5F3F1"/>
                    </a:solidFill>
                  </a:tcPr>
                </a:tc>
                <a:tc>
                  <a:txBody>
                    <a:bodyPr anchor="ctr"/>
                    <a:lstStyle/>
                    <a:p>
                      <a:pPr marL="0" indent="0" algn="ctr">
                        <a:buNone/>
                      </a:pPr>
                      <a:r>
                        <a:rPr lang="en-US" sz="1050" dirty="0">
                          <a:solidFill>
                            <a:srgbClr val="262626"/>
                          </a:solidFill>
                          <a:latin typeface="나눔스퀘어 Bold" pitchFamily="34" charset="0"/>
                          <a:ea typeface="나눔스퀘어 Bold" pitchFamily="34" charset="-122"/>
                          <a:cs typeface="나눔스퀘어 Bold" pitchFamily="34" charset="-120"/>
                        </a:rPr>
                        <a:t>18.8억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tcPr>
                </a:tc>
                <a:tc>
                  <a:txBody>
                    <a:bodyPr anchor="ctr"/>
                    <a:lstStyle/>
                    <a:p>
                      <a:pPr marL="0" indent="0" algn="l">
                        <a:buNone/>
                      </a:pPr>
                      <a:r>
                        <a:rPr lang="en-US" sz="950" dirty="0">
                          <a:solidFill>
                            <a:srgbClr val="262626"/>
                          </a:solidFill>
                          <a:latin typeface="나눔스퀘어" pitchFamily="34" charset="0"/>
                          <a:ea typeface="나눔스퀘어" pitchFamily="34" charset="-122"/>
                          <a:cs typeface="나눔스퀘어" pitchFamily="34" charset="-120"/>
                        </a:rPr>
                        <a:t>· 매각금액 × 0.5%</a:t>
                      </a:r>
                    </a:p>
                    <a:p>
                      <a:pPr marL="0" indent="0" algn="l">
                        <a:buNone/>
                      </a:pPr>
                      <a:r>
                        <a:rPr lang="en-US" sz="950" dirty="0">
                          <a:solidFill>
                            <a:srgbClr val="262626"/>
                          </a:solidFill>
                          <a:latin typeface="나눔스퀘어" pitchFamily="34" charset="0"/>
                          <a:ea typeface="나눔스퀘어" pitchFamily="34" charset="-122"/>
                          <a:cs typeface="나눔스퀘어" pitchFamily="34" charset="-120"/>
                        </a:rPr>
                        <a:t>  (T.Cap 4.89%)</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365760">
                <a:tc vMerge="1">
                  <a:txBody>
                    <a:bodyPr anchor="ctr"/>
                    <a:lstStyle/>
                    <a:p>
                      <a:endParaRPr lang="ko-KR"/>
                    </a:p>
                  </a:txBody>
                  <a:tcPr anchor="ctr"/>
                </a:tc>
                <a:tc>
                  <a:txBody>
                    <a:bodyPr anchor="ctr"/>
                    <a:lstStyle/>
                    <a:p>
                      <a:pPr marL="0" indent="0" algn="ctr">
                        <a:buNone/>
                      </a:pPr>
                      <a:r>
                        <a:rPr lang="en-US" sz="1050" dirty="0">
                          <a:solidFill>
                            <a:srgbClr val="262626"/>
                          </a:solidFill>
                          <a:latin typeface="나눔스퀘어" pitchFamily="34" charset="0"/>
                          <a:ea typeface="나눔스퀘어" pitchFamily="34" charset="-122"/>
                          <a:cs typeface="나눔스퀘어" pitchFamily="34" charset="-120"/>
                        </a:rPr>
                        <a:t>성과</a:t>
                      </a:r>
                      <a:endParaRPr lang="en-US" sz="1050" dirty="0">
                        <a:latin typeface="나눔스퀘어" charset="0"/>
                        <a:ea typeface="나눔스퀘어" charset="0"/>
                        <a:cs typeface="나눔스퀘어"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r">
                        <a:buNone/>
                      </a:pPr>
                      <a:r>
                        <a:rPr lang="en-US" sz="1200" dirty="0">
                          <a:solidFill>
                            <a:srgbClr val="262626"/>
                          </a:solidFill>
                          <a:latin typeface="나눔스퀘어 Bold" pitchFamily="34" charset="0"/>
                          <a:ea typeface="나눔스퀘어 Bold" pitchFamily="34" charset="-122"/>
                          <a:cs typeface="나눔스퀘어 Bold" pitchFamily="34" charset="-120"/>
                        </a:rPr>
                        <a:t>124.8억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950" dirty="0">
                          <a:solidFill>
                            <a:srgbClr val="262626"/>
                          </a:solidFill>
                          <a:latin typeface="나눔스퀘어" pitchFamily="34" charset="0"/>
                          <a:ea typeface="나눔스퀘어" pitchFamily="34" charset="-122"/>
                          <a:cs typeface="나눔스퀘어" pitchFamily="34" charset="-120"/>
                        </a:rPr>
                        <a:t>· 기본보수 차감 후</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950" dirty="0">
                          <a:solidFill>
                            <a:srgbClr val="262626"/>
                          </a:solidFill>
                          <a:latin typeface="나눔스퀘어" pitchFamily="34" charset="0"/>
                          <a:ea typeface="나눔스퀘어" pitchFamily="34" charset="-122"/>
                          <a:cs typeface="나눔스퀘어" pitchFamily="34" charset="-120"/>
                        </a:rPr>
                        <a:t>  매각이익 × 15%</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65760">
                <a:tc vMerge="1">
                  <a:txBody>
                    <a:bodyPr anchor="ctr"/>
                    <a:lstStyle/>
                    <a:p>
                      <a:endParaRPr lang="ko-KR"/>
                    </a:p>
                  </a:txBody>
                  <a:tcPr anchor="ctr"/>
                </a:tc>
                <a:tc>
                  <a:txBody>
                    <a:bodyPr anchor="ctr"/>
                    <a:lstStyle/>
                    <a:p>
                      <a:pPr marL="0" indent="0" algn="ctr">
                        <a:buNone/>
                      </a:pPr>
                      <a:r>
                        <a:rPr lang="en-US" sz="1050" dirty="0">
                          <a:solidFill>
                            <a:srgbClr val="262626"/>
                          </a:solidFill>
                          <a:latin typeface="나눔스퀘어 Bold" pitchFamily="34" charset="0"/>
                          <a:ea typeface="나눔스퀘어 Bold" pitchFamily="34" charset="-122"/>
                          <a:cs typeface="나눔스퀘어 Bold" pitchFamily="34" charset="-120"/>
                        </a:rPr>
                        <a:t>계</a:t>
                      </a:r>
                      <a:endParaRPr lang="en-US" sz="1050" dirty="0">
                        <a:latin typeface="나눔스퀘어 Bold" charset="0"/>
                        <a:ea typeface="나눔스퀘어 Bold" charset="0"/>
                        <a:cs typeface="나눔스퀘어 Bold" charset="0"/>
                      </a:endParaRPr>
                    </a:p>
                  </a:txBody>
                  <a:tcPr marL="73152" marR="73152" marT="18288" marB="18288" anchor="ctr">
                    <a:lnL w="12700" cap="flat" cmpd="sng" algn="ctr">
                      <a:no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r">
                        <a:buNone/>
                      </a:pPr>
                      <a:r>
                        <a:rPr lang="en-US" sz="1200" dirty="0">
                          <a:solidFill>
                            <a:srgbClr val="262626"/>
                          </a:solidFill>
                          <a:latin typeface="나눔스퀘어 Bold" pitchFamily="34" charset="0"/>
                          <a:ea typeface="나눔스퀘어 Bold" pitchFamily="34" charset="-122"/>
                          <a:cs typeface="나눔스퀘어 Bold" pitchFamily="34" charset="-120"/>
                        </a:rPr>
                        <a:t>143.6억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l">
                        <a:buNone/>
                      </a:pPr>
                      <a:endParaRPr lang="en-US" sz="950" dirty="0">
                        <a:latin typeface="나눔스퀘어" charset="0"/>
                        <a:ea typeface="나눔스퀘어" charset="0"/>
                        <a:cs typeface="나눔스퀘어"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extLst>
                  <a:ext uri="{0D108BD9-81ED-4DB2-BD59-A6C34878D82A}">
                    <a16:rowId xmlns:a16="http://schemas.microsoft.com/office/drawing/2014/main" val="10005"/>
                  </a:ext>
                </a:extLst>
              </a:tr>
              <a:tr h="493776">
                <a:tc gridSpan="2">
                  <a:txBody>
                    <a:bodyPr anchor="ctr"/>
                    <a:lstStyle/>
                    <a:p>
                      <a:pPr marL="0" indent="0" algn="ctr">
                        <a:buNone/>
                      </a:pPr>
                      <a:r>
                        <a:rPr lang="en-US" sz="1200" dirty="0">
                          <a:solidFill>
                            <a:srgbClr val="262626"/>
                          </a:solidFill>
                          <a:latin typeface="나눔스퀘어 ExtraBold" pitchFamily="34" charset="0"/>
                          <a:ea typeface="나눔스퀘어 ExtraBold" pitchFamily="34" charset="-122"/>
                          <a:cs typeface="나눔스퀘어 ExtraBold" pitchFamily="34" charset="-120"/>
                        </a:rPr>
                        <a:t>합 계</a:t>
                      </a:r>
                      <a:endParaRPr lang="en-US" sz="1200" dirty="0">
                        <a:latin typeface="나눔스퀘어 ExtraBold" charset="0"/>
                        <a:ea typeface="나눔스퀘어 ExtraBold" charset="0"/>
                        <a:cs typeface="나눔스퀘어 Extra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6DF"/>
                    </a:solidFill>
                  </a:tcPr>
                </a:tc>
                <a:tc hMerge="1">
                  <a:txBody>
                    <a:bodyPr anchor="ctr"/>
                    <a:lstStyle/>
                    <a:p>
                      <a:endParaRPr lang="ko-KR"/>
                    </a:p>
                  </a:txBody>
                  <a:tcPr anchor="ctr"/>
                </a:tc>
                <a:tc>
                  <a:txBody>
                    <a:bodyPr anchor="ctr"/>
                    <a:lstStyle/>
                    <a:p>
                      <a:pPr marL="0" indent="0" algn="r">
                        <a:buNone/>
                      </a:pPr>
                      <a:r>
                        <a:rPr lang="en-US" sz="1500" dirty="0">
                          <a:solidFill>
                            <a:srgbClr val="C00000"/>
                          </a:solidFill>
                          <a:latin typeface="나눔스퀘어 ExtraBold" pitchFamily="34" charset="0"/>
                          <a:ea typeface="나눔스퀘어 ExtraBold" pitchFamily="34" charset="-122"/>
                          <a:cs typeface="나눔스퀘어 ExtraBold" pitchFamily="34" charset="-120"/>
                        </a:rPr>
                        <a:t>223.8억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6DF"/>
                    </a:solidFill>
                  </a:tcPr>
                </a:tc>
                <a:tc>
                  <a:txBody>
                    <a:bodyPr anchor="ctr"/>
                    <a:lstStyle/>
                    <a:p>
                      <a:pPr marL="0" indent="0" algn="l">
                        <a:buNone/>
                      </a:pPr>
                      <a:endParaRPr lang="en-US" sz="950" dirty="0">
                        <a:latin typeface="나눔스퀘어" charset="0"/>
                        <a:ea typeface="나눔스퀘어" charset="0"/>
                        <a:cs typeface="나눔스퀘어"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6DF"/>
                    </a:solidFill>
                  </a:tcPr>
                </a:tc>
                <a:extLst>
                  <a:ext uri="{0D108BD9-81ED-4DB2-BD59-A6C34878D82A}">
                    <a16:rowId xmlns:a16="http://schemas.microsoft.com/office/drawing/2014/main" val="10006"/>
                  </a:ext>
                </a:extLst>
              </a:tr>
            </a:tbl>
          </a:graphicData>
        </a:graphic>
      </p:graphicFrame>
      <p:sp>
        <p:nvSpPr>
          <p:cNvPr id="48" name="Shape 43"/>
          <p:cNvSpPr/>
          <p:nvPr/>
        </p:nvSpPr>
        <p:spPr>
          <a:xfrm>
            <a:off x="8879205" y="4370832"/>
            <a:ext cx="118872" cy="182880"/>
          </a:xfrm>
          <a:prstGeom prst="rect">
            <a:avLst/>
          </a:prstGeom>
          <a:solidFill>
            <a:srgbClr val="C00000"/>
          </a:solidFill>
          <a:ln w="12700">
            <a:solidFill>
              <a:srgbClr val="C00000"/>
            </a:solidFill>
            <a:prstDash val="solid"/>
          </a:ln>
        </p:spPr>
        <p:txBody>
          <a:bodyPr anchor="ctr"/>
          <a:lstStyle/>
          <a:p>
            <a:endParaRPr lang="ko-KR" altLang="en-US"/>
          </a:p>
        </p:txBody>
      </p:sp>
      <p:sp>
        <p:nvSpPr>
          <p:cNvPr id="49" name="Text 44"/>
          <p:cNvSpPr txBox="1"/>
          <p:nvPr/>
        </p:nvSpPr>
        <p:spPr>
          <a:xfrm>
            <a:off x="9062085" y="4315968"/>
            <a:ext cx="2743200" cy="292608"/>
          </a:xfrm>
          <a:prstGeom prst="rect">
            <a:avLst/>
          </a:prstGeom>
          <a:noFill/>
          <a:ln/>
        </p:spPr>
        <p:txBody>
          <a:bodyPr wrap="square" lIns="381" tIns="381" rIns="381" bIns="381" rtlCol="0" anchor="ctr"/>
          <a:lstStyle/>
          <a:p>
            <a:pPr marL="0" indent="0">
              <a:buNone/>
            </a:pPr>
            <a:r>
              <a:rPr lang="en-US" sz="1300" dirty="0">
                <a:solidFill>
                  <a:srgbClr val="262626"/>
                </a:solidFill>
                <a:latin typeface="나눔스퀘어 ExtraBold" pitchFamily="34" charset="0"/>
                <a:ea typeface="나눔스퀘어 ExtraBold" pitchFamily="34" charset="-122"/>
                <a:cs typeface="나눔스퀘어 ExtraBold" pitchFamily="34" charset="-120"/>
              </a:rPr>
              <a:t>모리츠(KLI) 투자수익 </a:t>
            </a:r>
            <a:r>
              <a:rPr lang="en-US" sz="900" dirty="0">
                <a:solidFill>
                  <a:srgbClr val="262626"/>
                </a:solidFill>
                <a:latin typeface="나눔스퀘어" panose="020B0600000101010101" pitchFamily="50" charset="-127"/>
                <a:ea typeface="나눔스퀘어" panose="020B0600000101010101" pitchFamily="50" charset="-127"/>
                <a:cs typeface="나눔스퀘어 ExtraBold" pitchFamily="34" charset="-120"/>
              </a:rPr>
              <a:t>(참고)</a:t>
            </a:r>
          </a:p>
        </p:txBody>
      </p:sp>
      <p:graphicFrame>
        <p:nvGraphicFramePr>
          <p:cNvPr id="50" name="Table 3"/>
          <p:cNvGraphicFramePr>
            <a:graphicFrameLocks noGrp="1"/>
          </p:cNvGraphicFramePr>
          <p:nvPr>
            <p:extLst>
              <p:ext uri="{D42A27DB-BD31-4B8C-83A1-F6EECF244321}">
                <p14:modId xmlns:p14="http://schemas.microsoft.com/office/powerpoint/2010/main" val="1137752814"/>
              </p:ext>
            </p:extLst>
          </p:nvPr>
        </p:nvGraphicFramePr>
        <p:xfrm>
          <a:off x="8931954" y="4663439"/>
          <a:ext cx="3041729" cy="1894110"/>
        </p:xfrm>
        <a:graphic>
          <a:graphicData uri="http://schemas.openxmlformats.org/drawingml/2006/table">
            <a:tbl>
              <a:tblPr/>
              <a:tblGrid>
                <a:gridCol w="850221">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1258058">
                  <a:extLst>
                    <a:ext uri="{9D8B030D-6E8A-4147-A177-3AD203B41FA5}">
                      <a16:colId xmlns:a16="http://schemas.microsoft.com/office/drawing/2014/main" val="20002"/>
                    </a:ext>
                  </a:extLst>
                </a:gridCol>
              </a:tblGrid>
              <a:tr h="322402">
                <a:tc>
                  <a:txBody>
                    <a:bodyPr anchor="ctr"/>
                    <a:lstStyle/>
                    <a:p>
                      <a:pPr marL="0" indent="0" algn="ctr">
                        <a:buNone/>
                      </a:pPr>
                      <a:r>
                        <a:rPr lang="en-US" sz="1050" dirty="0">
                          <a:solidFill>
                            <a:srgbClr val="FFFFFF"/>
                          </a:solidFill>
                          <a:latin typeface="나눔스퀘어 Bold" pitchFamily="34" charset="0"/>
                          <a:ea typeface="나눔스퀘어 Bold" pitchFamily="34" charset="-122"/>
                          <a:cs typeface="나눔스퀘어 Bold" pitchFamily="34" charset="-120"/>
                        </a:rPr>
                        <a:t>구 분</a:t>
                      </a:r>
                      <a:endParaRPr lang="en-US" sz="1050" dirty="0">
                        <a:latin typeface="나눔스퀘어 Bold" charset="0"/>
                        <a:ea typeface="나눔스퀘어 Bold" charset="0"/>
                        <a:cs typeface="나눔스퀘어 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a:txBody>
                    <a:bodyPr anchor="ctr"/>
                    <a:lstStyle/>
                    <a:p>
                      <a:pPr marL="0" indent="0" algn="ctr">
                        <a:buNone/>
                      </a:pPr>
                      <a:r>
                        <a:rPr lang="en-US" sz="1050" dirty="0">
                          <a:solidFill>
                            <a:srgbClr val="FFFFFF"/>
                          </a:solidFill>
                          <a:latin typeface="나눔스퀘어 Bold" pitchFamily="34" charset="0"/>
                          <a:ea typeface="나눔스퀘어 Bold" pitchFamily="34" charset="-122"/>
                          <a:cs typeface="나눔스퀘어 Bold" pitchFamily="34" charset="-120"/>
                        </a:rPr>
                        <a:t>금액</a:t>
                      </a:r>
                      <a:endParaRPr lang="en-US" sz="1050" dirty="0">
                        <a:latin typeface="나눔스퀘어 Bold" charset="0"/>
                        <a:ea typeface="나눔스퀘어 Bold" charset="0"/>
                        <a:cs typeface="나눔스퀘어 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a:txBody>
                    <a:bodyPr anchor="ctr"/>
                    <a:lstStyle/>
                    <a:p>
                      <a:pPr marL="0" indent="0" algn="ctr">
                        <a:buNone/>
                      </a:pPr>
                      <a:r>
                        <a:rPr lang="en-US" sz="1050" dirty="0">
                          <a:solidFill>
                            <a:srgbClr val="FFFFFF"/>
                          </a:solidFill>
                          <a:latin typeface="나눔스퀘어 Bold" pitchFamily="34" charset="0"/>
                          <a:ea typeface="나눔스퀘어 Bold" pitchFamily="34" charset="-122"/>
                          <a:cs typeface="나눔스퀘어 Bold" pitchFamily="34" charset="-120"/>
                        </a:rPr>
                        <a:t>산출근거</a:t>
                      </a:r>
                      <a:endParaRPr lang="en-US" sz="1050" dirty="0">
                        <a:latin typeface="나눔스퀘어 Bold" charset="0"/>
                        <a:ea typeface="나눔스퀘어 Bold" charset="0"/>
                        <a:cs typeface="나눔스퀘어 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extLst>
                  <a:ext uri="{0D108BD9-81ED-4DB2-BD59-A6C34878D82A}">
                    <a16:rowId xmlns:a16="http://schemas.microsoft.com/office/drawing/2014/main" val="10000"/>
                  </a:ext>
                </a:extLst>
              </a:tr>
              <a:tr h="564203">
                <a:tc>
                  <a:txBody>
                    <a:bodyPr anchor="ctr"/>
                    <a:lstStyle/>
                    <a:p>
                      <a:pPr marL="0" indent="0" algn="ctr">
                        <a:buNone/>
                      </a:pPr>
                      <a:r>
                        <a:rPr lang="en-US" sz="1050" dirty="0">
                          <a:solidFill>
                            <a:srgbClr val="262626"/>
                          </a:solidFill>
                          <a:latin typeface="나눔스퀘어 Bold" pitchFamily="34" charset="0"/>
                          <a:ea typeface="나눔스퀘어 Bold" pitchFamily="34" charset="-122"/>
                          <a:cs typeface="나눔스퀘어 Bold" charset="0"/>
                        </a:rPr>
                        <a:t>I.G</a:t>
                      </a:r>
                      <a:endParaRPr lang="en-US" sz="1050" dirty="0">
                        <a:latin typeface="나눔스퀘어 Bold" charset="0"/>
                        <a:ea typeface="나눔스퀘어 Bold" charset="0"/>
                        <a:cs typeface="나눔스퀘어 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r">
                        <a:buNone/>
                      </a:pPr>
                      <a:r>
                        <a:rPr lang="en-US" sz="1200" dirty="0">
                          <a:solidFill>
                            <a:srgbClr val="262626"/>
                          </a:solidFill>
                          <a:latin typeface="나눔스퀘어 Bold" pitchFamily="34" charset="0"/>
                          <a:ea typeface="나눔스퀘어 Bold" pitchFamily="34" charset="-122"/>
                          <a:cs typeface="나눔스퀘어 Bold" pitchFamily="34" charset="-120"/>
                        </a:rPr>
                        <a:t>483.0억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nchor="ctr"/>
                    <a:lstStyle/>
                    <a:p>
                      <a:pPr marL="0" indent="0" algn="l">
                        <a:buNone/>
                      </a:pPr>
                      <a:r>
                        <a:rPr lang="en-US" altLang="ko-KR" sz="950" dirty="0">
                          <a:solidFill>
                            <a:srgbClr val="262626"/>
                          </a:solidFill>
                          <a:latin typeface="나눔스퀘어" pitchFamily="34" charset="0"/>
                          <a:ea typeface="나눔스퀘어" pitchFamily="34" charset="-122"/>
                          <a:cs typeface="나눔스퀘어" pitchFamily="34" charset="-120"/>
                        </a:rPr>
                        <a:t>· 운영배당 누적</a:t>
                      </a:r>
                    </a:p>
                    <a:p>
                      <a:pPr marL="0" indent="0" algn="l">
                        <a:buNone/>
                      </a:pPr>
                      <a:r>
                        <a:rPr lang="en-US" sz="950" dirty="0">
                          <a:solidFill>
                            <a:srgbClr val="262626"/>
                          </a:solidFill>
                          <a:latin typeface="나눔스퀘어" pitchFamily="34" charset="0"/>
                          <a:ea typeface="나눔스퀘어" pitchFamily="34" charset="-122"/>
                          <a:cs typeface="나눔스퀘어" charset="0"/>
                        </a:rPr>
                        <a:t>  (CoC 5.44%)</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63452">
                <a:tc>
                  <a:txBody>
                    <a:bodyPr anchor="ctr"/>
                    <a:lstStyle/>
                    <a:p>
                      <a:pPr marL="0" indent="0" algn="ctr">
                        <a:buNone/>
                      </a:pPr>
                      <a:r>
                        <a:rPr lang="en-US" sz="1050" dirty="0">
                          <a:solidFill>
                            <a:srgbClr val="262626"/>
                          </a:solidFill>
                          <a:latin typeface="나눔스퀘어 Bold" pitchFamily="34" charset="0"/>
                          <a:ea typeface="나눔스퀘어 Bold" pitchFamily="34" charset="-122"/>
                          <a:cs typeface="나눔스퀘어 Bold" charset="0"/>
                        </a:rPr>
                        <a:t>C.G</a:t>
                      </a:r>
                      <a:endParaRPr lang="en-US" sz="1050" dirty="0">
                        <a:latin typeface="나눔스퀘어 Bold" charset="0"/>
                        <a:ea typeface="나눔스퀘어 Bold" charset="0"/>
                        <a:cs typeface="나눔스퀘어 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r">
                        <a:buNone/>
                      </a:pPr>
                      <a:r>
                        <a:rPr lang="en-US" sz="1200" dirty="0">
                          <a:solidFill>
                            <a:srgbClr val="262626"/>
                          </a:solidFill>
                          <a:latin typeface="나눔스퀘어 Bold" pitchFamily="34" charset="0"/>
                          <a:ea typeface="나눔스퀘어 Bold" pitchFamily="34" charset="-122"/>
                          <a:cs typeface="나눔스퀘어 Bold" pitchFamily="34" charset="-120"/>
                        </a:rPr>
                        <a:t>588.4억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nchor="ctr"/>
                    <a:lstStyle/>
                    <a:p>
                      <a:pPr marL="0" indent="0" algn="l">
                        <a:buNone/>
                      </a:pPr>
                      <a:r>
                        <a:rPr lang="en-US" altLang="ko-KR" sz="950" dirty="0">
                          <a:latin typeface="나눔스퀘어" charset="0"/>
                          <a:ea typeface="나눔스퀘어" charset="0"/>
                          <a:cs typeface="나눔스퀘어" charset="0"/>
                        </a:rPr>
                        <a:t>· ’36.10 매각 기준</a:t>
                      </a:r>
                    </a:p>
                    <a:p>
                      <a:pPr marL="0" indent="0" algn="l">
                        <a:buNone/>
                      </a:pPr>
                      <a:r>
                        <a:rPr lang="en-US" altLang="ko-KR" sz="950" dirty="0">
                          <a:latin typeface="나눔스퀘어" charset="0"/>
                          <a:ea typeface="나눔스퀘어" charset="0"/>
                          <a:cs typeface="나눔스퀘어" charset="0"/>
                        </a:rPr>
                        <a:t>  매각차익 배분</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44053">
                <a:tc>
                  <a:txBody>
                    <a:bodyPr anchor="ctr"/>
                    <a:lstStyle/>
                    <a:p>
                      <a:pPr marL="0" indent="0" algn="ctr">
                        <a:buNone/>
                      </a:pPr>
                      <a:r>
                        <a:rPr lang="en-US" sz="1200" dirty="0">
                          <a:solidFill>
                            <a:srgbClr val="262626"/>
                          </a:solidFill>
                          <a:latin typeface="나눔스퀘어 ExtraBold" pitchFamily="34" charset="0"/>
                          <a:ea typeface="나눔스퀘어 ExtraBold" pitchFamily="34" charset="-122"/>
                          <a:cs typeface="나눔스퀘어 ExtraBold" pitchFamily="34" charset="-120"/>
                        </a:rPr>
                        <a:t>계</a:t>
                      </a:r>
                      <a:endParaRPr lang="en-US" sz="1200" dirty="0">
                        <a:latin typeface="나눔스퀘어 ExtraBold" charset="0"/>
                        <a:ea typeface="나눔스퀘어 ExtraBold" charset="0"/>
                        <a:cs typeface="나눔스퀘어 ExtraBold" charset="0"/>
                      </a:endParaRP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6DF"/>
                    </a:solidFill>
                  </a:tcPr>
                </a:tc>
                <a:tc>
                  <a:txBody>
                    <a:bodyPr anchor="ctr"/>
                    <a:lstStyle/>
                    <a:p>
                      <a:pPr marL="0" indent="0" algn="r">
                        <a:buNone/>
                      </a:pPr>
                      <a:r>
                        <a:rPr lang="en-US" sz="1200" dirty="0">
                          <a:solidFill>
                            <a:srgbClr val="C00000"/>
                          </a:solidFill>
                          <a:latin typeface="나눔스퀘어 ExtraBold" pitchFamily="34" charset="0"/>
                          <a:ea typeface="나눔스퀘어 ExtraBold" pitchFamily="34" charset="-122"/>
                          <a:cs typeface="나눔스퀘어 ExtraBold" pitchFamily="34" charset="-120"/>
                        </a:rPr>
                        <a:t>1,071.4억</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6DF"/>
                    </a:solidFill>
                  </a:tcPr>
                </a:tc>
                <a:tc>
                  <a:txBody>
                    <a:bodyPr anchor="ctr"/>
                    <a:lstStyle/>
                    <a:p>
                      <a:pPr marL="0" indent="0" algn="l">
                        <a:buNone/>
                      </a:pPr>
                      <a:r>
                        <a:rPr lang="en-US" sz="950" dirty="0">
                          <a:latin typeface="나눔스퀘어" charset="0"/>
                          <a:ea typeface="나눔스퀘어" charset="0"/>
                          <a:cs typeface="나눔스퀘어" charset="0"/>
                        </a:rPr>
                        <a:t>· KLI 888억 투자</a:t>
                      </a:r>
                    </a:p>
                    <a:p>
                      <a:pPr marL="0" indent="0" algn="l">
                        <a:buNone/>
                      </a:pPr>
                      <a:r>
                        <a:rPr lang="en-US" sz="950" dirty="0">
                          <a:latin typeface="나눔스퀘어" charset="0"/>
                          <a:ea typeface="나눔스퀘어" charset="0"/>
                          <a:cs typeface="나눔스퀘어" charset="0"/>
                        </a:rPr>
                        <a:t>  IRR 10.99%</a:t>
                      </a:r>
                    </a:p>
                  </a:txBody>
                  <a:tcPr marL="73152" marR="7315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6DF"/>
                    </a:solidFill>
                  </a:tcPr>
                </a:tc>
                <a:extLst>
                  <a:ext uri="{0D108BD9-81ED-4DB2-BD59-A6C34878D82A}">
                    <a16:rowId xmlns:a16="http://schemas.microsoft.com/office/drawing/2014/main" val="10003"/>
                  </a:ext>
                </a:extLst>
              </a:tr>
            </a:tbl>
          </a:graphicData>
        </a:graphic>
      </p:graphicFrame>
      <p:graphicFrame>
        <p:nvGraphicFramePr>
          <p:cNvPr id="66" name="Table 65"/>
          <p:cNvGraphicFramePr>
            <a:graphicFrameLocks noGrp="1"/>
          </p:cNvGraphicFramePr>
          <p:nvPr/>
        </p:nvGraphicFramePr>
        <p:xfrm>
          <a:off x="365759" y="4873751"/>
          <a:ext cx="8283318" cy="1664208"/>
        </p:xfrm>
        <a:graphic>
          <a:graphicData uri="http://schemas.openxmlformats.org/drawingml/2006/table">
            <a:tbl>
              <a:tblPr firstRow="0" bandRow="0">
                <a:tableStyleId>{5C22544A-7EE6-4342-B048-85BDC9FD1C3A}</a:tableStyleId>
              </a:tblPr>
              <a:tblGrid>
                <a:gridCol w="191931"/>
                <a:gridCol w="626300"/>
                <a:gridCol w="616198"/>
                <a:gridCol w="616198"/>
                <a:gridCol w="616198"/>
                <a:gridCol w="616198"/>
                <a:gridCol w="616198"/>
                <a:gridCol w="616198"/>
                <a:gridCol w="616198"/>
                <a:gridCol w="616198"/>
                <a:gridCol w="616198"/>
                <a:gridCol w="616198"/>
                <a:gridCol w="616198"/>
                <a:gridCol w="686909"/>
              </a:tblGrid>
              <a:tr h="347472">
                <a:tc gridSpan="2">
                  <a:txBody>
                    <a:bodyPr anchor="ctr"/>
                    <a:lstStyle/>
                    <a:p>
                      <a:pPr marL="0" indent="0" algn="ctr">
                        <a:buNone/>
                      </a:pPr>
                      <a:r>
                        <a:rPr lang="ko-KR" sz="950" dirty="0">
                          <a:solidFill>
                            <a:srgbClr val="FFFFFF"/>
                          </a:solidFill>
                          <a:latin typeface="나눔스퀘어 Bold"/>
                          <a:ea typeface="나눔스퀘어 Bold"/>
                          <a:cs typeface="나눔스퀘어 Bold"/>
                        </a:rPr>
                        <a:t>구 분</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hMerge="1">
                  <a:txBody>
                    <a:bodyPr anchor="ctr"/>
                    <a:lstStyle/>
                    <a:p>
                      <a:pPr marL="0" indent="0" algn="ctr">
                        <a:buNone/>
                      </a:pPr>
                      <a:endParaRPr lang="ko-KR" sz="950" dirty="0">
                        <a:solidFill>
                          <a:srgbClr val="FFFFFF"/>
                        </a:solidFill>
                        <a:latin typeface="나눔스퀘어 Bold"/>
                        <a:ea typeface="나눔스퀘어 Bold"/>
                        <a:cs typeface="나눔스퀘어 Bold"/>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’26</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’27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’28</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’29</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’30</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’31</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’32</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’33</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’34</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’35</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’36</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A39382"/>
                    </a:solidFill>
                  </a:tcPr>
                </a:tc>
                <a:tc>
                  <a:txBody>
                    <a:bodyPr anchor="ctr"/>
                    <a:lstStyle/>
                    <a:p>
                      <a:pPr marL="0" indent="0" algn="ctr">
                        <a:buNone/>
                      </a:pPr>
                      <a:r>
                        <a:rPr lang="ko-KR" sz="950" dirty="0">
                          <a:solidFill>
                            <a:srgbClr val="FFFFFF"/>
                          </a:solidFill>
                          <a:latin typeface="나눔스퀘어 Bold"/>
                          <a:ea typeface="나눔스퀘어 Bold"/>
                          <a:cs typeface="나눔스퀘어 Bold"/>
                        </a:rPr>
                        <a:t>계</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6F6255"/>
                    </a:solidFill>
                  </a:tcPr>
                </a:tc>
              </a:tr>
              <a:tr h="201168">
                <a:tc rowSpan="3">
                  <a:txBody>
                    <a:bodyPr anchor="ctr"/>
                    <a:lstStyle/>
                    <a:p>
                      <a:pPr marL="0" indent="0" algn="ctr">
                        <a:buNone/>
                      </a:pPr>
                      <a:r>
                        <a:rPr lang="ko-KR" sz="800" dirty="0">
                          <a:solidFill>
                            <a:srgbClr val="262626"/>
                          </a:solidFill>
                          <a:latin typeface="나눔스퀘어 Bold"/>
                          <a:ea typeface="나눔스퀘어 Bold"/>
                          <a:cs typeface="나눔스퀘어 Bold"/>
                        </a:rPr>
                        <a:t>보</a:t>
                      </a:r>
                    </a:p>
                    <a:p>
                      <a:pPr marL="0" indent="0" algn="ctr">
                        <a:buNone/>
                      </a:pPr>
                      <a:r>
                        <a:rPr lang="ko-KR" sz="800" dirty="0">
                          <a:solidFill>
                            <a:srgbClr val="262626"/>
                          </a:solidFill>
                          <a:latin typeface="나눔스퀘어 Bold"/>
                          <a:ea typeface="나눔스퀘어 Bold"/>
                          <a:cs typeface="나눔스퀘어 Bold"/>
                        </a:rPr>
                        <a:t>수</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ctr">
                        <a:buNone/>
                      </a:pPr>
                      <a:r>
                        <a:rPr lang="ko-KR" sz="800" dirty="0">
                          <a:solidFill>
                            <a:srgbClr val="262626"/>
                          </a:solidFill>
                          <a:latin typeface="나눔스퀘어"/>
                          <a:ea typeface="나눔스퀘어"/>
                          <a:cs typeface="나눔스퀘어"/>
                        </a:rPr>
                        <a:t>매입</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a:ea typeface="나눔스퀘어"/>
                          <a:cs typeface="나눔스퀘어"/>
                        </a:rPr>
                        <a:t>13.5</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Bold"/>
                          <a:ea typeface="나눔스퀘어 Bold"/>
                          <a:cs typeface="나눔스퀘어 Bold"/>
                        </a:rPr>
                        <a:t>13.5</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r>
              <a:tr h="201168">
                <a:tc vMerge="1">
                  <a:txBody>
                    <a:bodyPr anchor="ctr"/>
                    <a:lstStyle/>
                    <a:p>
                      <a:pPr marL="0" indent="0" algn="ctr">
                        <a:buNone/>
                      </a:pPr>
                      <a:endParaRPr lang="ko-KR" sz="800" dirty="0">
                        <a:solidFill>
                          <a:srgbClr val="262626"/>
                        </a:solidFill>
                        <a:latin typeface="나눔스퀘어 Bold"/>
                        <a:ea typeface="나눔스퀘어 Bold"/>
                        <a:cs typeface="나눔스퀘어 Bold"/>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ctr">
                        <a:buNone/>
                      </a:pPr>
                      <a:r>
                        <a:rPr lang="ko-KR" sz="800" dirty="0">
                          <a:solidFill>
                            <a:srgbClr val="262626"/>
                          </a:solidFill>
                          <a:latin typeface="나눔스퀘어"/>
                          <a:ea typeface="나눔스퀘어"/>
                          <a:cs typeface="나눔스퀘어"/>
                        </a:rPr>
                        <a:t>운용</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anchor="ctr"/>
                    <a:lstStyle/>
                    <a:p>
                      <a:pPr marL="0" indent="0" algn="r">
                        <a:buNone/>
                      </a:pPr>
                      <a:r>
                        <a:rPr lang="ko-KR" sz="800" dirty="0">
                          <a:solidFill>
                            <a:srgbClr val="262626"/>
                          </a:solidFill>
                          <a:latin typeface="나눔스퀘어"/>
                          <a:ea typeface="나눔스퀘어"/>
                          <a:cs typeface="나눔스퀘어"/>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a:ea typeface="나눔스퀘어"/>
                          <a:cs typeface="나눔스퀘어"/>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a:ea typeface="나눔스퀘어"/>
                          <a:cs typeface="나눔스퀘어"/>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a:ea typeface="나눔스퀘어"/>
                          <a:cs typeface="나눔스퀘어"/>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a:ea typeface="나눔스퀘어"/>
                          <a:cs typeface="나눔스퀘어"/>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a:ea typeface="나눔스퀘어"/>
                          <a:cs typeface="나눔스퀘어"/>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a:ea typeface="나눔스퀘어"/>
                          <a:cs typeface="나눔스퀘어"/>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a:ea typeface="나눔스퀘어"/>
                          <a:cs typeface="나눔스퀘어"/>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a:ea typeface="나눔스퀘어"/>
                          <a:cs typeface="나눔스퀘어"/>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a:ea typeface="나눔스퀘어"/>
                          <a:cs typeface="나눔스퀘어"/>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Bold"/>
                          <a:ea typeface="나눔스퀘어 Bold"/>
                          <a:cs typeface="나눔스퀘어 Bold"/>
                        </a:rPr>
                        <a:t>66.7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r>
              <a:tr h="201168">
                <a:tc vMerge="1">
                  <a:txBody>
                    <a:bodyPr anchor="ctr"/>
                    <a:lstStyle/>
                    <a:p>
                      <a:pPr marL="0" indent="0" algn="ctr">
                        <a:buNone/>
                      </a:pPr>
                      <a:endParaRPr lang="ko-KR" sz="800" dirty="0">
                        <a:solidFill>
                          <a:srgbClr val="262626"/>
                        </a:solidFill>
                        <a:latin typeface="나눔스퀘어 Bold"/>
                        <a:ea typeface="나눔스퀘어 Bold"/>
                        <a:cs typeface="나눔스퀘어 Bold"/>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ctr">
                        <a:buNone/>
                      </a:pPr>
                      <a:r>
                        <a:rPr lang="ko-KR" sz="800" dirty="0">
                          <a:solidFill>
                            <a:srgbClr val="262626"/>
                          </a:solidFill>
                          <a:latin typeface="나눔스퀘어"/>
                          <a:ea typeface="나눔스퀘어"/>
                          <a:cs typeface="나눔스퀘어"/>
                        </a:rPr>
                        <a:t>매각</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2F2F2"/>
                    </a:solid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endParaRPr lang="ko-KR" sz="800" dirty="0">
                        <a:solidFill>
                          <a:srgbClr val="262626"/>
                        </a:solidFill>
                        <a:latin typeface="나눔스퀘어"/>
                        <a:ea typeface="나눔스퀘어"/>
                        <a:cs typeface="나눔스퀘어"/>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a:ea typeface="나눔스퀘어"/>
                          <a:cs typeface="나눔스퀘어"/>
                        </a:rPr>
                        <a:t>143.6</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r">
                        <a:buNone/>
                      </a:pPr>
                      <a:r>
                        <a:rPr lang="ko-KR" sz="800" dirty="0">
                          <a:solidFill>
                            <a:srgbClr val="262626"/>
                          </a:solidFill>
                          <a:latin typeface="나눔스퀘어 Bold"/>
                          <a:ea typeface="나눔스퀘어 Bold"/>
                          <a:cs typeface="나눔스퀘어 Bold"/>
                        </a:rPr>
                        <a:t>143.6</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r>
              <a:tr h="219456">
                <a:tc gridSpan="2">
                  <a:txBody>
                    <a:bodyPr anchor="ctr"/>
                    <a:lstStyle/>
                    <a:p>
                      <a:pPr marL="0" indent="0" algn="ctr">
                        <a:buNone/>
                      </a:pPr>
                      <a:r>
                        <a:rPr lang="ko-KR" sz="800" dirty="0">
                          <a:solidFill>
                            <a:srgbClr val="262626"/>
                          </a:solidFill>
                          <a:latin typeface="나눔스퀘어 Bold"/>
                          <a:ea typeface="나눔스퀘어 Bold"/>
                          <a:cs typeface="나눔스퀘어 Bold"/>
                        </a:rPr>
                        <a:t>계</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hMerge="1">
                  <a:txBody>
                    <a:bodyPr anchor="ctr"/>
                    <a:lstStyle/>
                    <a:p>
                      <a:pPr marL="0" indent="0" algn="ctr">
                        <a:buNone/>
                      </a:pPr>
                      <a:endParaRPr lang="ko-KR" sz="800" dirty="0">
                        <a:solidFill>
                          <a:srgbClr val="262626"/>
                        </a:solidFill>
                        <a:latin typeface="나눔스퀘어 Bold"/>
                        <a:ea typeface="나눔스퀘어 Bold"/>
                        <a:cs typeface="나눔스퀘어 Bold"/>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13.5</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150.3</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r">
                        <a:buNone/>
                      </a:pPr>
                      <a:r>
                        <a:rPr lang="ko-KR" sz="800" dirty="0">
                          <a:solidFill>
                            <a:srgbClr val="262626"/>
                          </a:solidFill>
                          <a:latin typeface="나눔스퀘어 Bold"/>
                          <a:ea typeface="나눔스퀘어 Bold"/>
                          <a:cs typeface="나눔스퀘어 Bold"/>
                        </a:rPr>
                        <a:t>223.8</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r>
              <a:tr h="219456">
                <a:tc>
                  <a:txBody>
                    <a:bodyPr anchor="ctr"/>
                    <a:lstStyle/>
                    <a:p>
                      <a:pPr marL="0" indent="0" algn="ctr">
                        <a:buNone/>
                      </a:pPr>
                      <a:r>
                        <a:rPr lang="ko-KR" sz="800" dirty="0">
                          <a:solidFill>
                            <a:srgbClr val="262626"/>
                          </a:solidFill>
                          <a:latin typeface="나눔스퀘어 Bold"/>
                          <a:ea typeface="나눔스퀘어 Bold"/>
                          <a:cs typeface="나눔스퀘어 Bold"/>
                        </a:rPr>
                        <a:t>P</a:t>
                      </a:r>
                    </a:p>
                    <a:p>
                      <a:pPr marL="0" indent="0" algn="ctr">
                        <a:buNone/>
                      </a:pPr>
                      <a:r>
                        <a:rPr lang="ko-KR" sz="800" dirty="0">
                          <a:solidFill>
                            <a:srgbClr val="262626"/>
                          </a:solidFill>
                          <a:latin typeface="나눔스퀘어 Bold"/>
                          <a:ea typeface="나눔스퀘어 Bold"/>
                          <a:cs typeface="나눔스퀘어 Bold"/>
                        </a:rPr>
                        <a:t>I</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ctr">
                        <a:buNone/>
                      </a:pPr>
                      <a:r>
                        <a:rPr lang="ko-KR" sz="800" dirty="0">
                          <a:solidFill>
                            <a:srgbClr val="262626"/>
                          </a:solidFill>
                          <a:latin typeface="나눔스퀘어"/>
                          <a:ea typeface="나눔스퀘어"/>
                          <a:cs typeface="나눔스퀘어"/>
                        </a:rPr>
                        <a:t>I.G · C.G</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F5F3F1"/>
                    </a:solid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a:ea typeface="나눔스퀘어"/>
                          <a:cs typeface="나눔스퀘어"/>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c>
                  <a:txBody>
                    <a:bodyPr anchor="ctr"/>
                    <a:lstStyle/>
                    <a:p>
                      <a:pPr marL="0" indent="0" algn="ctr">
                        <a:buNone/>
                      </a:pPr>
                      <a:r>
                        <a:rPr lang="ko-KR" sz="800" dirty="0">
                          <a:solidFill>
                            <a:srgbClr val="262626"/>
                          </a:solidFill>
                          <a:latin typeface="나눔스퀘어 Bold"/>
                          <a:ea typeface="나눔스퀘어 Bold"/>
                          <a:cs typeface="나눔스퀘어 Bold"/>
                        </a:rPr>
                        <a:t>-</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noFill/>
                  </a:tcPr>
                </a:tc>
              </a:tr>
              <a:tr h="274320">
                <a:tc gridSpan="2">
                  <a:txBody>
                    <a:bodyPr anchor="ctr"/>
                    <a:lstStyle/>
                    <a:p>
                      <a:pPr marL="0" indent="0" algn="ctr">
                        <a:buNone/>
                      </a:pPr>
                      <a:r>
                        <a:rPr lang="ko-KR" sz="800" dirty="0">
                          <a:solidFill>
                            <a:srgbClr val="262626"/>
                          </a:solidFill>
                          <a:latin typeface="나눔스퀘어 ExtraBold"/>
                          <a:ea typeface="나눔스퀘어 ExtraBold"/>
                          <a:cs typeface="나눔스퀘어 ExtraBold"/>
                        </a:rPr>
                        <a:t>합 계</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hMerge="1">
                  <a:txBody>
                    <a:bodyPr anchor="ctr"/>
                    <a:lstStyle/>
                    <a:p>
                      <a:pPr marL="0" indent="0" algn="ctr">
                        <a:buNone/>
                      </a:pPr>
                      <a:endParaRPr lang="ko-KR" sz="800" dirty="0">
                        <a:solidFill>
                          <a:srgbClr val="262626"/>
                        </a:solidFill>
                        <a:latin typeface="나눔스퀘어 ExtraBold"/>
                        <a:ea typeface="나눔스퀘어 ExtraBold"/>
                        <a:cs typeface="나눔스퀘어 ExtraBold"/>
                      </a:endParaRP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13.5</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6.7</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150.3</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c>
                  <a:txBody>
                    <a:bodyPr anchor="ctr"/>
                    <a:lstStyle/>
                    <a:p>
                      <a:pPr marL="0" indent="0" algn="r">
                        <a:buNone/>
                      </a:pPr>
                      <a:r>
                        <a:rPr lang="ko-KR" sz="800" dirty="0">
                          <a:solidFill>
                            <a:srgbClr val="262626"/>
                          </a:solidFill>
                          <a:latin typeface="나눔스퀘어 ExtraBold"/>
                          <a:ea typeface="나눔스퀘어 ExtraBold"/>
                          <a:cs typeface="나눔스퀘어 ExtraBold"/>
                        </a:rPr>
                        <a:t>223.8</a:t>
                      </a:r>
                    </a:p>
                  </a:txBody>
                  <a:tcPr marL="73152" marR="73152" marT="18288" marB="18288" anchor="ctr">
                    <a:lnL w="6350" cap="flat" cmpd="sng" algn="ctr">
                      <a:solidFill>
                        <a:srgbClr val="BFBFBF"/>
                      </a:solidFill>
                    </a:lnL>
                    <a:lnR w="6350" cap="flat" cmpd="sng" algn="ctr">
                      <a:solidFill>
                        <a:srgbClr val="BFBFBF"/>
                      </a:solidFill>
                    </a:lnR>
                    <a:lnT w="6350" cap="flat" cmpd="sng" algn="ctr">
                      <a:solidFill>
                        <a:srgbClr val="BFBFBF"/>
                      </a:solidFill>
                    </a:lnT>
                    <a:lnB w="6350" cap="flat" cmpd="sng" algn="ctr">
                      <a:solidFill>
                        <a:srgbClr val="BFBFBF"/>
                      </a:solidFill>
                    </a:lnB>
                    <a:solidFill>
                      <a:srgbClr val="EDE6DF"/>
                    </a:solidFill>
                  </a:tcPr>
                </a:tc>
              </a:tr>
            </a:tbl>
          </a:graphicData>
        </a:graphic>
      </p:graphicFrame>
      <p:sp>
        <p:nvSpPr>
          <p:cNvPr id="67" name="TextBox 66"/>
          <p:cNvSpPr txBox="1"/>
          <p:nvPr/>
        </p:nvSpPr>
        <p:spPr>
          <a:xfrm>
            <a:off x="365760" y="6583680"/>
            <a:ext cx="11521440" cy="237744"/>
          </a:xfrm>
          <a:prstGeom prst="rect">
            <a:avLst/>
          </a:prstGeom>
          <a:noFill/>
        </p:spPr>
        <p:txBody>
          <a:bodyPr wrap="square" anchor="ctr">
            <a:spAutoFit/>
          </a:bodyPr>
          <a:lstStyle/>
          <a:p>
            <a:r>
              <a:rPr sz="750">
                <a:latin typeface="나눔스퀘어"/>
                <a:ea typeface="나눔스퀘어"/>
                <a:cs typeface="나눔스퀘어"/>
              </a:rPr>
              <a:t>※ 출처: 투심자료 v12(’26.10.02) 재원조달·지분구성·당사 예상수익, 기준 재무모델 v03(’26.09.30) A&amp;R·Sell-down 탭(KLI는 보통주 ’26.10 출자, 2종 ’27.10·1종 ’28.10 매입, ’36.10 매각 가정). 중순위 대주 구성은 대출약정서 v16 중순위 의견본(’26.10.06) 기준. 연도는 사업연도(매년 10월말) 기준, 단수 차이 있음. 당사 직접 출자(PI)는 없음. 수익·보수는 예상치이며 확정된 것이 아님.</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4" name="Shape 20"/>
          <p:cNvSpPr/>
          <p:nvPr/>
        </p:nvSpPr>
        <p:spPr>
          <a:xfrm>
            <a:off x="6094476" y="1236617"/>
            <a:ext cx="0" cy="827314"/>
          </a:xfrm>
          <a:prstGeom prst="line">
            <a:avLst/>
          </a:prstGeom>
          <a:noFill/>
          <a:ln w="12700">
            <a:solidFill>
              <a:srgbClr val="A6A6A6"/>
            </a:solidFill>
            <a:prstDash val="solid"/>
          </a:ln>
        </p:spPr>
        <p:txBody>
          <a:bodyPr anchor="ctr"/>
          <a:lstStyle/>
          <a:p>
            <a:endParaRPr lang="ko-KR" altLang="en-US"/>
          </a:p>
        </p:txBody>
      </p:sp>
      <p:sp>
        <p:nvSpPr>
          <p:cNvPr id="10" name="Shape 8"/>
          <p:cNvSpPr/>
          <p:nvPr/>
        </p:nvSpPr>
        <p:spPr>
          <a:xfrm>
            <a:off x="1417320" y="1588436"/>
            <a:ext cx="0" cy="288000"/>
          </a:xfrm>
          <a:prstGeom prst="line">
            <a:avLst/>
          </a:prstGeom>
          <a:noFill/>
          <a:ln w="12700">
            <a:solidFill>
              <a:srgbClr val="A6A6A6"/>
            </a:solidFill>
            <a:prstDash val="solid"/>
          </a:ln>
        </p:spPr>
        <p:txBody>
          <a:bodyPr anchor="ctr"/>
          <a:lstStyle/>
          <a:p>
            <a:endParaRPr lang="ko-KR" altLang="en-US"/>
          </a:p>
        </p:txBody>
      </p:sp>
      <p:sp>
        <p:nvSpPr>
          <p:cNvPr id="17" name="Shape 14"/>
          <p:cNvSpPr/>
          <p:nvPr/>
        </p:nvSpPr>
        <p:spPr>
          <a:xfrm>
            <a:off x="3755898" y="1588436"/>
            <a:ext cx="0" cy="288000"/>
          </a:xfrm>
          <a:prstGeom prst="line">
            <a:avLst/>
          </a:prstGeom>
          <a:noFill/>
          <a:ln w="12700">
            <a:solidFill>
              <a:srgbClr val="A6A6A6"/>
            </a:solidFill>
            <a:prstDash val="solid"/>
          </a:ln>
        </p:spPr>
        <p:txBody>
          <a:bodyPr anchor="ctr"/>
          <a:lstStyle/>
          <a:p>
            <a:endParaRPr lang="ko-KR" altLang="en-US"/>
          </a:p>
        </p:txBody>
      </p:sp>
      <p:sp>
        <p:nvSpPr>
          <p:cNvPr id="31" name="Shape 26"/>
          <p:cNvSpPr/>
          <p:nvPr/>
        </p:nvSpPr>
        <p:spPr>
          <a:xfrm>
            <a:off x="8433054" y="1588436"/>
            <a:ext cx="0" cy="288000"/>
          </a:xfrm>
          <a:prstGeom prst="line">
            <a:avLst/>
          </a:prstGeom>
          <a:noFill/>
          <a:ln w="12700">
            <a:solidFill>
              <a:srgbClr val="A6A6A6"/>
            </a:solidFill>
            <a:prstDash val="solid"/>
          </a:ln>
        </p:spPr>
        <p:txBody>
          <a:bodyPr anchor="ctr"/>
          <a:lstStyle/>
          <a:p>
            <a:endParaRPr lang="ko-KR" altLang="en-US"/>
          </a:p>
        </p:txBody>
      </p:sp>
      <p:sp>
        <p:nvSpPr>
          <p:cNvPr id="38" name="Shape 32"/>
          <p:cNvSpPr/>
          <p:nvPr/>
        </p:nvSpPr>
        <p:spPr>
          <a:xfrm>
            <a:off x="10771632" y="1588436"/>
            <a:ext cx="0" cy="288000"/>
          </a:xfrm>
          <a:prstGeom prst="line">
            <a:avLst/>
          </a:prstGeom>
          <a:noFill/>
          <a:ln w="12700">
            <a:solidFill>
              <a:srgbClr val="A6A6A6"/>
            </a:solidFill>
            <a:prstDash val="solid"/>
          </a:ln>
        </p:spPr>
        <p:txBody>
          <a:bodyPr anchor="ctr"/>
          <a:lstStyle/>
          <a:p>
            <a:endParaRPr lang="ko-KR" altLang="en-US"/>
          </a:p>
        </p:txBody>
      </p:sp>
      <p:sp>
        <p:nvSpPr>
          <p:cNvPr id="2" name="Text 0"/>
          <p:cNvSpPr txBox="1"/>
          <p:nvPr/>
        </p:nvSpPr>
        <p:spPr>
          <a:xfrm>
            <a:off x="365760" y="201168"/>
            <a:ext cx="8686800" cy="475488"/>
          </a:xfrm>
          <a:prstGeom prst="rect">
            <a:avLst/>
          </a:prstGeom>
          <a:noFill/>
          <a:ln/>
        </p:spPr>
        <p:txBody>
          <a:bodyPr wrap="square" lIns="381" tIns="381" rIns="381" bIns="381" rtlCol="0" anchor="ctr"/>
          <a:lstStyle/>
          <a:p>
            <a:pPr marL="0" indent="0">
              <a:buNone/>
            </a:pPr>
            <a:r>
              <a:rPr lang="en-US" sz="2200" dirty="0">
                <a:solidFill>
                  <a:srgbClr val="262626"/>
                </a:solidFill>
                <a:latin typeface="나눔스퀘어 ExtraBold" pitchFamily="34" charset="0"/>
                <a:ea typeface="나눔스퀘어 ExtraBold" pitchFamily="34" charset="-122"/>
                <a:cs typeface="나눔스퀘어 ExtraBold" pitchFamily="34" charset="-120"/>
              </a:rPr>
              <a:t>제반 실사 업체 선정 현황</a:t>
            </a:r>
            <a:endParaRPr lang="en-US" sz="1000" dirty="0"/>
          </a:p>
        </p:txBody>
      </p:sp>
      <p:sp>
        <p:nvSpPr>
          <p:cNvPr id="3" name="Shape 1"/>
          <p:cNvSpPr/>
          <p:nvPr/>
        </p:nvSpPr>
        <p:spPr>
          <a:xfrm>
            <a:off x="365760" y="731520"/>
            <a:ext cx="11457432" cy="0"/>
          </a:xfrm>
          <a:prstGeom prst="line">
            <a:avLst/>
          </a:prstGeom>
          <a:noFill/>
          <a:ln w="19050">
            <a:solidFill>
              <a:srgbClr val="D9D9D9"/>
            </a:solidFill>
            <a:prstDash val="solid"/>
          </a:ln>
        </p:spPr>
        <p:txBody>
          <a:bodyPr anchor="ctr"/>
          <a:lstStyle/>
          <a:p>
            <a:endParaRPr lang="ko-KR" altLang="en-US"/>
          </a:p>
        </p:txBody>
      </p:sp>
      <p:sp>
        <p:nvSpPr>
          <p:cNvPr id="4" name="Shape 2"/>
          <p:cNvSpPr/>
          <p:nvPr/>
        </p:nvSpPr>
        <p:spPr>
          <a:xfrm>
            <a:off x="365760" y="731520"/>
            <a:ext cx="3291840" cy="0"/>
          </a:xfrm>
          <a:prstGeom prst="line">
            <a:avLst/>
          </a:prstGeom>
          <a:noFill/>
          <a:ln w="31750">
            <a:solidFill>
              <a:srgbClr val="C00000"/>
            </a:solidFill>
            <a:prstDash val="solid"/>
          </a:ln>
        </p:spPr>
        <p:txBody>
          <a:bodyPr anchor="ctr"/>
          <a:lstStyle/>
          <a:p>
            <a:endParaRPr lang="ko-KR" altLang="en-US"/>
          </a:p>
        </p:txBody>
      </p:sp>
      <p:sp>
        <p:nvSpPr>
          <p:cNvPr id="5" name="Text 3"/>
          <p:cNvSpPr txBox="1"/>
          <p:nvPr/>
        </p:nvSpPr>
        <p:spPr>
          <a:xfrm>
            <a:off x="9052560" y="109728"/>
            <a:ext cx="2770632" cy="274320"/>
          </a:xfrm>
          <a:prstGeom prst="rect">
            <a:avLst/>
          </a:prstGeom>
          <a:noFill/>
          <a:ln/>
        </p:spPr>
        <p:txBody>
          <a:bodyPr wrap="square" lIns="381" tIns="381" rIns="381" bIns="381" rtlCol="0" anchor="ctr"/>
          <a:lstStyle/>
          <a:p>
            <a:pPr marL="0" indent="0" algn="r">
              <a:buNone/>
            </a:pPr>
            <a:r>
              <a:rPr lang="en-US" sz="1100" dirty="0">
                <a:solidFill>
                  <a:srgbClr val="C00000"/>
                </a:solidFill>
                <a:latin typeface="나눔스퀘어 Bold" pitchFamily="34" charset="0"/>
                <a:ea typeface="나눔스퀘어 Bold" pitchFamily="34" charset="-122"/>
                <a:cs typeface="나눔스퀘어 Bold" pitchFamily="34" charset="-120"/>
              </a:rPr>
              <a:t>One </a:t>
            </a:r>
            <a:r>
              <a:rPr lang="en-US" sz="1100" dirty="0">
                <a:solidFill>
                  <a:srgbClr val="262626"/>
                </a:solidFill>
                <a:latin typeface="나눔스퀘어 Bold" pitchFamily="34" charset="0"/>
                <a:ea typeface="나눔스퀘어 Bold" pitchFamily="34" charset="-122"/>
                <a:cs typeface="나눔스퀘어 Bold" pitchFamily="34" charset="-120"/>
              </a:rPr>
              <a:t>KORAMCO </a:t>
            </a:r>
            <a:r>
              <a:rPr lang="en-US" sz="1100" dirty="0">
                <a:solidFill>
                  <a:srgbClr val="C00000"/>
                </a:solidFill>
                <a:latin typeface="나눔스퀘어 Bold" pitchFamily="34" charset="0"/>
                <a:ea typeface="나눔스퀘어 Bold" pitchFamily="34" charset="-122"/>
                <a:cs typeface="나눔스퀘어 Bold" pitchFamily="34" charset="-120"/>
              </a:rPr>
              <a:t>New </a:t>
            </a:r>
            <a:r>
              <a:rPr lang="en-US" sz="1100" dirty="0">
                <a:solidFill>
                  <a:srgbClr val="262626"/>
                </a:solidFill>
                <a:latin typeface="나눔스퀘어 Bold" pitchFamily="34" charset="0"/>
                <a:ea typeface="나눔스퀘어 Bold" pitchFamily="34" charset="-122"/>
                <a:cs typeface="나눔스퀘어 Bold" pitchFamily="34" charset="-120"/>
              </a:rPr>
              <a:t>KORAMCO</a:t>
            </a:r>
            <a:endParaRPr lang="en-US" sz="1100" dirty="0"/>
          </a:p>
        </p:txBody>
      </p:sp>
      <p:sp>
        <p:nvSpPr>
          <p:cNvPr id="6" name="Text 4"/>
          <p:cNvSpPr/>
          <p:nvPr/>
        </p:nvSpPr>
        <p:spPr>
          <a:xfrm>
            <a:off x="4910328" y="871727"/>
            <a:ext cx="2377440" cy="438912"/>
          </a:xfrm>
          <a:prstGeom prst="rect">
            <a:avLst/>
          </a:prstGeom>
          <a:solidFill>
            <a:srgbClr val="C00000"/>
          </a:solidFill>
          <a:ln>
            <a:solidFill>
              <a:srgbClr val="C00000"/>
            </a:solidFill>
          </a:ln>
        </p:spPr>
        <p:txBody>
          <a:bodyPr wrap="square" lIns="381" tIns="381" rIns="381" bIns="381" rtlCol="0" anchor="ctr"/>
          <a:lstStyle/>
          <a:p>
            <a:pPr marL="0" indent="0" algn="ctr">
              <a:buNone/>
            </a:pPr>
            <a:r>
              <a:rPr lang="en-US" sz="1400" dirty="0">
                <a:solidFill>
                  <a:srgbClr val="FFFFFF"/>
                </a:solidFill>
                <a:latin typeface="나눔스퀘어 ExtraBold" pitchFamily="34" charset="0"/>
                <a:ea typeface="나눔스퀘어 ExtraBold" pitchFamily="34" charset="-122"/>
                <a:cs typeface="나눔스퀘어 ExtraBold" pitchFamily="34" charset="-120"/>
              </a:rPr>
              <a:t>제반실사 선정</a:t>
            </a:r>
            <a:endParaRPr lang="en-US" sz="1400" dirty="0"/>
          </a:p>
        </p:txBody>
      </p:sp>
      <p:sp>
        <p:nvSpPr>
          <p:cNvPr id="7" name="Text 5"/>
          <p:cNvSpPr/>
          <p:nvPr/>
        </p:nvSpPr>
        <p:spPr>
          <a:xfrm>
            <a:off x="9208008" y="932688"/>
            <a:ext cx="2615184" cy="438912"/>
          </a:xfrm>
          <a:prstGeom prst="rect">
            <a:avLst/>
          </a:prstGeom>
          <a:solidFill>
            <a:srgbClr val="FFFFFF"/>
          </a:solidFill>
          <a:ln w="15875">
            <a:solidFill>
              <a:srgbClr val="C00000"/>
            </a:solidFill>
          </a:ln>
        </p:spPr>
        <p:txBody>
          <a:bodyPr wrap="square" lIns="381" tIns="381" rIns="381" bIns="381" rtlCol="0" anchor="ctr"/>
          <a:lstStyle/>
          <a:p>
            <a:pPr marL="0" indent="0" algn="ctr">
              <a:buNone/>
            </a:pPr>
            <a:r>
              <a:rPr lang="en-US" sz="1100" dirty="0">
                <a:solidFill>
                  <a:srgbClr val="262626"/>
                </a:solidFill>
                <a:latin typeface="나눔스퀘어 Bold" pitchFamily="34" charset="0"/>
                <a:ea typeface="나눔스퀘어 Bold" pitchFamily="34" charset="-122"/>
                <a:cs typeface="나눔스퀘어 Bold" pitchFamily="34" charset="-120"/>
              </a:rPr>
              <a:t>총  </a:t>
            </a:r>
            <a:r>
              <a:rPr lang="en-US" sz="1600" dirty="0">
                <a:solidFill>
                  <a:srgbClr val="C00000"/>
                </a:solidFill>
                <a:latin typeface="나눔스퀘어 ExtraBold" pitchFamily="34" charset="0"/>
                <a:ea typeface="나눔스퀘어 ExtraBold" pitchFamily="34" charset="-122"/>
                <a:cs typeface="나눔스퀘어 ExtraBold" pitchFamily="34" charset="-120"/>
              </a:rPr>
              <a:t>270백만원</a:t>
            </a:r>
            <a:r>
              <a:rPr lang="en-US" sz="950" dirty="0">
                <a:solidFill>
                  <a:srgbClr val="7F7F7F"/>
                </a:solidFill>
                <a:latin typeface="나눔스퀘어" pitchFamily="34" charset="0"/>
                <a:ea typeface="나눔스퀘어" pitchFamily="34" charset="-122"/>
                <a:cs typeface="나눔스퀘어" pitchFamily="34" charset="-120"/>
              </a:rPr>
              <a:t>  (재무모델 견적 기준)</a:t>
            </a:r>
          </a:p>
        </p:txBody>
      </p:sp>
      <p:sp>
        <p:nvSpPr>
          <p:cNvPr id="9" name="Shape 7"/>
          <p:cNvSpPr/>
          <p:nvPr/>
        </p:nvSpPr>
        <p:spPr>
          <a:xfrm>
            <a:off x="1417320" y="1597151"/>
            <a:ext cx="9354312" cy="0"/>
          </a:xfrm>
          <a:prstGeom prst="line">
            <a:avLst/>
          </a:prstGeom>
          <a:noFill/>
          <a:ln w="12700">
            <a:solidFill>
              <a:srgbClr val="A6A6A6"/>
            </a:solidFill>
            <a:prstDash val="solid"/>
          </a:ln>
        </p:spPr>
        <p:txBody>
          <a:bodyPr anchor="ctr"/>
          <a:lstStyle/>
          <a:p>
            <a:endParaRPr lang="ko-KR" altLang="en-US"/>
          </a:p>
        </p:txBody>
      </p:sp>
      <p:sp>
        <p:nvSpPr>
          <p:cNvPr id="11" name="Text 9"/>
          <p:cNvSpPr/>
          <p:nvPr/>
        </p:nvSpPr>
        <p:spPr>
          <a:xfrm>
            <a:off x="452850" y="1805292"/>
            <a:ext cx="1872000" cy="457200"/>
          </a:xfrm>
          <a:prstGeom prst="rect">
            <a:avLst/>
          </a:prstGeom>
          <a:solidFill>
            <a:srgbClr val="A39382"/>
          </a:solidFill>
          <a:ln>
            <a:solidFill>
              <a:srgbClr val="A39382"/>
            </a:solidFill>
          </a:ln>
        </p:spPr>
        <p:txBody>
          <a:bodyPr wrap="square" lIns="381" tIns="381" rIns="381" bIns="381" rtlCol="0" anchor="ctr"/>
          <a:lstStyle/>
          <a:p>
            <a:pPr marL="0" indent="0" algn="ctr">
              <a:buNone/>
            </a:pPr>
            <a:r>
              <a:rPr lang="en-US" sz="1400" dirty="0">
                <a:solidFill>
                  <a:srgbClr val="FFFFFF"/>
                </a:solidFill>
                <a:latin typeface="나눔스퀘어 ExtraBold" pitchFamily="34" charset="0"/>
                <a:ea typeface="나눔스퀘어 ExtraBold" pitchFamily="34" charset="-122"/>
                <a:cs typeface="나눔스퀘어 ExtraBold" pitchFamily="34" charset="-120"/>
              </a:rPr>
              <a:t>법률실사</a:t>
            </a:r>
          </a:p>
        </p:txBody>
      </p:sp>
      <p:sp>
        <p:nvSpPr>
          <p:cNvPr id="12" name="Text 10"/>
          <p:cNvSpPr/>
          <p:nvPr/>
        </p:nvSpPr>
        <p:spPr>
          <a:xfrm>
            <a:off x="452850" y="2262492"/>
            <a:ext cx="1872000" cy="821211"/>
          </a:xfrm>
          <a:prstGeom prst="rect">
            <a:avLst/>
          </a:prstGeom>
          <a:solidFill>
            <a:srgbClr val="F5F3F1"/>
          </a:solidFill>
          <a:ln w="6350">
            <a:solidFill>
              <a:srgbClr val="D9D9D9"/>
            </a:solidFill>
          </a:ln>
        </p:spPr>
        <p:txBody>
          <a:bodyPr wrap="square" lIns="50800" tIns="101600" rIns="50800" bIns="50800" rtlCol="0" anchor="ctr"/>
          <a:lstStyle/>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법률실사 진행 및 보고서 작성</a:t>
            </a:r>
          </a:p>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매매·주주간·대출 계약서 작성·검토</a:t>
            </a:r>
          </a:p>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신설리츠 투자구조 법률의견</a:t>
            </a:r>
          </a:p>
        </p:txBody>
      </p:sp>
      <p:sp>
        <p:nvSpPr>
          <p:cNvPr id="13" name="Shape 11"/>
          <p:cNvSpPr/>
          <p:nvPr/>
        </p:nvSpPr>
        <p:spPr>
          <a:xfrm>
            <a:off x="1243584" y="3328416"/>
            <a:ext cx="347472" cy="347472"/>
          </a:xfrm>
          <a:prstGeom prst="downArrow">
            <a:avLst/>
          </a:prstGeom>
          <a:solidFill>
            <a:srgbClr val="C00000"/>
          </a:solidFill>
          <a:ln w="12700">
            <a:solidFill>
              <a:srgbClr val="C00000"/>
            </a:solidFill>
            <a:prstDash val="solid"/>
          </a:ln>
        </p:spPr>
        <p:txBody>
          <a:bodyPr anchor="ctr"/>
          <a:lstStyle/>
          <a:p>
            <a:endParaRPr lang="ko-KR" altLang="en-US"/>
          </a:p>
        </p:txBody>
      </p:sp>
      <p:sp>
        <p:nvSpPr>
          <p:cNvPr id="14" name="Text 12"/>
          <p:cNvSpPr/>
          <p:nvPr/>
        </p:nvSpPr>
        <p:spPr>
          <a:xfrm>
            <a:off x="1709928" y="3383280"/>
            <a:ext cx="676656" cy="237744"/>
          </a:xfrm>
          <a:prstGeom prst="roundRect">
            <a:avLst>
              <a:gd name="adj" fmla="val 46154"/>
            </a:avLst>
          </a:prstGeom>
          <a:solidFill>
            <a:srgbClr val="FFFFFF"/>
          </a:solidFill>
          <a:ln w="9525">
            <a:solidFill>
              <a:srgbClr val="C00000"/>
            </a:solidFill>
          </a:ln>
        </p:spPr>
        <p:txBody>
          <a:bodyPr wrap="square" lIns="0" tIns="0" rIns="0" bIns="0" rtlCol="0" anchor="ctr"/>
          <a:lstStyle/>
          <a:p>
            <a:pPr marL="0" indent="0" algn="ctr">
              <a:buNone/>
            </a:pPr>
            <a:r>
              <a:rPr lang="en-US" sz="950" dirty="0">
                <a:solidFill>
                  <a:srgbClr val="C00000"/>
                </a:solidFill>
                <a:latin typeface="나눔스퀘어 Bold" pitchFamily="34" charset="0"/>
                <a:ea typeface="나눔스퀘어 Bold" pitchFamily="34" charset="-122"/>
                <a:cs typeface="나눔스퀘어 Bold" pitchFamily="34" charset="-120"/>
              </a:rPr>
              <a:t>견적 기준</a:t>
            </a:r>
          </a:p>
        </p:txBody>
      </p:sp>
      <p:sp>
        <p:nvSpPr>
          <p:cNvPr id="15" name="Text 13"/>
          <p:cNvSpPr/>
          <p:nvPr/>
        </p:nvSpPr>
        <p:spPr>
          <a:xfrm>
            <a:off x="452850" y="3767328"/>
            <a:ext cx="1872000" cy="713232"/>
          </a:xfrm>
          <a:prstGeom prst="rect">
            <a:avLst/>
          </a:prstGeom>
          <a:solidFill>
            <a:srgbClr val="FBEEEE"/>
          </a:solidFill>
          <a:ln w="15875">
            <a:solidFill>
              <a:srgbClr val="C00000"/>
            </a:solidFill>
            <a:prstDash val="dash"/>
          </a:ln>
        </p:spPr>
        <p:txBody>
          <a:bodyPr wrap="square" lIns="381" tIns="381" rIns="381" bIns="381" rtlCol="0" anchor="ctr"/>
          <a:lstStyle/>
          <a:p>
            <a:pPr marL="0" indent="0" algn="ctr">
              <a:buNone/>
            </a:pPr>
            <a:r>
              <a:rPr lang="en-US" sz="1100" dirty="0" err="1">
                <a:solidFill>
                  <a:srgbClr val="262626"/>
                </a:solidFill>
                <a:latin typeface="나눔스퀘어 Bold" pitchFamily="34" charset="0"/>
                <a:ea typeface="나눔스퀘어 Bold" pitchFamily="34" charset="-122"/>
                <a:cs typeface="나눔스퀘어 Bold" pitchFamily="34" charset="-120"/>
              </a:rPr>
              <a:t>태평양(BKL)</a:t>
            </a:r>
          </a:p>
          <a:p>
            <a:pPr marL="0" indent="0" algn="ctr">
              <a:buNone/>
            </a:pPr>
            <a:r>
              <a:rPr lang="en-US" sz="1600" dirty="0">
                <a:solidFill>
                  <a:srgbClr val="C00000"/>
                </a:solidFill>
                <a:latin typeface="나눔스퀘어 ExtraBold" pitchFamily="34" charset="0"/>
                <a:ea typeface="나눔스퀘어 ExtraBold" pitchFamily="34" charset="-122"/>
                <a:cs typeface="나눔스퀘어 ExtraBold" pitchFamily="34" charset="-120"/>
              </a:rPr>
              <a:t>80</a:t>
            </a:r>
            <a:r>
              <a:rPr lang="en-US" sz="1150" dirty="0">
                <a:solidFill>
                  <a:srgbClr val="C00000"/>
                </a:solidFill>
                <a:latin typeface="나눔스퀘어 ExtraBold" pitchFamily="34" charset="0"/>
                <a:ea typeface="나눔스퀘어 ExtraBold" pitchFamily="34" charset="-122"/>
                <a:cs typeface="나눔스퀘어 ExtraBold" pitchFamily="34" charset="-120"/>
              </a:rPr>
              <a:t>백만원</a:t>
            </a:r>
          </a:p>
        </p:txBody>
      </p:sp>
      <p:graphicFrame>
        <p:nvGraphicFramePr>
          <p:cNvPr id="16" name="Table 0"/>
          <p:cNvGraphicFramePr>
            <a:graphicFrameLocks noGrp="1"/>
          </p:cNvGraphicFramePr>
          <p:nvPr>
            <p:extLst>
              <p:ext uri="{D42A27DB-BD31-4B8C-83A1-F6EECF244321}">
                <p14:modId xmlns:p14="http://schemas.microsoft.com/office/powerpoint/2010/main" val="1930971386"/>
              </p:ext>
            </p:extLst>
          </p:nvPr>
        </p:nvGraphicFramePr>
        <p:xfrm>
          <a:off x="442912" y="4736592"/>
          <a:ext cx="1881937" cy="950976"/>
        </p:xfrm>
        <a:graphic>
          <a:graphicData uri="http://schemas.openxmlformats.org/drawingml/2006/table">
            <a:tbl>
              <a:tblPr/>
              <a:tblGrid>
                <a:gridCol w="1129162">
                  <a:extLst>
                    <a:ext uri="{9D8B030D-6E8A-4147-A177-3AD203B41FA5}">
                      <a16:colId xmlns:a16="http://schemas.microsoft.com/office/drawing/2014/main" val="20000"/>
                    </a:ext>
                  </a:extLst>
                </a:gridCol>
                <a:gridCol w="752775">
                  <a:extLst>
                    <a:ext uri="{9D8B030D-6E8A-4147-A177-3AD203B41FA5}">
                      <a16:colId xmlns:a16="http://schemas.microsoft.com/office/drawing/2014/main" val="20001"/>
                    </a:ext>
                  </a:extLst>
                </a:gridCol>
              </a:tblGrid>
              <a:tr h="292608">
                <a:tc>
                  <a:txBody>
                    <a:bodyPr anchor="ctr"/>
                    <a:lstStyle/>
                    <a:p>
                      <a:pPr marL="0" indent="0" algn="ctr">
                        <a:buNone/>
                      </a:pPr>
                      <a:r>
                        <a:rPr lang="en-US" sz="950" dirty="0">
                          <a:solidFill>
                            <a:srgbClr val="FFFFFF"/>
                          </a:solidFill>
                          <a:latin typeface="나눔스퀘어 Bold" pitchFamily="34" charset="0"/>
                          <a:ea typeface="나눔스퀘어 Bold" pitchFamily="34" charset="-122"/>
                          <a:cs typeface="나눔스퀘어 Bold" pitchFamily="34" charset="-120"/>
                        </a:rPr>
                        <a:t>구분</a:t>
                      </a:r>
                      <a:endParaRPr lang="en-US" sz="950" dirty="0">
                        <a:latin typeface="나눔스퀘어 Bold" charset="0"/>
                        <a:ea typeface="나눔스퀘어 Bold" charset="0"/>
                        <a:cs typeface="나눔스퀘어 Bold" charset="0"/>
                      </a:endParaRP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a:txBody>
                    <a:bodyPr anchor="ctr"/>
                    <a:lstStyle/>
                    <a:p>
                      <a:pPr marL="0" indent="0" algn="ctr">
                        <a:buNone/>
                      </a:pPr>
                      <a:r>
                        <a:rPr lang="en-US" sz="950" dirty="0">
                          <a:solidFill>
                            <a:srgbClr val="FFFFFF"/>
                          </a:solidFill>
                          <a:latin typeface="나눔스퀘어 Bold" pitchFamily="34" charset="0"/>
                          <a:ea typeface="나눔스퀘어 Bold" pitchFamily="34" charset="-122"/>
                          <a:cs typeface="나눔스퀘어 Bold" pitchFamily="34" charset="-120"/>
                        </a:rPr>
                        <a:t>제안가격</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extLst>
                  <a:ext uri="{0D108BD9-81ED-4DB2-BD59-A6C34878D82A}">
                    <a16:rowId xmlns:a16="http://schemas.microsoft.com/office/drawing/2014/main" val="10000"/>
                  </a:ext>
                </a:extLst>
              </a:tr>
              <a:tr h="329184">
                <a:tc>
                  <a:txBody>
                    <a:bodyPr anchor="ctr"/>
                    <a:lstStyle/>
                    <a:p>
                      <a:pPr marL="0" indent="0" algn="ctr">
                        <a:buNone/>
                      </a:pPr>
                      <a:r>
                        <a:rPr lang="en-US" sz="950" dirty="0">
                          <a:solidFill>
                            <a:srgbClr val="C00000"/>
                          </a:solidFill>
                          <a:latin typeface="나눔스퀘어 Bold" pitchFamily="34" charset="0"/>
                          <a:ea typeface="나눔스퀘어 Bold" pitchFamily="34" charset="-122"/>
                          <a:cs typeface="나눔스퀘어 Bold" pitchFamily="34" charset="-120"/>
                        </a:rPr>
                        <a:t>법무법인 태평양</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EEEE"/>
                    </a:solidFill>
                  </a:tcPr>
                </a:tc>
                <a:tc>
                  <a:txBody>
                    <a:bodyPr anchor="ctr"/>
                    <a:lstStyle/>
                    <a:p>
                      <a:pPr marL="0" indent="0" algn="ctr">
                        <a:buNone/>
                      </a:pPr>
                      <a:r>
                        <a:rPr lang="en-US" sz="950" dirty="0">
                          <a:solidFill>
                            <a:srgbClr val="C00000"/>
                          </a:solidFill>
                          <a:latin typeface="나눔스퀘어 ExtraBold" pitchFamily="34" charset="0"/>
                          <a:ea typeface="나눔스퀘어 ExtraBold" pitchFamily="34" charset="-122"/>
                          <a:cs typeface="나눔스퀘어 ExtraBold" pitchFamily="34" charset="-120"/>
                        </a:rPr>
                        <a:t>80 백만원</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EEEE"/>
                    </a:solidFill>
                  </a:tcPr>
                </a:tc>
                <a:extLst>
                  <a:ext uri="{0D108BD9-81ED-4DB2-BD59-A6C34878D82A}">
                    <a16:rowId xmlns:a16="http://schemas.microsoft.com/office/drawing/2014/main" val="10001"/>
                  </a:ext>
                </a:extLst>
              </a:tr>
              <a:tr h="329184">
                <a:tc>
                  <a:txBody>
                    <a:bodyPr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타 제안사</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[미접수]</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8" name="Text 15"/>
          <p:cNvSpPr/>
          <p:nvPr/>
        </p:nvSpPr>
        <p:spPr>
          <a:xfrm>
            <a:off x="2791428" y="1805292"/>
            <a:ext cx="1872000" cy="457200"/>
          </a:xfrm>
          <a:prstGeom prst="rect">
            <a:avLst/>
          </a:prstGeom>
          <a:solidFill>
            <a:srgbClr val="A39382"/>
          </a:solidFill>
          <a:ln>
            <a:solidFill>
              <a:srgbClr val="A39382"/>
            </a:solidFill>
          </a:ln>
        </p:spPr>
        <p:txBody>
          <a:bodyPr wrap="square" lIns="381" tIns="381" rIns="381" bIns="381" rtlCol="0" anchor="ctr"/>
          <a:lstStyle/>
          <a:p>
            <a:pPr marL="0" indent="0" algn="ctr">
              <a:buNone/>
            </a:pPr>
            <a:r>
              <a:rPr lang="en-US" sz="1400" dirty="0">
                <a:solidFill>
                  <a:srgbClr val="FFFFFF"/>
                </a:solidFill>
                <a:latin typeface="나눔스퀘어 ExtraBold" pitchFamily="34" charset="0"/>
                <a:ea typeface="나눔스퀘어 ExtraBold" pitchFamily="34" charset="-122"/>
                <a:cs typeface="나눔스퀘어 ExtraBold" pitchFamily="34" charset="-120"/>
              </a:rPr>
              <a:t>감정평가</a:t>
            </a:r>
          </a:p>
        </p:txBody>
      </p:sp>
      <p:sp>
        <p:nvSpPr>
          <p:cNvPr id="19" name="Text 16"/>
          <p:cNvSpPr/>
          <p:nvPr/>
        </p:nvSpPr>
        <p:spPr>
          <a:xfrm>
            <a:off x="2791428" y="2262492"/>
            <a:ext cx="1872000" cy="821211"/>
          </a:xfrm>
          <a:prstGeom prst="rect">
            <a:avLst/>
          </a:prstGeom>
          <a:solidFill>
            <a:srgbClr val="F5F3F1"/>
          </a:solidFill>
          <a:ln w="6350">
            <a:solidFill>
              <a:srgbClr val="D9D9D9"/>
            </a:solidFill>
          </a:ln>
        </p:spPr>
        <p:txBody>
          <a:bodyPr wrap="square" lIns="50800" tIns="101600" rIns="50800" bIns="50800" rtlCol="0" anchor="ctr"/>
          <a:lstStyle/>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감정평가서(담보·시가) 작성</a:t>
            </a:r>
          </a:p>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감정평가액 3,345억원</a:t>
            </a:r>
          </a:p>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기준시점 ’26.08.31</a:t>
            </a:r>
          </a:p>
        </p:txBody>
      </p:sp>
      <p:sp>
        <p:nvSpPr>
          <p:cNvPr id="20" name="Shape 17"/>
          <p:cNvSpPr/>
          <p:nvPr/>
        </p:nvSpPr>
        <p:spPr>
          <a:xfrm>
            <a:off x="3582162" y="3328416"/>
            <a:ext cx="347472" cy="347472"/>
          </a:xfrm>
          <a:prstGeom prst="downArrow">
            <a:avLst/>
          </a:prstGeom>
          <a:solidFill>
            <a:srgbClr val="C00000"/>
          </a:solidFill>
          <a:ln w="12700">
            <a:solidFill>
              <a:srgbClr val="C00000"/>
            </a:solidFill>
            <a:prstDash val="solid"/>
          </a:ln>
        </p:spPr>
        <p:txBody>
          <a:bodyPr anchor="ctr"/>
          <a:lstStyle/>
          <a:p>
            <a:endParaRPr lang="ko-KR" altLang="en-US"/>
          </a:p>
        </p:txBody>
      </p:sp>
      <p:sp>
        <p:nvSpPr>
          <p:cNvPr id="21" name="Text 18"/>
          <p:cNvSpPr/>
          <p:nvPr/>
        </p:nvSpPr>
        <p:spPr>
          <a:xfrm>
            <a:off x="4048506" y="3383280"/>
            <a:ext cx="676656" cy="237744"/>
          </a:xfrm>
          <a:prstGeom prst="roundRect">
            <a:avLst>
              <a:gd name="adj" fmla="val 46154"/>
            </a:avLst>
          </a:prstGeom>
          <a:solidFill>
            <a:srgbClr val="FFFFFF"/>
          </a:solidFill>
          <a:ln w="9525">
            <a:solidFill>
              <a:srgbClr val="C00000"/>
            </a:solidFill>
          </a:ln>
        </p:spPr>
        <p:txBody>
          <a:bodyPr wrap="square" lIns="0" tIns="0" rIns="0" bIns="0" rtlCol="0" anchor="ctr"/>
          <a:lstStyle/>
          <a:p>
            <a:pPr marL="0" indent="0" algn="ctr">
              <a:buNone/>
            </a:pPr>
            <a:r>
              <a:rPr lang="en-US" sz="950" dirty="0">
                <a:solidFill>
                  <a:srgbClr val="C00000"/>
                </a:solidFill>
                <a:latin typeface="나눔스퀘어 Bold" pitchFamily="34" charset="0"/>
                <a:ea typeface="나눔스퀘어 Bold" pitchFamily="34" charset="-122"/>
                <a:cs typeface="나눔스퀘어 Bold" pitchFamily="34" charset="-120"/>
              </a:rPr>
              <a:t>견적 기준</a:t>
            </a:r>
          </a:p>
        </p:txBody>
      </p:sp>
      <p:sp>
        <p:nvSpPr>
          <p:cNvPr id="22" name="Text 19"/>
          <p:cNvSpPr/>
          <p:nvPr/>
        </p:nvSpPr>
        <p:spPr>
          <a:xfrm>
            <a:off x="2791428" y="3767328"/>
            <a:ext cx="1872000" cy="713232"/>
          </a:xfrm>
          <a:prstGeom prst="rect">
            <a:avLst/>
          </a:prstGeom>
          <a:solidFill>
            <a:srgbClr val="FBEEEE"/>
          </a:solidFill>
          <a:ln w="15875">
            <a:solidFill>
              <a:srgbClr val="C00000"/>
            </a:solidFill>
            <a:prstDash val="dash"/>
          </a:ln>
        </p:spPr>
        <p:txBody>
          <a:bodyPr wrap="square" lIns="381" tIns="381" rIns="381" bIns="381" rtlCol="0" anchor="ctr"/>
          <a:lstStyle/>
          <a:p>
            <a:pPr marL="0" indent="0" algn="ctr">
              <a:buNone/>
            </a:pPr>
            <a:r>
              <a:rPr lang="en-US" sz="1100" dirty="0">
                <a:solidFill>
                  <a:srgbClr val="262626"/>
                </a:solidFill>
                <a:latin typeface="나눔스퀘어 Bold" pitchFamily="34" charset="0"/>
                <a:ea typeface="나눔스퀘어 Bold" pitchFamily="34" charset="-122"/>
                <a:cs typeface="나눔스퀘어 Bold" pitchFamily="34" charset="-120"/>
              </a:rPr>
              <a:t>미래새한</a:t>
            </a:r>
          </a:p>
          <a:p>
            <a:pPr marL="0" indent="0" algn="ctr">
              <a:buNone/>
            </a:pPr>
            <a:r>
              <a:rPr lang="en-US" sz="1600" dirty="0">
                <a:solidFill>
                  <a:srgbClr val="C00000"/>
                </a:solidFill>
                <a:latin typeface="나눔스퀘어 ExtraBold" pitchFamily="34" charset="0"/>
                <a:ea typeface="나눔스퀘어 ExtraBold" pitchFamily="34" charset="-122"/>
                <a:cs typeface="나눔스퀘어 ExtraBold" pitchFamily="34" charset="-120"/>
              </a:rPr>
              <a:t>85</a:t>
            </a:r>
            <a:r>
              <a:rPr lang="en-US" sz="1150" dirty="0">
                <a:solidFill>
                  <a:srgbClr val="C00000"/>
                </a:solidFill>
                <a:latin typeface="나눔스퀘어 ExtraBold" pitchFamily="34" charset="0"/>
                <a:ea typeface="나눔스퀘어 ExtraBold" pitchFamily="34" charset="-122"/>
                <a:cs typeface="나눔스퀘어 ExtraBold" pitchFamily="34" charset="-120"/>
              </a:rPr>
              <a:t>백만원</a:t>
            </a:r>
          </a:p>
        </p:txBody>
      </p:sp>
      <p:graphicFrame>
        <p:nvGraphicFramePr>
          <p:cNvPr id="23" name="Table 1"/>
          <p:cNvGraphicFramePr>
            <a:graphicFrameLocks noGrp="1"/>
          </p:cNvGraphicFramePr>
          <p:nvPr>
            <p:extLst>
              <p:ext uri="{D42A27DB-BD31-4B8C-83A1-F6EECF244321}">
                <p14:modId xmlns:p14="http://schemas.microsoft.com/office/powerpoint/2010/main" val="2579542269"/>
              </p:ext>
            </p:extLst>
          </p:nvPr>
        </p:nvGraphicFramePr>
        <p:xfrm>
          <a:off x="2791428" y="4736592"/>
          <a:ext cx="1872000" cy="950976"/>
        </p:xfrm>
        <a:graphic>
          <a:graphicData uri="http://schemas.openxmlformats.org/drawingml/2006/table">
            <a:tbl>
              <a:tblPr/>
              <a:tblGrid>
                <a:gridCol w="1123200">
                  <a:extLst>
                    <a:ext uri="{9D8B030D-6E8A-4147-A177-3AD203B41FA5}">
                      <a16:colId xmlns:a16="http://schemas.microsoft.com/office/drawing/2014/main" val="20000"/>
                    </a:ext>
                  </a:extLst>
                </a:gridCol>
                <a:gridCol w="748800">
                  <a:extLst>
                    <a:ext uri="{9D8B030D-6E8A-4147-A177-3AD203B41FA5}">
                      <a16:colId xmlns:a16="http://schemas.microsoft.com/office/drawing/2014/main" val="20001"/>
                    </a:ext>
                  </a:extLst>
                </a:gridCol>
              </a:tblGrid>
              <a:tr h="292608">
                <a:tc>
                  <a:txBody>
                    <a:bodyPr anchor="ctr"/>
                    <a:lstStyle/>
                    <a:p>
                      <a:pPr marL="0" indent="0" algn="ctr">
                        <a:buNone/>
                      </a:pPr>
                      <a:r>
                        <a:rPr lang="en-US" sz="950" dirty="0">
                          <a:solidFill>
                            <a:srgbClr val="FFFFFF"/>
                          </a:solidFill>
                          <a:latin typeface="나눔스퀘어 Bold" pitchFamily="34" charset="0"/>
                          <a:ea typeface="나눔스퀘어 Bold" pitchFamily="34" charset="-122"/>
                          <a:cs typeface="나눔스퀘어 Bold" pitchFamily="34" charset="-120"/>
                        </a:rPr>
                        <a:t>구분</a:t>
                      </a:r>
                      <a:endParaRPr lang="en-US" sz="950" dirty="0">
                        <a:latin typeface="나눔스퀘어 Bold" charset="0"/>
                        <a:ea typeface="나눔스퀘어 Bold" charset="0"/>
                        <a:cs typeface="나눔스퀘어 Bold" charset="0"/>
                      </a:endParaRP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a:txBody>
                    <a:bodyPr anchor="ctr"/>
                    <a:lstStyle/>
                    <a:p>
                      <a:pPr marL="0" indent="0" algn="ctr">
                        <a:buNone/>
                      </a:pPr>
                      <a:r>
                        <a:rPr lang="en-US" sz="950" dirty="0">
                          <a:solidFill>
                            <a:srgbClr val="FFFFFF"/>
                          </a:solidFill>
                          <a:latin typeface="나눔스퀘어 Bold" pitchFamily="34" charset="0"/>
                          <a:ea typeface="나눔스퀘어 Bold" pitchFamily="34" charset="-122"/>
                          <a:cs typeface="나눔스퀘어 Bold" pitchFamily="34" charset="-120"/>
                        </a:rPr>
                        <a:t>제안가격</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extLst>
                  <a:ext uri="{0D108BD9-81ED-4DB2-BD59-A6C34878D82A}">
                    <a16:rowId xmlns:a16="http://schemas.microsoft.com/office/drawing/2014/main" val="10000"/>
                  </a:ext>
                </a:extLst>
              </a:tr>
              <a:tr h="329184">
                <a:tc>
                  <a:txBody>
                    <a:bodyPr anchor="ctr"/>
                    <a:lstStyle/>
                    <a:p>
                      <a:pPr marL="0" indent="0" algn="ctr">
                        <a:buNone/>
                      </a:pPr>
                      <a:r>
                        <a:rPr lang="en-US" sz="950" dirty="0">
                          <a:solidFill>
                            <a:srgbClr val="C00000"/>
                          </a:solidFill>
                          <a:latin typeface="나눔스퀘어 Bold" pitchFamily="34" charset="0"/>
                          <a:ea typeface="나눔스퀘어 Bold" pitchFamily="34" charset="-122"/>
                          <a:cs typeface="나눔스퀘어 Bold" pitchFamily="34" charset="-120"/>
                        </a:rPr>
                        <a:t>미래새한감정평가</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EEEE"/>
                    </a:solidFill>
                  </a:tcPr>
                </a:tc>
                <a:tc>
                  <a:txBody>
                    <a:bodyPr anchor="ctr"/>
                    <a:lstStyle/>
                    <a:p>
                      <a:pPr marL="0" indent="0" algn="ctr">
                        <a:buNone/>
                      </a:pPr>
                      <a:r>
                        <a:rPr lang="en-US" sz="950" dirty="0">
                          <a:solidFill>
                            <a:srgbClr val="C00000"/>
                          </a:solidFill>
                          <a:latin typeface="나눔스퀘어 ExtraBold" pitchFamily="34" charset="0"/>
                          <a:ea typeface="나눔스퀘어 ExtraBold" pitchFamily="34" charset="-122"/>
                          <a:cs typeface="나눔스퀘어 ExtraBold" pitchFamily="34" charset="-120"/>
                        </a:rPr>
                        <a:t>85.3백만원</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EEEE"/>
                    </a:solidFill>
                  </a:tcPr>
                </a:tc>
                <a:extLst>
                  <a:ext uri="{0D108BD9-81ED-4DB2-BD59-A6C34878D82A}">
                    <a16:rowId xmlns:a16="http://schemas.microsoft.com/office/drawing/2014/main" val="10001"/>
                  </a:ext>
                </a:extLst>
              </a:tr>
              <a:tr h="329184">
                <a:tc>
                  <a:txBody>
                    <a:bodyPr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타 제안사</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[미접수]</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5" name="Text 21"/>
          <p:cNvSpPr/>
          <p:nvPr/>
        </p:nvSpPr>
        <p:spPr>
          <a:xfrm>
            <a:off x="5130006" y="1805292"/>
            <a:ext cx="1872000" cy="457200"/>
          </a:xfrm>
          <a:prstGeom prst="rect">
            <a:avLst/>
          </a:prstGeom>
          <a:solidFill>
            <a:srgbClr val="A39382"/>
          </a:solidFill>
          <a:ln>
            <a:solidFill>
              <a:srgbClr val="A39382"/>
            </a:solidFill>
          </a:ln>
        </p:spPr>
        <p:txBody>
          <a:bodyPr wrap="square" lIns="381" tIns="381" rIns="381" bIns="381" rtlCol="0" anchor="ctr"/>
          <a:lstStyle/>
          <a:p>
            <a:pPr marL="0" indent="0" algn="ctr">
              <a:buNone/>
            </a:pPr>
            <a:r>
              <a:rPr lang="en-US" sz="1400" dirty="0">
                <a:solidFill>
                  <a:srgbClr val="FFFFFF"/>
                </a:solidFill>
                <a:latin typeface="나눔스퀘어 ExtraBold" pitchFamily="34" charset="0"/>
                <a:ea typeface="나눔스퀘어 ExtraBold" pitchFamily="34" charset="-122"/>
                <a:cs typeface="나눔스퀘어 ExtraBold" pitchFamily="34" charset="-120"/>
              </a:rPr>
              <a:t>재무실사</a:t>
            </a:r>
          </a:p>
        </p:txBody>
      </p:sp>
      <p:sp>
        <p:nvSpPr>
          <p:cNvPr id="26" name="Text 22"/>
          <p:cNvSpPr/>
          <p:nvPr/>
        </p:nvSpPr>
        <p:spPr>
          <a:xfrm>
            <a:off x="5130006" y="2262492"/>
            <a:ext cx="1872000" cy="821211"/>
          </a:xfrm>
          <a:prstGeom prst="rect">
            <a:avLst/>
          </a:prstGeom>
          <a:solidFill>
            <a:srgbClr val="F5F3F1"/>
          </a:solidFill>
          <a:ln w="6350">
            <a:solidFill>
              <a:srgbClr val="D9D9D9"/>
            </a:solidFill>
          </a:ln>
        </p:spPr>
        <p:txBody>
          <a:bodyPr wrap="square" lIns="50800" tIns="101600" rIns="50800" bIns="50800" rtlCol="0" anchor="ctr"/>
          <a:lstStyle/>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10년 현금흐름·투자자 수익률 분석</a:t>
            </a:r>
          </a:p>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DSCR 등 재무지표 검토</a:t>
            </a:r>
          </a:p>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재무분석보고서 작성</a:t>
            </a:r>
          </a:p>
        </p:txBody>
      </p:sp>
      <p:sp>
        <p:nvSpPr>
          <p:cNvPr id="27" name="Shape 23"/>
          <p:cNvSpPr/>
          <p:nvPr/>
        </p:nvSpPr>
        <p:spPr>
          <a:xfrm>
            <a:off x="5920740" y="3328416"/>
            <a:ext cx="347472" cy="347472"/>
          </a:xfrm>
          <a:prstGeom prst="downArrow">
            <a:avLst/>
          </a:prstGeom>
          <a:solidFill>
            <a:srgbClr val="C00000"/>
          </a:solidFill>
          <a:ln w="12700">
            <a:solidFill>
              <a:srgbClr val="C00000"/>
            </a:solidFill>
            <a:prstDash val="solid"/>
          </a:ln>
        </p:spPr>
        <p:txBody>
          <a:bodyPr anchor="ctr"/>
          <a:lstStyle/>
          <a:p>
            <a:endParaRPr lang="ko-KR" altLang="en-US"/>
          </a:p>
        </p:txBody>
      </p:sp>
      <p:sp>
        <p:nvSpPr>
          <p:cNvPr id="28" name="Text 24"/>
          <p:cNvSpPr/>
          <p:nvPr/>
        </p:nvSpPr>
        <p:spPr>
          <a:xfrm>
            <a:off x="6387084" y="3383280"/>
            <a:ext cx="676656" cy="237744"/>
          </a:xfrm>
          <a:prstGeom prst="roundRect">
            <a:avLst>
              <a:gd name="adj" fmla="val 46154"/>
            </a:avLst>
          </a:prstGeom>
          <a:solidFill>
            <a:srgbClr val="FFFFFF"/>
          </a:solidFill>
          <a:ln w="9525">
            <a:solidFill>
              <a:srgbClr val="C00000"/>
            </a:solidFill>
          </a:ln>
        </p:spPr>
        <p:txBody>
          <a:bodyPr wrap="square" lIns="0" tIns="0" rIns="0" bIns="0" rtlCol="0" anchor="ctr"/>
          <a:lstStyle/>
          <a:p>
            <a:pPr marL="0" indent="0" algn="ctr">
              <a:buNone/>
            </a:pPr>
            <a:r>
              <a:rPr lang="en-US" sz="950" dirty="0">
                <a:solidFill>
                  <a:srgbClr val="C00000"/>
                </a:solidFill>
                <a:latin typeface="나눔스퀘어 Bold" pitchFamily="34" charset="0"/>
                <a:ea typeface="나눔스퀘어 Bold" pitchFamily="34" charset="-122"/>
                <a:cs typeface="나눔스퀘어 Bold" pitchFamily="34" charset="-120"/>
              </a:rPr>
              <a:t>견적 기준</a:t>
            </a:r>
          </a:p>
        </p:txBody>
      </p:sp>
      <p:sp>
        <p:nvSpPr>
          <p:cNvPr id="29" name="Text 25"/>
          <p:cNvSpPr/>
          <p:nvPr/>
        </p:nvSpPr>
        <p:spPr>
          <a:xfrm>
            <a:off x="5130006" y="3767328"/>
            <a:ext cx="1872000" cy="713232"/>
          </a:xfrm>
          <a:prstGeom prst="rect">
            <a:avLst/>
          </a:prstGeom>
          <a:solidFill>
            <a:srgbClr val="FBEEEE"/>
          </a:solidFill>
          <a:ln w="15875">
            <a:solidFill>
              <a:srgbClr val="C00000"/>
            </a:solidFill>
            <a:prstDash val="dash"/>
          </a:ln>
        </p:spPr>
        <p:txBody>
          <a:bodyPr wrap="square" lIns="381" tIns="381" rIns="381" bIns="381" rtlCol="0" anchor="ctr"/>
          <a:lstStyle/>
          <a:p>
            <a:pPr marL="0" indent="0" algn="ctr">
              <a:buNone/>
            </a:pPr>
            <a:r>
              <a:rPr lang="en-US" sz="1100" dirty="0">
                <a:solidFill>
                  <a:srgbClr val="262626"/>
                </a:solidFill>
                <a:latin typeface="나눔스퀘어 Bold" pitchFamily="34" charset="0"/>
                <a:ea typeface="나눔스퀘어 Bold" pitchFamily="34" charset="-122"/>
                <a:cs typeface="나눔스퀘어 Bold" pitchFamily="34" charset="-120"/>
              </a:rPr>
              <a:t>우리회계법인</a:t>
            </a:r>
          </a:p>
          <a:p>
            <a:pPr marL="0" indent="0" algn="ctr">
              <a:buNone/>
            </a:pPr>
            <a:r>
              <a:rPr lang="en-US" sz="1600" dirty="0">
                <a:solidFill>
                  <a:srgbClr val="C00000"/>
                </a:solidFill>
                <a:latin typeface="나눔스퀘어 ExtraBold" pitchFamily="34" charset="0"/>
                <a:ea typeface="나눔스퀘어 ExtraBold" pitchFamily="34" charset="-122"/>
                <a:cs typeface="나눔스퀘어 ExtraBold" pitchFamily="34" charset="-120"/>
              </a:rPr>
              <a:t>40</a:t>
            </a:r>
            <a:r>
              <a:rPr lang="en-US" sz="1150" dirty="0">
                <a:solidFill>
                  <a:srgbClr val="C00000"/>
                </a:solidFill>
                <a:latin typeface="나눔스퀘어 ExtraBold" pitchFamily="34" charset="0"/>
                <a:ea typeface="나눔스퀘어 ExtraBold" pitchFamily="34" charset="-122"/>
                <a:cs typeface="나눔스퀘어 ExtraBold" pitchFamily="34" charset="-120"/>
              </a:rPr>
              <a:t>백만원</a:t>
            </a:r>
          </a:p>
        </p:txBody>
      </p:sp>
      <p:graphicFrame>
        <p:nvGraphicFramePr>
          <p:cNvPr id="30" name="Table 2"/>
          <p:cNvGraphicFramePr>
            <a:graphicFrameLocks noGrp="1"/>
          </p:cNvGraphicFramePr>
          <p:nvPr>
            <p:extLst>
              <p:ext uri="{D42A27DB-BD31-4B8C-83A1-F6EECF244321}">
                <p14:modId xmlns:p14="http://schemas.microsoft.com/office/powerpoint/2010/main" val="2266395365"/>
              </p:ext>
            </p:extLst>
          </p:nvPr>
        </p:nvGraphicFramePr>
        <p:xfrm>
          <a:off x="5130006" y="4736592"/>
          <a:ext cx="1872000" cy="950976"/>
        </p:xfrm>
        <a:graphic>
          <a:graphicData uri="http://schemas.openxmlformats.org/drawingml/2006/table">
            <a:tbl>
              <a:tblPr/>
              <a:tblGrid>
                <a:gridCol w="1123200">
                  <a:extLst>
                    <a:ext uri="{9D8B030D-6E8A-4147-A177-3AD203B41FA5}">
                      <a16:colId xmlns:a16="http://schemas.microsoft.com/office/drawing/2014/main" val="20000"/>
                    </a:ext>
                  </a:extLst>
                </a:gridCol>
                <a:gridCol w="748800">
                  <a:extLst>
                    <a:ext uri="{9D8B030D-6E8A-4147-A177-3AD203B41FA5}">
                      <a16:colId xmlns:a16="http://schemas.microsoft.com/office/drawing/2014/main" val="20001"/>
                    </a:ext>
                  </a:extLst>
                </a:gridCol>
              </a:tblGrid>
              <a:tr h="292608">
                <a:tc>
                  <a:txBody>
                    <a:bodyPr anchor="ctr"/>
                    <a:lstStyle/>
                    <a:p>
                      <a:pPr marL="0" indent="0" algn="ctr">
                        <a:buNone/>
                      </a:pPr>
                      <a:r>
                        <a:rPr lang="en-US" sz="950" dirty="0">
                          <a:solidFill>
                            <a:srgbClr val="FFFFFF"/>
                          </a:solidFill>
                          <a:latin typeface="나눔스퀘어 Bold" pitchFamily="34" charset="0"/>
                          <a:ea typeface="나눔스퀘어 Bold" pitchFamily="34" charset="-122"/>
                          <a:cs typeface="나눔스퀘어 Bold" pitchFamily="34" charset="-120"/>
                        </a:rPr>
                        <a:t>구분</a:t>
                      </a:r>
                      <a:endParaRPr lang="en-US" sz="950" dirty="0">
                        <a:latin typeface="나눔스퀘어 Bold" charset="0"/>
                        <a:ea typeface="나눔스퀘어 Bold" charset="0"/>
                        <a:cs typeface="나눔스퀘어 Bold" charset="0"/>
                      </a:endParaRP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a:txBody>
                    <a:bodyPr anchor="ctr"/>
                    <a:lstStyle/>
                    <a:p>
                      <a:pPr marL="0" indent="0" algn="ctr">
                        <a:buNone/>
                      </a:pPr>
                      <a:r>
                        <a:rPr lang="en-US" sz="950" dirty="0">
                          <a:solidFill>
                            <a:srgbClr val="FFFFFF"/>
                          </a:solidFill>
                          <a:latin typeface="나눔스퀘어 Bold" pitchFamily="34" charset="0"/>
                          <a:ea typeface="나눔스퀘어 Bold" pitchFamily="34" charset="-122"/>
                          <a:cs typeface="나눔스퀘어 Bold" pitchFamily="34" charset="-120"/>
                        </a:rPr>
                        <a:t>제안가격</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extLst>
                  <a:ext uri="{0D108BD9-81ED-4DB2-BD59-A6C34878D82A}">
                    <a16:rowId xmlns:a16="http://schemas.microsoft.com/office/drawing/2014/main" val="10000"/>
                  </a:ext>
                </a:extLst>
              </a:tr>
              <a:tr h="329184">
                <a:tc>
                  <a:txBody>
                    <a:bodyPr anchor="ctr"/>
                    <a:lstStyle/>
                    <a:p>
                      <a:pPr marL="0" indent="0" algn="ctr">
                        <a:buNone/>
                      </a:pPr>
                      <a:r>
                        <a:rPr lang="en-US" sz="950" dirty="0">
                          <a:solidFill>
                            <a:srgbClr val="C00000"/>
                          </a:solidFill>
                          <a:latin typeface="나눔스퀘어 Bold" pitchFamily="34" charset="0"/>
                          <a:ea typeface="나눔스퀘어 Bold" pitchFamily="34" charset="-122"/>
                          <a:cs typeface="나눔스퀘어 Bold" pitchFamily="34" charset="-120"/>
                        </a:rPr>
                        <a:t>우리회계법인</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EEEE"/>
                    </a:solidFill>
                  </a:tcPr>
                </a:tc>
                <a:tc>
                  <a:txBody>
                    <a:bodyPr anchor="ctr"/>
                    <a:lstStyle/>
                    <a:p>
                      <a:pPr marL="0" indent="0" algn="ctr">
                        <a:buNone/>
                      </a:pPr>
                      <a:r>
                        <a:rPr lang="en-US" sz="950" dirty="0">
                          <a:solidFill>
                            <a:srgbClr val="C00000"/>
                          </a:solidFill>
                          <a:latin typeface="나눔스퀘어 ExtraBold" pitchFamily="34" charset="0"/>
                          <a:ea typeface="나눔스퀘어 ExtraBold" pitchFamily="34" charset="-122"/>
                          <a:cs typeface="나눔스퀘어 ExtraBold" pitchFamily="34" charset="-120"/>
                        </a:rPr>
                        <a:t>40 백만원</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EEEE"/>
                    </a:solidFill>
                  </a:tcPr>
                </a:tc>
                <a:extLst>
                  <a:ext uri="{0D108BD9-81ED-4DB2-BD59-A6C34878D82A}">
                    <a16:rowId xmlns:a16="http://schemas.microsoft.com/office/drawing/2014/main" val="10001"/>
                  </a:ext>
                </a:extLst>
              </a:tr>
              <a:tr h="329184">
                <a:tc>
                  <a:txBody>
                    <a:bodyPr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타 제안사</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[미접수]</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2" name="Text 27"/>
          <p:cNvSpPr/>
          <p:nvPr/>
        </p:nvSpPr>
        <p:spPr>
          <a:xfrm>
            <a:off x="7468584" y="1805292"/>
            <a:ext cx="1872000" cy="457200"/>
          </a:xfrm>
          <a:prstGeom prst="rect">
            <a:avLst/>
          </a:prstGeom>
          <a:solidFill>
            <a:srgbClr val="A39382"/>
          </a:solidFill>
          <a:ln>
            <a:solidFill>
              <a:srgbClr val="A39382"/>
            </a:solidFill>
          </a:ln>
        </p:spPr>
        <p:txBody>
          <a:bodyPr wrap="square" lIns="381" tIns="381" rIns="381" bIns="381" rtlCol="0" anchor="ctr"/>
          <a:lstStyle/>
          <a:p>
            <a:pPr marL="0" indent="0" algn="ctr">
              <a:buNone/>
            </a:pPr>
            <a:r>
              <a:rPr lang="en-US" sz="1400" dirty="0">
                <a:solidFill>
                  <a:srgbClr val="FFFFFF"/>
                </a:solidFill>
                <a:latin typeface="나눔스퀘어 ExtraBold" pitchFamily="34" charset="0"/>
                <a:ea typeface="나눔스퀘어 ExtraBold" pitchFamily="34" charset="-122"/>
                <a:cs typeface="나눔스퀘어 ExtraBold" pitchFamily="34" charset="-120"/>
              </a:rPr>
              <a:t>물리실사</a:t>
            </a:r>
          </a:p>
        </p:txBody>
      </p:sp>
      <p:sp>
        <p:nvSpPr>
          <p:cNvPr id="33" name="Text 28"/>
          <p:cNvSpPr/>
          <p:nvPr/>
        </p:nvSpPr>
        <p:spPr>
          <a:xfrm>
            <a:off x="7468584" y="2262492"/>
            <a:ext cx="1872000" cy="821211"/>
          </a:xfrm>
          <a:prstGeom prst="rect">
            <a:avLst/>
          </a:prstGeom>
          <a:solidFill>
            <a:srgbClr val="F5F3F1"/>
          </a:solidFill>
          <a:ln w="6350">
            <a:solidFill>
              <a:srgbClr val="D9D9D9"/>
            </a:solidFill>
          </a:ln>
        </p:spPr>
        <p:txBody>
          <a:bodyPr wrap="square" lIns="50800" tIns="101600" rIns="50800" bIns="50800" rtlCol="0" anchor="ctr"/>
          <a:lstStyle/>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건축·구조·기계·전기·소방 실사</a:t>
            </a:r>
          </a:p>
          <a:p>
            <a:pPr marL="114300" indent="-114300">
              <a:spcAft>
                <a:spcPts val="300"/>
              </a:spcAft>
              <a:buSzPct val="100000"/>
              <a:buChar char="•"/>
            </a:pPr>
            <a:r>
              <a:rPr lang="en-US" sz="900" dirty="0">
                <a:solidFill>
                  <a:srgbClr val="262626"/>
                </a:solidFill>
                <a:latin typeface="나눔스퀘어" pitchFamily="34" charset="0"/>
                <a:ea typeface="나눔스퀘어" pitchFamily="34" charset="-122"/>
                <a:cs typeface="나눔스퀘어" pitchFamily="34" charset="-120"/>
              </a:rPr>
              <a:t>CAPEX 추정</a:t>
            </a:r>
          </a:p>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물리실사보고서 작성</a:t>
            </a:r>
          </a:p>
        </p:txBody>
      </p:sp>
      <p:sp>
        <p:nvSpPr>
          <p:cNvPr id="34" name="Shape 29"/>
          <p:cNvSpPr/>
          <p:nvPr/>
        </p:nvSpPr>
        <p:spPr>
          <a:xfrm>
            <a:off x="8259318" y="3328416"/>
            <a:ext cx="347472" cy="347472"/>
          </a:xfrm>
          <a:prstGeom prst="downArrow">
            <a:avLst/>
          </a:prstGeom>
          <a:solidFill>
            <a:srgbClr val="C00000"/>
          </a:solidFill>
          <a:ln w="12700">
            <a:solidFill>
              <a:srgbClr val="C00000"/>
            </a:solidFill>
            <a:prstDash val="solid"/>
          </a:ln>
        </p:spPr>
        <p:txBody>
          <a:bodyPr anchor="ctr"/>
          <a:lstStyle/>
          <a:p>
            <a:endParaRPr lang="ko-KR" altLang="en-US"/>
          </a:p>
        </p:txBody>
      </p:sp>
      <p:sp>
        <p:nvSpPr>
          <p:cNvPr id="35" name="Text 30"/>
          <p:cNvSpPr/>
          <p:nvPr/>
        </p:nvSpPr>
        <p:spPr>
          <a:xfrm>
            <a:off x="8725662" y="3383280"/>
            <a:ext cx="676656" cy="237744"/>
          </a:xfrm>
          <a:prstGeom prst="roundRect">
            <a:avLst>
              <a:gd name="adj" fmla="val 46154"/>
            </a:avLst>
          </a:prstGeom>
          <a:solidFill>
            <a:srgbClr val="FFFFFF"/>
          </a:solidFill>
          <a:ln w="9525">
            <a:solidFill>
              <a:srgbClr val="C00000"/>
            </a:solidFill>
          </a:ln>
        </p:spPr>
        <p:txBody>
          <a:bodyPr wrap="square" lIns="0" tIns="0" rIns="0" bIns="0" rtlCol="0" anchor="ctr"/>
          <a:lstStyle/>
          <a:p>
            <a:pPr marL="0" indent="0" algn="ctr">
              <a:buNone/>
            </a:pPr>
            <a:r>
              <a:rPr lang="en-US" sz="950" dirty="0">
                <a:solidFill>
                  <a:srgbClr val="C00000"/>
                </a:solidFill>
                <a:latin typeface="나눔스퀘어 Bold" pitchFamily="34" charset="0"/>
                <a:ea typeface="나눔스퀘어 Bold" pitchFamily="34" charset="-122"/>
                <a:cs typeface="나눔스퀘어 Bold" pitchFamily="34" charset="-120"/>
              </a:rPr>
              <a:t>견적 기준</a:t>
            </a:r>
          </a:p>
        </p:txBody>
      </p:sp>
      <p:sp>
        <p:nvSpPr>
          <p:cNvPr id="36" name="Text 31"/>
          <p:cNvSpPr/>
          <p:nvPr/>
        </p:nvSpPr>
        <p:spPr>
          <a:xfrm>
            <a:off x="7468584" y="3767328"/>
            <a:ext cx="1872000" cy="713232"/>
          </a:xfrm>
          <a:prstGeom prst="rect">
            <a:avLst/>
          </a:prstGeom>
          <a:solidFill>
            <a:srgbClr val="FBEEEE"/>
          </a:solidFill>
          <a:ln w="15875">
            <a:solidFill>
              <a:srgbClr val="C00000"/>
            </a:solidFill>
            <a:prstDash val="dash"/>
          </a:ln>
        </p:spPr>
        <p:txBody>
          <a:bodyPr wrap="square" lIns="381" tIns="381" rIns="381" bIns="381" rtlCol="0" anchor="ctr"/>
          <a:lstStyle/>
          <a:p>
            <a:pPr marL="0" indent="0" algn="ctr">
              <a:buNone/>
            </a:pPr>
            <a:r>
              <a:rPr lang="en-US" sz="1100" dirty="0">
                <a:solidFill>
                  <a:srgbClr val="262626"/>
                </a:solidFill>
                <a:latin typeface="나눔스퀘어 Bold" pitchFamily="34" charset="0"/>
                <a:ea typeface="나눔스퀘어 Bold" pitchFamily="34" charset="-122"/>
                <a:cs typeface="나눔스퀘어 Bold" pitchFamily="34" charset="-120"/>
              </a:rPr>
              <a:t>CBRE</a:t>
            </a:r>
          </a:p>
          <a:p>
            <a:pPr marL="0" indent="0" algn="ctr">
              <a:buNone/>
            </a:pPr>
            <a:r>
              <a:rPr lang="en-US" sz="1600" dirty="0">
                <a:solidFill>
                  <a:srgbClr val="C00000"/>
                </a:solidFill>
                <a:latin typeface="나눔스퀘어 ExtraBold" pitchFamily="34" charset="0"/>
                <a:ea typeface="나눔스퀘어 ExtraBold" pitchFamily="34" charset="-122"/>
                <a:cs typeface="나눔스퀘어 ExtraBold" pitchFamily="34" charset="-120"/>
              </a:rPr>
              <a:t>25</a:t>
            </a:r>
            <a:r>
              <a:rPr lang="en-US" sz="1150" dirty="0">
                <a:solidFill>
                  <a:srgbClr val="C00000"/>
                </a:solidFill>
                <a:latin typeface="나눔스퀘어 ExtraBold" pitchFamily="34" charset="0"/>
                <a:ea typeface="나눔스퀘어 ExtraBold" pitchFamily="34" charset="-122"/>
                <a:cs typeface="나눔스퀘어 ExtraBold" pitchFamily="34" charset="-120"/>
              </a:rPr>
              <a:t>백만원</a:t>
            </a:r>
          </a:p>
        </p:txBody>
      </p:sp>
      <p:graphicFrame>
        <p:nvGraphicFramePr>
          <p:cNvPr id="37" name="Table 3"/>
          <p:cNvGraphicFramePr>
            <a:graphicFrameLocks noGrp="1"/>
          </p:cNvGraphicFramePr>
          <p:nvPr>
            <p:extLst>
              <p:ext uri="{D42A27DB-BD31-4B8C-83A1-F6EECF244321}">
                <p14:modId xmlns:p14="http://schemas.microsoft.com/office/powerpoint/2010/main" val="4083057829"/>
              </p:ext>
            </p:extLst>
          </p:nvPr>
        </p:nvGraphicFramePr>
        <p:xfrm>
          <a:off x="7468584" y="4736592"/>
          <a:ext cx="1872000" cy="950976"/>
        </p:xfrm>
        <a:graphic>
          <a:graphicData uri="http://schemas.openxmlformats.org/drawingml/2006/table">
            <a:tbl>
              <a:tblPr/>
              <a:tblGrid>
                <a:gridCol w="1123200">
                  <a:extLst>
                    <a:ext uri="{9D8B030D-6E8A-4147-A177-3AD203B41FA5}">
                      <a16:colId xmlns:a16="http://schemas.microsoft.com/office/drawing/2014/main" val="20000"/>
                    </a:ext>
                  </a:extLst>
                </a:gridCol>
                <a:gridCol w="748800">
                  <a:extLst>
                    <a:ext uri="{9D8B030D-6E8A-4147-A177-3AD203B41FA5}">
                      <a16:colId xmlns:a16="http://schemas.microsoft.com/office/drawing/2014/main" val="20001"/>
                    </a:ext>
                  </a:extLst>
                </a:gridCol>
              </a:tblGrid>
              <a:tr h="292608">
                <a:tc>
                  <a:txBody>
                    <a:bodyPr anchor="ctr"/>
                    <a:lstStyle/>
                    <a:p>
                      <a:pPr marL="0" indent="0" algn="ctr">
                        <a:buNone/>
                      </a:pPr>
                      <a:r>
                        <a:rPr lang="en-US" sz="950" dirty="0">
                          <a:solidFill>
                            <a:srgbClr val="FFFFFF"/>
                          </a:solidFill>
                          <a:latin typeface="나눔스퀘어 Bold" pitchFamily="34" charset="0"/>
                          <a:ea typeface="나눔스퀘어 Bold" pitchFamily="34" charset="-122"/>
                          <a:cs typeface="나눔스퀘어 Bold" pitchFamily="34" charset="-120"/>
                        </a:rPr>
                        <a:t>구분</a:t>
                      </a:r>
                      <a:endParaRPr lang="en-US" sz="950" dirty="0">
                        <a:latin typeface="나눔스퀘어 Bold" charset="0"/>
                        <a:ea typeface="나눔스퀘어 Bold" charset="0"/>
                        <a:cs typeface="나눔스퀘어 Bold" charset="0"/>
                      </a:endParaRP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a:txBody>
                    <a:bodyPr anchor="ctr"/>
                    <a:lstStyle/>
                    <a:p>
                      <a:pPr marL="0" indent="0" algn="ctr">
                        <a:buNone/>
                      </a:pPr>
                      <a:r>
                        <a:rPr lang="en-US" sz="950" dirty="0">
                          <a:solidFill>
                            <a:srgbClr val="FFFFFF"/>
                          </a:solidFill>
                          <a:latin typeface="나눔스퀘어 Bold" pitchFamily="34" charset="0"/>
                          <a:ea typeface="나눔스퀘어 Bold" pitchFamily="34" charset="-122"/>
                          <a:cs typeface="나눔스퀘어 Bold" pitchFamily="34" charset="-120"/>
                        </a:rPr>
                        <a:t>제안가격</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extLst>
                  <a:ext uri="{0D108BD9-81ED-4DB2-BD59-A6C34878D82A}">
                    <a16:rowId xmlns:a16="http://schemas.microsoft.com/office/drawing/2014/main" val="10000"/>
                  </a:ext>
                </a:extLst>
              </a:tr>
              <a:tr h="329184">
                <a:tc>
                  <a:txBody>
                    <a:bodyPr anchor="ctr"/>
                    <a:lstStyle/>
                    <a:p>
                      <a:pPr marL="0" indent="0" algn="ctr">
                        <a:buNone/>
                      </a:pPr>
                      <a:r>
                        <a:rPr lang="en-US" sz="950" dirty="0">
                          <a:solidFill>
                            <a:srgbClr val="C00000"/>
                          </a:solidFill>
                          <a:latin typeface="나눔스퀘어 Bold" pitchFamily="34" charset="0"/>
                          <a:ea typeface="나눔스퀘어 Bold" pitchFamily="34" charset="-122"/>
                          <a:cs typeface="나눔스퀘어 Bold" pitchFamily="34" charset="-120"/>
                        </a:rPr>
                        <a:t>CBRE</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EEEE"/>
                    </a:solidFill>
                  </a:tcPr>
                </a:tc>
                <a:tc>
                  <a:txBody>
                    <a:bodyPr anchor="ctr"/>
                    <a:lstStyle/>
                    <a:p>
                      <a:pPr marL="0" indent="0" algn="ctr">
                        <a:buNone/>
                      </a:pPr>
                      <a:r>
                        <a:rPr lang="en-US" sz="950" dirty="0">
                          <a:solidFill>
                            <a:srgbClr val="C00000"/>
                          </a:solidFill>
                          <a:latin typeface="나눔스퀘어 ExtraBold" pitchFamily="34" charset="0"/>
                          <a:ea typeface="나눔스퀘어 ExtraBold" pitchFamily="34" charset="-122"/>
                          <a:cs typeface="나눔스퀘어 ExtraBold" pitchFamily="34" charset="-120"/>
                        </a:rPr>
                        <a:t>25 백만원</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EEEE"/>
                    </a:solidFill>
                  </a:tcPr>
                </a:tc>
                <a:extLst>
                  <a:ext uri="{0D108BD9-81ED-4DB2-BD59-A6C34878D82A}">
                    <a16:rowId xmlns:a16="http://schemas.microsoft.com/office/drawing/2014/main" val="10001"/>
                  </a:ext>
                </a:extLst>
              </a:tr>
              <a:tr h="329184">
                <a:tc>
                  <a:txBody>
                    <a:bodyPr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타 제안사</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[미접수]</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9" name="Text 33"/>
          <p:cNvSpPr/>
          <p:nvPr/>
        </p:nvSpPr>
        <p:spPr>
          <a:xfrm>
            <a:off x="9807162" y="1805292"/>
            <a:ext cx="1872000" cy="457200"/>
          </a:xfrm>
          <a:prstGeom prst="rect">
            <a:avLst/>
          </a:prstGeom>
          <a:solidFill>
            <a:srgbClr val="A39382"/>
          </a:solidFill>
          <a:ln>
            <a:solidFill>
              <a:srgbClr val="A39382"/>
            </a:solidFill>
          </a:ln>
        </p:spPr>
        <p:txBody>
          <a:bodyPr wrap="square" lIns="381" tIns="381" rIns="381" bIns="381" rtlCol="0" anchor="ctr"/>
          <a:lstStyle/>
          <a:p>
            <a:pPr marL="0" indent="0" algn="ctr">
              <a:buNone/>
            </a:pPr>
            <a:r>
              <a:rPr lang="en-US" sz="1400" dirty="0">
                <a:solidFill>
                  <a:srgbClr val="FFFFFF"/>
                </a:solidFill>
                <a:latin typeface="나눔스퀘어 ExtraBold" pitchFamily="34" charset="0"/>
                <a:ea typeface="나눔스퀘어 ExtraBold" pitchFamily="34" charset="-122"/>
                <a:cs typeface="나눔스퀘어 ExtraBold" pitchFamily="34" charset="-120"/>
              </a:rPr>
              <a:t>시장실사</a:t>
            </a:r>
          </a:p>
        </p:txBody>
      </p:sp>
      <p:sp>
        <p:nvSpPr>
          <p:cNvPr id="40" name="Text 34"/>
          <p:cNvSpPr/>
          <p:nvPr/>
        </p:nvSpPr>
        <p:spPr>
          <a:xfrm>
            <a:off x="9807162" y="2262492"/>
            <a:ext cx="1872000" cy="821211"/>
          </a:xfrm>
          <a:prstGeom prst="rect">
            <a:avLst/>
          </a:prstGeom>
          <a:solidFill>
            <a:srgbClr val="F5F3F1"/>
          </a:solidFill>
          <a:ln w="6350">
            <a:solidFill>
              <a:srgbClr val="D9D9D9"/>
            </a:solidFill>
          </a:ln>
        </p:spPr>
        <p:txBody>
          <a:bodyPr wrap="square" lIns="50800" tIns="101600" rIns="50800" bIns="50800" rtlCol="0" anchor="ctr"/>
          <a:lstStyle/>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시장조사보고서 작성</a:t>
            </a:r>
          </a:p>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매매·임대 거래사례 조사</a:t>
            </a:r>
          </a:p>
          <a:p>
            <a:pPr marL="114300" indent="-114300">
              <a:spcAft>
                <a:spcPts val="300"/>
              </a:spcAft>
              <a:buSzPct val="100000"/>
              <a:buChar char="•"/>
            </a:pPr>
            <a:r>
              <a:rPr lang="en-US" sz="900" dirty="0" err="1">
                <a:solidFill>
                  <a:srgbClr val="262626"/>
                </a:solidFill>
                <a:latin typeface="나눔스퀘어" pitchFamily="34" charset="0"/>
                <a:ea typeface="나눔스퀘어" pitchFamily="34" charset="-122"/>
                <a:cs typeface="나눔스퀘어" pitchFamily="34" charset="-120"/>
              </a:rPr>
              <a:t>적정 임대료(E.NOC) 분석</a:t>
            </a:r>
          </a:p>
        </p:txBody>
      </p:sp>
      <p:sp>
        <p:nvSpPr>
          <p:cNvPr id="41" name="Shape 35"/>
          <p:cNvSpPr/>
          <p:nvPr/>
        </p:nvSpPr>
        <p:spPr>
          <a:xfrm>
            <a:off x="10597896" y="3328416"/>
            <a:ext cx="347472" cy="347472"/>
          </a:xfrm>
          <a:prstGeom prst="downArrow">
            <a:avLst/>
          </a:prstGeom>
          <a:solidFill>
            <a:srgbClr val="C00000"/>
          </a:solidFill>
          <a:ln w="12700">
            <a:solidFill>
              <a:srgbClr val="C00000"/>
            </a:solidFill>
            <a:prstDash val="solid"/>
          </a:ln>
        </p:spPr>
        <p:txBody>
          <a:bodyPr anchor="ctr"/>
          <a:lstStyle/>
          <a:p>
            <a:endParaRPr lang="ko-KR" altLang="en-US"/>
          </a:p>
        </p:txBody>
      </p:sp>
      <p:sp>
        <p:nvSpPr>
          <p:cNvPr id="42" name="Text 36"/>
          <p:cNvSpPr/>
          <p:nvPr/>
        </p:nvSpPr>
        <p:spPr>
          <a:xfrm>
            <a:off x="11064240" y="3383280"/>
            <a:ext cx="676656" cy="237744"/>
          </a:xfrm>
          <a:prstGeom prst="roundRect">
            <a:avLst>
              <a:gd name="adj" fmla="val 46154"/>
            </a:avLst>
          </a:prstGeom>
          <a:solidFill>
            <a:srgbClr val="FFFFFF"/>
          </a:solidFill>
          <a:ln w="9525">
            <a:solidFill>
              <a:srgbClr val="C00000"/>
            </a:solidFill>
          </a:ln>
        </p:spPr>
        <p:txBody>
          <a:bodyPr wrap="square" lIns="0" tIns="0" rIns="0" bIns="0" rtlCol="0" anchor="ctr"/>
          <a:lstStyle/>
          <a:p>
            <a:pPr marL="0" indent="0" algn="ctr">
              <a:buNone/>
            </a:pPr>
            <a:r>
              <a:rPr lang="en-US" sz="950" dirty="0">
                <a:solidFill>
                  <a:srgbClr val="C00000"/>
                </a:solidFill>
                <a:latin typeface="나눔스퀘어 Bold" pitchFamily="34" charset="0"/>
                <a:ea typeface="나눔스퀘어 Bold" pitchFamily="34" charset="-122"/>
                <a:cs typeface="나눔스퀘어 Bold" pitchFamily="34" charset="-120"/>
              </a:rPr>
              <a:t>견적 기준</a:t>
            </a:r>
          </a:p>
        </p:txBody>
      </p:sp>
      <p:sp>
        <p:nvSpPr>
          <p:cNvPr id="43" name="Text 37"/>
          <p:cNvSpPr/>
          <p:nvPr/>
        </p:nvSpPr>
        <p:spPr>
          <a:xfrm>
            <a:off x="9807162" y="3767328"/>
            <a:ext cx="1872000" cy="713232"/>
          </a:xfrm>
          <a:prstGeom prst="rect">
            <a:avLst/>
          </a:prstGeom>
          <a:solidFill>
            <a:srgbClr val="FBEEEE"/>
          </a:solidFill>
          <a:ln w="15875">
            <a:solidFill>
              <a:srgbClr val="C00000"/>
            </a:solidFill>
            <a:prstDash val="dash"/>
          </a:ln>
        </p:spPr>
        <p:txBody>
          <a:bodyPr wrap="square" lIns="381" tIns="381" rIns="381" bIns="381" rtlCol="0" anchor="ctr"/>
          <a:lstStyle/>
          <a:p>
            <a:pPr marL="0" indent="0" algn="ctr">
              <a:buNone/>
            </a:pPr>
            <a:r>
              <a:rPr lang="en-US" sz="1100" dirty="0">
                <a:solidFill>
                  <a:srgbClr val="262626"/>
                </a:solidFill>
                <a:latin typeface="나눔스퀘어 Bold" pitchFamily="34" charset="0"/>
                <a:ea typeface="나눔스퀘어 Bold" pitchFamily="34" charset="-122"/>
                <a:cs typeface="나눔스퀘어 Bold" pitchFamily="34" charset="-120"/>
              </a:rPr>
              <a:t>Savills</a:t>
            </a:r>
          </a:p>
          <a:p>
            <a:pPr marL="0" indent="0" algn="ctr">
              <a:buNone/>
            </a:pPr>
            <a:r>
              <a:rPr lang="en-US" sz="1600" dirty="0">
                <a:solidFill>
                  <a:srgbClr val="C00000"/>
                </a:solidFill>
                <a:latin typeface="나눔스퀘어 ExtraBold" pitchFamily="34" charset="0"/>
                <a:ea typeface="나눔스퀘어 ExtraBold" pitchFamily="34" charset="-122"/>
                <a:cs typeface="나눔스퀘어 ExtraBold" pitchFamily="34" charset="-120"/>
              </a:rPr>
              <a:t>40</a:t>
            </a:r>
            <a:r>
              <a:rPr lang="en-US" sz="1150" dirty="0">
                <a:solidFill>
                  <a:srgbClr val="C00000"/>
                </a:solidFill>
                <a:latin typeface="나눔스퀘어 ExtraBold" pitchFamily="34" charset="0"/>
                <a:ea typeface="나눔스퀘어 ExtraBold" pitchFamily="34" charset="-122"/>
                <a:cs typeface="나눔스퀘어 ExtraBold" pitchFamily="34" charset="-120"/>
              </a:rPr>
              <a:t>백만원</a:t>
            </a:r>
          </a:p>
        </p:txBody>
      </p:sp>
      <p:graphicFrame>
        <p:nvGraphicFramePr>
          <p:cNvPr id="44" name="Table 4"/>
          <p:cNvGraphicFramePr>
            <a:graphicFrameLocks noGrp="1"/>
          </p:cNvGraphicFramePr>
          <p:nvPr>
            <p:extLst>
              <p:ext uri="{D42A27DB-BD31-4B8C-83A1-F6EECF244321}">
                <p14:modId xmlns:p14="http://schemas.microsoft.com/office/powerpoint/2010/main" val="2754651108"/>
              </p:ext>
            </p:extLst>
          </p:nvPr>
        </p:nvGraphicFramePr>
        <p:xfrm>
          <a:off x="9807162" y="4736592"/>
          <a:ext cx="1872000" cy="950976"/>
        </p:xfrm>
        <a:graphic>
          <a:graphicData uri="http://schemas.openxmlformats.org/drawingml/2006/table">
            <a:tbl>
              <a:tblPr/>
              <a:tblGrid>
                <a:gridCol w="1123200">
                  <a:extLst>
                    <a:ext uri="{9D8B030D-6E8A-4147-A177-3AD203B41FA5}">
                      <a16:colId xmlns:a16="http://schemas.microsoft.com/office/drawing/2014/main" val="20000"/>
                    </a:ext>
                  </a:extLst>
                </a:gridCol>
                <a:gridCol w="748800">
                  <a:extLst>
                    <a:ext uri="{9D8B030D-6E8A-4147-A177-3AD203B41FA5}">
                      <a16:colId xmlns:a16="http://schemas.microsoft.com/office/drawing/2014/main" val="20001"/>
                    </a:ext>
                  </a:extLst>
                </a:gridCol>
              </a:tblGrid>
              <a:tr h="292608">
                <a:tc>
                  <a:txBody>
                    <a:bodyPr anchor="ctr"/>
                    <a:lstStyle/>
                    <a:p>
                      <a:pPr marL="0" indent="0" algn="ctr">
                        <a:buNone/>
                      </a:pPr>
                      <a:r>
                        <a:rPr lang="en-US" sz="950" dirty="0">
                          <a:solidFill>
                            <a:srgbClr val="FFFFFF"/>
                          </a:solidFill>
                          <a:latin typeface="나눔스퀘어 Bold" pitchFamily="34" charset="0"/>
                          <a:ea typeface="나눔스퀘어 Bold" pitchFamily="34" charset="-122"/>
                          <a:cs typeface="나눔스퀘어 Bold" pitchFamily="34" charset="-120"/>
                        </a:rPr>
                        <a:t>구분</a:t>
                      </a:r>
                      <a:endParaRPr lang="en-US" sz="950" dirty="0">
                        <a:latin typeface="나눔스퀘어 Bold" charset="0"/>
                        <a:ea typeface="나눔스퀘어 Bold" charset="0"/>
                        <a:cs typeface="나눔스퀘어 Bold" charset="0"/>
                      </a:endParaRP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tc>
                  <a:txBody>
                    <a:bodyPr anchor="ctr"/>
                    <a:lstStyle/>
                    <a:p>
                      <a:pPr marL="0" indent="0" algn="ctr">
                        <a:buNone/>
                      </a:pPr>
                      <a:r>
                        <a:rPr lang="en-US" sz="950" dirty="0">
                          <a:solidFill>
                            <a:srgbClr val="FFFFFF"/>
                          </a:solidFill>
                          <a:latin typeface="나눔스퀘어 Bold" pitchFamily="34" charset="0"/>
                          <a:ea typeface="나눔스퀘어 Bold" pitchFamily="34" charset="-122"/>
                          <a:cs typeface="나눔스퀘어 Bold" pitchFamily="34" charset="-120"/>
                        </a:rPr>
                        <a:t>제안가격</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9382"/>
                    </a:solidFill>
                  </a:tcPr>
                </a:tc>
                <a:extLst>
                  <a:ext uri="{0D108BD9-81ED-4DB2-BD59-A6C34878D82A}">
                    <a16:rowId xmlns:a16="http://schemas.microsoft.com/office/drawing/2014/main" val="10000"/>
                  </a:ext>
                </a:extLst>
              </a:tr>
              <a:tr h="329184">
                <a:tc>
                  <a:txBody>
                    <a:bodyPr anchor="ctr"/>
                    <a:lstStyle/>
                    <a:p>
                      <a:pPr marL="0" indent="0" algn="ctr">
                        <a:buNone/>
                      </a:pPr>
                      <a:r>
                        <a:rPr lang="en-US" sz="950" dirty="0">
                          <a:solidFill>
                            <a:srgbClr val="C00000"/>
                          </a:solidFill>
                          <a:latin typeface="나눔스퀘어 Bold" pitchFamily="34" charset="0"/>
                          <a:ea typeface="나눔스퀘어 Bold" pitchFamily="34" charset="-122"/>
                          <a:cs typeface="나눔스퀘어 Bold" pitchFamily="34" charset="-120"/>
                        </a:rPr>
                        <a:t>세빌스(Savills)</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EEEE"/>
                    </a:solidFill>
                  </a:tcPr>
                </a:tc>
                <a:tc>
                  <a:txBody>
                    <a:bodyPr anchor="ctr"/>
                    <a:lstStyle/>
                    <a:p>
                      <a:pPr marL="0" indent="0" algn="ctr">
                        <a:buNone/>
                      </a:pPr>
                      <a:r>
                        <a:rPr lang="en-US" sz="950" dirty="0">
                          <a:solidFill>
                            <a:srgbClr val="C00000"/>
                          </a:solidFill>
                          <a:latin typeface="나눔스퀘어 ExtraBold" pitchFamily="34" charset="0"/>
                          <a:ea typeface="나눔스퀘어 ExtraBold" pitchFamily="34" charset="-122"/>
                          <a:cs typeface="나눔스퀘어 ExtraBold" pitchFamily="34" charset="-120"/>
                        </a:rPr>
                        <a:t>40 백만원</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EEEE"/>
                    </a:solidFill>
                  </a:tcPr>
                </a:tc>
                <a:extLst>
                  <a:ext uri="{0D108BD9-81ED-4DB2-BD59-A6C34878D82A}">
                    <a16:rowId xmlns:a16="http://schemas.microsoft.com/office/drawing/2014/main" val="10001"/>
                  </a:ext>
                </a:extLst>
              </a:tr>
              <a:tr h="329184">
                <a:tc>
                  <a:txBody>
                    <a:bodyPr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타 제안사</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3F1"/>
                    </a:solidFill>
                  </a:tcPr>
                </a:tc>
                <a:tc>
                  <a:txBody>
                    <a:bodyPr anchor="ctr"/>
                    <a:lstStyle/>
                    <a:p>
                      <a:pPr marL="0" indent="0" algn="ctr">
                        <a:buNone/>
                      </a:pPr>
                      <a:r>
                        <a:rPr lang="en-US" sz="950" dirty="0">
                          <a:solidFill>
                            <a:srgbClr val="262626"/>
                          </a:solidFill>
                          <a:latin typeface="나눔스퀘어" pitchFamily="34" charset="0"/>
                          <a:ea typeface="나눔스퀘어" pitchFamily="34" charset="-122"/>
                          <a:cs typeface="나눔스퀘어" pitchFamily="34" charset="-120"/>
                        </a:rPr>
                        <a:t>[미접수]</a:t>
                      </a:r>
                    </a:p>
                  </a:txBody>
                  <a:tcPr marL="27432" marR="27432"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5" name="Text 38"/>
          <p:cNvSpPr txBox="1"/>
          <p:nvPr/>
        </p:nvSpPr>
        <p:spPr>
          <a:xfrm>
            <a:off x="444303" y="5724144"/>
            <a:ext cx="1874520" cy="237744"/>
          </a:xfrm>
          <a:prstGeom prst="rect">
            <a:avLst/>
          </a:prstGeom>
          <a:noFill/>
          <a:ln/>
        </p:spPr>
        <p:txBody>
          <a:bodyPr wrap="square" lIns="381" tIns="381" rIns="381" bIns="381" rtlCol="0" anchor="ctr"/>
          <a:lstStyle/>
          <a:p>
            <a:pPr marL="0" indent="0">
              <a:buNone/>
            </a:pPr>
            <a:r>
              <a:rPr lang="en-US" sz="950" dirty="0">
                <a:solidFill>
                  <a:srgbClr val="7F7F7F"/>
                </a:solidFill>
                <a:latin typeface="나눔스퀘어" pitchFamily="34" charset="0"/>
                <a:ea typeface="나눔스퀘어" pitchFamily="34" charset="-122"/>
                <a:cs typeface="나눔스퀘어" pitchFamily="34" charset="-120"/>
              </a:rPr>
              <a:t>※ 법률실사보고서 ’26.09.09</a:t>
            </a:r>
          </a:p>
        </p:txBody>
      </p:sp>
      <p:sp>
        <p:nvSpPr>
          <p:cNvPr id="47" name="Text 38">
            <a:extLst>
              <a:ext uri="{FF2B5EF4-FFF2-40B4-BE49-F238E27FC236}">
                <a16:creationId xmlns:a16="http://schemas.microsoft.com/office/drawing/2014/main" id="{8C260385-7513-A293-6A6A-A6E2B3E7A4D7}"/>
              </a:ext>
            </a:extLst>
          </p:cNvPr>
          <p:cNvSpPr txBox="1"/>
          <p:nvPr/>
        </p:nvSpPr>
        <p:spPr>
          <a:xfrm>
            <a:off x="2788978" y="5724144"/>
            <a:ext cx="1874520" cy="237744"/>
          </a:xfrm>
          <a:prstGeom prst="rect">
            <a:avLst/>
          </a:prstGeom>
          <a:noFill/>
          <a:ln/>
        </p:spPr>
        <p:txBody>
          <a:bodyPr wrap="square" lIns="381" tIns="381" rIns="381" bIns="381" rtlCol="0" anchor="ctr"/>
          <a:lstStyle/>
          <a:p>
            <a:pPr marL="0" indent="0">
              <a:buNone/>
            </a:pPr>
            <a:r>
              <a:rPr lang="en-US" sz="950" dirty="0">
                <a:solidFill>
                  <a:srgbClr val="7F7F7F"/>
                </a:solidFill>
                <a:latin typeface="나눔스퀘어" pitchFamily="34" charset="0"/>
                <a:ea typeface="나눔스퀘어" pitchFamily="34" charset="-122"/>
                <a:cs typeface="나눔스퀘어" pitchFamily="34" charset="-120"/>
              </a:rPr>
              <a:t>※ 담보 감정평가서(우리은행 외)</a:t>
            </a:r>
          </a:p>
        </p:txBody>
      </p:sp>
      <p:sp>
        <p:nvSpPr>
          <p:cNvPr id="49" name="Text 38">
            <a:extLst>
              <a:ext uri="{FF2B5EF4-FFF2-40B4-BE49-F238E27FC236}">
                <a16:creationId xmlns:a16="http://schemas.microsoft.com/office/drawing/2014/main" id="{AE7E79C4-6F38-B2B6-3C34-F8B58A19DC64}"/>
              </a:ext>
            </a:extLst>
          </p:cNvPr>
          <p:cNvSpPr txBox="1"/>
          <p:nvPr/>
        </p:nvSpPr>
        <p:spPr>
          <a:xfrm>
            <a:off x="5130168" y="5724144"/>
            <a:ext cx="1874520" cy="237744"/>
          </a:xfrm>
          <a:prstGeom prst="rect">
            <a:avLst/>
          </a:prstGeom>
          <a:noFill/>
          <a:ln/>
        </p:spPr>
        <p:txBody>
          <a:bodyPr wrap="square" lIns="381" tIns="381" rIns="381" bIns="381" rtlCol="0" anchor="ctr"/>
          <a:lstStyle/>
          <a:p>
            <a:pPr marL="0" indent="0">
              <a:buNone/>
            </a:pPr>
            <a:r>
              <a:rPr lang="en-US" sz="950" dirty="0">
                <a:solidFill>
                  <a:srgbClr val="7F7F7F"/>
                </a:solidFill>
                <a:latin typeface="나눔스퀘어" pitchFamily="34" charset="0"/>
                <a:ea typeface="나눔스퀘어" pitchFamily="34" charset="-122"/>
                <a:cs typeface="나눔스퀘어" pitchFamily="34" charset="-120"/>
              </a:rPr>
              <a:t>※ 재무분석보고서 ’26.08.14</a:t>
            </a:r>
          </a:p>
        </p:txBody>
      </p:sp>
      <p:sp>
        <p:nvSpPr>
          <p:cNvPr id="51" name="Text 38">
            <a:extLst>
              <a:ext uri="{FF2B5EF4-FFF2-40B4-BE49-F238E27FC236}">
                <a16:creationId xmlns:a16="http://schemas.microsoft.com/office/drawing/2014/main" id="{7B8D2273-ACB2-6BC9-1A42-17E488AD5A3A}"/>
              </a:ext>
            </a:extLst>
          </p:cNvPr>
          <p:cNvSpPr txBox="1"/>
          <p:nvPr/>
        </p:nvSpPr>
        <p:spPr>
          <a:xfrm>
            <a:off x="7460037" y="5724144"/>
            <a:ext cx="1874520" cy="237744"/>
          </a:xfrm>
          <a:prstGeom prst="rect">
            <a:avLst/>
          </a:prstGeom>
          <a:noFill/>
          <a:ln/>
        </p:spPr>
        <p:txBody>
          <a:bodyPr wrap="square" lIns="381" tIns="381" rIns="381" bIns="381" rtlCol="0" anchor="ctr"/>
          <a:lstStyle/>
          <a:p>
            <a:pPr marL="0" indent="0">
              <a:buNone/>
            </a:pPr>
            <a:r>
              <a:rPr lang="en-US" sz="950" dirty="0">
                <a:solidFill>
                  <a:srgbClr val="7F7F7F"/>
                </a:solidFill>
                <a:latin typeface="나눔스퀘어" pitchFamily="34" charset="0"/>
                <a:ea typeface="나눔스퀘어" pitchFamily="34" charset="-122"/>
                <a:cs typeface="나눔스퀘어" pitchFamily="34" charset="-120"/>
              </a:rPr>
              <a:t>※ 물리실사보고서 ’26.08.31</a:t>
            </a:r>
          </a:p>
        </p:txBody>
      </p:sp>
      <p:sp>
        <p:nvSpPr>
          <p:cNvPr id="51" name="Text 38">
            <a:extLst>
              <a:ext uri="{FF2B5EF4-FFF2-40B4-BE49-F238E27FC236}">
                <a16:creationId xmlns:a16="http://schemas.microsoft.com/office/drawing/2014/main" id="{7B8D2273-ACB2-6BC9-1A42-17E488AD5A3A}"/>
              </a:ext>
            </a:extLst>
          </p:cNvPr>
          <p:cNvSpPr txBox="1"/>
          <p:nvPr/>
        </p:nvSpPr>
        <p:spPr>
          <a:xfrm>
            <a:off x="9807162" y="5724144"/>
            <a:ext cx="1874520" cy="237744"/>
          </a:xfrm>
          <a:prstGeom prst="rect">
            <a:avLst/>
          </a:prstGeom>
          <a:noFill/>
          <a:ln/>
        </p:spPr>
        <p:txBody>
          <a:bodyPr wrap="square" lIns="381" tIns="381" rIns="381" bIns="381" rtlCol="0" anchor="ctr"/>
          <a:lstStyle/>
          <a:p>
            <a:pPr marL="0" indent="0">
              <a:buNone/>
            </a:pPr>
            <a:r>
              <a:rPr lang="en-US" sz="950" dirty="0">
                <a:solidFill>
                  <a:srgbClr val="7F7F7F"/>
                </a:solidFill>
                <a:latin typeface="나눔스퀘어" pitchFamily="34" charset="0"/>
                <a:ea typeface="나눔스퀘어" pitchFamily="34" charset="-122"/>
                <a:cs typeface="나눔스퀘어" pitchFamily="34" charset="-120"/>
              </a:rPr>
              <a:t>※ 시장조사보고서 ’26.08.10</a:t>
            </a:r>
          </a:p>
        </p:txBody>
      </p:sp>
      <p:sp>
        <p:nvSpPr>
          <p:cNvPr id="52" name="TextBox 51"/>
          <p:cNvSpPr txBox="1"/>
          <p:nvPr/>
        </p:nvSpPr>
        <p:spPr>
          <a:xfrm>
            <a:off x="448056" y="6565392"/>
            <a:ext cx="11338560" cy="237744"/>
          </a:xfrm>
          <a:prstGeom prst="rect">
            <a:avLst/>
          </a:prstGeom>
          <a:noFill/>
        </p:spPr>
        <p:txBody>
          <a:bodyPr wrap="square" anchor="ctr">
            <a:spAutoFit/>
          </a:bodyPr>
          <a:lstStyle/>
          <a:p>
            <a:r>
              <a:rPr sz="750">
                <a:latin typeface="나눔스퀘어"/>
                <a:ea typeface="나눔스퀘어"/>
                <a:cs typeface="나눔스퀘어"/>
              </a:rPr>
              <a:t>※ 수수료: 기준 재무모델 v03(’26.09.30) 실사/자문비용 견적 반영액(감정 85.3·법률 80·재무 40·시장 40·물리 25, 합계 270.3백만원, 소유권이전비용 76백만원 별도). VAT 포함 여부·성공불 여부·경쟁 제안가격 [확인 필요].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584</Words>
  <Application>Microsoft Office PowerPoint</Application>
  <PresentationFormat>와이드스크린</PresentationFormat>
  <Paragraphs>280</Paragraphs>
  <Slides>2</Slides>
  <Notes>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vt:i4>
      </vt:variant>
    </vt:vector>
  </HeadingPairs>
  <TitlesOfParts>
    <vt:vector size="7" baseType="lpstr">
      <vt:lpstr>나눔스퀘어</vt:lpstr>
      <vt:lpstr>나눔스퀘어 Bold</vt:lpstr>
      <vt:lpstr>나눔스퀘어 ExtraBold</vt:lpstr>
      <vt:lpstr>Arial</vt:lpstr>
      <vt:lpstr>Office Theme</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윤 상원</cp:lastModifiedBy>
  <cp:revision>18</cp:revision>
  <cp:lastPrinted>2026-10-06T01:39:36Z</cp:lastPrinted>
  <dcterms:created xsi:type="dcterms:W3CDTF">2026-10-02T02:28:43Z</dcterms:created>
  <dcterms:modified xsi:type="dcterms:W3CDTF">2026-10-06T01:43:32Z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FDY2VVBL4xkyidNR1EI0L9e7FUg202504030000000</vt:lpwstr>
  </property>
  <property fmtid="{D5CDD505-2E9C-101B-9397-08002B2CF9AE}" pid="3" name="docPath">
    <vt:lpwstr>VDpcMC4g66as7Lig7KeA7JuQ7YyAKDIwMjF+KVwyMS4g7Yis7J6Q7Ius7J2Y7JyE7JuQ7ZqMXDAuIOq3nOyglVzimIXsi6zsnZjsnpDro4wg6rSA66CoIOqwgOydtOuTnOudvOyduFzilqAg64yA7ZGc64uYIOyngOyLnOyWkeyLnV/smrDrs7jruJTrnbzsnbjrk5wgKOuhr+uNsOuNle2PieusvOulmCkucHB0eA==</vt:lpwstr>
  </property>
  <property fmtid="{D5CDD505-2E9C-101B-9397-08002B2CF9AE}" pid="4" name="docUid">
    <vt:lpwstr>dNZoZMKbvyP8WkkyiekIVOZe4HY</vt:lpwstr>
  </property>
  <property fmtid="{D5CDD505-2E9C-101B-9397-08002B2CF9AE}" pid="5" name="parentBranchUid">
    <vt:lpwstr>dNZoZMKbvyP8WkkyiekIVOZe4HY202504070000000</vt:lpwstr>
  </property>
</Properties>
</file>