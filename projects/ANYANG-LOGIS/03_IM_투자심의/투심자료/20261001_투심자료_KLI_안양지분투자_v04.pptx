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87" r:id="rId2"/>
  </p:sldMasterIdLst>
  <p:notesMasterIdLst>
    <p:notesMasterId r:id="rId22"/>
  </p:notesMasterIdLst>
  <p:handoutMasterIdLst>
    <p:handoutMasterId r:id="rId23"/>
  </p:handoutMasterIdLst>
  <p:sldIdLst>
    <p:sldId id="1756" r:id="rId3"/>
    <p:sldId id="1175" r:id="rId4"/>
    <p:sldId id="1176" r:id="rId5"/>
    <p:sldId id="1657" r:id="rId6"/>
    <p:sldId id="2076139243" r:id="rId7"/>
    <p:sldId id="2076139241" r:id="rId8"/>
    <p:sldId id="1822" r:id="rId9"/>
    <p:sldId id="2076139242" r:id="rId10"/>
    <p:sldId id="1764" r:id="rId11"/>
    <p:sldId id="1809" r:id="rId12"/>
    <p:sldId id="2076139239" r:id="rId13"/>
    <p:sldId id="2076139238" r:id="rId14"/>
    <p:sldId id="1786" r:id="rId15"/>
    <p:sldId id="1793" r:id="rId16"/>
    <p:sldId id="1781" r:id="rId17"/>
    <p:sldId id="1763" r:id="rId18"/>
    <p:sldId id="2076139256" r:id="rId19"/>
    <p:sldId id="1790" r:id="rId20"/>
    <p:sldId id="1780" r:id="rId21"/>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28" userDrawn="1">
          <p15:clr>
            <a:srgbClr val="A4A3A4"/>
          </p15:clr>
        </p15:guide>
        <p15:guide id="20" orient="horz" pos="1360"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3458" userDrawn="1">
          <p15:clr>
            <a:srgbClr val="A4A3A4"/>
          </p15:clr>
        </p15:guide>
        <p15:guide id="32" orient="horz" pos="90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2E50"/>
    <a:srgbClr val="9DC3E6"/>
    <a:srgbClr val="FFF2CC"/>
    <a:srgbClr val="F8CBAD"/>
    <a:srgbClr val="C00000"/>
    <a:srgbClr val="BFBFBF"/>
    <a:srgbClr val="0000FF"/>
    <a:srgbClr val="2E75B6"/>
    <a:srgbClr val="00206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6242" autoAdjust="0"/>
  </p:normalViewPr>
  <p:slideViewPr>
    <p:cSldViewPr showGuides="1">
      <p:cViewPr varScale="1">
        <p:scale>
          <a:sx n="97" d="100"/>
          <a:sy n="97" d="100"/>
        </p:scale>
        <p:origin x="1710" y="90"/>
      </p:cViewPr>
      <p:guideLst>
        <p:guide orient="horz" pos="4195"/>
        <p:guide orient="horz" pos="680"/>
        <p:guide orient="horz" pos="1111"/>
        <p:guide orient="horz" pos="3628"/>
        <p:guide orient="horz" pos="1360"/>
        <p:guide orient="horz" pos="4105"/>
        <p:guide pos="601"/>
        <p:guide pos="1780"/>
        <p:guide pos="396"/>
        <p:guide pos="1689"/>
        <p:guide pos="4842"/>
        <p:guide orient="horz" pos="2993"/>
        <p:guide pos="3458"/>
        <p:guide orient="horz" pos="907"/>
      </p:guideLst>
    </p:cSldViewPr>
  </p:slideViewPr>
  <p:outlineViewPr>
    <p:cViewPr>
      <p:scale>
        <a:sx n="33" d="100"/>
        <a:sy n="33" d="100"/>
      </p:scale>
      <p:origin x="0" y="-7674"/>
    </p:cViewPr>
  </p:outlineViewPr>
  <p:notesTextViewPr>
    <p:cViewPr>
      <p:scale>
        <a:sx n="100" d="100"/>
        <a:sy n="100" d="100"/>
      </p:scale>
      <p:origin x="0" y="0"/>
    </p:cViewPr>
  </p:notesTextViewPr>
  <p:sorterViewPr>
    <p:cViewPr>
      <p:scale>
        <a:sx n="100" d="100"/>
        <a:sy n="100" d="100"/>
      </p:scale>
      <p:origin x="0" y="-12246"/>
    </p:cViewPr>
  </p:sorterViewPr>
  <p:notesViewPr>
    <p:cSldViewPr>
      <p:cViewPr varScale="1">
        <p:scale>
          <a:sx n="75" d="100"/>
          <a:sy n="75" d="100"/>
        </p:scale>
        <p:origin x="3168" y="54"/>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4087-4575-84CA-3BF6C6C2A227}"/>
              </c:ext>
            </c:extLst>
          </c:dPt>
          <c:dPt>
            <c:idx val="8"/>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4087-4575-84CA-3BF6C6C2A227}"/>
              </c:ext>
            </c:extLst>
          </c:dPt>
          <c:dPt>
            <c:idx val="9"/>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4087-4575-84CA-3BF6C6C2A227}"/>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1-4087-4575-84CA-3BF6C6C2A227}"/>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087-4575-84CA-3BF6C6C2A227}"/>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087-4575-84CA-3BF6C6C2A227}"/>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2026(E)</c:v>
                </c:pt>
                <c:pt idx="8">
                  <c:v>2027(E)</c:v>
                </c:pt>
                <c:pt idx="9">
                  <c:v>2028(E)</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6-4087-4575-84CA-3BF6C6C2A227}"/>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manualLayout>
          <c:layoutTarget val="inner"/>
          <c:xMode val="edge"/>
          <c:yMode val="edge"/>
          <c:x val="5.5E-2"/>
          <c:y val="0.13"/>
          <c:w val="0.93500000000000005"/>
          <c:h val="0.63"/>
        </c:manualLayout>
      </c:layout>
      <c:lineChart>
        <c:grouping val="standard"/>
        <c:varyColors val="0"/>
        <c:ser>
          <c:idx val="0"/>
          <c:order val="0"/>
          <c:tx>
            <c:strRef>
              <c:f>Sheet1!$C$1</c:f>
              <c:strCache>
                <c:ptCount val="1"/>
                <c:pt idx="0">
                  <c:v>5년 채권금리</c:v>
                </c:pt>
              </c:strCache>
            </c:strRef>
          </c:tx>
          <c:spPr>
            <a:ln w="19050">
              <a:solidFill>
                <a:srgbClr val="25273A"/>
              </a:solidFill>
            </a:ln>
          </c:spPr>
          <c:marker>
            <c:symbol val="none"/>
          </c:marker>
          <c:dPt>
            <c:idx val="41"/>
            <c:bubble3D val="0"/>
            <c:spPr>
              <a:ln w="19050">
                <a:solidFill>
                  <a:srgbClr val="25273A"/>
                </a:solidFill>
                <a:prstDash val="dash"/>
              </a:ln>
            </c:spPr>
            <c:extLst>
              <c:ext xmlns:c16="http://schemas.microsoft.com/office/drawing/2014/chart" uri="{C3380CC4-5D6E-409C-BE32-E72D297353CC}">
                <c16:uniqueId val="{00000001-3A1D-4474-B200-5910F3CC8B2A}"/>
              </c:ext>
            </c:extLst>
          </c:dPt>
          <c:dPt>
            <c:idx val="42"/>
            <c:bubble3D val="0"/>
            <c:spPr>
              <a:ln w="19050">
                <a:solidFill>
                  <a:srgbClr val="25273A"/>
                </a:solidFill>
                <a:prstDash val="dash"/>
              </a:ln>
            </c:spPr>
            <c:extLst>
              <c:ext xmlns:c16="http://schemas.microsoft.com/office/drawing/2014/chart" uri="{C3380CC4-5D6E-409C-BE32-E72D297353CC}">
                <c16:uniqueId val="{0000000B-88C3-42D7-99B7-E2E2E4AC40CC}"/>
              </c:ext>
            </c:extLst>
          </c:dPt>
          <c:dPt>
            <c:idx val="43"/>
            <c:bubble3D val="0"/>
            <c:spPr>
              <a:ln w="19050">
                <a:solidFill>
                  <a:srgbClr val="25273A"/>
                </a:solidFill>
                <a:prstDash val="dash"/>
              </a:ln>
            </c:spPr>
            <c:extLst>
              <c:ext xmlns:c16="http://schemas.microsoft.com/office/drawing/2014/chart" uri="{C3380CC4-5D6E-409C-BE32-E72D297353CC}">
                <c16:uniqueId val="{00000005-3A1D-4474-B200-5910F3CC8B2A}"/>
              </c:ext>
            </c:extLst>
          </c:dPt>
          <c:dPt>
            <c:idx val="44"/>
            <c:bubble3D val="0"/>
            <c:spPr>
              <a:ln w="19050">
                <a:solidFill>
                  <a:srgbClr val="25273A"/>
                </a:solidFill>
                <a:prstDash val="dash"/>
              </a:ln>
            </c:spPr>
            <c:extLst>
              <c:ext xmlns:c16="http://schemas.microsoft.com/office/drawing/2014/chart" uri="{C3380CC4-5D6E-409C-BE32-E72D297353CC}">
                <c16:uniqueId val="{00000007-3A1D-4474-B200-5910F3CC8B2A}"/>
              </c:ext>
            </c:extLst>
          </c:dPt>
          <c:dPt>
            <c:idx val="45"/>
            <c:bubble3D val="0"/>
            <c:spPr>
              <a:ln w="19050">
                <a:solidFill>
                  <a:srgbClr val="25273A"/>
                </a:solidFill>
                <a:prstDash val="dash"/>
              </a:ln>
            </c:spPr>
            <c:extLst>
              <c:ext xmlns:c16="http://schemas.microsoft.com/office/drawing/2014/chart" uri="{C3380CC4-5D6E-409C-BE32-E72D297353CC}">
                <c16:uniqueId val="{00000009-3A1D-4474-B200-5910F3CC8B2A}"/>
              </c:ext>
            </c:extLst>
          </c:dPt>
          <c:dPt>
            <c:idx val="46"/>
            <c:bubble3D val="0"/>
            <c:spPr>
              <a:ln w="19050">
                <a:solidFill>
                  <a:srgbClr val="25273A"/>
                </a:solidFill>
                <a:prstDash val="dash"/>
              </a:ln>
            </c:spPr>
            <c:extLst>
              <c:ext xmlns:c16="http://schemas.microsoft.com/office/drawing/2014/chart" uri="{C3380CC4-5D6E-409C-BE32-E72D297353CC}">
                <c16:uniqueId val="{0000000B-3A1D-4474-B200-5910F3CC8B2A}"/>
              </c:ext>
            </c:extLst>
          </c:dPt>
          <c:dPt>
            <c:idx val="47"/>
            <c:bubble3D val="0"/>
            <c:spPr>
              <a:ln w="19050">
                <a:solidFill>
                  <a:srgbClr val="25273A"/>
                </a:solidFill>
                <a:prstDash val="dash"/>
              </a:ln>
            </c:spPr>
            <c:extLst>
              <c:ext xmlns:c16="http://schemas.microsoft.com/office/drawing/2014/chart" uri="{C3380CC4-5D6E-409C-BE32-E72D297353CC}">
                <c16:uniqueId val="{0000000D-3A1D-4474-B200-5910F3CC8B2A}"/>
              </c:ext>
            </c:extLst>
          </c:dPt>
          <c:dPt>
            <c:idx val="48"/>
            <c:bubble3D val="0"/>
            <c:spPr>
              <a:ln w="19050">
                <a:solidFill>
                  <a:srgbClr val="25273A"/>
                </a:solidFill>
                <a:prstDash val="dash"/>
              </a:ln>
            </c:spPr>
            <c:extLst>
              <c:ext xmlns:c16="http://schemas.microsoft.com/office/drawing/2014/chart" uri="{C3380CC4-5D6E-409C-BE32-E72D297353CC}">
                <c16:uniqueId val="{0000000F-3A1D-4474-B200-5910F3CC8B2A}"/>
              </c:ext>
            </c:extLst>
          </c:dPt>
          <c:dPt>
            <c:idx val="49"/>
            <c:bubble3D val="0"/>
            <c:spPr>
              <a:ln w="19050">
                <a:solidFill>
                  <a:srgbClr val="25273A"/>
                </a:solidFill>
                <a:prstDash val="dash"/>
              </a:ln>
            </c:spPr>
            <c:extLst>
              <c:ext xmlns:c16="http://schemas.microsoft.com/office/drawing/2014/chart" uri="{C3380CC4-5D6E-409C-BE32-E72D297353CC}">
                <c16:uniqueId val="{00000011-3A1D-4474-B200-5910F3CC8B2A}"/>
              </c:ext>
            </c:extLst>
          </c:dPt>
          <c:dPt>
            <c:idx val="50"/>
            <c:bubble3D val="0"/>
            <c:spPr>
              <a:ln w="19050">
                <a:solidFill>
                  <a:srgbClr val="25273A"/>
                </a:solidFill>
                <a:prstDash val="dash"/>
              </a:ln>
            </c:spPr>
            <c:extLst>
              <c:ext xmlns:c16="http://schemas.microsoft.com/office/drawing/2014/chart" uri="{C3380CC4-5D6E-409C-BE32-E72D297353CC}">
                <c16:uniqueId val="{00000015-3A1D-4474-B200-5910F3CC8B2A}"/>
              </c:ext>
            </c:extLst>
          </c:dPt>
          <c:dPt>
            <c:idx val="51"/>
            <c:bubble3D val="0"/>
            <c:spPr>
              <a:ln w="19050">
                <a:solidFill>
                  <a:srgbClr val="25273A"/>
                </a:solidFill>
                <a:prstDash val="dash"/>
              </a:ln>
            </c:spPr>
            <c:extLst>
              <c:ext xmlns:c16="http://schemas.microsoft.com/office/drawing/2014/chart" uri="{C3380CC4-5D6E-409C-BE32-E72D297353CC}">
                <c16:uniqueId val="{00000015-3A1D-4474-B200-5910F3CC8B2A}"/>
              </c:ext>
            </c:extLst>
          </c:dPt>
          <c:dLbls>
            <c:dLbl>
              <c:idx val="3"/>
              <c:tx>
                <c:rich>
                  <a:bodyPr/>
                  <a:lstStyle/>
                  <a:p>
                    <a:r>
                      <a:rPr lang="en-US" altLang="ko-KR" sz="650">
                        <a:solidFill>
                          <a:srgbClr val="25273A"/>
                        </a:solidFill>
                        <a:latin typeface="KoPubWorld돋움체 Medium"/>
                        <a:ea typeface="KoPubWorld돋움체 Medium"/>
                        <a:cs typeface="KoPubWorld돋움체 Medium"/>
                      </a:rPr>
                      <a:t>1.7%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8C3-42D7-99B7-E2E2E4AC40CC}"/>
                </c:ext>
              </c:extLst>
            </c:dLbl>
            <c:dLbl>
              <c:idx val="7"/>
              <c:tx>
                <c:rich>
                  <a:bodyPr/>
                  <a:lstStyle/>
                  <a:p>
                    <a:r>
                      <a:rPr lang="en-US" altLang="ko-KR" sz="650">
                        <a:solidFill>
                          <a:srgbClr val="25273A"/>
                        </a:solidFill>
                        <a:latin typeface="KoPubWorld돋움체 Medium"/>
                        <a:ea typeface="KoPubWorld돋움체 Medium"/>
                        <a:cs typeface="KoPubWorld돋움체 Medium"/>
                      </a:rPr>
                      <a:t>2.3%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8C3-42D7-99B7-E2E2E4AC40CC}"/>
                </c:ext>
              </c:extLst>
            </c:dLbl>
            <c:dLbl>
              <c:idx val="11"/>
              <c:tx>
                <c:rich>
                  <a:bodyPr/>
                  <a:lstStyle/>
                  <a:p>
                    <a:r>
                      <a:rPr lang="en-US" altLang="ko-KR" sz="650">
                        <a:solidFill>
                          <a:srgbClr val="25273A"/>
                        </a:solidFill>
                        <a:latin typeface="KoPubWorld돋움체 Medium"/>
                        <a:ea typeface="KoPubWorld돋움체 Medium"/>
                        <a:cs typeface="KoPubWorld돋움체 Medium"/>
                      </a:rPr>
                      <a:t>2.0%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8C3-42D7-99B7-E2E2E4AC40CC}"/>
                </c:ext>
              </c:extLst>
            </c:dLbl>
            <c:dLbl>
              <c:idx val="15"/>
              <c:tx>
                <c:rich>
                  <a:bodyPr/>
                  <a:lstStyle/>
                  <a:p>
                    <a:r>
                      <a:rPr lang="en-US" altLang="ko-KR" sz="650">
                        <a:solidFill>
                          <a:srgbClr val="25273A"/>
                        </a:solidFill>
                        <a:latin typeface="KoPubWorld돋움체 Medium"/>
                        <a:ea typeface="KoPubWorld돋움체 Medium"/>
                        <a:cs typeface="KoPubWorld돋움체 Medium"/>
                      </a:rPr>
                      <a:t>1.5%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8C3-42D7-99B7-E2E2E4AC40CC}"/>
                </c:ext>
              </c:extLst>
            </c:dLbl>
            <c:dLbl>
              <c:idx val="19"/>
              <c:tx>
                <c:rich>
                  <a:bodyPr/>
                  <a:lstStyle/>
                  <a:p>
                    <a:r>
                      <a:rPr lang="en-US" altLang="ko-KR" sz="650">
                        <a:solidFill>
                          <a:srgbClr val="25273A"/>
                        </a:solidFill>
                        <a:latin typeface="KoPubWorld돋움체 Medium"/>
                        <a:ea typeface="KoPubWorld돋움체 Medium"/>
                        <a:cs typeface="KoPubWorld돋움체 Medium"/>
                      </a:rPr>
                      <a:t>1.3%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8C3-42D7-99B7-E2E2E4AC40CC}"/>
                </c:ext>
              </c:extLst>
            </c:dLbl>
            <c:dLbl>
              <c:idx val="23"/>
              <c:tx>
                <c:rich>
                  <a:bodyPr/>
                  <a:lstStyle/>
                  <a:p>
                    <a:r>
                      <a:rPr lang="en-US" altLang="ko-KR" sz="650">
                        <a:solidFill>
                          <a:srgbClr val="25273A"/>
                        </a:solidFill>
                        <a:latin typeface="KoPubWorld돋움체 Medium"/>
                        <a:ea typeface="KoPubWorld돋움체 Medium"/>
                        <a:cs typeface="KoPubWorld돋움체 Medium"/>
                      </a:rPr>
                      <a:t>2.1%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8C3-42D7-99B7-E2E2E4AC40CC}"/>
                </c:ext>
              </c:extLst>
            </c:dLbl>
            <c:dLbl>
              <c:idx val="2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8C3-42D7-99B7-E2E2E4AC40CC}"/>
                </c:ext>
              </c:extLst>
            </c:dLbl>
            <c:dLbl>
              <c:idx val="31"/>
              <c:tx>
                <c:rich>
                  <a:bodyPr/>
                  <a:lstStyle/>
                  <a:p>
                    <a:r>
                      <a:rPr lang="en-US" altLang="ko-KR" sz="650">
                        <a:solidFill>
                          <a:srgbClr val="25273A"/>
                        </a:solidFill>
                        <a:latin typeface="KoPubWorld돋움체 Medium"/>
                        <a:ea typeface="KoPubWorld돋움체 Medium"/>
                        <a:cs typeface="KoPubWorld돋움체 Medium"/>
                      </a:rPr>
                      <a:t>3.7%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8C3-42D7-99B7-E2E2E4AC40CC}"/>
                </c:ext>
              </c:extLst>
            </c:dLbl>
            <c:dLbl>
              <c:idx val="35"/>
              <c:tx>
                <c:rich>
                  <a:bodyPr/>
                  <a:lstStyle/>
                  <a:p>
                    <a:r>
                      <a:rPr lang="en-US" altLang="ko-KR" sz="650">
                        <a:solidFill>
                          <a:srgbClr val="25273A"/>
                        </a:solidFill>
                        <a:latin typeface="KoPubWorld돋움체 Medium"/>
                        <a:ea typeface="KoPubWorld돋움체 Medium"/>
                        <a:cs typeface="KoPubWorld돋움체 Medium"/>
                      </a:rPr>
                      <a:t>2.8%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8C3-42D7-99B7-E2E2E4AC40CC}"/>
                </c:ext>
              </c:extLst>
            </c:dLbl>
            <c:dLbl>
              <c:idx val="39"/>
              <c:tx>
                <c:rich>
                  <a:bodyPr/>
                  <a:lstStyle/>
                  <a:p>
                    <a:r>
                      <a:rPr lang="en-US" altLang="ko-KR" sz="650">
                        <a:solidFill>
                          <a:srgbClr val="25273A"/>
                        </a:solidFill>
                        <a:latin typeface="KoPubWorld돋움체 Medium"/>
                        <a:ea typeface="KoPubWorld돋움체 Medium"/>
                        <a:cs typeface="KoPubWorld돋움체 Medium"/>
                      </a:rPr>
                      <a:t>3.0%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8C3-42D7-99B7-E2E2E4AC40CC}"/>
                </c:ext>
              </c:extLst>
            </c:dLbl>
            <c:dLbl>
              <c:idx val="40"/>
              <c:tx>
                <c:rich>
                  <a:bodyPr/>
                  <a:lstStyle/>
                  <a:p>
                    <a:r>
                      <a:rPr lang="en-US" altLang="ko-KR" sz="650">
                        <a:solidFill>
                          <a:srgbClr val="25273A"/>
                        </a:solidFill>
                        <a:latin typeface="KoPubWorld돋움체 Medium"/>
                        <a:ea typeface="KoPubWorld돋움체 Medium"/>
                        <a:cs typeface="KoPubWorld돋움체 Medium"/>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8C3-42D7-99B7-E2E2E4AC40CC}"/>
                </c:ext>
              </c:extLst>
            </c:dLbl>
            <c:dLbl>
              <c:idx val="42"/>
              <c:tx>
                <c:rich>
                  <a:bodyPr/>
                  <a:lstStyle/>
                  <a:p>
                    <a:r>
                      <a:rPr lang="en-US" altLang="ko-KR" sz="650">
                        <a:solidFill>
                          <a:srgbClr val="25273A"/>
                        </a:solidFill>
                        <a:latin typeface="KoPubWorld돋움체 Medium"/>
                        <a:ea typeface="KoPubWorld돋움체 Medium"/>
                        <a:cs typeface="KoPubWorld돋움체 Medium"/>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88C3-42D7-99B7-E2E2E4AC40CC}"/>
                </c:ext>
              </c:extLst>
            </c:dLbl>
            <c:dLbl>
              <c:idx val="4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A1D-4474-B200-5910F3CC8B2A}"/>
                </c:ext>
              </c:extLst>
            </c:dLbl>
            <c:dLbl>
              <c:idx val="50"/>
              <c:tx>
                <c:rich>
                  <a:bodyPr/>
                  <a:lstStyle/>
                  <a:p>
                    <a:r>
                      <a:rPr lang="en-US" altLang="ko-KR" sz="650">
                        <a:solidFill>
                          <a:srgbClr val="25273A"/>
                        </a:solidFill>
                        <a:latin typeface="KoPubWorld돋움체 Medium"/>
                        <a:ea typeface="KoPubWorld돋움체 Medium"/>
                        <a:cs typeface="KoPubWorld돋움체 Medium"/>
                      </a:rPr>
                      <a:t>3.8%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3A1D-4474-B200-5910F3CC8B2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Sheet1!$C$2:$C$53</c:f>
              <c:numCache>
                <c:formatCode>0.0%</c:formatCode>
                <c:ptCount val="52"/>
                <c:pt idx="0">
                  <c:v>1.6500000000000001E-2</c:v>
                </c:pt>
                <c:pt idx="1">
                  <c:v>1.4999999999999999E-2</c:v>
                </c:pt>
                <c:pt idx="2">
                  <c:v>1.29E-2</c:v>
                </c:pt>
                <c:pt idx="3">
                  <c:v>1.6799999999999999E-2</c:v>
                </c:pt>
                <c:pt idx="4">
                  <c:v>1.8499999999999999E-2</c:v>
                </c:pt>
                <c:pt idx="5">
                  <c:v>1.8800000000000001E-2</c:v>
                </c:pt>
                <c:pt idx="6">
                  <c:v>1.9699999999999999E-2</c:v>
                </c:pt>
                <c:pt idx="7">
                  <c:v>2.3099999999999999E-2</c:v>
                </c:pt>
                <c:pt idx="8">
                  <c:v>2.47E-2</c:v>
                </c:pt>
                <c:pt idx="9">
                  <c:v>2.4500000000000001E-2</c:v>
                </c:pt>
                <c:pt idx="10">
                  <c:v>2.2200000000000001E-2</c:v>
                </c:pt>
                <c:pt idx="11">
                  <c:v>2.0299999999999999E-2</c:v>
                </c:pt>
                <c:pt idx="12">
                  <c:v>1.8499999999999999E-2</c:v>
                </c:pt>
                <c:pt idx="13">
                  <c:v>1.66E-2</c:v>
                </c:pt>
                <c:pt idx="14">
                  <c:v>1.3299999999999999E-2</c:v>
                </c:pt>
                <c:pt idx="15">
                  <c:v>1.4999999999999999E-2</c:v>
                </c:pt>
                <c:pt idx="16">
                  <c:v>1.35E-2</c:v>
                </c:pt>
                <c:pt idx="17">
                  <c:v>1.18E-2</c:v>
                </c:pt>
                <c:pt idx="18">
                  <c:v>1.1299999999999999E-2</c:v>
                </c:pt>
                <c:pt idx="19">
                  <c:v>1.29E-2</c:v>
                </c:pt>
                <c:pt idx="20">
                  <c:v>1.41E-2</c:v>
                </c:pt>
                <c:pt idx="21">
                  <c:v>1.6299999999999999E-2</c:v>
                </c:pt>
                <c:pt idx="22">
                  <c:v>1.7000000000000001E-2</c:v>
                </c:pt>
                <c:pt idx="23">
                  <c:v>2.1000000000000001E-2</c:v>
                </c:pt>
                <c:pt idx="24">
                  <c:v>2.4500000000000001E-2</c:v>
                </c:pt>
                <c:pt idx="25">
                  <c:v>3.32E-2</c:v>
                </c:pt>
                <c:pt idx="26">
                  <c:v>3.49E-2</c:v>
                </c:pt>
                <c:pt idx="27">
                  <c:v>3.9199999999999999E-2</c:v>
                </c:pt>
                <c:pt idx="28">
                  <c:v>3.44E-2</c:v>
                </c:pt>
                <c:pt idx="29">
                  <c:v>3.39E-2</c:v>
                </c:pt>
                <c:pt idx="30">
                  <c:v>3.7400000000000003E-2</c:v>
                </c:pt>
                <c:pt idx="31">
                  <c:v>3.7400000000000003E-2</c:v>
                </c:pt>
                <c:pt idx="32">
                  <c:v>3.3500000000000002E-2</c:v>
                </c:pt>
                <c:pt idx="33">
                  <c:v>3.4099999999999998E-2</c:v>
                </c:pt>
                <c:pt idx="34">
                  <c:v>2.98E-2</c:v>
                </c:pt>
                <c:pt idx="35">
                  <c:v>2.8299999999999999E-2</c:v>
                </c:pt>
                <c:pt idx="36">
                  <c:v>2.6800000000000001E-2</c:v>
                </c:pt>
                <c:pt idx="37">
                  <c:v>2.52E-2</c:v>
                </c:pt>
                <c:pt idx="38">
                  <c:v>2.6200000000000001E-2</c:v>
                </c:pt>
                <c:pt idx="39">
                  <c:v>3.0300000000000001E-2</c:v>
                </c:pt>
                <c:pt idx="40">
                  <c:v>3.4299999999999997E-2</c:v>
                </c:pt>
                <c:pt idx="41">
                  <c:v>3.9E-2</c:v>
                </c:pt>
                <c:pt idx="42">
                  <c:v>4.1329999999999999E-2</c:v>
                </c:pt>
                <c:pt idx="43">
                  <c:v>4.2000000000000003E-2</c:v>
                </c:pt>
                <c:pt idx="44">
                  <c:v>4.1500000000000002E-2</c:v>
                </c:pt>
                <c:pt idx="45">
                  <c:v>4.0500000000000001E-2</c:v>
                </c:pt>
                <c:pt idx="46">
                  <c:v>3.95E-2</c:v>
                </c:pt>
                <c:pt idx="47">
                  <c:v>3.9E-2</c:v>
                </c:pt>
                <c:pt idx="48">
                  <c:v>3.85E-2</c:v>
                </c:pt>
                <c:pt idx="49">
                  <c:v>3.7999999999999999E-2</c:v>
                </c:pt>
                <c:pt idx="50">
                  <c:v>3.7999999999999999E-2</c:v>
                </c:pt>
                <c:pt idx="51">
                  <c:v>3.7999999999999999E-2</c:v>
                </c:pt>
              </c:numCache>
            </c:numRef>
          </c:val>
          <c:smooth val="0"/>
          <c:extLst>
            <c:ext xmlns:c16="http://schemas.microsoft.com/office/drawing/2014/chart" uri="{C3380CC4-5D6E-409C-BE32-E72D297353CC}">
              <c16:uniqueId val="{0000000C-88C3-42D7-99B7-E2E2E4AC40CC}"/>
            </c:ext>
          </c:extLst>
        </c:ser>
        <c:ser>
          <c:idx val="1"/>
          <c:order val="1"/>
          <c:tx>
            <c:strRef>
              <c:f>Sheet1!$E$1</c:f>
              <c:strCache>
                <c:ptCount val="1"/>
                <c:pt idx="0">
                  <c:v>물류 Cap.Rate</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Sheet1!$E$2:$E$53</c:f>
              <c:numCache>
                <c:formatCode>0.0%</c:formatCode>
                <c:ptCount val="52"/>
                <c:pt idx="0">
                  <c:v>7.6100000000000001E-2</c:v>
                </c:pt>
                <c:pt idx="1">
                  <c:v>7.17E-2</c:v>
                </c:pt>
                <c:pt idx="2">
                  <c:v>7.17E-2</c:v>
                </c:pt>
                <c:pt idx="3">
                  <c:v>7.6700000000000004E-2</c:v>
                </c:pt>
                <c:pt idx="4">
                  <c:v>7.6700000000000004E-2</c:v>
                </c:pt>
                <c:pt idx="5">
                  <c:v>5.4699999999999999E-2</c:v>
                </c:pt>
                <c:pt idx="6">
                  <c:v>7.8799999999999995E-2</c:v>
                </c:pt>
                <c:pt idx="7">
                  <c:v>6.4600000000000005E-2</c:v>
                </c:pt>
                <c:pt idx="8">
                  <c:v>6.3299999999999995E-2</c:v>
                </c:pt>
                <c:pt idx="9">
                  <c:v>5.9700000000000003E-2</c:v>
                </c:pt>
                <c:pt idx="10">
                  <c:v>5.67E-2</c:v>
                </c:pt>
                <c:pt idx="11">
                  <c:v>6.3299999999999995E-2</c:v>
                </c:pt>
                <c:pt idx="13">
                  <c:v>5.8799999999999998E-2</c:v>
                </c:pt>
                <c:pt idx="14">
                  <c:v>6.6699999999999995E-2</c:v>
                </c:pt>
                <c:pt idx="15">
                  <c:v>4.6699999999999998E-2</c:v>
                </c:pt>
                <c:pt idx="16">
                  <c:v>6.1699999999999998E-2</c:v>
                </c:pt>
                <c:pt idx="18">
                  <c:v>4.8500000000000001E-2</c:v>
                </c:pt>
                <c:pt idx="19">
                  <c:v>4.2700000000000002E-2</c:v>
                </c:pt>
                <c:pt idx="20">
                  <c:v>5.7799999999999997E-2</c:v>
                </c:pt>
                <c:pt idx="21">
                  <c:v>5.1799999999999999E-2</c:v>
                </c:pt>
                <c:pt idx="22">
                  <c:v>5.5300000000000002E-2</c:v>
                </c:pt>
                <c:pt idx="23">
                  <c:v>4.6800000000000001E-2</c:v>
                </c:pt>
                <c:pt idx="24">
                  <c:v>5.11E-2</c:v>
                </c:pt>
                <c:pt idx="25">
                  <c:v>4.3400000000000001E-2</c:v>
                </c:pt>
                <c:pt idx="26">
                  <c:v>4.7199999999999999E-2</c:v>
                </c:pt>
                <c:pt idx="27">
                  <c:v>4.7800000000000002E-2</c:v>
                </c:pt>
                <c:pt idx="28">
                  <c:v>4.9700000000000001E-2</c:v>
                </c:pt>
                <c:pt idx="29">
                  <c:v>6.1699999999999998E-2</c:v>
                </c:pt>
                <c:pt idx="30">
                  <c:v>5.8700000000000002E-2</c:v>
                </c:pt>
                <c:pt idx="31">
                  <c:v>5.1799999999999999E-2</c:v>
                </c:pt>
                <c:pt idx="32">
                  <c:v>5.57E-2</c:v>
                </c:pt>
                <c:pt idx="33">
                  <c:v>6.5699999999999995E-2</c:v>
                </c:pt>
                <c:pt idx="34">
                  <c:v>6.1699999999999998E-2</c:v>
                </c:pt>
                <c:pt idx="35">
                  <c:v>6.2799999999999995E-2</c:v>
                </c:pt>
                <c:pt idx="36">
                  <c:v>5.74E-2</c:v>
                </c:pt>
                <c:pt idx="37">
                  <c:v>5.67E-2</c:v>
                </c:pt>
                <c:pt idx="38">
                  <c:v>5.2600000000000001E-2</c:v>
                </c:pt>
                <c:pt idx="39">
                  <c:v>5.57E-2</c:v>
                </c:pt>
                <c:pt idx="40">
                  <c:v>5.7099999999999998E-2</c:v>
                </c:pt>
              </c:numCache>
            </c:numRef>
          </c:val>
          <c:smooth val="0"/>
          <c:extLst>
            <c:ext xmlns:c16="http://schemas.microsoft.com/office/drawing/2014/chart" uri="{C3380CC4-5D6E-409C-BE32-E72D297353CC}">
              <c16:uniqueId val="{0000000E-88C3-42D7-99B7-E2E2E4AC40CC}"/>
            </c:ext>
          </c:extLst>
        </c:ser>
        <c:ser>
          <c:idx val="2"/>
          <c:order val="2"/>
          <c:tx>
            <c:strRef>
              <c:f>Sheet1!$F$1</c:f>
              <c:strCache>
                <c:ptCount val="1"/>
                <c:pt idx="0">
                  <c:v>물류 Cap.Rate2</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Sheet1!$F$2:$F$53</c:f>
              <c:numCache>
                <c:formatCode>General</c:formatCode>
                <c:ptCount val="52"/>
                <c:pt idx="0" formatCode="0.0%">
                  <c:v>7.2700000000000001E-2</c:v>
                </c:pt>
                <c:pt idx="3" formatCode="0.0%">
                  <c:v>7.22E-2</c:v>
                </c:pt>
                <c:pt idx="6" formatCode="0.0%">
                  <c:v>7.0699999999999999E-2</c:v>
                </c:pt>
                <c:pt idx="8" formatCode="0.0%">
                  <c:v>5.9700000000000003E-2</c:v>
                </c:pt>
                <c:pt idx="11" formatCode="0.0%">
                  <c:v>5.9700000000000003E-2</c:v>
                </c:pt>
                <c:pt idx="13" formatCode="0.0%">
                  <c:v>5.67E-2</c:v>
                </c:pt>
                <c:pt idx="14" formatCode="0.0%">
                  <c:v>5.7799999999999997E-2</c:v>
                </c:pt>
                <c:pt idx="16" formatCode="0.0%">
                  <c:v>5.8799999999999998E-2</c:v>
                </c:pt>
                <c:pt idx="18" formatCode="0.0%">
                  <c:v>4.65E-2</c:v>
                </c:pt>
                <c:pt idx="20" formatCode="0.0%">
                  <c:v>4.9700000000000001E-2</c:v>
                </c:pt>
                <c:pt idx="21" formatCode="0.0%">
                  <c:v>4.1799999999999997E-2</c:v>
                </c:pt>
                <c:pt idx="22" formatCode="0.0%">
                  <c:v>4.6800000000000001E-2</c:v>
                </c:pt>
                <c:pt idx="23" formatCode="0.0%">
                  <c:v>4.48E-2</c:v>
                </c:pt>
                <c:pt idx="24" formatCode="0.0%">
                  <c:v>4.6800000000000001E-2</c:v>
                </c:pt>
                <c:pt idx="26" formatCode="0.0%">
                  <c:v>4.1799999999999997E-2</c:v>
                </c:pt>
                <c:pt idx="27" formatCode="0.0%">
                  <c:v>3.8899999999999997E-2</c:v>
                </c:pt>
                <c:pt idx="29" formatCode="0.0%">
                  <c:v>4.9299999999999997E-2</c:v>
                </c:pt>
                <c:pt idx="30" formatCode="0.0%">
                  <c:v>5.67E-2</c:v>
                </c:pt>
                <c:pt idx="32" formatCode="0.0%">
                  <c:v>5.1799999999999999E-2</c:v>
                </c:pt>
                <c:pt idx="33" formatCode="0.0%">
                  <c:v>5.8799999999999998E-2</c:v>
                </c:pt>
                <c:pt idx="34" formatCode="0.0%">
                  <c:v>5.7799999999999997E-2</c:v>
                </c:pt>
                <c:pt idx="35" formatCode="0.0%">
                  <c:v>5.1799999999999999E-2</c:v>
                </c:pt>
                <c:pt idx="36" formatCode="0.0%">
                  <c:v>5.3800000000000001E-2</c:v>
                </c:pt>
                <c:pt idx="37" formatCode="0.0%">
                  <c:v>5.45E-2</c:v>
                </c:pt>
                <c:pt idx="39" formatCode="0.0%">
                  <c:v>5.3600000000000002E-2</c:v>
                </c:pt>
              </c:numCache>
            </c:numRef>
          </c:val>
          <c:smooth val="0"/>
          <c:extLst>
            <c:ext xmlns:c16="http://schemas.microsoft.com/office/drawing/2014/chart" uri="{C3380CC4-5D6E-409C-BE32-E72D297353CC}">
              <c16:uniqueId val="{0000000F-88C3-42D7-99B7-E2E2E4AC40CC}"/>
            </c:ext>
          </c:extLst>
        </c:ser>
        <c:ser>
          <c:idx val="3"/>
          <c:order val="3"/>
          <c:tx>
            <c:strRef>
              <c:f>Sheet1!$G$1</c:f>
              <c:strCache>
                <c:ptCount val="1"/>
                <c:pt idx="0">
                  <c:v>물류 Cap.Rate3</c:v>
                </c:pt>
              </c:strCache>
            </c:strRef>
          </c:tx>
          <c:spPr>
            <a:ln>
              <a:noFill/>
            </a:ln>
          </c:spPr>
          <c:marker>
            <c:symbol val="circle"/>
            <c:size val="4"/>
            <c:spPr>
              <a:solidFill>
                <a:srgbClr val="6B2E50"/>
              </a:solidFill>
              <a:ln>
                <a:noFill/>
              </a:ln>
            </c:spPr>
          </c:marker>
          <c:dLbls>
            <c:dLbl>
              <c:idx val="39"/>
              <c:layout>
                <c:manualLayout>
                  <c:x val="-4.6263488073353058E-2"/>
                  <c:y val="7.9701253221468565E-2"/>
                </c:manualLayout>
              </c:layout>
              <c:spPr>
                <a:noFill/>
                <a:ln>
                  <a:noFill/>
                </a:ln>
                <a:effectLst/>
              </c:spPr>
              <c:txPr>
                <a:bodyPr wrap="square" lIns="38100" tIns="19050" rIns="38100" bIns="19050" anchor="ctr">
                  <a:spAutoFit/>
                </a:bodyPr>
                <a:lstStyle/>
                <a:p>
                  <a:pPr>
                    <a:defRPr sz="700" b="1">
                      <a:solidFill>
                        <a:srgbClr val="6B2E50"/>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8C3-42D7-99B7-E2E2E4AC40CC}"/>
                </c:ext>
              </c:extLst>
            </c:dLbl>
            <c:spPr>
              <a:noFill/>
              <a:ln>
                <a:noFill/>
              </a:ln>
              <a:effectLst/>
            </c:spPr>
            <c:txPr>
              <a:bodyPr wrap="square" lIns="38100" tIns="19050" rIns="38100" bIns="19050" anchor="ctr">
                <a:spAutoFit/>
              </a:bodyPr>
              <a:lstStyle/>
              <a:p>
                <a:pPr>
                  <a:defRPr sz="700"/>
                </a:pPr>
                <a:endParaRPr lang="ko-KR"/>
              </a:p>
            </c:txPr>
            <c:showLegendKey val="0"/>
            <c:showVal val="0"/>
            <c:showCatName val="0"/>
            <c:showSerName val="0"/>
            <c:showPercent val="0"/>
            <c:showBubbleSize val="0"/>
            <c:extLst>
              <c:ext xmlns:c15="http://schemas.microsoft.com/office/drawing/2012/chart" uri="{CE6537A1-D6FC-4f65-9D91-7224C49458BB}">
                <c15:showLeaderLines val="1"/>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Sheet1!$G$2:$G$53</c:f>
              <c:numCache>
                <c:formatCode>General</c:formatCode>
                <c:ptCount val="52"/>
                <c:pt idx="3" formatCode="0.0%">
                  <c:v>6.0299999999999999E-2</c:v>
                </c:pt>
                <c:pt idx="6" formatCode="0.0%">
                  <c:v>6.6900000000000001E-2</c:v>
                </c:pt>
                <c:pt idx="14" formatCode="0.0%">
                  <c:v>5.4399999999999997E-2</c:v>
                </c:pt>
                <c:pt idx="16" formatCode="0.0%">
                  <c:v>5.3199999999999997E-2</c:v>
                </c:pt>
                <c:pt idx="20" formatCode="0.0%">
                  <c:v>4.2799999999999998E-2</c:v>
                </c:pt>
                <c:pt idx="21" formatCode="0.0%">
                  <c:v>3.6799999999999999E-2</c:v>
                </c:pt>
                <c:pt idx="22" formatCode="0.0%">
                  <c:v>3.9899999999999998E-2</c:v>
                </c:pt>
                <c:pt idx="23" formatCode="0.0%">
                  <c:v>4.24E-2</c:v>
                </c:pt>
                <c:pt idx="24" formatCode="0.0%">
                  <c:v>3.6799999999999999E-2</c:v>
                </c:pt>
                <c:pt idx="26" formatCode="0.0%">
                  <c:v>3.9699999999999999E-2</c:v>
                </c:pt>
                <c:pt idx="29" formatCode="0.0%">
                  <c:v>3.9699999999999999E-2</c:v>
                </c:pt>
                <c:pt idx="30" formatCode="0.0%">
                  <c:v>5.1700000000000003E-2</c:v>
                </c:pt>
                <c:pt idx="33" formatCode="0.0%">
                  <c:v>5.4699999999999999E-2</c:v>
                </c:pt>
                <c:pt idx="34" formatCode="0.0%">
                  <c:v>5.2299999999999999E-2</c:v>
                </c:pt>
                <c:pt idx="39" formatCode="0.0%">
                  <c:v>5.0599999999999999E-2</c:v>
                </c:pt>
              </c:numCache>
            </c:numRef>
          </c:val>
          <c:smooth val="0"/>
          <c:extLst>
            <c:ext xmlns:c16="http://schemas.microsoft.com/office/drawing/2014/chart" uri="{C3380CC4-5D6E-409C-BE32-E72D297353CC}">
              <c16:uniqueId val="{00000010-88C3-42D7-99B7-E2E2E4AC40CC}"/>
            </c:ext>
          </c:extLst>
        </c:ser>
        <c:ser>
          <c:idx val="4"/>
          <c:order val="4"/>
          <c:tx>
            <c:strRef>
              <c:f>Sheet1!$H$1</c:f>
              <c:strCache>
                <c:ptCount val="1"/>
                <c:pt idx="0">
                  <c:v>물류 Cap.Rate4</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Sheet1!$H$2:$H$53</c:f>
              <c:numCache>
                <c:formatCode>General</c:formatCode>
                <c:ptCount val="52"/>
                <c:pt idx="22" formatCode="0.0%">
                  <c:v>3.5799999999999998E-2</c:v>
                </c:pt>
                <c:pt idx="23" formatCode="0.0%">
                  <c:v>4.0300000000000002E-2</c:v>
                </c:pt>
                <c:pt idx="24" formatCode="0.0%">
                  <c:v>3.0800000000000001E-2</c:v>
                </c:pt>
              </c:numCache>
            </c:numRef>
          </c:val>
          <c:smooth val="0"/>
          <c:extLst>
            <c:ext xmlns:c16="http://schemas.microsoft.com/office/drawing/2014/chart" uri="{C3380CC4-5D6E-409C-BE32-E72D297353CC}">
              <c16:uniqueId val="{00000011-88C3-42D7-99B7-E2E2E4AC40CC}"/>
            </c:ext>
          </c:extLst>
        </c:ser>
        <c:ser>
          <c:idx val="5"/>
          <c:order val="5"/>
          <c:tx>
            <c:strRef>
              <c:f>Sheet1!$I$1</c:f>
              <c:strCache>
                <c:ptCount val="1"/>
                <c:pt idx="0">
                  <c:v>물류 Cap.Rate 추세(’27~’28 연장)</c:v>
                </c:pt>
              </c:strCache>
            </c:strRef>
          </c:tx>
          <c:spPr>
            <a:ln w="15875">
              <a:solidFill>
                <a:srgbClr val="6B2E50"/>
              </a:solidFill>
              <a:prstDash val="sysDot"/>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Sheet1!$I$2:$I$53</c:f>
              <c:numCache>
                <c:formatCode>0.0%</c:formatCode>
                <c:ptCount val="52"/>
                <c:pt idx="0">
                  <c:v>6.404E-2</c:v>
                </c:pt>
                <c:pt idx="1">
                  <c:v>6.3589999999999994E-2</c:v>
                </c:pt>
                <c:pt idx="2">
                  <c:v>6.3149999999999998E-2</c:v>
                </c:pt>
                <c:pt idx="3">
                  <c:v>6.2700000000000006E-2</c:v>
                </c:pt>
                <c:pt idx="4">
                  <c:v>6.2260000000000003E-2</c:v>
                </c:pt>
                <c:pt idx="5">
                  <c:v>6.1809999999999997E-2</c:v>
                </c:pt>
                <c:pt idx="6">
                  <c:v>6.1370000000000001E-2</c:v>
                </c:pt>
                <c:pt idx="7">
                  <c:v>6.0929999999999998E-2</c:v>
                </c:pt>
                <c:pt idx="8">
                  <c:v>6.0479999999999999E-2</c:v>
                </c:pt>
                <c:pt idx="9">
                  <c:v>6.0040000000000003E-2</c:v>
                </c:pt>
                <c:pt idx="10">
                  <c:v>5.9589999999999997E-2</c:v>
                </c:pt>
                <c:pt idx="11">
                  <c:v>5.9150000000000001E-2</c:v>
                </c:pt>
                <c:pt idx="12">
                  <c:v>5.8700000000000002E-2</c:v>
                </c:pt>
                <c:pt idx="13">
                  <c:v>5.8259999999999999E-2</c:v>
                </c:pt>
                <c:pt idx="14">
                  <c:v>5.781E-2</c:v>
                </c:pt>
                <c:pt idx="15">
                  <c:v>5.7369999999999997E-2</c:v>
                </c:pt>
                <c:pt idx="16">
                  <c:v>5.6930000000000001E-2</c:v>
                </c:pt>
                <c:pt idx="17">
                  <c:v>5.6480000000000002E-2</c:v>
                </c:pt>
                <c:pt idx="18">
                  <c:v>5.604E-2</c:v>
                </c:pt>
                <c:pt idx="19">
                  <c:v>5.5590000000000001E-2</c:v>
                </c:pt>
                <c:pt idx="20">
                  <c:v>5.5149999999999998E-2</c:v>
                </c:pt>
                <c:pt idx="21">
                  <c:v>5.4699999999999999E-2</c:v>
                </c:pt>
                <c:pt idx="22">
                  <c:v>5.4260000000000003E-2</c:v>
                </c:pt>
                <c:pt idx="23">
                  <c:v>5.382E-2</c:v>
                </c:pt>
                <c:pt idx="24">
                  <c:v>5.3370000000000001E-2</c:v>
                </c:pt>
                <c:pt idx="25">
                  <c:v>5.2929999999999998E-2</c:v>
                </c:pt>
                <c:pt idx="26">
                  <c:v>5.2479999999999999E-2</c:v>
                </c:pt>
                <c:pt idx="27">
                  <c:v>5.2040000000000003E-2</c:v>
                </c:pt>
                <c:pt idx="28">
                  <c:v>5.1589999999999997E-2</c:v>
                </c:pt>
                <c:pt idx="29">
                  <c:v>5.1150000000000001E-2</c:v>
                </c:pt>
                <c:pt idx="30">
                  <c:v>5.0700000000000002E-2</c:v>
                </c:pt>
                <c:pt idx="31">
                  <c:v>5.0259999999999999E-2</c:v>
                </c:pt>
                <c:pt idx="32">
                  <c:v>4.9820000000000003E-2</c:v>
                </c:pt>
                <c:pt idx="33">
                  <c:v>4.9369999999999997E-2</c:v>
                </c:pt>
                <c:pt idx="34">
                  <c:v>4.8930000000000001E-2</c:v>
                </c:pt>
                <c:pt idx="35">
                  <c:v>4.8480000000000002E-2</c:v>
                </c:pt>
                <c:pt idx="36">
                  <c:v>4.8039999999999999E-2</c:v>
                </c:pt>
                <c:pt idx="37">
                  <c:v>4.759E-2</c:v>
                </c:pt>
                <c:pt idx="38">
                  <c:v>4.7149999999999997E-2</c:v>
                </c:pt>
                <c:pt idx="39">
                  <c:v>4.6710000000000002E-2</c:v>
                </c:pt>
                <c:pt idx="40">
                  <c:v>4.6260000000000003E-2</c:v>
                </c:pt>
                <c:pt idx="41">
                  <c:v>4.582E-2</c:v>
                </c:pt>
                <c:pt idx="42">
                  <c:v>4.5370000000000001E-2</c:v>
                </c:pt>
                <c:pt idx="43">
                  <c:v>4.4929999999999998E-2</c:v>
                </c:pt>
                <c:pt idx="44">
                  <c:v>4.4479999999999999E-2</c:v>
                </c:pt>
                <c:pt idx="45">
                  <c:v>4.4040000000000003E-2</c:v>
                </c:pt>
                <c:pt idx="46">
                  <c:v>4.3589999999999997E-2</c:v>
                </c:pt>
                <c:pt idx="47">
                  <c:v>4.3150000000000001E-2</c:v>
                </c:pt>
                <c:pt idx="48">
                  <c:v>4.2709999999999998E-2</c:v>
                </c:pt>
                <c:pt idx="49">
                  <c:v>4.2259999999999999E-2</c:v>
                </c:pt>
                <c:pt idx="50">
                  <c:v>4.1820000000000003E-2</c:v>
                </c:pt>
                <c:pt idx="51">
                  <c:v>4.1369999999999997E-2</c:v>
                </c:pt>
              </c:numCache>
            </c:numRef>
          </c:val>
          <c:smooth val="0"/>
          <c:extLst>
            <c:ext xmlns:c16="http://schemas.microsoft.com/office/drawing/2014/chart" uri="{C3380CC4-5D6E-409C-BE32-E72D297353CC}">
              <c16:uniqueId val="{00000012-88C3-42D7-99B7-E2E2E4AC40CC}"/>
            </c:ext>
          </c:extLst>
        </c:ser>
        <c:ser>
          <c:idx val="6"/>
          <c:order val="6"/>
          <c:tx>
            <c:v>Cap.Rate 추정</c:v>
          </c:tx>
          <c:spPr>
            <a:ln w="19050">
              <a:solidFill>
                <a:srgbClr val="C0504D"/>
              </a:solidFill>
              <a:prstDash val="dash"/>
            </a:ln>
          </c:spPr>
          <c:marker>
            <c:symbol val="none"/>
          </c:marker>
          <c:dLbls>
            <c:dLbl>
              <c:idx val="43"/>
              <c:tx>
                <c:rich>
                  <a:bodyPr/>
                  <a:lstStyle/>
                  <a:p>
                    <a:r>
                      <a:rPr lang="en-US" altLang="ko-KR" sz="650" b="1">
                        <a:solidFill>
                          <a:srgbClr val="C0504D"/>
                        </a:solidFill>
                        <a:latin typeface="KoPubWorld돋움체 Medium"/>
                        <a:ea typeface="KoPubWorld돋움체 Medium"/>
                        <a:cs typeface="KoPubWorld돋움체 Medium"/>
                      </a:rPr>
                      <a:t>5.5%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3A1D-4474-B200-5910F3CC8B2A}"/>
                </c:ext>
              </c:extLst>
            </c:dLbl>
            <c:dLbl>
              <c:idx val="50"/>
              <c:tx>
                <c:rich>
                  <a:bodyPr/>
                  <a:lstStyle/>
                  <a:p>
                    <a:r>
                      <a:rPr lang="en-US" altLang="ko-KR" sz="650" b="1">
                        <a:solidFill>
                          <a:srgbClr val="C0504D"/>
                        </a:solidFill>
                        <a:latin typeface="KoPubWorld돋움체 Medium"/>
                        <a:ea typeface="KoPubWorld돋움체 Medium"/>
                        <a:cs typeface="KoPubWorld돋움체 Medium"/>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3A1D-4474-B200-5910F3CC8B2A}"/>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Sheet1!$J$2:$J$53</c:f>
              <c:numCache>
                <c:formatCode>General</c:formatCode>
                <c:ptCount val="52"/>
                <c:pt idx="40" formatCode="0.0%">
                  <c:v>5.1330000000000001E-2</c:v>
                </c:pt>
                <c:pt idx="41" formatCode="0.0%">
                  <c:v>5.3460000000000001E-2</c:v>
                </c:pt>
                <c:pt idx="42" formatCode="0.0%">
                  <c:v>5.4399999999999997E-2</c:v>
                </c:pt>
                <c:pt idx="43" formatCode="0.0%">
                  <c:v>5.4519999999999999E-2</c:v>
                </c:pt>
                <c:pt idx="44" formatCode="0.0%">
                  <c:v>5.4039999999999998E-2</c:v>
                </c:pt>
                <c:pt idx="45" formatCode="0.0%">
                  <c:v>5.3319999999999999E-2</c:v>
                </c:pt>
                <c:pt idx="46" formatCode="0.0%">
                  <c:v>5.2600000000000001E-2</c:v>
                </c:pt>
                <c:pt idx="47" formatCode="0.0%">
                  <c:v>5.212E-2</c:v>
                </c:pt>
                <c:pt idx="48" formatCode="0.0%">
                  <c:v>5.1659999999999998E-2</c:v>
                </c:pt>
                <c:pt idx="49" formatCode="0.0%">
                  <c:v>5.1180000000000003E-2</c:v>
                </c:pt>
                <c:pt idx="50" formatCode="0.0%">
                  <c:v>5.0959999999999998E-2</c:v>
                </c:pt>
                <c:pt idx="51" formatCode="0.0%">
                  <c:v>5.074E-2</c:v>
                </c:pt>
              </c:numCache>
            </c:numRef>
          </c:val>
          <c:smooth val="0"/>
          <c:extLst>
            <c:ext xmlns:c16="http://schemas.microsoft.com/office/drawing/2014/chart" uri="{C3380CC4-5D6E-409C-BE32-E72D297353CC}">
              <c16:uniqueId val="{00000018-3A1D-4474-B200-5910F3CC8B2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rot="0" vert="horz"/>
          <a:lstStyle/>
          <a:p>
            <a:pPr>
              <a:defRPr sz="550"/>
            </a:pPr>
            <a:endParaRPr lang="ko-KR"/>
          </a:p>
        </c:txPr>
        <c:crossAx val="2140495176"/>
        <c:crosses val="autoZero"/>
        <c:auto val="1"/>
        <c:lblAlgn val="ctr"/>
        <c:lblOffset val="100"/>
        <c:noMultiLvlLbl val="0"/>
      </c:catAx>
      <c:valAx>
        <c:axId val="2140495176"/>
        <c:scaling>
          <c:orientation val="minMax"/>
          <c:max val="0.09"/>
          <c:min val="0"/>
        </c:scaling>
        <c:delete val="0"/>
        <c:axPos val="l"/>
        <c:numFmt formatCode="0%" sourceLinked="0"/>
        <c:majorTickMark val="out"/>
        <c:minorTickMark val="none"/>
        <c:tickLblPos val="nextTo"/>
        <c:spPr>
          <a:ln>
            <a:noFill/>
          </a:ln>
        </c:spPr>
        <c:txPr>
          <a:bodyPr/>
          <a:lstStyle/>
          <a:p>
            <a:pPr>
              <a:defRPr sz="700"/>
            </a:pPr>
            <a:endParaRPr lang="ko-KR"/>
          </a:p>
        </c:txPr>
        <c:crossAx val="2118791784"/>
        <c:crosses val="autoZero"/>
        <c:crossBetween val="between"/>
        <c:majorUnit val="0.01"/>
      </c:valAx>
    </c:plotArea>
    <c:legend>
      <c:legendPos val="t"/>
      <c:legendEntry>
        <c:idx val="2"/>
        <c:delete val="1"/>
      </c:legendEntry>
      <c:legendEntry>
        <c:idx val="3"/>
        <c:delete val="1"/>
      </c:legendEntry>
      <c:legendEntry>
        <c:idx val="4"/>
        <c:delete val="1"/>
      </c:legendEntry>
      <c:layout>
        <c:manualLayout>
          <c:xMode val="edge"/>
          <c:yMode val="edge"/>
          <c:x val="0.06"/>
          <c:y val="0"/>
          <c:w val="0.94"/>
          <c:h val="0.1"/>
        </c:manualLayout>
      </c:layout>
      <c:overlay val="0"/>
      <c:txPr>
        <a:bodyPr/>
        <a:lstStyle/>
        <a:p>
          <a:pPr>
            <a:defRPr sz="700"/>
          </a:pPr>
          <a:endParaRPr lang="ko-KR"/>
        </a:p>
      </c:txPr>
    </c:legend>
    <c:plotVisOnly val="1"/>
    <c:dispBlanksAs val="span"/>
    <c:showDLblsOverMax val="0"/>
  </c:chart>
  <c:txPr>
    <a:bodyPr/>
    <a:lstStyle/>
    <a:p>
      <a:pPr>
        <a:defRPr sz="700">
          <a:latin typeface="KoPubWorld돋움체 Ligh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3"/>
            <a:ext cx="2950529" cy="499033"/>
          </a:xfrm>
          <a:prstGeom prst="rect">
            <a:avLst/>
          </a:prstGeom>
        </p:spPr>
        <p:txBody>
          <a:bodyPr vert="horz" lIns="91540" tIns="45769" rIns="91540" bIns="45769"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2" y="3"/>
            <a:ext cx="2950529" cy="499033"/>
          </a:xfrm>
          <a:prstGeom prst="rect">
            <a:avLst/>
          </a:prstGeom>
        </p:spPr>
        <p:txBody>
          <a:bodyPr vert="horz" lIns="91540" tIns="45769" rIns="91540" bIns="45769"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2026-10-01</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1" y="9440309"/>
            <a:ext cx="2950529" cy="499033"/>
          </a:xfrm>
          <a:prstGeom prst="rect">
            <a:avLst/>
          </a:prstGeom>
        </p:spPr>
        <p:txBody>
          <a:bodyPr vert="horz" lIns="91540" tIns="45769" rIns="91540" bIns="45769"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2" y="9440309"/>
            <a:ext cx="2950529" cy="499033"/>
          </a:xfrm>
          <a:prstGeom prst="rect">
            <a:avLst/>
          </a:prstGeom>
        </p:spPr>
        <p:txBody>
          <a:bodyPr vert="horz" lIns="91540" tIns="45769" rIns="91540" bIns="45769"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2" tIns="45761" rIns="91522"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2" tIns="45761" rIns="91522"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2026-10-01</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2" tIns="45761" rIns="91522"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2" tIns="45761" rIns="91522"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2" tIns="45761" rIns="91522"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2" tIns="45761" rIns="91522"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17A77-EB0A-59CD-3E45-75969671F8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807A19C-242D-03DC-AC7E-8D76A8F0AE1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A3EE431-B322-B2FB-5523-724110EB608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294748F-CB85-EC77-4825-9169B251F532}"/>
              </a:ext>
            </a:extLst>
          </p:cNvPr>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3259228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marL="0" marR="0" lvl="0" indent="0" algn="r" defTabSz="457755" rtl="0" eaLnBrk="1" fontAlgn="auto" latinLnBrk="0" hangingPunct="1">
              <a:lnSpc>
                <a:spcPct val="100000"/>
              </a:lnSpc>
              <a:spcBef>
                <a:spcPts val="0"/>
              </a:spcBef>
              <a:spcAft>
                <a:spcPts val="0"/>
              </a:spcAft>
              <a:buClrTx/>
              <a:buSzTx/>
              <a:buFontTx/>
              <a:buNone/>
              <a:tabLst/>
              <a:defRPr/>
            </a:pPr>
            <a:fld id="{2B8DFE68-44DA-46E6-B8A3-9F09BDCA52AB}" type="slidenum">
              <a:rPr kumimoji="0" lang="ko-KR" altLang="en-US" sz="1200" b="0" i="0" u="none" strike="noStrike" kern="1200" cap="none" spc="0" normalizeH="0" baseline="0" noProof="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pPr marL="0" marR="0" lvl="0" indent="0" algn="r" defTabSz="457755"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14</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15</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microsoft.com/office/2007/relationships/hdphoto" Target="../media/hdphoto2.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xml"/><Relationship Id="rId4" Type="http://schemas.microsoft.com/office/2007/relationships/hdphoto" Target="../media/hdphoto2.wdp"/></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7.xml"/><Relationship Id="rId4" Type="http://schemas.microsoft.com/office/2007/relationships/hdphoto" Target="../media/hdphoto2.wdp"/></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8.xml"/><Relationship Id="rId4" Type="http://schemas.microsoft.com/office/2007/relationships/hdphoto" Target="../media/hdphoto2.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9.xml"/><Relationship Id="rId4" Type="http://schemas.microsoft.com/office/2007/relationships/hdphoto" Target="../media/hdphoto2.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 Id="rId4" Type="http://schemas.microsoft.com/office/2007/relationships/hdphoto" Target="../media/hdphoto2.wdp"/></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 Id="rId4" Type="http://schemas.microsoft.com/office/2007/relationships/hdphoto" Target="../media/hdphoto2.wdp"/></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48828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67037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a:srcRect l="18544" b="4354"/>
          <a:stretch/>
        </p:blipFill>
        <p:spPr>
          <a:xfrm>
            <a:off x="7788" y="4094632"/>
            <a:ext cx="4372862"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5" name="직선 연결선 4">
            <a:extLst>
              <a:ext uri="{FF2B5EF4-FFF2-40B4-BE49-F238E27FC236}">
                <a16:creationId xmlns:a16="http://schemas.microsoft.com/office/drawing/2014/main" id="{E698E318-C31C-4B7D-C179-4C56B3D6F138}"/>
              </a:ext>
            </a:extLst>
          </p:cNvPr>
          <p:cNvCxnSpPr/>
          <p:nvPr userDrawn="1"/>
        </p:nvCxnSpPr>
        <p:spPr>
          <a:xfrm>
            <a:off x="269874" y="6804025"/>
            <a:ext cx="10044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a:srcRect l="18544" b="4354"/>
          <a:stretch/>
        </p:blipFill>
        <p:spPr>
          <a:xfrm>
            <a:off x="7788" y="4094632"/>
            <a:ext cx="4372862"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그림 1">
            <a:extLst>
              <a:ext uri="{FF2B5EF4-FFF2-40B4-BE49-F238E27FC236}">
                <a16:creationId xmlns:a16="http://schemas.microsoft.com/office/drawing/2014/main" id="{9520C0AA-552F-A4DD-999E-0243E4E8C24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4562" r="10258"/>
          <a:stretch/>
        </p:blipFill>
        <p:spPr>
          <a:xfrm>
            <a:off x="0" y="0"/>
            <a:ext cx="10746506" cy="7559675"/>
          </a:xfrm>
          <a:prstGeom prst="rect">
            <a:avLst/>
          </a:prstGeom>
        </p:spPr>
      </p:pic>
      <p:sp>
        <p:nvSpPr>
          <p:cNvPr id="4" name="직사각형 3">
            <a:extLst>
              <a:ext uri="{FF2B5EF4-FFF2-40B4-BE49-F238E27FC236}">
                <a16:creationId xmlns:a16="http://schemas.microsoft.com/office/drawing/2014/main" id="{4E719A9A-BDF6-2C92-6A2F-31156B42C4B1}"/>
              </a:ext>
            </a:extLst>
          </p:cNvPr>
          <p:cNvSpPr/>
          <p:nvPr userDrawn="1"/>
        </p:nvSpPr>
        <p:spPr>
          <a:xfrm>
            <a:off x="0" y="0"/>
            <a:ext cx="10746505" cy="7559675"/>
          </a:xfrm>
          <a:prstGeom prst="rect">
            <a:avLst/>
          </a:prstGeom>
          <a:gradFill>
            <a:gsLst>
              <a:gs pos="0">
                <a:schemeClr val="bg1"/>
              </a:gs>
              <a:gs pos="53000">
                <a:schemeClr val="bg1"/>
              </a:gs>
              <a:gs pos="100000">
                <a:schemeClr val="bg1">
                  <a:alpha val="5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5" name="직선 연결선 4">
            <a:extLst>
              <a:ext uri="{FF2B5EF4-FFF2-40B4-BE49-F238E27FC236}">
                <a16:creationId xmlns:a16="http://schemas.microsoft.com/office/drawing/2014/main" id="{E698E318-C31C-4B7D-C179-4C56B3D6F138}"/>
              </a:ext>
            </a:extLst>
          </p:cNvPr>
          <p:cNvCxnSpPr/>
          <p:nvPr userDrawn="1"/>
        </p:nvCxnSpPr>
        <p:spPr>
          <a:xfrm>
            <a:off x="269874" y="6804025"/>
            <a:ext cx="10044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6" descr="CI기본형">
            <a:extLst>
              <a:ext uri="{FF2B5EF4-FFF2-40B4-BE49-F238E27FC236}">
                <a16:creationId xmlns:a16="http://schemas.microsoft.com/office/drawing/2014/main" id="{55030481-6155-9A3B-B805-FB15724CCEE6}"/>
              </a:ext>
            </a:extLst>
          </p:cNvPr>
          <p:cNvPicPr>
            <a:picLocks noChangeAspect="1" noChangeArrowheads="1"/>
          </p:cNvPicPr>
          <p:nvPr userDrawn="1"/>
        </p:nvPicPr>
        <p:blipFill>
          <a:blip r:embed="rId5" cstate="print">
            <a:extLst>
              <a:ext uri="{BEBA8EAE-BF5A-486C-A8C5-ECC9F3942E4B}">
                <a14:imgProps xmlns:a14="http://schemas.microsoft.com/office/drawing/2010/main">
                  <a14:imgLayer r:embed="rId6">
                    <a14:imgEffect>
                      <a14:saturation sat="33000"/>
                    </a14:imgEffect>
                  </a14:imgLayer>
                </a14:imgProps>
              </a:ext>
            </a:extLst>
          </a:blip>
          <a:srcRect t="14815" b="12407"/>
          <a:stretch>
            <a:fillRect/>
          </a:stretch>
        </p:blipFill>
        <p:spPr bwMode="auto">
          <a:xfrm>
            <a:off x="252807" y="6980340"/>
            <a:ext cx="1109453" cy="291885"/>
          </a:xfrm>
          <a:prstGeom prst="rect">
            <a:avLst/>
          </a:prstGeom>
          <a:noFill/>
          <a:ln w="9525">
            <a:noFill/>
            <a:miter lim="800000"/>
            <a:headEnd/>
            <a:tailEnd/>
          </a:ln>
        </p:spPr>
      </p:pic>
      <p:sp>
        <p:nvSpPr>
          <p:cNvPr id="8" name="TextBox 7">
            <a:extLst>
              <a:ext uri="{FF2B5EF4-FFF2-40B4-BE49-F238E27FC236}">
                <a16:creationId xmlns:a16="http://schemas.microsoft.com/office/drawing/2014/main" id="{10E34D32-4B6F-BEE4-CEB3-3973B4716071}"/>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0. Executive Summary</a:t>
            </a:r>
            <a:endParaRPr lang="ko-KR" altLang="en-US" noProof="0" dirty="0"/>
          </a:p>
        </p:txBody>
      </p:sp>
    </p:spTree>
    <p:extLst>
      <p:ext uri="{BB962C8B-B14F-4D97-AF65-F5344CB8AC3E}">
        <p14:creationId xmlns:p14="http://schemas.microsoft.com/office/powerpoint/2010/main" val="237837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p15:clr>
            <a:srgbClr val="FBAE40"/>
          </p15:clr>
        </p15:guide>
        <p15:guide id="3" pos="56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7F3924C1-BA52-5A60-A497-910BA82F3D32}"/>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7F3924C1-BA52-5A60-A497-910BA82F3D32}"/>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686BE778-4C5D-D3A6-39CD-76B38E7DE5D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3FC79C2-C7C9-A33B-644E-74BFA1A46C0C}"/>
              </a:ext>
            </a:extLst>
          </p:cNvPr>
          <p:cNvSpPr/>
          <p:nvPr userDrawn="1"/>
        </p:nvSpPr>
        <p:spPr>
          <a:xfrm flipV="1">
            <a:off x="6262678" y="-2"/>
            <a:ext cx="4429135" cy="755774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478594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흰배경">
    <p:spTree>
      <p:nvGrpSpPr>
        <p:cNvPr id="1" name=""/>
        <p:cNvGrpSpPr/>
        <p:nvPr/>
      </p:nvGrpSpPr>
      <p:grpSpPr>
        <a:xfrm>
          <a:off x="0" y="0"/>
          <a:ext cx="0" cy="0"/>
          <a:chOff x="0" y="0"/>
          <a:chExt cx="0" cy="0"/>
        </a:xfrm>
      </p:grpSpPr>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5" name="직사각형 4">
            <a:extLst>
              <a:ext uri="{FF2B5EF4-FFF2-40B4-BE49-F238E27FC236}">
                <a16:creationId xmlns:a16="http://schemas.microsoft.com/office/drawing/2014/main" id="{AD812282-E6E3-7F2E-5EBB-6FB19D37455E}"/>
              </a:ext>
            </a:extLst>
          </p:cNvPr>
          <p:cNvSpPr/>
          <p:nvPr userDrawn="1"/>
        </p:nvSpPr>
        <p:spPr>
          <a:xfrm>
            <a:off x="0" y="0"/>
            <a:ext cx="3689722"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088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흰배경">
    <p:spTree>
      <p:nvGrpSpPr>
        <p:cNvPr id="1" name=""/>
        <p:cNvGrpSpPr/>
        <p:nvPr/>
      </p:nvGrpSpPr>
      <p:grpSpPr>
        <a:xfrm>
          <a:off x="0" y="0"/>
          <a:ext cx="0" cy="0"/>
          <a:chOff x="0" y="0"/>
          <a:chExt cx="0" cy="0"/>
        </a:xfrm>
      </p:grpSpPr>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46" name="직사각형 45">
            <a:extLst>
              <a:ext uri="{FF2B5EF4-FFF2-40B4-BE49-F238E27FC236}">
                <a16:creationId xmlns:a16="http://schemas.microsoft.com/office/drawing/2014/main" id="{01A3F993-4EC0-3F23-3315-85EC6D737462}"/>
              </a:ext>
            </a:extLst>
          </p:cNvPr>
          <p:cNvSpPr/>
          <p:nvPr userDrawn="1"/>
        </p:nvSpPr>
        <p:spPr>
          <a:xfrm>
            <a:off x="-1" y="0"/>
            <a:ext cx="5345907"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07132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5D80BF7E-184B-205B-AB45-2A3F502FE30C}"/>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499FFDB0-81BC-FBAD-E505-4640D647C843}"/>
              </a:ext>
            </a:extLst>
          </p:cNvPr>
          <p:cNvSpPr/>
          <p:nvPr userDrawn="1"/>
        </p:nvSpPr>
        <p:spPr>
          <a:xfrm>
            <a:off x="6708327" y="0"/>
            <a:ext cx="3983486"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380462F6-3265-4BF7-1CB9-66B91B21A76A}"/>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IV.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380462F6-3265-4BF7-1CB9-66B91B21A76A}"/>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6757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CACC35F4-1F8A-8BD8-CEC0-1F0949D393CE}"/>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10127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p15:clr>
            <a:srgbClr val="FBAE40"/>
          </p15:clr>
        </p15:guide>
        <p15:guide id="3" pos="56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407539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67494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439009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87429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7645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추진 일정</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99736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74399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42040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56867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791787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4101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ags" Target="../tags/tag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764DE79-268F-4C1A-8933-263129D2AF90}" type="datetimeFigureOut">
              <a:rPr lang="en-US" smtClean="0"/>
              <a:t>10/1/2026</a:t>
            </a:fld>
            <a:endParaRPr lang="en-US" dirty="0"/>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4" r:id="rId3"/>
    <p:sldLayoutId id="2147483756" r:id="rId4"/>
    <p:sldLayoutId id="2147483730" r:id="rId5"/>
    <p:sldLayoutId id="2147483754" r:id="rId6"/>
    <p:sldLayoutId id="2147483731" r:id="rId7"/>
    <p:sldLayoutId id="2147483728" r:id="rId8"/>
    <p:sldLayoutId id="2147483784" r:id="rId9"/>
    <p:sldLayoutId id="2147483785" r:id="rId10"/>
    <p:sldLayoutId id="2147483757" r:id="rId11"/>
    <p:sldLayoutId id="2147483752" r:id="rId12"/>
    <p:sldLayoutId id="2147483755" r:id="rId13"/>
    <p:sldLayoutId id="2147483786" r:id="rId14"/>
    <p:sldLayoutId id="2147483750"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42733012"/>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1.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12.xml"/><Relationship Id="rId5" Type="http://schemas.openxmlformats.org/officeDocument/2006/relationships/chart" Target="../charts/char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emf"/><Relationship Id="rId2" Type="http://schemas.openxmlformats.org/officeDocument/2006/relationships/image" Target="../media/image9.jpeg"/><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chart" Target="../charts/chart5.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A445-4997-AD4B-4F0E-F83AB8C07931}"/>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E5BD4069-A1DC-5AA7-C341-322B7CE02DB0}"/>
              </a:ext>
            </a:extLst>
          </p:cNvPr>
          <p:cNvPicPr>
            <a:picLocks noChangeAspect="1"/>
          </p:cNvPicPr>
          <p:nvPr/>
        </p:nvPicPr>
        <p:blipFill>
          <a:blip r:embed="rId3"/>
          <a:stretch>
            <a:fillRect/>
          </a:stretch>
        </p:blipFill>
        <p:spPr>
          <a:xfrm>
            <a:off x="9068692" y="957901"/>
            <a:ext cx="1133106" cy="329076"/>
          </a:xfrm>
          <a:prstGeom prst="rect">
            <a:avLst/>
          </a:prstGeom>
        </p:spPr>
      </p:pic>
      <p:grpSp>
        <p:nvGrpSpPr>
          <p:cNvPr id="13" name="그룹 12">
            <a:extLst>
              <a:ext uri="{FF2B5EF4-FFF2-40B4-BE49-F238E27FC236}">
                <a16:creationId xmlns:a16="http://schemas.microsoft.com/office/drawing/2014/main" id="{CFB1820E-105D-C293-4060-20CB72E24CF5}"/>
              </a:ext>
            </a:extLst>
          </p:cNvPr>
          <p:cNvGrpSpPr/>
          <p:nvPr/>
        </p:nvGrpSpPr>
        <p:grpSpPr>
          <a:xfrm>
            <a:off x="-8792" y="1122040"/>
            <a:ext cx="10700605" cy="0"/>
            <a:chOff x="-8792" y="1288322"/>
            <a:chExt cx="9152793" cy="0"/>
          </a:xfrm>
        </p:grpSpPr>
        <p:cxnSp>
          <p:nvCxnSpPr>
            <p:cNvPr id="18" name="직선 연결선 17">
              <a:extLst>
                <a:ext uri="{FF2B5EF4-FFF2-40B4-BE49-F238E27FC236}">
                  <a16:creationId xmlns:a16="http://schemas.microsoft.com/office/drawing/2014/main" id="{B7C5A682-C79E-5F32-CA44-763852B1128B}"/>
                </a:ext>
              </a:extLst>
            </p:cNvPr>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9455BB99-810B-659B-6D48-071632F549E0}"/>
                </a:ext>
              </a:extLst>
            </p:cNvPr>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a:extLst>
              <a:ext uri="{FF2B5EF4-FFF2-40B4-BE49-F238E27FC236}">
                <a16:creationId xmlns:a16="http://schemas.microsoft.com/office/drawing/2014/main" id="{D5B8E9A8-BFE9-66DD-20AB-07ED3AC71443}"/>
              </a:ext>
            </a:extLst>
          </p:cNvPr>
          <p:cNvSpPr/>
          <p:nvPr/>
        </p:nvSpPr>
        <p:spPr>
          <a:xfrm>
            <a:off x="377826" y="5039977"/>
            <a:ext cx="9709231" cy="246221"/>
          </a:xfrm>
          <a:prstGeom prst="rect">
            <a:avLst/>
          </a:prstGeom>
        </p:spPr>
        <p:txBody>
          <a:bodyPr wrap="square" lIns="7200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KORAMCO REITs Management and Trust Co., Ltd. </a:t>
            </a:r>
          </a:p>
        </p:txBody>
      </p:sp>
      <p:sp>
        <p:nvSpPr>
          <p:cNvPr id="22" name="Rectangle 2">
            <a:extLst>
              <a:ext uri="{FF2B5EF4-FFF2-40B4-BE49-F238E27FC236}">
                <a16:creationId xmlns:a16="http://schemas.microsoft.com/office/drawing/2014/main" id="{D6E03260-A910-AEDE-2748-E10E3F17FCA9}"/>
              </a:ext>
            </a:extLst>
          </p:cNvPr>
          <p:cNvSpPr txBox="1">
            <a:spLocks/>
          </p:cNvSpPr>
          <p:nvPr/>
        </p:nvSpPr>
        <p:spPr bwMode="auto">
          <a:xfrm>
            <a:off x="377825" y="2238959"/>
            <a:ext cx="8460468" cy="1994383"/>
          </a:xfrm>
          <a:prstGeom prst="rect">
            <a:avLst/>
          </a:prstGeom>
          <a:noFill/>
          <a:ln w="9525" algn="ctr">
            <a:noFill/>
            <a:miter lim="800000"/>
            <a:headEnd/>
            <a:tailEnd/>
          </a:ln>
        </p:spPr>
        <p:txBody>
          <a:bodyPr lIns="72000" anchor="ctr"/>
          <a:lstStyle/>
          <a:p>
            <a:pPr indent="7520" fontAlgn="base">
              <a:lnSpc>
                <a:spcPct val="250000"/>
              </a:lnSpc>
              <a:spcBef>
                <a:spcPct val="0"/>
              </a:spcBef>
              <a:spcAft>
                <a:spcPts val="188"/>
              </a:spcAft>
              <a:tabLst>
                <a:tab pos="1631714" algn="l"/>
              </a:tabLst>
              <a:defRPr/>
            </a:pPr>
            <a:r>
              <a:rPr kumimoji="1" lang="ko-KR" altLang="en-US" sz="14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코람코라이프인프라위탁관리부동산투자회사ㅣ</a:t>
            </a:r>
            <a:r>
              <a:rPr kumimoji="1" lang="en-US" altLang="ko-KR" sz="14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KOSPI 357120</a:t>
            </a: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a:t>
            </a:r>
            <a:r>
              <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r>
              <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투자의 건</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a:extLst>
              <a:ext uri="{FF2B5EF4-FFF2-40B4-BE49-F238E27FC236}">
                <a16:creationId xmlns:a16="http://schemas.microsoft.com/office/drawing/2014/main" id="{201B8014-D1FC-8A19-53A9-201F470C2B02}"/>
              </a:ext>
            </a:extLst>
          </p:cNvPr>
          <p:cNvSpPr txBox="1">
            <a:spLocks/>
          </p:cNvSpPr>
          <p:nvPr/>
        </p:nvSpPr>
        <p:spPr bwMode="auto">
          <a:xfrm>
            <a:off x="378619" y="6467365"/>
            <a:ext cx="9936162" cy="307054"/>
          </a:xfrm>
          <a:prstGeom prst="rect">
            <a:avLst/>
          </a:prstGeom>
          <a:noFill/>
          <a:ln w="9525" algn="ctr">
            <a:noFill/>
            <a:miter lim="800000"/>
            <a:headEnd/>
            <a:tailEnd/>
          </a:ln>
        </p:spPr>
        <p:txBody>
          <a:bodyPr lIns="36000" rIns="36000" anchor="ct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a:extLst>
              <a:ext uri="{FF2B5EF4-FFF2-40B4-BE49-F238E27FC236}">
                <a16:creationId xmlns:a16="http://schemas.microsoft.com/office/drawing/2014/main" id="{E687DEBB-8870-0992-2220-19B0D67D478E}"/>
              </a:ext>
            </a:extLst>
          </p:cNvPr>
          <p:cNvSpPr/>
          <p:nvPr/>
        </p:nvSpPr>
        <p:spPr>
          <a:xfrm>
            <a:off x="377825" y="5400017"/>
            <a:ext cx="1184355" cy="246221"/>
          </a:xfrm>
          <a:prstGeom prst="rect">
            <a:avLst/>
          </a:prstGeom>
        </p:spPr>
        <p:txBody>
          <a:bodyPr wrap="square" lIns="7200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a:extLst>
              <a:ext uri="{FF2B5EF4-FFF2-40B4-BE49-F238E27FC236}">
                <a16:creationId xmlns:a16="http://schemas.microsoft.com/office/drawing/2014/main" id="{F1AA7FE9-4C12-D201-6B48-FC65EB59EBDA}"/>
              </a:ext>
            </a:extLst>
          </p:cNvPr>
          <p:cNvSpPr/>
          <p:nvPr/>
        </p:nvSpPr>
        <p:spPr>
          <a:xfrm>
            <a:off x="8396967" y="640804"/>
            <a:ext cx="2294846" cy="246221"/>
          </a:xfrm>
          <a:prstGeom prst="rect">
            <a:avLst/>
          </a:prstGeom>
          <a:solidFill>
            <a:srgbClr val="FF0000"/>
          </a:solidFill>
        </p:spPr>
        <p:txBody>
          <a:bodyPr wrap="square" rIns="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sp>
        <p:nvSpPr>
          <p:cNvPr id="4" name="직사각형 3">
            <a:extLst>
              <a:ext uri="{FF2B5EF4-FFF2-40B4-BE49-F238E27FC236}">
                <a16:creationId xmlns:a16="http://schemas.microsoft.com/office/drawing/2014/main" id="{AC905E75-DCC0-450B-B1FE-FCCAD9ADC70C}"/>
              </a:ext>
            </a:extLst>
          </p:cNvPr>
          <p:cNvSpPr/>
          <p:nvPr/>
        </p:nvSpPr>
        <p:spPr>
          <a:xfrm>
            <a:off x="377827" y="338174"/>
            <a:ext cx="1184354" cy="250068"/>
          </a:xfrm>
          <a:prstGeom prst="rect">
            <a:avLst/>
          </a:prstGeom>
        </p:spPr>
        <p:txBody>
          <a:bodyPr wrap="square" lIns="7200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a:t>
            </a:r>
            <a:r>
              <a:rPr kumimoji="0"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p>
        </p:txBody>
      </p:sp>
    </p:spTree>
    <p:extLst>
      <p:ext uri="{BB962C8B-B14F-4D97-AF65-F5344CB8AC3E}">
        <p14:creationId xmlns:p14="http://schemas.microsoft.com/office/powerpoint/2010/main" val="405712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kumimoji="0" lang="ko-KR" altLang="en-US" sz="1107" b="0" i="0" u="none" strike="noStrike" kern="1200" cap="none" spc="0" normalizeH="0" baseline="0" noProof="0" dirty="0" err="1">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ko-KR"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kumimoji="0" lang="ko-KR" altLang="en-US"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996427"/>
          </a:xfrm>
          <a:prstGeom prst="rect">
            <a:avLst/>
          </a:prstGeom>
          <a:noFill/>
        </p:spPr>
        <p:txBody>
          <a:bodyPr wrap="square" rtlCol="0" anchor="ctr" anchorCtr="0">
            <a:spAutoFit/>
          </a:bodyPr>
          <a:lstStyle/>
          <a:p>
            <a:pPr marL="171450" marR="0" lvl="0" indent="-171450" algn="l" defTabSz="457200" rtl="0" eaLnBrk="1" fontAlgn="auto" latinLnBrk="0"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marR="0" lvl="0" indent="-171450" algn="l" defTabSz="457200" rtl="0" eaLnBrk="1" fontAlgn="auto" latinLnBrk="0"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171450" lvl="0" indent="-171450">
              <a:lnSpc>
                <a:spcPct val="150000"/>
              </a:lnSpc>
              <a:buFontTx/>
              <a:buChar char="-"/>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Ⅰ</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출자의 건 </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lvl="0" indent="-171450">
              <a:lnSpc>
                <a:spcPct val="150000"/>
              </a:lnSpc>
              <a:buFontTx/>
              <a:buChar char="-"/>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Ⅱ</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매입확약서(LOC) 날인</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 안건은 KLI의 자리츠 보통주 출자 및 1·2종 우선주 매입확약서(LOC) 날인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10/16 주주간계약 체결·매입확약서 제출 후 10/21 자리츠(KLL리츠) 보통주 주금 납입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3723861000"/>
              </p:ext>
            </p:extLst>
          </p:nvPr>
        </p:nvGraphicFramePr>
        <p:xfrm>
          <a:off x="509644" y="2357351"/>
          <a:ext cx="9756000" cy="139065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20000"/>
                        </a:lnSpc>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보통주 148억·제2-1종 160억원 출자</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 2인·대표이사 지명, 의결권 지분 71.4% (납입 10/21)</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날인의 건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240억(24개월)·제2종 340억(12개월) 매입확약서 제출</a:t>
                      </a:r>
                    </a:p>
                    <a:p>
                      <a:pPr marL="171450" indent="-171450" algn="l" latinLnBrk="1">
                        <a:lnSpc>
                          <a:spcPct val="150000"/>
                        </a:lnSpc>
                        <a:buFont typeface="Arial" panose="020B0604020202020204" pitchFamily="34" charset="0"/>
                        <a:buNone/>
                      </a:pP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1종 연 5.0%, 2종 연 3.0% + 위약벌 20%</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37" name="꺾인 연결선 22">
            <a:extLst>
              <a:ext uri="{FF2B5EF4-FFF2-40B4-BE49-F238E27FC236}">
                <a16:creationId xmlns:a16="http://schemas.microsoft.com/office/drawing/2014/main" id="{0DB8BE85-BA40-2273-2D22-D6062390D50C}"/>
              </a:ext>
            </a:extLst>
          </p:cNvPr>
          <p:cNvCxnSpPr>
            <a:cxnSpLocks/>
            <a:stCxn id="128" idx="0"/>
            <a:endCxn id="107"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741AF1-BAD2-5C01-53D6-56C22C06D785}"/>
              </a:ext>
            </a:extLst>
          </p:cNvPr>
          <p:cNvSpPr txBox="1"/>
          <p:nvPr/>
        </p:nvSpPr>
        <p:spPr>
          <a:xfrm>
            <a:off x="4789082" y="4680021"/>
            <a:ext cx="713905"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41" name="직사각형 40">
            <a:extLst>
              <a:ext uri="{FF2B5EF4-FFF2-40B4-BE49-F238E27FC236}">
                <a16:creationId xmlns:a16="http://schemas.microsoft.com/office/drawing/2014/main" id="{FBF764AD-9F4D-007E-53D4-B86677FB241D}"/>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27CDB938-FE60-2B09-8A37-524FC46A4095}"/>
              </a:ext>
            </a:extLst>
          </p:cNvPr>
          <p:cNvGrpSpPr/>
          <p:nvPr/>
        </p:nvGrpSpPr>
        <p:grpSpPr>
          <a:xfrm>
            <a:off x="611892" y="4169801"/>
            <a:ext cx="1939955" cy="246221"/>
            <a:chOff x="455544" y="-592941"/>
            <a:chExt cx="1939955" cy="246221"/>
          </a:xfrm>
        </p:grpSpPr>
        <p:sp>
          <p:nvSpPr>
            <p:cNvPr id="46" name="TextBox 45">
              <a:extLst>
                <a:ext uri="{FF2B5EF4-FFF2-40B4-BE49-F238E27FC236}">
                  <a16:creationId xmlns:a16="http://schemas.microsoft.com/office/drawing/2014/main" id="{E1FAB967-07D7-8FD3-425E-0D3109939F03}"/>
                </a:ext>
              </a:extLst>
            </p:cNvPr>
            <p:cNvSpPr txBox="1"/>
            <p:nvPr/>
          </p:nvSpPr>
          <p:spPr>
            <a:xfrm>
              <a:off x="455544" y="-592941"/>
              <a:ext cx="1939955"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직사각형 48">
              <a:extLst>
                <a:ext uri="{FF2B5EF4-FFF2-40B4-BE49-F238E27FC236}">
                  <a16:creationId xmlns:a16="http://schemas.microsoft.com/office/drawing/2014/main" id="{E86436BC-529B-CDEB-D50C-452D2F00AD9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0" name="오른쪽 화살표 16">
            <a:extLst>
              <a:ext uri="{FF2B5EF4-FFF2-40B4-BE49-F238E27FC236}">
                <a16:creationId xmlns:a16="http://schemas.microsoft.com/office/drawing/2014/main" id="{77E91E03-98F2-450B-77A1-43629DA4947B}"/>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1" name="오른쪽 화살표 17">
            <a:extLst>
              <a:ext uri="{FF2B5EF4-FFF2-40B4-BE49-F238E27FC236}">
                <a16:creationId xmlns:a16="http://schemas.microsoft.com/office/drawing/2014/main" id="{CD838F5B-8BA9-2276-8BBF-715F081CA06D}"/>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3" name="TextBox 52">
            <a:extLst>
              <a:ext uri="{FF2B5EF4-FFF2-40B4-BE49-F238E27FC236}">
                <a16:creationId xmlns:a16="http://schemas.microsoft.com/office/drawing/2014/main" id="{D970675F-0876-D174-6135-52B374A54357}"/>
              </a:ext>
            </a:extLst>
          </p:cNvPr>
          <p:cNvSpPr txBox="1"/>
          <p:nvPr/>
        </p:nvSpPr>
        <p:spPr>
          <a:xfrm>
            <a:off x="2352916" y="4986221"/>
            <a:ext cx="822566" cy="230832"/>
          </a:xfrm>
          <a:prstGeom prst="rect">
            <a:avLst/>
          </a:prstGeom>
          <a:solidFill>
            <a:schemeClr val="bg1"/>
          </a:solid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68" name="타원 67">
            <a:extLst>
              <a:ext uri="{FF2B5EF4-FFF2-40B4-BE49-F238E27FC236}">
                <a16:creationId xmlns:a16="http://schemas.microsoft.com/office/drawing/2014/main" id="{70D1D696-6606-5D96-F8CA-FCD3F6A9FB36}"/>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69" name="TextBox 68">
            <a:extLst>
              <a:ext uri="{FF2B5EF4-FFF2-40B4-BE49-F238E27FC236}">
                <a16:creationId xmlns:a16="http://schemas.microsoft.com/office/drawing/2014/main" id="{7D2E9ED6-7362-DE30-0B31-C1578C9866B8}"/>
              </a:ext>
            </a:extLst>
          </p:cNvPr>
          <p:cNvSpPr txBox="1"/>
          <p:nvPr/>
        </p:nvSpPr>
        <p:spPr>
          <a:xfrm>
            <a:off x="2245982" y="5738449"/>
            <a:ext cx="1400757" cy="415498"/>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1" name="TextBox 70">
            <a:extLst>
              <a:ext uri="{FF2B5EF4-FFF2-40B4-BE49-F238E27FC236}">
                <a16:creationId xmlns:a16="http://schemas.microsoft.com/office/drawing/2014/main" id="{115C11F2-9E38-B74F-254D-622DC354C0D0}"/>
              </a:ext>
            </a:extLst>
          </p:cNvPr>
          <p:cNvSpPr txBox="1"/>
          <p:nvPr/>
        </p:nvSpPr>
        <p:spPr>
          <a:xfrm>
            <a:off x="8858900"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2" name="TextBox 71">
            <a:extLst>
              <a:ext uri="{FF2B5EF4-FFF2-40B4-BE49-F238E27FC236}">
                <a16:creationId xmlns:a16="http://schemas.microsoft.com/office/drawing/2014/main" id="{5802985F-42AB-2FCB-80B6-76F06B19D051}"/>
              </a:ext>
            </a:extLst>
          </p:cNvPr>
          <p:cNvSpPr txBox="1"/>
          <p:nvPr/>
        </p:nvSpPr>
        <p:spPr>
          <a:xfrm>
            <a:off x="8825409"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73" name="타원 72">
            <a:extLst>
              <a:ext uri="{FF2B5EF4-FFF2-40B4-BE49-F238E27FC236}">
                <a16:creationId xmlns:a16="http://schemas.microsoft.com/office/drawing/2014/main" id="{432A4B53-2301-9464-B196-EC65F5A61494}"/>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80" name="TextBox 79">
            <a:extLst>
              <a:ext uri="{FF2B5EF4-FFF2-40B4-BE49-F238E27FC236}">
                <a16:creationId xmlns:a16="http://schemas.microsoft.com/office/drawing/2014/main" id="{6DFFD4EE-87BB-0698-6FED-0AACAF2F6A79}"/>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1" name="TextBox 80">
            <a:extLst>
              <a:ext uri="{FF2B5EF4-FFF2-40B4-BE49-F238E27FC236}">
                <a16:creationId xmlns:a16="http://schemas.microsoft.com/office/drawing/2014/main" id="{D1397358-E35E-A927-FB9E-0BD060B3B4A0}"/>
              </a:ext>
            </a:extLst>
          </p:cNvPr>
          <p:cNvSpPr txBox="1"/>
          <p:nvPr/>
        </p:nvSpPr>
        <p:spPr>
          <a:xfrm>
            <a:off x="463705"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84" name="타원 83">
            <a:extLst>
              <a:ext uri="{FF2B5EF4-FFF2-40B4-BE49-F238E27FC236}">
                <a16:creationId xmlns:a16="http://schemas.microsoft.com/office/drawing/2014/main" id="{AD94EA02-D19C-8C10-B6A4-826DD48CB6FC}"/>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47" name="그룹 146">
            <a:extLst>
              <a:ext uri="{FF2B5EF4-FFF2-40B4-BE49-F238E27FC236}">
                <a16:creationId xmlns:a16="http://schemas.microsoft.com/office/drawing/2014/main" id="{D82D1F4D-AC1D-336B-F40F-C3F225004812}"/>
              </a:ext>
            </a:extLst>
          </p:cNvPr>
          <p:cNvGrpSpPr/>
          <p:nvPr/>
        </p:nvGrpSpPr>
        <p:grpSpPr>
          <a:xfrm>
            <a:off x="1183060" y="4992572"/>
            <a:ext cx="925254" cy="889018"/>
            <a:chOff x="1777019" y="4986221"/>
            <a:chExt cx="925254" cy="889018"/>
          </a:xfrm>
        </p:grpSpPr>
        <p:sp>
          <p:nvSpPr>
            <p:cNvPr id="95" name="TextBox 94">
              <a:extLst>
                <a:ext uri="{FF2B5EF4-FFF2-40B4-BE49-F238E27FC236}">
                  <a16:creationId xmlns:a16="http://schemas.microsoft.com/office/drawing/2014/main" id="{F6431406-7568-7589-EB39-B69A904D4348}"/>
                </a:ext>
              </a:extLst>
            </p:cNvPr>
            <p:cNvSpPr txBox="1"/>
            <p:nvPr/>
          </p:nvSpPr>
          <p:spPr>
            <a:xfrm>
              <a:off x="1777019" y="5736740"/>
              <a:ext cx="925254"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6" name="TextBox 95">
              <a:extLst>
                <a:ext uri="{FF2B5EF4-FFF2-40B4-BE49-F238E27FC236}">
                  <a16:creationId xmlns:a16="http://schemas.microsoft.com/office/drawing/2014/main" id="{AD0C1413-248E-C2E6-DD04-800B8BC8E6E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7" name="타원 96">
              <a:extLst>
                <a:ext uri="{FF2B5EF4-FFF2-40B4-BE49-F238E27FC236}">
                  <a16:creationId xmlns:a16="http://schemas.microsoft.com/office/drawing/2014/main" id="{856E6372-F09C-2050-1115-6439A40C598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6" name="TextBox 105">
            <a:extLst>
              <a:ext uri="{FF2B5EF4-FFF2-40B4-BE49-F238E27FC236}">
                <a16:creationId xmlns:a16="http://schemas.microsoft.com/office/drawing/2014/main" id="{F2ACFEBC-6570-5CB2-BCC3-51851881A24B}"/>
              </a:ext>
            </a:extLst>
          </p:cNvPr>
          <p:cNvSpPr txBox="1"/>
          <p:nvPr/>
        </p:nvSpPr>
        <p:spPr>
          <a:xfrm>
            <a:off x="609669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 대출심의 완료</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7" name="TextBox 106">
            <a:extLst>
              <a:ext uri="{FF2B5EF4-FFF2-40B4-BE49-F238E27FC236}">
                <a16:creationId xmlns:a16="http://schemas.microsoft.com/office/drawing/2014/main" id="{A9303C4E-5718-6FBB-625F-B6A060B01B66}"/>
              </a:ext>
            </a:extLst>
          </p:cNvPr>
          <p:cNvSpPr txBox="1"/>
          <p:nvPr/>
        </p:nvSpPr>
        <p:spPr>
          <a:xfrm>
            <a:off x="606320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23일</a:t>
            </a:r>
          </a:p>
        </p:txBody>
      </p:sp>
      <p:sp>
        <p:nvSpPr>
          <p:cNvPr id="108" name="타원 107">
            <a:extLst>
              <a:ext uri="{FF2B5EF4-FFF2-40B4-BE49-F238E27FC236}">
                <a16:creationId xmlns:a16="http://schemas.microsoft.com/office/drawing/2014/main" id="{59A4AA78-428E-DDCC-B56C-2DACCA88C748}"/>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 설립자본금 3억원 출자 및 발기설립 완료(9/11)</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 (KLI 추진일정 기준, 2026-10-01 갱신)</a:t>
            </a:r>
          </a:p>
        </p:txBody>
      </p:sp>
      <p:sp>
        <p:nvSpPr>
          <p:cNvPr id="117" name="TextBox 116">
            <a:extLst>
              <a:ext uri="{FF2B5EF4-FFF2-40B4-BE49-F238E27FC236}">
                <a16:creationId xmlns:a16="http://schemas.microsoft.com/office/drawing/2014/main" id="{91A8CA2F-12BF-26F2-3FD2-6FF1D0B79A7F}"/>
              </a:ext>
            </a:extLst>
          </p:cNvPr>
          <p:cNvSpPr txBox="1"/>
          <p:nvPr/>
        </p:nvSpPr>
        <p:spPr>
          <a:xfrm>
            <a:off x="9610895" y="5743842"/>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8" name="TextBox 117">
            <a:extLst>
              <a:ext uri="{FF2B5EF4-FFF2-40B4-BE49-F238E27FC236}">
                <a16:creationId xmlns:a16="http://schemas.microsoft.com/office/drawing/2014/main" id="{03DE435F-1FA6-57EA-F3C7-96C660A9F6F9}"/>
              </a:ext>
            </a:extLst>
          </p:cNvPr>
          <p:cNvSpPr txBox="1"/>
          <p:nvPr/>
        </p:nvSpPr>
        <p:spPr>
          <a:xfrm>
            <a:off x="957740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28일</a:t>
            </a:r>
          </a:p>
        </p:txBody>
      </p:sp>
      <p:sp>
        <p:nvSpPr>
          <p:cNvPr id="119" name="타원 118">
            <a:extLst>
              <a:ext uri="{FF2B5EF4-FFF2-40B4-BE49-F238E27FC236}">
                <a16:creationId xmlns:a16="http://schemas.microsoft.com/office/drawing/2014/main" id="{438AADBD-DB37-CD70-39AF-101D0F9E270E}"/>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27" name="TextBox 126">
            <a:extLst>
              <a:ext uri="{FF2B5EF4-FFF2-40B4-BE49-F238E27FC236}">
                <a16:creationId xmlns:a16="http://schemas.microsoft.com/office/drawing/2014/main" id="{C14872E0-8C10-B7A7-708E-8488ACE5348B}"/>
              </a:ext>
            </a:extLst>
          </p:cNvPr>
          <p:cNvSpPr txBox="1"/>
          <p:nvPr/>
        </p:nvSpPr>
        <p:spPr>
          <a:xfrm>
            <a:off x="3685903" y="5765897"/>
            <a:ext cx="908761"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128" name="TextBox 127">
            <a:extLst>
              <a:ext uri="{FF2B5EF4-FFF2-40B4-BE49-F238E27FC236}">
                <a16:creationId xmlns:a16="http://schemas.microsoft.com/office/drawing/2014/main" id="{A54E3A0F-3C25-CB6F-412C-53299D74FC9F}"/>
              </a:ext>
            </a:extLst>
          </p:cNvPr>
          <p:cNvSpPr txBox="1"/>
          <p:nvPr/>
        </p:nvSpPr>
        <p:spPr>
          <a:xfrm>
            <a:off x="364862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129" name="타원 128">
            <a:extLst>
              <a:ext uri="{FF2B5EF4-FFF2-40B4-BE49-F238E27FC236}">
                <a16:creationId xmlns:a16="http://schemas.microsoft.com/office/drawing/2014/main" id="{8B34E54B-59F8-FB4D-CEC4-4B5848F7C560}"/>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99" name="TextBox 98">
            <a:extLst>
              <a:ext uri="{FF2B5EF4-FFF2-40B4-BE49-F238E27FC236}">
                <a16:creationId xmlns:a16="http://schemas.microsoft.com/office/drawing/2014/main" id="{53B93C17-3FD3-D6EE-FDDB-04EDF93F10E3}"/>
              </a:ext>
            </a:extLst>
          </p:cNvPr>
          <p:cNvSpPr txBox="1"/>
          <p:nvPr/>
        </p:nvSpPr>
        <p:spPr>
          <a:xfrm>
            <a:off x="694625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7일</a:t>
            </a:r>
          </a:p>
        </p:txBody>
      </p:sp>
      <p:sp>
        <p:nvSpPr>
          <p:cNvPr id="100" name="타원 99">
            <a:extLst>
              <a:ext uri="{FF2B5EF4-FFF2-40B4-BE49-F238E27FC236}">
                <a16:creationId xmlns:a16="http://schemas.microsoft.com/office/drawing/2014/main" id="{9AE1258E-3BEF-8BEC-2A4C-5E2DF185077B}"/>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6" name="그룹 15">
            <a:extLst>
              <a:ext uri="{FF2B5EF4-FFF2-40B4-BE49-F238E27FC236}">
                <a16:creationId xmlns:a16="http://schemas.microsoft.com/office/drawing/2014/main" id="{77391365-80BF-7F00-621D-CA55310CCAC4}"/>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35" name="직선 화살표 연결선 34">
              <a:extLst>
                <a:ext uri="{FF2B5EF4-FFF2-40B4-BE49-F238E27FC236}">
                  <a16:creationId xmlns:a16="http://schemas.microsoft.com/office/drawing/2014/main" id="{463ED6E2-9651-4166-80F6-1E19766039E0}"/>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759A2804-C822-6514-AB52-33AEADC618F7}"/>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 [10/7]</a:t>
              </a:r>
            </a:p>
          </p:txBody>
        </p:sp>
      </p:grpSp>
      <p:sp>
        <p:nvSpPr>
          <p:cNvPr id="19" name="TextBox 18">
            <a:extLst>
              <a:ext uri="{FF2B5EF4-FFF2-40B4-BE49-F238E27FC236}">
                <a16:creationId xmlns:a16="http://schemas.microsoft.com/office/drawing/2014/main" id="{39A7B024-B9AB-71BD-BEAA-BE016B6C55ED}"/>
              </a:ext>
            </a:extLst>
          </p:cNvPr>
          <p:cNvSpPr txBox="1"/>
          <p:nvPr/>
        </p:nvSpPr>
        <p:spPr>
          <a:xfrm>
            <a:off x="7614158" y="5916735"/>
            <a:ext cx="1296144" cy="203362"/>
          </a:xfrm>
          <a:prstGeom prst="rect">
            <a:avLst/>
          </a:prstGeom>
          <a:noFill/>
        </p:spPr>
        <p:txBody>
          <a:bodyPr wrap="none" tIns="0" bIns="0" rtlCol="0" anchor="ctr">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10/12</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10/15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1F472091-6262-E5A6-705F-906C7932A00C}"/>
              </a:ext>
            </a:extLst>
          </p:cNvPr>
          <p:cNvSpPr txBox="1"/>
          <p:nvPr/>
        </p:nvSpPr>
        <p:spPr>
          <a:xfrm>
            <a:off x="775817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16일</a:t>
            </a:r>
          </a:p>
        </p:txBody>
      </p:sp>
      <p:sp>
        <p:nvSpPr>
          <p:cNvPr id="21" name="타원 20">
            <a:extLst>
              <a:ext uri="{FF2B5EF4-FFF2-40B4-BE49-F238E27FC236}">
                <a16:creationId xmlns:a16="http://schemas.microsoft.com/office/drawing/2014/main" id="{9CF824AA-60CE-FFD4-2C83-4B2C908A4346}"/>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0" name="그룹 29">
            <a:extLst>
              <a:ext uri="{FF2B5EF4-FFF2-40B4-BE49-F238E27FC236}">
                <a16:creationId xmlns:a16="http://schemas.microsoft.com/office/drawing/2014/main" id="{F52D1B80-0EC2-08C8-9469-555B869581D3}"/>
              </a:ext>
            </a:extLst>
          </p:cNvPr>
          <p:cNvGrpSpPr/>
          <p:nvPr/>
        </p:nvGrpSpPr>
        <p:grpSpPr>
          <a:xfrm>
            <a:off x="4589822" y="4986221"/>
            <a:ext cx="739915" cy="983038"/>
            <a:chOff x="4705046" y="4986221"/>
            <a:chExt cx="739915" cy="983038"/>
          </a:xfrm>
        </p:grpSpPr>
        <p:sp>
          <p:nvSpPr>
            <p:cNvPr id="26" name="TextBox 25">
              <a:extLst>
                <a:ext uri="{FF2B5EF4-FFF2-40B4-BE49-F238E27FC236}">
                  <a16:creationId xmlns:a16="http://schemas.microsoft.com/office/drawing/2014/main" id="{BC2AC806-326D-4F36-2226-BBD166E7B1DB}"/>
                </a:ext>
              </a:extLst>
            </p:cNvPr>
            <p:cNvSpPr txBox="1"/>
            <p:nvPr/>
          </p:nvSpPr>
          <p:spPr>
            <a:xfrm>
              <a:off x="473853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27" name="TextBox 26">
              <a:extLst>
                <a:ext uri="{FF2B5EF4-FFF2-40B4-BE49-F238E27FC236}">
                  <a16:creationId xmlns:a16="http://schemas.microsoft.com/office/drawing/2014/main" id="{C859A1E0-2E46-A9D7-5879-E87608313D74}"/>
                </a:ext>
              </a:extLst>
            </p:cNvPr>
            <p:cNvSpPr txBox="1"/>
            <p:nvPr/>
          </p:nvSpPr>
          <p:spPr>
            <a:xfrm>
              <a:off x="470504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11일</a:t>
              </a:r>
            </a:p>
          </p:txBody>
        </p:sp>
        <p:sp>
          <p:nvSpPr>
            <p:cNvPr id="28" name="타원 27">
              <a:extLst>
                <a:ext uri="{FF2B5EF4-FFF2-40B4-BE49-F238E27FC236}">
                  <a16:creationId xmlns:a16="http://schemas.microsoft.com/office/drawing/2014/main" id="{EB389287-1073-4887-0213-7ACEF76434D8}"/>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80911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정관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2042980506"/>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상호·목적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코람코라이프로지스위탁관리부동산투자회사(KLL REIT)</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취득·관리·임대·처분 등 부투법상 자산 투자·운용 (제1·2조)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존립기간·상장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 (제5조) / 상장요건 충족 시 지체 없이 상장 (제13조)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액면가 1,000원, 발행예정주식 10억주 (제7·8조)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제1-1·1-2·2-1·2-2·3종 종류주식 (종류별 5천만주 한도, 제10·11조①)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의결권</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보통주·제1-1종·제2-1종 의결권 있음 / 제1-2종·제2-2종·제3종 무의결권</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무의결권 종류주식 합계는 발행주식총수의 1/4 이내 (제11조①⑤)</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누적배당(발행가액 기준), 제3종 누적배당 없음</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확정배당 연 7.5% (납입일·소유권취득일 중 늦은 날부터 1년) (제11조②)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평상시 배당순서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1종 누적미배당 → ② 1종 당기 → ③ 2종 누적미배당 → ④ 2종 당기</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⑤⑥ 보통주 확정배당(미배당분 포함) → ⑦ 잔여 이익 보통주 (제11조②)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 결산기 배당</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제2항 ①~⑥ 배당 → 1종 원본 → 2종 원본 → 3종 원본 → 보통주 원본</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 이익 20% 제2종, 80% 보통주 (제11조③)</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청산 시 분배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해산 결산기 미배당액 → 1종 원본 → 2종 원본 → 3종 원본 → 보통주 원본</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잔여재산 20% 제2종, 80% 보통주 (제11조④)</a:t>
                      </a: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신주발행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 결의로 발행, 영업인가 전 제3자 배정 불가</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인가 후 3년 내 신주발행계획·매매대금 지급 목적 등은 제3자 배정 허용 (제14조)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주식 양도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제3자에게 양도 시 이사회 승인 필요 (제19조)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주주총회 결의</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보통결의: 총자산 30% 초과 자산 취득·처분, 차입·사채발행계획, 자산관리·보관계약 등</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특별결의: 정관 변경 등 (제26·27조)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 name="TextBox 9"/>
          <p:cNvSpPr txBox="1"/>
          <p:nvPr/>
        </p:nvSpPr>
        <p:spPr>
          <a:xfrm>
            <a:off x="521371" y="6420000"/>
            <a:ext cx="9756000" cy="330000"/>
          </a:xfrm>
          <a:prstGeom prst="rect">
            <a:avLst/>
          </a:prstGeom>
          <a:noFill/>
        </p:spPr>
        <p:txBody>
          <a:bodyPr wrap="square" lIns="0" tIns="0" rIns="0" bIns="0" anchor="ctr">
            <a:spAutoFit/>
          </a:bodyPr>
          <a:lstStyle/>
          <a:p>
            <a:pPr algn="l"/>
            <a:r>
              <a:rPr sz="800">
                <a:solidFill>
                  <a:srgbClr val="404040"/>
                </a:solidFill>
                <a:latin typeface="KoPubWorld돋움체 Light"/>
                <a:ea typeface="KoPubWorld돋움체 Light"/>
                <a:cs typeface="KoPubWorld돋움체 Light"/>
              </a:rPr>
              <a:t>※ 출처: KLL리츠 정관(BKL 25359401.v8). 제3종 유상감자 미이행 시 가산배당(연 6%→8%)·매각청구 및 배당순서(1종 배당→2종 배당→1종 원본→2종 원본→3종 배당) 반영을 위한 정관 개정 예정(협의 중)</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A75D0-F579-D4DA-04F3-D21D9C3A96DB}"/>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F5BE94F7-DC7C-5A5C-62C5-E3E7B2BBC0E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8284D85-B17B-6B2C-3B06-B4A1B5761E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17785B6A-E978-1D7C-6FBD-A3D24898B99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F6FD42C1-2FBD-44CB-76FF-1A90DBAF7948}"/>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29456504-0C2A-AA1B-CBF8-B82C5B9311A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89F9709-9071-18AA-C891-CC296143D89D}"/>
                </a:ext>
              </a:extLst>
            </p:cNvPr>
            <p:cNvSpPr txBox="1"/>
            <p:nvPr/>
          </p:nvSpPr>
          <p:spPr>
            <a:xfrm>
              <a:off x="417444" y="1652332"/>
              <a:ext cx="125511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4ECF9DC-E80D-94CB-CA2B-8F3FF4CC2771}"/>
              </a:ext>
            </a:extLst>
          </p:cNvPr>
          <p:cNvGraphicFramePr>
            <a:graphicFrameLocks noGrp="1"/>
          </p:cNvGraphicFramePr>
          <p:nvPr/>
        </p:nvGraphicFramePr>
        <p:xfrm>
          <a:off x="521371" y="1450179"/>
          <a:ext cx="9756000" cy="4928235"/>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KLI(보통주·제2종), 이지스리츠3호·키움캐피탈·애큐온캐피탈·엠지캐피탈(제1-1종), 기계설비건설공제조합·</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삼성증권·이지스K리츠(제2종), 엘에프(제3종), 대상회사 (별첨1)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출자 구조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988억원: 보통주 148억원(@5,000원, KLI) / 제1-1종 240억원 / 제2종 500억원(KLI 160억원 포함)</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제3종 100억원(엘에프) — 종류주식 발행가 @25,000원 (제2.1조)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거래종결일 2영업일 전까지 이사회가 정한 납입예정일에 회사 지정 계좌로 납입</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(14:00 납입 노력, 15:00까지 완료) — 기준 일정 10/21 납입 (제2.1·2.2조)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발기주식 감자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유상증자 완료 후 KLI 발기설립 보통주 300,000주(3억원) 100% 유상감자 (제2.3조)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 제3종 누적배당 미적용 (제1.3조)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초기 1년 연 7.5% 배당 협조 — 배당 재원·결의가 없는 경우 지급·보전 의무 없음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24개월 응당일까지 제1종 전부를 발행가액(25,000원/주)으로 매입</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미매입잔액에 연 5.0% 지연손해금, 매입의무 존속 (제3조, 매입확약서)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12개월 응당일까지 제2종 전부(KLI 보유분 제외)를 발행가액으로 매입</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연 3.0% 지연이자 + 미매입잔액 20% 위약벌, 매입의무 존속 (제4조, 매입확약서)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종류주주는 체결일(셀다운 양수인은 양도 완결 전)에 KLI 앞 매도확약서 제출</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요청일부터 10일 내 동일 조건 매도, 미이행 시 1종 연 5.0% / 2종 연 3.0%+위약벌 20% (제3.5·4.5조)</a:t>
                      </a: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유상감자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발행일부터 24개월(법정절차 지연 시 +[3]개월) 내 엘에프에 발행가액으로 감자</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미완료 시 엘에프 감자요청 → 회사는 리파이낸싱 등으로 감자재원 조달 (제5조)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지배구조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이사 3인 중 2인 및 대표이사 KLI 지명, 감사 1인 주주총회 선임 (제6조)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양도 제한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원칙: 다른 주주 전원 서면동의 / KLI 매입거래 양도는 동의 불요 (제7.1·7.5조)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셀다운: 매도확약서 제출 + KLI 사전동의(우리투자증권·삼성증권 최초 셀다운은 면제) (제7.6조)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11" name="TextBox 10">
            <a:extLst>
              <a:ext uri="{FF2B5EF4-FFF2-40B4-BE49-F238E27FC236}">
                <a16:creationId xmlns:a16="http://schemas.microsoft.com/office/drawing/2014/main" id="{8B490DBD-E858-1D4A-BB4C-B02B20C06271}"/>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p:cNvSpPr txBox="1"/>
          <p:nvPr/>
        </p:nvSpPr>
        <p:spPr>
          <a:xfrm>
            <a:off x="521371" y="6420000"/>
            <a:ext cx="9756000" cy="330000"/>
          </a:xfrm>
          <a:prstGeom prst="rect">
            <a:avLst/>
          </a:prstGeom>
          <a:noFill/>
        </p:spPr>
        <p:txBody>
          <a:bodyPr wrap="square" lIns="0" tIns="0" rIns="0" bIns="0" anchor="ctr">
            <a:spAutoFit/>
          </a:bodyPr>
          <a:lstStyle/>
          <a:p>
            <a:pPr algn="l"/>
            <a:r>
              <a:rPr sz="800">
                <a:solidFill>
                  <a:srgbClr val="404040"/>
                </a:solidFill>
                <a:latin typeface="KoPubWorld돋움체 Light"/>
                <a:ea typeface="KoPubWorld돋움체 Light"/>
                <a:cs typeface="KoPubWorld돋움체 Light"/>
              </a:rPr>
              <a:t>※ 출처: 주주간계약서 BKL v23 final(2026-09-30), KLI 매입확약서(제1종 투자자용 v1 / 제2종 BKL v1_4), 매도확약서(투자자용 v1). 체결 예정일 2026-10-16. 제2종 KLI 인수분 160억원은 지분구성표 기준(계약서 표는 [*])</a:t>
            </a:r>
          </a:p>
        </p:txBody>
      </p:sp>
    </p:spTree>
    <p:extLst>
      <p:ext uri="{BB962C8B-B14F-4D97-AF65-F5344CB8AC3E}">
        <p14:creationId xmlns:p14="http://schemas.microsoft.com/office/powerpoint/2010/main" val="1023253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09BBC-E1D0-3228-1D0F-766169BEEC4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1CFB0891-6D31-3531-A675-FC2A281E6E4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7BD8046-9BB6-073E-B92E-C18ED133818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D3B173E-0E5F-DAD9-617E-DA9E69D6DD9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E4DD24E9-E6EA-34A6-7594-90C6D869775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337356D-17F7-3AD0-BD57-F89797BC2E45}"/>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83E573D-5A36-34AA-0B0D-32BACAD5F451}"/>
                </a:ext>
              </a:extLst>
            </p:cNvPr>
            <p:cNvSpPr txBox="1"/>
            <p:nvPr/>
          </p:nvSpPr>
          <p:spPr>
            <a:xfrm>
              <a:off x="417444" y="1652332"/>
              <a:ext cx="115207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구성표</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3" name="TextBox 12">
            <a:extLst>
              <a:ext uri="{FF2B5EF4-FFF2-40B4-BE49-F238E27FC236}">
                <a16:creationId xmlns:a16="http://schemas.microsoft.com/office/drawing/2014/main" id="{A464B78F-A814-9690-7358-EB656EADD34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Table 13"/>
          <p:cNvGraphicFramePr>
            <a:graphicFrameLocks noGrp="1"/>
          </p:cNvGraphicFramePr>
          <p:nvPr>
            <p:extLst>
              <p:ext uri="{D42A27DB-BD31-4B8C-83A1-F6EECF244321}">
                <p14:modId xmlns:p14="http://schemas.microsoft.com/office/powerpoint/2010/main" val="920439115"/>
              </p:ext>
            </p:extLst>
          </p:nvPr>
        </p:nvGraphicFramePr>
        <p:xfrm>
          <a:off x="521371" y="1450179"/>
          <a:ext cx="9756000" cy="3359912"/>
        </p:xfrm>
        <a:graphic>
          <a:graphicData uri="http://schemas.openxmlformats.org/drawingml/2006/table">
            <a:tbl>
              <a:tblPr>
                <a:tableStyleId>{5940675A-B579-460E-94D1-54222C63F5DA}</a:tableStyleId>
              </a:tblPr>
              <a:tblGrid>
                <a:gridCol w="1350000">
                  <a:extLst>
                    <a:ext uri="{9D8B030D-6E8A-4147-A177-3AD203B41FA5}">
                      <a16:colId xmlns:a16="http://schemas.microsoft.com/office/drawing/2014/main" val="20000"/>
                    </a:ext>
                  </a:extLst>
                </a:gridCol>
                <a:gridCol w="2050000">
                  <a:extLst>
                    <a:ext uri="{9D8B030D-6E8A-4147-A177-3AD203B41FA5}">
                      <a16:colId xmlns:a16="http://schemas.microsoft.com/office/drawing/2014/main" val="20001"/>
                    </a:ext>
                  </a:extLst>
                </a:gridCol>
                <a:gridCol w="62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gridCol w="880000">
                  <a:extLst>
                    <a:ext uri="{9D8B030D-6E8A-4147-A177-3AD203B41FA5}">
                      <a16:colId xmlns:a16="http://schemas.microsoft.com/office/drawing/2014/main" val="20004"/>
                    </a:ext>
                  </a:extLst>
                </a:gridCol>
                <a:gridCol w="1050000">
                  <a:extLst>
                    <a:ext uri="{9D8B030D-6E8A-4147-A177-3AD203B41FA5}">
                      <a16:colId xmlns:a16="http://schemas.microsoft.com/office/drawing/2014/main" val="20005"/>
                    </a:ext>
                  </a:extLst>
                </a:gridCol>
                <a:gridCol w="800000">
                  <a:extLst>
                    <a:ext uri="{9D8B030D-6E8A-4147-A177-3AD203B41FA5}">
                      <a16:colId xmlns:a16="http://schemas.microsoft.com/office/drawing/2014/main" val="20006"/>
                    </a:ext>
                  </a:extLst>
                </a:gridCol>
                <a:gridCol w="1156000">
                  <a:extLst>
                    <a:ext uri="{9D8B030D-6E8A-4147-A177-3AD203B41FA5}">
                      <a16:colId xmlns:a16="http://schemas.microsoft.com/office/drawing/2014/main" val="20007"/>
                    </a:ext>
                  </a:extLst>
                </a:gridCol>
                <a:gridCol w="850000">
                  <a:extLst>
                    <a:ext uri="{9D8B030D-6E8A-4147-A177-3AD203B41FA5}">
                      <a16:colId xmlns:a16="http://schemas.microsoft.com/office/drawing/2014/main" val="20008"/>
                    </a:ext>
                  </a:extLst>
                </a:gridCol>
              </a:tblGrid>
              <a:tr h="274320">
                <a:tc>
                  <a:txBody>
                    <a:bodyPr/>
                    <a:lstStyle/>
                    <a:p>
                      <a:pPr algn="ctr"/>
                      <a:r>
                        <a:rPr sz="1000" dirty="0" err="1">
                          <a:solidFill>
                            <a:srgbClr val="000000"/>
                          </a:solidFill>
                          <a:latin typeface="KoPubWorld돋움체 Bold"/>
                          <a:ea typeface="KoPubWorld돋움체 Bold"/>
                          <a:cs typeface="KoPubWorld돋움체 Bold"/>
                        </a:rPr>
                        <a:t>종류</a:t>
                      </a:r>
                      <a:endParaRPr sz="10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주주명</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의결권</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투자금(백만원)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발행가(원)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주식수(주)</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지분율</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주식수</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지분율</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74320">
                <a:tc rowSpan="4">
                  <a:txBody>
                    <a:bodyPr/>
                    <a:lstStyle/>
                    <a:p>
                      <a:pPr algn="ctr"/>
                      <a:r>
                        <a:rPr sz="1000" dirty="0">
                          <a:solidFill>
                            <a:srgbClr val="000000"/>
                          </a:solidFill>
                          <a:latin typeface="KoPubWorld돋움체 Medium"/>
                          <a:ea typeface="KoPubWorld돋움체 Medium"/>
                          <a:cs typeface="KoPubWorld돋움체 Medium"/>
                        </a:rPr>
                        <a:t>제1-1종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이지스자산운용</a:t>
                      </a:r>
                      <a:r>
                        <a:rPr sz="1000" dirty="0">
                          <a:solidFill>
                            <a:srgbClr val="000000"/>
                          </a:solidFill>
                          <a:latin typeface="KoPubWorld돋움체 Light"/>
                          <a:ea typeface="KoPubWorld돋움체 Light"/>
                          <a:cs typeface="KoPubWorld돋움체 Light"/>
                        </a:rPr>
                        <a:t>(3호펀드)</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1"/>
                  </a:ext>
                </a:extLst>
              </a:tr>
              <a:tr h="274320">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키움캐피탈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2"/>
                  </a:ext>
                </a:extLst>
              </a:tr>
              <a:tr h="274320">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애큐온캐피탈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3"/>
                  </a:ext>
                </a:extLst>
              </a:tr>
              <a:tr h="274320">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MG캐피탈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2.4%</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4"/>
                  </a:ext>
                </a:extLst>
              </a:tr>
              <a:tr h="274320">
                <a:tc rowSpan="2">
                  <a:txBody>
                    <a:bodyPr/>
                    <a:lstStyle/>
                    <a:p>
                      <a:pPr algn="ctr"/>
                      <a:r>
                        <a:rPr sz="1000" dirty="0">
                          <a:solidFill>
                            <a:srgbClr val="000000"/>
                          </a:solidFill>
                          <a:latin typeface="KoPubWorld돋움체 Medium"/>
                          <a:ea typeface="KoPubWorld돋움체 Medium"/>
                          <a:cs typeface="KoPubWorld돋움체 Medium"/>
                        </a:rPr>
                        <a:t>제2-1종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12.7%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5"/>
                  </a:ext>
                </a:extLst>
              </a:tr>
              <a:tr h="274320">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삼성증권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6"/>
                  </a:ext>
                </a:extLst>
              </a:tr>
              <a:tr h="274320">
                <a:tc rowSpan="2">
                  <a:txBody>
                    <a:bodyPr/>
                    <a:lstStyle/>
                    <a:p>
                      <a:pPr algn="ctr"/>
                      <a:r>
                        <a:rPr sz="1000" dirty="0">
                          <a:solidFill>
                            <a:srgbClr val="000000"/>
                          </a:solidFill>
                          <a:latin typeface="KoPubWorld돋움체 Medium"/>
                          <a:ea typeface="KoPubWorld돋움체 Medium"/>
                          <a:cs typeface="KoPubWorld돋움체 Medium"/>
                        </a:rPr>
                        <a:t>제2-2종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이지스자산운용</a:t>
                      </a:r>
                      <a:r>
                        <a:rPr sz="1000" dirty="0">
                          <a:solidFill>
                            <a:srgbClr val="000000"/>
                          </a:solidFill>
                          <a:latin typeface="KoPubWorld돋움체 Light"/>
                          <a:ea typeface="KoPubWorld돋움체 Light"/>
                          <a:cs typeface="KoPubWorld돋움체 Light"/>
                        </a:rPr>
                        <a:t>(</a:t>
                      </a:r>
                      <a:r>
                        <a:rPr sz="1000" dirty="0" err="1">
                          <a:solidFill>
                            <a:srgbClr val="000000"/>
                          </a:solidFill>
                          <a:latin typeface="KoPubWorld돋움체 Light"/>
                          <a:ea typeface="KoPubWorld돋움체 Light"/>
                          <a:cs typeface="KoPubWorld돋움체 Light"/>
                        </a:rPr>
                        <a:t>K리츠펀드</a:t>
                      </a:r>
                      <a:r>
                        <a:rPr sz="1000" dirty="0">
                          <a:solidFill>
                            <a:srgbClr val="000000"/>
                          </a:solidFill>
                          <a:latin typeface="KoPubWorld돋움체 Light"/>
                          <a:ea typeface="KoPubWorld돋움체 Light"/>
                          <a:cs typeface="KoPubWorld돋움체 Light"/>
                        </a:rPr>
                        <a:t>)</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7"/>
                  </a:ext>
                </a:extLst>
              </a:tr>
              <a:tr h="274320">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기계설비건설공제조합</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8"/>
                  </a:ext>
                </a:extLst>
              </a:tr>
              <a:tr h="274320">
                <a:tc>
                  <a:txBody>
                    <a:bodyPr/>
                    <a:lstStyle/>
                    <a:p>
                      <a:pPr algn="ctr"/>
                      <a:r>
                        <a:rPr sz="1000" dirty="0">
                          <a:solidFill>
                            <a:srgbClr val="000000"/>
                          </a:solidFill>
                          <a:latin typeface="KoPubWorld돋움체 Medium"/>
                          <a:ea typeface="KoPubWorld돋움체 Medium"/>
                          <a:cs typeface="KoPubWorld돋움체 Medium"/>
                        </a:rPr>
                        <a:t>제3종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a:t>
                      </a:r>
                      <a:r>
                        <a:rPr sz="1000" dirty="0" err="1">
                          <a:solidFill>
                            <a:srgbClr val="000000"/>
                          </a:solidFill>
                          <a:latin typeface="KoPubWorld돋움체 Light"/>
                          <a:ea typeface="KoPubWorld돋움체 Light"/>
                          <a:cs typeface="KoPubWorld돋움체 Light"/>
                        </a:rPr>
                        <a:t>코크렙안양PFV</a:t>
                      </a:r>
                      <a:r>
                        <a:rPr sz="1000" dirty="0">
                          <a:solidFill>
                            <a:srgbClr val="000000"/>
                          </a:solidFill>
                          <a:latin typeface="KoPubWorld돋움체 Light"/>
                          <a:ea typeface="KoPubWorld돋움체 Light"/>
                          <a:cs typeface="KoPubWorld돋움체 Light"/>
                        </a:rPr>
                        <a:t>)</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434,783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9"/>
                  </a:ext>
                </a:extLst>
              </a:tr>
              <a:tr h="274320">
                <a:tc>
                  <a:txBody>
                    <a:bodyPr/>
                    <a:lstStyle/>
                    <a:p>
                      <a:pPr algn="ctr"/>
                      <a:r>
                        <a:rPr sz="1000" dirty="0" err="1">
                          <a:solidFill>
                            <a:srgbClr val="000000"/>
                          </a:solidFill>
                          <a:latin typeface="KoPubWorld돋움체 Medium"/>
                          <a:ea typeface="KoPubWorld돋움체 Medium"/>
                          <a:cs typeface="KoPubWorld돋움체 Medium"/>
                        </a:rPr>
                        <a:t>보통주식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14,800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46.6%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58.7%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10"/>
                  </a:ext>
                </a:extLst>
              </a:tr>
              <a:tr h="274320">
                <a:tc gridSpan="3">
                  <a:txBody>
                    <a:bodyPr/>
                    <a:lstStyle/>
                    <a:p>
                      <a:pPr algn="ctr"/>
                      <a:r>
                        <a:rPr sz="1000" dirty="0" err="1">
                          <a:solidFill>
                            <a:srgbClr val="000000"/>
                          </a:solidFill>
                          <a:latin typeface="KoPubWorld돋움체 Bold"/>
                          <a:ea typeface="KoPubWorld돋움체 Bold"/>
                          <a:cs typeface="KoPubWorld돋움체 Bold"/>
                        </a:rPr>
                        <a:t>합계</a:t>
                      </a:r>
                      <a:endParaRPr sz="1000" dirty="0">
                        <a:solidFill>
                          <a:srgbClr val="000000"/>
                        </a:solidFill>
                        <a:latin typeface="KoPubWorld돋움체 Bold"/>
                        <a:ea typeface="KoPubWorld돋움체 Bold"/>
                        <a:cs typeface="KoPubWorld돋움체 Bold"/>
                      </a:endParaRPr>
                    </a:p>
                  </a:txBody>
                  <a:tcPr marL="0" marR="0" marT="0"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lnB>
                    <a:solidFill>
                      <a:schemeClr val="bg1">
                        <a:lumMod val="95000"/>
                      </a:schemeClr>
                    </a:solidFill>
                  </a:tcPr>
                </a:tc>
                <a:tc hMerge="1">
                  <a:txBody>
                    <a:bodyP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hMerge="1">
                  <a:txBody>
                    <a:bodyP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98,800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lnB>
                    <a:solidFill>
                      <a:schemeClr val="bg1">
                        <a:lumMod val="95000"/>
                      </a:schemeClr>
                    </a:solidFill>
                  </a:tcPr>
                </a:tc>
                <a:tc>
                  <a:txBody>
                    <a:bodyPr/>
                    <a:lstStyle/>
                    <a:p>
                      <a:pPr algn="ctr"/>
                      <a:endParaRPr dirty="0"/>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6,354,783</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5,040,000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lnB>
                    <a:solidFill>
                      <a:schemeClr val="bg1">
                        <a:lumMod val="95000"/>
                      </a:schemeClr>
                    </a:solidFill>
                  </a:tcPr>
                </a:tc>
                <a:extLst>
                  <a:ext uri="{0D108BD9-81ED-4DB2-BD59-A6C34878D82A}">
                    <a16:rowId xmlns:a16="http://schemas.microsoft.com/office/drawing/2014/main" val="10011"/>
                  </a:ext>
                </a:extLst>
              </a:tr>
            </a:tbl>
          </a:graphicData>
        </a:graphic>
      </p:graphicFrame>
      <p:sp>
        <p:nvSpPr>
          <p:cNvPr id="15" name="TextBox 14"/>
          <p:cNvSpPr txBox="1"/>
          <p:nvPr/>
        </p:nvSpPr>
        <p:spPr>
          <a:xfrm>
            <a:off x="521371" y="4840017"/>
            <a:ext cx="9756000" cy="560000"/>
          </a:xfrm>
          <a:prstGeom prst="rect">
            <a:avLst/>
          </a:prstGeom>
          <a:noFill/>
        </p:spPr>
        <p:txBody>
          <a:bodyPr wrap="square" lIns="0" tIns="0" rIns="0" bIns="0" anchor="ctr">
            <a:spAutoFit/>
          </a:bodyPr>
          <a:lstStyle/>
          <a:p>
            <a:pPr algn="l"/>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불균등발행가</a:t>
            </a:r>
            <a:r>
              <a:rPr sz="800" dirty="0">
                <a:solidFill>
                  <a:srgbClr val="404040"/>
                </a:solidFill>
                <a:latin typeface="KoPubWorld돋움체 Light"/>
                <a:ea typeface="KoPubWorld돋움체 Light"/>
                <a:cs typeface="KoPubWorld돋움체 Light"/>
              </a:rPr>
              <a:t> / </a:t>
            </a:r>
            <a:r>
              <a:rPr sz="800" dirty="0" err="1">
                <a:solidFill>
                  <a:srgbClr val="404040"/>
                </a:solidFill>
                <a:latin typeface="KoPubWorld돋움체 Light"/>
                <a:ea typeface="KoPubWorld돋움체 Light"/>
                <a:cs typeface="KoPubWorld돋움체 Light"/>
              </a:rPr>
              <a:t>유상증자</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방식</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액면가</a:t>
            </a:r>
            <a:r>
              <a:rPr sz="800" dirty="0">
                <a:solidFill>
                  <a:srgbClr val="404040"/>
                </a:solidFill>
                <a:latin typeface="KoPubWorld돋움체 Light"/>
                <a:ea typeface="KoPubWorld돋움체 Light"/>
                <a:cs typeface="KoPubWorld돋움체 Light"/>
              </a:rPr>
              <a:t> 1,000원, </a:t>
            </a:r>
            <a:r>
              <a:rPr sz="800" dirty="0" err="1">
                <a:solidFill>
                  <a:srgbClr val="404040"/>
                </a:solidFill>
                <a:latin typeface="KoPubWorld돋움체 Light"/>
                <a:ea typeface="KoPubWorld돋움체 Light"/>
                <a:cs typeface="KoPubWorld돋움체 Light"/>
              </a:rPr>
              <a:t>보통주</a:t>
            </a:r>
            <a:r>
              <a:rPr sz="800" dirty="0">
                <a:solidFill>
                  <a:srgbClr val="404040"/>
                </a:solidFill>
                <a:latin typeface="KoPubWorld돋움체 Light"/>
                <a:ea typeface="KoPubWorld돋움체 Light"/>
                <a:cs typeface="KoPubWorld돋움체 Light"/>
              </a:rPr>
              <a:t> 5,000원·우선주 25,000원·제3종 23,000원(</a:t>
            </a:r>
            <a:r>
              <a:rPr sz="800" dirty="0" err="1">
                <a:solidFill>
                  <a:srgbClr val="404040"/>
                </a:solidFill>
                <a:latin typeface="KoPubWorld돋움체 Light"/>
                <a:ea typeface="KoPubWorld돋움체 Light"/>
                <a:cs typeface="KoPubWorld돋움체 Light"/>
              </a:rPr>
              <a:t>상증세법</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순자산가치</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기준</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검토가액</a:t>
            </a:r>
            <a:r>
              <a:rPr sz="800" dirty="0">
                <a:solidFill>
                  <a:srgbClr val="404040"/>
                </a:solidFill>
                <a:latin typeface="KoPubWorld돋움체 Light"/>
                <a:ea typeface="KoPubWorld돋움체 Light"/>
                <a:cs typeface="KoPubWorld돋움체 Light"/>
              </a:rPr>
              <a:t>)</a:t>
            </a:r>
          </a:p>
          <a:p>
            <a:pPr algn="l"/>
            <a:r>
              <a:rPr sz="800" dirty="0">
                <a:solidFill>
                  <a:srgbClr val="404040"/>
                </a:solidFill>
                <a:latin typeface="KoPubWorld돋움체 Light"/>
                <a:ea typeface="KoPubWorld돋움체 Light"/>
                <a:cs typeface="KoPubWorld돋움체 Light"/>
              </a:rPr>
              <a:t>* KLI </a:t>
            </a:r>
            <a:r>
              <a:rPr sz="800" dirty="0" err="1">
                <a:solidFill>
                  <a:srgbClr val="404040"/>
                </a:solidFill>
                <a:latin typeface="KoPubWorld돋움체 Light"/>
                <a:ea typeface="KoPubWorld돋움체 Light"/>
                <a:cs typeface="KoPubWorld돋움체 Light"/>
              </a:rPr>
              <a:t>의결권</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지분</a:t>
            </a:r>
            <a:r>
              <a:rPr sz="800" dirty="0">
                <a:solidFill>
                  <a:srgbClr val="404040"/>
                </a:solidFill>
                <a:latin typeface="KoPubWorld돋움체 Light"/>
                <a:ea typeface="KoPubWorld돋움체 Light"/>
                <a:cs typeface="KoPubWorld돋움체 Light"/>
              </a:rPr>
              <a:t> 71.4% (</a:t>
            </a:r>
            <a:r>
              <a:rPr sz="800" dirty="0" err="1">
                <a:solidFill>
                  <a:srgbClr val="404040"/>
                </a:solidFill>
                <a:latin typeface="KoPubWorld돋움체 Light"/>
                <a:ea typeface="KoPubWorld돋움체 Light"/>
                <a:cs typeface="KoPubWorld돋움체 Light"/>
              </a:rPr>
              <a:t>보통주</a:t>
            </a:r>
            <a:r>
              <a:rPr sz="800" dirty="0">
                <a:solidFill>
                  <a:srgbClr val="404040"/>
                </a:solidFill>
                <a:latin typeface="KoPubWorld돋움체 Light"/>
                <a:ea typeface="KoPubWorld돋움체 Light"/>
                <a:cs typeface="KoPubWorld돋움체 Light"/>
              </a:rPr>
              <a:t> 58.7% + 제2-1종 12.7%), </a:t>
            </a:r>
            <a:r>
              <a:rPr sz="800" dirty="0" err="1">
                <a:solidFill>
                  <a:srgbClr val="404040"/>
                </a:solidFill>
                <a:latin typeface="KoPubWorld돋움체 Light"/>
                <a:ea typeface="KoPubWorld돋움체 Light"/>
                <a:cs typeface="KoPubWorld돋움체 Light"/>
              </a:rPr>
              <a:t>무의결권</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주식</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비율</a:t>
            </a:r>
            <a:r>
              <a:rPr sz="800" dirty="0">
                <a:solidFill>
                  <a:srgbClr val="404040"/>
                </a:solidFill>
                <a:latin typeface="KoPubWorld돋움체 Light"/>
                <a:ea typeface="KoPubWorld돋움체 Light"/>
                <a:cs typeface="KoPubWorld돋움체 Light"/>
              </a:rPr>
              <a:t> 20.7% (</a:t>
            </a:r>
            <a:r>
              <a:rPr sz="800" dirty="0" err="1">
                <a:solidFill>
                  <a:srgbClr val="404040"/>
                </a:solidFill>
                <a:latin typeface="KoPubWorld돋움체 Light"/>
                <a:ea typeface="KoPubWorld돋움체 Light"/>
                <a:cs typeface="KoPubWorld돋움체 Light"/>
              </a:rPr>
              <a:t>상법</a:t>
            </a:r>
            <a:r>
              <a:rPr sz="800" dirty="0">
                <a:solidFill>
                  <a:srgbClr val="404040"/>
                </a:solidFill>
                <a:latin typeface="KoPubWorld돋움체 Light"/>
                <a:ea typeface="KoPubWorld돋움체 Light"/>
                <a:cs typeface="KoPubWorld돋움체 Light"/>
              </a:rPr>
              <a:t> 제344조의3 25% </a:t>
            </a:r>
            <a:r>
              <a:rPr sz="800" dirty="0" err="1">
                <a:solidFill>
                  <a:srgbClr val="404040"/>
                </a:solidFill>
                <a:latin typeface="KoPubWorld돋움체 Light"/>
                <a:ea typeface="KoPubWorld돋움체 Light"/>
                <a:cs typeface="KoPubWorld돋움체 Light"/>
              </a:rPr>
              <a:t>한도</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이내</a:t>
            </a:r>
            <a:r>
              <a:rPr sz="800" dirty="0">
                <a:solidFill>
                  <a:srgbClr val="404040"/>
                </a:solidFill>
                <a:latin typeface="KoPubWorld돋움체 Light"/>
                <a:ea typeface="KoPubWorld돋움체 Light"/>
                <a:cs typeface="KoPubWorld돋움체 Light"/>
              </a:rPr>
              <a:t>)</a:t>
            </a:r>
          </a:p>
          <a:p>
            <a:pPr algn="l"/>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주주간계약</a:t>
            </a:r>
            <a:r>
              <a:rPr sz="800" dirty="0">
                <a:solidFill>
                  <a:srgbClr val="404040"/>
                </a:solidFill>
                <a:latin typeface="KoPubWorld돋움체 Light"/>
                <a:ea typeface="KoPubWorld돋움체 Light"/>
                <a:cs typeface="KoPubWorld돋움체 Light"/>
              </a:rPr>
              <a:t> v23 final </a:t>
            </a:r>
            <a:r>
              <a:rPr sz="800" dirty="0" err="1">
                <a:solidFill>
                  <a:srgbClr val="404040"/>
                </a:solidFill>
                <a:latin typeface="KoPubWorld돋움체 Light"/>
                <a:ea typeface="KoPubWorld돋움체 Light"/>
                <a:cs typeface="KoPubWorld돋움체 Light"/>
              </a:rPr>
              <a:t>표는</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기계설비건설공제조합을</a:t>
            </a:r>
            <a:r>
              <a:rPr sz="800" dirty="0">
                <a:solidFill>
                  <a:srgbClr val="404040"/>
                </a:solidFill>
                <a:latin typeface="KoPubWorld돋움체 Light"/>
                <a:ea typeface="KoPubWorld돋움체 Light"/>
                <a:cs typeface="KoPubWorld돋움체 Light"/>
              </a:rPr>
              <a:t> 제2-1종, </a:t>
            </a:r>
            <a:r>
              <a:rPr sz="800" dirty="0" err="1">
                <a:solidFill>
                  <a:srgbClr val="404040"/>
                </a:solidFill>
                <a:latin typeface="KoPubWorld돋움체 Light"/>
                <a:ea typeface="KoPubWorld돋움체 Light"/>
                <a:cs typeface="KoPubWorld돋움체 Light"/>
              </a:rPr>
              <a:t>삼성증권을</a:t>
            </a:r>
            <a:r>
              <a:rPr sz="800" dirty="0">
                <a:solidFill>
                  <a:srgbClr val="404040"/>
                </a:solidFill>
                <a:latin typeface="KoPubWorld돋움체 Light"/>
                <a:ea typeface="KoPubWorld돋움체 Light"/>
                <a:cs typeface="KoPubWorld돋움체 Light"/>
              </a:rPr>
              <a:t> 제2-2종으로, 제3종 </a:t>
            </a:r>
            <a:r>
              <a:rPr sz="800" dirty="0" err="1">
                <a:solidFill>
                  <a:srgbClr val="404040"/>
                </a:solidFill>
                <a:latin typeface="KoPubWorld돋움체 Light"/>
                <a:ea typeface="KoPubWorld돋움체 Light"/>
                <a:cs typeface="KoPubWorld돋움체 Light"/>
              </a:rPr>
              <a:t>주주를</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엘에프</a:t>
            </a:r>
            <a:r>
              <a:rPr sz="800" dirty="0">
                <a:solidFill>
                  <a:srgbClr val="404040"/>
                </a:solidFill>
                <a:latin typeface="KoPubWorld돋움체 Light"/>
                <a:ea typeface="KoPubWorld돋움체 Light"/>
                <a:cs typeface="KoPubWorld돋움체 Light"/>
              </a:rPr>
              <a:t>(25,000원·400,000주)로 </a:t>
            </a:r>
            <a:r>
              <a:rPr sz="800" dirty="0" err="1">
                <a:solidFill>
                  <a:srgbClr val="404040"/>
                </a:solidFill>
                <a:latin typeface="KoPubWorld돋움체 Light"/>
                <a:ea typeface="KoPubWorld돋움체 Light"/>
                <a:cs typeface="KoPubWorld돋움체 Light"/>
              </a:rPr>
              <a:t>기재</a:t>
            </a:r>
            <a:r>
              <a:rPr sz="800" dirty="0">
                <a:solidFill>
                  <a:srgbClr val="404040"/>
                </a:solidFill>
                <a:latin typeface="KoPubWorld돋움체 Light"/>
                <a:ea typeface="KoPubWorld돋움체 Light"/>
                <a:cs typeface="KoPubWorld돋움체 Light"/>
              </a:rPr>
              <a:t> — </a:t>
            </a:r>
            <a:r>
              <a:rPr sz="800" dirty="0" err="1">
                <a:solidFill>
                  <a:srgbClr val="404040"/>
                </a:solidFill>
                <a:latin typeface="KoPubWorld돋움체 Light"/>
                <a:ea typeface="KoPubWorld돋움체 Light"/>
                <a:cs typeface="KoPubWorld돋움체 Light"/>
              </a:rPr>
              <a:t>확정</a:t>
            </a:r>
            <a:r>
              <a:rPr sz="800" dirty="0">
                <a:solidFill>
                  <a:srgbClr val="404040"/>
                </a:solidFill>
                <a:latin typeface="KoPubWorld돋움체 Light"/>
                <a:ea typeface="KoPubWorld돋움체 Light"/>
                <a:cs typeface="KoPubWorld돋움체 Light"/>
              </a:rPr>
              <a:t> 시 </a:t>
            </a:r>
            <a:r>
              <a:rPr sz="800" dirty="0" err="1">
                <a:solidFill>
                  <a:srgbClr val="404040"/>
                </a:solidFill>
                <a:latin typeface="KoPubWorld돋움체 Light"/>
                <a:ea typeface="KoPubWorld돋움체 Light"/>
                <a:cs typeface="KoPubWorld돋움체 Light"/>
              </a:rPr>
              <a:t>정합</a:t>
            </a:r>
            <a:r>
              <a:rPr sz="800" dirty="0">
                <a:solidFill>
                  <a:srgbClr val="404040"/>
                </a:solidFill>
                <a:latin typeface="KoPubWorld돋움체 Light"/>
                <a:ea typeface="KoPubWorld돋움체 Light"/>
                <a:cs typeface="KoPubWorld돋움체 Light"/>
              </a:rPr>
              <a:t> </a:t>
            </a:r>
            <a:r>
              <a:rPr sz="800" dirty="0" err="1">
                <a:solidFill>
                  <a:srgbClr val="404040"/>
                </a:solidFill>
                <a:latin typeface="KoPubWorld돋움체 Light"/>
                <a:ea typeface="KoPubWorld돋움체 Light"/>
                <a:cs typeface="KoPubWorld돋움체 Light"/>
              </a:rPr>
              <a:t>필요</a:t>
            </a:r>
            <a:endParaRPr sz="800" dirty="0">
              <a:solidFill>
                <a:srgbClr val="404040"/>
              </a:solidFill>
              <a:latin typeface="KoPubWorld돋움체 Light"/>
              <a:ea typeface="KoPubWorld돋움체 Light"/>
              <a:cs typeface="KoPubWorld돋움체 Light"/>
            </a:endParaRPr>
          </a:p>
        </p:txBody>
      </p:sp>
    </p:spTree>
    <p:extLst>
      <p:ext uri="{BB962C8B-B14F-4D97-AF65-F5344CB8AC3E}">
        <p14:creationId xmlns:p14="http://schemas.microsoft.com/office/powerpoint/2010/main" val="254992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Ⅱ.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코람코 제1종·제2종 우선주 매입확약 공문(안)(투자자용) / 주주간계약서 v22 제3.5조·제4.5조. 발행회사명·주식수·문서번호는 확정 후 기재.</a:t>
            </a:r>
          </a:p>
        </p:txBody>
      </p:sp>
      <p:graphicFrame>
        <p:nvGraphicFramePr>
          <p:cNvPr id="17" name="신규표"/>
          <p:cNvGraphicFramePr>
            <a:graphicFrameLocks noGrp="1"/>
          </p:cNvGraphicFramePr>
          <p:nvPr/>
        </p:nvGraphicFramePr>
        <p:xfrm>
          <a:off x="457200" y="1453896"/>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자리츠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12개월이 되는 달의 응당일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(240억원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(500억원 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739896"/>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 매도확약서 대응 조건</a:t>
              </a:r>
            </a:p>
          </p:txBody>
        </p:sp>
      </p:grpSp>
      <p:graphicFrame>
        <p:nvGraphicFramePr>
          <p:cNvPr id="18" name="신규표"/>
          <p:cNvGraphicFramePr>
            <a:graphicFrameLocks noGrp="1"/>
          </p:cNvGraphicFramePr>
          <p:nvPr/>
        </p:nvGraphicFramePr>
        <p:xfrm>
          <a:off x="457200" y="4114800"/>
          <a:ext cx="9875520" cy="265176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(KLI리츠 → 종류주주)</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매도확약서 (종류주주 → KLI리츠)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의무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체결일에 KLI리츠가 각 종류주주에게 제출 (제3.5조·제4.5조)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같은 날 각 종류주주가 KLI리츠에 제출. 셀다운 양수인은 거래 완결 전 제출</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핵심 내용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 내 대상주식 전부를 발행가액(25,000원/주)으로 매입 확약</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KLI리츠의 매도 요청일로부터 [*]일 내 동일 조건으로 매도 확약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영업인가 취득·소유권 확보 ② 종류주주의 완전한 소유권 ③ 부담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부존재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④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매입확약서와 동일 — 매도확약서 제출이 매입확약 효력 발생 조건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미매입잔액에 연 5.0% 지연손해금, 초과 손해 별도 배상, 매입의무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미매도잔액에 연 5.0% 지연이자 포함 모든 손해 배상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효력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매입일 전일까지 종류주주, 매입일부터 KLI리츠 귀속 (5영업일 내 정산)</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매입 목적 외 사용 불가, 주주간계약과 상충 시 주주간계약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697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EF541-9CAD-9E39-2BC0-8C81A7D80F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3297C3-8452-4F54-AF3F-85EC2BAE7F7A}"/>
              </a:ext>
            </a:extLst>
          </p:cNvPr>
          <p:cNvSpPr txBox="1"/>
          <p:nvPr/>
        </p:nvSpPr>
        <p:spPr>
          <a:xfrm>
            <a:off x="432185" y="2079170"/>
            <a:ext cx="3115642" cy="262701"/>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kumimoji="0" lang="ko-KR" altLang="en-US" sz="1107" b="0" i="0" u="none" strike="noStrike" kern="1200" cap="none" spc="0" normalizeH="0" baseline="0" noProof="0" dirty="0" err="1">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a:extLst>
              <a:ext uri="{FF2B5EF4-FFF2-40B4-BE49-F238E27FC236}">
                <a16:creationId xmlns:a16="http://schemas.microsoft.com/office/drawing/2014/main" id="{80B51CBF-09D6-B3F3-E2CE-CDE17FBD7488}"/>
              </a:ext>
            </a:extLst>
          </p:cNvPr>
          <p:cNvSpPr txBox="1"/>
          <p:nvPr/>
        </p:nvSpPr>
        <p:spPr>
          <a:xfrm>
            <a:off x="809402" y="2778552"/>
            <a:ext cx="2080546" cy="461665"/>
          </a:xfrm>
          <a:prstGeom prst="rect">
            <a:avLst/>
          </a:prstGeom>
          <a:noFill/>
        </p:spPr>
        <p:txBody>
          <a:bodyPr wrap="square" rtlCol="0"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ko-KR"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kumimoji="0" lang="ko-KR" altLang="en-US"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a:extLst>
              <a:ext uri="{FF2B5EF4-FFF2-40B4-BE49-F238E27FC236}">
                <a16:creationId xmlns:a16="http://schemas.microsoft.com/office/drawing/2014/main" id="{4DE900A9-8A0E-F64A-5B71-F415F8068706}"/>
              </a:ext>
            </a:extLst>
          </p:cNvPr>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a:extLst>
              <a:ext uri="{FF2B5EF4-FFF2-40B4-BE49-F238E27FC236}">
                <a16:creationId xmlns:a16="http://schemas.microsoft.com/office/drawing/2014/main" id="{3D6384B6-0D6C-CD05-DCB1-54DF8D2D8C5D}"/>
              </a:ext>
            </a:extLst>
          </p:cNvPr>
          <p:cNvGrpSpPr/>
          <p:nvPr/>
        </p:nvGrpSpPr>
        <p:grpSpPr>
          <a:xfrm>
            <a:off x="552349" y="2783484"/>
            <a:ext cx="257057" cy="324000"/>
            <a:chOff x="5238750" y="-523875"/>
            <a:chExt cx="409575" cy="704850"/>
          </a:xfrm>
        </p:grpSpPr>
        <p:sp>
          <p:nvSpPr>
            <p:cNvPr id="6" name="직사각형 5">
              <a:extLst>
                <a:ext uri="{FF2B5EF4-FFF2-40B4-BE49-F238E27FC236}">
                  <a16:creationId xmlns:a16="http://schemas.microsoft.com/office/drawing/2014/main" id="{7AB1B6D9-87D7-2EE1-8883-D2A1CAE3D91A}"/>
                </a:ext>
              </a:extLst>
            </p:cNvPr>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a:extLst>
                <a:ext uri="{FF2B5EF4-FFF2-40B4-BE49-F238E27FC236}">
                  <a16:creationId xmlns:a16="http://schemas.microsoft.com/office/drawing/2014/main" id="{0ABF3BA4-E276-94FB-EFD3-43AE03F83B7F}"/>
                </a:ext>
              </a:extLst>
            </p:cNvPr>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a:extLst>
                <a:ext uri="{FF2B5EF4-FFF2-40B4-BE49-F238E27FC236}">
                  <a16:creationId xmlns:a16="http://schemas.microsoft.com/office/drawing/2014/main" id="{E02F4918-AFFB-D4C7-CF87-F4C8B0E03C04}"/>
                </a:ext>
              </a:extLst>
            </p:cNvPr>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1" name="TextBox 10">
            <a:extLst>
              <a:ext uri="{FF2B5EF4-FFF2-40B4-BE49-F238E27FC236}">
                <a16:creationId xmlns:a16="http://schemas.microsoft.com/office/drawing/2014/main" id="{4313207D-1708-4E52-AA1D-91043124E31D}"/>
              </a:ext>
            </a:extLst>
          </p:cNvPr>
          <p:cNvSpPr txBox="1"/>
          <p:nvPr/>
        </p:nvSpPr>
        <p:spPr>
          <a:xfrm>
            <a:off x="7499250" y="3052715"/>
            <a:ext cx="2743300" cy="623248"/>
          </a:xfrm>
          <a:prstGeom prst="rect">
            <a:avLst/>
          </a:prstGeom>
          <a:noFill/>
        </p:spPr>
        <p:txBody>
          <a:bodyPr wrap="square" rtlCol="0" anchor="ctr"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101736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extLst>
              <p:ext uri="{D42A27DB-BD31-4B8C-83A1-F6EECF244321}">
                <p14:modId xmlns:p14="http://schemas.microsoft.com/office/powerpoint/2010/main" val="271997679"/>
              </p:ext>
            </p:extLst>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8"/>
                  </a:ext>
                </a:extLst>
              </a:tr>
              <a:tr h="273647">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0"/>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1"/>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4,103억원 (97,335,354주 × @4,215원, ’26.9월말 종가)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4,720억원 (제12기 결산 기준)</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3"/>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4270103635"/>
                  </a:ext>
                </a:extLst>
              </a:tr>
              <a:tr h="257691">
                <a:tc>
                  <a:txBody>
                    <a:bodyP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4"/>
                  </a:ext>
                </a:extLst>
              </a:tr>
              <a:tr h="681898">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5"/>
                  </a:ext>
                </a:extLst>
              </a:tr>
              <a:tr h="85303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6"/>
                  </a:ext>
                </a:extLst>
              </a:tr>
              <a:tr h="888813">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extLst>
              <p:ext uri="{D42A27DB-BD31-4B8C-83A1-F6EECF244321}">
                <p14:modId xmlns:p14="http://schemas.microsoft.com/office/powerpoint/2010/main" val="4286592701"/>
              </p:ext>
            </p:extLst>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extLst>
              <p:ext uri="{D42A27DB-BD31-4B8C-83A1-F6EECF244321}">
                <p14:modId xmlns:p14="http://schemas.microsoft.com/office/powerpoint/2010/main" val="950469418"/>
              </p:ext>
            </p:extLst>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extLst>
              <p:ext uri="{D42A27DB-BD31-4B8C-83A1-F6EECF244321}">
                <p14:modId xmlns:p14="http://schemas.microsoft.com/office/powerpoint/2010/main" val="2368745758"/>
              </p:ext>
            </p:extLst>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6.94%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6.83%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6.88%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7.43%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9.28%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33.49%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16.44%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10.98%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
        <p:nvSpPr>
          <p:cNvPr id="25" name="TextBox 24"/>
          <p:cNvSpPr txBox="1"/>
          <p:nvPr/>
        </p:nvSpPr>
        <p:spPr>
          <a:xfrm>
            <a:off x="1889525" y="5700000"/>
            <a:ext cx="8208908" cy="175000"/>
          </a:xfrm>
          <a:prstGeom prst="rect">
            <a:avLst/>
          </a:prstGeom>
          <a:noFill/>
        </p:spPr>
        <p:txBody>
          <a:bodyPr wrap="square" lIns="0" tIns="0" rIns="0" bIns="0" anchor="ctr">
            <a:spAutoFit/>
          </a:bodyPr>
          <a:lstStyle/>
          <a:p>
            <a:pPr algn="r"/>
            <a:r>
              <a:rPr sz="700">
                <a:solidFill>
                  <a:srgbClr val="404040"/>
                </a:solidFill>
                <a:latin typeface="KoPubWorld돋움체 Light"/>
                <a:ea typeface="KoPubWorld돋움체 Light"/>
                <a:cs typeface="KoPubWorld돋움체 Light"/>
              </a:rPr>
              <a:t>※ 기준 재무모델 v02 Sell-down 탭 (보통주 ’26.10 출자, 2종 ’27.10·1종 ’28.10 매입, ’36.10 매각) / CoC(매각차익 포함) = (운영배당+매각차익배분)÷투자원금÷보유기간</a:t>
            </a:r>
          </a:p>
        </p:txBody>
      </p:sp>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ctr"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1276-71EB-6C07-9215-246822076F0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7D201A29-E534-7D8C-9198-1415ABD6B343}"/>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39EB9806-8AED-CC36-FC7C-B7EE69618CD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72031407-F316-7B1C-8CF7-65EB0978B22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1729F649-3CD0-F48C-1341-0876E92A77A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D958B363-151A-0398-CABD-AE308FCF6C1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6A203237-5759-02AD-9ABD-6A8961055BBC}"/>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배경</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사각형: 둥근 모서리 3">
            <a:extLst>
              <a:ext uri="{FF2B5EF4-FFF2-40B4-BE49-F238E27FC236}">
                <a16:creationId xmlns:a16="http://schemas.microsoft.com/office/drawing/2014/main" id="{A403522E-4305-09CE-4825-D894F2AD5ED4}"/>
              </a:ext>
            </a:extLst>
          </p:cNvPr>
          <p:cNvSpPr/>
          <p:nvPr/>
        </p:nvSpPr>
        <p:spPr>
          <a:xfrm>
            <a:off x="444184" y="2554628"/>
            <a:ext cx="2453450"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공급량</a:t>
            </a:r>
          </a:p>
        </p:txBody>
      </p:sp>
      <p:graphicFrame>
        <p:nvGraphicFramePr>
          <p:cNvPr id="14" name="차트 13">
            <a:extLst>
              <a:ext uri="{FF2B5EF4-FFF2-40B4-BE49-F238E27FC236}">
                <a16:creationId xmlns:a16="http://schemas.microsoft.com/office/drawing/2014/main" id="{CF97BC2A-9E15-FF0E-E2AE-F65CB3003D15}"/>
              </a:ext>
            </a:extLst>
          </p:cNvPr>
          <p:cNvGraphicFramePr/>
          <p:nvPr>
            <p:extLst>
              <p:ext uri="{D42A27DB-BD31-4B8C-83A1-F6EECF244321}">
                <p14:modId xmlns:p14="http://schemas.microsoft.com/office/powerpoint/2010/main" val="749380130"/>
              </p:ext>
            </p:extLst>
          </p:nvPr>
        </p:nvGraphicFramePr>
        <p:xfrm>
          <a:off x="734111" y="4980470"/>
          <a:ext cx="4543070" cy="1669128"/>
        </p:xfrm>
        <a:graphic>
          <a:graphicData uri="http://schemas.openxmlformats.org/drawingml/2006/chart">
            <c:chart xmlns:c="http://schemas.openxmlformats.org/drawingml/2006/chart" xmlns:r="http://schemas.openxmlformats.org/officeDocument/2006/relationships" r:id="rId2"/>
          </a:graphicData>
        </a:graphic>
      </p:graphicFrame>
      <p:grpSp>
        <p:nvGrpSpPr>
          <p:cNvPr id="15" name="그룹 14">
            <a:extLst>
              <a:ext uri="{FF2B5EF4-FFF2-40B4-BE49-F238E27FC236}">
                <a16:creationId xmlns:a16="http://schemas.microsoft.com/office/drawing/2014/main" id="{69D746D3-10CA-082A-B8E4-3A101D51AE46}"/>
              </a:ext>
            </a:extLst>
          </p:cNvPr>
          <p:cNvGrpSpPr/>
          <p:nvPr/>
        </p:nvGrpSpPr>
        <p:grpSpPr>
          <a:xfrm>
            <a:off x="580166" y="4729630"/>
            <a:ext cx="2688557" cy="216268"/>
            <a:chOff x="455544" y="-592941"/>
            <a:chExt cx="2688557" cy="246221"/>
          </a:xfrm>
        </p:grpSpPr>
        <p:sp>
          <p:nvSpPr>
            <p:cNvPr id="56" name="TextBox 55">
              <a:extLst>
                <a:ext uri="{FF2B5EF4-FFF2-40B4-BE49-F238E27FC236}">
                  <a16:creationId xmlns:a16="http://schemas.microsoft.com/office/drawing/2014/main" id="{17A1A002-A1A6-58D3-7097-F00A0490694A}"/>
                </a:ext>
              </a:extLst>
            </p:cNvPr>
            <p:cNvSpPr txBox="1"/>
            <p:nvPr/>
          </p:nvSpPr>
          <p:spPr>
            <a:xfrm>
              <a:off x="455544" y="-592941"/>
              <a:ext cx="2688557"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7" name="직사각형 56">
              <a:extLst>
                <a:ext uri="{FF2B5EF4-FFF2-40B4-BE49-F238E27FC236}">
                  <a16:creationId xmlns:a16="http://schemas.microsoft.com/office/drawing/2014/main" id="{015BF8F3-BE06-6431-3E06-CE95161E2496}"/>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DE6EF900-900E-DCB9-1A69-2922CAA14FEB}"/>
              </a:ext>
            </a:extLst>
          </p:cNvPr>
          <p:cNvPicPr>
            <a:picLocks noChangeAspect="1"/>
          </p:cNvPicPr>
          <p:nvPr/>
        </p:nvPicPr>
        <p:blipFill>
          <a:blip r:embed="rId3"/>
          <a:stretch>
            <a:fillRect/>
          </a:stretch>
        </p:blipFill>
        <p:spPr>
          <a:xfrm>
            <a:off x="759523" y="2894201"/>
            <a:ext cx="4423096" cy="1679120"/>
          </a:xfrm>
          <a:prstGeom prst="rect">
            <a:avLst/>
          </a:prstGeom>
        </p:spPr>
      </p:pic>
      <p:sp>
        <p:nvSpPr>
          <p:cNvPr id="17" name="직사각형 16">
            <a:extLst>
              <a:ext uri="{FF2B5EF4-FFF2-40B4-BE49-F238E27FC236}">
                <a16:creationId xmlns:a16="http://schemas.microsoft.com/office/drawing/2014/main" id="{8EF1FBEF-EF69-30DE-8B42-457136007188}"/>
              </a:ext>
            </a:extLst>
          </p:cNvPr>
          <p:cNvSpPr/>
          <p:nvPr/>
        </p:nvSpPr>
        <p:spPr>
          <a:xfrm>
            <a:off x="759523" y="2880486"/>
            <a:ext cx="4423096" cy="1677613"/>
          </a:xfrm>
          <a:prstGeom prst="rect">
            <a:avLst/>
          </a:prstGeom>
          <a:solidFill>
            <a:schemeClr val="bg1">
              <a:alpha val="30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8" name="그룹 17">
            <a:extLst>
              <a:ext uri="{FF2B5EF4-FFF2-40B4-BE49-F238E27FC236}">
                <a16:creationId xmlns:a16="http://schemas.microsoft.com/office/drawing/2014/main" id="{0239643C-23D3-EDAB-BAFC-5FFFCA03B1D5}"/>
              </a:ext>
            </a:extLst>
          </p:cNvPr>
          <p:cNvGrpSpPr/>
          <p:nvPr/>
        </p:nvGrpSpPr>
        <p:grpSpPr>
          <a:xfrm>
            <a:off x="1224807" y="2949130"/>
            <a:ext cx="3010458" cy="1539381"/>
            <a:chOff x="1224807" y="2436617"/>
            <a:chExt cx="3010458" cy="1752584"/>
          </a:xfrm>
        </p:grpSpPr>
        <p:sp>
          <p:nvSpPr>
            <p:cNvPr id="39" name="TextBox 38">
              <a:extLst>
                <a:ext uri="{FF2B5EF4-FFF2-40B4-BE49-F238E27FC236}">
                  <a16:creationId xmlns:a16="http://schemas.microsoft.com/office/drawing/2014/main" id="{17EE2569-8239-A146-2D11-0281641E126C}"/>
                </a:ext>
              </a:extLst>
            </p:cNvPr>
            <p:cNvSpPr txBox="1"/>
            <p:nvPr/>
          </p:nvSpPr>
          <p:spPr>
            <a:xfrm>
              <a:off x="2184679" y="2732862"/>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고양시</a:t>
              </a:r>
            </a:p>
          </p:txBody>
        </p:sp>
        <p:sp>
          <p:nvSpPr>
            <p:cNvPr id="41" name="TextBox 40">
              <a:extLst>
                <a:ext uri="{FF2B5EF4-FFF2-40B4-BE49-F238E27FC236}">
                  <a16:creationId xmlns:a16="http://schemas.microsoft.com/office/drawing/2014/main" id="{6D4EB324-B285-D8CF-70C8-5C40E5964949}"/>
                </a:ext>
              </a:extLst>
            </p:cNvPr>
            <p:cNvSpPr txBox="1"/>
            <p:nvPr/>
          </p:nvSpPr>
          <p:spPr>
            <a:xfrm>
              <a:off x="1224807" y="2626673"/>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김포시</a:t>
              </a:r>
            </a:p>
          </p:txBody>
        </p:sp>
        <p:sp>
          <p:nvSpPr>
            <p:cNvPr id="42" name="TextBox 41">
              <a:extLst>
                <a:ext uri="{FF2B5EF4-FFF2-40B4-BE49-F238E27FC236}">
                  <a16:creationId xmlns:a16="http://schemas.microsoft.com/office/drawing/2014/main" id="{8BB7B60B-DFDC-DF1F-E6F0-3E9B29803637}"/>
                </a:ext>
              </a:extLst>
            </p:cNvPr>
            <p:cNvSpPr txBox="1"/>
            <p:nvPr/>
          </p:nvSpPr>
          <p:spPr>
            <a:xfrm>
              <a:off x="3165140" y="3933104"/>
              <a:ext cx="546117"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p>
          </p:txBody>
        </p:sp>
        <p:sp>
          <p:nvSpPr>
            <p:cNvPr id="43" name="TextBox 42">
              <a:extLst>
                <a:ext uri="{FF2B5EF4-FFF2-40B4-BE49-F238E27FC236}">
                  <a16:creationId xmlns:a16="http://schemas.microsoft.com/office/drawing/2014/main" id="{087166FA-A7FA-37B7-E1BF-FEA929E2CB70}"/>
                </a:ext>
              </a:extLst>
            </p:cNvPr>
            <p:cNvSpPr txBox="1"/>
            <p:nvPr/>
          </p:nvSpPr>
          <p:spPr>
            <a:xfrm>
              <a:off x="1978050" y="3442315"/>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부천시</a:t>
              </a:r>
            </a:p>
          </p:txBody>
        </p:sp>
        <p:sp>
          <p:nvSpPr>
            <p:cNvPr id="44" name="TextBox 43">
              <a:extLst>
                <a:ext uri="{FF2B5EF4-FFF2-40B4-BE49-F238E27FC236}">
                  <a16:creationId xmlns:a16="http://schemas.microsoft.com/office/drawing/2014/main" id="{4D896F40-D963-D4BE-E786-63D001451689}"/>
                </a:ext>
              </a:extLst>
            </p:cNvPr>
            <p:cNvSpPr txBox="1"/>
            <p:nvPr/>
          </p:nvSpPr>
          <p:spPr>
            <a:xfrm>
              <a:off x="2786965" y="3762188"/>
              <a:ext cx="546117" cy="233014"/>
            </a:xfrm>
            <a:prstGeom prst="rect">
              <a:avLst/>
            </a:prstGeom>
            <a:noFill/>
          </p:spPr>
          <p:txBody>
            <a:bodyPr wrap="square" lIns="0" tIns="46800" rIns="0" bIns="46800" rtlCol="0" anchor="ctr">
              <a:spAutoFit/>
            </a:bodyPr>
            <a:lstStyle>
              <a:defPPr>
                <a:defRPr lang="en-US"/>
              </a:defPPr>
              <a:lvl1pPr algn="ctr">
                <a:defRPr sz="1000" spc="-30">
                  <a:effectLst>
                    <a:glow rad="50800">
                      <a:prstClr val="white"/>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a:t>과천</a:t>
              </a:r>
            </a:p>
          </p:txBody>
        </p:sp>
        <p:sp>
          <p:nvSpPr>
            <p:cNvPr id="45" name="TextBox 44">
              <a:extLst>
                <a:ext uri="{FF2B5EF4-FFF2-40B4-BE49-F238E27FC236}">
                  <a16:creationId xmlns:a16="http://schemas.microsoft.com/office/drawing/2014/main" id="{73E53072-435F-2EA4-06FD-B6CE61C08466}"/>
                </a:ext>
              </a:extLst>
            </p:cNvPr>
            <p:cNvSpPr txBox="1"/>
            <p:nvPr/>
          </p:nvSpPr>
          <p:spPr>
            <a:xfrm>
              <a:off x="2484856" y="3882746"/>
              <a:ext cx="546117"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46" name="TextBox 45">
              <a:extLst>
                <a:ext uri="{FF2B5EF4-FFF2-40B4-BE49-F238E27FC236}">
                  <a16:creationId xmlns:a16="http://schemas.microsoft.com/office/drawing/2014/main" id="{94815F1F-1F0E-CD9B-602B-92BCAD78AC8D}"/>
                </a:ext>
              </a:extLst>
            </p:cNvPr>
            <p:cNvSpPr txBox="1"/>
            <p:nvPr/>
          </p:nvSpPr>
          <p:spPr>
            <a:xfrm>
              <a:off x="3566453" y="2763058"/>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남양주시</a:t>
              </a:r>
            </a:p>
          </p:txBody>
        </p:sp>
        <p:sp>
          <p:nvSpPr>
            <p:cNvPr id="47" name="TextBox 46">
              <a:extLst>
                <a:ext uri="{FF2B5EF4-FFF2-40B4-BE49-F238E27FC236}">
                  <a16:creationId xmlns:a16="http://schemas.microsoft.com/office/drawing/2014/main" id="{B726F422-BC79-C75D-E998-8D9EB01E65F3}"/>
                </a:ext>
              </a:extLst>
            </p:cNvPr>
            <p:cNvSpPr txBox="1"/>
            <p:nvPr/>
          </p:nvSpPr>
          <p:spPr>
            <a:xfrm>
              <a:off x="1397210" y="3669482"/>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인천광역시</a:t>
              </a:r>
            </a:p>
          </p:txBody>
        </p:sp>
        <p:sp>
          <p:nvSpPr>
            <p:cNvPr id="48" name="TextBox 47">
              <a:extLst>
                <a:ext uri="{FF2B5EF4-FFF2-40B4-BE49-F238E27FC236}">
                  <a16:creationId xmlns:a16="http://schemas.microsoft.com/office/drawing/2014/main" id="{91CC9A10-35DF-CC11-5064-FD9019856FE4}"/>
                </a:ext>
              </a:extLst>
            </p:cNvPr>
            <p:cNvSpPr txBox="1"/>
            <p:nvPr/>
          </p:nvSpPr>
          <p:spPr>
            <a:xfrm>
              <a:off x="1893655" y="3272924"/>
              <a:ext cx="546117" cy="248402"/>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TextBox 48">
              <a:extLst>
                <a:ext uri="{FF2B5EF4-FFF2-40B4-BE49-F238E27FC236}">
                  <a16:creationId xmlns:a16="http://schemas.microsoft.com/office/drawing/2014/main" id="{EE4B064C-6D8C-61FC-85DB-C7A136D4541F}"/>
                </a:ext>
              </a:extLst>
            </p:cNvPr>
            <p:cNvSpPr txBox="1"/>
            <p:nvPr/>
          </p:nvSpPr>
          <p:spPr>
            <a:xfrm>
              <a:off x="1265337" y="2436617"/>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0" name="TextBox 49">
              <a:extLst>
                <a:ext uri="{FF2B5EF4-FFF2-40B4-BE49-F238E27FC236}">
                  <a16:creationId xmlns:a16="http://schemas.microsoft.com/office/drawing/2014/main" id="{620C481A-89A8-F36A-04E2-79D5AA702215}"/>
                </a:ext>
              </a:extLst>
            </p:cNvPr>
            <p:cNvSpPr txBox="1"/>
            <p:nvPr/>
          </p:nvSpPr>
          <p:spPr>
            <a:xfrm>
              <a:off x="2491920" y="3732749"/>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1" name="TextBox 50">
              <a:extLst>
                <a:ext uri="{FF2B5EF4-FFF2-40B4-BE49-F238E27FC236}">
                  <a16:creationId xmlns:a16="http://schemas.microsoft.com/office/drawing/2014/main" id="{2C61840D-C95B-DB13-4E98-B8EC247AF9BC}"/>
                </a:ext>
              </a:extLst>
            </p:cNvPr>
            <p:cNvSpPr txBox="1"/>
            <p:nvPr/>
          </p:nvSpPr>
          <p:spPr>
            <a:xfrm>
              <a:off x="2819212" y="3579514"/>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2" name="TextBox 51">
              <a:extLst>
                <a:ext uri="{FF2B5EF4-FFF2-40B4-BE49-F238E27FC236}">
                  <a16:creationId xmlns:a16="http://schemas.microsoft.com/office/drawing/2014/main" id="{BC5663D1-6215-AA32-35DB-F6E68DE2C9EC}"/>
                </a:ext>
              </a:extLst>
            </p:cNvPr>
            <p:cNvSpPr txBox="1"/>
            <p:nvPr/>
          </p:nvSpPr>
          <p:spPr>
            <a:xfrm>
              <a:off x="3228482" y="3778539"/>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3" name="TextBox 52">
              <a:extLst>
                <a:ext uri="{FF2B5EF4-FFF2-40B4-BE49-F238E27FC236}">
                  <a16:creationId xmlns:a16="http://schemas.microsoft.com/office/drawing/2014/main" id="{7E0EB682-9B70-3BFD-73B2-9D9F3F2DEE82}"/>
                </a:ext>
              </a:extLst>
            </p:cNvPr>
            <p:cNvSpPr txBox="1"/>
            <p:nvPr/>
          </p:nvSpPr>
          <p:spPr>
            <a:xfrm>
              <a:off x="3482058" y="2613183"/>
              <a:ext cx="753207"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4" name="TextBox 53">
              <a:extLst>
                <a:ext uri="{FF2B5EF4-FFF2-40B4-BE49-F238E27FC236}">
                  <a16:creationId xmlns:a16="http://schemas.microsoft.com/office/drawing/2014/main" id="{CBA2258C-A045-23D9-7F7F-668263BA02CB}"/>
                </a:ext>
              </a:extLst>
            </p:cNvPr>
            <p:cNvSpPr txBox="1"/>
            <p:nvPr/>
          </p:nvSpPr>
          <p:spPr>
            <a:xfrm>
              <a:off x="2251108" y="2549693"/>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5" name="TextBox 54">
              <a:extLst>
                <a:ext uri="{FF2B5EF4-FFF2-40B4-BE49-F238E27FC236}">
                  <a16:creationId xmlns:a16="http://schemas.microsoft.com/office/drawing/2014/main" id="{D7697A10-4671-B9F0-2D14-67986E31AA5C}"/>
                </a:ext>
              </a:extLst>
            </p:cNvPr>
            <p:cNvSpPr txBox="1"/>
            <p:nvPr/>
          </p:nvSpPr>
          <p:spPr>
            <a:xfrm>
              <a:off x="1315478" y="3499371"/>
              <a:ext cx="690825"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4" name="TextBox 33">
            <a:extLst>
              <a:ext uri="{FF2B5EF4-FFF2-40B4-BE49-F238E27FC236}">
                <a16:creationId xmlns:a16="http://schemas.microsoft.com/office/drawing/2014/main" id="{9D6B7BE8-1152-BA87-B04C-8329725AFB28}"/>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61" name="Table 6">
            <a:extLst>
              <a:ext uri="{FF2B5EF4-FFF2-40B4-BE49-F238E27FC236}">
                <a16:creationId xmlns:a16="http://schemas.microsoft.com/office/drawing/2014/main" id="{79410521-E69B-A6ED-13A8-A0F75FDE28C6}"/>
              </a:ext>
            </a:extLst>
          </p:cNvPr>
          <p:cNvGraphicFramePr>
            <a:graphicFrameLocks noGrp="1"/>
          </p:cNvGraphicFramePr>
          <p:nvPr>
            <p:extLst>
              <p:ext uri="{D42A27DB-BD31-4B8C-83A1-F6EECF244321}">
                <p14:modId xmlns:p14="http://schemas.microsoft.com/office/powerpoint/2010/main" val="842058939"/>
              </p:ext>
            </p:extLst>
          </p:nvPr>
        </p:nvGraphicFramePr>
        <p:xfrm>
          <a:off x="5386893" y="5328008"/>
          <a:ext cx="4999571" cy="1404153"/>
        </p:xfrm>
        <a:graphic>
          <a:graphicData uri="http://schemas.openxmlformats.org/drawingml/2006/table">
            <a:tbl>
              <a:tblPr>
                <a:tableStyleId>{5C22544A-7EE6-4342-B048-85BDC9FD1C3A}</a:tableStyleId>
              </a:tblPr>
              <a:tblGrid>
                <a:gridCol w="810289">
                  <a:extLst>
                    <a:ext uri="{9D8B030D-6E8A-4147-A177-3AD203B41FA5}">
                      <a16:colId xmlns:a16="http://schemas.microsoft.com/office/drawing/2014/main" val="646663967"/>
                    </a:ext>
                  </a:extLst>
                </a:gridCol>
                <a:gridCol w="878308">
                  <a:extLst>
                    <a:ext uri="{9D8B030D-6E8A-4147-A177-3AD203B41FA5}">
                      <a16:colId xmlns:a16="http://schemas.microsoft.com/office/drawing/2014/main" val="767592186"/>
                    </a:ext>
                  </a:extLst>
                </a:gridCol>
                <a:gridCol w="878308">
                  <a:extLst>
                    <a:ext uri="{9D8B030D-6E8A-4147-A177-3AD203B41FA5}">
                      <a16:colId xmlns:a16="http://schemas.microsoft.com/office/drawing/2014/main" val="288594886"/>
                    </a:ext>
                  </a:extLst>
                </a:gridCol>
                <a:gridCol w="878308">
                  <a:extLst>
                    <a:ext uri="{9D8B030D-6E8A-4147-A177-3AD203B41FA5}">
                      <a16:colId xmlns:a16="http://schemas.microsoft.com/office/drawing/2014/main" val="3166528932"/>
                    </a:ext>
                  </a:extLst>
                </a:gridCol>
                <a:gridCol w="878308">
                  <a:extLst>
                    <a:ext uri="{9D8B030D-6E8A-4147-A177-3AD203B41FA5}">
                      <a16:colId xmlns:a16="http://schemas.microsoft.com/office/drawing/2014/main" val="1127324243"/>
                    </a:ext>
                  </a:extLst>
                </a:gridCol>
                <a:gridCol w="676050">
                  <a:extLst>
                    <a:ext uri="{9D8B030D-6E8A-4147-A177-3AD203B41FA5}">
                      <a16:colId xmlns:a16="http://schemas.microsoft.com/office/drawing/2014/main" val="2691302053"/>
                    </a:ext>
                  </a:extLst>
                </a:gridCol>
              </a:tblGrid>
              <a:tr h="156017">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17km(35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광명</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광명</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월암</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15km(29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판교</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JC)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36km(34</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156017">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156017">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65" name="TextBox 64">
            <a:extLst>
              <a:ext uri="{FF2B5EF4-FFF2-40B4-BE49-F238E27FC236}">
                <a16:creationId xmlns:a16="http://schemas.microsoft.com/office/drawing/2014/main" id="{88BAEC8E-DB7F-AD1A-476E-8C697EF366DA}"/>
              </a:ext>
            </a:extLst>
          </p:cNvPr>
          <p:cNvSpPr txBox="1"/>
          <p:nvPr/>
        </p:nvSpPr>
        <p:spPr>
          <a:xfrm>
            <a:off x="305346" y="6804173"/>
            <a:ext cx="5081548" cy="369332"/>
          </a:xfrm>
          <a:prstGeom prst="rect">
            <a:avLst/>
          </a:prstGeom>
          <a:noFill/>
        </p:spPr>
        <p:txBody>
          <a:bodyPr wrap="square" rtlCol="0" anchor="ctr">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92" name="그림 91">
            <a:extLst>
              <a:ext uri="{FF2B5EF4-FFF2-40B4-BE49-F238E27FC236}">
                <a16:creationId xmlns:a16="http://schemas.microsoft.com/office/drawing/2014/main" id="{69CB26DB-4D12-83DF-068C-8174A8106129}"/>
              </a:ext>
            </a:extLst>
          </p:cNvPr>
          <p:cNvPicPr>
            <a:picLocks noChangeAspect="1"/>
          </p:cNvPicPr>
          <p:nvPr/>
        </p:nvPicPr>
        <p:blipFill>
          <a:blip r:embed="rId4"/>
          <a:stretch>
            <a:fillRect/>
          </a:stretch>
        </p:blipFill>
        <p:spPr>
          <a:xfrm>
            <a:off x="6246006" y="2283137"/>
            <a:ext cx="3233171" cy="2901248"/>
          </a:xfrm>
          <a:prstGeom prst="rect">
            <a:avLst/>
          </a:prstGeom>
        </p:spPr>
      </p:pic>
      <p:sp>
        <p:nvSpPr>
          <p:cNvPr id="94" name="TextBox 93">
            <a:extLst>
              <a:ext uri="{FF2B5EF4-FFF2-40B4-BE49-F238E27FC236}">
                <a16:creationId xmlns:a16="http://schemas.microsoft.com/office/drawing/2014/main" id="{25480CCD-B463-C6EA-194C-D1A231281A72}"/>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 자산은 서울 서초</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관악구역에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분내로 접근 가능한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자산으로서 안정적 임대수요를 갖추고 있음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 수도권 근접 </a:t>
            </a:r>
            <a:r>
              <a:rPr lang="en-US" altLang="ko-KR"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 신규공급이 제한될 예정으로 입지적 희소성 및 자산가치의 장기적 상승이 기대됨</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2115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extLst>
                <p:ext uri="{D42A27DB-BD31-4B8C-83A1-F6EECF244321}">
                  <p14:modId xmlns:p14="http://schemas.microsoft.com/office/powerpoint/2010/main" val="2854866564"/>
                </p:ext>
              </p:extLst>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extLst>
              <p:ext uri="{D42A27DB-BD31-4B8C-83A1-F6EECF244321}">
                <p14:modId xmlns:p14="http://schemas.microsoft.com/office/powerpoint/2010/main" val="3118560959"/>
              </p:ext>
            </p:extLst>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extLst>
              <p:ext uri="{D42A27DB-BD31-4B8C-83A1-F6EECF244321}">
                <p14:modId xmlns:p14="http://schemas.microsoft.com/office/powerpoint/2010/main" val="1626968460"/>
              </p:ext>
            </p:extLst>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extLst>
              <p:ext uri="{D42A27DB-BD31-4B8C-83A1-F6EECF244321}">
                <p14:modId xmlns:p14="http://schemas.microsoft.com/office/powerpoint/2010/main" val="2930907524"/>
              </p:ext>
            </p:extLst>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extLst>
              <p:ext uri="{D42A27DB-BD31-4B8C-83A1-F6EECF244321}">
                <p14:modId xmlns:p14="http://schemas.microsoft.com/office/powerpoint/2010/main" val="1805577765"/>
              </p:ext>
            </p:extLst>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extLst>
              <p:ext uri="{D42A27DB-BD31-4B8C-83A1-F6EECF244321}">
                <p14:modId xmlns:p14="http://schemas.microsoft.com/office/powerpoint/2010/main" val="110044217"/>
              </p:ext>
            </p:extLst>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extLst>
              <p:ext uri="{D42A27DB-BD31-4B8C-83A1-F6EECF244321}">
                <p14:modId xmlns:p14="http://schemas.microsoft.com/office/powerpoint/2010/main" val="3725663090"/>
              </p:ext>
            </p:extLst>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extLst>
              <p:ext uri="{D42A27DB-BD31-4B8C-83A1-F6EECF244321}">
                <p14:modId xmlns:p14="http://schemas.microsoft.com/office/powerpoint/2010/main" val="1437268247"/>
              </p:ext>
            </p:extLst>
          </p:nvPr>
        </p:nvGraphicFramePr>
        <p:xfrm>
          <a:off x="4173358" y="2546173"/>
          <a:ext cx="6030613" cy="1699818"/>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41709">
                <a:tc>
                  <a:txBody>
                    <a:bodyPr/>
                    <a:lstStyle/>
                    <a:p>
                      <a:pPr algn="ctr"/>
                      <a:r>
                        <a:rPr sz="1000">
                          <a:solidFill>
                            <a:srgbClr val="000000"/>
                          </a:solidFill>
                          <a:latin typeface="KoPubWorld돋움체 Bold"/>
                          <a:ea typeface="KoPubWorld돋움체 Bold"/>
                          <a:cs typeface="KoPubWorld돋움체 Bold"/>
                        </a:rPr>
                        <a:t>내용</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자산수</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장부가(A)</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감정가</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매각가(B)</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회수원본</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비고(B/A)</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170877">
                <a:tc>
                  <a:txBody>
                    <a:bodyPr/>
                    <a:lstStyle/>
                    <a:p>
                      <a:pPr algn="ctr"/>
                      <a:r>
                        <a:rPr sz="1000" dirty="0">
                          <a:solidFill>
                            <a:srgbClr val="000000"/>
                          </a:solidFill>
                          <a:latin typeface="KoPubWorld돋움체 Medium"/>
                          <a:ea typeface="KoPubWorld돋움체 Medium"/>
                          <a:cs typeface="KoPubWorld돋움체 Medium"/>
                        </a:rPr>
                        <a:t>`21년도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1,130억원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73421764"/>
                  </a:ext>
                </a:extLst>
              </a:tr>
              <a:tr h="170877">
                <a:tc>
                  <a:txBody>
                    <a:bodyPr/>
                    <a:lstStyle/>
                    <a:p>
                      <a:pPr algn="ctr"/>
                      <a:r>
                        <a:rPr sz="1000">
                          <a:solidFill>
                            <a:srgbClr val="000000"/>
                          </a:solidFill>
                          <a:latin typeface="KoPubWorld돋움체 Medium"/>
                          <a:ea typeface="KoPubWorld돋움체 Medium"/>
                          <a:cs typeface="KoPubWorld돋움체 Medium"/>
                        </a:rPr>
                        <a:t>`22년도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4</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98513852"/>
                  </a:ext>
                </a:extLst>
              </a:tr>
              <a:tr h="170877">
                <a:tc>
                  <a:txBody>
                    <a:bodyPr/>
                    <a:lstStyle/>
                    <a:p>
                      <a:pPr algn="ctr"/>
                      <a:r>
                        <a:rPr sz="1000">
                          <a:solidFill>
                            <a:srgbClr val="000000"/>
                          </a:solidFill>
                          <a:latin typeface="KoPubWorld돋움체 Medium"/>
                          <a:ea typeface="KoPubWorld돋움체 Medium"/>
                          <a:cs typeface="KoPubWorld돋움체 Medium"/>
                        </a:rPr>
                        <a:t>`23년도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304억원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78755670"/>
                  </a:ext>
                </a:extLst>
              </a:tr>
              <a:tr h="170877">
                <a:tc>
                  <a:txBody>
                    <a:bodyPr/>
                    <a:lstStyle/>
                    <a:p>
                      <a:pPr algn="ctr"/>
                      <a:r>
                        <a:rPr sz="1000">
                          <a:solidFill>
                            <a:srgbClr val="000000"/>
                          </a:solidFill>
                          <a:latin typeface="KoPubWorld돋움체 Medium"/>
                          <a:ea typeface="KoPubWorld돋움체 Medium"/>
                          <a:cs typeface="KoPubWorld돋움체 Medium"/>
                        </a:rPr>
                        <a:t>`24년도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579억원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09678"/>
                  </a:ext>
                </a:extLst>
              </a:tr>
              <a:tr h="170877">
                <a:tc>
                  <a:txBody>
                    <a:bodyPr/>
                    <a:lstStyle/>
                    <a:p>
                      <a:pPr algn="ctr"/>
                      <a:r>
                        <a:rPr sz="1000">
                          <a:solidFill>
                            <a:srgbClr val="000000"/>
                          </a:solidFill>
                          <a:latin typeface="KoPubWorld돋움체 Medium"/>
                          <a:ea typeface="KoPubWorld돋움체 Medium"/>
                          <a:cs typeface="KoPubWorld돋움체 Medium"/>
                        </a:rPr>
                        <a:t>`25년도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74876725"/>
                  </a:ext>
                </a:extLst>
              </a:tr>
              <a:tr h="170877">
                <a:tc>
                  <a:txBody>
                    <a:bodyPr/>
                    <a:lstStyle/>
                    <a:p>
                      <a:pPr algn="ctr"/>
                      <a:r>
                        <a:rPr sz="1000">
                          <a:solidFill>
                            <a:srgbClr val="000000"/>
                          </a:solidFill>
                          <a:latin typeface="KoPubWorld돋움체 Medium"/>
                          <a:ea typeface="KoPubWorld돋움체 Medium"/>
                          <a:cs typeface="KoPubWorld돋움체 Medium"/>
                        </a:rPr>
                        <a:t>`26년도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734억원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39548024"/>
                  </a:ext>
                </a:extLst>
              </a:tr>
              <a:tr h="170877">
                <a:tc>
                  <a:txBody>
                    <a:bodyPr/>
                    <a:lstStyle/>
                    <a:p>
                      <a:pPr algn="ctr"/>
                      <a:r>
                        <a:rPr sz="1000" dirty="0">
                          <a:solidFill>
                            <a:srgbClr val="000000"/>
                          </a:solidFill>
                          <a:latin typeface="KoPubWorld돋움체 Medium"/>
                          <a:ea typeface="KoPubWorld돋움체 Medium"/>
                          <a:cs typeface="KoPubWorld돋움체 Medium"/>
                        </a:rPr>
                        <a:t>합 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49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2,759억원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3,197억원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3,292억원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777억원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extLst>
                  <a:ext uri="{0D108BD9-81ED-4DB2-BD59-A6C34878D82A}">
                    <a16:rowId xmlns:a16="http://schemas.microsoft.com/office/drawing/2014/main" val="2551182561"/>
                  </a:ext>
                </a:extLst>
              </a:tr>
              <a:tr h="170877">
                <a:tc>
                  <a:txBody>
                    <a:bodyPr/>
                    <a:lstStyle/>
                    <a:p>
                      <a:pPr algn="ctr"/>
                      <a:r>
                        <a:rPr sz="1000">
                          <a:solidFill>
                            <a:srgbClr val="000000"/>
                          </a:solidFill>
                          <a:latin typeface="KoPubWorld돋움체 Medium"/>
                          <a:ea typeface="KoPubWorld돋움체 Medium"/>
                          <a:cs typeface="KoPubWorld돋움체 Medium"/>
                        </a:rPr>
                        <a:t>`27년도~`28년도 </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15</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697억원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952억원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36% </a:t>
                      </a:r>
                      <a:r>
                        <a:rPr sz="1000" dirty="0" err="1">
                          <a:solidFill>
                            <a:srgbClr val="000000"/>
                          </a:solidFill>
                          <a:latin typeface="KoPubWorld돋움체 Light"/>
                          <a:ea typeface="KoPubWorld돋움체 Light"/>
                          <a:cs typeface="KoPubWorld돋움체 Light"/>
                        </a:rPr>
                        <a:t>매각</a:t>
                      </a:r>
                      <a:r>
                        <a:rPr sz="1000" dirty="0">
                          <a:solidFill>
                            <a:srgbClr val="000000"/>
                          </a:solidFill>
                          <a:latin typeface="KoPubWorld돋움체 Light"/>
                          <a:ea typeface="KoPubWorld돋움체 Light"/>
                          <a:cs typeface="KoPubWorld돋움체 Light"/>
                        </a:rPr>
                        <a:t> 시</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extLst>
                  <a:ext uri="{0D108BD9-81ED-4DB2-BD59-A6C34878D82A}">
                    <a16:rowId xmlns:a16="http://schemas.microsoft.com/office/drawing/2014/main" val="1514370672"/>
                  </a:ext>
                </a:extLst>
              </a:tr>
              <a:tr h="170877">
                <a:tc>
                  <a:txBody>
                    <a:bodyPr/>
                    <a:lstStyle/>
                    <a:p>
                      <a:pPr algn="ctr"/>
                      <a:r>
                        <a:rPr sz="1000">
                          <a:solidFill>
                            <a:srgbClr val="000000"/>
                          </a:solidFill>
                          <a:latin typeface="KoPubWorld돋움체 Medium"/>
                          <a:ea typeface="KoPubWorld돋움체 Medium"/>
                          <a:cs typeface="KoPubWorld돋움체 Medium"/>
                        </a:rPr>
                        <a:t>임차인 매각요청 자산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42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1,936억원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2,645억원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nchor="ctr">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extLst>
              <p:ext uri="{D42A27DB-BD31-4B8C-83A1-F6EECF244321}">
                <p14:modId xmlns:p14="http://schemas.microsoft.com/office/powerpoint/2010/main" val="2929015531"/>
              </p:ext>
            </p:extLst>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lstStyle/>
                    <a:p>
                      <a:pPr algn="ctr"/>
                      <a:r>
                        <a:rPr sz="1000">
                          <a:solidFill>
                            <a:srgbClr val="000000"/>
                          </a:solidFill>
                          <a:latin typeface="KoPubWorld돋움체 Bold"/>
                          <a:ea typeface="KoPubWorld돋움체 Bold"/>
                          <a:cs typeface="KoPubWorld돋움체 Bold"/>
                        </a:rPr>
                        <a:t>매각 달성률</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36%</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20%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40%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50%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60%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70%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80%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90%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100%</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104098933"/>
                  </a:ext>
                </a:extLst>
              </a:tr>
              <a:tr h="204929">
                <a:tc>
                  <a:txBody>
                    <a:bodyPr/>
                    <a:lstStyle/>
                    <a:p>
                      <a:pPr algn="ctr"/>
                      <a:r>
                        <a:rPr sz="1000">
                          <a:solidFill>
                            <a:srgbClr val="000000"/>
                          </a:solidFill>
                          <a:latin typeface="KoPubWorld돋움체 Medium"/>
                          <a:ea typeface="KoPubWorld돋움체 Medium"/>
                          <a:cs typeface="KoPubWorld돋움체 Medium"/>
                        </a:rPr>
                        <a:t>DF타워 우선주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31175609"/>
                  </a:ext>
                </a:extLst>
              </a:tr>
              <a:tr h="204929">
                <a:tc>
                  <a:txBody>
                    <a:bodyPr/>
                    <a:lstStyle/>
                    <a:p>
                      <a:pPr algn="ctr"/>
                      <a:r>
                        <a:rPr sz="1000">
                          <a:solidFill>
                            <a:srgbClr val="000000"/>
                          </a:solidFill>
                          <a:latin typeface="KoPubWorld돋움체 Medium"/>
                          <a:ea typeface="KoPubWorld돋움체 Medium"/>
                          <a:cs typeface="KoPubWorld돋움체 Medium"/>
                        </a:rPr>
                        <a:t>주유소 회수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113억원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169억원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282억원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339억원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395억원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451억원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508억원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1546236798"/>
                  </a:ext>
                </a:extLst>
              </a:tr>
              <a:tr h="204929">
                <a:tc>
                  <a:txBody>
                    <a:bodyPr/>
                    <a:lstStyle/>
                    <a:p>
                      <a:pPr algn="ctr"/>
                      <a:r>
                        <a:rPr sz="1000">
                          <a:solidFill>
                            <a:srgbClr val="000000"/>
                          </a:solidFill>
                          <a:latin typeface="KoPubWorld돋움체 Medium"/>
                          <a:ea typeface="KoPubWorld돋움체 Medium"/>
                          <a:cs typeface="KoPubWorld돋움체 Medium"/>
                        </a:rPr>
                        <a:t>재투자 재원(합계)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578억원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429억원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542억원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655억원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712억원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937억원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extLst>
              <p:ext uri="{D42A27DB-BD31-4B8C-83A1-F6EECF244321}">
                <p14:modId xmlns:p14="http://schemas.microsoft.com/office/powerpoint/2010/main" val="1698779164"/>
              </p:ext>
            </p:extLst>
          </p:nvPr>
        </p:nvGraphicFramePr>
        <p:xfrm>
          <a:off x="487841" y="2554628"/>
          <a:ext cx="2806869" cy="3027101"/>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387323">
                <a:tc>
                  <a:txBody>
                    <a:bodyPr/>
                    <a:lstStyle/>
                    <a:p>
                      <a:pPr algn="ctr"/>
                      <a:r>
                        <a:rPr sz="10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a:solidFill>
                            <a:srgbClr val="000000"/>
                          </a:solidFill>
                          <a:latin typeface="KoPubWorld돋움체 Bold"/>
                          <a:ea typeface="KoPubWorld돋움체 Bold"/>
                          <a:cs typeface="KoPubWorld돋움체 Bold"/>
                        </a:rPr>
                        <a:t>코람코더원강남1호 </a:t>
                      </a:r>
                      <a:r>
                        <a:rPr sz="1000" dirty="0" err="1">
                          <a:solidFill>
                            <a:srgbClr val="000000"/>
                          </a:solidFill>
                          <a:latin typeface="KoPubWorld돋움체 Bold"/>
                          <a:ea typeface="KoPubWorld돋움체 Bold"/>
                          <a:cs typeface="KoPubWorld돋움체 Bold"/>
                        </a:rPr>
                        <a:t>우선주</a:t>
                      </a:r>
                      <a:endParaRPr sz="1000" dirty="0">
                        <a:solidFill>
                          <a:srgbClr val="000000"/>
                        </a:solidFill>
                        <a:latin typeface="KoPubWorld돋움체 Bold"/>
                        <a:ea typeface="KoPubWorld돋움체 Bold"/>
                        <a:cs typeface="KoPubWorld돋움체 Bold"/>
                      </a:endParaRPr>
                    </a:p>
                    <a:p>
                      <a:pPr algn="ctr"/>
                      <a:r>
                        <a:rPr sz="1000" dirty="0">
                          <a:solidFill>
                            <a:srgbClr val="000000"/>
                          </a:solidFill>
                          <a:latin typeface="KoPubWorld돋움체 Bold"/>
                          <a:ea typeface="KoPubWorld돋움체 Bold"/>
                          <a:cs typeface="KoPubWorld돋움체 Bold"/>
                        </a:rPr>
                        <a:t>(</a:t>
                      </a:r>
                      <a:r>
                        <a:rPr sz="1000" dirty="0" err="1">
                          <a:solidFill>
                            <a:srgbClr val="000000"/>
                          </a:solidFill>
                          <a:latin typeface="KoPubWorld돋움체 Bold"/>
                          <a:ea typeface="KoPubWorld돋움체 Bold"/>
                          <a:cs typeface="KoPubWorld돋움체 Bold"/>
                        </a:rPr>
                        <a:t>DF타워</a:t>
                      </a:r>
                      <a:r>
                        <a:rPr sz="1000" dirty="0">
                          <a:solidFill>
                            <a:srgbClr val="000000"/>
                          </a:solidFill>
                          <a:latin typeface="KoPubWorld돋움체 Bold"/>
                          <a:ea typeface="KoPubWorld돋움체 Bold"/>
                          <a:cs typeface="KoPubWorld돋움체 Bold"/>
                        </a:rPr>
                        <a:t>)</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2421743362"/>
                  </a:ext>
                </a:extLst>
              </a:tr>
              <a:tr h="1182453">
                <a:tc>
                  <a:txBody>
                    <a:bodyPr/>
                    <a:lstStyle/>
                    <a:p>
                      <a:pPr algn="ctr"/>
                      <a:r>
                        <a:rPr sz="1000">
                          <a:solidFill>
                            <a:srgbClr val="000000"/>
                          </a:solidFill>
                          <a:latin typeface="KoPubWorld돋움체 Medium"/>
                          <a:ea typeface="KoPubWorld돋움체 Medium"/>
                          <a:cs typeface="KoPubWorld돋움체 Medium"/>
                        </a:rPr>
                        <a:t>사진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1888091"/>
                  </a:ext>
                </a:extLst>
              </a:tr>
              <a:tr h="156477">
                <a:tc>
                  <a:txBody>
                    <a:bodyPr/>
                    <a:lstStyle/>
                    <a:p>
                      <a:pPr algn="ctr"/>
                      <a:r>
                        <a:rPr sz="1000">
                          <a:solidFill>
                            <a:srgbClr val="000000"/>
                          </a:solidFill>
                          <a:latin typeface="KoPubWorld돋움체 Medium"/>
                          <a:ea typeface="KoPubWorld돋움체 Medium"/>
                          <a:cs typeface="KoPubWorld돋움체 Medium"/>
                        </a:rPr>
                        <a:t>소재지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서초구 강남대로 369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806366030"/>
                  </a:ext>
                </a:extLst>
              </a:tr>
              <a:tr h="156477">
                <a:tc>
                  <a:txBody>
                    <a:bodyPr/>
                    <a:lstStyle/>
                    <a:p>
                      <a:pPr algn="ctr"/>
                      <a:r>
                        <a:rPr sz="1000">
                          <a:solidFill>
                            <a:srgbClr val="000000"/>
                          </a:solidFill>
                          <a:latin typeface="KoPubWorld돋움체 Medium"/>
                          <a:ea typeface="KoPubWorld돋움체 Medium"/>
                          <a:cs typeface="KoPubWorld돋움체 Medium"/>
                        </a:rPr>
                        <a:t>대지면적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1,777.40㎡(538평)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800812181"/>
                  </a:ext>
                </a:extLst>
              </a:tr>
              <a:tr h="156477">
                <a:tc>
                  <a:txBody>
                    <a:bodyPr/>
                    <a:lstStyle/>
                    <a:p>
                      <a:pPr algn="ctr"/>
                      <a:r>
                        <a:rPr sz="1000">
                          <a:solidFill>
                            <a:srgbClr val="000000"/>
                          </a:solidFill>
                          <a:latin typeface="KoPubWorld돋움체 Medium"/>
                          <a:ea typeface="KoPubWorld돋움체 Medium"/>
                          <a:cs typeface="KoPubWorld돋움체 Medium"/>
                        </a:rPr>
                        <a:t>연면적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29,916.06㎡(9,050평)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519960407"/>
                  </a:ext>
                </a:extLst>
              </a:tr>
              <a:tr h="156477">
                <a:tc>
                  <a:txBody>
                    <a:bodyPr/>
                    <a:lstStyle/>
                    <a:p>
                      <a:pPr algn="ctr"/>
                      <a:r>
                        <a:rPr sz="1000">
                          <a:solidFill>
                            <a:srgbClr val="000000"/>
                          </a:solidFill>
                          <a:latin typeface="KoPubWorld돋움체 Medium"/>
                          <a:ea typeface="KoPubWorld돋움체 Medium"/>
                          <a:cs typeface="KoPubWorld돋움체 Medium"/>
                        </a:rPr>
                        <a:t>주요 임차인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두나무(89%)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949403113"/>
                  </a:ext>
                </a:extLst>
              </a:tr>
              <a:tr h="156477">
                <a:tc>
                  <a:txBody>
                    <a:bodyPr/>
                    <a:lstStyle/>
                    <a:p>
                      <a:pPr algn="ctr"/>
                      <a:r>
                        <a:rPr sz="1000">
                          <a:solidFill>
                            <a:srgbClr val="000000"/>
                          </a:solidFill>
                          <a:latin typeface="KoPubWorld돋움체 Medium"/>
                          <a:ea typeface="KoPubWorld돋움체 Medium"/>
                          <a:cs typeface="KoPubWorld돋움체 Medium"/>
                        </a:rPr>
                        <a:t>WALE</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3.5년</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5031305"/>
                  </a:ext>
                </a:extLst>
              </a:tr>
              <a:tr h="156477">
                <a:tc>
                  <a:txBody>
                    <a:bodyPr/>
                    <a:lstStyle/>
                    <a:p>
                      <a:pPr algn="ctr"/>
                      <a:r>
                        <a:rPr sz="1000">
                          <a:solidFill>
                            <a:srgbClr val="000000"/>
                          </a:solidFill>
                          <a:latin typeface="KoPubWorld돋움체 Medium"/>
                          <a:ea typeface="KoPubWorld돋움체 Medium"/>
                          <a:cs typeface="KoPubWorld돋움체 Medium"/>
                        </a:rPr>
                        <a:t>공실률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6372306"/>
                  </a:ext>
                </a:extLst>
              </a:tr>
              <a:tr h="156477">
                <a:tc>
                  <a:txBody>
                    <a:bodyPr/>
                    <a:lstStyle/>
                    <a:p>
                      <a:pPr algn="ctr"/>
                      <a:r>
                        <a:rPr lang="ko-KR" altLang="en-US" sz="1000" dirty="0">
                          <a:solidFill>
                            <a:srgbClr val="000000"/>
                          </a:solidFill>
                          <a:latin typeface="KoPubWorld돋움체 Medium"/>
                          <a:ea typeface="KoPubWorld돋움체 Medium"/>
                          <a:cs typeface="KoPubWorld돋움체 Medium"/>
                        </a:rPr>
                        <a:t>사업계획 만기</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’27.05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4088463193"/>
                  </a:ext>
                </a:extLst>
              </a:tr>
              <a:tr h="156477">
                <a:tc>
                  <a:txBody>
                    <a:bodyPr/>
                    <a:lstStyle/>
                    <a:p>
                      <a:pPr algn="ctr"/>
                      <a:r>
                        <a:rPr sz="1000">
                          <a:solidFill>
                            <a:srgbClr val="000000"/>
                          </a:solidFill>
                          <a:latin typeface="KoPubWorld돋움체 Medium"/>
                          <a:ea typeface="KoPubWorld돋움체 Medium"/>
                          <a:cs typeface="KoPubWorld돋움체 Medium"/>
                        </a:rPr>
                        <a:t>투자금액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986638306"/>
                  </a:ext>
                </a:extLst>
              </a:tr>
              <a:tr h="156477">
                <a:tc>
                  <a:txBody>
                    <a:bodyPr/>
                    <a:lstStyle/>
                    <a:p>
                      <a:pPr algn="ctr"/>
                      <a:r>
                        <a:rPr sz="1000">
                          <a:solidFill>
                            <a:srgbClr val="000000"/>
                          </a:solidFill>
                          <a:latin typeface="KoPubWorld돋움체 Medium"/>
                          <a:ea typeface="KoPubWorld돋움체 Medium"/>
                          <a:cs typeface="KoPubWorld돋움체 Medium"/>
                        </a:rPr>
                        <a:t>평가금액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392억원 (’25.11말,NICE P&amp;I)</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6827" y="2987749"/>
            <a:ext cx="1426831" cy="1060499"/>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67669"/>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매각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172" name="TextBox 171">
            <a:extLst>
              <a:ext uri="{FF2B5EF4-FFF2-40B4-BE49-F238E27FC236}">
                <a16:creationId xmlns:a16="http://schemas.microsoft.com/office/drawing/2014/main" id="{3C4DCE3E-6F59-66A9-7BF8-61C3ED03218C}"/>
              </a:ext>
            </a:extLst>
          </p:cNvPr>
          <p:cNvSpPr txBox="1"/>
          <p:nvPr/>
        </p:nvSpPr>
        <p:spPr>
          <a:xfrm>
            <a:off x="8962382" y="2324869"/>
            <a:ext cx="1241589"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86166" y="4480764"/>
            <a:ext cx="1121269" cy="415498"/>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36%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
        <p:nvSpPr>
          <p:cNvPr id="10" name="사각형: 둥근 모서리 9">
            <a:extLst>
              <a:ext uri="{FF2B5EF4-FFF2-40B4-BE49-F238E27FC236}">
                <a16:creationId xmlns:a16="http://schemas.microsoft.com/office/drawing/2014/main" id="{DBA0BB52-3F5F-9295-341C-9E22860E1B6E}"/>
              </a:ext>
            </a:extLst>
          </p:cNvPr>
          <p:cNvSpPr/>
          <p:nvPr/>
        </p:nvSpPr>
        <p:spPr>
          <a:xfrm>
            <a:off x="471756" y="230083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회수</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extLst>
              <p:ext uri="{D42A27DB-BD31-4B8C-83A1-F6EECF244321}">
                <p14:modId xmlns:p14="http://schemas.microsoft.com/office/powerpoint/2010/main" val="4164082619"/>
              </p:ext>
            </p:extLst>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(5,000억원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2/25 </a:t>
                      </a:r>
                      <a:r>
                        <a:rPr sz="900" dirty="0" err="1">
                          <a:solidFill>
                            <a:srgbClr val="000000"/>
                          </a:solidFill>
                          <a:latin typeface="KoPubWorld돋움체 Light"/>
                          <a:ea typeface="KoPubWorld돋움체 Light"/>
                          <a:cs typeface="KoPubWorld돋움체 Light"/>
                        </a:rPr>
                        <a:t>승인완료</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(1,500억원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1/27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사모사채</a:t>
                      </a:r>
                      <a:r>
                        <a:rPr sz="900" dirty="0">
                          <a:solidFill>
                            <a:srgbClr val="000000"/>
                          </a:solidFill>
                          <a:latin typeface="KoPubWorld돋움체 Light"/>
                          <a:ea typeface="KoPubWorld돋움체 Light"/>
                          <a:cs typeface="KoPubWorld돋움체 Light"/>
                        </a:rPr>
                        <a:t>(140억원) </a:t>
                      </a:r>
                      <a:r>
                        <a:rPr sz="900" dirty="0" err="1">
                          <a:solidFill>
                            <a:srgbClr val="000000"/>
                          </a:solidFill>
                          <a:latin typeface="KoPubWorld돋움체 Light"/>
                          <a:ea typeface="KoPubWorld돋움체 Light"/>
                          <a:cs typeface="KoPubWorld돋움체 Light"/>
                        </a:rPr>
                        <a:t>발행</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인수계약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10/14(E)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99334124"/>
                  </a:ext>
                </a:extLst>
              </a:tr>
              <a:tr h="252000">
                <a:tc>
                  <a:txBody>
                    <a:bodyPr/>
                    <a:lstStyle/>
                    <a:p>
                      <a:pPr algn="ctr"/>
                      <a:r>
                        <a:rPr sz="900">
                          <a:solidFill>
                            <a:srgbClr val="000000"/>
                          </a:solidFill>
                          <a:latin typeface="KoPubWorld돋움체 Medium"/>
                          <a:ea typeface="KoPubWorld돋움체 Medium"/>
                          <a:cs typeface="KoPubWorld돋움체 Medium"/>
                        </a:rPr>
                        <a:t>변경인가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미만</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제외</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extLst>
              <p:ext uri="{D42A27DB-BD31-4B8C-83A1-F6EECF244321}">
                <p14:modId xmlns:p14="http://schemas.microsoft.com/office/powerpoint/2010/main" val="1174981743"/>
              </p:ext>
            </p:extLst>
          </p:nvPr>
        </p:nvGraphicFramePr>
        <p:xfrm>
          <a:off x="603394" y="3122132"/>
          <a:ext cx="4720217" cy="1355535"/>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lstStyle/>
                    <a:p>
                      <a:pPr algn="ctr"/>
                      <a:r>
                        <a:rPr sz="900" dirty="0" err="1">
                          <a:solidFill>
                            <a:srgbClr val="000000"/>
                          </a:solidFill>
                          <a:latin typeface="KoPubWorld돋움체 Bold"/>
                          <a:ea typeface="KoPubWorld돋움체 Bold"/>
                          <a:cs typeface="KoPubWorld돋움체 Bold"/>
                        </a:rPr>
                        <a:t>구분</a:t>
                      </a:r>
                      <a:endParaRPr sz="9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의안 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초과</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자산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취득계약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결의</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부투법</a:t>
                      </a:r>
                      <a:r>
                        <a:rPr sz="900" dirty="0">
                          <a:solidFill>
                            <a:srgbClr val="000000"/>
                          </a:solidFill>
                          <a:latin typeface="KoPubWorld돋움체 Light"/>
                          <a:ea typeface="KoPubWorld돋움체 Light"/>
                          <a:cs typeface="KoPubWorld돋움체 Light"/>
                        </a:rPr>
                        <a:t> §12①)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해당사항</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없음</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약 6%[</a:t>
                      </a:r>
                      <a:r>
                        <a:rPr sz="900" dirty="0" err="1">
                          <a:solidFill>
                            <a:srgbClr val="000000"/>
                          </a:solidFill>
                          <a:latin typeface="KoPubWorld돋움체 Light"/>
                          <a:ea typeface="KoPubWorld돋움체 Light"/>
                          <a:cs typeface="KoPubWorld돋움체 Light"/>
                        </a:rPr>
                        <a:t>추정</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투자자문위원회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a:solidFill>
                            <a:srgbClr val="000000"/>
                          </a:solidFill>
                          <a:latin typeface="KoPubWorld돋움체 Light"/>
                          <a:ea typeface="KoPubWorld돋움체 Light"/>
                          <a:cs typeface="KoPubWorld돋움체 Light"/>
                        </a:rPr>
                        <a:t>KLL 지분증권 취득 및 매입확약서 제출 자문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10/12(E)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주주간계약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보통주</a:t>
                      </a:r>
                      <a:r>
                        <a:rPr sz="900" dirty="0">
                          <a:solidFill>
                            <a:srgbClr val="000000"/>
                          </a:solidFill>
                          <a:latin typeface="KoPubWorld돋움체 Light"/>
                          <a:ea typeface="KoPubWorld돋움체 Light"/>
                          <a:cs typeface="KoPubWorld돋움체 Light"/>
                        </a:rPr>
                        <a:t> 148억·2-1종 160억)·</a:t>
                      </a:r>
                      <a:r>
                        <a:rPr sz="900" dirty="0" err="1">
                          <a:solidFill>
                            <a:srgbClr val="000000"/>
                          </a:solidFill>
                          <a:latin typeface="KoPubWorld돋움체 Light"/>
                          <a:ea typeface="KoPubWorld돋움체 Light"/>
                          <a:cs typeface="KoPubWorld돋움체 Light"/>
                        </a:rPr>
                        <a:t>매입확약서</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제출</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10/14(E) → 10/16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252000">
                <a:tc>
                  <a:txBody>
                    <a:bodyPr/>
                    <a:lstStyle/>
                    <a:p>
                      <a:pPr algn="ctr"/>
                      <a:r>
                        <a:rPr sz="900">
                          <a:solidFill>
                            <a:srgbClr val="000000"/>
                          </a:solidFill>
                          <a:latin typeface="KoPubWorld돋움체 Medium"/>
                          <a:ea typeface="KoPubWorld돋움체 Medium"/>
                          <a:cs typeface="KoPubWorld돋움체 Medium"/>
                        </a:rPr>
                        <a:t>변경인가·보고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변경보고</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10/22 </a:t>
                      </a:r>
                      <a:r>
                        <a:rPr sz="900" dirty="0" err="1">
                          <a:solidFill>
                            <a:srgbClr val="000000"/>
                          </a:solidFill>
                          <a:latin typeface="KoPubWorld돋움체 Light"/>
                          <a:ea typeface="KoPubWorld돋움체 Light"/>
                          <a:cs typeface="KoPubWorld돋움체 Light"/>
                        </a:rPr>
                        <a:t>종결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이후</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extLst>
              <p:ext uri="{D42A27DB-BD31-4B8C-83A1-F6EECF244321}">
                <p14:modId xmlns:p14="http://schemas.microsoft.com/office/powerpoint/2010/main" val="1355905984"/>
              </p:ext>
            </p:extLst>
          </p:nvPr>
        </p:nvGraphicFramePr>
        <p:xfrm>
          <a:off x="5506479" y="3104397"/>
          <a:ext cx="4782001" cy="3359026"/>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45986">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쟁점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대응방안</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389130">
                <a:tc>
                  <a:txBody>
                    <a:bodyPr/>
                    <a:lstStyle/>
                    <a:p>
                      <a:pPr algn="ctr"/>
                      <a:r>
                        <a:rPr sz="900" dirty="0">
                          <a:solidFill>
                            <a:srgbClr val="000000"/>
                          </a:solidFill>
                          <a:latin typeface="KoPubWorld돋움체 Medium"/>
                          <a:ea typeface="KoPubWorld돋움체 Medium"/>
                          <a:cs typeface="KoPubWorld돋움체 Medium"/>
                        </a:rPr>
                        <a:t>KLI </a:t>
                      </a:r>
                      <a:r>
                        <a:rPr sz="900" dirty="0" err="1">
                          <a:solidFill>
                            <a:srgbClr val="000000"/>
                          </a:solidFill>
                          <a:latin typeface="KoPubWorld돋움체 Medium"/>
                          <a:ea typeface="KoPubWorld돋움체 Medium"/>
                          <a:cs typeface="KoPubWorld돋움체 Medium"/>
                        </a:rPr>
                        <a:t>결의요건</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30%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취득계약은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888억은 </a:t>
                      </a:r>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약 6%[</a:t>
                      </a:r>
                      <a:r>
                        <a:rPr sz="1000" dirty="0" err="1">
                          <a:solidFill>
                            <a:srgbClr val="000000"/>
                          </a:solidFill>
                          <a:latin typeface="KoPubWorld돋움체 Light"/>
                          <a:ea typeface="KoPubWorld돋움체 Light"/>
                          <a:cs typeface="KoPubWorld돋움체 Light"/>
                        </a:rPr>
                        <a:t>추정</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이사회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389130">
                <a:tc>
                  <a:txBody>
                    <a:bodyPr/>
                    <a:lstStyle/>
                    <a:p>
                      <a:pPr algn="ctr"/>
                      <a:r>
                        <a:rPr sz="900" dirty="0" err="1">
                          <a:solidFill>
                            <a:srgbClr val="000000"/>
                          </a:solidFill>
                          <a:latin typeface="KoPubWorld돋움체 Medium"/>
                          <a:ea typeface="KoPubWorld돋움체 Medium"/>
                          <a:cs typeface="KoPubWorld돋움체 Medium"/>
                        </a:rPr>
                        <a:t>이해관계자</a:t>
                      </a:r>
                      <a:r>
                        <a:rPr sz="900" dirty="0">
                          <a:solidFill>
                            <a:srgbClr val="000000"/>
                          </a:solidFill>
                          <a:latin typeface="KoPubWorld돋움체 Medium"/>
                          <a:ea typeface="KoPubWorld돋움체 Medium"/>
                          <a:cs typeface="KoPubWorld돋움체 Medium"/>
                        </a:rPr>
                        <a:t> </a:t>
                      </a:r>
                      <a:endParaRPr lang="en-US" sz="900" dirty="0">
                        <a:solidFill>
                          <a:srgbClr val="000000"/>
                        </a:solidFill>
                        <a:latin typeface="KoPubWorld돋움체 Medium"/>
                        <a:ea typeface="KoPubWorld돋움체 Medium"/>
                        <a:cs typeface="KoPubWorld돋움체 Medium"/>
                      </a:endParaRPr>
                    </a:p>
                    <a:p>
                      <a:pPr algn="ctr"/>
                      <a:r>
                        <a:rPr sz="900" dirty="0" err="1">
                          <a:solidFill>
                            <a:srgbClr val="000000"/>
                          </a:solidFill>
                          <a:latin typeface="KoPubWorld돋움체 Medium"/>
                          <a:ea typeface="KoPubWorld돋움체 Medium"/>
                          <a:cs typeface="KoPubWorld돋움체 Medium"/>
                        </a:rPr>
                        <a:t>거래</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PFV는</a:t>
                      </a:r>
                      <a:r>
                        <a:rPr sz="1000" dirty="0">
                          <a:solidFill>
                            <a:srgbClr val="000000"/>
                          </a:solidFill>
                          <a:latin typeface="KoPubWorld돋움체 Light"/>
                          <a:ea typeface="KoPubWorld돋움체 Light"/>
                          <a:cs typeface="KoPubWorld돋움체 Light"/>
                        </a:rPr>
                        <a:t> AMC </a:t>
                      </a:r>
                      <a:r>
                        <a:rPr sz="1000" dirty="0" err="1">
                          <a:solidFill>
                            <a:srgbClr val="000000"/>
                          </a:solidFill>
                          <a:latin typeface="KoPubWorld돋움체 Light"/>
                          <a:ea typeface="KoPubWorld돋움체 Light"/>
                          <a:cs typeface="KoPubWorld돋움체 Light"/>
                        </a:rPr>
                        <a:t>특별관계자</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부투법</a:t>
                      </a:r>
                      <a:r>
                        <a:rPr sz="1000" dirty="0">
                          <a:solidFill>
                            <a:srgbClr val="000000"/>
                          </a:solidFill>
                          <a:latin typeface="KoPubWorld돋움체 Light"/>
                          <a:ea typeface="KoPubWorld돋움체 Light"/>
                          <a:cs typeface="KoPubWorld돋움체 Light"/>
                        </a:rPr>
                        <a:t> §22조의2③ </a:t>
                      </a:r>
                      <a:r>
                        <a:rPr sz="1000" dirty="0" err="1">
                          <a:solidFill>
                            <a:srgbClr val="000000"/>
                          </a:solidFill>
                          <a:latin typeface="KoPubWorld돋움체 Light"/>
                          <a:ea typeface="KoPubWorld돋움체 Light"/>
                          <a:cs typeface="KoPubWorld돋움체 Light"/>
                        </a:rPr>
                        <a:t>거래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낙찰가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KLL </a:t>
                      </a:r>
                      <a:r>
                        <a:rPr sz="1000" dirty="0" err="1">
                          <a:solidFill>
                            <a:srgbClr val="000000"/>
                          </a:solidFill>
                          <a:latin typeface="KoPubWorld돋움체 Light"/>
                          <a:ea typeface="KoPubWorld돋움체 Light"/>
                          <a:cs typeface="KoPubWorld돋움체 Light"/>
                        </a:rPr>
                        <a:t>이사회·주총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389130">
                <a:tc>
                  <a:txBody>
                    <a:bodyPr/>
                    <a:lstStyle/>
                    <a:p>
                      <a:pPr algn="ctr"/>
                      <a:r>
                        <a:rPr sz="900" dirty="0">
                          <a:solidFill>
                            <a:srgbClr val="000000"/>
                          </a:solidFill>
                          <a:latin typeface="KoPubWorld돋움체 Medium"/>
                          <a:ea typeface="KoPubWorld돋움체 Medium"/>
                          <a:cs typeface="KoPubWorld돋움체 Medium"/>
                        </a:rPr>
                        <a:t>3종 </a:t>
                      </a:r>
                      <a:r>
                        <a:rPr sz="900" dirty="0" err="1">
                          <a:solidFill>
                            <a:srgbClr val="000000"/>
                          </a:solidFill>
                          <a:latin typeface="KoPubWorld돋움체 Medium"/>
                          <a:ea typeface="KoPubWorld돋움체 Medium"/>
                          <a:cs typeface="KoPubWorld돋움체 Medium"/>
                        </a:rPr>
                        <a:t>주주</a:t>
                      </a:r>
                      <a:endParaRPr lang="en-US" sz="900" dirty="0">
                        <a:solidFill>
                          <a:srgbClr val="000000"/>
                        </a:solidFill>
                        <a:latin typeface="KoPubWorld돋움체 Medium"/>
                        <a:ea typeface="KoPubWorld돋움체 Medium"/>
                        <a:cs typeface="KoPubWorld돋움체 Medium"/>
                      </a:endParaRPr>
                    </a:p>
                    <a:p>
                      <a:pPr algn="ctr"/>
                      <a:r>
                        <a:rPr sz="900" dirty="0">
                          <a:solidFill>
                            <a:srgbClr val="000000"/>
                          </a:solidFill>
                          <a:latin typeface="KoPubWorld돋움체 Medium"/>
                          <a:ea typeface="KoPubWorld돋움체 Medium"/>
                          <a:cs typeface="KoPubWorld돋움체 Medium"/>
                        </a:rPr>
                        <a:t> </a:t>
                      </a:r>
                      <a:r>
                        <a:rPr sz="900" dirty="0" err="1">
                          <a:solidFill>
                            <a:srgbClr val="000000"/>
                          </a:solidFill>
                          <a:latin typeface="KoPubWorld돋움체 Medium"/>
                          <a:ea typeface="KoPubWorld돋움체 Medium"/>
                          <a:cs typeface="KoPubWorld돋움체 Medium"/>
                        </a:rPr>
                        <a:t>처리</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KLI가</a:t>
                      </a:r>
                      <a:r>
                        <a:rPr sz="1000" dirty="0">
                          <a:solidFill>
                            <a:srgbClr val="000000"/>
                          </a:solidFill>
                          <a:latin typeface="KoPubWorld돋움체 Light"/>
                          <a:ea typeface="KoPubWorld돋움체 Light"/>
                          <a:cs typeface="KoPubWorld돋움체 Light"/>
                        </a:rPr>
                        <a:t> 3종 </a:t>
                      </a:r>
                      <a:r>
                        <a:rPr sz="1000" dirty="0" err="1">
                          <a:solidFill>
                            <a:srgbClr val="000000"/>
                          </a:solidFill>
                          <a:latin typeface="KoPubWorld돋움체 Light"/>
                          <a:ea typeface="KoPubWorld돋움체 Light"/>
                          <a:cs typeface="KoPubWorld돋움체 Light"/>
                        </a:rPr>
                        <a:t>매입확약</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이해관계자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3종은 KLI </a:t>
                      </a:r>
                      <a:r>
                        <a:rPr sz="1000" dirty="0" err="1">
                          <a:solidFill>
                            <a:srgbClr val="000000"/>
                          </a:solidFill>
                          <a:latin typeface="KoPubWorld돋움체 Light"/>
                          <a:ea typeface="KoPubWorld돋움체 Light"/>
                          <a:cs typeface="KoPubWorld돋움체 Light"/>
                        </a:rPr>
                        <a:t>확약</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제외</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SHA 제5조 </a:t>
                      </a:r>
                      <a:r>
                        <a:rPr sz="1000" dirty="0" err="1">
                          <a:solidFill>
                            <a:srgbClr val="000000"/>
                          </a:solidFill>
                          <a:latin typeface="KoPubWorld돋움체 Light"/>
                          <a:ea typeface="KoPubWorld돋움체 Light"/>
                          <a:cs typeface="KoPubWorld돋움체 Light"/>
                        </a:rPr>
                        <a:t>유상감자로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회수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389130">
                <a:tc>
                  <a:txBody>
                    <a:bodyPr/>
                    <a:lstStyle/>
                    <a:p>
                      <a:pPr algn="ctr"/>
                      <a:r>
                        <a:rPr sz="900">
                          <a:solidFill>
                            <a:srgbClr val="000000"/>
                          </a:solidFill>
                          <a:latin typeface="KoPubWorld돋움체 Medium"/>
                          <a:ea typeface="KoPubWorld돋움체 Medium"/>
                          <a:cs typeface="KoPubWorld돋움체 Medium"/>
                        </a:rPr>
                        <a:t>거래가격 공정성</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정상가격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부당지원·부당행위계산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소지</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경쟁입찰·감정평가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사업적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필요성</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검토자료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구비</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r h="389130">
                <a:tc>
                  <a:txBody>
                    <a:bodyPr/>
                    <a:lstStyle/>
                    <a:p>
                      <a:pPr algn="ctr"/>
                      <a:r>
                        <a:rPr sz="900">
                          <a:solidFill>
                            <a:srgbClr val="000000"/>
                          </a:solidFill>
                          <a:latin typeface="KoPubWorld돋움체 Medium"/>
                          <a:ea typeface="KoPubWorld돋움체 Medium"/>
                          <a:cs typeface="KoPubWorld돋움체 Medium"/>
                        </a:rPr>
                        <a:t>공모간주</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10% </a:t>
                      </a:r>
                      <a:r>
                        <a:rPr sz="1000" dirty="0" err="1">
                          <a:solidFill>
                            <a:srgbClr val="000000"/>
                          </a:solidFill>
                          <a:latin typeface="KoPubWorld돋움체 Light"/>
                          <a:ea typeface="KoPubWorld돋움체 Light"/>
                          <a:cs typeface="KoPubWorld돋움체 Light"/>
                        </a:rPr>
                        <a:t>이상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출자로</a:t>
                      </a:r>
                      <a:r>
                        <a:rPr sz="1000" dirty="0">
                          <a:solidFill>
                            <a:srgbClr val="000000"/>
                          </a:solidFill>
                          <a:latin typeface="KoPubWorld돋움체 Light"/>
                          <a:ea typeface="KoPubWorld돋움체 Light"/>
                          <a:cs typeface="KoPubWorld돋움체 Light"/>
                        </a:rPr>
                        <a:t> KLL </a:t>
                      </a:r>
                      <a:r>
                        <a:rPr sz="1000" dirty="0" err="1">
                          <a:solidFill>
                            <a:srgbClr val="000000"/>
                          </a:solidFill>
                          <a:latin typeface="KoPubWorld돋움체 Light"/>
                          <a:ea typeface="KoPubWorld돋움체 Light"/>
                          <a:cs typeface="KoPubWorld돋움체 Light"/>
                        </a:rPr>
                        <a:t>공모간주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가능</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별도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모집·매출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없는</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유지</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증권신고서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불요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646589663"/>
                  </a:ext>
                </a:extLst>
              </a:tr>
              <a:tr h="389130">
                <a:tc>
                  <a:txBody>
                    <a:bodyPr/>
                    <a:lstStyle/>
                    <a:p>
                      <a:pPr algn="ctr"/>
                      <a:r>
                        <a:rPr sz="900">
                          <a:solidFill>
                            <a:srgbClr val="000000"/>
                          </a:solidFill>
                          <a:latin typeface="KoPubWorld돋움체 Medium"/>
                          <a:ea typeface="KoPubWorld돋움체 Medium"/>
                          <a:cs typeface="KoPubWorld돋움체 Medium"/>
                        </a:rPr>
                        <a:t>지배력·기업결합</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a:t>
                      </a:r>
                      <a:r>
                        <a:rPr sz="1000" dirty="0" err="1">
                          <a:solidFill>
                            <a:srgbClr val="000000"/>
                          </a:solidFill>
                          <a:latin typeface="KoPubWorld돋움체 Light"/>
                          <a:ea typeface="KoPubWorld돋움체 Light"/>
                          <a:cs typeface="KoPubWorld돋움체 Light"/>
                        </a:rPr>
                        <a:t>이사</a:t>
                      </a:r>
                      <a:r>
                        <a:rPr sz="1000" dirty="0">
                          <a:solidFill>
                            <a:srgbClr val="000000"/>
                          </a:solidFill>
                          <a:latin typeface="KoPubWorld돋움체 Light"/>
                          <a:ea typeface="KoPubWorld돋움체 Light"/>
                          <a:cs typeface="KoPubWorld돋움체 Light"/>
                        </a:rPr>
                        <a:t> 2인·대표 </a:t>
                      </a:r>
                      <a:r>
                        <a:rPr sz="1000" dirty="0" err="1">
                          <a:solidFill>
                            <a:srgbClr val="000000"/>
                          </a:solidFill>
                          <a:latin typeface="KoPubWorld돋움체 Light"/>
                          <a:ea typeface="KoPubWorld돋움체 Light"/>
                          <a:cs typeface="KoPubWorld돋움체 Light"/>
                        </a:rPr>
                        <a:t>지명</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계열편입</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기업결합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공정위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수리를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거래종결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선행조건으로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반영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474605282"/>
                  </a:ext>
                </a:extLst>
              </a:tr>
              <a:tr h="389130">
                <a:tc>
                  <a:txBody>
                    <a:bodyPr/>
                    <a:lstStyle/>
                    <a:p>
                      <a:pPr algn="ctr"/>
                      <a:r>
                        <a:rPr sz="900">
                          <a:solidFill>
                            <a:srgbClr val="000000"/>
                          </a:solidFill>
                          <a:latin typeface="KoPubWorld돋움체 Medium"/>
                          <a:ea typeface="KoPubWorld돋움체 Medium"/>
                          <a:cs typeface="KoPubWorld돋움체 Medium"/>
                        </a:rPr>
                        <a:t>매입확약 우발채무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1종 240억·2종 340억 </a:t>
                      </a:r>
                      <a:r>
                        <a:rPr sz="1000" dirty="0" err="1">
                          <a:solidFill>
                            <a:srgbClr val="000000"/>
                          </a:solidFill>
                          <a:latin typeface="KoPubWorld돋움체 Light"/>
                          <a:ea typeface="KoPubWorld돋움체 Light"/>
                          <a:cs typeface="KoPubWorld돋움체 Light"/>
                        </a:rPr>
                        <a:t>매입의무</a:t>
                      </a:r>
                      <a:r>
                        <a:rPr sz="1000" dirty="0">
                          <a:solidFill>
                            <a:srgbClr val="000000"/>
                          </a:solidFill>
                          <a:latin typeface="KoPubWorld돋움체 Light"/>
                          <a:ea typeface="KoPubWorld돋움체 Light"/>
                          <a:cs typeface="KoPubWorld돋움체 Light"/>
                        </a:rPr>
                        <a:t>, 2종 </a:t>
                      </a:r>
                      <a:r>
                        <a:rPr sz="1000" dirty="0" err="1">
                          <a:solidFill>
                            <a:srgbClr val="000000"/>
                          </a:solidFill>
                          <a:latin typeface="KoPubWorld돋움체 Light"/>
                          <a:ea typeface="KoPubWorld돋움체 Light"/>
                          <a:cs typeface="KoPubWorld돋움체 Light"/>
                        </a:rPr>
                        <a:t>위약벌</a:t>
                      </a:r>
                      <a:r>
                        <a:rPr sz="1000" dirty="0">
                          <a:solidFill>
                            <a:srgbClr val="000000"/>
                          </a:solidFill>
                          <a:latin typeface="KoPubWorld돋움체 Light"/>
                          <a:ea typeface="KoPubWorld돋움체 Light"/>
                          <a:cs typeface="KoPubWorld돋움체 Light"/>
                        </a:rPr>
                        <a:t> 20%</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매입재원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미충족</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효력</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미발생</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416116062"/>
                  </a:ext>
                </a:extLst>
              </a:tr>
              <a:tr h="389130">
                <a:tc>
                  <a:txBody>
                    <a:bodyPr/>
                    <a:lstStyle/>
                    <a:p>
                      <a:pPr algn="ctr"/>
                      <a:r>
                        <a:rPr sz="900">
                          <a:solidFill>
                            <a:srgbClr val="000000"/>
                          </a:solidFill>
                          <a:latin typeface="KoPubWorld돋움체 Medium"/>
                          <a:ea typeface="KoPubWorld돋움체 Medium"/>
                          <a:cs typeface="KoPubWorld돋움체 Medium"/>
                        </a:rPr>
                        <a:t>셀다운 동의권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최초</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셀다운</a:t>
                      </a:r>
                      <a:r>
                        <a:rPr sz="1000" dirty="0">
                          <a:solidFill>
                            <a:srgbClr val="000000"/>
                          </a:solidFill>
                          <a:latin typeface="KoPubWorld돋움체 Light"/>
                          <a:ea typeface="KoPubWorld돋움체 Light"/>
                          <a:cs typeface="KoPubWorld돋움체 Light"/>
                        </a:rPr>
                        <a:t> 외 </a:t>
                      </a:r>
                      <a:r>
                        <a:rPr sz="1000" dirty="0" err="1">
                          <a:solidFill>
                            <a:srgbClr val="000000"/>
                          </a:solidFill>
                          <a:latin typeface="KoPubWorld돋움체 Light"/>
                          <a:ea typeface="KoPubWorld돋움체 Light"/>
                          <a:cs typeface="KoPubWorld돋움체 Light"/>
                        </a:rPr>
                        <a:t>양도는</a:t>
                      </a:r>
                      <a:r>
                        <a:rPr sz="1000" dirty="0">
                          <a:solidFill>
                            <a:srgbClr val="000000"/>
                          </a:solidFill>
                          <a:latin typeface="KoPubWorld돋움체 Light"/>
                          <a:ea typeface="KoPubWorld돋움체 Light"/>
                          <a:cs typeface="KoPubWorld돋움체 Light"/>
                        </a:rPr>
                        <a:t> KLI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서면동의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매도확약서·SHA</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승계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확인</a:t>
                      </a:r>
                      <a:r>
                        <a:rPr sz="1000" dirty="0">
                          <a:solidFill>
                            <a:srgbClr val="000000"/>
                          </a:solidFill>
                          <a:latin typeface="KoPubWorld돋움체 Light"/>
                          <a:ea typeface="KoPubWorld돋움체 Light"/>
                          <a:cs typeface="KoPubWorld돋움체 Light"/>
                        </a:rPr>
                        <a:t> 후 </a:t>
                      </a:r>
                      <a:r>
                        <a:rPr sz="1000" dirty="0" err="1">
                          <a:solidFill>
                            <a:srgbClr val="000000"/>
                          </a:solidFill>
                          <a:latin typeface="KoPubWorld돋움체 Light"/>
                          <a:ea typeface="KoPubWorld돋움체 Light"/>
                          <a:cs typeface="KoPubWorld돋움체 Light"/>
                        </a:rPr>
                        <a:t>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동의와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연동</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KLI 출자·매입확약은 이사회 결의 사항이며, 주총 결의는 불요[추정]</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KLI 매입확약 대상에서 제외하여 이해관계자 거래를 피하고, 거래가격 공정성 근거자료는 별도 구비</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 검토는 내부 검토로 외부 법무법인 확인 필요 (근거: 율촌·BKL·태평양·광장 의견, 주주간계약 v23 final, 총자산 ’26.5말 1조 4,243억원 기준)</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nchor="ctr">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Cap.Rate</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추이</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51639"/>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보유지분에 대한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과거 추세 감안 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달성 예상</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년에는 안정적 회수가 기대됨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8" name="Chart 87"/>
          <p:cNvGraphicFramePr>
            <a:graphicFrameLocks noGrp="1"/>
          </p:cNvGraphicFramePr>
          <p:nvPr>
            <p:extLst>
              <p:ext uri="{D42A27DB-BD31-4B8C-83A1-F6EECF244321}">
                <p14:modId xmlns:p14="http://schemas.microsoft.com/office/powerpoint/2010/main" val="1583590440"/>
              </p:ext>
            </p:extLst>
          </p:nvPr>
        </p:nvGraphicFramePr>
        <p:xfrm>
          <a:off x="4535926" y="2691299"/>
          <a:ext cx="5778531" cy="1673926"/>
        </p:xfrm>
        <a:graphic>
          <a:graphicData uri="http://schemas.openxmlformats.org/drawingml/2006/chart">
            <c:chart xmlns:c="http://schemas.openxmlformats.org/drawingml/2006/chart" xmlns:r="http://schemas.openxmlformats.org/officeDocument/2006/relationships" r:id="rId9"/>
          </a:graphicData>
        </a:graphic>
      </p:graphicFrame>
      <p:sp>
        <p:nvSpPr>
          <p:cNvPr id="67" name="직사각형 66">
            <a:extLst>
              <a:ext uri="{FF2B5EF4-FFF2-40B4-BE49-F238E27FC236}">
                <a16:creationId xmlns:a16="http://schemas.microsoft.com/office/drawing/2014/main" id="{17F18305-4F45-2048-20B8-F763B88C25C8}"/>
              </a:ext>
            </a:extLst>
          </p:cNvPr>
          <p:cNvSpPr/>
          <p:nvPr/>
        </p:nvSpPr>
        <p:spPr>
          <a:xfrm>
            <a:off x="9018314" y="2946400"/>
            <a:ext cx="1260141" cy="1416142"/>
          </a:xfrm>
          <a:prstGeom prst="rect">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9" name="TextBox 88"/>
          <p:cNvSpPr txBox="1"/>
          <p:nvPr/>
        </p:nvSpPr>
        <p:spPr>
          <a:xfrm>
            <a:off x="283367" y="6840467"/>
            <a:ext cx="10009067" cy="107722"/>
          </a:xfrm>
          <a:prstGeom prst="rect">
            <a:avLst/>
          </a:prstGeom>
          <a:noFill/>
        </p:spPr>
        <p:txBody>
          <a:bodyPr wrap="square" lIns="0" tIns="0" rIns="0" bIns="0" anchor="ctr">
            <a:spAutoFit/>
          </a:bodyPr>
          <a:lstStyle/>
          <a:p>
            <a:pPr algn="l"/>
            <a:r>
              <a:rPr sz="700" i="1" dirty="0">
                <a:solidFill>
                  <a:srgbClr val="404040"/>
                </a:solidFill>
                <a:latin typeface="KoPubWorld돋움체 Light"/>
                <a:ea typeface="KoPubWorld돋움체 Light"/>
                <a:cs typeface="KoPubWorld돋움체 Light"/>
              </a:rPr>
              <a:t>* </a:t>
            </a:r>
            <a:r>
              <a:rPr lang="en-US" sz="700" i="1" dirty="0">
                <a:solidFill>
                  <a:srgbClr val="404040"/>
                </a:solidFill>
                <a:latin typeface="KoPubWorld돋움체 Light"/>
                <a:ea typeface="KoPubWorld돋움체 Light"/>
                <a:cs typeface="KoPubWorld돋움체 Light"/>
              </a:rPr>
              <a:t> </a:t>
            </a:r>
            <a:r>
              <a:rPr sz="700" i="1" dirty="0">
                <a:solidFill>
                  <a:srgbClr val="404040"/>
                </a:solidFill>
                <a:latin typeface="KoPubWorld돋움체 Light"/>
                <a:ea typeface="KoPubWorld돋움체 Light"/>
                <a:cs typeface="KoPubWorld돋움체 Light"/>
              </a:rPr>
              <a:t>5년 </a:t>
            </a:r>
            <a:r>
              <a:rPr sz="700" i="1" dirty="0" err="1">
                <a:solidFill>
                  <a:srgbClr val="404040"/>
                </a:solidFill>
                <a:latin typeface="KoPubWorld돋움체 Light"/>
                <a:ea typeface="KoPubWorld돋움체 Light"/>
                <a:cs typeface="KoPubWorld돋움체 Light"/>
              </a:rPr>
              <a:t>채권금리·한국</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오피스</a:t>
            </a:r>
            <a:r>
              <a:rPr sz="700" i="1" dirty="0">
                <a:solidFill>
                  <a:srgbClr val="404040"/>
                </a:solidFill>
                <a:latin typeface="KoPubWorld돋움체 Light"/>
                <a:ea typeface="KoPubWorld돋움체 Light"/>
                <a:cs typeface="KoPubWorld돋움체 Light"/>
              </a:rPr>
              <a:t> 및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Cap.Rate</a:t>
            </a:r>
            <a:r>
              <a:rPr sz="700" i="1" dirty="0">
                <a:solidFill>
                  <a:srgbClr val="404040"/>
                </a:solidFill>
                <a:latin typeface="KoPubWorld돋움체 Light"/>
                <a:ea typeface="KoPubWorld돋움체 Light"/>
                <a:cs typeface="KoPubWorld돋움체 Light"/>
              </a:rPr>
              <a:t>: 원 </a:t>
            </a:r>
            <a:r>
              <a:rPr sz="700" i="1" dirty="0" err="1">
                <a:solidFill>
                  <a:srgbClr val="404040"/>
                </a:solidFill>
                <a:latin typeface="KoPubWorld돋움체 Light"/>
                <a:ea typeface="KoPubWorld돋움체 Light"/>
                <a:cs typeface="KoPubWorld돋움체 Light"/>
              </a:rPr>
              <a:t>장표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점도표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판독값</a:t>
            </a:r>
            <a:r>
              <a:rPr sz="700" i="1" dirty="0">
                <a:solidFill>
                  <a:srgbClr val="404040"/>
                </a:solidFill>
                <a:latin typeface="KoPubWorld돋움체 Light"/>
                <a:ea typeface="KoPubWorld돋움체 Light"/>
                <a:cs typeface="KoPubWorld돋움체 Light"/>
              </a:rPr>
              <a:t>(</a:t>
            </a:r>
            <a:r>
              <a:rPr sz="700" i="1" dirty="0" err="1">
                <a:solidFill>
                  <a:srgbClr val="404040"/>
                </a:solidFill>
                <a:latin typeface="KoPubWorld돋움체 Light"/>
                <a:ea typeface="KoPubWorld돋움체 Light"/>
                <a:cs typeface="KoPubWorld돋움체 Light"/>
              </a:rPr>
              <a:t>분기</a:t>
            </a:r>
            <a:r>
              <a:rPr sz="700" i="1" dirty="0">
                <a:solidFill>
                  <a:srgbClr val="404040"/>
                </a:solidFill>
                <a:latin typeface="KoPubWorld돋움체 Light"/>
                <a:ea typeface="KoPubWorld돋움체 Light"/>
                <a:cs typeface="KoPubWorld돋움체 Light"/>
              </a:rPr>
              <a:t>, ±0.05%p) / ’26.3Q </a:t>
            </a:r>
            <a:r>
              <a:rPr sz="700" i="1" dirty="0" err="1">
                <a:solidFill>
                  <a:srgbClr val="404040"/>
                </a:solidFill>
                <a:latin typeface="KoPubWorld돋움체 Light"/>
                <a:ea typeface="KoPubWorld돋움체 Light"/>
                <a:cs typeface="KoPubWorld돋움체 Light"/>
              </a:rPr>
              <a:t>채권금리는</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기준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재무모델</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채권금리</a:t>
            </a:r>
            <a:r>
              <a:rPr sz="700" i="1" dirty="0">
                <a:solidFill>
                  <a:srgbClr val="404040"/>
                </a:solidFill>
                <a:latin typeface="KoPubWorld돋움체 Light"/>
                <a:ea typeface="KoPubWorld돋움체 Light"/>
                <a:cs typeface="KoPubWorld돋움체 Light"/>
              </a:rPr>
              <a:t> 탭 </a:t>
            </a:r>
            <a:r>
              <a:rPr sz="700" i="1" dirty="0" err="1">
                <a:solidFill>
                  <a:srgbClr val="404040"/>
                </a:solidFill>
                <a:latin typeface="KoPubWorld돋움체 Light"/>
                <a:ea typeface="KoPubWorld돋움체 Light"/>
                <a:cs typeface="KoPubWorld돋움체 Light"/>
              </a:rPr>
              <a:t>국고채</a:t>
            </a:r>
            <a:r>
              <a:rPr sz="700" i="1" dirty="0">
                <a:solidFill>
                  <a:srgbClr val="404040"/>
                </a:solidFill>
                <a:latin typeface="KoPubWorld돋움체 Light"/>
                <a:ea typeface="KoPubWorld돋움체 Light"/>
                <a:cs typeface="KoPubWorld돋움체 Light"/>
              </a:rPr>
              <a:t> 5년 4.133%(’26.9.9) /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추세선은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a:t>
            </a:r>
            <a:r>
              <a:rPr sz="700" i="1" dirty="0">
                <a:solidFill>
                  <a:srgbClr val="404040"/>
                </a:solidFill>
                <a:latin typeface="KoPubWorld돋움체 Light"/>
                <a:ea typeface="KoPubWorld돋움체 Light"/>
                <a:cs typeface="KoPubWorld돋움체 Light"/>
              </a:rPr>
              <a:t> 점 82개 </a:t>
            </a:r>
            <a:r>
              <a:rPr sz="700" i="1" dirty="0" err="1">
                <a:solidFill>
                  <a:srgbClr val="404040"/>
                </a:solidFill>
                <a:latin typeface="KoPubWorld돋움체 Light"/>
                <a:ea typeface="KoPubWorld돋움체 Light"/>
                <a:cs typeface="KoPubWorld돋움체 Light"/>
              </a:rPr>
              <a:t>선형회귀를</a:t>
            </a:r>
            <a:r>
              <a:rPr sz="700" i="1" dirty="0">
                <a:solidFill>
                  <a:srgbClr val="404040"/>
                </a:solidFill>
                <a:latin typeface="KoPubWorld돋움체 Light"/>
                <a:ea typeface="KoPubWorld돋움체 Light"/>
                <a:cs typeface="KoPubWorld돋움체 Light"/>
              </a:rPr>
              <a:t> ’28.4Q까지 </a:t>
            </a:r>
            <a:r>
              <a:rPr sz="700" i="1" dirty="0" err="1">
                <a:solidFill>
                  <a:srgbClr val="404040"/>
                </a:solidFill>
                <a:latin typeface="KoPubWorld돋움체 Light"/>
                <a:ea typeface="KoPubWorld돋움체 Light"/>
                <a:cs typeface="KoPubWorld돋움체 Light"/>
              </a:rPr>
              <a:t>연장</a:t>
            </a:r>
            <a:r>
              <a:rPr sz="700" i="1" dirty="0">
                <a:solidFill>
                  <a:srgbClr val="404040"/>
                </a:solidFill>
                <a:latin typeface="KoPubWorld돋움체 Light"/>
                <a:ea typeface="KoPubWorld돋움체 Light"/>
                <a:cs typeface="KoPubWorld돋움체 Light"/>
              </a:rPr>
              <a:t>(4.14%) </a:t>
            </a:r>
          </a:p>
        </p:txBody>
      </p:sp>
      <p:sp>
        <p:nvSpPr>
          <p:cNvPr id="3" name="TextBox 2">
            <a:extLst>
              <a:ext uri="{FF2B5EF4-FFF2-40B4-BE49-F238E27FC236}">
                <a16:creationId xmlns:a16="http://schemas.microsoft.com/office/drawing/2014/main" id="{02C8ED06-011E-7A1E-5836-4B54E8857EC2}"/>
              </a:ext>
            </a:extLst>
          </p:cNvPr>
          <p:cNvSpPr txBox="1"/>
          <p:nvPr/>
        </p:nvSpPr>
        <p:spPr>
          <a:xfrm>
            <a:off x="9090322" y="4391905"/>
            <a:ext cx="1121269" cy="215444"/>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추정치</a:t>
            </a:r>
            <a:r>
              <a:rPr kumimoji="0" lang="en-US" altLang="ko-KR"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38476008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C4D8-6476-452B-775E-9A40DB6D2C34}"/>
            </a:ext>
          </a:extLst>
        </p:cNvPr>
        <p:cNvGrpSpPr/>
        <p:nvPr/>
      </p:nvGrpSpPr>
      <p:grpSpPr>
        <a:xfrm>
          <a:off x="0" y="0"/>
          <a:ext cx="0" cy="0"/>
          <a:chOff x="0" y="0"/>
          <a:chExt cx="0" cy="0"/>
        </a:xfrm>
      </p:grpSpPr>
      <p:graphicFrame>
        <p:nvGraphicFramePr>
          <p:cNvPr id="7" name="표 6">
            <a:extLst>
              <a:ext uri="{FF2B5EF4-FFF2-40B4-BE49-F238E27FC236}">
                <a16:creationId xmlns:a16="http://schemas.microsoft.com/office/drawing/2014/main" id="{2F5D4739-545A-854C-A8CF-734DBA279893}"/>
              </a:ext>
            </a:extLst>
          </p:cNvPr>
          <p:cNvGraphicFramePr>
            <a:graphicFrameLocks noGrp="1"/>
          </p:cNvGraphicFramePr>
          <p:nvPr>
            <p:extLst>
              <p:ext uri="{D42A27DB-BD31-4B8C-83A1-F6EECF244321}">
                <p14:modId xmlns:p14="http://schemas.microsoft.com/office/powerpoint/2010/main" val="1653105772"/>
              </p:ext>
            </p:extLst>
          </p:nvPr>
        </p:nvGraphicFramePr>
        <p:xfrm>
          <a:off x="773398" y="1043533"/>
          <a:ext cx="9289031" cy="5672955"/>
        </p:xfrm>
        <a:graphic>
          <a:graphicData uri="http://schemas.openxmlformats.org/drawingml/2006/table">
            <a:tbl>
              <a:tblPr>
                <a:tableStyleId>{5C22544A-7EE6-4342-B048-85BDC9FD1C3A}</a:tableStyleId>
              </a:tblPr>
              <a:tblGrid>
                <a:gridCol w="1065130">
                  <a:extLst>
                    <a:ext uri="{9D8B030D-6E8A-4147-A177-3AD203B41FA5}">
                      <a16:colId xmlns:a16="http://schemas.microsoft.com/office/drawing/2014/main" val="1941051276"/>
                    </a:ext>
                  </a:extLst>
                </a:gridCol>
                <a:gridCol w="298236">
                  <a:extLst>
                    <a:ext uri="{9D8B030D-6E8A-4147-A177-3AD203B41FA5}">
                      <a16:colId xmlns:a16="http://schemas.microsoft.com/office/drawing/2014/main" val="4131942571"/>
                    </a:ext>
                  </a:extLst>
                </a:gridCol>
                <a:gridCol w="1347363">
                  <a:extLst>
                    <a:ext uri="{9D8B030D-6E8A-4147-A177-3AD203B41FA5}">
                      <a16:colId xmlns:a16="http://schemas.microsoft.com/office/drawing/2014/main" val="2304195968"/>
                    </a:ext>
                  </a:extLst>
                </a:gridCol>
                <a:gridCol w="3289151">
                  <a:extLst>
                    <a:ext uri="{9D8B030D-6E8A-4147-A177-3AD203B41FA5}">
                      <a16:colId xmlns:a16="http://schemas.microsoft.com/office/drawing/2014/main" val="2453820789"/>
                    </a:ext>
                  </a:extLst>
                </a:gridCol>
                <a:gridCol w="3289151">
                  <a:extLst>
                    <a:ext uri="{9D8B030D-6E8A-4147-A177-3AD203B41FA5}">
                      <a16:colId xmlns:a16="http://schemas.microsoft.com/office/drawing/2014/main" val="3152571475"/>
                    </a:ext>
                  </a:extLst>
                </a:gridCol>
              </a:tblGrid>
              <a:tr h="172055">
                <a:tc gridSpan="2">
                  <a:txBody>
                    <a:bodyPr/>
                    <a:lstStyle/>
                    <a:p>
                      <a:pPr marL="0" marR="0" indent="0" algn="ctr" fontAlgn="base" latinLnBrk="0">
                        <a:lnSpc>
                          <a:spcPct val="100000"/>
                        </a:lnSpc>
                        <a:buNone/>
                      </a:pP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latinLnBrk="1"/>
                      <a:endParaRPr lang="ko-KR" altLang="en-US"/>
                    </a:p>
                  </a:txBody>
                  <a:tcPr anchor="ctr"/>
                </a:tc>
                <a:tc>
                  <a:txBody>
                    <a:bodyPr/>
                    <a:lstStyle/>
                    <a:p>
                      <a:pPr marL="0" marR="0" indent="0" algn="ctr" fontAlgn="base" latinLnBrk="0">
                        <a:lnSpc>
                          <a:spcPct val="100000"/>
                        </a:lnSpc>
                        <a:buNone/>
                      </a:pPr>
                      <a:r>
                        <a:rPr lang="ko-KR" altLang="en-US"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영업인가관련</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00000"/>
                        </a:lnSpc>
                        <a:buNone/>
                      </a:pPr>
                      <a:r>
                        <a:rPr lang="ko-KR" sz="1000" kern="0" spc="0" dirty="0" err="1">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(KLL</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子리츠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00000"/>
                        </a:lnSpc>
                        <a:buNone/>
                      </a:pPr>
                      <a:r>
                        <a:rPr lang="ko-KR" sz="1000" kern="0" spc="0" dirty="0" err="1">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母리츠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63645471"/>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2026-07-16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입찰공고 및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TM</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베포</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매각자문사</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_JLL)</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865659917"/>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2026-08-05</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입찰제안서 제출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861935025"/>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2026-08-27</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체결</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매도인</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216773502"/>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2026-09-11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r>
                        <a:rPr lang="ko-KR" altLang="en-US"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부동산원 사전미팅</a:t>
                      </a: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회사 발기설립 완료</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255469362"/>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공식 접수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fontAlgn="base" latinLnBrk="1">
                        <a:lnSpc>
                          <a:spcPct val="100000"/>
                        </a:lnSpc>
                        <a:buNone/>
                      </a:pP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선순위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 완료</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LOC</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97205"/>
                  </a:ext>
                </a:extLst>
              </a:tr>
              <a:tr h="151990">
                <a:tc>
                  <a:txBody>
                    <a:bodyP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2026-09-24</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추석연휴</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8219361"/>
                  </a:ext>
                </a:extLst>
              </a:tr>
              <a:tr h="151990">
                <a:tc>
                  <a:txBody>
                    <a:bodyPr/>
                    <a:lstStyle/>
                    <a:p>
                      <a:pPr marL="0" marR="0" indent="0" algn="ctr" fontAlgn="base" latinLnBrk="0">
                        <a:lnSpc>
                          <a:spcPct val="100000"/>
                        </a:lnSpc>
                        <a:buNone/>
                      </a:pPr>
                      <a:r>
                        <a:rPr lang="en-US"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2026-09-25</a:t>
                      </a:r>
                      <a:endParaRPr lang="ko-KR"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추석연휴</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94745254"/>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2026-09-28</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3336967853"/>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2026-09-29</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altLang="en-US" sz="900" kern="0" spc="0"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국토부</a:t>
                      </a:r>
                      <a:r>
                        <a:rPr lang="ko-KR" altLang="en-US"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보고업무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alt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위수탁</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체결완료</a:t>
                      </a:r>
                      <a:endParaRPr lang="ko-KR" alt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3796258425"/>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2026-09-30</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248517962"/>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altLang="en-US"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지원업무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1060235445"/>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2026-10-02</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최종 합의 회람 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최종 합의 회람 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7608628"/>
                  </a:ext>
                </a:extLst>
              </a:tr>
              <a:tr h="151990">
                <a:tc>
                  <a:txBody>
                    <a:bodyP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2026-10-05</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개천절 대체휴무일</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extLst>
                  <a:ext uri="{0D108BD9-81ED-4DB2-BD59-A6C34878D82A}">
                    <a16:rowId xmlns:a16="http://schemas.microsoft.com/office/drawing/2014/main" val="3210237899"/>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 합의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사모사채 인수확약서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251439993"/>
                  </a:ext>
                </a:extLst>
              </a:tr>
              <a:tr h="151990">
                <a:tc>
                  <a:txBody>
                    <a:bodyPr/>
                    <a:lstStyle/>
                    <a:p>
                      <a:pPr marL="0" marR="0" indent="0" algn="ctr" fontAlgn="base" latinLnBrk="0">
                        <a:lnSpc>
                          <a:spcPct val="100000"/>
                        </a:lnSpc>
                        <a:buNone/>
                      </a:pPr>
                      <a:r>
                        <a:rPr lang="en-US"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2026-10-07</a:t>
                      </a: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내부 투자심의위원회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내부 투자심의위원회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269043425"/>
                  </a:ext>
                </a:extLst>
              </a:tr>
              <a:tr h="151990">
                <a:tc>
                  <a:txBody>
                    <a:bodyPr/>
                    <a:lstStyle/>
                    <a:p>
                      <a:pPr marL="0" marR="0" indent="0" algn="ctr" fontAlgn="base" latinLnBrk="0">
                        <a:lnSpc>
                          <a:spcPct val="100000"/>
                        </a:lnSpc>
                        <a:buNone/>
                      </a:pPr>
                      <a:r>
                        <a:rPr lang="en-US"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2026-10-08</a:t>
                      </a: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lang="ko-KR" alt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l" defTabSz="1007943" rtl="0" eaLnBrk="1" fontAlgn="base" latinLnBrk="1" hangingPunct="1">
                        <a:lnSpc>
                          <a:spcPct val="100000"/>
                        </a:lnSpc>
                        <a:spcBef>
                          <a:spcPts val="0"/>
                        </a:spcBef>
                        <a:spcAft>
                          <a:spcPts val="0"/>
                        </a:spcAft>
                        <a:buClrTx/>
                        <a:buSzTx/>
                        <a:buFontTx/>
                        <a:buNone/>
                        <a:tabLst/>
                        <a:defRPr/>
                      </a:pP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합의</a:t>
                      </a:r>
                      <a:endParaRPr lang="ko-KR" sz="900" kern="0" spc="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11330696"/>
                  </a:ext>
                </a:extLst>
              </a:tr>
              <a:tr h="151990">
                <a:tc>
                  <a:txBody>
                    <a:bodyP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2026-10-09</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a:lnSpc>
                          <a:spcPct val="100000"/>
                        </a:lnSpc>
                        <a:buNone/>
                      </a:pPr>
                      <a:r>
                        <a:rPr lang="en-US" alt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한글날</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l">
                        <a:lnSpc>
                          <a:spcPct val="100000"/>
                        </a:lnSpc>
                        <a:buNone/>
                      </a:pPr>
                      <a:endParaRPr 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46778699"/>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2026-10-12</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lvl="0" indent="0" algn="ctr" defTabSz="1007943" rtl="0" eaLnBrk="1" fontAlgn="base" latinLnBrk="1" hangingPunct="1">
                        <a:lnSpc>
                          <a:spcPct val="100000"/>
                        </a:lnSpc>
                        <a:spcBef>
                          <a:spcPts val="0"/>
                        </a:spcBef>
                        <a:spcAft>
                          <a:spcPts val="0"/>
                        </a:spcAft>
                        <a:buClrTx/>
                        <a:buSzTx/>
                        <a:buFontTx/>
                        <a:buNone/>
                        <a:tabLst/>
                        <a:defRPr/>
                      </a:pPr>
                      <a:r>
                        <a:rPr lang="ko-KR" altLang="ko-KR" sz="900" kern="0" spc="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완료목표일</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투자자문위원회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008051875"/>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287283137"/>
                  </a:ext>
                </a:extLst>
              </a:tr>
              <a:tr h="558309">
                <a:tc>
                  <a:txBody>
                    <a:bodyPr/>
                    <a:lstStyle/>
                    <a:p>
                      <a:pPr marL="0" marR="0" indent="0" algn="ctr" fontAlgn="base" latinLnBrk="0">
                        <a:lnSpc>
                          <a:spcPct val="10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2026-10-14</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50000"/>
                        </a:lnSpc>
                        <a:buNone/>
                      </a:pP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5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이사회 및 주주총회 개최 </a:t>
                      </a:r>
                    </a:p>
                    <a:p>
                      <a:pPr marL="0" marR="0" indent="0" algn="l" fontAlgn="base" latinLnBrk="1">
                        <a:lnSpc>
                          <a:spcPct val="15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신주발행 승인의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체결의 건</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 체결의 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5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이사회 개최</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 제출의 건</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사모사채</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및 인수계약 체결의 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841275314"/>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2026-10-15</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r>
                        <a:rPr lang="ko-KR" altLang="en-US"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a:t>
                      </a: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16822231"/>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및 대출약정 체결</a:t>
                      </a:r>
                      <a:endParaRPr lang="en-US" alt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매입확약서 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2484140"/>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2026-10-19</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351962818"/>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2026-10-20</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12090969"/>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납입 완료</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대출금 인출요청서 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납입</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520093402"/>
                  </a:ext>
                </a:extLst>
              </a:tr>
              <a:tr h="151990">
                <a:tc>
                  <a:txBody>
                    <a:bodyPr/>
                    <a:lstStyle/>
                    <a:p>
                      <a:pPr marL="0" marR="0" indent="0" algn="ctr" fontAlgn="base" latinLnBrk="0">
                        <a:lnSpc>
                          <a:spcPct val="10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2026-10-22</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ctr"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목</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l"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대출차입금 인출 및 잔금 지급</a:t>
                      </a: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소유권이전 완료</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변경보고</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82659298"/>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0394384"/>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2026-10-28</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독점적 협상기간 만료</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예정일</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644029616"/>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2026-10-30</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투자확약서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기간만료</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2451104"/>
                  </a:ext>
                </a:extLst>
              </a:tr>
            </a:tbl>
          </a:graphicData>
        </a:graphic>
      </p:graphicFrame>
    </p:spTree>
    <p:extLst>
      <p:ext uri="{BB962C8B-B14F-4D97-AF65-F5344CB8AC3E}">
        <p14:creationId xmlns:p14="http://schemas.microsoft.com/office/powerpoint/2010/main" val="232942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0BEEB-9DD2-3C77-2FC8-A30F3EE5E5DF}"/>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1B62D799-CE76-9167-CAA6-458518F228D7}"/>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nchor="ct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be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95512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0A80C80-F074-4A60-86CB-0B0DD1500F97}">
  <we:reference id="wa200010001" version="1.0.0.1" store="ko-KR" storeType="OMEX"/>
  <we:alternateReferences>
    <we:reference id="WA200010001" version="1.0.0.1" store="" storeType="OMEX"/>
  </we:alternateReferences>
  <we:properties>
    <we:property name="claude.fileId" value="&quot;df7891e2-9e3d-429a-bc7e-87bd417d596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94242</TotalTime>
  <Words>4925</Words>
  <Application>Microsoft Office PowerPoint</Application>
  <PresentationFormat>사용자 지정</PresentationFormat>
  <Paragraphs>1223</Paragraphs>
  <Slides>19</Slides>
  <Notes>4</Notes>
  <HiddenSlides>0</HiddenSlides>
  <MMClips>0</MMClips>
  <ScaleCrop>false</ScaleCrop>
  <HeadingPairs>
    <vt:vector size="6" baseType="variant">
      <vt:variant>
        <vt:lpstr>사용한 글꼴</vt:lpstr>
      </vt:variant>
      <vt:variant>
        <vt:i4>9</vt:i4>
      </vt:variant>
      <vt:variant>
        <vt:lpstr>테마</vt:lpstr>
      </vt:variant>
      <vt:variant>
        <vt:i4>2</vt:i4>
      </vt:variant>
      <vt:variant>
        <vt:lpstr>슬라이드 제목</vt:lpstr>
      </vt:variant>
      <vt:variant>
        <vt:i4>19</vt:i4>
      </vt:variant>
    </vt:vector>
  </HeadingPairs>
  <TitlesOfParts>
    <vt:vector size="30" baseType="lpstr">
      <vt:lpstr>KoPubWorld돋움체 Bold</vt:lpstr>
      <vt:lpstr>KoPubWorld돋움체 Light</vt:lpstr>
      <vt:lpstr>KoPubWorld돋움체 Medium</vt:lpstr>
      <vt:lpstr>KoPubWorld바탕체 Medium</vt:lpstr>
      <vt:lpstr>하나 CM</vt:lpstr>
      <vt:lpstr>Arial</vt:lpstr>
      <vt:lpstr>Calibri</vt:lpstr>
      <vt:lpstr>Calibri Light</vt:lpstr>
      <vt:lpstr>Wingdings</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5370</cp:revision>
  <cp:lastPrinted>2026-03-24T08:05:21Z</cp:lastPrinted>
  <dcterms:created xsi:type="dcterms:W3CDTF">2019-10-07T05:08:42Z</dcterms:created>
  <dcterms:modified xsi:type="dcterms:W3CDTF">2026-10-01T10:00:39Z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cF_T0GkpntLHHvFV8OwBnZLtooc202402010000000</vt:lpwstr>
  </property>
  <property fmtid="{D5CDD505-2E9C-101B-9397-08002B2CF9AE}" pid="3" name="docPath">
    <vt:lpwstr>WDpcNy7snpDsgrDsmrTsmIEo7L2U7YGs66CZKVw1Mi4g7L2U656M7L2U65287J207ZSE7J247ZSE6528XOy9lO2BrOugmeyViOyWkVx2MS4wW+yDgeyepeumrOy4oO2MgF0g67O47Yis7Ius7J6Q66OMX0tMSSDsp4DrtoTtiKzsnpAucHB0eF9kcmFmdC5wcHR4X1YyIC0g67O17IKs67O4LnBwdHg=</vt:lpwstr>
  </property>
  <property fmtid="{D5CDD505-2E9C-101B-9397-08002B2CF9AE}" pid="4" name="docUid">
    <vt:lpwstr>1zCo5okiqpJXTDsjY9eqR4XTkvc</vt:lpwstr>
  </property>
  <property fmtid="{D5CDD505-2E9C-101B-9397-08002B2CF9AE}" pid="5" name="parentBranchUid">
    <vt:lpwstr>XUcWbd-NnYHVOfCAZHCSoaEMHQs202402010000000</vt:lpwstr>
  </property>
</Properties>
</file>