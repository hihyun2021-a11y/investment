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55"/>
  </p:notesMasterIdLst>
  <p:handoutMasterIdLst>
    <p:handoutMasterId r:id="rId56"/>
  </p:handoutMasterIdLst>
  <p:sldIdLst>
    <p:sldId id="1174" r:id="rId4"/>
    <p:sldId id="1175" r:id="rId5"/>
    <p:sldId id="2076139257" r:id="rId61"/>
    <p:sldId id="1176" r:id="rId6"/>
    <p:sldId id="2076139258" r:id="rId62"/>
    <p:sldId id="1657" r:id="rId7"/>
    <p:sldId id="1658" r:id="rId8"/>
    <p:sldId id="2076139259" r:id="rId63"/>
    <p:sldId id="1820" r:id="rId9"/>
    <p:sldId id="1832" r:id="rId10"/>
    <p:sldId id="1821" r:id="rId11"/>
    <p:sldId id="1822" r:id="rId12"/>
    <p:sldId id="1183" r:id="rId13"/>
    <p:sldId id="1814" r:id="rId14"/>
    <p:sldId id="1656" r:id="rId15"/>
    <p:sldId id="1686" r:id="rId16"/>
    <p:sldId id="1798" r:id="rId17"/>
    <p:sldId id="1739" r:id="rId18"/>
    <p:sldId id="1740" r:id="rId19"/>
    <p:sldId id="1743" r:id="rId20"/>
    <p:sldId id="1799" r:id="rId21"/>
    <p:sldId id="1806" r:id="rId22"/>
    <p:sldId id="1825" r:id="rId23"/>
    <p:sldId id="1805" r:id="rId24"/>
    <p:sldId id="1807" r:id="rId25"/>
    <p:sldId id="1786" r:id="rId26"/>
    <p:sldId id="1785" r:id="rId27"/>
    <p:sldId id="1828" r:id="rId28"/>
    <p:sldId id="1777" r:id="rId29"/>
    <p:sldId id="1829" r:id="rId30"/>
    <p:sldId id="1781" r:id="rId31"/>
    <p:sldId id="1782" r:id="rId32"/>
    <p:sldId id="1809" r:id="rId33"/>
    <p:sldId id="1748" r:id="rId34"/>
    <p:sldId id="1789" r:id="rId35"/>
    <p:sldId id="1795" r:id="rId36"/>
    <p:sldId id="1752" r:id="rId37"/>
    <p:sldId id="1771" r:id="rId38"/>
    <p:sldId id="1754" r:id="rId39"/>
    <p:sldId id="1772" r:id="rId40"/>
    <p:sldId id="1773" r:id="rId41"/>
    <p:sldId id="1815" r:id="rId42"/>
    <p:sldId id="1831" r:id="rId43"/>
    <p:sldId id="1764" r:id="rId44"/>
    <p:sldId id="1833" r:id="rId45"/>
    <p:sldId id="2076139238" r:id="rId46"/>
    <p:sldId id="2076139240" r:id="rId47"/>
    <p:sldId id="1793" r:id="rId48"/>
    <p:sldId id="2076139241" r:id="rId49"/>
    <p:sldId id="1763" r:id="rId50"/>
    <p:sldId id="2076139256" r:id="rId51"/>
    <p:sldId id="1791" r:id="rId52"/>
    <p:sldId id="1787" r:id="rId53"/>
    <p:sldId id="1779" r:id="rId54"/>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20"/>
            <p14:sldId id="1832"/>
            <p14:sldId id="1821"/>
            <p14:sldId id="1822"/>
            <p14:sldId id="1183"/>
            <p14:sldId id="1814"/>
            <p14:sldId id="1656"/>
          </p14:sldIdLst>
        </p14:section>
        <p14:section name="제목 없는 구역" id="{173DE95B-9F57-4D39-B3FD-CED6B2100408}">
          <p14:sldIdLst>
            <p14:sldId id="1686"/>
            <p14:sldId id="1798"/>
            <p14:sldId id="1739"/>
            <p14:sldId id="1740"/>
            <p14:sldId id="1743"/>
            <p14:sldId id="1799"/>
            <p14:sldId id="1806"/>
            <p14:sldId id="1825"/>
            <p14:sldId id="1805"/>
            <p14:sldId id="1807"/>
            <p14:sldId id="1786"/>
            <p14:sldId id="1785"/>
            <p14:sldId id="1828"/>
            <p14:sldId id="1777"/>
            <p14:sldId id="1829"/>
            <p14:sldId id="1781"/>
            <p14:sldId id="1782"/>
            <p14:sldId id="1809"/>
            <p14:sldId id="1748"/>
            <p14:sldId id="1789"/>
            <p14:sldId id="1795"/>
            <p14:sldId id="1752"/>
            <p14:sldId id="1771"/>
            <p14:sldId id="1754"/>
            <p14:sldId id="1772"/>
            <p14:sldId id="1773"/>
            <p14:sldId id="1815"/>
            <p14:sldId id="1831"/>
            <p14:sldId id="1764"/>
            <p14:sldId id="1833"/>
            <p14:sldId id="2076139238"/>
            <p14:sldId id="2076139240"/>
            <p14:sldId id="1793"/>
            <p14:sldId id="2076139241"/>
            <p14:sldId id="1763"/>
            <p14:sldId id="2076139256"/>
            <p14:sldId id="1791"/>
            <p14:sldId id="1787"/>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DAE3F3"/>
    <a:srgbClr val="0000FF"/>
    <a:srgbClr val="843C0C"/>
    <a:srgbClr val="6DA7F2"/>
    <a:srgbClr val="F4B183"/>
    <a:srgbClr val="FBE5D6"/>
    <a:srgbClr val="C55A11"/>
    <a:srgbClr val="345B8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p:scale>
          <a:sx n="75" d="100"/>
          <a:sy n="75" d="100"/>
        </p:scale>
        <p:origin x="2448" y="612"/>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manualLayout>
          <c:layoutTarget val="inner"/>
          <c:xMode val="edge"/>
          <c:yMode val="edge"/>
          <c:x val="5.5E-2"/>
          <c:y val="0.13"/>
          <c:w val="0.93500000000000005"/>
          <c:h val="0.63"/>
        </c:manualLayout>
      </c:layout>
      <c:lineChart>
        <c:grouping val="standard"/>
        <c:varyColors val="0"/>
        <c:ser>
          <c:idx val="0"/>
          <c:order val="0"/>
          <c:tx>
            <c:strRef>
              <c:f>Sheet1!$C$1</c:f>
              <c:strCache>
                <c:ptCount val="1"/>
                <c:pt idx="0">
                  <c:v>5년 채권금리</c:v>
                </c:pt>
              </c:strCache>
            </c:strRef>
          </c:tx>
          <c:spPr>
            <a:ln w="19050">
              <a:solidFill>
                <a:srgbClr val="25273A"/>
              </a:solidFill>
            </a:ln>
          </c:spPr>
          <c:marker>
            <c:symbol val="none"/>
          </c:marker>
          <c:dPt>
            <c:idx val="41"/>
            <c:bubble3D val="0"/>
            <c:spPr>
              <a:ln w="19050">
                <a:solidFill>
                  <a:srgbClr val="25273A"/>
                </a:solidFill>
                <a:prstDash val="dash"/>
              </a:ln>
            </c:spPr>
            <c:extLst>
              <c:ext xmlns:c16="http://schemas.microsoft.com/office/drawing/2014/chart" uri="{C3380CC4-5D6E-409C-BE32-E72D297353CC}">
                <c16:uniqueId val="{00000001-3A1D-4474-B200-5910F3CC8B2A}"/>
              </c:ext>
            </c:extLst>
          </c:dPt>
          <c:dPt>
            <c:idx val="42"/>
            <c:bubble3D val="0"/>
            <c:spPr>
              <a:ln w="19050">
                <a:solidFill>
                  <a:srgbClr val="25273A"/>
                </a:solidFill>
                <a:prstDash val="dash"/>
              </a:ln>
            </c:spPr>
            <c:extLst>
              <c:ext xmlns:c16="http://schemas.microsoft.com/office/drawing/2014/chart" uri="{C3380CC4-5D6E-409C-BE32-E72D297353CC}">
                <c16:uniqueId val="{0000000B-88C3-42D7-99B7-E2E2E4AC40CC}"/>
              </c:ext>
            </c:extLst>
          </c:dPt>
          <c:dPt>
            <c:idx val="43"/>
            <c:bubble3D val="0"/>
            <c:spPr>
              <a:ln w="19050">
                <a:solidFill>
                  <a:srgbClr val="25273A"/>
                </a:solidFill>
                <a:prstDash val="dash"/>
              </a:ln>
            </c:spPr>
            <c:extLst>
              <c:ext xmlns:c16="http://schemas.microsoft.com/office/drawing/2014/chart" uri="{C3380CC4-5D6E-409C-BE32-E72D297353CC}">
                <c16:uniqueId val="{00000005-3A1D-4474-B200-5910F3CC8B2A}"/>
              </c:ext>
            </c:extLst>
          </c:dPt>
          <c:dPt>
            <c:idx val="44"/>
            <c:bubble3D val="0"/>
            <c:spPr>
              <a:ln w="19050">
                <a:solidFill>
                  <a:srgbClr val="25273A"/>
                </a:solidFill>
                <a:prstDash val="dash"/>
              </a:ln>
            </c:spPr>
            <c:extLst>
              <c:ext xmlns:c16="http://schemas.microsoft.com/office/drawing/2014/chart" uri="{C3380CC4-5D6E-409C-BE32-E72D297353CC}">
                <c16:uniqueId val="{00000007-3A1D-4474-B200-5910F3CC8B2A}"/>
              </c:ext>
            </c:extLst>
          </c:dPt>
          <c:dPt>
            <c:idx val="45"/>
            <c:bubble3D val="0"/>
            <c:spPr>
              <a:ln w="19050">
                <a:solidFill>
                  <a:srgbClr val="25273A"/>
                </a:solidFill>
                <a:prstDash val="dash"/>
              </a:ln>
            </c:spPr>
            <c:extLst>
              <c:ext xmlns:c16="http://schemas.microsoft.com/office/drawing/2014/chart" uri="{C3380CC4-5D6E-409C-BE32-E72D297353CC}">
                <c16:uniqueId val="{00000009-3A1D-4474-B200-5910F3CC8B2A}"/>
              </c:ext>
            </c:extLst>
          </c:dPt>
          <c:dPt>
            <c:idx val="46"/>
            <c:bubble3D val="0"/>
            <c:spPr>
              <a:ln w="19050">
                <a:solidFill>
                  <a:srgbClr val="25273A"/>
                </a:solidFill>
                <a:prstDash val="dash"/>
              </a:ln>
            </c:spPr>
            <c:extLst>
              <c:ext xmlns:c16="http://schemas.microsoft.com/office/drawing/2014/chart" uri="{C3380CC4-5D6E-409C-BE32-E72D297353CC}">
                <c16:uniqueId val="{0000000B-3A1D-4474-B200-5910F3CC8B2A}"/>
              </c:ext>
            </c:extLst>
          </c:dPt>
          <c:dPt>
            <c:idx val="47"/>
            <c:bubble3D val="0"/>
            <c:spPr>
              <a:ln w="19050">
                <a:solidFill>
                  <a:srgbClr val="25273A"/>
                </a:solidFill>
                <a:prstDash val="dash"/>
              </a:ln>
            </c:spPr>
            <c:extLst>
              <c:ext xmlns:c16="http://schemas.microsoft.com/office/drawing/2014/chart" uri="{C3380CC4-5D6E-409C-BE32-E72D297353CC}">
                <c16:uniqueId val="{0000000D-3A1D-4474-B200-5910F3CC8B2A}"/>
              </c:ext>
            </c:extLst>
          </c:dPt>
          <c:dPt>
            <c:idx val="48"/>
            <c:bubble3D val="0"/>
            <c:spPr>
              <a:ln w="19050">
                <a:solidFill>
                  <a:srgbClr val="25273A"/>
                </a:solidFill>
                <a:prstDash val="dash"/>
              </a:ln>
            </c:spPr>
            <c:extLst>
              <c:ext xmlns:c16="http://schemas.microsoft.com/office/drawing/2014/chart" uri="{C3380CC4-5D6E-409C-BE32-E72D297353CC}">
                <c16:uniqueId val="{0000000F-3A1D-4474-B200-5910F3CC8B2A}"/>
              </c:ext>
            </c:extLst>
          </c:dPt>
          <c:dPt>
            <c:idx val="49"/>
            <c:bubble3D val="0"/>
            <c:spPr>
              <a:ln w="19050">
                <a:solidFill>
                  <a:srgbClr val="25273A"/>
                </a:solidFill>
                <a:prstDash val="dash"/>
              </a:ln>
            </c:spPr>
            <c:extLst>
              <c:ext xmlns:c16="http://schemas.microsoft.com/office/drawing/2014/chart" uri="{C3380CC4-5D6E-409C-BE32-E72D297353CC}">
                <c16:uniqueId val="{00000011-3A1D-4474-B200-5910F3CC8B2A}"/>
              </c:ext>
            </c:extLst>
          </c:dPt>
          <c:dPt>
            <c:idx val="50"/>
            <c:bubble3D val="0"/>
            <c:spPr>
              <a:ln w="19050">
                <a:solidFill>
                  <a:srgbClr val="25273A"/>
                </a:solidFill>
                <a:prstDash val="dash"/>
              </a:ln>
            </c:spPr>
            <c:extLst>
              <c:ext xmlns:c16="http://schemas.microsoft.com/office/drawing/2014/chart" uri="{C3380CC4-5D6E-409C-BE32-E72D297353CC}">
                <c16:uniqueId val="{00000015-3A1D-4474-B200-5910F3CC8B2A}"/>
              </c:ext>
            </c:extLst>
          </c:dPt>
          <c:dPt>
            <c:idx val="51"/>
            <c:bubble3D val="0"/>
            <c:spPr>
              <a:ln w="19050">
                <a:solidFill>
                  <a:srgbClr val="25273A"/>
                </a:solidFill>
                <a:prstDash val="dash"/>
              </a:ln>
            </c:spPr>
            <c:extLst>
              <c:ext xmlns:c16="http://schemas.microsoft.com/office/drawing/2014/chart" uri="{C3380CC4-5D6E-409C-BE32-E72D297353CC}">
                <c16:uniqueId val="{00000015-3A1D-4474-B200-5910F3CC8B2A}"/>
              </c:ext>
            </c:extLst>
          </c:dPt>
          <c:dLbls>
            <c:dLbl>
              <c:idx val="3"/>
              <c:tx>
                <c:rich>
                  <a:bodyPr/>
                  <a:lstStyle/>
                  <a:p>
                    <a:r>
                      <a:rPr lang="en-US" altLang="ko-KR" sz="650">
                        <a:solidFill>
                          <a:srgbClr val="25273A"/>
                        </a:solidFill>
                        <a:latin typeface="KoPubWorld돋움체 Medium"/>
                        <a:ea typeface="KoPubWorld돋움체 Medium"/>
                        <a:cs typeface="KoPubWorld돋움체 Medium"/>
                      </a:rPr>
                      <a:t>1.7%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8C3-42D7-99B7-E2E2E4AC40CC}"/>
                </c:ext>
              </c:extLst>
            </c:dLbl>
            <c:dLbl>
              <c:idx val="7"/>
              <c:tx>
                <c:rich>
                  <a:bodyPr/>
                  <a:lstStyle/>
                  <a:p>
                    <a:r>
                      <a:rPr lang="en-US" altLang="ko-KR" sz="650">
                        <a:solidFill>
                          <a:srgbClr val="25273A"/>
                        </a:solidFill>
                        <a:latin typeface="KoPubWorld돋움체 Medium"/>
                        <a:ea typeface="KoPubWorld돋움체 Medium"/>
                        <a:cs typeface="KoPubWorld돋움체 Medium"/>
                      </a:rPr>
                      <a:t>2.3%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8C3-42D7-99B7-E2E2E4AC40CC}"/>
                </c:ext>
              </c:extLst>
            </c:dLbl>
            <c:dLbl>
              <c:idx val="11"/>
              <c:tx>
                <c:rich>
                  <a:bodyPr/>
                  <a:lstStyle/>
                  <a:p>
                    <a:r>
                      <a:rPr lang="en-US" altLang="ko-KR" sz="650">
                        <a:solidFill>
                          <a:srgbClr val="25273A"/>
                        </a:solidFill>
                        <a:latin typeface="KoPubWorld돋움체 Medium"/>
                        <a:ea typeface="KoPubWorld돋움체 Medium"/>
                        <a:cs typeface="KoPubWorld돋움체 Medium"/>
                      </a:rPr>
                      <a:t>2.0%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8C3-42D7-99B7-E2E2E4AC40CC}"/>
                </c:ext>
              </c:extLst>
            </c:dLbl>
            <c:dLbl>
              <c:idx val="15"/>
              <c:tx>
                <c:rich>
                  <a:bodyPr/>
                  <a:lstStyle/>
                  <a:p>
                    <a:r>
                      <a:rPr lang="en-US" altLang="ko-KR" sz="650">
                        <a:solidFill>
                          <a:srgbClr val="25273A"/>
                        </a:solidFill>
                        <a:latin typeface="KoPubWorld돋움체 Medium"/>
                        <a:ea typeface="KoPubWorld돋움체 Medium"/>
                        <a:cs typeface="KoPubWorld돋움체 Medium"/>
                      </a:rPr>
                      <a:t>1.5%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8C3-42D7-99B7-E2E2E4AC40CC}"/>
                </c:ext>
              </c:extLst>
            </c:dLbl>
            <c:dLbl>
              <c:idx val="19"/>
              <c:tx>
                <c:rich>
                  <a:bodyPr/>
                  <a:lstStyle/>
                  <a:p>
                    <a:r>
                      <a:rPr lang="en-US" altLang="ko-KR" sz="650">
                        <a:solidFill>
                          <a:srgbClr val="25273A"/>
                        </a:solidFill>
                        <a:latin typeface="KoPubWorld돋움체 Medium"/>
                        <a:ea typeface="KoPubWorld돋움체 Medium"/>
                        <a:cs typeface="KoPubWorld돋움체 Medium"/>
                      </a:rPr>
                      <a:t>1.3%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8C3-42D7-99B7-E2E2E4AC40CC}"/>
                </c:ext>
              </c:extLst>
            </c:dLbl>
            <c:dLbl>
              <c:idx val="23"/>
              <c:tx>
                <c:rich>
                  <a:bodyPr/>
                  <a:lstStyle/>
                  <a:p>
                    <a:r>
                      <a:rPr lang="en-US" altLang="ko-KR" sz="650">
                        <a:solidFill>
                          <a:srgbClr val="25273A"/>
                        </a:solidFill>
                        <a:latin typeface="KoPubWorld돋움체 Medium"/>
                        <a:ea typeface="KoPubWorld돋움체 Medium"/>
                        <a:cs typeface="KoPubWorld돋움체 Medium"/>
                      </a:rPr>
                      <a:t>2.1%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8C3-42D7-99B7-E2E2E4AC40CC}"/>
                </c:ext>
              </c:extLst>
            </c:dLbl>
            <c:dLbl>
              <c:idx val="2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8C3-42D7-99B7-E2E2E4AC40CC}"/>
                </c:ext>
              </c:extLst>
            </c:dLbl>
            <c:dLbl>
              <c:idx val="31"/>
              <c:tx>
                <c:rich>
                  <a:bodyPr/>
                  <a:lstStyle/>
                  <a:p>
                    <a:r>
                      <a:rPr lang="en-US" altLang="ko-KR" sz="650">
                        <a:solidFill>
                          <a:srgbClr val="25273A"/>
                        </a:solidFill>
                        <a:latin typeface="KoPubWorld돋움체 Medium"/>
                        <a:ea typeface="KoPubWorld돋움체 Medium"/>
                        <a:cs typeface="KoPubWorld돋움체 Medium"/>
                      </a:rPr>
                      <a:t>3.7%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8C3-42D7-99B7-E2E2E4AC40CC}"/>
                </c:ext>
              </c:extLst>
            </c:dLbl>
            <c:dLbl>
              <c:idx val="35"/>
              <c:tx>
                <c:rich>
                  <a:bodyPr/>
                  <a:lstStyle/>
                  <a:p>
                    <a:r>
                      <a:rPr lang="en-US" altLang="ko-KR" sz="650">
                        <a:solidFill>
                          <a:srgbClr val="25273A"/>
                        </a:solidFill>
                        <a:latin typeface="KoPubWorld돋움체 Medium"/>
                        <a:ea typeface="KoPubWorld돋움체 Medium"/>
                        <a:cs typeface="KoPubWorld돋움체 Medium"/>
                      </a:rPr>
                      <a:t>2.8%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8C3-42D7-99B7-E2E2E4AC40CC}"/>
                </c:ext>
              </c:extLst>
            </c:dLbl>
            <c:dLbl>
              <c:idx val="39"/>
              <c:tx>
                <c:rich>
                  <a:bodyPr/>
                  <a:lstStyle/>
                  <a:p>
                    <a:r>
                      <a:rPr lang="en-US" altLang="ko-KR" sz="650">
                        <a:solidFill>
                          <a:srgbClr val="25273A"/>
                        </a:solidFill>
                        <a:latin typeface="KoPubWorld돋움체 Medium"/>
                        <a:ea typeface="KoPubWorld돋움체 Medium"/>
                        <a:cs typeface="KoPubWorld돋움체 Medium"/>
                      </a:rPr>
                      <a:t>3.0%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8C3-42D7-99B7-E2E2E4AC40CC}"/>
                </c:ext>
              </c:extLst>
            </c:dLbl>
            <c:dLbl>
              <c:idx val="40"/>
              <c:tx>
                <c:rich>
                  <a:bodyPr/>
                  <a:lstStyle/>
                  <a:p>
                    <a:r>
                      <a:rPr lang="en-US" altLang="ko-KR" sz="650">
                        <a:solidFill>
                          <a:srgbClr val="25273A"/>
                        </a:solidFill>
                        <a:latin typeface="KoPubWorld돋움체 Medium"/>
                        <a:ea typeface="KoPubWorld돋움체 Medium"/>
                        <a:cs typeface="KoPubWorld돋움체 Medium"/>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8C3-42D7-99B7-E2E2E4AC40CC}"/>
                </c:ext>
              </c:extLst>
            </c:dLbl>
            <c:dLbl>
              <c:idx val="42"/>
              <c:tx>
                <c:rich>
                  <a:bodyPr/>
                  <a:lstStyle/>
                  <a:p>
                    <a:r>
                      <a:rPr lang="en-US" altLang="ko-KR" sz="650">
                        <a:solidFill>
                          <a:srgbClr val="25273A"/>
                        </a:solidFill>
                        <a:latin typeface="KoPubWorld돋움체 Medium"/>
                        <a:ea typeface="KoPubWorld돋움체 Medium"/>
                        <a:cs typeface="KoPubWorld돋움체 Medium"/>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88C3-42D7-99B7-E2E2E4AC40CC}"/>
                </c:ext>
              </c:extLst>
            </c:dLbl>
            <c:dLbl>
              <c:idx val="4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A1D-4474-B200-5910F3CC8B2A}"/>
                </c:ext>
              </c:extLst>
            </c:dLbl>
            <c:dLbl>
              <c:idx val="50"/>
              <c:tx>
                <c:rich>
                  <a:bodyPr/>
                  <a:lstStyle/>
                  <a:p>
                    <a:r>
                      <a:rPr lang="en-US" altLang="ko-KR" sz="650">
                        <a:solidFill>
                          <a:srgbClr val="25273A"/>
                        </a:solidFill>
                        <a:latin typeface="KoPubWorld돋움체 Medium"/>
                        <a:ea typeface="KoPubWorld돋움체 Medium"/>
                        <a:cs typeface="KoPubWorld돋움체 Medium"/>
                      </a:rPr>
                      <a:t>3.8%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3A1D-4474-B200-5910F3CC8B2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Sheet1!$C$2:$C$53</c:f>
              <c:numCache>
                <c:formatCode>0.0%</c:formatCode>
                <c:ptCount val="52"/>
                <c:pt idx="0">
                  <c:v>1.6500000000000001E-2</c:v>
                </c:pt>
                <c:pt idx="1">
                  <c:v>1.4999999999999999E-2</c:v>
                </c:pt>
                <c:pt idx="2">
                  <c:v>1.29E-2</c:v>
                </c:pt>
                <c:pt idx="3">
                  <c:v>1.6799999999999999E-2</c:v>
                </c:pt>
                <c:pt idx="4">
                  <c:v>1.8499999999999999E-2</c:v>
                </c:pt>
                <c:pt idx="5">
                  <c:v>1.8800000000000001E-2</c:v>
                </c:pt>
                <c:pt idx="6">
                  <c:v>1.9699999999999999E-2</c:v>
                </c:pt>
                <c:pt idx="7">
                  <c:v>2.3099999999999999E-2</c:v>
                </c:pt>
                <c:pt idx="8">
                  <c:v>2.47E-2</c:v>
                </c:pt>
                <c:pt idx="9">
                  <c:v>2.4500000000000001E-2</c:v>
                </c:pt>
                <c:pt idx="10">
                  <c:v>2.2200000000000001E-2</c:v>
                </c:pt>
                <c:pt idx="11">
                  <c:v>2.0299999999999999E-2</c:v>
                </c:pt>
                <c:pt idx="12">
                  <c:v>1.8499999999999999E-2</c:v>
                </c:pt>
                <c:pt idx="13">
                  <c:v>1.66E-2</c:v>
                </c:pt>
                <c:pt idx="14">
                  <c:v>1.3299999999999999E-2</c:v>
                </c:pt>
                <c:pt idx="15">
                  <c:v>1.4999999999999999E-2</c:v>
                </c:pt>
                <c:pt idx="16">
                  <c:v>1.35E-2</c:v>
                </c:pt>
                <c:pt idx="17">
                  <c:v>1.18E-2</c:v>
                </c:pt>
                <c:pt idx="18">
                  <c:v>1.1299999999999999E-2</c:v>
                </c:pt>
                <c:pt idx="19">
                  <c:v>1.29E-2</c:v>
                </c:pt>
                <c:pt idx="20">
                  <c:v>1.41E-2</c:v>
                </c:pt>
                <c:pt idx="21">
                  <c:v>1.6299999999999999E-2</c:v>
                </c:pt>
                <c:pt idx="22">
                  <c:v>1.7000000000000001E-2</c:v>
                </c:pt>
                <c:pt idx="23">
                  <c:v>2.1000000000000001E-2</c:v>
                </c:pt>
                <c:pt idx="24">
                  <c:v>2.4500000000000001E-2</c:v>
                </c:pt>
                <c:pt idx="25">
                  <c:v>3.32E-2</c:v>
                </c:pt>
                <c:pt idx="26">
                  <c:v>3.49E-2</c:v>
                </c:pt>
                <c:pt idx="27">
                  <c:v>3.9199999999999999E-2</c:v>
                </c:pt>
                <c:pt idx="28">
                  <c:v>3.44E-2</c:v>
                </c:pt>
                <c:pt idx="29">
                  <c:v>3.39E-2</c:v>
                </c:pt>
                <c:pt idx="30">
                  <c:v>3.7400000000000003E-2</c:v>
                </c:pt>
                <c:pt idx="31">
                  <c:v>3.7400000000000003E-2</c:v>
                </c:pt>
                <c:pt idx="32">
                  <c:v>3.3500000000000002E-2</c:v>
                </c:pt>
                <c:pt idx="33">
                  <c:v>3.4099999999999998E-2</c:v>
                </c:pt>
                <c:pt idx="34">
                  <c:v>2.98E-2</c:v>
                </c:pt>
                <c:pt idx="35">
                  <c:v>2.8299999999999999E-2</c:v>
                </c:pt>
                <c:pt idx="36">
                  <c:v>2.6800000000000001E-2</c:v>
                </c:pt>
                <c:pt idx="37">
                  <c:v>2.52E-2</c:v>
                </c:pt>
                <c:pt idx="38">
                  <c:v>2.6200000000000001E-2</c:v>
                </c:pt>
                <c:pt idx="39">
                  <c:v>3.0300000000000001E-2</c:v>
                </c:pt>
                <c:pt idx="40">
                  <c:v>3.4299999999999997E-2</c:v>
                </c:pt>
                <c:pt idx="41">
                  <c:v>3.9E-2</c:v>
                </c:pt>
                <c:pt idx="42">
                  <c:v>4.1329999999999999E-2</c:v>
                </c:pt>
                <c:pt idx="43">
                  <c:v>4.2000000000000003E-2</c:v>
                </c:pt>
                <c:pt idx="44">
                  <c:v>4.1500000000000002E-2</c:v>
                </c:pt>
                <c:pt idx="45">
                  <c:v>4.0500000000000001E-2</c:v>
                </c:pt>
                <c:pt idx="46">
                  <c:v>3.95E-2</c:v>
                </c:pt>
                <c:pt idx="47">
                  <c:v>3.9E-2</c:v>
                </c:pt>
                <c:pt idx="48">
                  <c:v>3.85E-2</c:v>
                </c:pt>
                <c:pt idx="49">
                  <c:v>3.7999999999999999E-2</c:v>
                </c:pt>
                <c:pt idx="50">
                  <c:v>3.7999999999999999E-2</c:v>
                </c:pt>
                <c:pt idx="51">
                  <c:v>3.7999999999999999E-2</c:v>
                </c:pt>
              </c:numCache>
            </c:numRef>
          </c:val>
          <c:smooth val="0"/>
          <c:extLst>
            <c:ext xmlns:c16="http://schemas.microsoft.com/office/drawing/2014/chart" uri="{C3380CC4-5D6E-409C-BE32-E72D297353CC}">
              <c16:uniqueId val="{0000000C-88C3-42D7-99B7-E2E2E4AC40CC}"/>
            </c:ext>
          </c:extLst>
        </c:ser>
        <c:ser>
          <c:idx val="1"/>
          <c:order val="1"/>
          <c:tx>
            <c:strRef>
              <c:f>Sheet1!$E$1</c:f>
              <c:strCache>
                <c:ptCount val="1"/>
                <c:pt idx="0">
                  <c:v>물류 Cap.Rate</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Sheet1!$E$2:$E$53</c:f>
              <c:numCache>
                <c:formatCode>0.0%</c:formatCode>
                <c:ptCount val="52"/>
                <c:pt idx="0">
                  <c:v>7.6100000000000001E-2</c:v>
                </c:pt>
                <c:pt idx="1">
                  <c:v>7.17E-2</c:v>
                </c:pt>
                <c:pt idx="2">
                  <c:v>7.17E-2</c:v>
                </c:pt>
                <c:pt idx="3">
                  <c:v>7.6700000000000004E-2</c:v>
                </c:pt>
                <c:pt idx="4">
                  <c:v>7.6700000000000004E-2</c:v>
                </c:pt>
                <c:pt idx="5">
                  <c:v>5.4699999999999999E-2</c:v>
                </c:pt>
                <c:pt idx="6">
                  <c:v>7.8799999999999995E-2</c:v>
                </c:pt>
                <c:pt idx="7">
                  <c:v>6.4600000000000005E-2</c:v>
                </c:pt>
                <c:pt idx="8">
                  <c:v>6.3299999999999995E-2</c:v>
                </c:pt>
                <c:pt idx="9">
                  <c:v>5.9700000000000003E-2</c:v>
                </c:pt>
                <c:pt idx="10">
                  <c:v>5.67E-2</c:v>
                </c:pt>
                <c:pt idx="11">
                  <c:v>6.3299999999999995E-2</c:v>
                </c:pt>
                <c:pt idx="13">
                  <c:v>5.8799999999999998E-2</c:v>
                </c:pt>
                <c:pt idx="14">
                  <c:v>6.6699999999999995E-2</c:v>
                </c:pt>
                <c:pt idx="15">
                  <c:v>4.6699999999999998E-2</c:v>
                </c:pt>
                <c:pt idx="16">
                  <c:v>6.1699999999999998E-2</c:v>
                </c:pt>
                <c:pt idx="18">
                  <c:v>4.8500000000000001E-2</c:v>
                </c:pt>
                <c:pt idx="19">
                  <c:v>4.2700000000000002E-2</c:v>
                </c:pt>
                <c:pt idx="20">
                  <c:v>5.7799999999999997E-2</c:v>
                </c:pt>
                <c:pt idx="21">
                  <c:v>5.1799999999999999E-2</c:v>
                </c:pt>
                <c:pt idx="22">
                  <c:v>5.5300000000000002E-2</c:v>
                </c:pt>
                <c:pt idx="23">
                  <c:v>4.6800000000000001E-2</c:v>
                </c:pt>
                <c:pt idx="24">
                  <c:v>5.11E-2</c:v>
                </c:pt>
                <c:pt idx="25">
                  <c:v>4.3400000000000001E-2</c:v>
                </c:pt>
                <c:pt idx="26">
                  <c:v>4.7199999999999999E-2</c:v>
                </c:pt>
                <c:pt idx="27">
                  <c:v>4.7800000000000002E-2</c:v>
                </c:pt>
                <c:pt idx="28">
                  <c:v>4.9700000000000001E-2</c:v>
                </c:pt>
                <c:pt idx="29">
                  <c:v>6.1699999999999998E-2</c:v>
                </c:pt>
                <c:pt idx="30">
                  <c:v>5.8700000000000002E-2</c:v>
                </c:pt>
                <c:pt idx="31">
                  <c:v>5.1799999999999999E-2</c:v>
                </c:pt>
                <c:pt idx="32">
                  <c:v>5.57E-2</c:v>
                </c:pt>
                <c:pt idx="33">
                  <c:v>6.5699999999999995E-2</c:v>
                </c:pt>
                <c:pt idx="34">
                  <c:v>6.1699999999999998E-2</c:v>
                </c:pt>
                <c:pt idx="35">
                  <c:v>6.2799999999999995E-2</c:v>
                </c:pt>
                <c:pt idx="36">
                  <c:v>5.74E-2</c:v>
                </c:pt>
                <c:pt idx="37">
                  <c:v>5.67E-2</c:v>
                </c:pt>
                <c:pt idx="38">
                  <c:v>5.2600000000000001E-2</c:v>
                </c:pt>
                <c:pt idx="39">
                  <c:v>5.57E-2</c:v>
                </c:pt>
                <c:pt idx="40">
                  <c:v>5.7099999999999998E-2</c:v>
                </c:pt>
              </c:numCache>
            </c:numRef>
          </c:val>
          <c:smooth val="0"/>
          <c:extLst>
            <c:ext xmlns:c16="http://schemas.microsoft.com/office/drawing/2014/chart" uri="{C3380CC4-5D6E-409C-BE32-E72D297353CC}">
              <c16:uniqueId val="{0000000E-88C3-42D7-99B7-E2E2E4AC40CC}"/>
            </c:ext>
          </c:extLst>
        </c:ser>
        <c:ser>
          <c:idx val="2"/>
          <c:order val="2"/>
          <c:tx>
            <c:strRef>
              <c:f>Sheet1!$F$1</c:f>
              <c:strCache>
                <c:ptCount val="1"/>
                <c:pt idx="0">
                  <c:v>물류 Cap.Rate2</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Sheet1!$F$2:$F$53</c:f>
              <c:numCache>
                <c:formatCode>General</c:formatCode>
                <c:ptCount val="52"/>
                <c:pt idx="0" formatCode="0.0%">
                  <c:v>7.2700000000000001E-2</c:v>
                </c:pt>
                <c:pt idx="3" formatCode="0.0%">
                  <c:v>7.22E-2</c:v>
                </c:pt>
                <c:pt idx="6" formatCode="0.0%">
                  <c:v>7.0699999999999999E-2</c:v>
                </c:pt>
                <c:pt idx="8" formatCode="0.0%">
                  <c:v>5.9700000000000003E-2</c:v>
                </c:pt>
                <c:pt idx="11" formatCode="0.0%">
                  <c:v>5.9700000000000003E-2</c:v>
                </c:pt>
                <c:pt idx="13" formatCode="0.0%">
                  <c:v>5.67E-2</c:v>
                </c:pt>
                <c:pt idx="14" formatCode="0.0%">
                  <c:v>5.7799999999999997E-2</c:v>
                </c:pt>
                <c:pt idx="16" formatCode="0.0%">
                  <c:v>5.8799999999999998E-2</c:v>
                </c:pt>
                <c:pt idx="18" formatCode="0.0%">
                  <c:v>4.65E-2</c:v>
                </c:pt>
                <c:pt idx="20" formatCode="0.0%">
                  <c:v>4.9700000000000001E-2</c:v>
                </c:pt>
                <c:pt idx="21" formatCode="0.0%">
                  <c:v>4.1799999999999997E-2</c:v>
                </c:pt>
                <c:pt idx="22" formatCode="0.0%">
                  <c:v>4.6800000000000001E-2</c:v>
                </c:pt>
                <c:pt idx="23" formatCode="0.0%">
                  <c:v>4.48E-2</c:v>
                </c:pt>
                <c:pt idx="24" formatCode="0.0%">
                  <c:v>4.6800000000000001E-2</c:v>
                </c:pt>
                <c:pt idx="26" formatCode="0.0%">
                  <c:v>4.1799999999999997E-2</c:v>
                </c:pt>
                <c:pt idx="27" formatCode="0.0%">
                  <c:v>3.8899999999999997E-2</c:v>
                </c:pt>
                <c:pt idx="29" formatCode="0.0%">
                  <c:v>4.9299999999999997E-2</c:v>
                </c:pt>
                <c:pt idx="30" formatCode="0.0%">
                  <c:v>5.67E-2</c:v>
                </c:pt>
                <c:pt idx="32" formatCode="0.0%">
                  <c:v>5.1799999999999999E-2</c:v>
                </c:pt>
                <c:pt idx="33" formatCode="0.0%">
                  <c:v>5.8799999999999998E-2</c:v>
                </c:pt>
                <c:pt idx="34" formatCode="0.0%">
                  <c:v>5.7799999999999997E-2</c:v>
                </c:pt>
                <c:pt idx="35" formatCode="0.0%">
                  <c:v>5.1799999999999999E-2</c:v>
                </c:pt>
                <c:pt idx="36" formatCode="0.0%">
                  <c:v>5.3800000000000001E-2</c:v>
                </c:pt>
                <c:pt idx="37" formatCode="0.0%">
                  <c:v>5.45E-2</c:v>
                </c:pt>
                <c:pt idx="39" formatCode="0.0%">
                  <c:v>5.3600000000000002E-2</c:v>
                </c:pt>
              </c:numCache>
            </c:numRef>
          </c:val>
          <c:smooth val="0"/>
          <c:extLst>
            <c:ext xmlns:c16="http://schemas.microsoft.com/office/drawing/2014/chart" uri="{C3380CC4-5D6E-409C-BE32-E72D297353CC}">
              <c16:uniqueId val="{0000000F-88C3-42D7-99B7-E2E2E4AC40CC}"/>
            </c:ext>
          </c:extLst>
        </c:ser>
        <c:ser>
          <c:idx val="3"/>
          <c:order val="3"/>
          <c:tx>
            <c:strRef>
              <c:f>Sheet1!$G$1</c:f>
              <c:strCache>
                <c:ptCount val="1"/>
                <c:pt idx="0">
                  <c:v>물류 Cap.Rate3</c:v>
                </c:pt>
              </c:strCache>
            </c:strRef>
          </c:tx>
          <c:spPr>
            <a:ln>
              <a:noFill/>
            </a:ln>
          </c:spPr>
          <c:marker>
            <c:symbol val="circle"/>
            <c:size val="4"/>
            <c:spPr>
              <a:solidFill>
                <a:srgbClr val="6B2E50"/>
              </a:solidFill>
              <a:ln>
                <a:noFill/>
              </a:ln>
            </c:spPr>
          </c:marker>
          <c:dLbls>
            <c:dLbl>
              <c:idx val="39"/>
              <c:layout>
                <c:manualLayout>
                  <c:x val="-4.6263488073353058E-2"/>
                  <c:y val="7.9701253221468565E-2"/>
                </c:manualLayout>
              </c:layout>
              <c:spPr>
                <a:noFill/>
                <a:ln>
                  <a:noFill/>
                </a:ln>
                <a:effectLst/>
              </c:spPr>
              <c:txPr>
                <a:bodyPr wrap="square" lIns="38100" tIns="19050" rIns="38100" bIns="19050" anchor="ctr">
                  <a:spAutoFit/>
                </a:bodyPr>
                <a:lstStyle/>
                <a:p>
                  <a:pPr>
                    <a:defRPr sz="700" b="1">
                      <a:solidFill>
                        <a:srgbClr val="6B2E50"/>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8C3-42D7-99B7-E2E2E4AC40CC}"/>
                </c:ext>
              </c:extLst>
            </c:dLbl>
            <c:spPr>
              <a:noFill/>
              <a:ln>
                <a:noFill/>
              </a:ln>
              <a:effectLst/>
            </c:spPr>
            <c:txPr>
              <a:bodyPr wrap="square" lIns="38100" tIns="19050" rIns="38100" bIns="19050" anchor="ctr">
                <a:spAutoFit/>
              </a:bodyPr>
              <a:lstStyle/>
              <a:p>
                <a:pPr>
                  <a:defRPr sz="700"/>
                </a:pPr>
                <a:endParaRPr lang="ko-KR"/>
              </a:p>
            </c:txPr>
            <c:showLegendKey val="0"/>
            <c:showVal val="0"/>
            <c:showCatName val="0"/>
            <c:showSerName val="0"/>
            <c:showPercent val="0"/>
            <c:showBubbleSize val="0"/>
            <c:extLst>
              <c:ext xmlns:c15="http://schemas.microsoft.com/office/drawing/2012/chart" uri="{CE6537A1-D6FC-4f65-9D91-7224C49458BB}">
                <c15:showLeaderLines val="1"/>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Sheet1!$G$2:$G$53</c:f>
              <c:numCache>
                <c:formatCode>General</c:formatCode>
                <c:ptCount val="52"/>
                <c:pt idx="3" formatCode="0.0%">
                  <c:v>6.0299999999999999E-2</c:v>
                </c:pt>
                <c:pt idx="6" formatCode="0.0%">
                  <c:v>6.6900000000000001E-2</c:v>
                </c:pt>
                <c:pt idx="14" formatCode="0.0%">
                  <c:v>5.4399999999999997E-2</c:v>
                </c:pt>
                <c:pt idx="16" formatCode="0.0%">
                  <c:v>5.3199999999999997E-2</c:v>
                </c:pt>
                <c:pt idx="20" formatCode="0.0%">
                  <c:v>4.2799999999999998E-2</c:v>
                </c:pt>
                <c:pt idx="21" formatCode="0.0%">
                  <c:v>3.6799999999999999E-2</c:v>
                </c:pt>
                <c:pt idx="22" formatCode="0.0%">
                  <c:v>3.9899999999999998E-2</c:v>
                </c:pt>
                <c:pt idx="23" formatCode="0.0%">
                  <c:v>4.24E-2</c:v>
                </c:pt>
                <c:pt idx="24" formatCode="0.0%">
                  <c:v>3.6799999999999999E-2</c:v>
                </c:pt>
                <c:pt idx="26" formatCode="0.0%">
                  <c:v>3.9699999999999999E-2</c:v>
                </c:pt>
                <c:pt idx="29" formatCode="0.0%">
                  <c:v>3.9699999999999999E-2</c:v>
                </c:pt>
                <c:pt idx="30" formatCode="0.0%">
                  <c:v>5.1700000000000003E-2</c:v>
                </c:pt>
                <c:pt idx="33" formatCode="0.0%">
                  <c:v>5.4699999999999999E-2</c:v>
                </c:pt>
                <c:pt idx="34" formatCode="0.0%">
                  <c:v>5.2299999999999999E-2</c:v>
                </c:pt>
                <c:pt idx="39" formatCode="0.0%">
                  <c:v>5.0599999999999999E-2</c:v>
                </c:pt>
              </c:numCache>
            </c:numRef>
          </c:val>
          <c:smooth val="0"/>
          <c:extLst>
            <c:ext xmlns:c16="http://schemas.microsoft.com/office/drawing/2014/chart" uri="{C3380CC4-5D6E-409C-BE32-E72D297353CC}">
              <c16:uniqueId val="{00000010-88C3-42D7-99B7-E2E2E4AC40CC}"/>
            </c:ext>
          </c:extLst>
        </c:ser>
        <c:ser>
          <c:idx val="4"/>
          <c:order val="4"/>
          <c:tx>
            <c:strRef>
              <c:f>Sheet1!$H$1</c:f>
              <c:strCache>
                <c:ptCount val="1"/>
                <c:pt idx="0">
                  <c:v>물류 Cap.Rate4</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Sheet1!$H$2:$H$53</c:f>
              <c:numCache>
                <c:formatCode>General</c:formatCode>
                <c:ptCount val="52"/>
                <c:pt idx="22" formatCode="0.0%">
                  <c:v>3.5799999999999998E-2</c:v>
                </c:pt>
                <c:pt idx="23" formatCode="0.0%">
                  <c:v>4.0300000000000002E-2</c:v>
                </c:pt>
                <c:pt idx="24" formatCode="0.0%">
                  <c:v>3.0800000000000001E-2</c:v>
                </c:pt>
              </c:numCache>
            </c:numRef>
          </c:val>
          <c:smooth val="0"/>
          <c:extLst>
            <c:ext xmlns:c16="http://schemas.microsoft.com/office/drawing/2014/chart" uri="{C3380CC4-5D6E-409C-BE32-E72D297353CC}">
              <c16:uniqueId val="{00000011-88C3-42D7-99B7-E2E2E4AC40CC}"/>
            </c:ext>
          </c:extLst>
        </c:ser>
        <c:ser>
          <c:idx val="5"/>
          <c:order val="5"/>
          <c:tx>
            <c:strRef>
              <c:f>Sheet1!$I$1</c:f>
              <c:strCache>
                <c:ptCount val="1"/>
                <c:pt idx="0">
                  <c:v>물류 Cap.Rate 추세(’27~’28 연장)</c:v>
                </c:pt>
              </c:strCache>
            </c:strRef>
          </c:tx>
          <c:spPr>
            <a:ln w="15875">
              <a:solidFill>
                <a:srgbClr val="6B2E50"/>
              </a:solidFill>
              <a:prstDash val="sysDot"/>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Sheet1!$I$2:$I$53</c:f>
              <c:numCache>
                <c:formatCode>0.0%</c:formatCode>
                <c:ptCount val="52"/>
                <c:pt idx="0">
                  <c:v>6.404E-2</c:v>
                </c:pt>
                <c:pt idx="1">
                  <c:v>6.3589999999999994E-2</c:v>
                </c:pt>
                <c:pt idx="2">
                  <c:v>6.3149999999999998E-2</c:v>
                </c:pt>
                <c:pt idx="3">
                  <c:v>6.2700000000000006E-2</c:v>
                </c:pt>
                <c:pt idx="4">
                  <c:v>6.2260000000000003E-2</c:v>
                </c:pt>
                <c:pt idx="5">
                  <c:v>6.1809999999999997E-2</c:v>
                </c:pt>
                <c:pt idx="6">
                  <c:v>6.1370000000000001E-2</c:v>
                </c:pt>
                <c:pt idx="7">
                  <c:v>6.0929999999999998E-2</c:v>
                </c:pt>
                <c:pt idx="8">
                  <c:v>6.0479999999999999E-2</c:v>
                </c:pt>
                <c:pt idx="9">
                  <c:v>6.0040000000000003E-2</c:v>
                </c:pt>
                <c:pt idx="10">
                  <c:v>5.9589999999999997E-2</c:v>
                </c:pt>
                <c:pt idx="11">
                  <c:v>5.9150000000000001E-2</c:v>
                </c:pt>
                <c:pt idx="12">
                  <c:v>5.8700000000000002E-2</c:v>
                </c:pt>
                <c:pt idx="13">
                  <c:v>5.8259999999999999E-2</c:v>
                </c:pt>
                <c:pt idx="14">
                  <c:v>5.781E-2</c:v>
                </c:pt>
                <c:pt idx="15">
                  <c:v>5.7369999999999997E-2</c:v>
                </c:pt>
                <c:pt idx="16">
                  <c:v>5.6930000000000001E-2</c:v>
                </c:pt>
                <c:pt idx="17">
                  <c:v>5.6480000000000002E-2</c:v>
                </c:pt>
                <c:pt idx="18">
                  <c:v>5.604E-2</c:v>
                </c:pt>
                <c:pt idx="19">
                  <c:v>5.5590000000000001E-2</c:v>
                </c:pt>
                <c:pt idx="20">
                  <c:v>5.5149999999999998E-2</c:v>
                </c:pt>
                <c:pt idx="21">
                  <c:v>5.4699999999999999E-2</c:v>
                </c:pt>
                <c:pt idx="22">
                  <c:v>5.4260000000000003E-2</c:v>
                </c:pt>
                <c:pt idx="23">
                  <c:v>5.382E-2</c:v>
                </c:pt>
                <c:pt idx="24">
                  <c:v>5.3370000000000001E-2</c:v>
                </c:pt>
                <c:pt idx="25">
                  <c:v>5.2929999999999998E-2</c:v>
                </c:pt>
                <c:pt idx="26">
                  <c:v>5.2479999999999999E-2</c:v>
                </c:pt>
                <c:pt idx="27">
                  <c:v>5.2040000000000003E-2</c:v>
                </c:pt>
                <c:pt idx="28">
                  <c:v>5.1589999999999997E-2</c:v>
                </c:pt>
                <c:pt idx="29">
                  <c:v>5.1150000000000001E-2</c:v>
                </c:pt>
                <c:pt idx="30">
                  <c:v>5.0700000000000002E-2</c:v>
                </c:pt>
                <c:pt idx="31">
                  <c:v>5.0259999999999999E-2</c:v>
                </c:pt>
                <c:pt idx="32">
                  <c:v>4.9820000000000003E-2</c:v>
                </c:pt>
                <c:pt idx="33">
                  <c:v>4.9369999999999997E-2</c:v>
                </c:pt>
                <c:pt idx="34">
                  <c:v>4.8930000000000001E-2</c:v>
                </c:pt>
                <c:pt idx="35">
                  <c:v>4.8480000000000002E-2</c:v>
                </c:pt>
                <c:pt idx="36">
                  <c:v>4.8039999999999999E-2</c:v>
                </c:pt>
                <c:pt idx="37">
                  <c:v>4.759E-2</c:v>
                </c:pt>
                <c:pt idx="38">
                  <c:v>4.7149999999999997E-2</c:v>
                </c:pt>
                <c:pt idx="39">
                  <c:v>4.6710000000000002E-2</c:v>
                </c:pt>
                <c:pt idx="40">
                  <c:v>4.6260000000000003E-2</c:v>
                </c:pt>
                <c:pt idx="41">
                  <c:v>4.582E-2</c:v>
                </c:pt>
                <c:pt idx="42">
                  <c:v>4.5370000000000001E-2</c:v>
                </c:pt>
                <c:pt idx="43">
                  <c:v>4.4929999999999998E-2</c:v>
                </c:pt>
                <c:pt idx="44">
                  <c:v>4.4479999999999999E-2</c:v>
                </c:pt>
                <c:pt idx="45">
                  <c:v>4.4040000000000003E-2</c:v>
                </c:pt>
                <c:pt idx="46">
                  <c:v>4.3589999999999997E-2</c:v>
                </c:pt>
                <c:pt idx="47">
                  <c:v>4.3150000000000001E-2</c:v>
                </c:pt>
                <c:pt idx="48">
                  <c:v>4.2709999999999998E-2</c:v>
                </c:pt>
                <c:pt idx="49">
                  <c:v>4.2259999999999999E-2</c:v>
                </c:pt>
                <c:pt idx="50">
                  <c:v>4.1820000000000003E-2</c:v>
                </c:pt>
                <c:pt idx="51">
                  <c:v>4.1369999999999997E-2</c:v>
                </c:pt>
              </c:numCache>
            </c:numRef>
          </c:val>
          <c:smooth val="0"/>
          <c:extLst>
            <c:ext xmlns:c16="http://schemas.microsoft.com/office/drawing/2014/chart" uri="{C3380CC4-5D6E-409C-BE32-E72D297353CC}">
              <c16:uniqueId val="{00000012-88C3-42D7-99B7-E2E2E4AC40CC}"/>
            </c:ext>
          </c:extLst>
        </c:ser>
        <c:ser>
          <c:idx val="6"/>
          <c:order val="6"/>
          <c:tx>
            <c:v>Cap.Rate 추정</c:v>
          </c:tx>
          <c:spPr>
            <a:ln w="19050">
              <a:solidFill>
                <a:srgbClr val="C0504D"/>
              </a:solidFill>
              <a:prstDash val="dash"/>
            </a:ln>
          </c:spPr>
          <c:marker>
            <c:symbol val="none"/>
          </c:marker>
          <c:dLbls>
            <c:dLbl>
              <c:idx val="43"/>
              <c:tx>
                <c:rich>
                  <a:bodyPr/>
                  <a:lstStyle/>
                  <a:p>
                    <a:r>
                      <a:rPr lang="en-US" altLang="ko-KR" sz="650" b="1">
                        <a:solidFill>
                          <a:srgbClr val="C0504D"/>
                        </a:solidFill>
                        <a:latin typeface="KoPubWorld돋움체 Medium"/>
                        <a:ea typeface="KoPubWorld돋움체 Medium"/>
                        <a:cs typeface="KoPubWorld돋움체 Medium"/>
                      </a:rPr>
                      <a:t>5.5%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3A1D-4474-B200-5910F3CC8B2A}"/>
                </c:ext>
              </c:extLst>
            </c:dLbl>
            <c:dLbl>
              <c:idx val="50"/>
              <c:tx>
                <c:rich>
                  <a:bodyPr/>
                  <a:lstStyle/>
                  <a:p>
                    <a:r>
                      <a:rPr lang="en-US" altLang="ko-KR" sz="650" b="1">
                        <a:solidFill>
                          <a:srgbClr val="C0504D"/>
                        </a:solidFill>
                        <a:latin typeface="KoPubWorld돋움체 Medium"/>
                        <a:ea typeface="KoPubWorld돋움체 Medium"/>
                        <a:cs typeface="KoPubWorld돋움체 Medium"/>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3A1D-4474-B200-5910F3CC8B2A}"/>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Sheet1!$J$2:$J$53</c:f>
              <c:numCache>
                <c:formatCode>General</c:formatCode>
                <c:ptCount val="52"/>
                <c:pt idx="40" formatCode="0.0%">
                  <c:v>5.1330000000000001E-2</c:v>
                </c:pt>
                <c:pt idx="41" formatCode="0.0%">
                  <c:v>5.3460000000000001E-2</c:v>
                </c:pt>
                <c:pt idx="42" formatCode="0.0%">
                  <c:v>5.4399999999999997E-2</c:v>
                </c:pt>
                <c:pt idx="43" formatCode="0.0%">
                  <c:v>5.4519999999999999E-2</c:v>
                </c:pt>
                <c:pt idx="44" formatCode="0.0%">
                  <c:v>5.4039999999999998E-2</c:v>
                </c:pt>
                <c:pt idx="45" formatCode="0.0%">
                  <c:v>5.3319999999999999E-2</c:v>
                </c:pt>
                <c:pt idx="46" formatCode="0.0%">
                  <c:v>5.2600000000000001E-2</c:v>
                </c:pt>
                <c:pt idx="47" formatCode="0.0%">
                  <c:v>5.212E-2</c:v>
                </c:pt>
                <c:pt idx="48" formatCode="0.0%">
                  <c:v>5.1659999999999998E-2</c:v>
                </c:pt>
                <c:pt idx="49" formatCode="0.0%">
                  <c:v>5.1180000000000003E-2</c:v>
                </c:pt>
                <c:pt idx="50" formatCode="0.0%">
                  <c:v>5.0959999999999998E-2</c:v>
                </c:pt>
                <c:pt idx="51" formatCode="0.0%">
                  <c:v>5.074E-2</c:v>
                </c:pt>
              </c:numCache>
            </c:numRef>
          </c:val>
          <c:smooth val="0"/>
          <c:extLst>
            <c:ext xmlns:c16="http://schemas.microsoft.com/office/drawing/2014/chart" uri="{C3380CC4-5D6E-409C-BE32-E72D297353CC}">
              <c16:uniqueId val="{00000018-3A1D-4474-B200-5910F3CC8B2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rot="0" vert="horz"/>
          <a:lstStyle/>
          <a:p>
            <a:pPr>
              <a:defRPr sz="550"/>
            </a:pPr>
            <a:endParaRPr lang="ko-KR"/>
          </a:p>
        </c:txPr>
        <c:crossAx val="2140495176"/>
        <c:crosses val="autoZero"/>
        <c:auto val="1"/>
        <c:lblAlgn val="ctr"/>
        <c:lblOffset val="100"/>
        <c:noMultiLvlLbl val="0"/>
      </c:catAx>
      <c:valAx>
        <c:axId val="2140495176"/>
        <c:scaling>
          <c:orientation val="minMax"/>
          <c:max val="0.09"/>
          <c:min val="0"/>
        </c:scaling>
        <c:delete val="0"/>
        <c:axPos val="l"/>
        <c:numFmt formatCode="0%" sourceLinked="0"/>
        <c:majorTickMark val="out"/>
        <c:minorTickMark val="none"/>
        <c:tickLblPos val="nextTo"/>
        <c:spPr>
          <a:ln>
            <a:noFill/>
          </a:ln>
        </c:spPr>
        <c:txPr>
          <a:bodyPr/>
          <a:lstStyle/>
          <a:p>
            <a:pPr>
              <a:defRPr sz="700"/>
            </a:pPr>
            <a:endParaRPr lang="ko-KR"/>
          </a:p>
        </c:txPr>
        <c:crossAx val="2118791784"/>
        <c:crosses val="autoZero"/>
        <c:crossBetween val="between"/>
        <c:majorUnit val="0.01"/>
      </c:valAx>
    </c:plotArea>
    <c:legend>
      <c:legendPos val="t"/>
      <c:legendEntry>
        <c:idx val="2"/>
        <c:delete val="1"/>
      </c:legendEntry>
      <c:legendEntry>
        <c:idx val="3"/>
        <c:delete val="1"/>
      </c:legendEntry>
      <c:legendEntry>
        <c:idx val="4"/>
        <c:delete val="1"/>
      </c:legendEntry>
      <c:layout>
        <c:manualLayout>
          <c:xMode val="edge"/>
          <c:yMode val="edge"/>
          <c:x val="0.06"/>
          <c:y val="0"/>
          <c:w val="0.94"/>
          <c:h val="0.1"/>
        </c:manualLayout>
      </c:layout>
      <c:overlay val="0"/>
      <c:txPr>
        <a:bodyPr/>
        <a:lstStyle/>
        <a:p>
          <a:pPr>
            <a:defRPr sz="700"/>
          </a:pPr>
          <a:endParaRPr lang="ko-KR"/>
        </a:p>
      </c:txPr>
    </c:legend>
    <c:plotVisOnly val="1"/>
    <c:dispBlanksAs val="span"/>
    <c:showDLblsOverMax val="0"/>
  </c:chart>
  <c:txPr>
    <a:bodyPr/>
    <a:lstStyle/>
    <a:p>
      <a:pPr>
        <a:defRPr sz="700">
          <a:latin typeface="KoPubWorld돋움체 Ligh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2026-10-02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2026-10-02</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9</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10</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12</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16</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22</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23</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25</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34</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35</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36</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37</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45</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46</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Ⅴ.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7.png"/><Relationship Id="rId3" Type="http://schemas.openxmlformats.org/officeDocument/2006/relationships/chart" Target="../charts/chart5.xml"/><Relationship Id="rId4" Type="http://schemas.openxmlformats.org/officeDocument/2006/relationships/image" Target="../media/image38.png"/><Relationship Id="rId5" Type="http://schemas.openxmlformats.org/officeDocument/2006/relationships/image" Target="../media/image39.jpeg"/><Relationship Id="rId6" Type="http://schemas.openxmlformats.org/officeDocument/2006/relationships/image" Target="../media/image40.jpeg"/><Relationship Id="rId7" Type="http://schemas.openxmlformats.org/officeDocument/2006/relationships/image" Target="../media/image41.jpeg"/><Relationship Id="rId8" Type="http://schemas.openxmlformats.org/officeDocument/2006/relationships/image" Target="../media/image4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3.png"/><Relationship Id="rId3" Type="http://schemas.microsoft.com/office/2007/relationships/hdphoto" Target="../media/hdphoto2.wdp"/><Relationship Id="rId4" Type="http://schemas.openxmlformats.org/officeDocument/2006/relationships/image" Target="../media/image44.png"/><Relationship Id="rId5" Type="http://schemas.openxmlformats.org/officeDocument/2006/relationships/chart" Target="../charts/char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5.jpe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7.xml"/><Relationship Id="rId3" Type="http://schemas.openxmlformats.org/officeDocument/2006/relationships/chart" Target="../charts/char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5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9.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chart" Target="../charts/char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nchor="ctr">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nchor="ctr">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6800478" y="3240217"/>
            <a:ext cx="3657995" cy="1688924"/>
          </a:xfrm>
          <a:prstGeom prst="rect">
            <a:avLst/>
          </a:prstGeom>
          <a:noFill/>
        </p:spPr>
        <p:txBody>
          <a:bodyPr wrap="square" rtlCol="0" anchor="ctr"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34290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 체결의 건</a:t>
            </a:r>
          </a:p>
          <a:p>
            <a:pPr marL="34290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 체결의 건</a:t>
            </a:r>
          </a:p>
          <a:p>
            <a:pPr marL="34290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참여의향서 등</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당사 예상수익</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심의안건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안건은 매매계약·주주간계약 체결(10/16) 및 KLI 매입확약서 제출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납입(10/20) 후 10/22 자리츠 명의 소유권이전으로 거래종결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심의안건</a:t>
              </a:r>
            </a:p>
          </p:txBody>
        </p:sp>
      </p:grpSp>
      <p:graphicFrame>
        <p:nvGraphicFramePr>
          <p:cNvPr id="10" name="Table 9"/>
          <p:cNvGraphicFramePr>
            <a:graphicFrameLocks noGrp="1"/>
          </p:cNvGraphicFramePr>
          <p:nvPr/>
        </p:nvGraphicFramePr>
        <p:xfrm>
          <a:off x="521208" y="2331720"/>
          <a:ext cx="9756648" cy="2057400"/>
        </p:xfrm>
        <a:graphic>
          <a:graphicData uri="http://schemas.openxmlformats.org/drawingml/2006/table">
            <a:tbl>
              <a:tblPr firstRow="0" bandRow="0">
                <a:tableStyleId>{5C22544A-7EE6-4342-B048-85BDC9FD1C3A}</a:tableStyleId>
              </a:tblPr>
              <a:tblGrid>
                <a:gridCol w="914400"/>
                <a:gridCol w="2057400"/>
                <a:gridCol w="6784848"/>
              </a:tblGrid>
              <a:tr h="246888">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안건명</a:t>
                      </a: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주요내용</a:t>
                      </a:r>
                    </a:p>
                  </a:txBody>
                  <a:tcPr anchor="ctr" marL="54000" marR="36000" marT="9525" marB="9525">
                    <a:lnL w="6350" cap="flat" cmpd="sng" algn="ctr">
                      <a:solidFill>
                        <a:srgbClr val="BFBFBF"/>
                      </a:solidFill>
                    </a:lnL>
                    <a:lnR w="9525" cap="flat" cmpd="sng" algn="ctr">
                      <a:noFill/>
                    </a:lnR>
                    <a:lnT w="12700" cap="flat" cmpd="sng" algn="ctr">
                      <a:solidFill>
                        <a:srgbClr val="000000"/>
                      </a:solidFill>
                    </a:lnT>
                    <a:lnB w="6350" cap="flat" cmpd="sng" algn="ctr">
                      <a:solidFill>
                        <a:srgbClr val="BFBFBF"/>
                      </a:solidFill>
                    </a:lnB>
                    <a:solidFill>
                      <a:srgbClr val="D9D9D9"/>
                    </a:solidFill>
                  </a:tcPr>
                </a:tc>
              </a:tr>
              <a:tr h="603504">
                <a:tc>
                  <a:txBody>
                    <a:bodyPr wrap="square" anchor="ctr" lIns="45720" rIns="45720" tIns="18288" bIns="18288"/>
                    <a:lstStyle/>
                    <a:p>
                      <a:pPr algn="ctr"/>
                      <a:r>
                        <a:rPr sz="950" b="0">
                          <a:solidFill>
                            <a:srgbClr val="1F1F1F"/>
                          </a:solidFill>
                          <a:latin typeface="KoPubWorld돋움체 Medium"/>
                          <a:ea typeface="KoPubWorld돋움체 Medium"/>
                          <a:cs typeface="KoPubWorld돋움체 Medium"/>
                        </a:rPr>
                        <a:t>안건 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950" b="0">
                          <a:solidFill>
                            <a:srgbClr val="1F1F1F"/>
                          </a:solidFill>
                          <a:latin typeface="KoPubWorld돋움체 Light"/>
                          <a:ea typeface="KoPubWorld돋움체 Light"/>
                          <a:cs typeface="KoPubWorld돋움체 Light"/>
                        </a:rPr>
                        <a:t>매매계약서 체결의 건</a:t>
                      </a:r>
                    </a:p>
                    <a:p>
                      <a:pPr algn="ctr"/>
                      <a:r>
                        <a:rPr sz="800" b="0">
                          <a:solidFill>
                            <a:srgbClr val="595959"/>
                          </a:solidFill>
                          <a:latin typeface="KoPubWorld돋움체 Light"/>
                          <a:ea typeface="KoPubWorld돋움체 Light"/>
                          <a:cs typeface="KoPubWorld돋움체 Light"/>
                        </a:rPr>
                        <a:t>(매도인: 코크렙안양㈜)</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매매대금 2,700억원</a:t>
                      </a:r>
                      <a:r>
                        <a:rPr sz="900" b="0">
                          <a:solidFill>
                            <a:srgbClr val="1F1F1F"/>
                          </a:solidFill>
                          <a:latin typeface="KoPubWorld돋움체 Light"/>
                          <a:ea typeface="KoPubWorld돋움체 Light"/>
                          <a:cs typeface="KoPubWorld돋움체 Light"/>
                        </a:rPr>
                        <a:t> (VAT 별도, 감정가 3,345억 대비 −19.3%) · 계약금 100억원 체결일 지급</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매매목적물: 관양동 912-2·934·934-1 토지·건물 (연면적 95,434.55㎡)</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10/16 체결 → </a:t>
                      </a:r>
                      <a:r>
                        <a:rPr sz="900" b="0">
                          <a:solidFill>
                            <a:srgbClr val="1F1F1F"/>
                          </a:solidFill>
                          <a:latin typeface="KoPubWorld돋움체 Bold"/>
                          <a:ea typeface="KoPubWorld돋움체 Bold"/>
                          <a:cs typeface="KoPubWorld돋움체 Bold"/>
                        </a:rPr>
                        <a:t>10/22 거래종결</a:t>
                      </a:r>
                      <a:r>
                        <a:rPr sz="900" b="0">
                          <a:solidFill>
                            <a:srgbClr val="1F1F1F"/>
                          </a:solidFill>
                          <a:latin typeface="KoPubWorld돋움체 Light"/>
                          <a:ea typeface="KoPubWorld돋움체 Light"/>
                          <a:cs typeface="KoPubWorld돋움체 Light"/>
                        </a:rPr>
                        <a:t> (소유권이전 · 임대차 승계)</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603504">
                <a:tc>
                  <a:txBody>
                    <a:bodyPr wrap="square" anchor="ctr" lIns="45720" rIns="45720" tIns="18288" bIns="18288"/>
                    <a:lstStyle/>
                    <a:p>
                      <a:pPr algn="ctr"/>
                      <a:r>
                        <a:rPr sz="950" b="0">
                          <a:solidFill>
                            <a:srgbClr val="1F1F1F"/>
                          </a:solidFill>
                          <a:latin typeface="KoPubWorld돋움체 Medium"/>
                          <a:ea typeface="KoPubWorld돋움체 Medium"/>
                          <a:cs typeface="KoPubWorld돋움체 Medium"/>
                        </a:rPr>
                        <a:t>안건 Ⅱ</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950" b="0">
                          <a:solidFill>
                            <a:srgbClr val="1F1F1F"/>
                          </a:solidFill>
                          <a:latin typeface="KoPubWorld돋움체 Light"/>
                          <a:ea typeface="KoPubWorld돋움체 Light"/>
                          <a:cs typeface="KoPubWorld돋움체 Light"/>
                        </a:rPr>
                        <a:t>주주간계약서 체결의 건</a:t>
                      </a:r>
                    </a:p>
                    <a:p>
                      <a:pPr algn="ctr"/>
                      <a:r>
                        <a:rPr sz="800" b="0">
                          <a:solidFill>
                            <a:srgbClr val="595959"/>
                          </a:solidFill>
                          <a:latin typeface="KoPubWorld돋움체 Light"/>
                          <a:ea typeface="KoPubWorld돋움체 Light"/>
                          <a:cs typeface="KoPubWorld돋움체 Light"/>
                        </a:rPr>
                        <a:t>(KLI · 종류주식 투자자 · 코크렙안양)</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총 출자 988억원</a:t>
                      </a:r>
                      <a:r>
                        <a:rPr sz="900" b="0">
                          <a:solidFill>
                            <a:srgbClr val="1F1F1F"/>
                          </a:solidFill>
                          <a:latin typeface="KoPubWorld돋움체 Light"/>
                          <a:ea typeface="KoPubWorld돋움체 Light"/>
                          <a:cs typeface="KoPubWorld돋움체 Light"/>
                        </a:rPr>
                        <a:t>: 보통주 148 · 제1종 240 · 제2종 500 · 제3종 100 (억원)</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1종 연 7.0% · 2종 연 7.5% 누적배당 / 제3종은 매도인 재투자 (매매대금채권 상계납입)</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이사 3인 중 2인 · 대표이사 KLI 지명 / 주금 납입 10/20</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603504">
                <a:tc>
                  <a:txBody>
                    <a:bodyPr wrap="square" anchor="ctr" lIns="45720" rIns="45720" tIns="18288" bIns="18288"/>
                    <a:lstStyle/>
                    <a:p>
                      <a:pPr algn="ctr"/>
                      <a:r>
                        <a:rPr sz="950" b="0">
                          <a:solidFill>
                            <a:srgbClr val="1F1F1F"/>
                          </a:solidFill>
                          <a:latin typeface="KoPubWorld돋움체 Medium"/>
                          <a:ea typeface="KoPubWorld돋움체 Medium"/>
                          <a:cs typeface="KoPubWorld돋움체 Medium"/>
                        </a:rPr>
                        <a:t>안건 Ⅲ</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12700" cap="flat" cmpd="sng" algn="ctr">
                      <a:solidFill>
                        <a:srgbClr val="000000"/>
                      </a:solidFill>
                    </a:lnB>
                    <a:solidFill>
                      <a:srgbClr val="F2F2F2"/>
                    </a:solidFill>
                  </a:tcPr>
                </a:tc>
                <a:tc>
                  <a:txBody>
                    <a:bodyPr wrap="square" anchor="ctr" lIns="45720" rIns="45720" tIns="18288" bIns="18288"/>
                    <a:lstStyle/>
                    <a:p>
                      <a:pPr algn="ctr"/>
                      <a:r>
                        <a:rPr sz="950" b="0">
                          <a:solidFill>
                            <a:srgbClr val="1F1F1F"/>
                          </a:solidFill>
                          <a:latin typeface="KoPubWorld돋움체 Light"/>
                          <a:ea typeface="KoPubWorld돋움체 Light"/>
                          <a:cs typeface="KoPubWorld돋움체 Light"/>
                        </a:rPr>
                        <a:t>코람코라이프인프라리츠</a:t>
                      </a:r>
                    </a:p>
                    <a:p>
                      <a:pPr algn="ctr"/>
                      <a:r>
                        <a:rPr sz="800" b="0">
                          <a:solidFill>
                            <a:srgbClr val="595959"/>
                          </a:solidFill>
                          <a:latin typeface="KoPubWorld돋움체 Light"/>
                          <a:ea typeface="KoPubWorld돋움체 Light"/>
                          <a:cs typeface="KoPubWorld돋움체 Light"/>
                        </a:rPr>
                        <a:t>매입확약서(LOC) 날인의 건</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12700" cap="flat" cmpd="sng" algn="ctr">
                      <a:solidFill>
                        <a:srgbClr val="000000"/>
                      </a:solidFill>
                    </a:lnB>
                    <a:no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제2종 340억원(12개월) · 제1종 240억원(24개월)</a:t>
                      </a:r>
                      <a:r>
                        <a:rPr sz="900" b="0">
                          <a:solidFill>
                            <a:srgbClr val="1F1F1F"/>
                          </a:solidFill>
                          <a:latin typeface="KoPubWorld돋움체 Light"/>
                          <a:ea typeface="KoPubWorld돋움체 Light"/>
                          <a:cs typeface="KoPubWorld돋움체 Light"/>
                        </a:rPr>
                        <a:t> 발행가액 매입확약 (KLI 보유분 제외)</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불이행 시 1종 연 5.0% 지연손해금 / 2종 연 3.0% 지연이자 + 위약벌 20%</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주주간계약 체결일(10/16) 제출 · 종류주주는 매도확약서 제출 (KLI 요청 시 15일 내 매도)</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r>
            </a:tbl>
          </a:graphicData>
        </a:graphic>
      </p:graphicFrame>
      <p:sp>
        <p:nvSpPr>
          <p:cNvPr id="11" name="Rectangle 10"/>
          <p:cNvSpPr/>
          <p:nvPr/>
        </p:nvSpPr>
        <p:spPr>
          <a:xfrm>
            <a:off x="521208" y="4507992"/>
            <a:ext cx="9756648" cy="2194560"/>
          </a:xfrm>
          <a:prstGeom prst="rect">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 y="4398264"/>
            <a:ext cx="169164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50" b="0">
                <a:solidFill>
                  <a:srgbClr val="002060"/>
                </a:solidFill>
                <a:latin typeface="KoPubWorld돋움체 Bold"/>
                <a:ea typeface="KoPubWorld돋움체 Bold"/>
                <a:cs typeface="KoPubWorld돋움체 Bold"/>
              </a:rPr>
              <a:t>▌거래관련 주요 Key-Point</a:t>
            </a:r>
          </a:p>
        </p:txBody>
      </p:sp>
      <p:sp>
        <p:nvSpPr>
          <p:cNvPr id="13" name="Rounded Rectangle 12"/>
          <p:cNvSpPr/>
          <p:nvPr/>
        </p:nvSpPr>
        <p:spPr>
          <a:xfrm>
            <a:off x="685800" y="4709160"/>
            <a:ext cx="2011680" cy="1847088"/>
          </a:xfrm>
          <a:prstGeom prst="round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20440" y="4709160"/>
            <a:ext cx="6601968" cy="1847088"/>
          </a:xfrm>
          <a:prstGeom prst="roundRect">
            <a:avLst/>
          </a:prstGeom>
          <a:solidFill>
            <a:srgbClr val="FB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27448"/>
            <a:ext cx="1097280" cy="182880"/>
          </a:xfrm>
          <a:prstGeom prst="rect">
            <a:avLst/>
          </a:prstGeom>
          <a:noFill/>
        </p:spPr>
        <p:txBody>
          <a:bodyPr wrap="square" anchor="ctr" lIns="45720" rIns="45720" tIns="18288" bIns="18288">
            <a:spAutoFit/>
          </a:bodyPr>
          <a:lstStyle/>
          <a:p>
            <a:pPr algn="l"/>
            <a:r>
              <a:rPr sz="800" b="0">
                <a:solidFill>
                  <a:srgbClr val="595959"/>
                </a:solidFill>
                <a:latin typeface="KoPubWorld돋움체 Light"/>
                <a:ea typeface="KoPubWorld돋움체 Light"/>
                <a:cs typeface="KoPubWorld돋움체 Light"/>
              </a:rPr>
              <a:t>매도인</a:t>
            </a:r>
          </a:p>
        </p:txBody>
      </p:sp>
      <p:sp>
        <p:nvSpPr>
          <p:cNvPr id="16" name="TextBox 15"/>
          <p:cNvSpPr txBox="1"/>
          <p:nvPr/>
        </p:nvSpPr>
        <p:spPr>
          <a:xfrm>
            <a:off x="8595360" y="4727448"/>
            <a:ext cx="1463040" cy="182880"/>
          </a:xfrm>
          <a:prstGeom prst="rect">
            <a:avLst/>
          </a:prstGeom>
          <a:noFill/>
        </p:spPr>
        <p:txBody>
          <a:bodyPr wrap="square" anchor="ctr" lIns="45720" rIns="45720" tIns="18288" bIns="18288">
            <a:spAutoFit/>
          </a:bodyPr>
          <a:lstStyle/>
          <a:p>
            <a:pPr algn="r"/>
            <a:r>
              <a:rPr sz="800" b="0">
                <a:solidFill>
                  <a:srgbClr val="595959"/>
                </a:solidFill>
                <a:latin typeface="KoPubWorld돋움체 Light"/>
                <a:ea typeface="KoPubWorld돋움체 Light"/>
                <a:cs typeface="KoPubWorld돋움체 Light"/>
              </a:rPr>
              <a:t>리츠 · 투자자</a:t>
            </a:r>
          </a:p>
        </p:txBody>
      </p:sp>
      <p:sp>
        <p:nvSpPr>
          <p:cNvPr id="17" name="Rectangle 16"/>
          <p:cNvSpPr/>
          <p:nvPr/>
        </p:nvSpPr>
        <p:spPr>
          <a:xfrm>
            <a:off x="868680" y="5148072"/>
            <a:ext cx="1645920" cy="548640"/>
          </a:xfrm>
          <a:prstGeom prst="rect">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코크렙안양㈜</a:t>
            </a:r>
          </a:p>
          <a:p>
            <a:pPr algn="ctr"/>
            <a:r>
              <a:rPr sz="800" b="0">
                <a:solidFill>
                  <a:srgbClr val="1F1F1F"/>
                </a:solidFill>
                <a:latin typeface="KoPubWorld돋움체 Light"/>
                <a:ea typeface="KoPubWorld돋움체 Light"/>
                <a:cs typeface="KoPubWorld돋움체 Light"/>
              </a:rPr>
              <a:t>(매도인 · PFV)</a:t>
            </a:r>
          </a:p>
        </p:txBody>
      </p:sp>
      <p:sp>
        <p:nvSpPr>
          <p:cNvPr id="18" name="Rectangle 17"/>
          <p:cNvSpPr/>
          <p:nvPr/>
        </p:nvSpPr>
        <p:spPr>
          <a:xfrm>
            <a:off x="3931920" y="5148072"/>
            <a:ext cx="2148840" cy="548640"/>
          </a:xfrm>
          <a:prstGeom prst="rect">
            <a:avLst/>
          </a:prstGeom>
          <a:solidFill>
            <a:srgbClr val="FFFFFF"/>
          </a:solidFill>
          <a:ln w="1905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코람코라이프로지스리츠</a:t>
            </a:r>
          </a:p>
          <a:p>
            <a:pPr algn="ctr"/>
            <a:r>
              <a:rPr sz="800" b="0">
                <a:solidFill>
                  <a:srgbClr val="1F1F1F"/>
                </a:solidFill>
                <a:latin typeface="KoPubWorld돋움체 Light"/>
                <a:ea typeface="KoPubWorld돋움체 Light"/>
                <a:cs typeface="KoPubWorld돋움체 Light"/>
              </a:rPr>
              <a:t>(자리츠 · 신규설립)</a:t>
            </a:r>
          </a:p>
        </p:txBody>
      </p:sp>
      <p:sp>
        <p:nvSpPr>
          <p:cNvPr id="19" name="Rectangle 18"/>
          <p:cNvSpPr/>
          <p:nvPr/>
        </p:nvSpPr>
        <p:spPr>
          <a:xfrm>
            <a:off x="7863840" y="5148072"/>
            <a:ext cx="2103120" cy="548640"/>
          </a:xfrm>
          <a:prstGeom prst="rect">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코람코라이프인프라리츠</a:t>
            </a:r>
          </a:p>
          <a:p>
            <a:pPr algn="ctr"/>
            <a:r>
              <a:rPr sz="800" b="0">
                <a:solidFill>
                  <a:srgbClr val="1F1F1F"/>
                </a:solidFill>
                <a:latin typeface="KoPubWorld돋움체 Light"/>
                <a:ea typeface="KoPubWorld돋움체 Light"/>
                <a:cs typeface="KoPubWorld돋움체 Light"/>
              </a:rPr>
              <a:t>(상장리츠 · 모리츠)</a:t>
            </a:r>
          </a:p>
        </p:txBody>
      </p:sp>
      <p:sp>
        <p:nvSpPr>
          <p:cNvPr id="20" name="Rectangle 19"/>
          <p:cNvSpPr/>
          <p:nvPr/>
        </p:nvSpPr>
        <p:spPr>
          <a:xfrm>
            <a:off x="3931920" y="4727448"/>
            <a:ext cx="2148840" cy="27432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50" b="0">
                <a:solidFill>
                  <a:srgbClr val="1F1F1F"/>
                </a:solidFill>
                <a:latin typeface="KoPubWorld돋움체 Light"/>
                <a:ea typeface="KoPubWorld돋움체 Light"/>
                <a:cs typeface="KoPubWorld돋움체 Light"/>
              </a:rPr>
              <a:t>대주: 선순위 Tr.A 1,600 · 중순위 Tr.B 380</a:t>
            </a:r>
          </a:p>
        </p:txBody>
      </p:sp>
      <p:cxnSp>
        <p:nvCxnSpPr>
          <p:cNvPr id="21" name="Connector 20"/>
          <p:cNvCxnSpPr/>
          <p:nvPr/>
        </p:nvCxnSpPr>
        <p:spPr>
          <a:xfrm>
            <a:off x="5001768" y="5001768"/>
            <a:ext cx="0" cy="13716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542032" y="5312664"/>
            <a:ext cx="136245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542032" y="5532120"/>
            <a:ext cx="136245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468880" y="5038344"/>
            <a:ext cx="1508760" cy="219456"/>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소유권이전 · 임대차 승계</a:t>
            </a:r>
          </a:p>
        </p:txBody>
      </p:sp>
      <p:sp>
        <p:nvSpPr>
          <p:cNvPr id="25" name="TextBox 24"/>
          <p:cNvSpPr txBox="1"/>
          <p:nvPr/>
        </p:nvSpPr>
        <p:spPr>
          <a:xfrm>
            <a:off x="2468880" y="5568696"/>
            <a:ext cx="1508760" cy="219456"/>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매매대금 2,700억원</a:t>
            </a:r>
          </a:p>
        </p:txBody>
      </p:sp>
      <p:cxnSp>
        <p:nvCxnSpPr>
          <p:cNvPr id="26" name="Connector 25"/>
          <p:cNvCxnSpPr/>
          <p:nvPr/>
        </p:nvCxnSpPr>
        <p:spPr>
          <a:xfrm>
            <a:off x="1691640" y="5696712"/>
            <a:ext cx="0" cy="475488"/>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691640" y="6172200"/>
            <a:ext cx="2606040" cy="0"/>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297680" y="5715000"/>
            <a:ext cx="0" cy="45720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83080" y="6190488"/>
            <a:ext cx="2514600" cy="201168"/>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제3종 재투자 100억원 (매매대금채권 상계납입)</a:t>
            </a:r>
          </a:p>
        </p:txBody>
      </p:sp>
      <p:cxnSp>
        <p:nvCxnSpPr>
          <p:cNvPr id="30" name="Connector 29"/>
          <p:cNvCxnSpPr/>
          <p:nvPr/>
        </p:nvCxnSpPr>
        <p:spPr>
          <a:xfrm flipH="1">
            <a:off x="6108192" y="5312664"/>
            <a:ext cx="172821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08192" y="5532120"/>
            <a:ext cx="172821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53328" y="5020056"/>
            <a:ext cx="1828800" cy="237744"/>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보통주 148 + 2-1종 160 출자</a:t>
            </a:r>
          </a:p>
        </p:txBody>
      </p:sp>
      <p:sp>
        <p:nvSpPr>
          <p:cNvPr id="33" name="TextBox 32"/>
          <p:cNvSpPr txBox="1"/>
          <p:nvPr/>
        </p:nvSpPr>
        <p:spPr>
          <a:xfrm>
            <a:off x="6053328" y="5568696"/>
            <a:ext cx="1828800" cy="219456"/>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의결권 71.4% · 계열 편입</a:t>
            </a:r>
          </a:p>
        </p:txBody>
      </p:sp>
      <p:sp>
        <p:nvSpPr>
          <p:cNvPr id="34" name="Rectangle 33"/>
          <p:cNvSpPr/>
          <p:nvPr/>
        </p:nvSpPr>
        <p:spPr>
          <a:xfrm>
            <a:off x="6537960" y="5971032"/>
            <a:ext cx="3429000" cy="54864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종류주식 투자자 (FI)</a:t>
            </a:r>
          </a:p>
          <a:p>
            <a:pPr algn="ctr"/>
            <a:r>
              <a:rPr sz="750" b="0">
                <a:solidFill>
                  <a:srgbClr val="1F1F1F"/>
                </a:solidFill>
                <a:latin typeface="KoPubWorld돋움체 Light"/>
                <a:ea typeface="KoPubWorld돋움체 Light"/>
                <a:cs typeface="KoPubWorld돋움체 Light"/>
              </a:rPr>
              <a:t>1종 240: 이지스리츠3호 · 키움 · 애큐온 · MG</a:t>
            </a:r>
          </a:p>
          <a:p>
            <a:pPr algn="ctr"/>
            <a:r>
              <a:rPr sz="750" b="0">
                <a:solidFill>
                  <a:srgbClr val="1F1F1F"/>
                </a:solidFill>
                <a:latin typeface="KoPubWorld돋움체 Light"/>
                <a:ea typeface="KoPubWorld돋움체 Light"/>
                <a:cs typeface="KoPubWorld돋움체 Light"/>
              </a:rPr>
              <a:t>2종 340: 삼성증권 · 이지스K리츠 · 기계설비조합</a:t>
            </a:r>
          </a:p>
        </p:txBody>
      </p:sp>
      <p:cxnSp>
        <p:nvCxnSpPr>
          <p:cNvPr id="35" name="Connector 34"/>
          <p:cNvCxnSpPr/>
          <p:nvPr/>
        </p:nvCxnSpPr>
        <p:spPr>
          <a:xfrm flipH="1">
            <a:off x="5760720" y="6245352"/>
            <a:ext cx="749808" cy="0"/>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760720" y="5715000"/>
            <a:ext cx="0" cy="530352"/>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709160" y="6272784"/>
            <a:ext cx="1463040" cy="182880"/>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종류주식 출자</a:t>
            </a:r>
          </a:p>
        </p:txBody>
      </p:sp>
      <p:cxnSp>
        <p:nvCxnSpPr>
          <p:cNvPr id="38" name="Connector 37"/>
          <p:cNvCxnSpPr/>
          <p:nvPr/>
        </p:nvCxnSpPr>
        <p:spPr>
          <a:xfrm>
            <a:off x="8915400" y="5696712"/>
            <a:ext cx="0" cy="256032"/>
          </a:xfrm>
          <a:prstGeom prst="line">
            <a:avLst/>
          </a:prstGeom>
          <a:ln w="9525">
            <a:solidFill>
              <a:srgbClr val="F78E3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961120" y="5715000"/>
            <a:ext cx="1143000" cy="329184"/>
          </a:xfrm>
          <a:prstGeom prst="rect">
            <a:avLst/>
          </a:prstGeom>
          <a:noFill/>
        </p:spPr>
        <p:txBody>
          <a:bodyPr wrap="square" anchor="ctr" lIns="45720" rIns="45720" tIns="18288" bIns="18288">
            <a:spAutoFit/>
          </a:bodyPr>
          <a:lstStyle/>
          <a:p>
            <a:pPr algn="l"/>
            <a:r>
              <a:rPr sz="750" b="0">
                <a:solidFill>
                  <a:srgbClr val="C55A11"/>
                </a:solidFill>
                <a:latin typeface="KoPubWorld돋움체 Light"/>
                <a:ea typeface="KoPubWorld돋움체 Light"/>
                <a:cs typeface="KoPubWorld돋움체 Light"/>
              </a:rPr>
              <a:t>매입확약</a:t>
            </a:r>
          </a:p>
        </p:txBody>
      </p:sp>
      <p:sp>
        <p:nvSpPr>
          <p:cNvPr id="40" name="TextBox 39"/>
          <p:cNvSpPr txBox="1"/>
          <p:nvPr/>
        </p:nvSpPr>
        <p:spPr>
          <a:xfrm>
            <a:off x="7424928" y="4553712"/>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sp>
        <p:nvSpPr>
          <p:cNvPr id="41" name="TextBox 40"/>
          <p:cNvSpPr txBox="1"/>
          <p:nvPr/>
        </p:nvSpPr>
        <p:spPr>
          <a:xfrm>
            <a:off x="283464" y="6812280"/>
            <a:ext cx="10012680" cy="228600"/>
          </a:xfrm>
          <a:prstGeom prst="rect">
            <a:avLst/>
          </a:prstGeom>
          <a:noFill/>
        </p:spPr>
        <p:txBody>
          <a:bodyPr wrap="square" anchor="ctr" lIns="45720" rIns="45720" tIns="18288" bIns="18288">
            <a:spAutoFit/>
          </a:bodyPr>
          <a:lstStyle/>
          <a:p>
            <a:pPr algn="l"/>
            <a:r>
              <a:rPr sz="800" b="0">
                <a:solidFill>
                  <a:srgbClr val="1F1F1F"/>
                </a:solidFill>
                <a:latin typeface="KoPubWorld돋움체 Light"/>
                <a:ea typeface="KoPubWorld돋움체 Light"/>
                <a:cs typeface="KoPubWorld돋움체 Light"/>
              </a:rPr>
              <a:t>※ 출처: 부동산매매계약서 BKL v11 clean(2026-09-30), 주주간계약서 BKL v30.5 markup(2026-10-02, 최종), KLI 제1·2종 매입확약 공문(안), 본 자료 재원조달·지분구성표.</a:t>
            </a:r>
          </a:p>
        </p:txBody>
      </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매매계약서 주요 내용 (1/3)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제1~5조·제9조·별첨1. [*] 항목은 협의 중이며, 연면적은 별첨1(일부멸실 등기 반영) 기준으로 IM·재무모델(95,474.59㎡)과 차이. 본 검토는 내부 검토이며 최종 법률자문은 외부 법무법인 확인이 필요함.</a:t>
            </a:r>
          </a:p>
        </p:txBody>
      </p:sp>
      <p:graphicFrame>
        <p:nvGraphicFramePr>
          <p:cNvPr id="17" name="Table 16"/>
          <p:cNvGraphicFramePr>
            <a:graphicFrameLocks noGrp="1"/>
          </p:cNvGraphicFramePr>
          <p:nvPr/>
        </p:nvGraphicFramePr>
        <p:xfrm>
          <a:off x="521208" y="1481328"/>
          <a:ext cx="9756648" cy="4266438"/>
        </p:xfrm>
        <a:graphic>
          <a:graphicData uri="http://schemas.openxmlformats.org/drawingml/2006/table">
            <a:tbl>
              <a:tblPr firstRow="0" bandRow="0">
                <a:tableStyleId>{5C22544A-7EE6-4342-B048-85BDC9FD1C3A}</a:tableStyleId>
              </a:tblPr>
              <a:tblGrid>
                <a:gridCol w="1417320"/>
                <a:gridCol w="868680"/>
                <a:gridCol w="1563624"/>
                <a:gridCol w="2084832"/>
                <a:gridCol w="1737360"/>
                <a:gridCol w="2084832"/>
              </a:tblGrid>
              <a:tr h="256032">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gridSpan="5">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주요내용</a:t>
                      </a: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12700" cap="flat" cmpd="sng" algn="ctr">
                      <a:solidFill>
                        <a:srgbClr val="000000"/>
                      </a:solidFill>
                    </a:lnT>
                    <a:lnB w="6350" cap="flat" cmpd="sng" algn="ctr">
                      <a:solidFill>
                        <a:srgbClr val="BFBFBF"/>
                      </a:solidFill>
                    </a:lnB>
                    <a:solidFill>
                      <a:srgbClr val="D9D9D9"/>
                    </a:solidFill>
                  </a:tcPr>
                </a:tc>
              </a:tr>
              <a:tr h="46888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계약당사자</a:t>
                      </a:r>
                    </a:p>
                    <a:p>
                      <a:pPr algn="ctr"/>
                      <a:r>
                        <a:rPr sz="750" b="0">
                          <a:solidFill>
                            <a:srgbClr val="595959"/>
                          </a:solidFill>
                          <a:latin typeface="KoPubWorld돋움체 Light"/>
                          <a:ea typeface="KoPubWorld돋움체 Light"/>
                          <a:cs typeface="KoPubWorld돋움체 Light"/>
                        </a:rPr>
                        <a:t>(전문)</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5">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매도인: 코크렙안양㈜ (PFV, 한국투자부동산신탁 담보신탁)</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매수인: 코람코라이프로지스리츠</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10896">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매매목적물</a:t>
                      </a:r>
                    </a:p>
                    <a:p>
                      <a:pPr algn="ctr"/>
                      <a:r>
                        <a:rPr sz="750" b="0">
                          <a:solidFill>
                            <a:srgbClr val="595959"/>
                          </a:solidFill>
                          <a:latin typeface="KoPubWorld돋움체 Light"/>
                          <a:ea typeface="KoPubWorld돋움체 Light"/>
                          <a:cs typeface="KoPubWorld돋움체 Light"/>
                        </a:rPr>
                        <a:t>(제1.1조·별첨1)</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5">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관양동 912-2·934·934-1 토지·건물 (대지 15,287.5㎡ / 연면적 95,434.55㎡), 가설건축물·부속 동산</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12826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매매대금 및</a:t>
                      </a:r>
                    </a:p>
                    <a:p>
                      <a:pPr algn="ctr"/>
                      <a:r>
                        <a:rPr sz="900" b="0">
                          <a:solidFill>
                            <a:srgbClr val="1F1F1F"/>
                          </a:solidFill>
                          <a:latin typeface="KoPubWorld돋움체 Medium"/>
                          <a:ea typeface="KoPubWorld돋움체 Medium"/>
                          <a:cs typeface="KoPubWorld돋움체 Medium"/>
                        </a:rPr>
                        <a:t>매매조건</a:t>
                      </a:r>
                    </a:p>
                    <a:p>
                      <a:pPr algn="ctr"/>
                      <a:r>
                        <a:rPr sz="750" b="0">
                          <a:solidFill>
                            <a:srgbClr val="595959"/>
                          </a:solidFill>
                          <a:latin typeface="KoPubWorld돋움체 Light"/>
                          <a:ea typeface="KoPubWorld돋움체 Light"/>
                          <a:cs typeface="KoPubWorld돋움체 Light"/>
                        </a:rPr>
                        <a:t>(제1.1·1.3·1.4·3·4.3조)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5">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매매대금: </a:t>
                      </a:r>
                      <a:r>
                        <a:rPr sz="900" b="0">
                          <a:solidFill>
                            <a:srgbClr val="1F1F1F"/>
                          </a:solidFill>
                          <a:latin typeface="KoPubWorld돋움체 Bold"/>
                          <a:ea typeface="KoPubWorld돋움체 Bold"/>
                          <a:cs typeface="KoPubWorld돋움체 Bold"/>
                        </a:rPr>
                        <a:t>2,700억원</a:t>
                      </a:r>
                      <a:r>
                        <a:rPr sz="900" b="0">
                          <a:solidFill>
                            <a:srgbClr val="1F1F1F"/>
                          </a:solidFill>
                          <a:latin typeface="KoPubWorld돋움체 Light"/>
                          <a:ea typeface="KoPubWorld돋움체 Light"/>
                          <a:cs typeface="KoPubWorld돋움체 Light"/>
                        </a:rPr>
                        <a:t> (VAT 별도) — 감정가 3,345억원 대비 −19.3%</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계약금: </a:t>
                      </a:r>
                      <a:r>
                        <a:rPr sz="900" b="0">
                          <a:solidFill>
                            <a:srgbClr val="1F1F1F"/>
                          </a:solidFill>
                          <a:latin typeface="KoPubWorld돋움체 Bold"/>
                          <a:ea typeface="KoPubWorld돋움체 Bold"/>
                          <a:cs typeface="KoPubWorld돋움체 Bold"/>
                        </a:rPr>
                        <a:t>100억원</a:t>
                      </a:r>
                      <a:r>
                        <a:rPr sz="900" b="0">
                          <a:solidFill>
                            <a:srgbClr val="1F1F1F"/>
                          </a:solidFill>
                          <a:latin typeface="KoPubWorld돋움체 Light"/>
                          <a:ea typeface="KoPubWorld돋움체 Light"/>
                          <a:cs typeface="KoPubWorld돋움체 Light"/>
                        </a:rPr>
                        <a:t> 체결일(10/16) 지급, 해약금 아님</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종결시 지급금액: 매매대금 − 계약금 − 승계 임대보증금 ± 정산금, VAT는 매수인 대리납부</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거래종결일 현황 그대로(as-is, where-is) 매수 · 담보책임 배제 (매도인 고의·중과실은 예외)</a:t>
                      </a:r>
                    </a:p>
                    <a:p>
                      <a:pPr algn="l" marL="137160" indent="0">
                        <a:spcBef>
                          <a:spcPts val="200"/>
                        </a:spcBef>
                        <a:buNone/>
                      </a:pPr>
                      <a:r>
                        <a:rPr sz="900" b="0">
                          <a:solidFill>
                            <a:srgbClr val="C00000"/>
                          </a:solidFill>
                          <a:latin typeface="KoPubWorld돋움체 Light"/>
                          <a:ea typeface="KoPubWorld돋움체 Light"/>
                          <a:cs typeface="KoPubWorld돋움체 Light"/>
                        </a:rPr>
                        <a:t>▲ 검토: 계약금은 체결일 현금 지급인 반면 3종 주금은 매매대금채권과 상계납입(SHA 제2.2조)</a:t>
                      </a:r>
                    </a:p>
                    <a:p>
                      <a:pPr algn="l" marL="137160" indent="0">
                        <a:spcBef>
                          <a:spcPts val="200"/>
                        </a:spcBef>
                        <a:buNone/>
                      </a:pPr>
                      <a:r>
                        <a:rPr sz="900" b="0">
                          <a:solidFill>
                            <a:srgbClr val="1F1F1F"/>
                          </a:solidFill>
                          <a:latin typeface="KoPubWorld돋움체 Light"/>
                          <a:ea typeface="KoPubWorld돋움체 Light"/>
                          <a:cs typeface="KoPubWorld돋움체 Light"/>
                        </a:rPr>
                        <a:t>→ 체결일 자리츠 자금 3억원뿐, 상계 방식으로 문안 정비 필요</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04038">
                <a:tc rowSpan="4">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거래일정</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5">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계약체결 10/16, </a:t>
                      </a:r>
                      <a:r>
                        <a:rPr sz="900" b="0">
                          <a:solidFill>
                            <a:srgbClr val="1F1F1F"/>
                          </a:solidFill>
                          <a:latin typeface="KoPubWorld돋움체 Bold"/>
                          <a:ea typeface="KoPubWorld돋움체 Bold"/>
                          <a:cs typeface="KoPubWorld돋움체 Bold"/>
                        </a:rPr>
                        <a:t>거래종결 10/22(목)</a:t>
                      </a:r>
                      <a:r>
                        <a:rPr sz="900" b="0">
                          <a:solidFill>
                            <a:srgbClr val="1F1F1F"/>
                          </a:solidFill>
                          <a:latin typeface="KoPubWorld돋움체 Light"/>
                          <a:ea typeface="KoPubWorld돋움체 Light"/>
                          <a:cs typeface="KoPubWorld돋움체 Light"/>
                        </a:rPr>
                        <a:t> — 잔금 지급 · 소유권이전 · 임대차 승계</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274320">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① 계약 체결</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② 선행조건 충족</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③ 거래종결</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④ 종결 후 의무</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D9D9D9"/>
                    </a:solidFill>
                  </a:tcPr>
                </a:tc>
              </a:tr>
              <a:tr h="274320">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일정</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10/16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~10/21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10/22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~12/22</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1191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주요 내용</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계약금 100억원 지급</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확약 이행 · 진술보장 진실</a:t>
                      </a:r>
                    </a:p>
                    <a:p>
                      <a:pPr algn="ctr"/>
                      <a:r>
                        <a:rPr sz="800" b="0">
                          <a:solidFill>
                            <a:srgbClr val="1F1F1F"/>
                          </a:solidFill>
                          <a:latin typeface="KoPubWorld돋움체 Light"/>
                          <a:ea typeface="KoPubWorld돋움체 Light"/>
                          <a:cs typeface="KoPubWorld돋움체 Light"/>
                        </a:rPr>
                        <a:t>쿠팡 승계동의 · 우선수익자 동의</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잔금 지급 · 소유권이전</a:t>
                      </a:r>
                    </a:p>
                    <a:p>
                      <a:pPr algn="ctr"/>
                      <a:r>
                        <a:rPr sz="800" b="0">
                          <a:solidFill>
                            <a:srgbClr val="1F1F1F"/>
                          </a:solidFill>
                          <a:latin typeface="KoPubWorld돋움체 Light"/>
                          <a:ea typeface="KoPubWorld돋움체 Light"/>
                          <a:cs typeface="KoPubWorld돋움체 Light"/>
                        </a:rPr>
                        <a:t>임대차 · 보증금 승계</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진술보장 2개월 · 기업결합 신고 30일</a:t>
                      </a:r>
                    </a:p>
                    <a:p>
                      <a:pPr algn="ctr"/>
                      <a:r>
                        <a:rPr sz="800" b="0">
                          <a:solidFill>
                            <a:srgbClr val="1F1F1F"/>
                          </a:solidFill>
                          <a:latin typeface="KoPubWorld돋움체 Light"/>
                          <a:ea typeface="KoPubWorld돋움체 Light"/>
                          <a:cs typeface="KoPubWorld돋움체 Light"/>
                        </a:rPr>
                        <a:t>하자보수청구권 양도</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46888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진술 및 보장</a:t>
                      </a:r>
                    </a:p>
                    <a:p>
                      <a:pPr algn="ctr"/>
                      <a:r>
                        <a:rPr sz="750" b="0">
                          <a:solidFill>
                            <a:srgbClr val="595959"/>
                          </a:solidFill>
                          <a:latin typeface="KoPubWorld돋움체 Light"/>
                          <a:ea typeface="KoPubWorld돋움체 Light"/>
                          <a:cs typeface="KoPubWorld돋움체 Light"/>
                        </a:rPr>
                        <a:t>(제4.1·4.4조)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5">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설립 · 권한 · 소유권 · 소송 · 임대차 · 경계침범</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진술 및 보장은 </a:t>
                      </a:r>
                      <a:r>
                        <a:rPr sz="900" b="0">
                          <a:solidFill>
                            <a:srgbClr val="1F1F1F"/>
                          </a:solidFill>
                          <a:latin typeface="KoPubWorld돋움체 Bold"/>
                          <a:ea typeface="KoPubWorld돋움체 Bold"/>
                          <a:cs typeface="KoPubWorld돋움체 Bold"/>
                        </a:rPr>
                        <a:t>거래종결일부터 2개월</a:t>
                      </a:r>
                      <a:r>
                        <a:rPr sz="900" b="0">
                          <a:solidFill>
                            <a:srgbClr val="1F1F1F"/>
                          </a:solidFill>
                          <a:latin typeface="KoPubWorld돋움체 Light"/>
                          <a:ea typeface="KoPubWorld돋움체 Light"/>
                          <a:cs typeface="KoPubWorld돋움체 Light"/>
                        </a:rPr>
                        <a:t> 유효</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46888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신고 · 준거법</a:t>
                      </a:r>
                    </a:p>
                    <a:p>
                      <a:pPr algn="ctr"/>
                      <a:r>
                        <a:rPr sz="750" b="0">
                          <a:solidFill>
                            <a:srgbClr val="595959"/>
                          </a:solidFill>
                          <a:latin typeface="KoPubWorld돋움체 Light"/>
                          <a:ea typeface="KoPubWorld돋움체 Light"/>
                          <a:cs typeface="KoPubWorld돋움체 Light"/>
                        </a:rPr>
                        <a:t>(제5.1(c)(e)·9.8조)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12700" cap="flat" cmpd="sng" algn="ctr">
                      <a:solidFill>
                        <a:srgbClr val="000000"/>
                      </a:solidFill>
                    </a:lnB>
                    <a:solidFill>
                      <a:srgbClr val="F2F2F2"/>
                    </a:solidFill>
                  </a:tcPr>
                </a:tc>
                <a:tc gridSpan="5">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체결 후 30일 내 거래신고 · 기업결합 사후신고 (종결 후 30일, 11/21)</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관할: 서울중앙지법</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매매계약서 주요 내용 (2/3)</a:t>
              </a: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제4~9조 (종전 2026-09-07 clean본 대비 계약금·CP·매도인 확약·고의·중과실 예외 추가). [*]는 협의 중.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a:t>
            </a:r>
          </a:p>
        </p:txBody>
      </p:sp>
      <p:graphicFrame>
        <p:nvGraphicFramePr>
          <p:cNvPr id="15" name="Table 14"/>
          <p:cNvGraphicFramePr>
            <a:graphicFrameLocks noGrp="1"/>
          </p:cNvGraphicFramePr>
          <p:nvPr/>
        </p:nvGraphicFramePr>
        <p:xfrm>
          <a:off x="521208" y="1481328"/>
          <a:ext cx="9756648" cy="4279392"/>
        </p:xfrm>
        <a:graphic>
          <a:graphicData uri="http://schemas.openxmlformats.org/drawingml/2006/table">
            <a:tbl>
              <a:tblPr firstRow="0" bandRow="0">
                <a:tableStyleId>{5C22544A-7EE6-4342-B048-85BDC9FD1C3A}</a:tableStyleId>
              </a:tblPr>
              <a:tblGrid>
                <a:gridCol w="1417320"/>
                <a:gridCol w="8339328"/>
              </a:tblGrid>
              <a:tr h="256032">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주요내용</a:t>
                      </a:r>
                    </a:p>
                  </a:txBody>
                  <a:tcPr anchor="ctr" marL="54000" marR="36000" marT="9525" marB="9525">
                    <a:lnL w="6350" cap="flat" cmpd="sng" algn="ctr">
                      <a:solidFill>
                        <a:srgbClr val="BFBFBF"/>
                      </a:solidFill>
                    </a:lnL>
                    <a:lnR w="9525" cap="flat" cmpd="sng" algn="ctr">
                      <a:noFill/>
                    </a:lnR>
                    <a:lnT w="12700" cap="flat" cmpd="sng" algn="ctr">
                      <a:solidFill>
                        <a:srgbClr val="000000"/>
                      </a:solidFill>
                    </a:lnT>
                    <a:lnB w="6350" cap="flat" cmpd="sng" algn="ctr">
                      <a:solidFill>
                        <a:srgbClr val="BFBFBF"/>
                      </a:solidFill>
                    </a:lnB>
                    <a:solidFill>
                      <a:srgbClr val="D9D9D9"/>
                    </a:solidFill>
                  </a:tcPr>
                </a:tc>
              </a:tr>
              <a:tr h="80467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거래종결</a:t>
                      </a:r>
                    </a:p>
                    <a:p>
                      <a:pPr algn="ctr"/>
                      <a:r>
                        <a:rPr sz="900" b="0">
                          <a:solidFill>
                            <a:srgbClr val="1F1F1F"/>
                          </a:solidFill>
                          <a:latin typeface="KoPubWorld돋움체 Medium"/>
                          <a:ea typeface="KoPubWorld돋움체 Medium"/>
                          <a:cs typeface="KoPubWorld돋움체 Medium"/>
                        </a:rPr>
                        <a:t>선행조건</a:t>
                      </a:r>
                    </a:p>
                    <a:p>
                      <a:pPr algn="ctr"/>
                      <a:r>
                        <a:rPr sz="750" b="0">
                          <a:solidFill>
                            <a:srgbClr val="595959"/>
                          </a:solidFill>
                          <a:latin typeface="KoPubWorld돋움체 Light"/>
                          <a:ea typeface="KoPubWorld돋움체 Light"/>
                          <a:cs typeface="KoPubWorld돋움체 Light"/>
                        </a:rPr>
                        <a:t>(제6조)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(공통) 확약 이행 · 진술보장 진실 · 중대한 법규 위반 · 소송 부존재</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(매수인) </a:t>
                      </a:r>
                      <a:r>
                        <a:rPr sz="900" b="0">
                          <a:solidFill>
                            <a:srgbClr val="1F1F1F"/>
                          </a:solidFill>
                          <a:latin typeface="KoPubWorld돋움체 Bold"/>
                          <a:ea typeface="KoPubWorld돋움체 Bold"/>
                          <a:cs typeface="KoPubWorld돋움체 Bold"/>
                        </a:rPr>
                        <a:t>쿠팡 승계동의서</a:t>
                      </a:r>
                      <a:r>
                        <a:rPr sz="900" b="0">
                          <a:solidFill>
                            <a:srgbClr val="1F1F1F"/>
                          </a:solidFill>
                          <a:latin typeface="KoPubWorld돋움체 Light"/>
                          <a:ea typeface="KoPubWorld돋움체 Light"/>
                          <a:cs typeface="KoPubWorld돋움체 Light"/>
                        </a:rPr>
                        <a:t>, </a:t>
                      </a:r>
                      <a:r>
                        <a:rPr sz="900" b="0">
                          <a:solidFill>
                            <a:srgbClr val="1F1F1F"/>
                          </a:solidFill>
                          <a:latin typeface="KoPubWorld돋움체 Bold"/>
                          <a:ea typeface="KoPubWorld돋움체 Bold"/>
                          <a:cs typeface="KoPubWorld돋움체 Bold"/>
                        </a:rPr>
                        <a:t>우선수익자 전원 · 수탁자 동의</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미충족 시 청구권을 유보하고 종결 가능 (제6.1조)</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80467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매도인의</a:t>
                      </a:r>
                    </a:p>
                    <a:p>
                      <a:pPr algn="ctr"/>
                      <a:r>
                        <a:rPr sz="900" b="0">
                          <a:solidFill>
                            <a:srgbClr val="1F1F1F"/>
                          </a:solidFill>
                          <a:latin typeface="KoPubWorld돋움체 Medium"/>
                          <a:ea typeface="KoPubWorld돋움체 Medium"/>
                          <a:cs typeface="KoPubWorld돋움체 Medium"/>
                        </a:rPr>
                        <a:t>확약사항</a:t>
                      </a:r>
                    </a:p>
                    <a:p>
                      <a:pPr algn="ctr"/>
                      <a:r>
                        <a:rPr sz="750" b="0">
                          <a:solidFill>
                            <a:srgbClr val="595959"/>
                          </a:solidFill>
                          <a:latin typeface="KoPubWorld돋움체 Light"/>
                          <a:ea typeface="KoPubWorld돋움체 Light"/>
                          <a:cs typeface="KoPubWorld돋움체 Light"/>
                        </a:rPr>
                        <a:t>(제5.2조)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담보신탁 해지 · 대출 상환, 보증금 질권 교체, 하자보수청구권 양도</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현황측량 · 경계 정리, 옥외광고 허가, 소음민원 조치</a:t>
                      </a:r>
                    </a:p>
                    <a:p>
                      <a:pPr algn="l" marL="137160" indent="0">
                        <a:spcBef>
                          <a:spcPts val="200"/>
                        </a:spcBef>
                        <a:buNone/>
                      </a:pPr>
                      <a:r>
                        <a:rPr sz="900" b="0">
                          <a:solidFill>
                            <a:srgbClr val="C00000"/>
                          </a:solidFill>
                          <a:latin typeface="KoPubWorld돋움체 Light"/>
                          <a:ea typeface="KoPubWorld돋움체 Light"/>
                          <a:cs typeface="KoPubWorld돋움체 Light"/>
                        </a:rPr>
                        <a:t>▲ 검토: 보증금 질권 교체 예치금 약 50.7억원 자금계획 필요</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80467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손해배상</a:t>
                      </a:r>
                    </a:p>
                    <a:p>
                      <a:pPr algn="ctr"/>
                      <a:r>
                        <a:rPr sz="750" b="0">
                          <a:solidFill>
                            <a:srgbClr val="595959"/>
                          </a:solidFill>
                          <a:latin typeface="KoPubWorld돋움체 Light"/>
                          <a:ea typeface="KoPubWorld돋움체 Light"/>
                          <a:cs typeface="KoPubWorld돋움체 Light"/>
                        </a:rPr>
                        <a:t>(제7조)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한도 </a:t>
                      </a:r>
                      <a:r>
                        <a:rPr sz="900" b="0">
                          <a:solidFill>
                            <a:srgbClr val="1F1F1F"/>
                          </a:solidFill>
                          <a:latin typeface="KoPubWorld돋움체 Bold"/>
                          <a:ea typeface="KoPubWorld돋움체 Bold"/>
                          <a:cs typeface="KoPubWorld돋움체 Bold"/>
                        </a:rPr>
                        <a:t>매매대금 5% (135억원)</a:t>
                      </a:r>
                      <a:r>
                        <a:rPr sz="900" b="0">
                          <a:solidFill>
                            <a:srgbClr val="1F1F1F"/>
                          </a:solidFill>
                          <a:latin typeface="KoPubWorld돋움체 Light"/>
                          <a:ea typeface="KoPubWorld돋움체 Light"/>
                          <a:cs typeface="KoPubWorld돋움체 Light"/>
                        </a:rPr>
                        <a:t>, 청구기한 </a:t>
                      </a:r>
                      <a:r>
                        <a:rPr sz="900" b="0">
                          <a:solidFill>
                            <a:srgbClr val="1F1F1F"/>
                          </a:solidFill>
                          <a:latin typeface="KoPubWorld돋움체 Bold"/>
                          <a:ea typeface="KoPubWorld돋움체 Bold"/>
                          <a:cs typeface="KoPubWorld돋움체 Bold"/>
                        </a:rPr>
                        <a:t>종결 후 2개월</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고의 · 중과실 위반은 한도 · 기간 미적용</a:t>
                      </a:r>
                    </a:p>
                    <a:p>
                      <a:pPr algn="l" marL="137160" indent="0">
                        <a:spcBef>
                          <a:spcPts val="200"/>
                        </a:spcBef>
                        <a:buNone/>
                      </a:pPr>
                      <a:r>
                        <a:rPr sz="900" b="0">
                          <a:solidFill>
                            <a:srgbClr val="C00000"/>
                          </a:solidFill>
                          <a:latin typeface="KoPubWorld돋움체 Light"/>
                          <a:ea typeface="KoPubWorld돋움체 Light"/>
                          <a:cs typeface="KoPubWorld돋움체 Light"/>
                        </a:rPr>
                        <a:t>▲ 검토: 종결 직후 2개월 내 하자 · 진술 점검</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80467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해제</a:t>
                      </a:r>
                    </a:p>
                    <a:p>
                      <a:pPr algn="ctr"/>
                      <a:r>
                        <a:rPr sz="750" b="0">
                          <a:solidFill>
                            <a:srgbClr val="595959"/>
                          </a:solidFill>
                          <a:latin typeface="KoPubWorld돋움체 Light"/>
                          <a:ea typeface="KoPubWorld돋움체 Light"/>
                          <a:cs typeface="KoPubWorld돋움체 Light"/>
                        </a:rPr>
                        <a:t>(제8조)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서면합의 · 불가항력 30일 · 중요 위반 10영업일 미시정 · 도산</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귀책 해제 시 위약금(손해배상 예정), 계약금 이자 가산 반환</a:t>
                      </a:r>
                    </a:p>
                    <a:p>
                      <a:pPr algn="l" marL="137160" indent="0">
                        <a:spcBef>
                          <a:spcPts val="200"/>
                        </a:spcBef>
                        <a:buNone/>
                      </a:pPr>
                      <a:r>
                        <a:rPr sz="900" b="0">
                          <a:solidFill>
                            <a:srgbClr val="C00000"/>
                          </a:solidFill>
                          <a:latin typeface="KoPubWorld돋움체 Light"/>
                          <a:ea typeface="KoPubWorld돋움체 Light"/>
                          <a:cs typeface="KoPubWorld돋움체 Light"/>
                        </a:rPr>
                        <a:t>▲ 검토: 위약금 · 기간 [*] 공란 — 체결 전 확정 필요</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80467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일반조항</a:t>
                      </a:r>
                    </a:p>
                    <a:p>
                      <a:pPr algn="ctr"/>
                      <a:r>
                        <a:rPr sz="750" b="0">
                          <a:solidFill>
                            <a:srgbClr val="595959"/>
                          </a:solidFill>
                          <a:latin typeface="KoPubWorld돋움체 Light"/>
                          <a:ea typeface="KoPubWorld돋움체 Light"/>
                          <a:cs typeface="KoPubWorld돋움체 Light"/>
                        </a:rPr>
                        <a:t>(제9조)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12700" cap="flat" cmpd="sng" algn="ctr">
                      <a:solidFill>
                        <a:srgbClr val="000000"/>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양도 제한, 비밀유지 (종결 · 해제 후 1년), 비용 각자 부담</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양해각서 이행보증금(10억원) 반환 관련 권리 · 의무 존속</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제7~9조는 해제 후에도 존속 (제9.9조)</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r>
            </a:tbl>
          </a:graphicData>
        </a:graphic>
      </p:graphicFrame>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 주요 내용 (1/3)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제1~2조·별첨1, 투자자 송부 메일(10/2). 주주명은 확정, 2종 종류주식 물량은 10/8 최종합의 회람 시 확정 예정(세부 변경 가능). 3종 23,000원×434,783주=10,000,009,000원(단수 BKL 확인 중).</a:t>
            </a:r>
          </a:p>
        </p:txBody>
      </p:sp>
      <p:sp>
        <p:nvSpPr>
          <p:cNvPr id="17" name="TextBox 16"/>
          <p:cNvSpPr txBox="1"/>
          <p:nvPr/>
        </p:nvSpPr>
        <p:spPr>
          <a:xfrm>
            <a:off x="7534656" y="128016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백만원, 원, 주, %)</a:t>
            </a:r>
          </a:p>
        </p:txBody>
      </p:sp>
      <p:graphicFrame>
        <p:nvGraphicFramePr>
          <p:cNvPr id="18" name="Table 17"/>
          <p:cNvGraphicFramePr>
            <a:graphicFrameLocks noGrp="1"/>
          </p:cNvGraphicFramePr>
          <p:nvPr/>
        </p:nvGraphicFramePr>
        <p:xfrm>
          <a:off x="521208" y="1481328"/>
          <a:ext cx="9756649" cy="5025644"/>
        </p:xfrm>
        <a:graphic>
          <a:graphicData uri="http://schemas.openxmlformats.org/drawingml/2006/table">
            <a:tbl>
              <a:tblPr firstRow="0" bandRow="0">
                <a:tableStyleId>{5C22544A-7EE6-4342-B048-85BDC9FD1C3A}</a:tableStyleId>
              </a:tblPr>
              <a:tblGrid>
                <a:gridCol w="1417320"/>
                <a:gridCol w="1240971"/>
                <a:gridCol w="1737360"/>
                <a:gridCol w="496389"/>
                <a:gridCol w="843861"/>
                <a:gridCol w="744583"/>
                <a:gridCol w="843861"/>
                <a:gridCol w="645305"/>
                <a:gridCol w="943138"/>
                <a:gridCol w="843861"/>
              </a:tblGrid>
              <a:tr h="256032">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gridSpan="9">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주요내용</a:t>
                      </a: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12700" cap="flat" cmpd="sng" algn="ctr">
                      <a:solidFill>
                        <a:srgbClr val="000000"/>
                      </a:solidFill>
                    </a:lnT>
                    <a:lnB w="6350" cap="flat" cmpd="sng" algn="ctr">
                      <a:solidFill>
                        <a:srgbClr val="BFBFBF"/>
                      </a:solidFill>
                    </a:lnB>
                    <a:solidFill>
                      <a:srgbClr val="D9D9D9"/>
                    </a:solidFill>
                  </a:tcPr>
                </a:tc>
              </a:tr>
              <a:tr h="310896">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대상회사</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9">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코람코라이프로지스리츠 (자리츠) — 2026.9.11 자본금 3억원 발기설립 (KLI 100% 출자)</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798576">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주주 당사자</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9">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보통주: 코람코라이프인프라리츠</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제1-1종: 이지스리츠3호펀드 · 키움캐피탈 · 애큐온캐피탈 · MG캐피탈</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제2-1종: 코람코라이프인프라리츠 · 삼성증권 / 제2-2종(무의결): 이지스K리츠펀드 · 기계설비조합</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제3종(무의결): 코크렙안양주식회사 (매도인)</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04038">
                <a:tc rowSpan="13">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주주 당사자 별</a:t>
                      </a:r>
                    </a:p>
                    <a:p>
                      <a:pPr algn="ctr"/>
                      <a:r>
                        <a:rPr sz="900" b="0">
                          <a:solidFill>
                            <a:srgbClr val="1F1F1F"/>
                          </a:solidFill>
                          <a:latin typeface="KoPubWorld돋움체 Medium"/>
                          <a:ea typeface="KoPubWorld돋움체 Medium"/>
                          <a:cs typeface="KoPubWorld돋움체 Medium"/>
                        </a:rPr>
                        <a:t>출자금액 및 지분율</a:t>
                      </a:r>
                    </a:p>
                    <a:p>
                      <a:pPr algn="ctr"/>
                      <a:r>
                        <a:rPr sz="750" b="0">
                          <a:solidFill>
                            <a:srgbClr val="595959"/>
                          </a:solidFill>
                          <a:latin typeface="KoPubWorld돋움체 Light"/>
                          <a:ea typeface="KoPubWorld돋움체 Light"/>
                          <a:cs typeface="KoPubWorld돋움체 Light"/>
                        </a:rPr>
                        <a:t>(제2.1·2.4조)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9">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총 출자금액: </a:t>
                      </a:r>
                      <a:r>
                        <a:rPr sz="900" b="0">
                          <a:solidFill>
                            <a:srgbClr val="1F1F1F"/>
                          </a:solidFill>
                          <a:latin typeface="KoPubWorld돋움체 Bold"/>
                          <a:ea typeface="KoPubWorld돋움체 Bold"/>
                          <a:cs typeface="KoPubWorld돋움체 Bold"/>
                        </a:rPr>
                        <a:t>988억원</a:t>
                      </a:r>
                      <a:r>
                        <a:rPr sz="900" b="0">
                          <a:solidFill>
                            <a:srgbClr val="1F1F1F"/>
                          </a:solidFill>
                          <a:latin typeface="KoPubWorld돋움체 Light"/>
                          <a:ea typeface="KoPubWorld돋움체 Light"/>
                          <a:cs typeface="KoPubWorld돋움체 Light"/>
                        </a:rPr>
                        <a:t> (무의결권 1,314,783주 = 발행주식 20.7%, 상법 §344조의3 1/4 이내)</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296418">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종류</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주주명</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의결권</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투자금(백만원)</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발행가(원)</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주식수(주)</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지분율</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의결권 주식수</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의결권 지분율</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D9D9D9"/>
                    </a:solid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rowSpan="4">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제1-1종 종류주식</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이지스리츠3호펀드</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6.3%</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7.9%</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키움캐피탈</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애큐온캐피탈</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MG캐피탈</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1.9%</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rowSpan="2">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제2-1종 종류주식</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16,000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640,000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640,000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12.7%</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삼성증권</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9.5%</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296418">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rowSpan="2">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제2-2종 종류주식</a:t>
                      </a:r>
                    </a:p>
                    <a:p>
                      <a:pPr algn="ctr"/>
                      <a:r>
                        <a:rPr sz="750" b="0">
                          <a:solidFill>
                            <a:srgbClr val="1F1F1F"/>
                          </a:solidFill>
                          <a:latin typeface="KoPubWorld돋움체 Medium"/>
                          <a:ea typeface="KoPubWorld돋움체 Medium"/>
                          <a:cs typeface="KoPubWorld돋움체 Medium"/>
                        </a:rPr>
                        <a:t>(무의결)</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이지스K리츠펀드</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6.3%</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기계설비조합</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296418">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제3종 종류주식</a:t>
                      </a:r>
                    </a:p>
                    <a:p>
                      <a:pPr algn="ctr"/>
                      <a:r>
                        <a:rPr sz="750" b="0">
                          <a:solidFill>
                            <a:srgbClr val="1F1F1F"/>
                          </a:solidFill>
                          <a:latin typeface="KoPubWorld돋움체 Medium"/>
                          <a:ea typeface="KoPubWorld돋움체 Medium"/>
                          <a:cs typeface="KoPubWorld돋움체 Medium"/>
                        </a:rPr>
                        <a:t>(무의결)</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코크렙안양주식회사</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434,783</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보통주식</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14,800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2,960,000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46.6%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2,960,000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58.7%</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2">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합계</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98,800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6,354,783</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100.0%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5,040,000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100.0%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F2F2F2"/>
                    </a:solidFill>
                  </a:tcPr>
                </a:tc>
              </a:tr>
              <a:tr h="310896">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납입예정일</a:t>
                      </a:r>
                    </a:p>
                    <a:p>
                      <a:pPr algn="ctr"/>
                      <a:r>
                        <a:rPr sz="750" b="0">
                          <a:solidFill>
                            <a:srgbClr val="595959"/>
                          </a:solidFill>
                          <a:latin typeface="KoPubWorld돋움체 Light"/>
                          <a:ea typeface="KoPubWorld돋움체 Light"/>
                          <a:cs typeface="KoPubWorld돋움체 Light"/>
                        </a:rPr>
                        <a:t>(제2.1·2.2조)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9">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거래종결 2영업일 전 이사회가 정한 </a:t>
                      </a:r>
                      <a:r>
                        <a:rPr sz="900" b="0">
                          <a:solidFill>
                            <a:srgbClr val="1F1F1F"/>
                          </a:solidFill>
                          <a:latin typeface="KoPubWorld돋움체 Bold"/>
                          <a:ea typeface="KoPubWorld돋움체 Bold"/>
                          <a:cs typeface="KoPubWorld돋움체 Bold"/>
                        </a:rPr>
                        <a:t>납입예정일(10/20) 15:00</a:t>
                      </a:r>
                      <a:r>
                        <a:rPr sz="900" b="0">
                          <a:solidFill>
                            <a:srgbClr val="1F1F1F"/>
                          </a:solidFill>
                          <a:latin typeface="KoPubWorld돋움체 Light"/>
                          <a:ea typeface="KoPubWorld돋움체 Light"/>
                          <a:cs typeface="KoPubWorld돋움체 Light"/>
                        </a:rPr>
                        <a:t>까지 · 3종은 매매대금채권과 상계납입</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46888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발기주식 감자 ·</a:t>
                      </a:r>
                    </a:p>
                    <a:p>
                      <a:pPr algn="ctr"/>
                      <a:r>
                        <a:rPr sz="900" b="0">
                          <a:solidFill>
                            <a:srgbClr val="1F1F1F"/>
                          </a:solidFill>
                          <a:latin typeface="KoPubWorld돋움체 Medium"/>
                          <a:ea typeface="KoPubWorld돋움체 Medium"/>
                          <a:cs typeface="KoPubWorld돋움체 Medium"/>
                        </a:rPr>
                        <a:t>잔액인수</a:t>
                      </a:r>
                    </a:p>
                    <a:p>
                      <a:pPr algn="ctr"/>
                      <a:r>
                        <a:rPr sz="750" b="0">
                          <a:solidFill>
                            <a:srgbClr val="595959"/>
                          </a:solidFill>
                          <a:latin typeface="KoPubWorld돋움체 Light"/>
                          <a:ea typeface="KoPubWorld돋움체 Light"/>
                          <a:cs typeface="KoPubWorld돋움체 Light"/>
                        </a:rPr>
                        <a:t>(제2.3·2.5조)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12700" cap="flat" cmpd="sng" algn="ctr">
                      <a:solidFill>
                        <a:srgbClr val="000000"/>
                      </a:solidFill>
                    </a:lnB>
                    <a:solidFill>
                      <a:srgbClr val="F2F2F2"/>
                    </a:solidFill>
                  </a:tcPr>
                </a:tc>
                <a:tc gridSpan="9">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KLI 발기주식 30만주(3억원) 100% 유상감자</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미납입분은 </a:t>
                      </a:r>
                      <a:r>
                        <a:rPr sz="900" b="0">
                          <a:solidFill>
                            <a:srgbClr val="1F1F1F"/>
                          </a:solidFill>
                          <a:latin typeface="KoPubWorld돋움체 Bold"/>
                          <a:ea typeface="KoPubWorld돋움체 Bold"/>
                          <a:cs typeface="KoPubWorld돋움체 Bold"/>
                        </a:rPr>
                        <a:t>우리투자증권(1종) · 삼성증권(2종) 잔액인수</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100A-FB3E-D4B3-20E7-80442E7D8A8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A35C62EE-9A4D-8C38-47DE-D94000BFF661}"/>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947B2283-F5D0-F0FB-FD62-E97869B0667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94449513-AD42-88F0-BED2-CC595F51BC4F}"/>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89B17899-ACE4-E7E7-726C-7D98BFA2C3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892580FB-25B0-8629-4189-CCD491FC211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7F3EF50C-85CE-6902-A95E-268B6174E190}"/>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 주요 내용 (2/3)</a:t>
              </a:r>
            </a:p>
          </p:txBody>
        </p:sp>
      </p:grpSp>
      <p:sp>
        <p:nvSpPr>
          <p:cNvPr id="9" name="TextBox 8">
            <a:extLst>
              <a:ext uri="{FF2B5EF4-FFF2-40B4-BE49-F238E27FC236}">
                <a16:creationId xmlns:a16="http://schemas.microsoft.com/office/drawing/2014/main" id="{8674A07F-0B60-F9DD-6E06-5789B7531E4F}"/>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a:t>
            </a:r>
          </a:p>
        </p:txBody>
      </p:sp>
      <p:sp>
        <p:nvSpPr>
          <p:cNvPr id="16" name="직사각형 15">
            <a:extLst>
              <a:ext uri="{FF2B5EF4-FFF2-40B4-BE49-F238E27FC236}">
                <a16:creationId xmlns:a16="http://schemas.microsoft.com/office/drawing/2014/main" id="{C3FF81C5-3EF1-AA2E-D23E-EBD4A00E899F}"/>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제1.3·1.4·3~7조, 투자자 송부 메일(10/2). 본 검토는 내부 검토이며 최종 법률자문은 외부 법무법인 확인이 필요함.</a:t>
            </a:r>
          </a:p>
        </p:txBody>
      </p:sp>
      <p:graphicFrame>
        <p:nvGraphicFramePr>
          <p:cNvPr id="17" name="Table 16"/>
          <p:cNvGraphicFramePr>
            <a:graphicFrameLocks noGrp="1"/>
          </p:cNvGraphicFramePr>
          <p:nvPr/>
        </p:nvGraphicFramePr>
        <p:xfrm>
          <a:off x="521208" y="1481328"/>
          <a:ext cx="9756648" cy="4389120"/>
        </p:xfrm>
        <a:graphic>
          <a:graphicData uri="http://schemas.openxmlformats.org/drawingml/2006/table">
            <a:tbl>
              <a:tblPr firstRow="0" bandRow="0">
                <a:tableStyleId>{5C22544A-7EE6-4342-B048-85BDC9FD1C3A}</a:tableStyleId>
              </a:tblPr>
              <a:tblGrid>
                <a:gridCol w="1417320"/>
                <a:gridCol w="8339328"/>
              </a:tblGrid>
              <a:tr h="256032">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주요내용</a:t>
                      </a:r>
                    </a:p>
                  </a:txBody>
                  <a:tcPr anchor="ctr" marL="54000" marR="36000" marT="9525" marB="9525">
                    <a:lnL w="6350" cap="flat" cmpd="sng" algn="ctr">
                      <a:solidFill>
                        <a:srgbClr val="BFBFBF"/>
                      </a:solidFill>
                    </a:lnL>
                    <a:lnR w="9525" cap="flat" cmpd="sng" algn="ctr">
                      <a:noFill/>
                    </a:lnR>
                    <a:lnT w="12700" cap="flat" cmpd="sng" algn="ctr">
                      <a:solidFill>
                        <a:srgbClr val="000000"/>
                      </a:solidFill>
                    </a:lnT>
                    <a:lnB w="6350" cap="flat" cmpd="sng" algn="ctr">
                      <a:solidFill>
                        <a:srgbClr val="BFBFBF"/>
                      </a:solidFill>
                    </a:lnB>
                    <a:solidFill>
                      <a:srgbClr val="D9D9D9"/>
                    </a:solidFill>
                  </a:tcPr>
                </a:tc>
              </a:tr>
              <a:tr h="731520">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배당</a:t>
                      </a:r>
                    </a:p>
                    <a:p>
                      <a:pPr algn="ctr"/>
                      <a:r>
                        <a:rPr sz="750" b="0">
                          <a:solidFill>
                            <a:srgbClr val="595959"/>
                          </a:solidFill>
                          <a:latin typeface="KoPubWorld돋움체 Light"/>
                          <a:ea typeface="KoPubWorld돋움체 Light"/>
                          <a:cs typeface="KoPubWorld돋움체 Light"/>
                        </a:rPr>
                        <a:t>(제1.3조)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1종 연 7.0% · 2종 연 7.5% 누적</a:t>
                      </a:r>
                      <a:r>
                        <a:rPr sz="900" b="0">
                          <a:solidFill>
                            <a:srgbClr val="1F1F1F"/>
                          </a:solidFill>
                          <a:latin typeface="KoPubWorld돋움체 Light"/>
                          <a:ea typeface="KoPubWorld돋움체 Light"/>
                          <a:cs typeface="KoPubWorld돋움체 Light"/>
                        </a:rPr>
                        <a:t> 우선배당</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보통주 초기 1년 연 7.5% 배당 협조 (배당가능재원 · 결의 없으면 의무 없음)</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731520">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KLI 매입확약</a:t>
                      </a:r>
                    </a:p>
                    <a:p>
                      <a:pPr algn="ctr"/>
                      <a:r>
                        <a:rPr sz="750" b="0">
                          <a:solidFill>
                            <a:srgbClr val="595959"/>
                          </a:solidFill>
                          <a:latin typeface="KoPubWorld돋움체 Light"/>
                          <a:ea typeface="KoPubWorld돋움체 Light"/>
                          <a:cs typeface="KoPubWorld돋움체 Light"/>
                        </a:rPr>
                        <a:t>(제3·4조)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2종 340억원(12개월, KLI 보유분 제외) · 1종 240억원(24개월) </a:t>
                      </a:r>
                      <a:r>
                        <a:rPr sz="900" b="0">
                          <a:solidFill>
                            <a:srgbClr val="1F1F1F"/>
                          </a:solidFill>
                          <a:latin typeface="KoPubWorld돋움체 Bold"/>
                          <a:ea typeface="KoPubWorld돋움체 Bold"/>
                          <a:cs typeface="KoPubWorld돋움체 Bold"/>
                        </a:rPr>
                        <a:t>발행가액 매입</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매입완료일에 미수령 누적배당 정산 (세부는 안건 Ⅲ)</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731520">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제3종 조건</a:t>
                      </a:r>
                    </a:p>
                    <a:p>
                      <a:pPr algn="ctr"/>
                      <a:r>
                        <a:rPr sz="750" b="0">
                          <a:solidFill>
                            <a:srgbClr val="595959"/>
                          </a:solidFill>
                          <a:latin typeface="KoPubWorld돋움체 Light"/>
                          <a:ea typeface="KoPubWorld돋움체 Light"/>
                          <a:cs typeface="KoPubWorld돋움체 Light"/>
                        </a:rPr>
                        <a:t>(제5조)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발행 후 </a:t>
                      </a:r>
                      <a:r>
                        <a:rPr sz="900" b="0">
                          <a:solidFill>
                            <a:srgbClr val="1F1F1F"/>
                          </a:solidFill>
                          <a:latin typeface="KoPubWorld돋움체 Bold"/>
                          <a:ea typeface="KoPubWorld돋움체 Bold"/>
                          <a:cs typeface="KoPubWorld돋움체 Bold"/>
                        </a:rPr>
                        <a:t>24+2개월 내 유상감자</a:t>
                      </a:r>
                      <a:r>
                        <a:rPr sz="900" b="0">
                          <a:solidFill>
                            <a:srgbClr val="1F1F1F"/>
                          </a:solidFill>
                          <a:latin typeface="KoPubWorld돋움체 Light"/>
                          <a:ea typeface="KoPubWorld돋움체 Light"/>
                          <a:cs typeface="KoPubWorld돋움체 Light"/>
                        </a:rPr>
                        <a:t> · 미감자 시 연 6% → 8% 누적우선배당</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48+2개월 도과 후 </a:t>
                      </a:r>
                      <a:r>
                        <a:rPr sz="900" b="0">
                          <a:solidFill>
                            <a:srgbClr val="1F1F1F"/>
                          </a:solidFill>
                          <a:latin typeface="KoPubWorld돋움체 Bold"/>
                          <a:ea typeface="KoPubWorld돋움체 Bold"/>
                          <a:cs typeface="KoPubWorld돋움체 Bold"/>
                        </a:rPr>
                        <a:t>자산매각청구권</a:t>
                      </a:r>
                      <a:r>
                        <a:rPr sz="900" b="0">
                          <a:solidFill>
                            <a:srgbClr val="1F1F1F"/>
                          </a:solidFill>
                          <a:latin typeface="KoPubWorld돋움체 Light"/>
                          <a:ea typeface="KoPubWorld돋움체 Light"/>
                          <a:cs typeface="KoPubWorld돋움체 Light"/>
                        </a:rPr>
                        <a:t> (세부는 다음 페이지)</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60350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이사회 구성</a:t>
                      </a:r>
                    </a:p>
                    <a:p>
                      <a:pPr algn="ctr"/>
                      <a:r>
                        <a:rPr sz="750" b="0">
                          <a:solidFill>
                            <a:srgbClr val="595959"/>
                          </a:solidFill>
                          <a:latin typeface="KoPubWorld돋움체 Light"/>
                          <a:ea typeface="KoPubWorld돋움체 Light"/>
                          <a:cs typeface="KoPubWorld돋움체 Light"/>
                        </a:rPr>
                        <a:t>(제6조)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이사 3인 중 </a:t>
                      </a:r>
                      <a:r>
                        <a:rPr sz="900" b="0">
                          <a:solidFill>
                            <a:srgbClr val="1F1F1F"/>
                          </a:solidFill>
                          <a:latin typeface="KoPubWorld돋움체 Bold"/>
                          <a:ea typeface="KoPubWorld돋움체 Bold"/>
                          <a:cs typeface="KoPubWorld돋움체 Bold"/>
                        </a:rPr>
                        <a:t>2인 · 대표이사 KLI 지명</a:t>
                      </a:r>
                      <a:r>
                        <a:rPr sz="900" b="0">
                          <a:solidFill>
                            <a:srgbClr val="1F1F1F"/>
                          </a:solidFill>
                          <a:latin typeface="KoPubWorld돋움체 Light"/>
                          <a:ea typeface="KoPubWorld돋움체 Light"/>
                          <a:cs typeface="KoPubWorld돋움체 Light"/>
                        </a:rPr>
                        <a:t>, 감사는 주주총회 선임</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60350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자산관리회사</a:t>
                      </a:r>
                    </a:p>
                    <a:p>
                      <a:pPr algn="ctr"/>
                      <a:r>
                        <a:rPr sz="750" b="0">
                          <a:solidFill>
                            <a:srgbClr val="595959"/>
                          </a:solidFill>
                          <a:latin typeface="KoPubWorld돋움체 Light"/>
                          <a:ea typeface="KoPubWorld돋움체 Light"/>
                          <a:cs typeface="KoPubWorld돋움체 Light"/>
                        </a:rPr>
                        <a:t>(제1.4조)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동일 AMC(코람코) 이해상충 고지</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731520">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양도 제한</a:t>
                      </a:r>
                    </a:p>
                    <a:p>
                      <a:pPr algn="ctr"/>
                      <a:r>
                        <a:rPr sz="750" b="0">
                          <a:solidFill>
                            <a:srgbClr val="595959"/>
                          </a:solidFill>
                          <a:latin typeface="KoPubWorld돋움체 Light"/>
                          <a:ea typeface="KoPubWorld돋움체 Light"/>
                          <a:cs typeface="KoPubWorld돋움체 Light"/>
                        </a:rPr>
                        <a:t>(제7조)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12700" cap="flat" cmpd="sng" algn="ctr">
                      <a:solidFill>
                        <a:srgbClr val="000000"/>
                      </a:solidFill>
                    </a:lnB>
                    <a:solidFill>
                      <a:srgbClr val="F2F2F2"/>
                    </a:solidFill>
                  </a:tcPr>
                </a:tc>
                <a:tc>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다른 주주 </a:t>
                      </a:r>
                      <a:r>
                        <a:rPr sz="900" b="0">
                          <a:solidFill>
                            <a:srgbClr val="1F1F1F"/>
                          </a:solidFill>
                          <a:latin typeface="KoPubWorld돋움체 Bold"/>
                          <a:ea typeface="KoPubWorld돋움체 Bold"/>
                          <a:cs typeface="KoPubWorld돋움체 Bold"/>
                        </a:rPr>
                        <a:t>전원의 서면동의</a:t>
                      </a:r>
                      <a:r>
                        <a:rPr sz="900" b="0">
                          <a:solidFill>
                            <a:srgbClr val="1F1F1F"/>
                          </a:solidFill>
                          <a:latin typeface="KoPubWorld돋움체 Light"/>
                          <a:ea typeface="KoPubWorld돋움체 Light"/>
                          <a:cs typeface="KoPubWorld돋움체 Light"/>
                        </a:rPr>
                        <a:t> 원칙</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셀다운은 매도확약서 제출 + KLI 사전동의 (우리투자증권 · 삼성증권 최초 셀다운 면제)</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r>
            </a:tbl>
          </a:graphicData>
        </a:graphic>
      </p:graphicFrame>
    </p:spTree>
    <p:extLst>
      <p:ext uri="{BB962C8B-B14F-4D97-AF65-F5344CB8AC3E}">
        <p14:creationId xmlns:p14="http://schemas.microsoft.com/office/powerpoint/2010/main" val="143152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 주요 내용 (3/3)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제1.3·5.1~5.5조, KLL리츠 정관 v8 제11조, 투자자 송부 메일(10/2). 본 검토는 내부 검토이며 최종 법률자문은 외부 법무법인 확인이 필요함.</a:t>
            </a:r>
          </a:p>
        </p:txBody>
      </p:sp>
      <p:graphicFrame>
        <p:nvGraphicFramePr>
          <p:cNvPr id="17" name="Table 16"/>
          <p:cNvGraphicFramePr>
            <a:graphicFrameLocks noGrp="1"/>
          </p:cNvGraphicFramePr>
          <p:nvPr/>
        </p:nvGraphicFramePr>
        <p:xfrm>
          <a:off x="521208" y="1481328"/>
          <a:ext cx="9756648" cy="3664712"/>
        </p:xfrm>
        <a:graphic>
          <a:graphicData uri="http://schemas.openxmlformats.org/drawingml/2006/table">
            <a:tbl>
              <a:tblPr firstRow="0" bandRow="0">
                <a:tableStyleId>{5C22544A-7EE6-4342-B048-85BDC9FD1C3A}</a:tableStyleId>
              </a:tblPr>
              <a:tblGrid>
                <a:gridCol w="1417320"/>
                <a:gridCol w="1231946"/>
                <a:gridCol w="435919"/>
                <a:gridCol w="701262"/>
                <a:gridCol w="966604"/>
                <a:gridCol w="170577"/>
                <a:gridCol w="1137181"/>
                <a:gridCol w="360107"/>
                <a:gridCol w="777074"/>
                <a:gridCol w="890792"/>
                <a:gridCol w="293772"/>
                <a:gridCol w="1374094"/>
              </a:tblGrid>
              <a:tr h="256032">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gridSpan="11">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주요내용</a:t>
                      </a: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12700" cap="flat" cmpd="sng" algn="ctr">
                      <a:solidFill>
                        <a:srgbClr val="000000"/>
                      </a:solidFill>
                    </a:lnT>
                    <a:lnB w="6350" cap="flat" cmpd="sng" algn="ctr">
                      <a:solidFill>
                        <a:srgbClr val="BFBFBF"/>
                      </a:solidFill>
                    </a:lnB>
                    <a:solidFill>
                      <a:srgbClr val="D9D9D9"/>
                    </a:solidFill>
                  </a:tcPr>
                </a:tc>
              </a:tr>
              <a:tr h="329184">
                <a:tc rowSpan="2">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제3종</a:t>
                      </a:r>
                    </a:p>
                    <a:p>
                      <a:pPr algn="ctr"/>
                      <a:r>
                        <a:rPr sz="900" b="0">
                          <a:solidFill>
                            <a:srgbClr val="1F1F1F"/>
                          </a:solidFill>
                          <a:latin typeface="KoPubWorld돋움체 Medium"/>
                          <a:ea typeface="KoPubWorld돋움체 Medium"/>
                          <a:cs typeface="KoPubWorld돋움체 Medium"/>
                        </a:rPr>
                        <a:t>감자 · 가산배당</a:t>
                      </a:r>
                    </a:p>
                    <a:p>
                      <a:pPr algn="ctr"/>
                      <a:r>
                        <a:rPr sz="750" b="0">
                          <a:solidFill>
                            <a:srgbClr val="595959"/>
                          </a:solidFill>
                          <a:latin typeface="KoPubWorld돋움체 Light"/>
                          <a:ea typeface="KoPubWorld돋움체 Light"/>
                          <a:cs typeface="KoPubWorld돋움체 Light"/>
                        </a:rPr>
                        <a:t>(제5.1~5.4조)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2">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’26.10 발행</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2">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’28.12 감자약정기한</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AE3F3"/>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AE3F3"/>
                    </a:solidFill>
                  </a:tcPr>
                </a:tc>
                <a:tc gridSpan="3">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미감자 1년차</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DE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DE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DE9D9"/>
                    </a:solidFill>
                  </a:tcPr>
                </a:tc>
                <a:tc gridSpan="2">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미감자 2년차</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8CBAD"/>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8CBAD"/>
                    </a:solidFill>
                  </a:tcPr>
                </a:tc>
                <a:tc gridSpan="2">
                  <a:txBody>
                    <a:bodyPr wrap="square" anchor="ctr" lIns="45720" rIns="45720" tIns="18288" bIns="18288"/>
                    <a:lstStyle/>
                    <a:p>
                      <a:pPr algn="ctr"/>
                      <a:r>
                        <a:rPr sz="800" b="0">
                          <a:solidFill>
                            <a:srgbClr val="FFFFFF"/>
                          </a:solidFill>
                          <a:latin typeface="KoPubWorld돋움체 Bold"/>
                          <a:ea typeface="KoPubWorld돋움체 Bold"/>
                          <a:cs typeface="KoPubWorld돋움체 Bold"/>
                        </a:rPr>
                        <a:t>’30.12 추가기한</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F78E3F"/>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F78E3F"/>
                    </a:solidFill>
                  </a:tcPr>
                </a:tc>
              </a:tr>
              <a:tr h="435864">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100억원 · 23,000원</a:t>
                      </a:r>
                    </a:p>
                    <a:p>
                      <a:pPr algn="ctr"/>
                      <a:r>
                        <a:rPr sz="800" b="0">
                          <a:solidFill>
                            <a:srgbClr val="1F1F1F"/>
                          </a:solidFill>
                          <a:latin typeface="KoPubWorld돋움체 Light"/>
                          <a:ea typeface="KoPubWorld돋움체 Light"/>
                          <a:cs typeface="KoPubWorld돋움체 Light"/>
                        </a:rPr>
                        <a:t>무배당 · 무의결권 · 상계납입</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발행 후 24+2개월</a:t>
                      </a:r>
                    </a:p>
                    <a:p>
                      <a:pPr algn="ctr"/>
                      <a:r>
                        <a:rPr sz="800" b="0">
                          <a:solidFill>
                            <a:srgbClr val="1F1F1F"/>
                          </a:solidFill>
                          <a:latin typeface="KoPubWorld돋움체 Light"/>
                          <a:ea typeface="KoPubWorld돋움체 Light"/>
                          <a:cs typeface="KoPubWorld돋움체 Light"/>
                        </a:rPr>
                        <a:t>발행가액 유상감자</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3">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연 6% 누적우선배당</a:t>
                      </a:r>
                    </a:p>
                    <a:p>
                      <a:pPr algn="ctr"/>
                      <a:r>
                        <a:rPr sz="800" b="0">
                          <a:solidFill>
                            <a:srgbClr val="1F1F1F"/>
                          </a:solidFill>
                          <a:latin typeface="KoPubWorld돋움체 Light"/>
                          <a:ea typeface="KoPubWorld돋움체 Light"/>
                          <a:cs typeface="KoPubWorld돋움체 Light"/>
                        </a:rPr>
                        <a:t>(배당가능재원 내)</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연 8% 누적우선배당</a:t>
                      </a:r>
                    </a:p>
                    <a:p>
                      <a:pPr algn="ctr"/>
                      <a:r>
                        <a:rPr sz="800" b="0">
                          <a:solidFill>
                            <a:srgbClr val="1F1F1F"/>
                          </a:solidFill>
                          <a:latin typeface="KoPubWorld돋움체 Light"/>
                          <a:ea typeface="KoPubWorld돋움체 Light"/>
                          <a:cs typeface="KoPubWorld돋움체 Light"/>
                        </a:rPr>
                        <a:t>미배당분은 별도 협의</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48+2개월 도과 시</a:t>
                      </a:r>
                    </a:p>
                    <a:p>
                      <a:pPr algn="ctr"/>
                      <a:r>
                        <a:rPr sz="800" b="0">
                          <a:solidFill>
                            <a:srgbClr val="1F1F1F"/>
                          </a:solidFill>
                          <a:latin typeface="KoPubWorld돋움체 Light"/>
                          <a:ea typeface="KoPubWorld돋움체 Light"/>
                          <a:cs typeface="KoPubWorld돋움체 Light"/>
                        </a:rPr>
                        <a:t>자산매각청구권 (매각 완료 시까지)</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10896">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정관 개정</a:t>
                      </a:r>
                    </a:p>
                    <a:p>
                      <a:pPr algn="ctr"/>
                      <a:r>
                        <a:rPr sz="750" b="0">
                          <a:solidFill>
                            <a:srgbClr val="595959"/>
                          </a:solidFill>
                          <a:latin typeface="KoPubWorld돋움체 Light"/>
                          <a:ea typeface="KoPubWorld돋움체 Light"/>
                          <a:cs typeface="KoPubWorld돋움체 Light"/>
                        </a:rPr>
                        <a:t>(제5.5조)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11">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제5.3조 권리를 </a:t>
                      </a:r>
                      <a:r>
                        <a:rPr sz="900" b="0">
                          <a:solidFill>
                            <a:srgbClr val="1F1F1F"/>
                          </a:solidFill>
                          <a:latin typeface="KoPubWorld돋움체 Bold"/>
                          <a:ea typeface="KoPubWorld돋움체 Bold"/>
                          <a:cs typeface="KoPubWorld돋움체 Bold"/>
                        </a:rPr>
                        <a:t>거래종결일부터 3개월 내</a:t>
                      </a:r>
                      <a:r>
                        <a:rPr sz="900" b="0">
                          <a:solidFill>
                            <a:srgbClr val="1F1F1F"/>
                          </a:solidFill>
                          <a:latin typeface="KoPubWorld돋움체 Light"/>
                          <a:ea typeface="KoPubWorld돋움체 Light"/>
                          <a:cs typeface="KoPubWorld돋움체 Light"/>
                        </a:rPr>
                        <a:t> 정관에 반영 (변경인가 지연 시 연장) · 지급 보장 · 보전 의무 아님</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10896">
                <a:tc rowSpan="5">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배당 순위</a:t>
                      </a:r>
                    </a:p>
                    <a:p>
                      <a:pPr algn="ctr"/>
                      <a:r>
                        <a:rPr sz="750" b="0">
                          <a:solidFill>
                            <a:srgbClr val="595959"/>
                          </a:solidFill>
                          <a:latin typeface="KoPubWorld돋움체 Light"/>
                          <a:ea typeface="KoPubWorld돋움체 Light"/>
                          <a:cs typeface="KoPubWorld돋움체 Light"/>
                        </a:rPr>
                        <a:t>(정관 제11조)</a:t>
                      </a:r>
                    </a:p>
                    <a:p>
                      <a:pPr algn="ctr"/>
                      <a:r>
                        <a:rPr sz="750" b="0">
                          <a:solidFill>
                            <a:srgbClr val="595959"/>
                          </a:solidFill>
                          <a:latin typeface="KoPubWorld돋움체 Light"/>
                          <a:ea typeface="KoPubWorld돋움체 Light"/>
                          <a:cs typeface="KoPubWorld돋움체 Light"/>
                        </a:rPr>
                        <a:t>(SHA 제1.3·5.3조)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gridSpan="2">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gridSpan="2">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③</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gridSpan="2">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④</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gridSpan="2">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⑤</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⑥</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D9D9D9"/>
                    </a:solidFill>
                  </a:tcPr>
                </a:tc>
              </a:tr>
              <a:tr h="310896">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평상시</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7.0% 누적</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7.5% 누적</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3종 가산 6→8%*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잔여</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1191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매각 · 청산</a:t>
                      </a:r>
                    </a:p>
                    <a:p>
                      <a:pPr algn="ctr"/>
                      <a:r>
                        <a:rPr sz="800" b="0">
                          <a:solidFill>
                            <a:srgbClr val="1F1F1F"/>
                          </a:solidFill>
                          <a:latin typeface="KoPubWorld돋움체 Medium"/>
                          <a:ea typeface="KoPubWorld돋움체 Medium"/>
                          <a:cs typeface="KoPubWorld돋움체 Medium"/>
                        </a:rPr>
                        <a:t>(개정 예정)</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배당</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배당</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원본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원본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3종 배당 · 원본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원본 · 잔여</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311912">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매각 · 청산</a:t>
                      </a:r>
                    </a:p>
                    <a:p>
                      <a:pPr algn="ctr"/>
                      <a:r>
                        <a:rPr sz="800" b="0">
                          <a:solidFill>
                            <a:srgbClr val="1F1F1F"/>
                          </a:solidFill>
                          <a:latin typeface="KoPubWorld돋움체 Medium"/>
                          <a:ea typeface="KoPubWorld돋움체 Medium"/>
                          <a:cs typeface="KoPubWorld돋움체 Medium"/>
                        </a:rPr>
                        <a:t>(현행 정관 v8)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배당 (①~⑥)</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원본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원본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3종 원본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gridSpan="2">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원본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잔여 20% 2종 · 80% 보통</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288544">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11">
                  <a:txBody>
                    <a:bodyPr wrap="square" anchor="ctr" lIns="45720" rIns="45720" tIns="18288" bIns="18288"/>
                    <a:lstStyle/>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 3종 가산배당은 감자약정기한 도과 시에만 발생 · 매각 · 청산 순위는 1 · 2종 권리 역전이 없도록 개정 시 반영 예정</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798576">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2종 권리 영향</a:t>
                      </a:r>
                    </a:p>
                    <a:p>
                      <a:pPr algn="ctr"/>
                      <a:r>
                        <a:rPr sz="750" b="0">
                          <a:solidFill>
                            <a:srgbClr val="595959"/>
                          </a:solidFill>
                          <a:latin typeface="KoPubWorld돋움체 Light"/>
                          <a:ea typeface="KoPubWorld돋움체 Light"/>
                          <a:cs typeface="KoPubWorld돋움체 Light"/>
                        </a:rPr>
                        <a:t>(투자자 안내 기준)</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12700" cap="flat" cmpd="sng" algn="ctr">
                      <a:solidFill>
                        <a:srgbClr val="000000"/>
                      </a:solidFill>
                    </a:lnB>
                    <a:solidFill>
                      <a:srgbClr val="F2F2F2"/>
                    </a:solidFill>
                  </a:tcPr>
                </a:tc>
                <a:tc gridSpan="11">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Exit 시점: 2종은 거래종결 후 1년 내 KLI가 매입확약 → 감자약정기한(26개월) 이후 페널티 발생 시점엔 이미 Exit</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배당 순위: KLI 사유로 2종이 남더라도 3종 가산배당은 2종 배당 후순위 → 워터폴상 2종 배당 영향 없음</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매각 시: 추가기한 도과로 자산매각청구권 행사 시에도 잔여재산 분배에서 2종 지위 불변</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기타: 미배당분 처리 별도 협의(제5.3조), 매각청구는 매각 완료 시까지 가능(제5.4조), 매도기한 15일 통일</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 (1/1)</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KLI 제1·2종 매입확약 공문(안), 매도확약 공문(안), 주주간계약서 BKL v30.5 markup(2026-10-02, 최종) 제2.5·3·4조, 투자자 송부 메일(10/2, 확약서 발행회사 기명날인·매도기한 15일 통일). 본 검토는 내부 검토이며 외부 법무법인 확인 필요.</a:t>
            </a:r>
          </a:p>
        </p:txBody>
      </p:sp>
      <p:sp>
        <p:nvSpPr>
          <p:cNvPr id="17" name="TextBox 16"/>
          <p:cNvSpPr txBox="1"/>
          <p:nvPr/>
        </p:nvSpPr>
        <p:spPr>
          <a:xfrm>
            <a:off x="7534656" y="128016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sp>
        <p:nvSpPr>
          <p:cNvPr id="18" name="Rectangle 17"/>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9" name="Rectangle 18"/>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20" name="Connector 19"/>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21208" y="1737360"/>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확약 당사자</a:t>
            </a:r>
          </a:p>
        </p:txBody>
      </p:sp>
      <p:sp>
        <p:nvSpPr>
          <p:cNvPr id="22" name="TextBox 21"/>
          <p:cNvSpPr txBox="1"/>
          <p:nvPr/>
        </p:nvSpPr>
        <p:spPr>
          <a:xfrm>
            <a:off x="2029968" y="1792224"/>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매입확약: </a:t>
            </a:r>
            <a:r>
              <a:rPr sz="900" b="0">
                <a:solidFill>
                  <a:srgbClr val="1F1F1F"/>
                </a:solidFill>
                <a:latin typeface="KoPubWorld돋움체 Bold"/>
                <a:ea typeface="KoPubWorld돋움체 Bold"/>
                <a:cs typeface="KoPubWorld돋움체 Bold"/>
              </a:rPr>
              <a:t>코람코라이프인프라리츠 → 제1·2종 종류주주</a:t>
            </a:r>
            <a:r>
              <a:rPr sz="900" b="0">
                <a:solidFill>
                  <a:srgbClr val="1F1F1F"/>
                </a:solidFill>
                <a:latin typeface="KoPubWorld돋움체 Light"/>
                <a:ea typeface="KoPubWorld돋움체 Light"/>
                <a:cs typeface="KoPubWorld돋움체 Light"/>
              </a:rPr>
              <a:t> (매입확약서 날인 · 제출)</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매도확약: 종류주주 → KLI (셀다운 양수인 포함)</a:t>
            </a:r>
          </a:p>
        </p:txBody>
      </p:sp>
      <p:cxnSp>
        <p:nvCxnSpPr>
          <p:cNvPr id="23" name="Connector 22"/>
          <p:cNvCxnSpPr/>
          <p:nvPr/>
        </p:nvCxnSpPr>
        <p:spPr>
          <a:xfrm>
            <a:off x="521208" y="222453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21208" y="2224532"/>
            <a:ext cx="1417320" cy="1207643"/>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KLI 지분 확대</a:t>
            </a:r>
          </a:p>
          <a:p>
            <a:pPr algn="ctr"/>
            <a:r>
              <a:rPr sz="900" b="0">
                <a:solidFill>
                  <a:srgbClr val="1F1F1F"/>
                </a:solidFill>
                <a:latin typeface="KoPubWorld돋움체 Medium"/>
                <a:ea typeface="KoPubWorld돋움체 Medium"/>
                <a:cs typeface="KoPubWorld돋움체 Medium"/>
              </a:rPr>
              <a:t>일정</a:t>
            </a:r>
          </a:p>
        </p:txBody>
      </p:sp>
      <p:graphicFrame>
        <p:nvGraphicFramePr>
          <p:cNvPr id="25" name="Table 24"/>
          <p:cNvGraphicFramePr>
            <a:graphicFrameLocks noGrp="1"/>
          </p:cNvGraphicFramePr>
          <p:nvPr/>
        </p:nvGraphicFramePr>
        <p:xfrm>
          <a:off x="2029968" y="2279396"/>
          <a:ext cx="8156449" cy="856488"/>
        </p:xfrm>
        <a:graphic>
          <a:graphicData uri="http://schemas.openxmlformats.org/drawingml/2006/table">
            <a:tbl>
              <a:tblPr firstRow="0" bandRow="0">
                <a:tableStyleId>{5C22544A-7EE6-4342-B048-85BDC9FD1C3A}</a:tableStyleId>
              </a:tblPr>
              <a:tblGrid>
                <a:gridCol w="772716"/>
                <a:gridCol w="1631290"/>
                <a:gridCol w="2361077"/>
                <a:gridCol w="1888862"/>
                <a:gridCol w="1502504"/>
              </a:tblGrid>
              <a:tr h="420624">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’26.10.22 거래종결</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’27.10 (12개월)</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’28.10 (24개월)</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KLI 보유 합계</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FCE4D6"/>
                    </a:solidFill>
                  </a:tcPr>
                </a:tc>
              </a:tr>
              <a:tr h="435864">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KLI 취득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148 + 2-1종 160</a:t>
                      </a:r>
                    </a:p>
                    <a:p>
                      <a:pPr algn="ctr"/>
                      <a:r>
                        <a:rPr sz="800" b="0">
                          <a:solidFill>
                            <a:srgbClr val="1F1F1F"/>
                          </a:solidFill>
                          <a:latin typeface="KoPubWorld돋움체 Light"/>
                          <a:ea typeface="KoPubWorld돋움체 Light"/>
                          <a:cs typeface="KoPubWorld돋움체 Light"/>
                        </a:rPr>
                        <a:t>KLI 출자 308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340 매입</a:t>
                      </a:r>
                    </a:p>
                    <a:p>
                      <a:pPr algn="ctr"/>
                      <a:r>
                        <a:rPr sz="800" b="0">
                          <a:solidFill>
                            <a:srgbClr val="1F1F1F"/>
                          </a:solidFill>
                          <a:latin typeface="KoPubWorld돋움체 Light"/>
                          <a:ea typeface="KoPubWorld돋움체 Light"/>
                          <a:cs typeface="KoPubWorld돋움체 Light"/>
                        </a:rPr>
                        <a:t>(삼성 120 · 이지스K 100 · 기계설비 120)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240 매입</a:t>
                      </a:r>
                    </a:p>
                    <a:p>
                      <a:pPr algn="ctr"/>
                      <a:r>
                        <a:rPr sz="800" b="0">
                          <a:solidFill>
                            <a:srgbClr val="1F1F1F"/>
                          </a:solidFill>
                          <a:latin typeface="KoPubWorld돋움체 Light"/>
                          <a:ea typeface="KoPubWorld돋움체 Light"/>
                          <a:cs typeface="KoPubWorld돋움체 Light"/>
                        </a:rPr>
                        <a:t>(이지스3호 · 키움 · 애큐온 · MG)</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888 = 보통주 148</a:t>
                      </a:r>
                    </a:p>
                    <a:p>
                      <a:pPr algn="ctr"/>
                      <a:r>
                        <a:rPr sz="800" b="0">
                          <a:solidFill>
                            <a:srgbClr val="1F1F1F"/>
                          </a:solidFill>
                          <a:latin typeface="KoPubWorld돋움체 Light"/>
                          <a:ea typeface="KoPubWorld돋움체 Light"/>
                          <a:cs typeface="KoPubWorld돋움체 Light"/>
                        </a:rPr>
                        <a:t>+ 1종 240 + 2종 500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
        <p:nvSpPr>
          <p:cNvPr id="26" name="TextBox 25"/>
          <p:cNvSpPr txBox="1"/>
          <p:nvPr/>
        </p:nvSpPr>
        <p:spPr>
          <a:xfrm>
            <a:off x="2029968" y="3172460"/>
            <a:ext cx="8156448" cy="204851"/>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850" b="0">
                <a:solidFill>
                  <a:srgbClr val="1F1F1F"/>
                </a:solidFill>
                <a:latin typeface="KoPubWorld돋움체 Light"/>
                <a:ea typeface="KoPubWorld돋움체 Light"/>
                <a:cs typeface="KoPubWorld돋움체 Light"/>
              </a:rPr>
              <a:t>KLI 지분: 거래종결 시 의결권 71.4% → 1년차 2종 매입 → 2년차 1종 매입 · 3종은 KLI 매입 대상 아님 (제5조 유상감자로 회수)</a:t>
            </a:r>
          </a:p>
        </p:txBody>
      </p:sp>
      <p:cxnSp>
        <p:nvCxnSpPr>
          <p:cNvPr id="27" name="Connector 26"/>
          <p:cNvCxnSpPr/>
          <p:nvPr/>
        </p:nvCxnSpPr>
        <p:spPr>
          <a:xfrm>
            <a:off x="521208" y="3432175"/>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21208" y="3432175"/>
            <a:ext cx="1417320" cy="23743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매입 · 매도확약</a:t>
            </a:r>
          </a:p>
          <a:p>
            <a:pPr algn="ctr"/>
            <a:r>
              <a:rPr sz="900" b="0">
                <a:solidFill>
                  <a:srgbClr val="1F1F1F"/>
                </a:solidFill>
                <a:latin typeface="KoPubWorld돋움체 Medium"/>
                <a:ea typeface="KoPubWorld돋움체 Medium"/>
                <a:cs typeface="KoPubWorld돋움체 Medium"/>
              </a:rPr>
              <a:t>주요 조건</a:t>
            </a:r>
          </a:p>
          <a:p>
            <a:pPr algn="ctr"/>
            <a:r>
              <a:rPr sz="750" b="0">
                <a:solidFill>
                  <a:srgbClr val="595959"/>
                </a:solidFill>
                <a:latin typeface="KoPubWorld돋움체 Light"/>
                <a:ea typeface="KoPubWorld돋움체 Light"/>
                <a:cs typeface="KoPubWorld돋움체 Light"/>
              </a:rPr>
              <a:t>(제3·4조)</a:t>
            </a:r>
          </a:p>
        </p:txBody>
      </p:sp>
      <p:graphicFrame>
        <p:nvGraphicFramePr>
          <p:cNvPr id="29" name="Table 28"/>
          <p:cNvGraphicFramePr>
            <a:graphicFrameLocks noGrp="1"/>
          </p:cNvGraphicFramePr>
          <p:nvPr/>
        </p:nvGraphicFramePr>
        <p:xfrm>
          <a:off x="2029968" y="3487039"/>
          <a:ext cx="8156448" cy="2264664"/>
        </p:xfrm>
        <a:graphic>
          <a:graphicData uri="http://schemas.openxmlformats.org/drawingml/2006/table">
            <a:tbl>
              <a:tblPr firstRow="0" bandRow="0">
                <a:tableStyleId>{5C22544A-7EE6-4342-B048-85BDC9FD1C3A}</a:tableStyleId>
              </a:tblPr>
              <a:tblGrid>
                <a:gridCol w="1042213"/>
                <a:gridCol w="2492248"/>
                <a:gridCol w="2401621"/>
                <a:gridCol w="2220366"/>
              </a:tblGrid>
              <a:tr h="365760">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제1종 매입확약 (KLI → 종류주주)</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제2종 매입확약 (KLI → 종류주주)</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매도확약 (종류주주 → KLI)</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대상 · 금액</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1-1종 960,000주 · 240억원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2종 1,360,000주 · 340억원</a:t>
                      </a:r>
                    </a:p>
                    <a:p>
                      <a:pPr algn="l"/>
                      <a:r>
                        <a:rPr sz="800" b="0">
                          <a:solidFill>
                            <a:srgbClr val="1F1F1F"/>
                          </a:solidFill>
                          <a:latin typeface="KoPubWorld돋움체 Light"/>
                          <a:ea typeface="KoPubWorld돋움체 Light"/>
                          <a:cs typeface="KoPubWorld돋움체 Light"/>
                        </a:rPr>
                        <a:t>(KLI 보유 2-1종 제외)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보유 종류주식 전부</a:t>
                      </a:r>
                    </a:p>
                    <a:p>
                      <a:pPr algn="l"/>
                      <a:r>
                        <a:rPr sz="800" b="0">
                          <a:solidFill>
                            <a:srgbClr val="1F1F1F"/>
                          </a:solidFill>
                          <a:latin typeface="KoPubWorld돋움체 Light"/>
                          <a:ea typeface="KoPubWorld돋움체 Light"/>
                          <a:cs typeface="KoPubWorld돋움체 Light"/>
                        </a:rPr>
                        <a:t>(셀다운 양수인 포함)</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기한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발행일부터 24개월 응당일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발행일부터 12개월 응당일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KLI 서면 요청일부터 15일 내</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불이행 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미매입잔액 연 5.0% 지연손해금</a:t>
                      </a:r>
                    </a:p>
                    <a:p>
                      <a:pPr algn="l"/>
                      <a:r>
                        <a:rPr sz="800" b="0">
                          <a:solidFill>
                            <a:srgbClr val="1F1F1F"/>
                          </a:solidFill>
                          <a:latin typeface="KoPubWorld돋움체 Light"/>
                          <a:ea typeface="KoPubWorld돋움체 Light"/>
                          <a:cs typeface="KoPubWorld돋움체 Light"/>
                        </a:rPr>
                        <a:t>매입의무 존속</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연 3.0% 지연이자 + 위약벌 20%</a:t>
                      </a:r>
                    </a:p>
                    <a:p>
                      <a:pPr algn="l"/>
                      <a:r>
                        <a:rPr sz="800" b="0">
                          <a:solidFill>
                            <a:srgbClr val="1F1F1F"/>
                          </a:solidFill>
                          <a:latin typeface="KoPubWorld돋움체 Light"/>
                          <a:ea typeface="KoPubWorld돋움체 Light"/>
                          <a:cs typeface="KoPubWorld돋움체 Light"/>
                        </a:rPr>
                        <a:t>매입의무 존속</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1종 연 5.0% / 2종 연 3.0%+20%</a:t>
                      </a:r>
                    </a:p>
                    <a:p>
                      <a:pPr algn="l"/>
                      <a:r>
                        <a:rPr sz="800" b="0">
                          <a:solidFill>
                            <a:srgbClr val="1F1F1F"/>
                          </a:solidFill>
                          <a:latin typeface="KoPubWorld돋움체 Light"/>
                          <a:ea typeface="KoPubWorld돋움체 Light"/>
                          <a:cs typeface="KoPubWorld돋움체 Light"/>
                        </a:rPr>
                        <a:t>매도의무 존속</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5864">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선행조건</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영업인가 · 소유권 취득, 완전한 소유권 · 부담 부존재</a:t>
                      </a:r>
                    </a:p>
                    <a:p>
                      <a:pPr algn="l"/>
                      <a:r>
                        <a:rPr sz="800" b="0">
                          <a:solidFill>
                            <a:srgbClr val="1F1F1F"/>
                          </a:solidFill>
                          <a:latin typeface="KoPubWorld돋움체 Light"/>
                          <a:ea typeface="KoPubWorld돋움체 Light"/>
                          <a:cs typeface="KoPubWorld돋움체 Light"/>
                        </a:rPr>
                        <a:t>매도확약서 제출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(좌 동)</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KLI의 보유주식 전부 매도 요청</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배당 정산 · 제출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매입완료일에 미수령 누적배당 정산</a:t>
                      </a:r>
                    </a:p>
                    <a:p>
                      <a:pPr algn="l"/>
                      <a:r>
                        <a:rPr sz="800" b="0">
                          <a:solidFill>
                            <a:srgbClr val="1F1F1F"/>
                          </a:solidFill>
                          <a:latin typeface="KoPubWorld돋움체 Light"/>
                          <a:ea typeface="KoPubWorld돋움체 Light"/>
                          <a:cs typeface="KoPubWorld돋움체 Light"/>
                        </a:rPr>
                        <a:t>주주간계약 체결일(10/16) 제출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(좌 동)</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인수인 체결일 / 셀다운 양수인 완결 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cxnSp>
        <p:nvCxnSpPr>
          <p:cNvPr id="30" name="Connector 29"/>
          <p:cNvCxnSpPr/>
          <p:nvPr/>
        </p:nvCxnSpPr>
        <p:spPr>
          <a:xfrm>
            <a:off x="521208" y="5806567"/>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1410509" y="2008568"/>
            <a:ext cx="2262141" cy="3236602"/>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6332237" y="2018109"/>
            <a:ext cx="2289982" cy="323660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21" name="TextBox 20"/>
          <p:cNvSpPr txBox="1"/>
          <p:nvPr/>
        </p:nvSpPr>
        <p:spPr>
          <a:xfrm>
            <a:off x="7534656" y="5230368"/>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graphicFrame>
        <p:nvGraphicFramePr>
          <p:cNvPr id="22" name="Table 21"/>
          <p:cNvGraphicFramePr>
            <a:graphicFrameLocks noGrp="1"/>
          </p:cNvGraphicFramePr>
          <p:nvPr/>
        </p:nvGraphicFramePr>
        <p:xfrm>
          <a:off x="521208" y="5440680"/>
          <a:ext cx="9756648" cy="1152144"/>
        </p:xfrm>
        <a:graphic>
          <a:graphicData uri="http://schemas.openxmlformats.org/drawingml/2006/table">
            <a:tbl>
              <a:tblPr firstRow="0" bandRow="0">
                <a:tableStyleId>{5C22544A-7EE6-4342-B048-85BDC9FD1C3A}</a:tableStyleId>
              </a:tblPr>
              <a:tblGrid>
                <a:gridCol w="1005840"/>
                <a:gridCol w="914400"/>
                <a:gridCol w="1371600"/>
                <a:gridCol w="914400"/>
                <a:gridCol w="5550408"/>
              </a:tblGrid>
              <a:tr h="274320">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트랜치</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확약기관</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배정 금액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확약서 주요내용</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38912">
                <a:tc rowSpan="2">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우선주</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제2종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삼성증권㈜</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Light"/>
                          <a:ea typeface="KoPubWorld돋움체 Light"/>
                          <a:cs typeface="KoPubWorld돋움체 Light"/>
                        </a:rPr>
                        <a:t>제2종 종류주식 인수 확약 · 미납입분 </a:t>
                      </a:r>
                      <a:r>
                        <a:rPr sz="850" b="0">
                          <a:solidFill>
                            <a:srgbClr val="1F1F1F"/>
                          </a:solidFill>
                          <a:latin typeface="KoPubWorld돋움체 Bold"/>
                          <a:ea typeface="KoPubWorld돋움체 Bold"/>
                          <a:cs typeface="KoPubWorld돋움체 Bold"/>
                        </a:rPr>
                        <a:t>잔액인수</a:t>
                      </a:r>
                      <a:r>
                        <a:rPr sz="850" b="0">
                          <a:solidFill>
                            <a:srgbClr val="1F1F1F"/>
                          </a:solidFill>
                          <a:latin typeface="KoPubWorld돋움체 Light"/>
                          <a:ea typeface="KoPubWorld돋움체 Light"/>
                          <a:cs typeface="KoPubWorld돋움체 Light"/>
                        </a:rPr>
                        <a:t> (SHA 제2.5조) — KLI 보유 2-1종 160억원 별도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제1종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우리투자증권㈜</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240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Light"/>
                          <a:ea typeface="KoPubWorld돋움체 Light"/>
                          <a:cs typeface="KoPubWorld돋움체 Light"/>
                        </a:rPr>
                        <a:t>제1-1종 종류주식 인수 확약 · 미납입분 </a:t>
                      </a:r>
                      <a:r>
                        <a:rPr sz="850" b="0">
                          <a:solidFill>
                            <a:srgbClr val="1F1F1F"/>
                          </a:solidFill>
                          <a:latin typeface="KoPubWorld돋움체 Bold"/>
                          <a:ea typeface="KoPubWorld돋움체 Bold"/>
                          <a:cs typeface="KoPubWorld돋움체 Bold"/>
                        </a:rPr>
                        <a:t>잔액인수</a:t>
                      </a:r>
                      <a:r>
                        <a:rPr sz="850" b="0">
                          <a:solidFill>
                            <a:srgbClr val="1F1F1F"/>
                          </a:solidFill>
                          <a:latin typeface="KoPubWorld돋움체 Light"/>
                          <a:ea typeface="KoPubWorld돋움체 Light"/>
                          <a:cs typeface="KoPubWorld돋움체 Light"/>
                        </a:rPr>
                        <a:t> (SHA 제2.5조)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
        <p:nvSpPr>
          <p:cNvPr id="23" name="TextBox 22"/>
          <p:cNvSpPr txBox="1"/>
          <p:nvPr/>
        </p:nvSpPr>
        <p:spPr>
          <a:xfrm>
            <a:off x="283464" y="6812280"/>
            <a:ext cx="10012680" cy="228600"/>
          </a:xfrm>
          <a:prstGeom prst="rect">
            <a:avLst/>
          </a:prstGeom>
          <a:noFill/>
        </p:spPr>
        <p:txBody>
          <a:bodyPr wrap="square" anchor="ctr" lIns="45720" rIns="45720" tIns="18288" bIns="18288">
            <a:spAutoFit/>
          </a:bodyPr>
          <a:lstStyle/>
          <a:p>
            <a:pPr algn="l"/>
            <a:r>
              <a:rPr sz="800" b="0">
                <a:solidFill>
                  <a:srgbClr val="1F1F1F"/>
                </a:solidFill>
                <a:latin typeface="KoPubWorld돋움체 Light"/>
                <a:ea typeface="KoPubWorld돋움체 Light"/>
                <a:cs typeface="KoPubWorld돋움체 Light"/>
              </a:rPr>
              <a:t>※ 출처: 각 사 인수확약서(LOC, 2026-07-31), 주주간계약서 BKL v30.5 markup(2026-10-02, 최종) 제2.1·2.5조. 배정 금액은 주주간계약 지분구성표 기준.</a:t>
            </a:r>
          </a:p>
        </p:txBody>
      </p:sp>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721946" cy="246221"/>
            <a:chOff x="455544" y="-592941"/>
            <a:chExt cx="1721946"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721946"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412840" cy="246221"/>
            <a:chOff x="455544" y="-592941"/>
            <a:chExt cx="2412840"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412840"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키움캐피탈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,MG</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5" name="그림 14">
            <a:extLst>
              <a:ext uri="{FF2B5EF4-FFF2-40B4-BE49-F238E27FC236}">
                <a16:creationId xmlns:a16="http://schemas.microsoft.com/office/drawing/2014/main" id="{5450106A-E606-97D5-D486-5054F4E124ED}"/>
              </a:ext>
            </a:extLst>
          </p:cNvPr>
          <p:cNvPicPr>
            <a:picLocks noChangeAspect="1"/>
          </p:cNvPicPr>
          <p:nvPr/>
        </p:nvPicPr>
        <p:blipFill>
          <a:blip r:embed="rId3"/>
          <a:stretch>
            <a:fillRect/>
          </a:stretch>
        </p:blipFill>
        <p:spPr>
          <a:xfrm>
            <a:off x="1038753" y="2123728"/>
            <a:ext cx="2223128" cy="3002440"/>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2" name="그림 21">
            <a:extLst>
              <a:ext uri="{FF2B5EF4-FFF2-40B4-BE49-F238E27FC236}">
                <a16:creationId xmlns:a16="http://schemas.microsoft.com/office/drawing/2014/main" id="{B709E1C2-F9BD-04BB-486D-FE9C86330752}"/>
              </a:ext>
            </a:extLst>
          </p:cNvPr>
          <p:cNvPicPr>
            <a:picLocks noChangeAspect="1"/>
          </p:cNvPicPr>
          <p:nvPr/>
        </p:nvPicPr>
        <p:blipFill>
          <a:blip r:embed="rId4"/>
          <a:stretch>
            <a:fillRect/>
          </a:stretch>
        </p:blipFill>
        <p:spPr>
          <a:xfrm>
            <a:off x="7223672" y="2486674"/>
            <a:ext cx="1951120" cy="2653144"/>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77266239-DA85-5A3E-CE25-596BDC3E800A}"/>
              </a:ext>
            </a:extLst>
          </p:cNvPr>
          <p:cNvPicPr>
            <a:picLocks noChangeAspect="1"/>
          </p:cNvPicPr>
          <p:nvPr/>
        </p:nvPicPr>
        <p:blipFill>
          <a:blip r:embed="rId5"/>
          <a:stretch>
            <a:fillRect/>
          </a:stretch>
        </p:blipFill>
        <p:spPr>
          <a:xfrm>
            <a:off x="5849760" y="2121337"/>
            <a:ext cx="2042260" cy="2770938"/>
          </a:xfrm>
          <a:prstGeom prst="rect">
            <a:avLst/>
          </a:prstGeom>
          <a:ln>
            <a:solidFill>
              <a:schemeClr val="bg1">
                <a:lumMod val="85000"/>
              </a:schemeClr>
            </a:solidFill>
          </a:ln>
          <a:effectLst>
            <a:outerShdw blurRad="50800" dist="38100" dir="2700000" algn="tl" rotWithShape="0">
              <a:prstClr val="black">
                <a:alpha val="40000"/>
              </a:prstClr>
            </a:outerShdw>
          </a:effectLst>
        </p:spPr>
      </p:pic>
      <p:sp>
        <p:nvSpPr>
          <p:cNvPr id="23" name="TextBox 22"/>
          <p:cNvSpPr txBox="1"/>
          <p:nvPr/>
        </p:nvSpPr>
        <p:spPr>
          <a:xfrm>
            <a:off x="7534656" y="5230368"/>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graphicFrame>
        <p:nvGraphicFramePr>
          <p:cNvPr id="24" name="Table 23"/>
          <p:cNvGraphicFramePr>
            <a:graphicFrameLocks noGrp="1"/>
          </p:cNvGraphicFramePr>
          <p:nvPr/>
        </p:nvGraphicFramePr>
        <p:xfrm>
          <a:off x="521208" y="5440680"/>
          <a:ext cx="9756648" cy="1152144"/>
        </p:xfrm>
        <a:graphic>
          <a:graphicData uri="http://schemas.openxmlformats.org/drawingml/2006/table">
            <a:tbl>
              <a:tblPr firstRow="0" bandRow="0">
                <a:tableStyleId>{5C22544A-7EE6-4342-B048-85BDC9FD1C3A}</a:tableStyleId>
              </a:tblPr>
              <a:tblGrid>
                <a:gridCol w="1005840"/>
                <a:gridCol w="914400"/>
                <a:gridCol w="1737360"/>
                <a:gridCol w="731520"/>
                <a:gridCol w="5367528"/>
              </a:tblGrid>
              <a:tr h="274320">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트랜치</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확약기관</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금액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확약서 주요내용</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38912">
                <a:tc rowSpan="2">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담보대출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선순위 Tr.A</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우리은행</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1,600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Bold"/>
                          <a:ea typeface="KoPubWorld돋움체 Bold"/>
                          <a:cs typeface="KoPubWorld돋움체 Bold"/>
                        </a:rPr>
                        <a:t>금융확약서(LOC) 확보 (9/21)</a:t>
                      </a:r>
                      <a:r>
                        <a:rPr sz="850" b="0">
                          <a:solidFill>
                            <a:srgbClr val="1F1F1F"/>
                          </a:solidFill>
                          <a:latin typeface="KoPubWorld돋움체 Light"/>
                          <a:ea typeface="KoPubWorld돋움체 Light"/>
                          <a:cs typeface="KoPubWorld돋움체 Light"/>
                        </a:rPr>
                        <a:t> · 금리 4.78%, 수수료 1.45% (All-in 5.50%)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중순위 Tr.B</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키움캐피탈 · MG캐피탈 등</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380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Bold"/>
                          <a:ea typeface="KoPubWorld돋움체 Bold"/>
                          <a:cs typeface="KoPubWorld돋움체 Bold"/>
                        </a:rPr>
                        <a:t>LOC 확보</a:t>
                      </a:r>
                      <a:r>
                        <a:rPr sz="850" b="0">
                          <a:solidFill>
                            <a:srgbClr val="1F1F1F"/>
                          </a:solidFill>
                          <a:latin typeface="KoPubWorld돋움체 Light"/>
                          <a:ea typeface="KoPubWorld돋움체 Light"/>
                          <a:cs typeface="KoPubWorld돋움체 Light"/>
                        </a:rPr>
                        <a:t> · 금리 6.00%, 수수료 1.00% (All-in 6.50%)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
        <p:nvSpPr>
          <p:cNvPr id="25" name="TextBox 24"/>
          <p:cNvSpPr txBox="1"/>
          <p:nvPr/>
        </p:nvSpPr>
        <p:spPr>
          <a:xfrm>
            <a:off x="283464" y="6812280"/>
            <a:ext cx="10012680" cy="228600"/>
          </a:xfrm>
          <a:prstGeom prst="rect">
            <a:avLst/>
          </a:prstGeom>
          <a:noFill/>
        </p:spPr>
        <p:txBody>
          <a:bodyPr wrap="square" anchor="ctr" lIns="45720" rIns="45720" tIns="18288" bIns="18288">
            <a:spAutoFit/>
          </a:bodyPr>
          <a:lstStyle/>
          <a:p>
            <a:pPr algn="l"/>
            <a:r>
              <a:rPr sz="800" b="0">
                <a:solidFill>
                  <a:srgbClr val="1F1F1F"/>
                </a:solidFill>
                <a:latin typeface="KoPubWorld돋움체 Light"/>
                <a:ea typeface="KoPubWorld돋움체 Light"/>
                <a:cs typeface="KoPubWorld돋움체 Light"/>
              </a:rPr>
              <a:t>※ 출처: 우리은행 금융확약서(2026-09-21), 키움캐피탈·MG캐피탈 확약서, 본 자료 Ⅱ. 투자계획 '재원조달'.</a:t>
            </a:r>
          </a:p>
        </p:txBody>
      </p:sp>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5" name="단위 9">
            <a:extLst>
              <a:ext uri="{FF2B5EF4-FFF2-40B4-BE49-F238E27FC236}">
                <a16:creationId xmlns:a16="http://schemas.microsoft.com/office/drawing/2014/main" id="{FEC03FB0-4CA8-874F-1FCC-130BA63F11D9}"/>
              </a:ext>
            </a:extLst>
          </p:cNvPr>
          <p:cNvSpPr txBox="1"/>
          <p:nvPr/>
        </p:nvSpPr>
        <p:spPr>
          <a:xfrm>
            <a:off x="7648997" y="1337372"/>
            <a:ext cx="2600000" cy="246221"/>
          </a:xfrm>
          <a:prstGeom prst="rect">
            <a:avLst/>
          </a:prstGeom>
          <a:noFill/>
        </p:spPr>
        <p:txBody>
          <a:bodyPr wrap="square" rtlCol="0" anchor="ctr">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억원)</a:t>
            </a:r>
            <a:endParaRPr lang="ko-KR" altLang="en-US" sz="1000" dirty="0">
              <a:latin typeface="KoPubWorld돋움체 Light" panose="00000300000000000000" pitchFamily="2" charset="-127"/>
              <a:ea typeface="KoPubWorld돋움체 Light" panose="00000300000000000000" pitchFamily="2" charset="-127"/>
            </a:endParaRPr>
          </a:p>
        </p:txBody>
      </p:sp>
      <p:graphicFrame>
        <p:nvGraphicFramePr>
          <p:cNvPr id="9006" name="Table 9005"/>
          <p:cNvGraphicFramePr>
            <a:graphicFrameLocks noGrp="1"/>
          </p:cNvGraphicFramePr>
          <p:nvPr/>
        </p:nvGraphicFramePr>
        <p:xfrm>
          <a:off x="521208" y="1600200"/>
          <a:ext cx="9756648" cy="2889504"/>
        </p:xfrm>
        <a:graphic>
          <a:graphicData uri="http://schemas.openxmlformats.org/drawingml/2006/table">
            <a:tbl>
              <a:tblPr firstRow="0" bandRow="0">
                <a:tableStyleId>{5C22544A-7EE6-4342-B048-85BDC9FD1C3A}</a:tableStyleId>
              </a:tblPr>
              <a:tblGrid>
                <a:gridCol w="1463040"/>
                <a:gridCol w="1463040"/>
                <a:gridCol w="1325880"/>
                <a:gridCol w="5504688"/>
              </a:tblGrid>
              <a:tr h="310896">
                <a:tc gridSpan="2">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 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금 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비고</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384048">
                <a:tc rowSpan="6">
                  <a:txBody>
                    <a:bodyPr wrap="square" anchor="ctr" lIns="45720" rIns="45720" tIns="18288" bIns="18288"/>
                    <a:lstStyle/>
                    <a:p>
                      <a:pPr algn="ctr"/>
                      <a:r>
                        <a:rPr sz="950" b="0">
                          <a:solidFill>
                            <a:srgbClr val="1F1F1F"/>
                          </a:solidFill>
                          <a:latin typeface="KoPubWorld돋움체 Medium"/>
                          <a:ea typeface="KoPubWorld돋움체 Medium"/>
                          <a:cs typeface="KoPubWorld돋움체 Medium"/>
                        </a:rPr>
                        <a:t>운용수익</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매입보수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13.5억원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매입금액 2,700억원</a:t>
                      </a:r>
                      <a:r>
                        <a:rPr sz="950" b="0" baseline="30000">
                          <a:solidFill>
                            <a:srgbClr val="1F1F1F"/>
                          </a:solidFill>
                          <a:latin typeface="KoPubWorld돋움체 Light"/>
                          <a:ea typeface="KoPubWorld돋움체 Light"/>
                          <a:cs typeface="KoPubWorld돋움체 Light"/>
                        </a:rPr>
                        <a:t>1)</a:t>
                      </a:r>
                      <a:r>
                        <a:rPr sz="950" b="0">
                          <a:solidFill>
                            <a:srgbClr val="1F1F1F"/>
                          </a:solidFill>
                          <a:latin typeface="KoPubWorld돋움체 Light"/>
                          <a:ea typeface="KoPubWorld돋움체 Light"/>
                          <a:cs typeface="KoPubWorld돋움체 Light"/>
                        </a:rPr>
                        <a:t>의 </a:t>
                      </a:r>
                      <a:r>
                        <a:rPr sz="950" b="0">
                          <a:solidFill>
                            <a:srgbClr val="1F1F1F"/>
                          </a:solidFill>
                          <a:latin typeface="KoPubWorld돋움체 Bold"/>
                          <a:ea typeface="KoPubWorld돋움체 Bold"/>
                          <a:cs typeface="KoPubWorld돋움체 Bold"/>
                        </a:rPr>
                        <a:t>0.5%</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84048">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운용보수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66.7억원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2,989억원 (매입장부금액의 </a:t>
                      </a:r>
                      <a:r>
                        <a:rPr sz="950" b="0">
                          <a:solidFill>
                            <a:srgbClr val="1F1F1F"/>
                          </a:solidFill>
                          <a:latin typeface="KoPubWorld돋움체 Bold"/>
                          <a:ea typeface="KoPubWorld돋움체 Bold"/>
                          <a:cs typeface="KoPubWorld돋움체 Bold"/>
                        </a:rPr>
                        <a:t>0.223%/연</a:t>
                      </a:r>
                      <a:r>
                        <a:rPr sz="950" b="0">
                          <a:solidFill>
                            <a:srgbClr val="1F1F1F"/>
                          </a:solidFill>
                          <a:latin typeface="KoPubWorld돋움체 Light"/>
                          <a:ea typeface="KoPubWorld돋움체 Light"/>
                          <a:cs typeface="KoPubWorld돋움체 Light"/>
                        </a:rPr>
                        <a:t>) x 운용기간 약 10년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Bold"/>
                          <a:ea typeface="KoPubWorld돋움체 Bold"/>
                          <a:cs typeface="KoPubWorld돋움체 Bold"/>
                        </a:rPr>
                        <a:t>고정보수(소계)</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r"/>
                      <a:r>
                        <a:rPr sz="950" b="0">
                          <a:solidFill>
                            <a:srgbClr val="1F1F1F"/>
                          </a:solidFill>
                          <a:latin typeface="KoPubWorld돋움체 Bold"/>
                          <a:ea typeface="KoPubWorld돋움체 Bold"/>
                          <a:cs typeface="KoPubWorld돋움체 Bold"/>
                        </a:rPr>
                        <a:t>80.2억원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solidFill>
                      <a:srgbClr val="F2F2F2"/>
                    </a:solidFill>
                  </a:tcPr>
                </a:tc>
              </a:tr>
              <a:tr h="5303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매각기본보수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18.8억원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T. Cap.Rate 4.89%, 사업기간 10년 가정</a:t>
                      </a:r>
                    </a:p>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매각금액의 </a:t>
                      </a:r>
                      <a:r>
                        <a:rPr sz="950" b="0">
                          <a:solidFill>
                            <a:srgbClr val="1F1F1F"/>
                          </a:solidFill>
                          <a:latin typeface="KoPubWorld돋움체 Bold"/>
                          <a:ea typeface="KoPubWorld돋움체 Bold"/>
                          <a:cs typeface="KoPubWorld돋움체 Bold"/>
                        </a:rPr>
                        <a:t>0.5%</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5303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매각성과보수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124.8억원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T. Cap.Rate 4.89%, 사업기간 10년 가정</a:t>
                      </a:r>
                    </a:p>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매각기본보수 차감후 이익(매각금액-매입장부금액-매각부대비용)의 </a:t>
                      </a:r>
                      <a:r>
                        <a:rPr sz="950" b="0">
                          <a:solidFill>
                            <a:srgbClr val="1F1F1F"/>
                          </a:solidFill>
                          <a:latin typeface="KoPubWorld돋움체 Bold"/>
                          <a:ea typeface="KoPubWorld돋움체 Bold"/>
                          <a:cs typeface="KoPubWorld돋움체 Bold"/>
                        </a:rPr>
                        <a:t>15%</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84048">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950" b="0">
                          <a:solidFill>
                            <a:srgbClr val="1F1F1F"/>
                          </a:solidFill>
                          <a:latin typeface="KoPubWorld돋움체 Bold"/>
                          <a:ea typeface="KoPubWorld돋움체 Bold"/>
                          <a:cs typeface="KoPubWorld돋움체 Bold"/>
                        </a:rPr>
                        <a:t>합계</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950" b="0">
                          <a:solidFill>
                            <a:srgbClr val="1F1F1F"/>
                          </a:solidFill>
                          <a:latin typeface="KoPubWorld돋움체 Bold"/>
                          <a:ea typeface="KoPubWorld돋움체 Bold"/>
                          <a:cs typeface="KoPubWorld돋움체 Bold"/>
                        </a:rPr>
                        <a:t>223.8억원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solidFill>
                      <a:srgbClr val="F2F2F2"/>
                    </a:solidFill>
                  </a:tcPr>
                </a:tc>
              </a:tr>
            </a:tbl>
          </a:graphicData>
        </a:graphic>
      </p:graphicFrame>
      <p:sp>
        <p:nvSpPr>
          <p:cNvPr id="9007" name="Rectangle 9006"/>
          <p:cNvSpPr/>
          <p:nvPr/>
        </p:nvSpPr>
        <p:spPr>
          <a:xfrm>
            <a:off x="521208" y="4535424"/>
            <a:ext cx="9756648"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50" b="0">
                <a:solidFill>
                  <a:srgbClr val="1F1F1F"/>
                </a:solidFill>
                <a:latin typeface="KoPubWorld돋움체 Light"/>
                <a:ea typeface="KoPubWorld돋움체 Light"/>
                <a:cs typeface="KoPubWorld돋움체 Light"/>
              </a:rPr>
              <a:t>1)  취득부대비용을 제외한 매입 금액</a:t>
            </a: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 투자</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투자설명자료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사업개요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유사사례 검토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적정 임대료 및 매매가</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Ⅱ. 투자계획</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 Milestone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투자수익률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대출가정 및 DSCR</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2566087"/>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Ⅲ. 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운용전략 (Re-Tenanting)</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상장리츠협업 CPM</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Ⅳ. 모리츠(KLI리츠) 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투자개요</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투자효과</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투자의사결정 수권절차</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회수전략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Ⅴ. 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주요 리스크 및 대응방안</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341350"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3,345억 대비 −19.3%</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349193"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59.8%</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4357036"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54" name="그룹 53">
            <a:extLst>
              <a:ext uri="{FF2B5EF4-FFF2-40B4-BE49-F238E27FC236}">
                <a16:creationId xmlns:a16="http://schemas.microsoft.com/office/drawing/2014/main" id="{46778238-3527-D098-3B29-ED25E17E6A09}"/>
              </a:ext>
            </a:extLst>
          </p:cNvPr>
          <p:cNvGrpSpPr/>
          <p:nvPr/>
        </p:nvGrpSpPr>
        <p:grpSpPr>
          <a:xfrm>
            <a:off x="8372722" y="2213297"/>
            <a:ext cx="1941736" cy="1206500"/>
            <a:chOff x="8372722"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837272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8372722" y="2213297"/>
              <a:ext cx="41983" cy="1206500"/>
            </a:xfrm>
            <a:prstGeom prst="rect">
              <a:avLst/>
            </a:prstGeom>
            <a:solidFill>
              <a:schemeClr val="accent6">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8" name="TextBox 27">
              <a:extLst>
                <a:ext uri="{FF2B5EF4-FFF2-40B4-BE49-F238E27FC236}">
                  <a16:creationId xmlns:a16="http://schemas.microsoft.com/office/drawing/2014/main" id="{A8F7D32F-6910-40A9-8518-41A351DFAC85}"/>
                </a:ext>
              </a:extLst>
            </p:cNvPr>
            <p:cNvSpPr txBox="1"/>
            <p:nvPr/>
          </p:nvSpPr>
          <p:spPr>
            <a:xfrm>
              <a:off x="8498673"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849867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16.18%</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8498673"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4.26 예상</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6364879"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10년 평균 추정 IRR 9.15%</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334,500백만원(매도인 제시 담보가)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nchor="ct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006" name="단위 28">
            <a:extLst>
              <a:ext uri="{FF2B5EF4-FFF2-40B4-BE49-F238E27FC236}">
                <a16:creationId xmlns:a16="http://schemas.microsoft.com/office/drawing/2014/main" id="{FEC03FB0-4CA8-874F-1FCC-130BA63F11D9}"/>
              </a:ext>
            </a:extLst>
          </p:cNvPr>
          <p:cNvSpPr txBox="1"/>
          <p:nvPr/>
        </p:nvSpPr>
        <p:spPr>
          <a:xfrm>
            <a:off x="7624307" y="489563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명, 분, 만원/평)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대형 물류센터는 본건을 포함해 9개소로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본건(28,869평, 2023년 준공)은 권역 내 최대 규모·최신축 자산으로 임대료 60,300원/평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pic>
        <p:nvPicPr>
          <p:cNvPr id="365" name="Picture 364" descr="mkt12_map.png"/>
          <p:cNvPicPr>
            <a:picLocks noChangeAspect="1"/>
          </p:cNvPicPr>
          <p:nvPr/>
        </p:nvPicPr>
        <p:blipFill>
          <a:blip r:embed="rId2"/>
          <a:stretch>
            <a:fillRect/>
          </a:stretch>
        </p:blipFill>
        <p:spPr>
          <a:xfrm>
            <a:off x="457200" y="2359152"/>
            <a:ext cx="3125153" cy="4160520"/>
          </a:xfrm>
          <a:prstGeom prst="rect">
            <a:avLst/>
          </a:prstGeom>
        </p:spPr>
      </p:pic>
      <p:graphicFrame>
        <p:nvGraphicFramePr>
          <p:cNvPr id="366" name="신규표"/>
          <p:cNvGraphicFramePr>
            <a:graphicFrameLocks noGrp="1"/>
          </p:cNvGraphicFramePr>
          <p:nvPr>
            <p:extLst>
              <p:ext uri="{D42A27DB-BD31-4B8C-83A1-F6EECF244321}">
                <p14:modId xmlns:p14="http://schemas.microsoft.com/office/powerpoint/2010/main" val="3578498046"/>
              </p:ext>
            </p:extLst>
          </p:nvPr>
        </p:nvGraphicFramePr>
        <p:xfrm>
          <a:off x="3703320" y="2359152"/>
          <a:ext cx="6537960" cy="4160423"/>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2759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852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지오영, 용마로지스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롯데제과의왕물류창고1)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부곡화물터미널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당정동물류창고1)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오비맥주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GS홈쇼핑군포신물류센터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 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p.12. Note) 과거 임대마케팅 가격 참고 (롯데제과·당정동)</a:t>
            </a: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7" name="단위 366">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08" name="단위 435">
            <a:extLst>
              <a:ext uri="{FF2B5EF4-FFF2-40B4-BE49-F238E27FC236}">
                <a16:creationId xmlns:a16="http://schemas.microsoft.com/office/drawing/2014/main" id="{FEC03FB0-4CA8-874F-1FCC-130BA63F11D9}"/>
              </a:ext>
            </a:extLst>
          </p:cNvPr>
          <p:cNvSpPr txBox="1"/>
          <p:nvPr/>
        </p:nvSpPr>
        <p:spPr>
          <a:xfrm>
            <a:off x="7633669" y="450307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1558870818"/>
              </p:ext>
            </p:extLst>
          </p:nvPr>
        </p:nvGraphicFramePr>
        <p:xfrm>
          <a:off x="457200" y="2359152"/>
          <a:ext cx="9785907" cy="4061079"/>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686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41985"/>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41985"/>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41985"/>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41985"/>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41985"/>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41985"/>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41985"/>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41985"/>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41985"/>
            <a:ext cx="914400" cy="81381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
        <p:nvSpPr>
          <p:cNvPr id="9009" name="단위 26">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개월)</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범위(891~1,014만원) 내</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1427780768"/>
              </p:ext>
            </p:extLst>
          </p:nvPr>
        </p:nvGraphicFramePr>
        <p:xfrm>
          <a:off x="457200" y="2359152"/>
          <a:ext cx="9785907" cy="4208018"/>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315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하남미사지구유통업무설비시설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Q3/2026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코크렙안양PFV</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[신설예정리츠]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 본건 Cap. Rate 5.16%는 시장조사 산정 기준</a:t>
            </a:r>
          </a:p>
        </p:txBody>
      </p:sp>
      <p:sp>
        <p:nvSpPr>
          <p:cNvPr id="9010" name="단위 22">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억원, 만원/평,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 (비교사례 보정 및 시장 상승률 2.5% 반영)</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적정 Eff.Rent는 2026년 기준 6.14만원/평으로 현 5.8만원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 891~1,014만원/평 (본건 935만원), 투자적정성 검토 Exit Cap 5.20%·매각대금 3,667억원</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en-US" altLang="ko-KR" sz="1100" b="1"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4157957742"/>
              </p:ext>
            </p:extLst>
          </p:nvPr>
        </p:nvGraphicFramePr>
        <p:xfrm>
          <a:off x="457200" y="2359152"/>
          <a:ext cx="9784080" cy="164592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 (비교사례 평균)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3069406213"/>
              </p:ext>
            </p:extLst>
          </p:nvPr>
        </p:nvGraphicFramePr>
        <p:xfrm>
          <a:off x="457200" y="4160520"/>
          <a:ext cx="9784080" cy="54864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4" name="Picture 23" descr="mkt52_range.png"/>
          <p:cNvPicPr>
            <a:picLocks noChangeAspect="1"/>
          </p:cNvPicPr>
          <p:nvPr/>
        </p:nvPicPr>
        <p:blipFill>
          <a:blip r:embed="rId2"/>
          <a:stretch>
            <a:fillRect/>
          </a:stretch>
        </p:blipFill>
        <p:spPr>
          <a:xfrm>
            <a:off x="457200" y="4997452"/>
            <a:ext cx="9784080" cy="1554693"/>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[Savills RE Strategy &amp; Solutions]. 임대료 상승은 예상치이며 확정된 것이 아님</a:t>
            </a:r>
          </a:p>
        </p:txBody>
      </p:sp>
      <p:sp>
        <p:nvSpPr>
          <p:cNvPr id="9011" name="단위 22">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2" name="단위 23">
            <a:extLst>
              <a:ext uri="{FF2B5EF4-FFF2-40B4-BE49-F238E27FC236}">
                <a16:creationId xmlns:a16="http://schemas.microsoft.com/office/drawing/2014/main" id="{FEC03FB0-4CA8-874F-1FCC-130BA63F11D9}"/>
              </a:ext>
            </a:extLst>
          </p:cNvPr>
          <p:cNvSpPr txBox="1"/>
          <p:nvPr/>
        </p:nvSpPr>
        <p:spPr>
          <a:xfrm>
            <a:off x="7641280" y="3914299"/>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1000906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3억원 및 여유현금 100억원 예정 / 수익률·보수는 재무모델 2026-09-30 기준 (Equity 전체 IRR: IM 탭 10.21%)</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Equity 전체 연평균 CoC 6.10%(매각차익 제외), IRR 10.21%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1종 CoC 7.00%·IRR 7.12%, 2종 CoC 7.50%·IRR 9.15%, 보통주 CoC 0.75%·IRR 16.18%</a:t>
            </a:r>
            <a:endParaRPr lang="en-US" altLang="ko-KR" sz="1600" dirty="0">
              <a:solidFill>
                <a:schemeClr val="tx1"/>
              </a:solidFill>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공모예외기관(KLI리츠)이 발기인으로 자리츠를 설립한 뒤 증자로 Equity를 모집하는 구조임</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tretch>
            <a:fillRect/>
          </a:stretch>
        </p:blipFill>
        <p:spPr>
          <a:xfrm>
            <a:off x="960154" y="2359152"/>
            <a:ext cx="8778240" cy="433442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 측</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이지스·키움 등 FI</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 등</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 매도인 제공(나라감정평가법인, `26.04.)</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KLI·FI</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397076112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[1.45%]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2694859468"/>
              </p:ext>
            </p:extLst>
          </p:nvPr>
        </p:nvGraphicFramePr>
        <p:xfrm>
          <a:off x="458887" y="4823953"/>
          <a:ext cx="9853513" cy="172974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16002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16002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금융확약서(LOC) 확보(9/21)</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키움캐피탈·MG캐피탈 등 LOC 확보</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이지스·키움·애큐온·MG 인수 (주주간계약 제2.1조)</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KLI 160억·FI 340억 인수, 12개월 내 KLI 매입</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무배당·무의결권 (발행가 23,000원)</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매도인 측 재투자 (주주간계약 제5조 유상감자)</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160020">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예정(10/16)</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160020">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nchor="ct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3" name="단위 46">
            <a:extLst>
              <a:ext uri="{FF2B5EF4-FFF2-40B4-BE49-F238E27FC236}">
                <a16:creationId xmlns:a16="http://schemas.microsoft.com/office/drawing/2014/main" id="{FEC03FB0-4CA8-874F-1FCC-130BA63F11D9}"/>
              </a:ext>
            </a:extLst>
          </p:cNvPr>
          <p:cNvSpPr txBox="1"/>
          <p:nvPr/>
        </p:nvSpPr>
        <p:spPr>
          <a:xfrm>
            <a:off x="4906146" y="212868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8229761" y="2555164"/>
            <a:ext cx="1800000"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209104274"/>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
        <p:nvSpPr>
          <p:cNvPr id="9014" name="단위 39">
            <a:extLst>
              <a:ext uri="{FF2B5EF4-FFF2-40B4-BE49-F238E27FC236}">
                <a16:creationId xmlns:a16="http://schemas.microsoft.com/office/drawing/2014/main" id="{FEC03FB0-4CA8-874F-1FCC-130BA63F11D9}"/>
              </a:ext>
            </a:extLst>
          </p:cNvPr>
          <p:cNvSpPr txBox="1"/>
          <p:nvPr/>
        </p:nvSpPr>
        <p:spPr>
          <a:xfrm>
            <a:off x="2741634" y="2371717"/>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백만원,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5" name="단위 17">
            <a:extLst>
              <a:ext uri="{FF2B5EF4-FFF2-40B4-BE49-F238E27FC236}">
                <a16:creationId xmlns:a16="http://schemas.microsoft.com/office/drawing/2014/main" id="{FEC03FB0-4CA8-874F-1FCC-130BA63F11D9}"/>
              </a:ext>
            </a:extLst>
          </p:cNvPr>
          <p:cNvSpPr txBox="1"/>
          <p:nvPr/>
        </p:nvSpPr>
        <p:spPr>
          <a:xfrm>
            <a:off x="2753666" y="483527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3627288703"/>
              </p:ext>
            </p:extLst>
          </p:nvPr>
        </p:nvGraphicFramePr>
        <p:xfrm>
          <a:off x="449263" y="2374900"/>
          <a:ext cx="9863140" cy="409433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27463">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7463">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7463">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NOI는 1년차 13,105 → 10년차 17,673백만원 증가 예상</a:t>
            </a: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3년차는 쿠팡 연장 Rent-Free 5개월 적용으로 일시 감소 / 매각가치 375,861백만원</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투자자별 수익률은 1종 IRR 7.12%, 2종 IRR 9.15%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연 7.0%·제2종 연 7.5% 누적배당 — 2종은 FY7~11 미지급분을 FY12~15에 누적 지급(3년차 Rent-Free 영향)</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13,643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49,268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재무모델 2026-09-30 IM 탭(B25:N51), FY는 반기</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3" name="그룹 12">
            <a:extLst>
              <a:ext uri="{FF2B5EF4-FFF2-40B4-BE49-F238E27FC236}">
                <a16:creationId xmlns:a16="http://schemas.microsoft.com/office/drawing/2014/main" id="{563F8D5C-F327-C657-FFF7-86E472BA5AE2}"/>
              </a:ext>
            </a:extLst>
          </p:cNvPr>
          <p:cNvGrpSpPr/>
          <p:nvPr/>
        </p:nvGrpSpPr>
        <p:grpSpPr>
          <a:xfrm>
            <a:off x="5346700" y="2267669"/>
            <a:ext cx="816249" cy="246221"/>
            <a:chOff x="458886" y="1467302"/>
            <a:chExt cx="816249" cy="246221"/>
          </a:xfrm>
        </p:grpSpPr>
        <p:sp>
          <p:nvSpPr>
            <p:cNvPr id="14" name="TextBox 13">
              <a:extLst>
                <a:ext uri="{FF2B5EF4-FFF2-40B4-BE49-F238E27FC236}">
                  <a16:creationId xmlns:a16="http://schemas.microsoft.com/office/drawing/2014/main" id="{622DECCC-ADA3-F238-AC10-DD1E844A3622}"/>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091F8A84-38F5-B37A-254F-D04DE7ACA6D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3종은 무배당·2년 후 원본 유상감자, 보통주 IRR 16.18%·E.M 4.26x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80%(47,070백만원)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662657576"/>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48,180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16.18%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4.26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2026-09-30 IM 탭(B77:N103). 3종 E.Multiple 0.00x는 배당·C.G 기준 산출값으로 FY4 원본 유상감자(100억원) 회수분 제외 (FY는 반기)</a:t>
            </a: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6" name="그룹 25">
            <a:extLst>
              <a:ext uri="{FF2B5EF4-FFF2-40B4-BE49-F238E27FC236}">
                <a16:creationId xmlns:a16="http://schemas.microsoft.com/office/drawing/2014/main" id="{27BB0D0E-07BE-9AC5-FABD-1C29FA05760B}"/>
              </a:ext>
            </a:extLst>
          </p:cNvPr>
          <p:cNvGrpSpPr/>
          <p:nvPr/>
        </p:nvGrpSpPr>
        <p:grpSpPr>
          <a:xfrm>
            <a:off x="5346700" y="2267669"/>
            <a:ext cx="595035" cy="246221"/>
            <a:chOff x="458886" y="1467302"/>
            <a:chExt cx="595035" cy="246221"/>
          </a:xfrm>
        </p:grpSpPr>
        <p:sp>
          <p:nvSpPr>
            <p:cNvPr id="28" name="TextBox 27">
              <a:extLst>
                <a:ext uri="{FF2B5EF4-FFF2-40B4-BE49-F238E27FC236}">
                  <a16:creationId xmlns:a16="http://schemas.microsoft.com/office/drawing/2014/main" id="{A5AD3CB7-C3B8-3961-9BF7-9E4F809E32F8}"/>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0" name="직사각형 29">
              <a:extLst>
                <a:ext uri="{FF2B5EF4-FFF2-40B4-BE49-F238E27FC236}">
                  <a16:creationId xmlns:a16="http://schemas.microsoft.com/office/drawing/2014/main" id="{479EF538-056F-BDC0-17C0-1E7402E99847}"/>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 우선주 누적 DSCR은 운영기간 최소 1.00 수준 (3년차 Rent-Free 영향, 미지급분은 이후 누적 지급)</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3238604285"/>
              </p:ext>
            </p:extLst>
          </p:nvPr>
        </p:nvGraphicFramePr>
        <p:xfrm>
          <a:off x="438150" y="2374900"/>
          <a:ext cx="9890860" cy="446088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6702">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nchor="ct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3614">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13,311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377,753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0629">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411057"/>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3113462032"/>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20.77%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257685054"/>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3.63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기간(24개월) 내 DSCR 최소치 / Base 열은 모델 시나리오 산출값으로 기준 Case(IM 탭)와 소폭 차이</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12400" y="2376495"/>
            <a:ext cx="18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5185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Re-Tenanting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전략</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_Upside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extLst>
              <p:ext uri="{D42A27DB-BD31-4B8C-83A1-F6EECF244321}">
                <p14:modId xmlns:p14="http://schemas.microsoft.com/office/powerpoint/2010/main" val="404515443"/>
              </p:ext>
            </p:extLst>
          </p:nvPr>
        </p:nvGraphicFramePr>
        <p:xfrm>
          <a:off x="489406" y="2591705"/>
          <a:ext cx="9745208" cy="2765838"/>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6.08%</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6.25%</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6.76%</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14" name="그룹 113">
            <a:extLst>
              <a:ext uri="{FF2B5EF4-FFF2-40B4-BE49-F238E27FC236}">
                <a16:creationId xmlns:a16="http://schemas.microsoft.com/office/drawing/2014/main" id="{0A386097-78F4-1275-2158-7E8085884735}"/>
              </a:ext>
            </a:extLst>
          </p:cNvPr>
          <p:cNvGrpSpPr/>
          <p:nvPr/>
        </p:nvGrpSpPr>
        <p:grpSpPr>
          <a:xfrm>
            <a:off x="509616" y="5447054"/>
            <a:ext cx="9912854" cy="1285111"/>
            <a:chOff x="457200" y="5375046"/>
            <a:chExt cx="9912854" cy="1285111"/>
          </a:xfrm>
        </p:grpSpPr>
        <p:sp>
          <p:nvSpPr>
            <p:cNvPr id="115" name="직사각형 114">
              <a:extLst>
                <a:ext uri="{FF2B5EF4-FFF2-40B4-BE49-F238E27FC236}">
                  <a16:creationId xmlns:a16="http://schemas.microsoft.com/office/drawing/2014/main" id="{84C0E087-78E9-A398-F34D-99952958F37F}"/>
                </a:ext>
              </a:extLst>
            </p:cNvPr>
            <p:cNvSpPr/>
            <p:nvPr/>
          </p:nvSpPr>
          <p:spPr>
            <a:xfrm>
              <a:off x="549676"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549676"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68822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68822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68822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10.3%</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777949"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777949"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2" name="TextBox 121">
              <a:extLst>
                <a:ext uri="{FF2B5EF4-FFF2-40B4-BE49-F238E27FC236}">
                  <a16:creationId xmlns:a16="http://schemas.microsoft.com/office/drawing/2014/main" id="{7B383488-CFB5-9B12-22DA-E107A93E948A}"/>
                </a:ext>
              </a:extLst>
            </p:cNvPr>
            <p:cNvSpPr txBox="1"/>
            <p:nvPr/>
          </p:nvSpPr>
          <p:spPr>
            <a:xfrm>
              <a:off x="291649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23" name="TextBox 122">
              <a:extLst>
                <a:ext uri="{FF2B5EF4-FFF2-40B4-BE49-F238E27FC236}">
                  <a16:creationId xmlns:a16="http://schemas.microsoft.com/office/drawing/2014/main" id="{49CBA120-36EC-317F-4E22-E55218BA13BF}"/>
                </a:ext>
              </a:extLst>
            </p:cNvPr>
            <p:cNvSpPr txBox="1"/>
            <p:nvPr/>
          </p:nvSpPr>
          <p:spPr>
            <a:xfrm>
              <a:off x="291649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16.6%</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16494" y="6345281"/>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4.4</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590236"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590236"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2878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2878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2878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11.5%</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18509"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18509"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2" name="TextBox 131">
              <a:extLst>
                <a:ext uri="{FF2B5EF4-FFF2-40B4-BE49-F238E27FC236}">
                  <a16:creationId xmlns:a16="http://schemas.microsoft.com/office/drawing/2014/main" id="{59422521-EB21-DBD7-2C73-2F93ACF2E228}"/>
                </a:ext>
              </a:extLst>
            </p:cNvPr>
            <p:cNvSpPr txBox="1"/>
            <p:nvPr/>
          </p:nvSpPr>
          <p:spPr>
            <a:xfrm>
              <a:off x="795705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33" name="TextBox 132">
              <a:extLst>
                <a:ext uri="{FF2B5EF4-FFF2-40B4-BE49-F238E27FC236}">
                  <a16:creationId xmlns:a16="http://schemas.microsoft.com/office/drawing/2014/main" id="{824A7FB0-45FF-C90E-0F47-B85E4D8716AF}"/>
                </a:ext>
              </a:extLst>
            </p:cNvPr>
            <p:cNvSpPr txBox="1"/>
            <p:nvPr/>
          </p:nvSpPr>
          <p:spPr>
            <a:xfrm>
              <a:off x="795705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19.3%</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7957054" y="6345281"/>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457200"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44054"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158188" y="5995798"/>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만료시점에 임대료 인상을 통해 자산의 </a:t>
            </a:r>
            <a:r>
              <a:rPr lang="en-US" altLang="ko-KR" sz="1600" dirty="0">
                <a:solidFill>
                  <a:schemeClr val="tx1"/>
                </a:solidFill>
              </a:rPr>
              <a:t>Upside Potential</a:t>
            </a:r>
            <a:r>
              <a:rPr lang="ko-KR" altLang="en-US" sz="1600" dirty="0">
                <a:solidFill>
                  <a:schemeClr val="tx1"/>
                </a:solidFill>
              </a:rPr>
              <a:t> 실현을 주 전략목표로 하여 운용예정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8"/>
                  </a:ext>
                </a:extLst>
              </a:tr>
              <a:tr h="273647">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0"/>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1"/>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4,103억원 (97,335,354주 × @4,215원, ’26.9월말 종가)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4,720억원 (제12기 결산 기준)</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3"/>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4270103635"/>
                  </a:ext>
                </a:extLst>
              </a:tr>
              <a:tr h="257691">
                <a:tc>
                  <a:txBody>
                    <a:bodyP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4"/>
                  </a:ext>
                </a:extLst>
              </a:tr>
              <a:tr h="681898">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5"/>
                  </a:ext>
                </a:extLst>
              </a:tr>
              <a:tr h="85303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6"/>
                  </a:ext>
                </a:extLst>
              </a:tr>
              <a:tr h="888813">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10.12%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9.39%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10.99%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
        <p:nvSpPr>
          <p:cNvPr id="25" name="TextBox 24"/>
          <p:cNvSpPr txBox="1"/>
          <p:nvPr/>
        </p:nvSpPr>
        <p:spPr>
          <a:xfrm>
            <a:off x="1889525" y="5700000"/>
            <a:ext cx="8208908" cy="175000"/>
          </a:xfrm>
          <a:prstGeom prst="rect">
            <a:avLst/>
          </a:prstGeom>
          <a:noFill/>
        </p:spPr>
        <p:txBody>
          <a:bodyPr wrap="square" lIns="0" tIns="0" rIns="0" bIns="0" anchor="ctr">
            <a:spAutoFit/>
          </a:bodyPr>
          <a:lstStyle/>
          <a:p>
            <a:pPr algn="r"/>
            <a:r>
              <a:rPr sz="700">
                <a:solidFill>
                  <a:srgbClr val="404040"/>
                </a:solidFill>
                <a:latin typeface="KoPubWorld돋움체 Light"/>
                <a:ea typeface="KoPubWorld돋움체 Light"/>
                <a:cs typeface="KoPubWorld돋움체 Light"/>
              </a:rPr>
              <a:t>※ 재무모델 2026-09-30 Sell-down 탭 (보통주 ’26.10 출자, 2종 ’27.10·1종 ’28.10 매입, ’36.10 매각) / CoC(매각차익 포함) = (운영배당+매각차익배분)÷투자원금÷보유기간</a:t>
            </a:r>
          </a:p>
        </p:txBody>
      </p:sp>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ctr"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154571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nvGraphicFramePr>
        <p:xfrm>
          <a:off x="4173358" y="2546173"/>
          <a:ext cx="6030613" cy="1699818"/>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41709">
                <a:tc>
                  <a:txBody>
                    <a:bodyPr/>
                    <a:lstStyle/>
                    <a:p>
                      <a:pPr algn="ctr"/>
                      <a:r>
                        <a:rPr sz="1000">
                          <a:solidFill>
                            <a:srgbClr val="000000"/>
                          </a:solidFill>
                          <a:latin typeface="KoPubWorld돋움체 Bold"/>
                          <a:ea typeface="KoPubWorld돋움체 Bold"/>
                          <a:cs typeface="KoPubWorld돋움체 Bold"/>
                        </a:rPr>
                        <a:t>내용</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자산수</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장부가(A)</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감정가</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매각가(B)</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회수원본</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비고(B/A)</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170877">
                <a:tc>
                  <a:txBody>
                    <a:bodyPr/>
                    <a:lstStyle/>
                    <a:p>
                      <a:pPr algn="ctr"/>
                      <a:r>
                        <a:rPr sz="1000" dirty="0">
                          <a:solidFill>
                            <a:srgbClr val="000000"/>
                          </a:solidFill>
                          <a:latin typeface="KoPubWorld돋움체 Medium"/>
                          <a:ea typeface="KoPubWorld돋움체 Medium"/>
                          <a:cs typeface="KoPubWorld돋움체 Medium"/>
                        </a:rPr>
                        <a:t>`21년도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1,130억원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73421764"/>
                  </a:ext>
                </a:extLst>
              </a:tr>
              <a:tr h="170877">
                <a:tc>
                  <a:txBody>
                    <a:bodyPr/>
                    <a:lstStyle/>
                    <a:p>
                      <a:pPr algn="ctr"/>
                      <a:r>
                        <a:rPr sz="1000">
                          <a:solidFill>
                            <a:srgbClr val="000000"/>
                          </a:solidFill>
                          <a:latin typeface="KoPubWorld돋움체 Medium"/>
                          <a:ea typeface="KoPubWorld돋움체 Medium"/>
                          <a:cs typeface="KoPubWorld돋움체 Medium"/>
                        </a:rPr>
                        <a:t>`22년도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4</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98513852"/>
                  </a:ext>
                </a:extLst>
              </a:tr>
              <a:tr h="170877">
                <a:tc>
                  <a:txBody>
                    <a:bodyPr/>
                    <a:lstStyle/>
                    <a:p>
                      <a:pPr algn="ctr"/>
                      <a:r>
                        <a:rPr sz="1000">
                          <a:solidFill>
                            <a:srgbClr val="000000"/>
                          </a:solidFill>
                          <a:latin typeface="KoPubWorld돋움체 Medium"/>
                          <a:ea typeface="KoPubWorld돋움체 Medium"/>
                          <a:cs typeface="KoPubWorld돋움체 Medium"/>
                        </a:rPr>
                        <a:t>`23년도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304억원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78755670"/>
                  </a:ext>
                </a:extLst>
              </a:tr>
              <a:tr h="170877">
                <a:tc>
                  <a:txBody>
                    <a:bodyPr/>
                    <a:lstStyle/>
                    <a:p>
                      <a:pPr algn="ctr"/>
                      <a:r>
                        <a:rPr sz="1000">
                          <a:solidFill>
                            <a:srgbClr val="000000"/>
                          </a:solidFill>
                          <a:latin typeface="KoPubWorld돋움체 Medium"/>
                          <a:ea typeface="KoPubWorld돋움체 Medium"/>
                          <a:cs typeface="KoPubWorld돋움체 Medium"/>
                        </a:rPr>
                        <a:t>`24년도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579억원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09678"/>
                  </a:ext>
                </a:extLst>
              </a:tr>
              <a:tr h="170877">
                <a:tc>
                  <a:txBody>
                    <a:bodyPr/>
                    <a:lstStyle/>
                    <a:p>
                      <a:pPr algn="ctr"/>
                      <a:r>
                        <a:rPr sz="1000">
                          <a:solidFill>
                            <a:srgbClr val="000000"/>
                          </a:solidFill>
                          <a:latin typeface="KoPubWorld돋움체 Medium"/>
                          <a:ea typeface="KoPubWorld돋움체 Medium"/>
                          <a:cs typeface="KoPubWorld돋움체 Medium"/>
                        </a:rPr>
                        <a:t>`25년도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74876725"/>
                  </a:ext>
                </a:extLst>
              </a:tr>
              <a:tr h="170877">
                <a:tc>
                  <a:txBody>
                    <a:bodyPr/>
                    <a:lstStyle/>
                    <a:p>
                      <a:pPr algn="ctr"/>
                      <a:r>
                        <a:rPr sz="1000">
                          <a:solidFill>
                            <a:srgbClr val="000000"/>
                          </a:solidFill>
                          <a:latin typeface="KoPubWorld돋움체 Medium"/>
                          <a:ea typeface="KoPubWorld돋움체 Medium"/>
                          <a:cs typeface="KoPubWorld돋움체 Medium"/>
                        </a:rPr>
                        <a:t>`26년도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734억원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39548024"/>
                  </a:ext>
                </a:extLst>
              </a:tr>
              <a:tr h="170877">
                <a:tc>
                  <a:txBody>
                    <a:bodyPr/>
                    <a:lstStyle/>
                    <a:p>
                      <a:pPr algn="ctr"/>
                      <a:r>
                        <a:rPr sz="1000" dirty="0">
                          <a:solidFill>
                            <a:srgbClr val="000000"/>
                          </a:solidFill>
                          <a:latin typeface="KoPubWorld돋움체 Medium"/>
                          <a:ea typeface="KoPubWorld돋움체 Medium"/>
                          <a:cs typeface="KoPubWorld돋움체 Medium"/>
                        </a:rPr>
                        <a:t>합 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49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2,759억원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3,197억원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3,292억원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777억원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extLst>
                  <a:ext uri="{0D108BD9-81ED-4DB2-BD59-A6C34878D82A}">
                    <a16:rowId xmlns:a16="http://schemas.microsoft.com/office/drawing/2014/main" val="2551182561"/>
                  </a:ext>
                </a:extLst>
              </a:tr>
              <a:tr h="170877">
                <a:tc>
                  <a:txBody>
                    <a:bodyPr/>
                    <a:lstStyle/>
                    <a:p>
                      <a:pPr algn="ctr"/>
                      <a:r>
                        <a:rPr sz="1000">
                          <a:solidFill>
                            <a:srgbClr val="000000"/>
                          </a:solidFill>
                          <a:latin typeface="KoPubWorld돋움체 Medium"/>
                          <a:ea typeface="KoPubWorld돋움체 Medium"/>
                          <a:cs typeface="KoPubWorld돋움체 Medium"/>
                        </a:rPr>
                        <a:t>`27년도~`28년도 </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15</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697억원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952억원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36% </a:t>
                      </a:r>
                      <a:r>
                        <a:rPr sz="1000" dirty="0" err="1">
                          <a:solidFill>
                            <a:srgbClr val="000000"/>
                          </a:solidFill>
                          <a:latin typeface="KoPubWorld돋움체 Light"/>
                          <a:ea typeface="KoPubWorld돋움체 Light"/>
                          <a:cs typeface="KoPubWorld돋움체 Light"/>
                        </a:rPr>
                        <a:t>매각</a:t>
                      </a:r>
                      <a:r>
                        <a:rPr sz="1000" dirty="0">
                          <a:solidFill>
                            <a:srgbClr val="000000"/>
                          </a:solidFill>
                          <a:latin typeface="KoPubWorld돋움체 Light"/>
                          <a:ea typeface="KoPubWorld돋움체 Light"/>
                          <a:cs typeface="KoPubWorld돋움체 Light"/>
                        </a:rPr>
                        <a:t> 시</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extLst>
                  <a:ext uri="{0D108BD9-81ED-4DB2-BD59-A6C34878D82A}">
                    <a16:rowId xmlns:a16="http://schemas.microsoft.com/office/drawing/2014/main" val="1514370672"/>
                  </a:ext>
                </a:extLst>
              </a:tr>
              <a:tr h="170877">
                <a:tc>
                  <a:txBody>
                    <a:bodyPr/>
                    <a:lstStyle/>
                    <a:p>
                      <a:pPr algn="ctr"/>
                      <a:r>
                        <a:rPr sz="1000">
                          <a:solidFill>
                            <a:srgbClr val="000000"/>
                          </a:solidFill>
                          <a:latin typeface="KoPubWorld돋움체 Medium"/>
                          <a:ea typeface="KoPubWorld돋움체 Medium"/>
                          <a:cs typeface="KoPubWorld돋움체 Medium"/>
                        </a:rPr>
                        <a:t>임차인 매각요청 자산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42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1,936억원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2,645억원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nchor="ctr">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lstStyle/>
                    <a:p>
                      <a:pPr algn="ctr"/>
                      <a:r>
                        <a:rPr sz="1000">
                          <a:solidFill>
                            <a:srgbClr val="000000"/>
                          </a:solidFill>
                          <a:latin typeface="KoPubWorld돋움체 Bold"/>
                          <a:ea typeface="KoPubWorld돋움체 Bold"/>
                          <a:cs typeface="KoPubWorld돋움체 Bold"/>
                        </a:rPr>
                        <a:t>매각 달성률</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36%</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20%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40%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50%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60%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70%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80%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90%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100%</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104098933"/>
                  </a:ext>
                </a:extLst>
              </a:tr>
              <a:tr h="204929">
                <a:tc>
                  <a:txBody>
                    <a:bodyPr/>
                    <a:lstStyle/>
                    <a:p>
                      <a:pPr algn="ctr"/>
                      <a:r>
                        <a:rPr sz="1000">
                          <a:solidFill>
                            <a:srgbClr val="000000"/>
                          </a:solidFill>
                          <a:latin typeface="KoPubWorld돋움체 Medium"/>
                          <a:ea typeface="KoPubWorld돋움체 Medium"/>
                          <a:cs typeface="KoPubWorld돋움체 Medium"/>
                        </a:rPr>
                        <a:t>DF타워 우선주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31175609"/>
                  </a:ext>
                </a:extLst>
              </a:tr>
              <a:tr h="204929">
                <a:tc>
                  <a:txBody>
                    <a:bodyPr/>
                    <a:lstStyle/>
                    <a:p>
                      <a:pPr algn="ctr"/>
                      <a:r>
                        <a:rPr sz="1000">
                          <a:solidFill>
                            <a:srgbClr val="000000"/>
                          </a:solidFill>
                          <a:latin typeface="KoPubWorld돋움체 Medium"/>
                          <a:ea typeface="KoPubWorld돋움체 Medium"/>
                          <a:cs typeface="KoPubWorld돋움체 Medium"/>
                        </a:rPr>
                        <a:t>주유소 회수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113억원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169억원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282억원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339억원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395억원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451억원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508억원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1546236798"/>
                  </a:ext>
                </a:extLst>
              </a:tr>
              <a:tr h="204929">
                <a:tc>
                  <a:txBody>
                    <a:bodyPr/>
                    <a:lstStyle/>
                    <a:p>
                      <a:pPr algn="ctr"/>
                      <a:r>
                        <a:rPr sz="1000">
                          <a:solidFill>
                            <a:srgbClr val="000000"/>
                          </a:solidFill>
                          <a:latin typeface="KoPubWorld돋움체 Medium"/>
                          <a:ea typeface="KoPubWorld돋움체 Medium"/>
                          <a:cs typeface="KoPubWorld돋움체 Medium"/>
                        </a:rPr>
                        <a:t>재투자 재원(합계)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578억원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429억원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542억원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655억원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712억원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937억원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nvGraphicFramePr>
        <p:xfrm>
          <a:off x="487841" y="2554628"/>
          <a:ext cx="2806869" cy="3027101"/>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387323">
                <a:tc>
                  <a:txBody>
                    <a:bodyPr/>
                    <a:lstStyle/>
                    <a:p>
                      <a:pPr algn="ctr"/>
                      <a:r>
                        <a:rPr sz="10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a:solidFill>
                            <a:srgbClr val="000000"/>
                          </a:solidFill>
                          <a:latin typeface="KoPubWorld돋움체 Bold"/>
                          <a:ea typeface="KoPubWorld돋움체 Bold"/>
                          <a:cs typeface="KoPubWorld돋움체 Bold"/>
                        </a:rPr>
                        <a:t>코람코더원강남1호 </a:t>
                      </a:r>
                      <a:r>
                        <a:rPr sz="1000" dirty="0" err="1">
                          <a:solidFill>
                            <a:srgbClr val="000000"/>
                          </a:solidFill>
                          <a:latin typeface="KoPubWorld돋움체 Bold"/>
                          <a:ea typeface="KoPubWorld돋움체 Bold"/>
                          <a:cs typeface="KoPubWorld돋움체 Bold"/>
                        </a:rPr>
                        <a:t>우선주</a:t>
                      </a:r>
                      <a:endParaRPr sz="1000" dirty="0">
                        <a:solidFill>
                          <a:srgbClr val="000000"/>
                        </a:solidFill>
                        <a:latin typeface="KoPubWorld돋움체 Bold"/>
                        <a:ea typeface="KoPubWorld돋움체 Bold"/>
                        <a:cs typeface="KoPubWorld돋움체 Bold"/>
                      </a:endParaRPr>
                    </a:p>
                    <a:p>
                      <a:pPr algn="ctr"/>
                      <a:r>
                        <a:rPr sz="1000" dirty="0">
                          <a:solidFill>
                            <a:srgbClr val="000000"/>
                          </a:solidFill>
                          <a:latin typeface="KoPubWorld돋움체 Bold"/>
                          <a:ea typeface="KoPubWorld돋움체 Bold"/>
                          <a:cs typeface="KoPubWorld돋움체 Bold"/>
                        </a:rPr>
                        <a:t>(</a:t>
                      </a:r>
                      <a:r>
                        <a:rPr sz="1000" dirty="0" err="1">
                          <a:solidFill>
                            <a:srgbClr val="000000"/>
                          </a:solidFill>
                          <a:latin typeface="KoPubWorld돋움체 Bold"/>
                          <a:ea typeface="KoPubWorld돋움체 Bold"/>
                          <a:cs typeface="KoPubWorld돋움체 Bold"/>
                        </a:rPr>
                        <a:t>DF타워</a:t>
                      </a:r>
                      <a:r>
                        <a:rPr sz="1000" dirty="0">
                          <a:solidFill>
                            <a:srgbClr val="000000"/>
                          </a:solidFill>
                          <a:latin typeface="KoPubWorld돋움체 Bold"/>
                          <a:ea typeface="KoPubWorld돋움체 Bold"/>
                          <a:cs typeface="KoPubWorld돋움체 Bold"/>
                        </a:rPr>
                        <a:t>)</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2421743362"/>
                  </a:ext>
                </a:extLst>
              </a:tr>
              <a:tr h="1182453">
                <a:tc>
                  <a:txBody>
                    <a:bodyPr/>
                    <a:lstStyle/>
                    <a:p>
                      <a:pPr algn="ctr"/>
                      <a:r>
                        <a:rPr sz="1000">
                          <a:solidFill>
                            <a:srgbClr val="000000"/>
                          </a:solidFill>
                          <a:latin typeface="KoPubWorld돋움체 Medium"/>
                          <a:ea typeface="KoPubWorld돋움체 Medium"/>
                          <a:cs typeface="KoPubWorld돋움체 Medium"/>
                        </a:rPr>
                        <a:t>사진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1888091"/>
                  </a:ext>
                </a:extLst>
              </a:tr>
              <a:tr h="156477">
                <a:tc>
                  <a:txBody>
                    <a:bodyPr/>
                    <a:lstStyle/>
                    <a:p>
                      <a:pPr algn="ctr"/>
                      <a:r>
                        <a:rPr sz="1000">
                          <a:solidFill>
                            <a:srgbClr val="000000"/>
                          </a:solidFill>
                          <a:latin typeface="KoPubWorld돋움체 Medium"/>
                          <a:ea typeface="KoPubWorld돋움체 Medium"/>
                          <a:cs typeface="KoPubWorld돋움체 Medium"/>
                        </a:rPr>
                        <a:t>소재지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서초구 강남대로 369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806366030"/>
                  </a:ext>
                </a:extLst>
              </a:tr>
              <a:tr h="156477">
                <a:tc>
                  <a:txBody>
                    <a:bodyPr/>
                    <a:lstStyle/>
                    <a:p>
                      <a:pPr algn="ctr"/>
                      <a:r>
                        <a:rPr sz="1000">
                          <a:solidFill>
                            <a:srgbClr val="000000"/>
                          </a:solidFill>
                          <a:latin typeface="KoPubWorld돋움체 Medium"/>
                          <a:ea typeface="KoPubWorld돋움체 Medium"/>
                          <a:cs typeface="KoPubWorld돋움체 Medium"/>
                        </a:rPr>
                        <a:t>대지면적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1,777.40㎡(538평)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800812181"/>
                  </a:ext>
                </a:extLst>
              </a:tr>
              <a:tr h="156477">
                <a:tc>
                  <a:txBody>
                    <a:bodyPr/>
                    <a:lstStyle/>
                    <a:p>
                      <a:pPr algn="ctr"/>
                      <a:r>
                        <a:rPr sz="1000">
                          <a:solidFill>
                            <a:srgbClr val="000000"/>
                          </a:solidFill>
                          <a:latin typeface="KoPubWorld돋움체 Medium"/>
                          <a:ea typeface="KoPubWorld돋움체 Medium"/>
                          <a:cs typeface="KoPubWorld돋움체 Medium"/>
                        </a:rPr>
                        <a:t>연면적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29,916.06㎡(9,050평)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519960407"/>
                  </a:ext>
                </a:extLst>
              </a:tr>
              <a:tr h="156477">
                <a:tc>
                  <a:txBody>
                    <a:bodyPr/>
                    <a:lstStyle/>
                    <a:p>
                      <a:pPr algn="ctr"/>
                      <a:r>
                        <a:rPr sz="1000">
                          <a:solidFill>
                            <a:srgbClr val="000000"/>
                          </a:solidFill>
                          <a:latin typeface="KoPubWorld돋움체 Medium"/>
                          <a:ea typeface="KoPubWorld돋움체 Medium"/>
                          <a:cs typeface="KoPubWorld돋움체 Medium"/>
                        </a:rPr>
                        <a:t>주요 임차인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두나무(89%)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949403113"/>
                  </a:ext>
                </a:extLst>
              </a:tr>
              <a:tr h="156477">
                <a:tc>
                  <a:txBody>
                    <a:bodyPr/>
                    <a:lstStyle/>
                    <a:p>
                      <a:pPr algn="ctr"/>
                      <a:r>
                        <a:rPr sz="1000">
                          <a:solidFill>
                            <a:srgbClr val="000000"/>
                          </a:solidFill>
                          <a:latin typeface="KoPubWorld돋움체 Medium"/>
                          <a:ea typeface="KoPubWorld돋움체 Medium"/>
                          <a:cs typeface="KoPubWorld돋움체 Medium"/>
                        </a:rPr>
                        <a:t>WALE</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3.5년</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5031305"/>
                  </a:ext>
                </a:extLst>
              </a:tr>
              <a:tr h="156477">
                <a:tc>
                  <a:txBody>
                    <a:bodyPr/>
                    <a:lstStyle/>
                    <a:p>
                      <a:pPr algn="ctr"/>
                      <a:r>
                        <a:rPr sz="1000">
                          <a:solidFill>
                            <a:srgbClr val="000000"/>
                          </a:solidFill>
                          <a:latin typeface="KoPubWorld돋움체 Medium"/>
                          <a:ea typeface="KoPubWorld돋움체 Medium"/>
                          <a:cs typeface="KoPubWorld돋움체 Medium"/>
                        </a:rPr>
                        <a:t>공실률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6372306"/>
                  </a:ext>
                </a:extLst>
              </a:tr>
              <a:tr h="156477">
                <a:tc>
                  <a:txBody>
                    <a:bodyPr/>
                    <a:lstStyle/>
                    <a:p>
                      <a:pPr algn="ctr"/>
                      <a:r>
                        <a:rPr lang="ko-KR" altLang="en-US" sz="1000" dirty="0">
                          <a:solidFill>
                            <a:srgbClr val="000000"/>
                          </a:solidFill>
                          <a:latin typeface="KoPubWorld돋움체 Medium"/>
                          <a:ea typeface="KoPubWorld돋움체 Medium"/>
                          <a:cs typeface="KoPubWorld돋움체 Medium"/>
                        </a:rPr>
                        <a:t>사업계획 만기</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’27.05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4088463193"/>
                  </a:ext>
                </a:extLst>
              </a:tr>
              <a:tr h="156477">
                <a:tc>
                  <a:txBody>
                    <a:bodyPr/>
                    <a:lstStyle/>
                    <a:p>
                      <a:pPr algn="ctr"/>
                      <a:r>
                        <a:rPr sz="1000">
                          <a:solidFill>
                            <a:srgbClr val="000000"/>
                          </a:solidFill>
                          <a:latin typeface="KoPubWorld돋움체 Medium"/>
                          <a:ea typeface="KoPubWorld돋움체 Medium"/>
                          <a:cs typeface="KoPubWorld돋움체 Medium"/>
                        </a:rPr>
                        <a:t>투자금액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986638306"/>
                  </a:ext>
                </a:extLst>
              </a:tr>
              <a:tr h="156477">
                <a:tc>
                  <a:txBody>
                    <a:bodyPr/>
                    <a:lstStyle/>
                    <a:p>
                      <a:pPr algn="ctr"/>
                      <a:r>
                        <a:rPr sz="1000">
                          <a:solidFill>
                            <a:srgbClr val="000000"/>
                          </a:solidFill>
                          <a:latin typeface="KoPubWorld돋움체 Medium"/>
                          <a:ea typeface="KoPubWorld돋움체 Medium"/>
                          <a:cs typeface="KoPubWorld돋움체 Medium"/>
                        </a:rPr>
                        <a:t>평가금액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392억원 (’25.11말,NICE P&amp;I)</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6827" y="2987749"/>
            <a:ext cx="1426831" cy="1060499"/>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67669"/>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매각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172" name="TextBox 171">
            <a:extLst>
              <a:ext uri="{FF2B5EF4-FFF2-40B4-BE49-F238E27FC236}">
                <a16:creationId xmlns:a16="http://schemas.microsoft.com/office/drawing/2014/main" id="{3C4DCE3E-6F59-66A9-7BF8-61C3ED03218C}"/>
              </a:ext>
            </a:extLst>
          </p:cNvPr>
          <p:cNvSpPr txBox="1"/>
          <p:nvPr/>
        </p:nvSpPr>
        <p:spPr>
          <a:xfrm>
            <a:off x="8403971" y="2324869"/>
            <a:ext cx="1800000"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억원, %)</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86166" y="4480764"/>
            <a:ext cx="1121269" cy="415498"/>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36%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
        <p:nvSpPr>
          <p:cNvPr id="10" name="사각형: 둥근 모서리 9">
            <a:extLst>
              <a:ext uri="{FF2B5EF4-FFF2-40B4-BE49-F238E27FC236}">
                <a16:creationId xmlns:a16="http://schemas.microsoft.com/office/drawing/2014/main" id="{DBA0BB52-3F5F-9295-341C-9E22860E1B6E}"/>
              </a:ext>
            </a:extLst>
          </p:cNvPr>
          <p:cNvSpPr/>
          <p:nvPr/>
        </p:nvSpPr>
        <p:spPr>
          <a:xfrm>
            <a:off x="471756" y="230083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회수</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(5,000억원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2/25 </a:t>
                      </a:r>
                      <a:r>
                        <a:rPr sz="900" dirty="0" err="1">
                          <a:solidFill>
                            <a:srgbClr val="000000"/>
                          </a:solidFill>
                          <a:latin typeface="KoPubWorld돋움체 Light"/>
                          <a:ea typeface="KoPubWorld돋움체 Light"/>
                          <a:cs typeface="KoPubWorld돋움체 Light"/>
                        </a:rPr>
                        <a:t>승인완료</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(1,500억원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1/27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사모사채</a:t>
                      </a:r>
                      <a:r>
                        <a:rPr sz="900" dirty="0">
                          <a:solidFill>
                            <a:srgbClr val="000000"/>
                          </a:solidFill>
                          <a:latin typeface="KoPubWorld돋움체 Light"/>
                          <a:ea typeface="KoPubWorld돋움체 Light"/>
                          <a:cs typeface="KoPubWorld돋움체 Light"/>
                        </a:rPr>
                        <a:t>(140억원) </a:t>
                      </a:r>
                      <a:r>
                        <a:rPr sz="900" dirty="0" err="1">
                          <a:solidFill>
                            <a:srgbClr val="000000"/>
                          </a:solidFill>
                          <a:latin typeface="KoPubWorld돋움체 Light"/>
                          <a:ea typeface="KoPubWorld돋움체 Light"/>
                          <a:cs typeface="KoPubWorld돋움체 Light"/>
                        </a:rPr>
                        <a:t>발행</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인수계약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10/16(E)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99334124"/>
                  </a:ext>
                </a:extLst>
              </a:tr>
              <a:tr h="252000">
                <a:tc>
                  <a:txBody>
                    <a:bodyPr/>
                    <a:lstStyle/>
                    <a:p>
                      <a:pPr algn="ctr"/>
                      <a:r>
                        <a:rPr sz="900">
                          <a:solidFill>
                            <a:srgbClr val="000000"/>
                          </a:solidFill>
                          <a:latin typeface="KoPubWorld돋움체 Medium"/>
                          <a:ea typeface="KoPubWorld돋움체 Medium"/>
                          <a:cs typeface="KoPubWorld돋움체 Medium"/>
                        </a:rPr>
                        <a:t>변경인가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미만</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제외</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nvGraphicFramePr>
        <p:xfrm>
          <a:off x="603394" y="3122132"/>
          <a:ext cx="4720217" cy="1355535"/>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lstStyle/>
                    <a:p>
                      <a:pPr algn="ctr"/>
                      <a:r>
                        <a:rPr sz="900" dirty="0" err="1">
                          <a:solidFill>
                            <a:srgbClr val="000000"/>
                          </a:solidFill>
                          <a:latin typeface="KoPubWorld돋움체 Bold"/>
                          <a:ea typeface="KoPubWorld돋움체 Bold"/>
                          <a:cs typeface="KoPubWorld돋움체 Bold"/>
                        </a:rPr>
                        <a:t>구분</a:t>
                      </a:r>
                      <a:endParaRPr sz="9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의안 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초과</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자산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취득계약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결의</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부투법</a:t>
                      </a:r>
                      <a:r>
                        <a:rPr sz="900" dirty="0">
                          <a:solidFill>
                            <a:srgbClr val="000000"/>
                          </a:solidFill>
                          <a:latin typeface="KoPubWorld돋움체 Light"/>
                          <a:ea typeface="KoPubWorld돋움체 Light"/>
                          <a:cs typeface="KoPubWorld돋움체 Light"/>
                        </a:rPr>
                        <a:t> §12①)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해당사항</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없음</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약 6%[</a:t>
                      </a:r>
                      <a:r>
                        <a:rPr sz="900" dirty="0" err="1">
                          <a:solidFill>
                            <a:srgbClr val="000000"/>
                          </a:solidFill>
                          <a:latin typeface="KoPubWorld돋움체 Light"/>
                          <a:ea typeface="KoPubWorld돋움체 Light"/>
                          <a:cs typeface="KoPubWorld돋움체 Light"/>
                        </a:rPr>
                        <a:t>추정</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투자자문위원회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a:solidFill>
                            <a:srgbClr val="000000"/>
                          </a:solidFill>
                          <a:latin typeface="KoPubWorld돋움체 Light"/>
                          <a:ea typeface="KoPubWorld돋움체 Light"/>
                          <a:cs typeface="KoPubWorld돋움체 Light"/>
                        </a:rPr>
                        <a:t>KLL 지분증권 취득 및 매입확약서 제출 자문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10/12(E)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주주간계약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보통주</a:t>
                      </a:r>
                      <a:r>
                        <a:rPr sz="900" dirty="0">
                          <a:solidFill>
                            <a:srgbClr val="000000"/>
                          </a:solidFill>
                          <a:latin typeface="KoPubWorld돋움체 Light"/>
                          <a:ea typeface="KoPubWorld돋움체 Light"/>
                          <a:cs typeface="KoPubWorld돋움체 Light"/>
                        </a:rPr>
                        <a:t> 148억·2-1종 160억)·</a:t>
                      </a:r>
                      <a:r>
                        <a:rPr sz="900" dirty="0" err="1">
                          <a:solidFill>
                            <a:srgbClr val="000000"/>
                          </a:solidFill>
                          <a:latin typeface="KoPubWorld돋움체 Light"/>
                          <a:ea typeface="KoPubWorld돋움체 Light"/>
                          <a:cs typeface="KoPubWorld돋움체 Light"/>
                        </a:rPr>
                        <a:t>매입확약서</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제출</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10/16(E)</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252000">
                <a:tc>
                  <a:txBody>
                    <a:bodyPr/>
                    <a:lstStyle/>
                    <a:p>
                      <a:pPr algn="ctr"/>
                      <a:r>
                        <a:rPr sz="900">
                          <a:solidFill>
                            <a:srgbClr val="000000"/>
                          </a:solidFill>
                          <a:latin typeface="KoPubWorld돋움체 Medium"/>
                          <a:ea typeface="KoPubWorld돋움체 Medium"/>
                          <a:cs typeface="KoPubWorld돋움체 Medium"/>
                        </a:rPr>
                        <a:t>변경인가·보고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변경보고</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10/22 </a:t>
                      </a:r>
                      <a:r>
                        <a:rPr sz="900" dirty="0" err="1">
                          <a:solidFill>
                            <a:srgbClr val="000000"/>
                          </a:solidFill>
                          <a:latin typeface="KoPubWorld돋움체 Light"/>
                          <a:ea typeface="KoPubWorld돋움체 Light"/>
                          <a:cs typeface="KoPubWorld돋움체 Light"/>
                        </a:rPr>
                        <a:t>종결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이후</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nvGraphicFramePr>
        <p:xfrm>
          <a:off x="5506479" y="3104397"/>
          <a:ext cx="4782001" cy="3359026"/>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45986">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쟁점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대응방안</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389130">
                <a:tc>
                  <a:txBody>
                    <a:bodyPr/>
                    <a:lstStyle/>
                    <a:p>
                      <a:pPr algn="ctr"/>
                      <a:r>
                        <a:rPr sz="900" dirty="0">
                          <a:solidFill>
                            <a:srgbClr val="000000"/>
                          </a:solidFill>
                          <a:latin typeface="KoPubWorld돋움체 Medium"/>
                          <a:ea typeface="KoPubWorld돋움체 Medium"/>
                          <a:cs typeface="KoPubWorld돋움체 Medium"/>
                        </a:rPr>
                        <a:t>KLI </a:t>
                      </a:r>
                      <a:r>
                        <a:rPr sz="900" dirty="0" err="1">
                          <a:solidFill>
                            <a:srgbClr val="000000"/>
                          </a:solidFill>
                          <a:latin typeface="KoPubWorld돋움체 Medium"/>
                          <a:ea typeface="KoPubWorld돋움체 Medium"/>
                          <a:cs typeface="KoPubWorld돋움체 Medium"/>
                        </a:rPr>
                        <a:t>결의요건</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30%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취득계약은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888억은 </a:t>
                      </a:r>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약 6%[</a:t>
                      </a:r>
                      <a:r>
                        <a:rPr sz="1000" dirty="0" err="1">
                          <a:solidFill>
                            <a:srgbClr val="000000"/>
                          </a:solidFill>
                          <a:latin typeface="KoPubWorld돋움체 Light"/>
                          <a:ea typeface="KoPubWorld돋움체 Light"/>
                          <a:cs typeface="KoPubWorld돋움체 Light"/>
                        </a:rPr>
                        <a:t>추정</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이사회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389130">
                <a:tc>
                  <a:txBody>
                    <a:bodyPr/>
                    <a:lstStyle/>
                    <a:p>
                      <a:pPr algn="ctr"/>
                      <a:r>
                        <a:rPr sz="900" dirty="0" err="1">
                          <a:solidFill>
                            <a:srgbClr val="000000"/>
                          </a:solidFill>
                          <a:latin typeface="KoPubWorld돋움체 Medium"/>
                          <a:ea typeface="KoPubWorld돋움체 Medium"/>
                          <a:cs typeface="KoPubWorld돋움체 Medium"/>
                        </a:rPr>
                        <a:t>이해관계자</a:t>
                      </a:r>
                      <a:r>
                        <a:rPr sz="900" dirty="0">
                          <a:solidFill>
                            <a:srgbClr val="000000"/>
                          </a:solidFill>
                          <a:latin typeface="KoPubWorld돋움체 Medium"/>
                          <a:ea typeface="KoPubWorld돋움체 Medium"/>
                          <a:cs typeface="KoPubWorld돋움체 Medium"/>
                        </a:rPr>
                        <a:t> </a:t>
                      </a:r>
                      <a:endParaRPr lang="en-US" sz="900" dirty="0">
                        <a:solidFill>
                          <a:srgbClr val="000000"/>
                        </a:solidFill>
                        <a:latin typeface="KoPubWorld돋움체 Medium"/>
                        <a:ea typeface="KoPubWorld돋움체 Medium"/>
                        <a:cs typeface="KoPubWorld돋움체 Medium"/>
                      </a:endParaRPr>
                    </a:p>
                    <a:p>
                      <a:pPr algn="ctr"/>
                      <a:r>
                        <a:rPr sz="900" dirty="0" err="1">
                          <a:solidFill>
                            <a:srgbClr val="000000"/>
                          </a:solidFill>
                          <a:latin typeface="KoPubWorld돋움체 Medium"/>
                          <a:ea typeface="KoPubWorld돋움체 Medium"/>
                          <a:cs typeface="KoPubWorld돋움체 Medium"/>
                        </a:rPr>
                        <a:t>거래</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PFV는</a:t>
                      </a:r>
                      <a:r>
                        <a:rPr sz="1000" dirty="0">
                          <a:solidFill>
                            <a:srgbClr val="000000"/>
                          </a:solidFill>
                          <a:latin typeface="KoPubWorld돋움체 Light"/>
                          <a:ea typeface="KoPubWorld돋움체 Light"/>
                          <a:cs typeface="KoPubWorld돋움체 Light"/>
                        </a:rPr>
                        <a:t> AMC </a:t>
                      </a:r>
                      <a:r>
                        <a:rPr sz="1000" dirty="0" err="1">
                          <a:solidFill>
                            <a:srgbClr val="000000"/>
                          </a:solidFill>
                          <a:latin typeface="KoPubWorld돋움체 Light"/>
                          <a:ea typeface="KoPubWorld돋움체 Light"/>
                          <a:cs typeface="KoPubWorld돋움체 Light"/>
                        </a:rPr>
                        <a:t>특별관계자</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부투법</a:t>
                      </a:r>
                      <a:r>
                        <a:rPr sz="1000" dirty="0">
                          <a:solidFill>
                            <a:srgbClr val="000000"/>
                          </a:solidFill>
                          <a:latin typeface="KoPubWorld돋움체 Light"/>
                          <a:ea typeface="KoPubWorld돋움체 Light"/>
                          <a:cs typeface="KoPubWorld돋움체 Light"/>
                        </a:rPr>
                        <a:t> §22조의2③ </a:t>
                      </a:r>
                      <a:r>
                        <a:rPr sz="1000" dirty="0" err="1">
                          <a:solidFill>
                            <a:srgbClr val="000000"/>
                          </a:solidFill>
                          <a:latin typeface="KoPubWorld돋움체 Light"/>
                          <a:ea typeface="KoPubWorld돋움체 Light"/>
                          <a:cs typeface="KoPubWorld돋움체 Light"/>
                        </a:rPr>
                        <a:t>거래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낙찰가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KLL </a:t>
                      </a:r>
                      <a:r>
                        <a:rPr sz="1000" dirty="0" err="1">
                          <a:solidFill>
                            <a:srgbClr val="000000"/>
                          </a:solidFill>
                          <a:latin typeface="KoPubWorld돋움체 Light"/>
                          <a:ea typeface="KoPubWorld돋움체 Light"/>
                          <a:cs typeface="KoPubWorld돋움체 Light"/>
                        </a:rPr>
                        <a:t>이사회·주총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389130">
                <a:tc>
                  <a:txBody>
                    <a:bodyPr/>
                    <a:lstStyle/>
                    <a:p>
                      <a:pPr algn="ctr"/>
                      <a:r>
                        <a:rPr sz="900" dirty="0">
                          <a:solidFill>
                            <a:srgbClr val="000000"/>
                          </a:solidFill>
                          <a:latin typeface="KoPubWorld돋움체 Medium"/>
                          <a:ea typeface="KoPubWorld돋움체 Medium"/>
                          <a:cs typeface="KoPubWorld돋움체 Medium"/>
                        </a:rPr>
                        <a:t>3종 </a:t>
                      </a:r>
                      <a:r>
                        <a:rPr sz="900" dirty="0" err="1">
                          <a:solidFill>
                            <a:srgbClr val="000000"/>
                          </a:solidFill>
                          <a:latin typeface="KoPubWorld돋움체 Medium"/>
                          <a:ea typeface="KoPubWorld돋움체 Medium"/>
                          <a:cs typeface="KoPubWorld돋움체 Medium"/>
                        </a:rPr>
                        <a:t>주주</a:t>
                      </a:r>
                      <a:endParaRPr lang="en-US" sz="900" dirty="0">
                        <a:solidFill>
                          <a:srgbClr val="000000"/>
                        </a:solidFill>
                        <a:latin typeface="KoPubWorld돋움체 Medium"/>
                        <a:ea typeface="KoPubWorld돋움체 Medium"/>
                        <a:cs typeface="KoPubWorld돋움체 Medium"/>
                      </a:endParaRPr>
                    </a:p>
                    <a:p>
                      <a:pPr algn="ctr"/>
                      <a:r>
                        <a:rPr sz="900" dirty="0">
                          <a:solidFill>
                            <a:srgbClr val="000000"/>
                          </a:solidFill>
                          <a:latin typeface="KoPubWorld돋움체 Medium"/>
                          <a:ea typeface="KoPubWorld돋움체 Medium"/>
                          <a:cs typeface="KoPubWorld돋움체 Medium"/>
                        </a:rPr>
                        <a:t> </a:t>
                      </a:r>
                      <a:r>
                        <a:rPr sz="900" dirty="0" err="1">
                          <a:solidFill>
                            <a:srgbClr val="000000"/>
                          </a:solidFill>
                          <a:latin typeface="KoPubWorld돋움체 Medium"/>
                          <a:ea typeface="KoPubWorld돋움체 Medium"/>
                          <a:cs typeface="KoPubWorld돋움체 Medium"/>
                        </a:rPr>
                        <a:t>처리</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KLI가</a:t>
                      </a:r>
                      <a:r>
                        <a:rPr sz="1000" dirty="0">
                          <a:solidFill>
                            <a:srgbClr val="000000"/>
                          </a:solidFill>
                          <a:latin typeface="KoPubWorld돋움체 Light"/>
                          <a:ea typeface="KoPubWorld돋움체 Light"/>
                          <a:cs typeface="KoPubWorld돋움체 Light"/>
                        </a:rPr>
                        <a:t> 3종 </a:t>
                      </a:r>
                      <a:r>
                        <a:rPr sz="1000" dirty="0" err="1">
                          <a:solidFill>
                            <a:srgbClr val="000000"/>
                          </a:solidFill>
                          <a:latin typeface="KoPubWorld돋움체 Light"/>
                          <a:ea typeface="KoPubWorld돋움체 Light"/>
                          <a:cs typeface="KoPubWorld돋움체 Light"/>
                        </a:rPr>
                        <a:t>매입확약</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이해관계자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3종은 KLI </a:t>
                      </a:r>
                      <a:r>
                        <a:rPr sz="1000" dirty="0" err="1">
                          <a:solidFill>
                            <a:srgbClr val="000000"/>
                          </a:solidFill>
                          <a:latin typeface="KoPubWorld돋움체 Light"/>
                          <a:ea typeface="KoPubWorld돋움체 Light"/>
                          <a:cs typeface="KoPubWorld돋움체 Light"/>
                        </a:rPr>
                        <a:t>확약</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제외</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SHA 제5조 </a:t>
                      </a:r>
                      <a:r>
                        <a:rPr sz="1000" dirty="0" err="1">
                          <a:solidFill>
                            <a:srgbClr val="000000"/>
                          </a:solidFill>
                          <a:latin typeface="KoPubWorld돋움체 Light"/>
                          <a:ea typeface="KoPubWorld돋움체 Light"/>
                          <a:cs typeface="KoPubWorld돋움체 Light"/>
                        </a:rPr>
                        <a:t>유상감자로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회수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389130">
                <a:tc>
                  <a:txBody>
                    <a:bodyPr/>
                    <a:lstStyle/>
                    <a:p>
                      <a:pPr algn="ctr"/>
                      <a:r>
                        <a:rPr sz="900">
                          <a:solidFill>
                            <a:srgbClr val="000000"/>
                          </a:solidFill>
                          <a:latin typeface="KoPubWorld돋움체 Medium"/>
                          <a:ea typeface="KoPubWorld돋움체 Medium"/>
                          <a:cs typeface="KoPubWorld돋움체 Medium"/>
                        </a:rPr>
                        <a:t>거래가격 공정성</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정상가격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부당지원·부당행위계산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소지</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경쟁입찰·감정평가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사업적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필요성</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검토자료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구비</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r h="389130">
                <a:tc>
                  <a:txBody>
                    <a:bodyPr/>
                    <a:lstStyle/>
                    <a:p>
                      <a:pPr algn="ctr"/>
                      <a:r>
                        <a:rPr sz="900">
                          <a:solidFill>
                            <a:srgbClr val="000000"/>
                          </a:solidFill>
                          <a:latin typeface="KoPubWorld돋움체 Medium"/>
                          <a:ea typeface="KoPubWorld돋움체 Medium"/>
                          <a:cs typeface="KoPubWorld돋움체 Medium"/>
                        </a:rPr>
                        <a:t>공모간주</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10% </a:t>
                      </a:r>
                      <a:r>
                        <a:rPr sz="1000" dirty="0" err="1">
                          <a:solidFill>
                            <a:srgbClr val="000000"/>
                          </a:solidFill>
                          <a:latin typeface="KoPubWorld돋움체 Light"/>
                          <a:ea typeface="KoPubWorld돋움체 Light"/>
                          <a:cs typeface="KoPubWorld돋움체 Light"/>
                        </a:rPr>
                        <a:t>이상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출자로</a:t>
                      </a:r>
                      <a:r>
                        <a:rPr sz="1000" dirty="0">
                          <a:solidFill>
                            <a:srgbClr val="000000"/>
                          </a:solidFill>
                          <a:latin typeface="KoPubWorld돋움체 Light"/>
                          <a:ea typeface="KoPubWorld돋움체 Light"/>
                          <a:cs typeface="KoPubWorld돋움체 Light"/>
                        </a:rPr>
                        <a:t> KLL </a:t>
                      </a:r>
                      <a:r>
                        <a:rPr sz="1000" dirty="0" err="1">
                          <a:solidFill>
                            <a:srgbClr val="000000"/>
                          </a:solidFill>
                          <a:latin typeface="KoPubWorld돋움체 Light"/>
                          <a:ea typeface="KoPubWorld돋움체 Light"/>
                          <a:cs typeface="KoPubWorld돋움체 Light"/>
                        </a:rPr>
                        <a:t>공모간주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가능</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별도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모집·매출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없는</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유지</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증권신고서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불요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646589663"/>
                  </a:ext>
                </a:extLst>
              </a:tr>
              <a:tr h="389130">
                <a:tc>
                  <a:txBody>
                    <a:bodyPr/>
                    <a:lstStyle/>
                    <a:p>
                      <a:pPr algn="ctr"/>
                      <a:r>
                        <a:rPr sz="900">
                          <a:solidFill>
                            <a:srgbClr val="000000"/>
                          </a:solidFill>
                          <a:latin typeface="KoPubWorld돋움체 Medium"/>
                          <a:ea typeface="KoPubWorld돋움체 Medium"/>
                          <a:cs typeface="KoPubWorld돋움체 Medium"/>
                        </a:rPr>
                        <a:t>지배력·기업결합</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a:t>
                      </a:r>
                      <a:r>
                        <a:rPr sz="1000" dirty="0" err="1">
                          <a:solidFill>
                            <a:srgbClr val="000000"/>
                          </a:solidFill>
                          <a:latin typeface="KoPubWorld돋움체 Light"/>
                          <a:ea typeface="KoPubWorld돋움체 Light"/>
                          <a:cs typeface="KoPubWorld돋움체 Light"/>
                        </a:rPr>
                        <a:t>이사</a:t>
                      </a:r>
                      <a:r>
                        <a:rPr sz="1000" dirty="0">
                          <a:solidFill>
                            <a:srgbClr val="000000"/>
                          </a:solidFill>
                          <a:latin typeface="KoPubWorld돋움체 Light"/>
                          <a:ea typeface="KoPubWorld돋움체 Light"/>
                          <a:cs typeface="KoPubWorld돋움체 Light"/>
                        </a:rPr>
                        <a:t> 2인·대표 </a:t>
                      </a:r>
                      <a:r>
                        <a:rPr sz="1000" dirty="0" err="1">
                          <a:solidFill>
                            <a:srgbClr val="000000"/>
                          </a:solidFill>
                          <a:latin typeface="KoPubWorld돋움체 Light"/>
                          <a:ea typeface="KoPubWorld돋움체 Light"/>
                          <a:cs typeface="KoPubWorld돋움체 Light"/>
                        </a:rPr>
                        <a:t>지명</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계열편입</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기업결합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공정위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수리를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거래종결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선행조건으로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반영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474605282"/>
                  </a:ext>
                </a:extLst>
              </a:tr>
              <a:tr h="389130">
                <a:tc>
                  <a:txBody>
                    <a:bodyPr/>
                    <a:lstStyle/>
                    <a:p>
                      <a:pPr algn="ctr"/>
                      <a:r>
                        <a:rPr sz="900">
                          <a:solidFill>
                            <a:srgbClr val="000000"/>
                          </a:solidFill>
                          <a:latin typeface="KoPubWorld돋움체 Medium"/>
                          <a:ea typeface="KoPubWorld돋움체 Medium"/>
                          <a:cs typeface="KoPubWorld돋움체 Medium"/>
                        </a:rPr>
                        <a:t>매입확약 우발채무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1종 240억·2종 340억 </a:t>
                      </a:r>
                      <a:r>
                        <a:rPr sz="1000" dirty="0" err="1">
                          <a:solidFill>
                            <a:srgbClr val="000000"/>
                          </a:solidFill>
                          <a:latin typeface="KoPubWorld돋움체 Light"/>
                          <a:ea typeface="KoPubWorld돋움체 Light"/>
                          <a:cs typeface="KoPubWorld돋움체 Light"/>
                        </a:rPr>
                        <a:t>매입의무</a:t>
                      </a:r>
                      <a:r>
                        <a:rPr sz="1000" dirty="0">
                          <a:solidFill>
                            <a:srgbClr val="000000"/>
                          </a:solidFill>
                          <a:latin typeface="KoPubWorld돋움체 Light"/>
                          <a:ea typeface="KoPubWorld돋움체 Light"/>
                          <a:cs typeface="KoPubWorld돋움체 Light"/>
                        </a:rPr>
                        <a:t>, 2종 </a:t>
                      </a:r>
                      <a:r>
                        <a:rPr sz="1000" dirty="0" err="1">
                          <a:solidFill>
                            <a:srgbClr val="000000"/>
                          </a:solidFill>
                          <a:latin typeface="KoPubWorld돋움체 Light"/>
                          <a:ea typeface="KoPubWorld돋움체 Light"/>
                          <a:cs typeface="KoPubWorld돋움체 Light"/>
                        </a:rPr>
                        <a:t>위약벌</a:t>
                      </a:r>
                      <a:r>
                        <a:rPr sz="1000" dirty="0">
                          <a:solidFill>
                            <a:srgbClr val="000000"/>
                          </a:solidFill>
                          <a:latin typeface="KoPubWorld돋움체 Light"/>
                          <a:ea typeface="KoPubWorld돋움체 Light"/>
                          <a:cs typeface="KoPubWorld돋움체 Light"/>
                        </a:rPr>
                        <a:t> 20%</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매입재원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미충족</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효력</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미발생</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416116062"/>
                  </a:ext>
                </a:extLst>
              </a:tr>
              <a:tr h="389130">
                <a:tc>
                  <a:txBody>
                    <a:bodyPr/>
                    <a:lstStyle/>
                    <a:p>
                      <a:pPr algn="ctr"/>
                      <a:r>
                        <a:rPr sz="900">
                          <a:solidFill>
                            <a:srgbClr val="000000"/>
                          </a:solidFill>
                          <a:latin typeface="KoPubWorld돋움체 Medium"/>
                          <a:ea typeface="KoPubWorld돋움체 Medium"/>
                          <a:cs typeface="KoPubWorld돋움체 Medium"/>
                        </a:rPr>
                        <a:t>셀다운 동의권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최초</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셀다운</a:t>
                      </a:r>
                      <a:r>
                        <a:rPr sz="1000" dirty="0">
                          <a:solidFill>
                            <a:srgbClr val="000000"/>
                          </a:solidFill>
                          <a:latin typeface="KoPubWorld돋움체 Light"/>
                          <a:ea typeface="KoPubWorld돋움체 Light"/>
                          <a:cs typeface="KoPubWorld돋움체 Light"/>
                        </a:rPr>
                        <a:t> 외 </a:t>
                      </a:r>
                      <a:r>
                        <a:rPr sz="1000" dirty="0" err="1">
                          <a:solidFill>
                            <a:srgbClr val="000000"/>
                          </a:solidFill>
                          <a:latin typeface="KoPubWorld돋움체 Light"/>
                          <a:ea typeface="KoPubWorld돋움체 Light"/>
                          <a:cs typeface="KoPubWorld돋움체 Light"/>
                        </a:rPr>
                        <a:t>양도는</a:t>
                      </a:r>
                      <a:r>
                        <a:rPr sz="1000" dirty="0">
                          <a:solidFill>
                            <a:srgbClr val="000000"/>
                          </a:solidFill>
                          <a:latin typeface="KoPubWorld돋움체 Light"/>
                          <a:ea typeface="KoPubWorld돋움체 Light"/>
                          <a:cs typeface="KoPubWorld돋움체 Light"/>
                        </a:rPr>
                        <a:t> KLI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서면동의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매도확약서·SHA</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승계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확인</a:t>
                      </a:r>
                      <a:r>
                        <a:rPr sz="1000" dirty="0">
                          <a:solidFill>
                            <a:srgbClr val="000000"/>
                          </a:solidFill>
                          <a:latin typeface="KoPubWorld돋움체 Light"/>
                          <a:ea typeface="KoPubWorld돋움체 Light"/>
                          <a:cs typeface="KoPubWorld돋움체 Light"/>
                        </a:rPr>
                        <a:t> 후 </a:t>
                      </a:r>
                      <a:r>
                        <a:rPr sz="1000" dirty="0" err="1">
                          <a:solidFill>
                            <a:srgbClr val="000000"/>
                          </a:solidFill>
                          <a:latin typeface="KoPubWorld돋움체 Light"/>
                          <a:ea typeface="KoPubWorld돋움체 Light"/>
                          <a:cs typeface="KoPubWorld돋움체 Light"/>
                        </a:rPr>
                        <a:t>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동의와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연동</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KLI 출자·매입확약은 이사회 결의 사항이며, 주총 결의는 불요[추정]</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KLI 매입확약 대상에서 제외하여 이해관계자 거래를 피하고, 거래가격 공정성 근거자료는 별도 구비</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 검토는 내부 검토로 외부 법무법인 확인 필요 (근거: 율촌·BKL·태평양·광장 의견, 주주간계약 v23 final, 총자산 ’26.5말 1조 4,243억원 기준)</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nchor="ctr">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Cap.Rate</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추이</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51639"/>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보유지분에 대한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과거 추세 감안 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달성 예상</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년에는 안정적 회수가 기대됨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8" name="Chart 87"/>
          <p:cNvGraphicFramePr>
            <a:graphicFrameLocks noGrp="1"/>
          </p:cNvGraphicFramePr>
          <p:nvPr/>
        </p:nvGraphicFramePr>
        <p:xfrm>
          <a:off x="4535926" y="2691299"/>
          <a:ext cx="5778531" cy="1673926"/>
        </p:xfrm>
        <a:graphic>
          <a:graphicData uri="http://schemas.openxmlformats.org/drawingml/2006/chart">
            <c:chart xmlns:c="http://schemas.openxmlformats.org/drawingml/2006/chart" xmlns:r="http://schemas.openxmlformats.org/officeDocument/2006/relationships" r:id="rId9"/>
          </a:graphicData>
        </a:graphic>
      </p:graphicFrame>
      <p:sp>
        <p:nvSpPr>
          <p:cNvPr id="67" name="직사각형 66">
            <a:extLst>
              <a:ext uri="{FF2B5EF4-FFF2-40B4-BE49-F238E27FC236}">
                <a16:creationId xmlns:a16="http://schemas.microsoft.com/office/drawing/2014/main" id="{17F18305-4F45-2048-20B8-F763B88C25C8}"/>
              </a:ext>
            </a:extLst>
          </p:cNvPr>
          <p:cNvSpPr/>
          <p:nvPr/>
        </p:nvSpPr>
        <p:spPr>
          <a:xfrm>
            <a:off x="9018314" y="2946400"/>
            <a:ext cx="1260141" cy="1416142"/>
          </a:xfrm>
          <a:prstGeom prst="rect">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9" name="TextBox 88"/>
          <p:cNvSpPr txBox="1"/>
          <p:nvPr/>
        </p:nvSpPr>
        <p:spPr>
          <a:xfrm>
            <a:off x="283367" y="6840467"/>
            <a:ext cx="10009067" cy="107722"/>
          </a:xfrm>
          <a:prstGeom prst="rect">
            <a:avLst/>
          </a:prstGeom>
          <a:noFill/>
        </p:spPr>
        <p:txBody>
          <a:bodyPr wrap="square" lIns="0" tIns="0" rIns="0" bIns="0" anchor="ctr">
            <a:spAutoFit/>
          </a:bodyPr>
          <a:lstStyle/>
          <a:p>
            <a:pPr algn="l"/>
            <a:r>
              <a:rPr sz="700" i="1" dirty="0">
                <a:solidFill>
                  <a:srgbClr val="404040"/>
                </a:solidFill>
                <a:latin typeface="KoPubWorld돋움체 Light"/>
                <a:ea typeface="KoPubWorld돋움체 Light"/>
                <a:cs typeface="KoPubWorld돋움체 Light"/>
              </a:rPr>
              <a:t>* </a:t>
            </a:r>
            <a:r>
              <a:rPr lang="en-US" sz="700" i="1" dirty="0">
                <a:solidFill>
                  <a:srgbClr val="404040"/>
                </a:solidFill>
                <a:latin typeface="KoPubWorld돋움체 Light"/>
                <a:ea typeface="KoPubWorld돋움체 Light"/>
                <a:cs typeface="KoPubWorld돋움체 Light"/>
              </a:rPr>
              <a:t> </a:t>
            </a:r>
            <a:r>
              <a:rPr sz="700" i="1" dirty="0">
                <a:solidFill>
                  <a:srgbClr val="404040"/>
                </a:solidFill>
                <a:latin typeface="KoPubWorld돋움체 Light"/>
                <a:ea typeface="KoPubWorld돋움체 Light"/>
                <a:cs typeface="KoPubWorld돋움체 Light"/>
              </a:rPr>
              <a:t>5년 </a:t>
            </a:r>
            <a:r>
              <a:rPr sz="700" i="1" dirty="0" err="1">
                <a:solidFill>
                  <a:srgbClr val="404040"/>
                </a:solidFill>
                <a:latin typeface="KoPubWorld돋움체 Light"/>
                <a:ea typeface="KoPubWorld돋움체 Light"/>
                <a:cs typeface="KoPubWorld돋움체 Light"/>
              </a:rPr>
              <a:t>채권금리·한국</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오피스</a:t>
            </a:r>
            <a:r>
              <a:rPr sz="700" i="1" dirty="0">
                <a:solidFill>
                  <a:srgbClr val="404040"/>
                </a:solidFill>
                <a:latin typeface="KoPubWorld돋움체 Light"/>
                <a:ea typeface="KoPubWorld돋움체 Light"/>
                <a:cs typeface="KoPubWorld돋움체 Light"/>
              </a:rPr>
              <a:t> 및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Cap.Rate</a:t>
            </a:r>
            <a:r>
              <a:rPr sz="700" i="1" dirty="0">
                <a:solidFill>
                  <a:srgbClr val="404040"/>
                </a:solidFill>
                <a:latin typeface="KoPubWorld돋움체 Light"/>
                <a:ea typeface="KoPubWorld돋움체 Light"/>
                <a:cs typeface="KoPubWorld돋움체 Light"/>
              </a:rPr>
              <a:t>: 원 </a:t>
            </a:r>
            <a:r>
              <a:rPr sz="700" i="1" dirty="0" err="1">
                <a:solidFill>
                  <a:srgbClr val="404040"/>
                </a:solidFill>
                <a:latin typeface="KoPubWorld돋움체 Light"/>
                <a:ea typeface="KoPubWorld돋움체 Light"/>
                <a:cs typeface="KoPubWorld돋움체 Light"/>
              </a:rPr>
              <a:t>장표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점도표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판독값</a:t>
            </a:r>
            <a:r>
              <a:rPr sz="700" i="1" dirty="0">
                <a:solidFill>
                  <a:srgbClr val="404040"/>
                </a:solidFill>
                <a:latin typeface="KoPubWorld돋움체 Light"/>
                <a:ea typeface="KoPubWorld돋움체 Light"/>
                <a:cs typeface="KoPubWorld돋움체 Light"/>
              </a:rPr>
              <a:t>(</a:t>
            </a:r>
            <a:r>
              <a:rPr sz="700" i="1" dirty="0" err="1">
                <a:solidFill>
                  <a:srgbClr val="404040"/>
                </a:solidFill>
                <a:latin typeface="KoPubWorld돋움체 Light"/>
                <a:ea typeface="KoPubWorld돋움체 Light"/>
                <a:cs typeface="KoPubWorld돋움체 Light"/>
              </a:rPr>
              <a:t>분기</a:t>
            </a:r>
            <a:r>
              <a:rPr sz="700" i="1" dirty="0">
                <a:solidFill>
                  <a:srgbClr val="404040"/>
                </a:solidFill>
                <a:latin typeface="KoPubWorld돋움체 Light"/>
                <a:ea typeface="KoPubWorld돋움체 Light"/>
                <a:cs typeface="KoPubWorld돋움체 Light"/>
              </a:rPr>
              <a:t>, ±0.05%p) / ’26.3Q </a:t>
            </a:r>
            <a:r>
              <a:rPr sz="700" i="1" dirty="0" err="1">
                <a:solidFill>
                  <a:srgbClr val="404040"/>
                </a:solidFill>
                <a:latin typeface="KoPubWorld돋움체 Light"/>
                <a:ea typeface="KoPubWorld돋움체 Light"/>
                <a:cs typeface="KoPubWorld돋움체 Light"/>
              </a:rPr>
              <a:t>채권금리는</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기준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재무모델</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채권금리</a:t>
            </a:r>
            <a:r>
              <a:rPr sz="700" i="1" dirty="0">
                <a:solidFill>
                  <a:srgbClr val="404040"/>
                </a:solidFill>
                <a:latin typeface="KoPubWorld돋움체 Light"/>
                <a:ea typeface="KoPubWorld돋움체 Light"/>
                <a:cs typeface="KoPubWorld돋움체 Light"/>
              </a:rPr>
              <a:t> 탭 </a:t>
            </a:r>
            <a:r>
              <a:rPr sz="700" i="1" dirty="0" err="1">
                <a:solidFill>
                  <a:srgbClr val="404040"/>
                </a:solidFill>
                <a:latin typeface="KoPubWorld돋움체 Light"/>
                <a:ea typeface="KoPubWorld돋움체 Light"/>
                <a:cs typeface="KoPubWorld돋움체 Light"/>
              </a:rPr>
              <a:t>국고채</a:t>
            </a:r>
            <a:r>
              <a:rPr sz="700" i="1" dirty="0">
                <a:solidFill>
                  <a:srgbClr val="404040"/>
                </a:solidFill>
                <a:latin typeface="KoPubWorld돋움체 Light"/>
                <a:ea typeface="KoPubWorld돋움체 Light"/>
                <a:cs typeface="KoPubWorld돋움체 Light"/>
              </a:rPr>
              <a:t> 5년 4.133%(’26.9.9) /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추세선은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a:t>
            </a:r>
            <a:r>
              <a:rPr sz="700" i="1" dirty="0">
                <a:solidFill>
                  <a:srgbClr val="404040"/>
                </a:solidFill>
                <a:latin typeface="KoPubWorld돋움체 Light"/>
                <a:ea typeface="KoPubWorld돋움체 Light"/>
                <a:cs typeface="KoPubWorld돋움체 Light"/>
              </a:rPr>
              <a:t> 점 82개 </a:t>
            </a:r>
            <a:r>
              <a:rPr sz="700" i="1" dirty="0" err="1">
                <a:solidFill>
                  <a:srgbClr val="404040"/>
                </a:solidFill>
                <a:latin typeface="KoPubWorld돋움체 Light"/>
                <a:ea typeface="KoPubWorld돋움체 Light"/>
                <a:cs typeface="KoPubWorld돋움체 Light"/>
              </a:rPr>
              <a:t>선형회귀를</a:t>
            </a:r>
            <a:r>
              <a:rPr sz="700" i="1" dirty="0">
                <a:solidFill>
                  <a:srgbClr val="404040"/>
                </a:solidFill>
                <a:latin typeface="KoPubWorld돋움체 Light"/>
                <a:ea typeface="KoPubWorld돋움체 Light"/>
                <a:cs typeface="KoPubWorld돋움체 Light"/>
              </a:rPr>
              <a:t> ’28.4Q까지 </a:t>
            </a:r>
            <a:r>
              <a:rPr sz="700" i="1" dirty="0" err="1">
                <a:solidFill>
                  <a:srgbClr val="404040"/>
                </a:solidFill>
                <a:latin typeface="KoPubWorld돋움체 Light"/>
                <a:ea typeface="KoPubWorld돋움체 Light"/>
                <a:cs typeface="KoPubWorld돋움체 Light"/>
              </a:rPr>
              <a:t>연장</a:t>
            </a:r>
            <a:r>
              <a:rPr sz="700" i="1" dirty="0">
                <a:solidFill>
                  <a:srgbClr val="404040"/>
                </a:solidFill>
                <a:latin typeface="KoPubWorld돋움체 Light"/>
                <a:ea typeface="KoPubWorld돋움체 Light"/>
                <a:cs typeface="KoPubWorld돋움체 Light"/>
              </a:rPr>
              <a:t>(4.14%) </a:t>
            </a:r>
          </a:p>
        </p:txBody>
      </p:sp>
      <p:sp>
        <p:nvSpPr>
          <p:cNvPr id="3" name="TextBox 2">
            <a:extLst>
              <a:ext uri="{FF2B5EF4-FFF2-40B4-BE49-F238E27FC236}">
                <a16:creationId xmlns:a16="http://schemas.microsoft.com/office/drawing/2014/main" id="{02C8ED06-011E-7A1E-5836-4B54E8857EC2}"/>
              </a:ext>
            </a:extLst>
          </p:cNvPr>
          <p:cNvSpPr txBox="1"/>
          <p:nvPr/>
        </p:nvSpPr>
        <p:spPr>
          <a:xfrm>
            <a:off x="9090322" y="4391905"/>
            <a:ext cx="1121269" cy="215444"/>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추정치</a:t>
            </a:r>
            <a:r>
              <a:rPr kumimoji="0" lang="en-US" altLang="ko-KR"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16" name="단위 88">
            <a:extLst>
              <a:ext uri="{FF2B5EF4-FFF2-40B4-BE49-F238E27FC236}">
                <a16:creationId xmlns:a16="http://schemas.microsoft.com/office/drawing/2014/main" id="{FEC03FB0-4CA8-874F-1FCC-130BA63F11D9}"/>
              </a:ext>
            </a:extLst>
          </p:cNvPr>
          <p:cNvSpPr txBox="1"/>
          <p:nvPr/>
        </p:nvSpPr>
        <p:spPr>
          <a:xfrm>
            <a:off x="7714457" y="2445078"/>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84760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94786381"/>
              </p:ext>
            </p:extLst>
          </p:nvPr>
        </p:nvGraphicFramePr>
        <p:xfrm>
          <a:off x="520699" y="2374902"/>
          <a:ext cx="9792596" cy="4144676"/>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30862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24개월으로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18393">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44086">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경과 및 향후 사업일정</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심의안건 및 추진일정</a:t>
            </a:r>
          </a:p>
        </p:txBody>
      </p:sp>
      <p:sp>
        <p:nvSpPr>
          <p:cNvPr id="110" name="Rectangle 109"/>
          <p:cNvSpPr/>
          <p:nvPr/>
        </p:nvSpPr>
        <p:spPr>
          <a:xfrm>
            <a:off x="521208" y="2578608"/>
            <a:ext cx="2057400" cy="256032"/>
          </a:xfrm>
          <a:prstGeom prst="rect">
            <a:avLst/>
          </a:prstGeom>
          <a:no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코람코라이프로지스리츠 (자리츠)</a:t>
            </a:r>
          </a:p>
        </p:txBody>
      </p:sp>
      <p:sp>
        <p:nvSpPr>
          <p:cNvPr id="111" name="Rectangle 110"/>
          <p:cNvSpPr/>
          <p:nvPr/>
        </p:nvSpPr>
        <p:spPr>
          <a:xfrm>
            <a:off x="521208" y="4937760"/>
            <a:ext cx="2057400" cy="256032"/>
          </a:xfrm>
          <a:prstGeom prst="rect">
            <a:avLst/>
          </a:prstGeom>
          <a:no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코람코라이프인프라리츠 (모리츠)</a:t>
            </a:r>
          </a:p>
        </p:txBody>
      </p:sp>
      <p:cxnSp>
        <p:nvCxnSpPr>
          <p:cNvPr id="112" name="Connector 111"/>
          <p:cNvCxnSpPr/>
          <p:nvPr/>
        </p:nvCxnSpPr>
        <p:spPr>
          <a:xfrm>
            <a:off x="640080" y="3310128"/>
            <a:ext cx="5742432" cy="0"/>
          </a:xfrm>
          <a:prstGeom prst="line">
            <a:avLst/>
          </a:prstGeom>
          <a:ln w="12700">
            <a:solidFill>
              <a:srgbClr val="1F1F1F"/>
            </a:solidFill>
          </a:ln>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603504" y="3273552"/>
            <a:ext cx="73152" cy="73152"/>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822960"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93192"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5일</a:t>
            </a:r>
          </a:p>
        </p:txBody>
      </p:sp>
      <p:sp>
        <p:nvSpPr>
          <p:cNvPr id="116" name="TextBox 115"/>
          <p:cNvSpPr txBox="1"/>
          <p:nvPr/>
        </p:nvSpPr>
        <p:spPr>
          <a:xfrm>
            <a:off x="438912" y="3456432"/>
            <a:ext cx="91440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입찰참여</a:t>
            </a:r>
          </a:p>
        </p:txBody>
      </p:sp>
      <p:sp>
        <p:nvSpPr>
          <p:cNvPr id="117" name="Oval 116"/>
          <p:cNvSpPr/>
          <p:nvPr/>
        </p:nvSpPr>
        <p:spPr>
          <a:xfrm>
            <a:off x="1682496"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252728"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18일</a:t>
            </a:r>
          </a:p>
        </p:txBody>
      </p:sp>
      <p:sp>
        <p:nvSpPr>
          <p:cNvPr id="119" name="TextBox 118"/>
          <p:cNvSpPr txBox="1"/>
          <p:nvPr/>
        </p:nvSpPr>
        <p:spPr>
          <a:xfrm>
            <a:off x="1298448" y="3456432"/>
            <a:ext cx="914400" cy="402336"/>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우선협상자</a:t>
            </a:r>
          </a:p>
          <a:p>
            <a:pPr algn="ctr"/>
            <a:r>
              <a:rPr sz="800" b="0">
                <a:solidFill>
                  <a:srgbClr val="1F1F1F"/>
                </a:solidFill>
                <a:latin typeface="KoPubWorld돋움체 Light"/>
                <a:ea typeface="KoPubWorld돋움체 Light"/>
                <a:cs typeface="KoPubWorld돋움체 Light"/>
              </a:rPr>
              <a:t>통지</a:t>
            </a:r>
          </a:p>
        </p:txBody>
      </p:sp>
      <p:sp>
        <p:nvSpPr>
          <p:cNvPr id="120" name="Oval 119"/>
          <p:cNvSpPr/>
          <p:nvPr/>
        </p:nvSpPr>
        <p:spPr>
          <a:xfrm>
            <a:off x="2624328" y="3236976"/>
            <a:ext cx="146304" cy="146304"/>
          </a:xfrm>
          <a:prstGeom prst="ellipse">
            <a:avLst/>
          </a:prstGeom>
          <a:solidFill>
            <a:srgbClr val="FDE9D9"/>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194560"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24일</a:t>
            </a:r>
          </a:p>
        </p:txBody>
      </p:sp>
      <p:sp>
        <p:nvSpPr>
          <p:cNvPr id="122" name="TextBox 121"/>
          <p:cNvSpPr txBox="1"/>
          <p:nvPr/>
        </p:nvSpPr>
        <p:spPr>
          <a:xfrm>
            <a:off x="2084832" y="3456432"/>
            <a:ext cx="1225296" cy="566928"/>
          </a:xfrm>
          <a:prstGeom prst="rect">
            <a:avLst/>
          </a:prstGeom>
          <a:noFill/>
        </p:spPr>
        <p:txBody>
          <a:bodyPr wrap="square" anchor="ctr" lIns="45720" rIns="45720" tIns="18288" bIns="18288">
            <a:spAutoFit/>
          </a:bodyPr>
          <a:lstStyle/>
          <a:p>
            <a:pPr algn="l"/>
            <a:r>
              <a:rPr sz="750" b="0">
                <a:solidFill>
                  <a:srgbClr val="1F1F1F"/>
                </a:solidFill>
                <a:latin typeface="KoPubWorld돋움체 Light"/>
                <a:ea typeface="KoPubWorld돋움체 Light"/>
                <a:cs typeface="KoPubWorld돋움체 Light"/>
              </a:rPr>
              <a:t>예비투자심의위원회</a:t>
            </a:r>
          </a:p>
          <a:p>
            <a:pPr algn="l" marL="137160" indent="-137160">
              <a:spcBef>
                <a:spcPts val="200"/>
              </a:spcBef>
              <a:buFont typeface="Arial"/>
              <a:buChar char="•"/>
            </a:pPr>
            <a:r>
              <a:rPr sz="750" b="0">
                <a:solidFill>
                  <a:srgbClr val="1F1F1F"/>
                </a:solidFill>
                <a:latin typeface="KoPubWorld돋움체 Light"/>
                <a:ea typeface="KoPubWorld돋움체 Light"/>
                <a:cs typeface="KoPubWorld돋움체 Light"/>
              </a:rPr>
              <a:t>양해각서 체결의 건</a:t>
            </a:r>
          </a:p>
          <a:p>
            <a:pPr algn="l" marL="137160" indent="-137160">
              <a:spcBef>
                <a:spcPts val="200"/>
              </a:spcBef>
              <a:buFont typeface="Arial"/>
              <a:buChar char="•"/>
            </a:pPr>
            <a:r>
              <a:rPr sz="750" b="0">
                <a:solidFill>
                  <a:srgbClr val="1F1F1F"/>
                </a:solidFill>
                <a:latin typeface="KoPubWorld돋움체 Light"/>
                <a:ea typeface="KoPubWorld돋움체 Light"/>
                <a:cs typeface="KoPubWorld돋움체 Light"/>
              </a:rPr>
              <a:t>실사기관 선정의 건</a:t>
            </a:r>
          </a:p>
        </p:txBody>
      </p:sp>
      <p:sp>
        <p:nvSpPr>
          <p:cNvPr id="123" name="Oval 122"/>
          <p:cNvSpPr/>
          <p:nvPr/>
        </p:nvSpPr>
        <p:spPr>
          <a:xfrm>
            <a:off x="3566160"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136392"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27일</a:t>
            </a:r>
          </a:p>
        </p:txBody>
      </p:sp>
      <p:sp>
        <p:nvSpPr>
          <p:cNvPr id="125" name="TextBox 124"/>
          <p:cNvSpPr txBox="1"/>
          <p:nvPr/>
        </p:nvSpPr>
        <p:spPr>
          <a:xfrm>
            <a:off x="3182112" y="3456432"/>
            <a:ext cx="91440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양해각서 체결</a:t>
            </a:r>
          </a:p>
        </p:txBody>
      </p:sp>
      <p:sp>
        <p:nvSpPr>
          <p:cNvPr id="126" name="Oval 125"/>
          <p:cNvSpPr/>
          <p:nvPr/>
        </p:nvSpPr>
        <p:spPr>
          <a:xfrm>
            <a:off x="4425696"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995928"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9월 11일</a:t>
            </a:r>
          </a:p>
        </p:txBody>
      </p:sp>
      <p:sp>
        <p:nvSpPr>
          <p:cNvPr id="128" name="TextBox 127"/>
          <p:cNvSpPr txBox="1"/>
          <p:nvPr/>
        </p:nvSpPr>
        <p:spPr>
          <a:xfrm>
            <a:off x="4041648" y="3456432"/>
            <a:ext cx="91440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발기설립 완료</a:t>
            </a:r>
            <a:r>
              <a:rPr sz="800" b="0" baseline="30000">
                <a:solidFill>
                  <a:srgbClr val="1F1F1F"/>
                </a:solidFill>
                <a:latin typeface="KoPubWorld돋움체 Light"/>
                <a:ea typeface="KoPubWorld돋움체 Light"/>
                <a:cs typeface="KoPubWorld돋움체 Light"/>
              </a:rPr>
              <a:t>1)</a:t>
            </a:r>
          </a:p>
        </p:txBody>
      </p:sp>
      <p:sp>
        <p:nvSpPr>
          <p:cNvPr id="129" name="Oval 128"/>
          <p:cNvSpPr/>
          <p:nvPr/>
        </p:nvSpPr>
        <p:spPr>
          <a:xfrm>
            <a:off x="5340096"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4910328"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9월 23일</a:t>
            </a:r>
          </a:p>
        </p:txBody>
      </p:sp>
      <p:sp>
        <p:nvSpPr>
          <p:cNvPr id="131" name="TextBox 130"/>
          <p:cNvSpPr txBox="1"/>
          <p:nvPr/>
        </p:nvSpPr>
        <p:spPr>
          <a:xfrm>
            <a:off x="4855464" y="3456432"/>
            <a:ext cx="1115568" cy="402336"/>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영업인가 접수</a:t>
            </a:r>
          </a:p>
          <a:p>
            <a:pPr algn="ctr"/>
            <a:r>
              <a:rPr sz="800" b="0">
                <a:solidFill>
                  <a:srgbClr val="1F1F1F"/>
                </a:solidFill>
                <a:latin typeface="KoPubWorld돋움체 Light"/>
                <a:ea typeface="KoPubWorld돋움체 Light"/>
                <a:cs typeface="KoPubWorld돋움체 Light"/>
              </a:rPr>
              <a:t>선순위 대출심의 완료</a:t>
            </a:r>
          </a:p>
        </p:txBody>
      </p:sp>
      <p:sp>
        <p:nvSpPr>
          <p:cNvPr id="132" name="Rectangle 131"/>
          <p:cNvSpPr/>
          <p:nvPr/>
        </p:nvSpPr>
        <p:spPr>
          <a:xfrm>
            <a:off x="6547104" y="3200400"/>
            <a:ext cx="3493008" cy="219456"/>
          </a:xfrm>
          <a:prstGeom prst="rect">
            <a:avLst/>
          </a:prstGeom>
          <a:pattFill prst="ltVert">
            <a:fgClr>
              <a:srgbClr val="D9D9D9"/>
            </a:fgClr>
            <a:bgClr>
              <a:srgbClr val="FFFFFF"/>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Connector 132"/>
          <p:cNvCxnSpPr/>
          <p:nvPr/>
        </p:nvCxnSpPr>
        <p:spPr>
          <a:xfrm>
            <a:off x="10040112" y="3310128"/>
            <a:ext cx="201168" cy="0"/>
          </a:xfrm>
          <a:prstGeom prst="line">
            <a:avLst/>
          </a:prstGeom>
          <a:ln w="1270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Oval 133"/>
          <p:cNvSpPr/>
          <p:nvPr/>
        </p:nvSpPr>
        <p:spPr>
          <a:xfrm>
            <a:off x="6281928" y="3209544"/>
            <a:ext cx="201168" cy="201168"/>
          </a:xfrm>
          <a:prstGeom prst="ellipse">
            <a:avLst/>
          </a:prstGeom>
          <a:solidFill>
            <a:srgbClr val="C55A11"/>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833872" y="2907792"/>
            <a:ext cx="1097280" cy="237744"/>
          </a:xfrm>
          <a:prstGeom prst="rect">
            <a:avLst/>
          </a:prstGeom>
          <a:noFill/>
        </p:spPr>
        <p:txBody>
          <a:bodyPr wrap="square" anchor="ctr" lIns="45720" rIns="45720" tIns="18288" bIns="18288">
            <a:spAutoFit/>
          </a:bodyPr>
          <a:lstStyle/>
          <a:p>
            <a:pPr algn="ctr"/>
            <a:r>
              <a:rPr sz="950" b="0">
                <a:solidFill>
                  <a:srgbClr val="1F1F1F"/>
                </a:solidFill>
                <a:latin typeface="KoPubWorld돋움체 Bold"/>
                <a:ea typeface="KoPubWorld돋움체 Bold"/>
                <a:cs typeface="KoPubWorld돋움체 Bold"/>
              </a:rPr>
              <a:t>10월 14일</a:t>
            </a:r>
          </a:p>
        </p:txBody>
      </p:sp>
      <p:sp>
        <p:nvSpPr>
          <p:cNvPr id="136" name="TextBox 135"/>
          <p:cNvSpPr txBox="1"/>
          <p:nvPr/>
        </p:nvSpPr>
        <p:spPr>
          <a:xfrm>
            <a:off x="5833872" y="3456432"/>
            <a:ext cx="1097280" cy="365760"/>
          </a:xfrm>
          <a:prstGeom prst="rect">
            <a:avLst/>
          </a:prstGeom>
          <a:noFill/>
        </p:spPr>
        <p:txBody>
          <a:bodyPr wrap="square" anchor="ctr" lIns="45720" rIns="45720" tIns="18288" bIns="18288">
            <a:spAutoFit/>
          </a:bodyPr>
          <a:lstStyle/>
          <a:p>
            <a:pPr algn="ctr"/>
            <a:r>
              <a:rPr sz="850" b="0">
                <a:solidFill>
                  <a:srgbClr val="1F1F1F"/>
                </a:solidFill>
                <a:latin typeface="KoPubWorld돋움체 Bold"/>
                <a:ea typeface="KoPubWorld돋움체 Bold"/>
                <a:cs typeface="KoPubWorld돋움체 Bold"/>
              </a:rPr>
              <a:t>투자심의위원회</a:t>
            </a:r>
          </a:p>
          <a:p>
            <a:pPr algn="ctr"/>
            <a:r>
              <a:rPr sz="850" b="0">
                <a:solidFill>
                  <a:srgbClr val="1F1F1F"/>
                </a:solidFill>
                <a:latin typeface="KoPubWorld돋움체 Bold"/>
                <a:ea typeface="KoPubWorld돋움체 Bold"/>
                <a:cs typeface="KoPubWorld돋움체 Bold"/>
              </a:rPr>
              <a:t>개최</a:t>
            </a:r>
          </a:p>
        </p:txBody>
      </p:sp>
      <p:sp>
        <p:nvSpPr>
          <p:cNvPr id="137" name="Oval 136"/>
          <p:cNvSpPr/>
          <p:nvPr/>
        </p:nvSpPr>
        <p:spPr>
          <a:xfrm>
            <a:off x="7223760" y="317296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6858000" y="2871216"/>
            <a:ext cx="1005840" cy="237744"/>
          </a:xfrm>
          <a:prstGeom prst="rect">
            <a:avLst/>
          </a:prstGeom>
          <a:noFill/>
        </p:spPr>
        <p:txBody>
          <a:bodyPr wrap="square" anchor="ctr" lIns="45720" rIns="45720" tIns="18288" bIns="18288">
            <a:spAutoFit/>
          </a:bodyPr>
          <a:lstStyle/>
          <a:p>
            <a:pPr algn="ctr"/>
            <a:r>
              <a:rPr sz="950" b="0">
                <a:solidFill>
                  <a:srgbClr val="002060"/>
                </a:solidFill>
                <a:latin typeface="KoPubWorld돋움체 Bold"/>
                <a:ea typeface="KoPubWorld돋움체 Bold"/>
                <a:cs typeface="KoPubWorld돋움체 Bold"/>
              </a:rPr>
              <a:t>10월 16일</a:t>
            </a:r>
          </a:p>
        </p:txBody>
      </p:sp>
      <p:sp>
        <p:nvSpPr>
          <p:cNvPr id="139" name="TextBox 138"/>
          <p:cNvSpPr txBox="1"/>
          <p:nvPr/>
        </p:nvSpPr>
        <p:spPr>
          <a:xfrm>
            <a:off x="6812280" y="3493008"/>
            <a:ext cx="1097280" cy="731520"/>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주주간계약 체결</a:t>
            </a:r>
          </a:p>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매매계약 체결</a:t>
            </a:r>
          </a:p>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대출약정 체결</a:t>
            </a:r>
          </a:p>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KLI 이사회</a:t>
            </a:r>
          </a:p>
        </p:txBody>
      </p:sp>
      <p:sp>
        <p:nvSpPr>
          <p:cNvPr id="140" name="Oval 139"/>
          <p:cNvSpPr/>
          <p:nvPr/>
        </p:nvSpPr>
        <p:spPr>
          <a:xfrm>
            <a:off x="8257032" y="317296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891272" y="2871216"/>
            <a:ext cx="1005840" cy="237744"/>
          </a:xfrm>
          <a:prstGeom prst="rect">
            <a:avLst/>
          </a:prstGeom>
          <a:noFill/>
        </p:spPr>
        <p:txBody>
          <a:bodyPr wrap="square" anchor="ctr" lIns="45720" rIns="45720" tIns="18288" bIns="18288">
            <a:spAutoFit/>
          </a:bodyPr>
          <a:lstStyle/>
          <a:p>
            <a:pPr algn="ctr"/>
            <a:r>
              <a:rPr sz="950" b="0">
                <a:solidFill>
                  <a:srgbClr val="002060"/>
                </a:solidFill>
                <a:latin typeface="KoPubWorld돋움체 Bold"/>
                <a:ea typeface="KoPubWorld돋움체 Bold"/>
                <a:cs typeface="KoPubWorld돋움체 Bold"/>
              </a:rPr>
              <a:t>10월 20일</a:t>
            </a:r>
          </a:p>
        </p:txBody>
      </p:sp>
      <p:sp>
        <p:nvSpPr>
          <p:cNvPr id="142" name="TextBox 141"/>
          <p:cNvSpPr txBox="1"/>
          <p:nvPr/>
        </p:nvSpPr>
        <p:spPr>
          <a:xfrm>
            <a:off x="7845552" y="3493008"/>
            <a:ext cx="109728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주금 납입</a:t>
            </a:r>
          </a:p>
        </p:txBody>
      </p:sp>
      <p:sp>
        <p:nvSpPr>
          <p:cNvPr id="143" name="Oval 142"/>
          <p:cNvSpPr/>
          <p:nvPr/>
        </p:nvSpPr>
        <p:spPr>
          <a:xfrm>
            <a:off x="9281160" y="317296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8915400" y="2871216"/>
            <a:ext cx="1005840" cy="237744"/>
          </a:xfrm>
          <a:prstGeom prst="rect">
            <a:avLst/>
          </a:prstGeom>
          <a:noFill/>
        </p:spPr>
        <p:txBody>
          <a:bodyPr wrap="square" anchor="ctr" lIns="45720" rIns="45720" tIns="18288" bIns="18288">
            <a:spAutoFit/>
          </a:bodyPr>
          <a:lstStyle/>
          <a:p>
            <a:pPr algn="ctr"/>
            <a:r>
              <a:rPr sz="950" b="0">
                <a:solidFill>
                  <a:srgbClr val="002060"/>
                </a:solidFill>
                <a:latin typeface="KoPubWorld돋움체 Bold"/>
                <a:ea typeface="KoPubWorld돋움체 Bold"/>
                <a:cs typeface="KoPubWorld돋움체 Bold"/>
              </a:rPr>
              <a:t>10월 22일</a:t>
            </a:r>
          </a:p>
        </p:txBody>
      </p:sp>
      <p:sp>
        <p:nvSpPr>
          <p:cNvPr id="145" name="TextBox 144"/>
          <p:cNvSpPr txBox="1"/>
          <p:nvPr/>
        </p:nvSpPr>
        <p:spPr>
          <a:xfrm>
            <a:off x="8869680" y="3493008"/>
            <a:ext cx="1097280" cy="402336"/>
          </a:xfrm>
          <a:prstGeom prst="rect">
            <a:avLst/>
          </a:prstGeom>
          <a:noFill/>
        </p:spPr>
        <p:txBody>
          <a:bodyPr wrap="square" anchor="ctr" lIns="45720" rIns="45720" tIns="18288" bIns="18288">
            <a:spAutoFit/>
          </a:bodyPr>
          <a:lstStyle/>
          <a:p>
            <a:pPr algn="ctr"/>
            <a:r>
              <a:rPr sz="800" b="0">
                <a:solidFill>
                  <a:srgbClr val="1F1F1F"/>
                </a:solidFill>
                <a:latin typeface="KoPubWorld돋움체 Bold"/>
                <a:ea typeface="KoPubWorld돋움체 Bold"/>
                <a:cs typeface="KoPubWorld돋움체 Bold"/>
              </a:rPr>
              <a:t>거래종결</a:t>
            </a:r>
          </a:p>
          <a:p>
            <a:pPr algn="ctr"/>
            <a:r>
              <a:rPr sz="800" b="0">
                <a:solidFill>
                  <a:srgbClr val="1F1F1F"/>
                </a:solidFill>
                <a:latin typeface="KoPubWorld돋움체 Light"/>
                <a:ea typeface="KoPubWorld돋움체 Light"/>
                <a:cs typeface="KoPubWorld돋움체 Light"/>
              </a:rPr>
              <a:t>(소유권이전)</a:t>
            </a:r>
          </a:p>
        </p:txBody>
      </p:sp>
      <p:cxnSp>
        <p:nvCxnSpPr>
          <p:cNvPr id="146" name="Connector 145"/>
          <p:cNvCxnSpPr/>
          <p:nvPr/>
        </p:nvCxnSpPr>
        <p:spPr>
          <a:xfrm>
            <a:off x="3639312" y="2267712"/>
            <a:ext cx="0" cy="146304"/>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3639312" y="2267712"/>
            <a:ext cx="6510528" cy="0"/>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0149840" y="2267712"/>
            <a:ext cx="0" cy="950976"/>
          </a:xfrm>
          <a:prstGeom prst="line">
            <a:avLst/>
          </a:prstGeom>
          <a:ln w="9525">
            <a:solidFill>
              <a:srgbClr val="59595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9" name="Rectangle 148"/>
          <p:cNvSpPr/>
          <p:nvPr/>
        </p:nvSpPr>
        <p:spPr>
          <a:xfrm>
            <a:off x="6995160" y="2167128"/>
            <a:ext cx="301752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 양해각서 독점적 협상기간 만료 예정: ’26.10.28 〉</a:t>
            </a:r>
          </a:p>
        </p:txBody>
      </p:sp>
      <p:cxnSp>
        <p:nvCxnSpPr>
          <p:cNvPr id="150" name="Connector 149"/>
          <p:cNvCxnSpPr/>
          <p:nvPr/>
        </p:nvCxnSpPr>
        <p:spPr>
          <a:xfrm>
            <a:off x="3639312" y="2724912"/>
            <a:ext cx="1773936" cy="0"/>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3639312" y="2724912"/>
            <a:ext cx="0" cy="109728"/>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5413248" y="2724912"/>
            <a:ext cx="0" cy="109728"/>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3977640" y="262432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 실사기간: 4주 〉</a:t>
            </a:r>
          </a:p>
        </p:txBody>
      </p:sp>
      <p:sp>
        <p:nvSpPr>
          <p:cNvPr id="154" name="Rounded Rectangle 153"/>
          <p:cNvSpPr/>
          <p:nvPr/>
        </p:nvSpPr>
        <p:spPr>
          <a:xfrm>
            <a:off x="4754880" y="1389888"/>
            <a:ext cx="3429000" cy="768096"/>
          </a:xfrm>
          <a:prstGeom prst="roundRect">
            <a:avLst/>
          </a:prstGeom>
          <a:solidFill>
            <a:srgbClr val="FFF4DC"/>
          </a:solidFill>
          <a:ln w="12700">
            <a:solidFill>
              <a:srgbClr val="F78E3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50" b="0">
                <a:solidFill>
                  <a:srgbClr val="1F1F1F"/>
                </a:solidFill>
                <a:latin typeface="KoPubWorld돋움체 Bold"/>
                <a:ea typeface="KoPubWorld돋움체 Bold"/>
                <a:cs typeface="KoPubWorld돋움체 Bold"/>
              </a:rPr>
              <a:t>본 투자심의위원회 개최 (10/14)</a:t>
            </a:r>
          </a:p>
          <a:p>
            <a:pPr algn="l"/>
            <a:r>
              <a:rPr sz="850" b="0">
                <a:solidFill>
                  <a:srgbClr val="1F1F1F"/>
                </a:solidFill>
                <a:latin typeface="KoPubWorld돋움체 Light"/>
                <a:ea typeface="KoPubWorld돋움체 Light"/>
                <a:cs typeface="KoPubWorld돋움체 Light"/>
              </a:rPr>
              <a:t>1. 매매계약서 체결의 건</a:t>
            </a:r>
          </a:p>
          <a:p>
            <a:pPr algn="l"/>
            <a:r>
              <a:rPr sz="850" b="0">
                <a:solidFill>
                  <a:srgbClr val="1F1F1F"/>
                </a:solidFill>
                <a:latin typeface="KoPubWorld돋움체 Light"/>
                <a:ea typeface="KoPubWorld돋움체 Light"/>
                <a:cs typeface="KoPubWorld돋움체 Light"/>
              </a:rPr>
              <a:t>2. 주주간계약서 체결의 건</a:t>
            </a:r>
          </a:p>
          <a:p>
            <a:pPr algn="l"/>
            <a:r>
              <a:rPr sz="850" b="0">
                <a:solidFill>
                  <a:srgbClr val="1F1F1F"/>
                </a:solidFill>
                <a:latin typeface="KoPubWorld돋움체 Light"/>
                <a:ea typeface="KoPubWorld돋움체 Light"/>
                <a:cs typeface="KoPubWorld돋움체 Light"/>
              </a:rPr>
              <a:t>3. 코람코라이프인프라리츠 매입확약서(LOC) 날인의 건</a:t>
            </a:r>
          </a:p>
        </p:txBody>
      </p:sp>
      <p:cxnSp>
        <p:nvCxnSpPr>
          <p:cNvPr id="155" name="Connector 154"/>
          <p:cNvCxnSpPr/>
          <p:nvPr/>
        </p:nvCxnSpPr>
        <p:spPr>
          <a:xfrm>
            <a:off x="6382512" y="2157984"/>
            <a:ext cx="0" cy="1033272"/>
          </a:xfrm>
          <a:prstGeom prst="line">
            <a:avLst/>
          </a:prstGeom>
          <a:ln w="15875">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6382512" y="3840480"/>
            <a:ext cx="0" cy="1225296"/>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57" name="Rectangle 156"/>
          <p:cNvSpPr/>
          <p:nvPr/>
        </p:nvSpPr>
        <p:spPr>
          <a:xfrm>
            <a:off x="5166360" y="5394960"/>
            <a:ext cx="4873752" cy="219456"/>
          </a:xfrm>
          <a:prstGeom prst="rect">
            <a:avLst/>
          </a:prstGeom>
          <a:pattFill prst="ltVert">
            <a:fgClr>
              <a:srgbClr val="D9D9D9"/>
            </a:fgClr>
            <a:bgClr>
              <a:srgbClr val="FFFFFF"/>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8" name="Connector 157"/>
          <p:cNvCxnSpPr/>
          <p:nvPr/>
        </p:nvCxnSpPr>
        <p:spPr>
          <a:xfrm>
            <a:off x="2578608" y="5065776"/>
            <a:ext cx="2496312" cy="0"/>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074920" y="5065776"/>
            <a:ext cx="0" cy="310896"/>
          </a:xfrm>
          <a:prstGeom prst="line">
            <a:avLst/>
          </a:prstGeom>
          <a:ln w="9525">
            <a:solidFill>
              <a:srgbClr val="59595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0" name="Oval 159"/>
          <p:cNvSpPr/>
          <p:nvPr/>
        </p:nvSpPr>
        <p:spPr>
          <a:xfrm>
            <a:off x="5303520"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4892040"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12일(E)</a:t>
            </a:r>
          </a:p>
        </p:txBody>
      </p:sp>
      <p:sp>
        <p:nvSpPr>
          <p:cNvPr id="162" name="TextBox 161"/>
          <p:cNvSpPr txBox="1"/>
          <p:nvPr/>
        </p:nvSpPr>
        <p:spPr>
          <a:xfrm>
            <a:off x="4800600" y="5687568"/>
            <a:ext cx="1325880" cy="512064"/>
          </a:xfrm>
          <a:prstGeom prst="rect">
            <a:avLst/>
          </a:prstGeom>
          <a:noFill/>
        </p:spPr>
        <p:txBody>
          <a:bodyPr wrap="square" anchor="ctr" lIns="45720" rIns="45720" tIns="18288" bIns="18288">
            <a:spAutoFit/>
          </a:bodyPr>
          <a:lstStyle/>
          <a:p>
            <a:pPr algn="l"/>
            <a:r>
              <a:rPr sz="800" b="0">
                <a:solidFill>
                  <a:srgbClr val="1F1F1F"/>
                </a:solidFill>
                <a:latin typeface="KoPubWorld돋움체 Bold"/>
                <a:ea typeface="KoPubWorld돋움체 Bold"/>
                <a:cs typeface="KoPubWorld돋움체 Bold"/>
              </a:rPr>
              <a:t>투자자문위원회</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KLL 지분증권 취득 및</a:t>
            </a:r>
          </a:p>
          <a:p>
            <a:pPr algn="l" marL="137160" indent="0">
              <a:spcBef>
                <a:spcPts val="200"/>
              </a:spcBef>
              <a:buNone/>
            </a:pPr>
            <a:r>
              <a:rPr sz="700" b="0">
                <a:solidFill>
                  <a:srgbClr val="1F1F1F"/>
                </a:solidFill>
                <a:latin typeface="KoPubWorld돋움체 Light"/>
                <a:ea typeface="KoPubWorld돋움체 Light"/>
                <a:cs typeface="KoPubWorld돋움체 Light"/>
              </a:rPr>
              <a:t>매입확약서 제출 자문</a:t>
            </a:r>
          </a:p>
        </p:txBody>
      </p:sp>
      <p:sp>
        <p:nvSpPr>
          <p:cNvPr id="163" name="Oval 162"/>
          <p:cNvSpPr/>
          <p:nvPr/>
        </p:nvSpPr>
        <p:spPr>
          <a:xfrm>
            <a:off x="7223760"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812280"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16일(E)</a:t>
            </a:r>
          </a:p>
        </p:txBody>
      </p:sp>
      <p:sp>
        <p:nvSpPr>
          <p:cNvPr id="165" name="TextBox 164"/>
          <p:cNvSpPr txBox="1"/>
          <p:nvPr/>
        </p:nvSpPr>
        <p:spPr>
          <a:xfrm>
            <a:off x="6446520" y="5687568"/>
            <a:ext cx="1481328" cy="950976"/>
          </a:xfrm>
          <a:prstGeom prst="rect">
            <a:avLst/>
          </a:prstGeom>
          <a:noFill/>
        </p:spPr>
        <p:txBody>
          <a:bodyPr wrap="square" anchor="ctr" lIns="45720" rIns="45720" tIns="18288" bIns="18288">
            <a:spAutoFit/>
          </a:bodyPr>
          <a:lstStyle/>
          <a:p>
            <a:pPr algn="l"/>
            <a:r>
              <a:rPr sz="800" b="0">
                <a:solidFill>
                  <a:srgbClr val="1F1F1F"/>
                </a:solidFill>
                <a:latin typeface="KoPubWorld돋움체 Bold"/>
                <a:ea typeface="KoPubWorld돋움체 Bold"/>
                <a:cs typeface="KoPubWorld돋움체 Bold"/>
              </a:rPr>
              <a:t>이사회</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주주간계약 체결</a:t>
            </a:r>
          </a:p>
          <a:p>
            <a:pPr algn="l" marL="137160" indent="0">
              <a:spcBef>
                <a:spcPts val="200"/>
              </a:spcBef>
              <a:buNone/>
            </a:pPr>
            <a:r>
              <a:rPr sz="700" b="0">
                <a:solidFill>
                  <a:srgbClr val="1F1F1F"/>
                </a:solidFill>
                <a:latin typeface="KoPubWorld돋움체 Light"/>
                <a:ea typeface="KoPubWorld돋움체 Light"/>
                <a:cs typeface="KoPubWorld돋움체 Light"/>
              </a:rPr>
              <a:t>보통주 148억·2-1종 160억</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매입확약서 제출</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사모사채(140억원) 발행 및</a:t>
            </a:r>
          </a:p>
          <a:p>
            <a:pPr algn="l" marL="137160" indent="0">
              <a:spcBef>
                <a:spcPts val="200"/>
              </a:spcBef>
              <a:buNone/>
            </a:pPr>
            <a:r>
              <a:rPr sz="700" b="0">
                <a:solidFill>
                  <a:srgbClr val="1F1F1F"/>
                </a:solidFill>
                <a:latin typeface="KoPubWorld돋움체 Light"/>
                <a:ea typeface="KoPubWorld돋움체 Light"/>
                <a:cs typeface="KoPubWorld돋움체 Light"/>
              </a:rPr>
              <a:t>인수계약 체결</a:t>
            </a:r>
          </a:p>
        </p:txBody>
      </p:sp>
      <p:sp>
        <p:nvSpPr>
          <p:cNvPr id="166" name="Oval 165"/>
          <p:cNvSpPr/>
          <p:nvPr/>
        </p:nvSpPr>
        <p:spPr>
          <a:xfrm>
            <a:off x="8257032"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7845552"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20일</a:t>
            </a:r>
          </a:p>
        </p:txBody>
      </p:sp>
      <p:sp>
        <p:nvSpPr>
          <p:cNvPr id="168" name="TextBox 167"/>
          <p:cNvSpPr txBox="1"/>
          <p:nvPr/>
        </p:nvSpPr>
        <p:spPr>
          <a:xfrm>
            <a:off x="7936992" y="5687568"/>
            <a:ext cx="914400" cy="365760"/>
          </a:xfrm>
          <a:prstGeom prst="rect">
            <a:avLst/>
          </a:prstGeom>
          <a:noFill/>
        </p:spPr>
        <p:txBody>
          <a:bodyPr wrap="square" anchor="ctr" lIns="45720" rIns="45720" tIns="18288" bIns="18288">
            <a:spAutoFit/>
          </a:bodyPr>
          <a:lstStyle/>
          <a:p>
            <a:pPr algn="ctr"/>
            <a:r>
              <a:rPr sz="800" b="0">
                <a:solidFill>
                  <a:srgbClr val="1F1F1F"/>
                </a:solidFill>
                <a:latin typeface="KoPubWorld돋움체 Bold"/>
                <a:ea typeface="KoPubWorld돋움체 Bold"/>
                <a:cs typeface="KoPubWorld돋움체 Bold"/>
              </a:rPr>
              <a:t>주금 납입</a:t>
            </a:r>
          </a:p>
          <a:p>
            <a:pPr algn="ctr"/>
            <a:r>
              <a:rPr sz="700" b="0">
                <a:solidFill>
                  <a:srgbClr val="1F1F1F"/>
                </a:solidFill>
                <a:latin typeface="KoPubWorld돋움체 Light"/>
                <a:ea typeface="KoPubWorld돋움체 Light"/>
                <a:cs typeface="KoPubWorld돋움체 Light"/>
              </a:rPr>
              <a:t>KLI 출자 308억원</a:t>
            </a:r>
          </a:p>
        </p:txBody>
      </p:sp>
      <p:sp>
        <p:nvSpPr>
          <p:cNvPr id="169" name="Oval 168"/>
          <p:cNvSpPr/>
          <p:nvPr/>
        </p:nvSpPr>
        <p:spPr>
          <a:xfrm>
            <a:off x="9281160"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8869680"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22일 이후</a:t>
            </a:r>
          </a:p>
        </p:txBody>
      </p:sp>
      <p:sp>
        <p:nvSpPr>
          <p:cNvPr id="171" name="TextBox 170"/>
          <p:cNvSpPr txBox="1"/>
          <p:nvPr/>
        </p:nvSpPr>
        <p:spPr>
          <a:xfrm>
            <a:off x="9006840" y="5687568"/>
            <a:ext cx="1143000" cy="365760"/>
          </a:xfrm>
          <a:prstGeom prst="rect">
            <a:avLst/>
          </a:prstGeom>
          <a:noFill/>
        </p:spPr>
        <p:txBody>
          <a:bodyPr wrap="square" anchor="ctr" lIns="45720" rIns="45720" tIns="18288" bIns="18288">
            <a:spAutoFit/>
          </a:bodyPr>
          <a:lstStyle/>
          <a:p>
            <a:pPr algn="ctr"/>
            <a:r>
              <a:rPr sz="800" b="0">
                <a:solidFill>
                  <a:srgbClr val="1F1F1F"/>
                </a:solidFill>
                <a:latin typeface="KoPubWorld돋움체 Bold"/>
                <a:ea typeface="KoPubWorld돋움체 Bold"/>
                <a:cs typeface="KoPubWorld돋움체 Bold"/>
              </a:rPr>
              <a:t>변경인가·보고</a:t>
            </a:r>
          </a:p>
          <a:p>
            <a:pPr algn="ctr"/>
            <a:r>
              <a:rPr sz="700" b="0">
                <a:solidFill>
                  <a:srgbClr val="1F1F1F"/>
                </a:solidFill>
                <a:latin typeface="KoPubWorld돋움체 Light"/>
                <a:ea typeface="KoPubWorld돋움체 Light"/>
                <a:cs typeface="KoPubWorld돋움체 Light"/>
              </a:rPr>
              <a:t>[확인 필요]</a:t>
            </a:r>
          </a:p>
        </p:txBody>
      </p:sp>
      <p:sp>
        <p:nvSpPr>
          <p:cNvPr id="172" name="Up Arrow 171"/>
          <p:cNvSpPr/>
          <p:nvPr/>
        </p:nvSpPr>
        <p:spPr>
          <a:xfrm>
            <a:off x="7242048" y="4206240"/>
            <a:ext cx="237744" cy="841248"/>
          </a:xfrm>
          <a:prstGeom prst="upArrow">
            <a:avLst/>
          </a:prstGeom>
          <a:solidFill>
            <a:srgbClr val="DA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Up Arrow 172"/>
          <p:cNvSpPr/>
          <p:nvPr/>
        </p:nvSpPr>
        <p:spPr>
          <a:xfrm>
            <a:off x="8275320" y="3749040"/>
            <a:ext cx="237744" cy="1298448"/>
          </a:xfrm>
          <a:prstGeom prst="upArrow">
            <a:avLst/>
          </a:prstGeom>
          <a:solidFill>
            <a:srgbClr val="DA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코람코라이프로지스리츠(자리츠) 2026.9.11 자본금 3억원 발기설립 완료 (KLI 100% 출자)</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송부 일정(10/2) 기준: 10/7 투자자 의견 회신 → 10/8 최종합의 회람 → 10/14 투심위 → 10/16 체결 → 10/20 납입 → 10/22 종결 (독점협상 만료 10/28)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펀딩 현황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심의안건 및 추진일정</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본 자료 Ⅱ. 투자계획 '재원조달'·지분구성표, 주주간계약서 BKL v30.5 markup(2026-10-02, 최종) 제2.1·2.2·2.5조, 참고 인수확약서·참여의향서. 2종 투자자별 물량은 10/8 최종합의 회람 시 확정 예정(세부 변경 가능).</a:t>
            </a:r>
          </a:p>
        </p:txBody>
      </p:sp>
      <p:sp>
        <p:nvSpPr>
          <p:cNvPr id="17" name="TextBox 16"/>
          <p:cNvSpPr txBox="1"/>
          <p:nvPr/>
        </p:nvSpPr>
        <p:spPr>
          <a:xfrm>
            <a:off x="7534656" y="137160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graphicFrame>
        <p:nvGraphicFramePr>
          <p:cNvPr id="18" name="Table 17"/>
          <p:cNvGraphicFramePr>
            <a:graphicFrameLocks noGrp="1"/>
          </p:cNvGraphicFramePr>
          <p:nvPr/>
        </p:nvGraphicFramePr>
        <p:xfrm>
          <a:off x="521208" y="1572768"/>
          <a:ext cx="9756648" cy="4956048"/>
        </p:xfrm>
        <a:graphic>
          <a:graphicData uri="http://schemas.openxmlformats.org/drawingml/2006/table">
            <a:tbl>
              <a:tblPr firstRow="0" bandRow="0">
                <a:tableStyleId>{5C22544A-7EE6-4342-B048-85BDC9FD1C3A}</a:tableStyleId>
              </a:tblPr>
              <a:tblGrid>
                <a:gridCol w="1051560"/>
                <a:gridCol w="1097280"/>
                <a:gridCol w="2514600"/>
                <a:gridCol w="685800"/>
                <a:gridCol w="2240280"/>
                <a:gridCol w="2167128"/>
              </a:tblGrid>
              <a:tr h="310896">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트랜치</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투자자</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금액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 현황</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비고</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20624">
                <a:tc rowSpan="2">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담보대출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선순위 Tr.A</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우리은행</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1,600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금융확약서(LOC) 확보 (9/21)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금리 4.78%, 수수료 1.45% (All-in 5.50%)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중순위 Tr.B</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키움캐피탈 · MG캐피탈 등</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380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LOC 확보</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금리 6.00%, 수수료 1.00% (All-in 6.50%)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47472">
                <a:tc gridSpan="3">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Loan 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r"/>
                      <a:r>
                        <a:rPr sz="850" b="0">
                          <a:solidFill>
                            <a:srgbClr val="1F1F1F"/>
                          </a:solidFill>
                          <a:latin typeface="KoPubWorld돋움체 Bold"/>
                          <a:ea typeface="KoPubWorld돋움체 Bold"/>
                          <a:cs typeface="KoPubWorld돋움체 Bold"/>
                        </a:rPr>
                        <a:t>1,980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solidFill>
                      <a:srgbClr val="F2F2F2"/>
                    </a:solidFill>
                  </a:tcPr>
                </a:tc>
              </a:tr>
              <a:tr h="530352">
                <a:tc rowSpan="4">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종류주식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제1-1종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이지스리츠3호펀드 · 키움캐피탈</a:t>
                      </a:r>
                    </a:p>
                    <a:p>
                      <a:pPr algn="ctr"/>
                      <a:r>
                        <a:rPr sz="850" b="0">
                          <a:solidFill>
                            <a:srgbClr val="1F1F1F"/>
                          </a:solidFill>
                          <a:latin typeface="KoPubWorld돋움체 Light"/>
                          <a:ea typeface="KoPubWorld돋움체 Light"/>
                          <a:cs typeface="KoPubWorld돋움체 Light"/>
                        </a:rPr>
                        <a:t>애큐온캐피탈 · MG캐피탈</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240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우리투자증권 인수확약서(LOC)</a:t>
                      </a:r>
                    </a:p>
                    <a:p>
                      <a:pPr algn="ctr"/>
                      <a:r>
                        <a:rPr sz="850" b="0">
                          <a:solidFill>
                            <a:srgbClr val="1F1F1F"/>
                          </a:solidFill>
                          <a:latin typeface="KoPubWorld돋움체 Light"/>
                          <a:ea typeface="KoPubWorld돋움체 Light"/>
                          <a:cs typeface="KoPubWorld돋움체 Light"/>
                        </a:rPr>
                        <a:t>미납입분 잔액인수 (SHA 제2.5조)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연 7.0% 누적 · 의결권 · 24개월 내 KLI 매입확약</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제2-1종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160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KLI 이사회 승인 예정 (10/16)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연 7.5% 누적 · 의결권</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5303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제2-1종 · 2-2종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삼성증권 (2-1종 120)</a:t>
                      </a:r>
                    </a:p>
                    <a:p>
                      <a:pPr algn="ctr"/>
                      <a:r>
                        <a:rPr sz="850" b="0">
                          <a:solidFill>
                            <a:srgbClr val="1F1F1F"/>
                          </a:solidFill>
                          <a:latin typeface="KoPubWorld돋움체 Light"/>
                          <a:ea typeface="KoPubWorld돋움체 Light"/>
                          <a:cs typeface="KoPubWorld돋움체 Light"/>
                        </a:rPr>
                        <a:t>이지스K리츠펀드 · 기계설비조합 (2-2종 220)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삼성증권 인수확약서(LOC)</a:t>
                      </a:r>
                    </a:p>
                    <a:p>
                      <a:pPr algn="ctr"/>
                      <a:r>
                        <a:rPr sz="850" b="0">
                          <a:solidFill>
                            <a:srgbClr val="1F1F1F"/>
                          </a:solidFill>
                          <a:latin typeface="KoPubWorld돋움체 Light"/>
                          <a:ea typeface="KoPubWorld돋움체 Light"/>
                          <a:cs typeface="KoPubWorld돋움체 Light"/>
                        </a:rPr>
                        <a:t>미납입분 잔액인수 (SHA 제2.5조)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연 7.5% 누적 · 12개월 내 KLI 매입확약</a:t>
                      </a:r>
                    </a:p>
                    <a:p>
                      <a:pPr algn="l"/>
                      <a:r>
                        <a:rPr sz="850" b="0">
                          <a:solidFill>
                            <a:srgbClr val="1F1F1F"/>
                          </a:solidFill>
                          <a:latin typeface="KoPubWorld돋움체 Light"/>
                          <a:ea typeface="KoPubWorld돋움체 Light"/>
                          <a:cs typeface="KoPubWorld돋움체 Light"/>
                        </a:rPr>
                        <a:t>2-2종 무의결권</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제3종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코크렙안양주식회사 (매도인)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매매대금채권과 상계납입 (SHA 제2.2조)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무배당 · 무의결권 · 발행가 23,000원</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보통주</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보통주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148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KLI 이사회 승인 예정 (10/16)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발행가 5,000원 · 의결권</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47472">
                <a:tc gridSpan="3">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Equity 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r"/>
                      <a:r>
                        <a:rPr sz="850" b="0">
                          <a:solidFill>
                            <a:srgbClr val="1F1F1F"/>
                          </a:solidFill>
                          <a:latin typeface="KoPubWorld돋움체 Bold"/>
                          <a:ea typeface="KoPubWorld돋움체 Bold"/>
                          <a:cs typeface="KoPubWorld돋움체 Bold"/>
                        </a:rPr>
                        <a:t>988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solidFill>
                      <a:srgbClr val="F2F2F2"/>
                    </a:solidFill>
                  </a:tcPr>
                </a:tc>
              </a:tr>
              <a:tr h="42062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임대보증금</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승계 임대보증금 (임차인 질권설정금액 제외)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21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gridSpan="3">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재원조달 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850" b="0">
                          <a:solidFill>
                            <a:srgbClr val="1F1F1F"/>
                          </a:solidFill>
                          <a:latin typeface="KoPubWorld돋움체 Bold"/>
                          <a:ea typeface="KoPubWorld돋움체 Bold"/>
                          <a:cs typeface="KoPubWorld돋움체 Bold"/>
                        </a:rPr>
                        <a:t>2,989</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850" b="0">
                          <a:solidFill>
                            <a:srgbClr val="1F1F1F"/>
                          </a:solidFill>
                          <a:latin typeface="KoPubWorld돋움체 Bold"/>
                          <a:ea typeface="KoPubWorld돋움체 Bold"/>
                          <a:cs typeface="KoPubWorld돋움체 Bold"/>
                        </a:rPr>
                        <a:t>총 투자비 2,989억원</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solidFill>
                      <a:srgbClr val="F2F2F2"/>
                    </a:solidFill>
                  </a:tcPr>
                </a:tc>
              </a:tr>
            </a:tbl>
          </a:graphicData>
        </a:graphic>
      </p:graphicFrame>
      <p:sp>
        <p:nvSpPr>
          <p:cNvPr id="19" name="Rectangle 18"/>
          <p:cNvSpPr/>
          <p:nvPr/>
        </p:nvSpPr>
        <p:spPr>
          <a:xfrm>
            <a:off x="5870448" y="1554480"/>
            <a:ext cx="2240280" cy="4992624"/>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매매계약서 주요 내용 (3/3)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제5.1(d)·6.1(d)조, 본 자료 Ⅱ. 투자계획 '임차인별 임대차 조건'(매도인 제공). 보증금·월 임대료 금액은 임대면적×평당 단가로 표시(합계는 동 자료 총액 7,205백만원·1,203백만원과 일치). 임대차 만료는 임차인별 임대개시 시점 기준.</a:t>
            </a:r>
          </a:p>
        </p:txBody>
      </p:sp>
      <p:sp>
        <p:nvSpPr>
          <p:cNvPr id="17" name="TextBox 16"/>
          <p:cNvSpPr txBox="1"/>
          <p:nvPr/>
        </p:nvSpPr>
        <p:spPr>
          <a:xfrm>
            <a:off x="7534656" y="128016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평, 백만원, 원/평, %)</a:t>
            </a:r>
          </a:p>
        </p:txBody>
      </p:sp>
      <p:graphicFrame>
        <p:nvGraphicFramePr>
          <p:cNvPr id="18" name="Table 17"/>
          <p:cNvGraphicFramePr>
            <a:graphicFrameLocks noGrp="1"/>
          </p:cNvGraphicFramePr>
          <p:nvPr/>
        </p:nvGraphicFramePr>
        <p:xfrm>
          <a:off x="521208" y="1481328"/>
          <a:ext cx="9756648" cy="5022723"/>
        </p:xfrm>
        <a:graphic>
          <a:graphicData uri="http://schemas.openxmlformats.org/drawingml/2006/table">
            <a:tbl>
              <a:tblPr firstRow="0" bandRow="0">
                <a:tableStyleId>{5C22544A-7EE6-4342-B048-85BDC9FD1C3A}</a:tableStyleId>
              </a:tblPr>
              <a:tblGrid>
                <a:gridCol w="1417320"/>
                <a:gridCol w="466174"/>
                <a:gridCol w="880550"/>
                <a:gridCol w="776956"/>
                <a:gridCol w="828753"/>
                <a:gridCol w="776956"/>
                <a:gridCol w="776956"/>
                <a:gridCol w="776956"/>
                <a:gridCol w="725159"/>
                <a:gridCol w="673362"/>
                <a:gridCol w="1087738"/>
                <a:gridCol w="569768"/>
              </a:tblGrid>
              <a:tr h="256032">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gridSpan="11">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주요내용</a:t>
                      </a: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12700" cap="flat" cmpd="sng" algn="ctr">
                      <a:solidFill>
                        <a:srgbClr val="000000"/>
                      </a:solidFill>
                    </a:lnT>
                    <a:lnB w="6350"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12700" cap="flat" cmpd="sng" algn="ctr">
                      <a:solidFill>
                        <a:srgbClr val="000000"/>
                      </a:solidFill>
                    </a:lnT>
                    <a:lnB w="6350" cap="flat" cmpd="sng" algn="ctr">
                      <a:solidFill>
                        <a:srgbClr val="BFBFBF"/>
                      </a:solidFill>
                    </a:lnB>
                    <a:solidFill>
                      <a:srgbClr val="D9D9D9"/>
                    </a:solidFill>
                  </a:tcPr>
                </a:tc>
              </a:tr>
              <a:tr h="46888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임대차 승계</a:t>
                      </a:r>
                    </a:p>
                    <a:p>
                      <a:pPr algn="ctr"/>
                      <a:r>
                        <a:rPr sz="750" b="0">
                          <a:solidFill>
                            <a:srgbClr val="595959"/>
                          </a:solidFill>
                          <a:latin typeface="KoPubWorld돋움체 Light"/>
                          <a:ea typeface="KoPubWorld돋움체 Light"/>
                          <a:cs typeface="KoPubWorld돋움체 Light"/>
                        </a:rPr>
                        <a:t>(제5.1(d)·6.1(d)조)</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11">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거래종결 시 임대차 전부 승계 · </a:t>
                      </a:r>
                      <a:r>
                        <a:rPr sz="900" b="0">
                          <a:solidFill>
                            <a:srgbClr val="1F1F1F"/>
                          </a:solidFill>
                          <a:latin typeface="KoPubWorld돋움체 Bold"/>
                          <a:ea typeface="KoPubWorld돋움체 Bold"/>
                          <a:cs typeface="KoPubWorld돋움체 Bold"/>
                        </a:rPr>
                        <a:t>임대보증금 반환의무 인수</a:t>
                      </a:r>
                      <a:r>
                        <a:rPr sz="900" b="0">
                          <a:solidFill>
                            <a:srgbClr val="1F1F1F"/>
                          </a:solidFill>
                          <a:latin typeface="KoPubWorld돋움체 Light"/>
                          <a:ea typeface="KoPubWorld돋움체 Light"/>
                          <a:cs typeface="KoPubWorld돋움체 Light"/>
                        </a:rPr>
                        <a:t> (종결시 지급금액에서 승계 보증금 차감)</a:t>
                      </a:r>
                    </a:p>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쿠팡 승계동의서</a:t>
                      </a:r>
                      <a:r>
                        <a:rPr sz="900" b="0">
                          <a:solidFill>
                            <a:srgbClr val="1F1F1F"/>
                          </a:solidFill>
                          <a:latin typeface="KoPubWorld돋움체 Light"/>
                          <a:ea typeface="KoPubWorld돋움체 Light"/>
                          <a:cs typeface="KoPubWorld돋움체 Light"/>
                        </a:rPr>
                        <a:t>는 매수인 선행조건</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468884">
                <a:tc rowSpan="19">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임대차</a:t>
                      </a:r>
                    </a:p>
                    <a:p>
                      <a:pPr algn="ctr"/>
                      <a:r>
                        <a:rPr sz="900" b="0">
                          <a:solidFill>
                            <a:srgbClr val="1F1F1F"/>
                          </a:solidFill>
                          <a:latin typeface="KoPubWorld돋움체 Medium"/>
                          <a:ea typeface="KoPubWorld돋움체 Medium"/>
                          <a:cs typeface="KoPubWorld돋움체 Medium"/>
                        </a:rPr>
                        <a:t>주요조건</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11">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보증금: </a:t>
                      </a:r>
                      <a:r>
                        <a:rPr sz="900" b="0">
                          <a:solidFill>
                            <a:srgbClr val="1F1F1F"/>
                          </a:solidFill>
                          <a:latin typeface="KoPubWorld돋움체 Bold"/>
                          <a:ea typeface="KoPubWorld돋움체 Bold"/>
                          <a:cs typeface="KoPubWorld돋움체 Bold"/>
                        </a:rPr>
                        <a:t>총 7,205백만원</a:t>
                      </a:r>
                      <a:r>
                        <a:rPr sz="900" b="0">
                          <a:solidFill>
                            <a:srgbClr val="1F1F1F"/>
                          </a:solidFill>
                          <a:latin typeface="KoPubWorld돋움체 Light"/>
                          <a:ea typeface="KoPubWorld돋움체 Light"/>
                          <a:cs typeface="KoPubWorld돋움체 Light"/>
                        </a:rPr>
                        <a:t> / 월 임대료: </a:t>
                      </a:r>
                      <a:r>
                        <a:rPr sz="900" b="0">
                          <a:solidFill>
                            <a:srgbClr val="1F1F1F"/>
                          </a:solidFill>
                          <a:latin typeface="KoPubWorld돋움체 Bold"/>
                          <a:ea typeface="KoPubWorld돋움체 Bold"/>
                          <a:cs typeface="KoPubWorld돋움체 Bold"/>
                        </a:rPr>
                        <a:t>총 1,203백만원</a:t>
                      </a:r>
                      <a:r>
                        <a:rPr sz="900" b="0">
                          <a:solidFill>
                            <a:srgbClr val="1F1F1F"/>
                          </a:solidFill>
                          <a:latin typeface="KoPubWorld돋움체 Light"/>
                          <a:ea typeface="KoPubWorld돋움체 Light"/>
                          <a:cs typeface="KoPubWorld돋움체 Light"/>
                        </a:rPr>
                        <a:t> / 월 관리비: 총 62,086천원</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임대율 99.3%, 국내 최대 이커머스 기업 쿠팡이 전체 임대면적의 77.2% 임차</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296418">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층</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임차인</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용도</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임대면적</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보증금</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월 임대료</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보증금</a:t>
                      </a:r>
                    </a:p>
                    <a:p>
                      <a:pPr algn="ctr"/>
                      <a:r>
                        <a:rPr sz="750" b="0">
                          <a:solidFill>
                            <a:srgbClr val="1F1F1F"/>
                          </a:solidFill>
                          <a:latin typeface="KoPubWorld돋움체 Bold"/>
                          <a:ea typeface="KoPubWorld돋움체 Bold"/>
                          <a:cs typeface="KoPubWorld돋움체 Bold"/>
                        </a:rPr>
                        <a:t>(평당)</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임대료</a:t>
                      </a:r>
                    </a:p>
                    <a:p>
                      <a:pPr algn="ctr"/>
                      <a:r>
                        <a:rPr sz="750" b="0">
                          <a:solidFill>
                            <a:srgbClr val="1F1F1F"/>
                          </a:solidFill>
                          <a:latin typeface="KoPubWorld돋움체 Bold"/>
                          <a:ea typeface="KoPubWorld돋움체 Bold"/>
                          <a:cs typeface="KoPubWorld돋움체 Bold"/>
                        </a:rPr>
                        <a:t>(평당)</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관리비</a:t>
                      </a:r>
                    </a:p>
                    <a:p>
                      <a:pPr algn="ctr"/>
                      <a:r>
                        <a:rPr sz="750" b="0">
                          <a:solidFill>
                            <a:srgbClr val="1F1F1F"/>
                          </a:solidFill>
                          <a:latin typeface="KoPubWorld돋움체 Bold"/>
                          <a:ea typeface="KoPubWorld돋움체 Bold"/>
                          <a:cs typeface="KoPubWorld돋움체 Bold"/>
                        </a:rPr>
                        <a:t>(평당)</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임대차 만료</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인상률</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D9D9D9"/>
                    </a:solid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rowSpan="4">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8F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78.09</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17.9</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229,800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38,300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2,600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63.86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14.7</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229,800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38,300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2,600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키즈밀</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479.38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19.2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208,600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2029-12-31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207.40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45.4</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219,000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36,500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7F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1,550.42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558.2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6F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2,187.87</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787.6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131.3</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5F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786.8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4F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786.8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3F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농심</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642.6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107.1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294,000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49,000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2029-07-29</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0.00%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2F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786.8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rowSpan="4">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1F</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지오영</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1,092.94</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393.5</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65.6</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2035-01-31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용마로지스</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856.05</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308.2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51.4</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2030-01-31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아이팜</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17.29</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2030-04-30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v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공실</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141.01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2036-10-31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B1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2,745.32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988.3</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164.7</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B2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2,728.21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982.2</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163.7</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noFill/>
                  </a:tcPr>
                </a:tc>
              </a:tr>
              <a:tr h="180213">
                <a:tc vMerge="1">
                  <a:txBody>
                    <a:bodyPr wrap="square" anchor="ctr" lIns="45720" rIns="45720" tIns="18288" bIns="18288"/>
                    <a:lstStyle/>
                    <a:p>
                      <a:pPr algn="ct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gridSpan="3">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합계</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20,890.08</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7,205.1</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1,203.4</a:t>
                      </a: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6350" cap="flat" cmpd="sng" algn="ctr">
                      <a:solidFill>
                        <a:srgbClr val="BFBFBF"/>
                      </a:solidFill>
                    </a:lnL>
                    <a:lnR w="9525" cap="flat" cmpd="sng" algn="ctr">
                      <a:noFill/>
                    </a:lnR>
                    <a:lnT w="6350" cap="flat" cmpd="sng" algn="ctr">
                      <a:solidFill>
                        <a:srgbClr val="BFBFBF"/>
                      </a:solidFill>
                    </a:lnT>
                    <a:lnB w="6350" cap="flat" cmpd="sng" algn="ctr">
                      <a:solidFill>
                        <a:srgbClr val="BFBFBF"/>
                      </a:solidFill>
                    </a:lnB>
                    <a:solidFill>
                      <a:srgbClr val="F2F2F2"/>
                    </a:solidFill>
                  </a:tcPr>
                </a:tc>
              </a:tr>
              <a:tr h="468884">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비고</a:t>
                      </a:r>
                    </a:p>
                  </a:txBody>
                  <a:tcPr anchor="ctr" marL="54000" marR="36000" marT="9525" marB="9525">
                    <a:lnL w="9525" cap="flat" cmpd="sng" algn="ctr">
                      <a:noFill/>
                    </a:lnL>
                    <a:lnR w="6350" cap="flat" cmpd="sng" algn="ctr">
                      <a:solidFill>
                        <a:srgbClr val="BFBFBF"/>
                      </a:solidFill>
                    </a:lnR>
                    <a:lnT w="6350" cap="flat" cmpd="sng" algn="ctr">
                      <a:solidFill>
                        <a:srgbClr val="BFBFBF"/>
                      </a:solidFill>
                    </a:lnT>
                    <a:lnB w="12700" cap="flat" cmpd="sng" algn="ctr">
                      <a:solidFill>
                        <a:srgbClr val="000000"/>
                      </a:solidFill>
                    </a:lnB>
                    <a:solidFill>
                      <a:srgbClr val="F2F2F2"/>
                    </a:solidFill>
                  </a:tcPr>
                </a:tc>
                <a:tc gridSpan="11">
                  <a:txBody>
                    <a:bodyPr wrap="square" anchor="ctr" lIns="45720" rIns="45720" tIns="18288" bIns="18288"/>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 쿠팡: 현 임대차계약 상 만기는 ’34년 4월이나, ’28년 10월까지 임차인이 중도해지(연장) 여부를 선택할 수 있음</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현 ’29~’30년 만기 예정 임차인(농심 및 키즈밀 등)을 활용한 추가 임대수익 기대</a:t>
                      </a:r>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c hMerge="1">
                  <a:txBody>
                    <a:bodyPr wrap="square" anchor="ctr" lIns="45720" rIns="45720" tIns="18288" bIns="18288"/>
                    <a:lstStyle/>
                    <a:p>
                      <a:pPr algn="l"/>
                    </a:p>
                  </a:txBody>
                  <a:tcPr anchor="ctr" marL="91440" marR="36000" marT="9525" marB="9525">
                    <a:lnL w="6350" cap="flat" cmpd="sng" algn="ctr">
                      <a:solidFill>
                        <a:srgbClr val="BFBFBF"/>
                      </a:solidFill>
                    </a:lnL>
                    <a:lnR w="9525" cap="flat" cmpd="sng" algn="ctr">
                      <a:noFill/>
                    </a:lnR>
                    <a:lnT w="6350" cap="flat" cmpd="sng" algn="ctr">
                      <a:solidFill>
                        <a:srgbClr val="BFBFBF"/>
                      </a:solidFill>
                    </a:lnT>
                    <a:lnB w="12700" cap="flat" cmpd="sng" algn="ctr">
                      <a:solidFill>
                        <a:srgbClr val="000000"/>
                      </a:solidFill>
                    </a:lnB>
                    <a:no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78198</TotalTime>
  <Words>13307</Words>
  <Application>Microsoft Office PowerPoint</Application>
  <PresentationFormat>사용자 지정</PresentationFormat>
  <Paragraphs>4000</Paragraphs>
  <Slides>51</Slides>
  <Notes>21</Notes>
  <HiddenSlides>0</HiddenSlides>
  <MMClips>0</MMClips>
  <ScaleCrop>false</ScaleCrop>
  <HeadingPairs>
    <vt:vector size="6" baseType="variant">
      <vt:variant>
        <vt:lpstr>사용한 글꼴</vt:lpstr>
      </vt:variant>
      <vt:variant>
        <vt:i4>9</vt:i4>
      </vt:variant>
      <vt:variant>
        <vt:lpstr>테마</vt:lpstr>
      </vt:variant>
      <vt:variant>
        <vt:i4>3</vt:i4>
      </vt:variant>
      <vt:variant>
        <vt:lpstr>슬라이드 제목</vt:lpstr>
      </vt:variant>
      <vt:variant>
        <vt:i4>51</vt:i4>
      </vt:variant>
    </vt:vector>
  </HeadingPairs>
  <TitlesOfParts>
    <vt:vector size="63" baseType="lpstr">
      <vt:lpstr>KoPubWorld돋움체 Bold</vt:lpstr>
      <vt:lpstr>KoPubWorld돋움체 Light</vt:lpstr>
      <vt:lpstr>KoPubWorld돋움체 Medium</vt:lpstr>
      <vt:lpstr>KoPubWorld바탕체 Bold</vt:lpstr>
      <vt:lpstr>KoPubWorld바탕체 Medium</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5203</cp:revision>
  <cp:lastPrinted>2026-08-23T23:34:57Z</cp:lastPrinted>
  <dcterms:created xsi:type="dcterms:W3CDTF">2019-10-07T05:08:42Z</dcterms:created>
  <dcterms:modified xsi:type="dcterms:W3CDTF">2026-10-02T04:37:54Z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tttj1Zg1xuhyscW_ziB86ieCBeQ202402010000000</vt:lpwstr>
  </property>
  <property fmtid="{D5CDD505-2E9C-101B-9397-08002B2CF9AE}" pid="3" name="docPath">
    <vt:lpwstr>QzpcVXNlcnNceW9uZ2h5ZW9uYWhuXERvd25sb2Fkc1wyMDI2MDkxNl/tiKzsi6zsnpDro4xfQU5ZQU5HLUxPR0lTX3YwNy5wcHR4</vt:lpwstr>
  </property>
  <property fmtid="{D5CDD505-2E9C-101B-9397-08002B2CF9AE}" pid="4" name="docUid">
    <vt:lpwstr>TlqSUOvUz2jqmGfWs-WogWvifac</vt:lpwstr>
  </property>
  <property fmtid="{D5CDD505-2E9C-101B-9397-08002B2CF9AE}" pid="5" name="parentBranchUid">
    <vt:lpwstr>mYbpTarUPYKC9c3_2_Y8rygI1yU202402010000000</vt:lpwstr>
  </property>
</Properties>
</file>