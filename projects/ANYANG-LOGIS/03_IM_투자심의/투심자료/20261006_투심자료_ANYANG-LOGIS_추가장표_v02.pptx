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2192000" cy="6858000"/>
  <p:notesSz cx="6807200" cy="9939338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279" userDrawn="1">
          <p15:clr>
            <a:srgbClr val="A4A3A4"/>
          </p15:clr>
        </p15:guide>
        <p15:guide id="2" orient="horz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0" d="100"/>
          <a:sy n="110" d="100"/>
        </p:scale>
        <p:origin x="594" y="114"/>
      </p:cViewPr>
      <p:guideLst>
        <p:guide pos="279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266364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80376" tIns="40188" rIns="80376" bIns="40188"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80376" tIns="40188" rIns="80376" bIns="40188"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80376" tIns="40188" rIns="80376" bIns="40188"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80376" tIns="40188" rIns="80376" bIns="40188"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201168"/>
            <a:ext cx="868680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262626"/>
                </a:solidFill>
                <a:latin typeface="나눔스퀘어 ExtraBold" pitchFamily="34" charset="0"/>
                <a:ea typeface="나눔스퀘어 ExtraBold" pitchFamily="34" charset="-122"/>
                <a:cs typeface="나눔스퀘어 ExtraBold" pitchFamily="34" charset="-120"/>
              </a:rPr>
              <a:t>투자구조 및 당사 손익</a:t>
            </a:r>
          </a:p>
        </p:txBody>
      </p:sp>
      <p:sp>
        <p:nvSpPr>
          <p:cNvPr id="3" name="Shape 1"/>
          <p:cNvSpPr/>
          <p:nvPr/>
        </p:nvSpPr>
        <p:spPr>
          <a:xfrm>
            <a:off x="365760" y="731520"/>
            <a:ext cx="11457432" cy="0"/>
          </a:xfrm>
          <a:prstGeom prst="line">
            <a:avLst/>
          </a:prstGeom>
          <a:noFill/>
          <a:ln w="19050">
            <a:solidFill>
              <a:srgbClr val="D9D9D9"/>
            </a:solidFill>
            <a:prstDash val="solid"/>
          </a:ln>
        </p:spPr>
        <p:txBody>
          <a:bodyPr anchor="ctr"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365760" y="731520"/>
            <a:ext cx="3291840" cy="0"/>
          </a:xfrm>
          <a:prstGeom prst="line">
            <a:avLst/>
          </a:prstGeom>
          <a:noFill/>
          <a:ln w="31750">
            <a:solidFill>
              <a:srgbClr val="C00000"/>
            </a:solidFill>
            <a:prstDash val="solid"/>
          </a:ln>
        </p:spPr>
        <p:txBody>
          <a:bodyPr anchor="ctr"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9052560" y="109728"/>
            <a:ext cx="2770632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C00000"/>
                </a:solidFill>
                <a:latin typeface="나눔스퀘어 Bold" pitchFamily="34" charset="0"/>
                <a:ea typeface="나눔스퀘어 Bold" pitchFamily="34" charset="-122"/>
                <a:cs typeface="나눔스퀘어 Bold" pitchFamily="34" charset="-120"/>
              </a:rPr>
              <a:t>One </a:t>
            </a:r>
            <a:r>
              <a:rPr lang="en-US" sz="1100" dirty="0">
                <a:solidFill>
                  <a:srgbClr val="262626"/>
                </a:solidFill>
                <a:latin typeface="나눔스퀘어 Bold" pitchFamily="34" charset="0"/>
                <a:ea typeface="나눔스퀘어 Bold" pitchFamily="34" charset="-122"/>
                <a:cs typeface="나눔스퀘어 Bold" pitchFamily="34" charset="-120"/>
              </a:rPr>
              <a:t>KORAMCO </a:t>
            </a:r>
            <a:r>
              <a:rPr lang="en-US" sz="1100" dirty="0">
                <a:solidFill>
                  <a:srgbClr val="C00000"/>
                </a:solidFill>
                <a:latin typeface="나눔스퀘어 Bold" pitchFamily="34" charset="0"/>
                <a:ea typeface="나눔스퀘어 Bold" pitchFamily="34" charset="-122"/>
                <a:cs typeface="나눔스퀘어 Bold" pitchFamily="34" charset="-120"/>
              </a:rPr>
              <a:t>New </a:t>
            </a:r>
            <a:r>
              <a:rPr lang="en-US" sz="1100" dirty="0">
                <a:solidFill>
                  <a:srgbClr val="262626"/>
                </a:solidFill>
                <a:latin typeface="나눔스퀘어 Bold" pitchFamily="34" charset="0"/>
                <a:ea typeface="나눔스퀘어 Bold" pitchFamily="34" charset="-122"/>
                <a:cs typeface="나눔스퀘어 Bold" pitchFamily="34" charset="-120"/>
              </a:rPr>
              <a:t>KORAMCO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905256"/>
            <a:ext cx="118872" cy="182880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  <p:txBody>
          <a:bodyPr anchor="ctr"/>
          <a:lstStyle/>
          <a:p>
            <a:endParaRPr lang="ko-KR" altLang="en-US"/>
          </a:p>
        </p:txBody>
      </p:sp>
      <p:sp>
        <p:nvSpPr>
          <p:cNvPr id="7" name="Text 5"/>
          <p:cNvSpPr txBox="1"/>
          <p:nvPr/>
        </p:nvSpPr>
        <p:spPr>
          <a:xfrm>
            <a:off x="548640" y="850392"/>
            <a:ext cx="2743200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62626"/>
                </a:solidFill>
                <a:latin typeface="나눔스퀘어 ExtraBold" pitchFamily="34" charset="0"/>
                <a:ea typeface="나눔스퀘어 ExtraBold" pitchFamily="34" charset="-122"/>
                <a:cs typeface="나눔스퀘어 ExtraBold" pitchFamily="34" charset="-120"/>
              </a:rPr>
              <a:t>구조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" y="1207008"/>
            <a:ext cx="2834640" cy="640080"/>
          </a:xfrm>
          <a:prstGeom prst="rect">
            <a:avLst/>
          </a:prstGeom>
          <a:solidFill>
            <a:srgbClr val="6F6255"/>
          </a:solidFill>
          <a:ln>
            <a:solidFill>
              <a:srgbClr val="6F6255"/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나눔스퀘어 ExtraBold" pitchFamily="34" charset="0"/>
                <a:ea typeface="나눔스퀘어 ExtraBold" pitchFamily="34" charset="-122"/>
                <a:cs typeface="나눔스퀘어 ExtraBold" pitchFamily="34" charset="-120"/>
              </a:rPr>
              <a:t>코람코라이프인프라리츠</a:t>
            </a:r>
          </a:p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나눔스퀘어" pitchFamily="34" charset="0"/>
                <a:ea typeface="나눔스퀘어" pitchFamily="34" charset="-122"/>
                <a:cs typeface="나눔스퀘어" pitchFamily="34" charset="-120"/>
              </a:rPr>
              <a:t>(모리츠 · 상장리츠, 포트폴리오 약 1.68조)</a:t>
            </a:r>
          </a:p>
        </p:txBody>
      </p:sp>
      <p:sp>
        <p:nvSpPr>
          <p:cNvPr id="65" name="보수구조 주석"/>
          <p:cNvSpPr txBox="1"/>
          <p:nvPr/>
        </p:nvSpPr>
        <p:spPr>
          <a:xfrm>
            <a:off x="3429000" y="932688"/>
            <a:ext cx="3291840" cy="19833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>
              <a:buNone/>
            </a:pPr>
            <a:r>
              <a:rPr lang="en-US" altLang="ko-KR" sz="900" dirty="0">
                <a:solidFill>
                  <a:srgbClr val="262626"/>
                </a:solidFill>
                <a:latin typeface="나눔스퀘어 Bold" pitchFamily="34" charset="0"/>
                <a:ea typeface="나눔스퀘어 Bold" pitchFamily="34" charset="-122"/>
                <a:cs typeface="나눔스퀘어 Bold" pitchFamily="34" charset="-120"/>
              </a:rPr>
              <a:t>· </a:t>
            </a:r>
            <a:r>
              <a:rPr lang="en-US" sz="900" dirty="0">
                <a:solidFill>
                  <a:srgbClr val="262626"/>
                </a:solidFill>
                <a:latin typeface="나눔스퀘어 Bold" pitchFamily="34" charset="0"/>
                <a:ea typeface="나눔스퀘어 Bold" pitchFamily="34" charset="-122"/>
                <a:cs typeface="나눔스퀘어 Bold" pitchFamily="34" charset="-120"/>
              </a:rPr>
              <a:t>보수 구조 (자리츠1 · 자리츠2 · 모리츠)</a:t>
            </a:r>
          </a:p>
        </p:txBody>
      </p:sp>
      <p:sp>
        <p:nvSpPr>
          <p:cNvPr id="14" name="Shape 12"/>
          <p:cNvSpPr/>
          <p:nvPr/>
        </p:nvSpPr>
        <p:spPr>
          <a:xfrm>
            <a:off x="1325880" y="1847088"/>
            <a:ext cx="0" cy="329184"/>
          </a:xfrm>
          <a:prstGeom prst="line">
            <a:avLst/>
          </a:prstGeom>
          <a:noFill/>
          <a:ln w="12700">
            <a:solidFill>
              <a:srgbClr val="A6A6A6"/>
            </a:solidFill>
            <a:prstDash val="solid"/>
          </a:ln>
        </p:spPr>
        <p:txBody>
          <a:bodyPr anchor="ctr"/>
          <a:lstStyle/>
          <a:p>
            <a:endParaRPr lang="ko-KR" altLang="en-US"/>
          </a:p>
        </p:txBody>
      </p:sp>
      <p:sp>
        <p:nvSpPr>
          <p:cNvPr id="15" name="Text 13"/>
          <p:cNvSpPr txBox="1"/>
          <p:nvPr/>
        </p:nvSpPr>
        <p:spPr>
          <a:xfrm>
            <a:off x="1417320" y="1883664"/>
            <a:ext cx="1371600" cy="23774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00000"/>
                </a:solidFill>
                <a:latin typeface="나눔스퀘어 ExtraBold" pitchFamily="34" charset="0"/>
                <a:ea typeface="나눔스퀘어 ExtraBold" pitchFamily="34" charset="-122"/>
                <a:cs typeface="나눔스퀘어 ExtraBold" pitchFamily="34" charset="-120"/>
              </a:rPr>
              <a:t>KLI 출자</a:t>
            </a:r>
          </a:p>
        </p:txBody>
      </p:sp>
      <p:sp>
        <p:nvSpPr>
          <p:cNvPr id="16" name="Shape 14"/>
          <p:cNvSpPr/>
          <p:nvPr/>
        </p:nvSpPr>
        <p:spPr>
          <a:xfrm>
            <a:off x="1325880" y="2176272"/>
            <a:ext cx="5212080" cy="0"/>
          </a:xfrm>
          <a:prstGeom prst="line">
            <a:avLst/>
          </a:prstGeom>
          <a:noFill/>
          <a:ln w="12700">
            <a:solidFill>
              <a:srgbClr val="A6A6A6"/>
            </a:solidFill>
            <a:prstDash val="solid"/>
          </a:ln>
        </p:spPr>
        <p:txBody>
          <a:bodyPr anchor="ctr"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1325880" y="2176272"/>
            <a:ext cx="0" cy="219456"/>
          </a:xfrm>
          <a:prstGeom prst="line">
            <a:avLst/>
          </a:prstGeom>
          <a:noFill/>
          <a:ln w="12700">
            <a:solidFill>
              <a:srgbClr val="A6A6A6"/>
            </a:solidFill>
            <a:prstDash val="solid"/>
          </a:ln>
        </p:spPr>
        <p:txBody>
          <a:bodyPr anchor="ctr"/>
          <a:lstStyle/>
          <a:p>
            <a:endParaRPr lang="ko-KR" altLang="en-US"/>
          </a:p>
        </p:txBody>
      </p:sp>
      <p:sp>
        <p:nvSpPr>
          <p:cNvPr id="20" name="Shape 18"/>
          <p:cNvSpPr/>
          <p:nvPr/>
        </p:nvSpPr>
        <p:spPr>
          <a:xfrm>
            <a:off x="6537960" y="2176272"/>
            <a:ext cx="0" cy="219456"/>
          </a:xfrm>
          <a:prstGeom prst="line">
            <a:avLst/>
          </a:prstGeom>
          <a:noFill/>
          <a:ln w="12700">
            <a:solidFill>
              <a:srgbClr val="A6A6A6"/>
            </a:solidFill>
            <a:prstDash val="sysDash"/>
          </a:ln>
        </p:spPr>
        <p:txBody>
          <a:bodyPr anchor="ctr"/>
          <a:lstStyle/>
          <a:p>
            <a:endParaRPr lang="ko-KR" altLang="en-US"/>
          </a:p>
        </p:txBody>
      </p:sp>
      <p:sp>
        <p:nvSpPr>
          <p:cNvPr id="21" name="Shape 19"/>
          <p:cNvSpPr/>
          <p:nvPr/>
        </p:nvSpPr>
        <p:spPr>
          <a:xfrm>
            <a:off x="365760" y="2395728"/>
            <a:ext cx="3886200" cy="2066544"/>
          </a:xfrm>
          <a:prstGeom prst="rect">
            <a:avLst/>
          </a:prstGeom>
          <a:solidFill>
            <a:srgbClr val="FDF7F7"/>
          </a:solidFill>
          <a:ln w="12700">
            <a:solidFill>
              <a:srgbClr val="C00000"/>
            </a:solidFill>
            <a:prstDash val="dash"/>
          </a:ln>
        </p:spPr>
        <p:txBody>
          <a:bodyPr anchor="ctr"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502920" y="2468880"/>
            <a:ext cx="2834640" cy="384048"/>
          </a:xfrm>
          <a:prstGeom prst="rect">
            <a:avLst/>
          </a:prstGeom>
          <a:solidFill>
            <a:srgbClr val="EDE6DF"/>
          </a:solidFill>
          <a:ln>
            <a:solidFill>
              <a:srgbClr val="A39382"/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62626"/>
                </a:solidFill>
                <a:latin typeface="나눔스퀘어 ExtraBold" pitchFamily="34" charset="0"/>
                <a:ea typeface="나눔스퀘어 ExtraBold" pitchFamily="34" charset="-122"/>
                <a:cs typeface="나눔스퀘어 ExtraBold" pitchFamily="34" charset="-120"/>
              </a:rPr>
              <a:t>자리츠1 </a:t>
            </a:r>
            <a:r>
              <a:rPr lang="en-US" sz="1050" dirty="0">
                <a:solidFill>
                  <a:srgbClr val="262626"/>
                </a:solidFill>
                <a:latin typeface="나눔스퀘어" pitchFamily="34" charset="0"/>
                <a:ea typeface="나눔스퀘어" pitchFamily="34" charset="-122"/>
                <a:cs typeface="나눔스퀘어" pitchFamily="34" charset="-120"/>
              </a:rPr>
              <a:t>코크렙제72호 (5,760억)</a:t>
            </a:r>
          </a:p>
          <a:p>
            <a:pPr marL="0" indent="0" algn="ctr">
              <a:buNone/>
            </a:pPr>
            <a:r>
              <a:rPr lang="ko-KR" altLang="en-US" sz="900" b="1" dirty="0" err="1">
                <a:solidFill>
                  <a:srgbClr val="262626"/>
                </a:solidFill>
                <a:latin typeface="나눔스퀘어" pitchFamily="34" charset="0"/>
                <a:ea typeface="나눔스퀘어" pitchFamily="34" charset="-122"/>
              </a:rPr>
              <a:t>현대차 실물자산 11개 · 거래종결 ’26.5</a:t>
            </a:r>
          </a:p>
        </p:txBody>
      </p:sp>
      <p:sp>
        <p:nvSpPr>
          <p:cNvPr id="34" name="Text 32"/>
          <p:cNvSpPr txBox="1"/>
          <p:nvPr/>
        </p:nvSpPr>
        <p:spPr>
          <a:xfrm>
            <a:off x="2423160" y="2962656"/>
            <a:ext cx="1783080" cy="5669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62626"/>
                </a:solidFill>
                <a:latin typeface="나눔스퀘어" pitchFamily="34" charset="0"/>
                <a:ea typeface="나눔스퀘어" pitchFamily="34" charset="-122"/>
                <a:cs typeface="나눔스퀘어" pitchFamily="34" charset="-120"/>
              </a:rPr>
              <a:t>KLI(1종) </a:t>
            </a:r>
            <a:r>
              <a:rPr lang="en-US" sz="850" dirty="0">
                <a:solidFill>
                  <a:srgbClr val="262626"/>
                </a:solidFill>
                <a:latin typeface="나눔스퀘어 Bold" pitchFamily="34" charset="0"/>
                <a:ea typeface="나눔스퀘어 Bold" pitchFamily="34" charset="-122"/>
                <a:cs typeface="나눔스퀘어 Bold" pitchFamily="34" charset="-120"/>
              </a:rPr>
              <a:t>1,193억 </a:t>
            </a:r>
            <a:r>
              <a:rPr lang="en-US" sz="850" dirty="0">
                <a:solidFill>
                  <a:srgbClr val="262626"/>
                </a:solidFill>
                <a:latin typeface="나눔스퀘어 Bold" pitchFamily="34" charset="0"/>
                <a:ea typeface="나눔스퀘어 Bold" pitchFamily="34" charset="-122"/>
                <a:cs typeface="나눔스퀘어 Bold" pitchFamily="34" charset="-120"/>
              </a:rPr>
              <a:t>(50.13%)</a:t>
            </a:r>
          </a:p>
          <a:p>
            <a:pPr marL="0" indent="0">
              <a:buNone/>
            </a:pPr>
            <a:r>
              <a:rPr lang="en-US" sz="850" dirty="0">
                <a:solidFill>
                  <a:srgbClr val="262626"/>
                </a:solidFill>
                <a:latin typeface="나눔스퀘어" pitchFamily="34" charset="0"/>
                <a:ea typeface="나눔스퀘어" pitchFamily="34" charset="-122"/>
                <a:cs typeface="나눔스퀘어" pitchFamily="34" charset="-120"/>
              </a:rPr>
              <a:t>한투(2종) </a:t>
            </a:r>
            <a:r>
              <a:rPr lang="en-US" sz="850" dirty="0">
                <a:solidFill>
                  <a:srgbClr val="C00000"/>
                </a:solidFill>
                <a:latin typeface="나눔스퀘어 Bold" pitchFamily="34" charset="0"/>
                <a:ea typeface="나눔스퀘어 Bold" pitchFamily="34" charset="-122"/>
                <a:cs typeface="나눔스퀘어 Bold" pitchFamily="34" charset="-120"/>
              </a:rPr>
              <a:t>475.2억 </a:t>
            </a:r>
            <a:r>
              <a:rPr lang="en-US" sz="850" dirty="0">
                <a:solidFill>
                  <a:srgbClr val="C00000"/>
                </a:solidFill>
                <a:latin typeface="나눔스퀘어 Bold" pitchFamily="34" charset="0"/>
                <a:ea typeface="나눔스퀘어 Bold" pitchFamily="34" charset="-122"/>
                <a:cs typeface="나눔스퀘어 Bold" pitchFamily="34" charset="-120"/>
              </a:rPr>
              <a:t>(19.97%)</a:t>
            </a:r>
          </a:p>
          <a:p>
            <a:pPr marL="0" indent="0">
              <a:buNone/>
            </a:pPr>
            <a:r>
              <a:rPr lang="en-US" sz="850" dirty="0">
                <a:solidFill>
                  <a:srgbClr val="262626"/>
                </a:solidFill>
                <a:latin typeface="나눔스퀘어" pitchFamily="34" charset="0"/>
                <a:ea typeface="나눔스퀘어" pitchFamily="34" charset="-122"/>
                <a:cs typeface="나눔스퀘어" pitchFamily="34" charset="-120"/>
              </a:rPr>
              <a:t>현대차(보통주) </a:t>
            </a:r>
            <a:r>
              <a:rPr lang="en-US" sz="850" dirty="0">
                <a:solidFill>
                  <a:srgbClr val="C00000"/>
                </a:solidFill>
                <a:latin typeface="나눔스퀘어 Bold" pitchFamily="34" charset="0"/>
                <a:ea typeface="나눔스퀘어 Bold" pitchFamily="34" charset="-122"/>
                <a:cs typeface="나눔스퀘어 Bold" pitchFamily="34" charset="-120"/>
              </a:rPr>
              <a:t>711.7억 </a:t>
            </a:r>
            <a:r>
              <a:rPr lang="en-US" sz="850" dirty="0">
                <a:solidFill>
                  <a:srgbClr val="C00000"/>
                </a:solidFill>
                <a:latin typeface="나눔스퀘어 Bold" pitchFamily="34" charset="0"/>
                <a:ea typeface="나눔스퀘어 Bold" pitchFamily="34" charset="-122"/>
                <a:cs typeface="나눔스퀘어 Bold" pitchFamily="34" charset="-120"/>
              </a:rPr>
              <a:t>(29.90%)</a:t>
            </a:r>
          </a:p>
        </p:txBody>
      </p:sp>
      <p:sp>
        <p:nvSpPr>
          <p:cNvPr id="36" name="Text 34"/>
          <p:cNvSpPr txBox="1"/>
          <p:nvPr/>
        </p:nvSpPr>
        <p:spPr>
          <a:xfrm>
            <a:off x="2423160" y="3602736"/>
            <a:ext cx="1783080" cy="640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62626"/>
                </a:solidFill>
                <a:latin typeface="나눔스퀘어 Bold" pitchFamily="34" charset="0"/>
                <a:ea typeface="나눔스퀘어 Bold" pitchFamily="34" charset="-122"/>
                <a:cs typeface="나눔스퀘어 Bold" pitchFamily="34" charset="-120"/>
              </a:rPr>
              <a:t>LTV 60% (매입가 기준)</a:t>
            </a:r>
          </a:p>
          <a:p>
            <a:pPr marL="0" indent="0">
              <a:buNone/>
            </a:pPr>
            <a:r>
              <a:rPr lang="en-US" sz="850" dirty="0">
                <a:solidFill>
                  <a:srgbClr val="262626"/>
                </a:solidFill>
                <a:latin typeface="나눔스퀘어" pitchFamily="34" charset="0"/>
                <a:ea typeface="나눔스퀘어" pitchFamily="34" charset="-122"/>
                <a:cs typeface="나눔스퀘어" pitchFamily="34" charset="-120"/>
              </a:rPr>
              <a:t>선순위 담보대출 3,140억</a:t>
            </a:r>
          </a:p>
          <a:p>
            <a:pPr marL="0" indent="0">
              <a:buNone/>
            </a:pPr>
            <a:r>
              <a:rPr lang="en-US" sz="850" dirty="0">
                <a:solidFill>
                  <a:srgbClr val="262626"/>
                </a:solidFill>
                <a:latin typeface="나눔스퀘어" pitchFamily="34" charset="0"/>
                <a:ea typeface="나눔스퀘어" pitchFamily="34" charset="-122"/>
                <a:cs typeface="나눔스퀘어" pitchFamily="34" charset="-120"/>
              </a:rPr>
              <a:t>한국투자증권 조건부 총액인수</a:t>
            </a:r>
          </a:p>
        </p:txBody>
      </p:sp>
      <p:sp>
        <p:nvSpPr>
          <p:cNvPr id="40" name="Shape 37"/>
          <p:cNvSpPr/>
          <p:nvPr/>
        </p:nvSpPr>
        <p:spPr>
          <a:xfrm>
            <a:off x="365760" y="4572000"/>
            <a:ext cx="118872" cy="182880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  <p:txBody>
          <a:bodyPr anchor="ctr"/>
          <a:lstStyle/>
          <a:p>
            <a:endParaRPr lang="ko-KR" altLang="en-US"/>
          </a:p>
        </p:txBody>
      </p:sp>
      <p:sp>
        <p:nvSpPr>
          <p:cNvPr id="41" name="Text 38"/>
          <p:cNvSpPr txBox="1"/>
          <p:nvPr/>
        </p:nvSpPr>
        <p:spPr>
          <a:xfrm>
            <a:off x="548640" y="4517136"/>
            <a:ext cx="2743200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>
              <a:buNone/>
            </a:pPr>
            <a:r>
              <a:rPr lang="en-US" sz="1300" dirty="0" err="1">
                <a:solidFill>
                  <a:srgbClr val="262626"/>
                </a:solidFill>
                <a:latin typeface="나눔스퀘어 ExtraBold" pitchFamily="34" charset="0"/>
                <a:ea typeface="나눔스퀘어 ExtraBold" pitchFamily="34" charset="-122"/>
                <a:cs typeface="나눔스퀘어 ExtraBold" pitchFamily="34" charset="-120"/>
              </a:rPr>
              <a:t>당사 손익 </a:t>
            </a:r>
            <a:r>
              <a:rPr lang="en-US" sz="900" dirty="0">
                <a:solidFill>
                  <a:srgbClr val="262626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나눔스퀘어 ExtraBold" pitchFamily="34" charset="-120"/>
              </a:rPr>
              <a:t>(자리츠1 · 자리츠2 · 모리츠)</a:t>
            </a:r>
          </a:p>
        </p:txBody>
      </p:sp>
      <p:sp>
        <p:nvSpPr>
          <p:cNvPr id="42" name="Text 39"/>
          <p:cNvSpPr txBox="1"/>
          <p:nvPr/>
        </p:nvSpPr>
        <p:spPr>
          <a:xfrm>
            <a:off x="7223760" y="4572000"/>
            <a:ext cx="1371600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F7F7F"/>
                </a:solidFill>
                <a:latin typeface="나눔스퀘어" pitchFamily="34" charset="0"/>
                <a:ea typeface="나눔스퀘어" pitchFamily="34" charset="-122"/>
                <a:cs typeface="나눔스퀘어" pitchFamily="34" charset="-120"/>
              </a:rPr>
              <a:t>(단위 : 억원)</a:t>
            </a:r>
            <a:endParaRPr lang="en-US" sz="900" dirty="0"/>
          </a:p>
        </p:txBody>
      </p:sp>
      <p:sp>
        <p:nvSpPr>
          <p:cNvPr id="44" name="Shape 40"/>
          <p:cNvSpPr/>
          <p:nvPr/>
        </p:nvSpPr>
        <p:spPr>
          <a:xfrm>
            <a:off x="8764143" y="896112"/>
            <a:ext cx="0" cy="5577840"/>
          </a:xfrm>
          <a:prstGeom prst="line">
            <a:avLst/>
          </a:prstGeom>
          <a:noFill/>
          <a:ln w="12700">
            <a:solidFill>
              <a:srgbClr val="BFBFBF"/>
            </a:solidFill>
            <a:prstDash val="dash"/>
          </a:ln>
        </p:spPr>
        <p:txBody>
          <a:bodyPr anchor="ctr"/>
          <a:lstStyle/>
          <a:p>
            <a:endParaRPr lang="ko-KR" altLang="en-US"/>
          </a:p>
        </p:txBody>
      </p:sp>
      <p:sp>
        <p:nvSpPr>
          <p:cNvPr id="45" name="Shape 41"/>
          <p:cNvSpPr/>
          <p:nvPr/>
        </p:nvSpPr>
        <p:spPr>
          <a:xfrm>
            <a:off x="8879205" y="905256"/>
            <a:ext cx="118872" cy="182880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  <p:txBody>
          <a:bodyPr anchor="ctr"/>
          <a:lstStyle/>
          <a:p>
            <a:endParaRPr lang="ko-KR" altLang="en-US"/>
          </a:p>
        </p:txBody>
      </p:sp>
      <p:sp>
        <p:nvSpPr>
          <p:cNvPr id="46" name="Text 42"/>
          <p:cNvSpPr txBox="1"/>
          <p:nvPr/>
        </p:nvSpPr>
        <p:spPr>
          <a:xfrm>
            <a:off x="9062085" y="850392"/>
            <a:ext cx="2743200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>
              <a:buNone/>
            </a:pPr>
            <a:r>
              <a:rPr lang="en-US" sz="1300" dirty="0" err="1">
                <a:solidFill>
                  <a:srgbClr val="262626"/>
                </a:solidFill>
                <a:latin typeface="나눔스퀘어 ExtraBold" pitchFamily="34" charset="0"/>
                <a:ea typeface="나눔스퀘어 ExtraBold" pitchFamily="34" charset="-122"/>
                <a:cs typeface="나눔스퀘어 ExtraBold" pitchFamily="34" charset="-120"/>
              </a:rPr>
              <a:t>보수 </a:t>
            </a:r>
            <a:r>
              <a:rPr lang="ko-KR" altLang="en-US" sz="900" dirty="0">
                <a:solidFill>
                  <a:srgbClr val="262626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나눔스퀘어 ExtraBold" pitchFamily="34" charset="-120"/>
              </a:rPr>
              <a:t>(자리츠1 · 자리츠2 · 모리츠)</a:t>
            </a:r>
          </a:p>
        </p:txBody>
      </p:sp>
      <p:sp>
        <p:nvSpPr>
          <p:cNvPr id="48" name="Shape 43"/>
          <p:cNvSpPr/>
          <p:nvPr/>
        </p:nvSpPr>
        <p:spPr>
          <a:xfrm>
            <a:off x="8879205" y="4370832"/>
            <a:ext cx="118872" cy="182880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  <p:txBody>
          <a:bodyPr anchor="ctr"/>
          <a:lstStyle/>
          <a:p>
            <a:endParaRPr lang="ko-KR" altLang="en-US"/>
          </a:p>
        </p:txBody>
      </p:sp>
      <p:sp>
        <p:nvSpPr>
          <p:cNvPr id="49" name="Text 44"/>
          <p:cNvSpPr txBox="1"/>
          <p:nvPr/>
        </p:nvSpPr>
        <p:spPr>
          <a:xfrm>
            <a:off x="9062085" y="4315968"/>
            <a:ext cx="2743200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62626"/>
                </a:solidFill>
                <a:latin typeface="나눔스퀘어 ExtraBold" pitchFamily="34" charset="0"/>
                <a:ea typeface="나눔스퀘어 ExtraBold" pitchFamily="34" charset="-122"/>
                <a:cs typeface="나눔스퀘어 ExtraBold" pitchFamily="34" charset="-120"/>
              </a:rPr>
              <a:t>모리츠(KLI) 투자수익 </a:t>
            </a:r>
            <a:r>
              <a:rPr lang="en-US" sz="900" dirty="0">
                <a:solidFill>
                  <a:srgbClr val="262626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나눔스퀘어 ExtraBold" pitchFamily="34" charset="-120"/>
              </a:rPr>
              <a:t>(참고)</a:t>
            </a:r>
          </a:p>
        </p:txBody>
      </p:sp>
      <p:graphicFrame>
        <p:nvGraphicFramePr>
          <p:cNvPr id="50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37752814"/>
              </p:ext>
            </p:extLst>
          </p:nvPr>
        </p:nvGraphicFramePr>
        <p:xfrm>
          <a:off x="8931954" y="4663439"/>
          <a:ext cx="3044952" cy="1894110"/>
        </p:xfrm>
        <a:graphic>
          <a:graphicData uri="http://schemas.openxmlformats.org/drawingml/2006/table">
            <a:tbl>
              <a:tblPr/>
              <a:tblGrid>
                <a:gridCol w="777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338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3385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2402">
                <a:tc>
                  <a:txBody>
                    <a:bodyPr anchor="ctr"/>
                    <a:lstStyle/>
                    <a:p>
                      <a:pPr marL="0" indent="0" algn="ctr">
                        <a:buNone/>
                      </a:pPr>
                      <a:r>
                        <a:rPr lang="ko-KR" sz="900" dirty="0">
                          <a:solidFill>
                            <a:srgbClr val="FFFFFF"/>
                          </a:solidFill>
                          <a:latin typeface="나눔스퀘어 Bold"/>
                          <a:ea typeface="나눔스퀘어 Bold"/>
                          <a:cs typeface="나눔스퀘어 Bold"/>
                        </a:rPr>
                        <a:t>구 분</a:t>
                      </a: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A39382"/>
                    </a:solidFill>
                  </a:tcPr>
                </a:tc>
                <a:tc>
                  <a:txBody>
                    <a:bodyPr anchor="ctr"/>
                    <a:lstStyle/>
                    <a:p>
                      <a:pPr marL="0" indent="0" algn="ctr">
                        <a:buNone/>
                      </a:pPr>
                      <a:r>
                        <a:rPr lang="ko-KR" sz="900" dirty="0">
                          <a:solidFill>
                            <a:srgbClr val="FFFFFF"/>
                          </a:solidFill>
                          <a:latin typeface="나눔스퀘어 Bold"/>
                          <a:ea typeface="나눔스퀘어 Bold"/>
                          <a:cs typeface="나눔스퀘어 Bold"/>
                        </a:rPr>
                        <a:t>자리츠1 (72호)</a:t>
                      </a: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A39382"/>
                    </a:solidFill>
                  </a:tcPr>
                </a:tc>
                <a:tc>
                  <a:txBody>
                    <a:bodyPr anchor="ctr"/>
                    <a:lstStyle/>
                    <a:p>
                      <a:pPr marL="0" indent="0" algn="ctr">
                        <a:buNone/>
                      </a:pPr>
                      <a:r>
                        <a:rPr lang="ko-KR" sz="900" dirty="0">
                          <a:solidFill>
                            <a:srgbClr val="FFFFFF"/>
                          </a:solidFill>
                          <a:latin typeface="나눔스퀘어 Bold"/>
                          <a:ea typeface="나눔스퀘어 Bold"/>
                          <a:cs typeface="나눔스퀘어 Bold"/>
                        </a:rPr>
                        <a:t>자리츠2 (본건)</a:t>
                      </a: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A393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4203">
                <a:tc>
                  <a:txBody>
                    <a:bodyPr anchor="ctr"/>
                    <a:lstStyle/>
                    <a:p>
                      <a:pPr marL="0" indent="0" algn="ctr">
                        <a:buNone/>
                      </a:pPr>
                      <a:r>
                        <a:rPr lang="ko-KR" sz="850" dirty="0">
                          <a:solidFill>
                            <a:srgbClr val="262626"/>
                          </a:solidFill>
                          <a:latin typeface="나눔스퀘어 Bold"/>
                          <a:ea typeface="나눔스퀘어 Bold"/>
                          <a:cs typeface="나눔스퀘어 Bold"/>
                        </a:rPr>
                        <a:t>투자금액</a:t>
                      </a: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5F3F1"/>
                    </a:solidFill>
                  </a:tcPr>
                </a:tc>
                <a:tc>
                  <a:txBody>
                    <a:bodyPr anchor="ctr"/>
                    <a:lstStyle/>
                    <a:p>
                      <a:pPr marL="0" indent="0" algn="ctr">
                        <a:buNone/>
                      </a:pPr>
                      <a:r>
                        <a:rPr lang="ko-KR" sz="850" dirty="0">
                          <a:solidFill>
                            <a:srgbClr val="262626"/>
                          </a:solidFill>
                          <a:latin typeface="나눔스퀘어"/>
                          <a:ea typeface="나눔스퀘어"/>
                          <a:cs typeface="나눔스퀘어"/>
                        </a:rPr>
                        <a:t>1,193억 (1종)</a:t>
                      </a: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marL="0" indent="0" algn="ctr">
                        <a:buNone/>
                      </a:pPr>
                      <a:r>
                        <a:rPr lang="ko-KR" sz="850" dirty="0">
                          <a:solidFill>
                            <a:srgbClr val="262626"/>
                          </a:solidFill>
                          <a:latin typeface="나눔스퀘어"/>
                          <a:ea typeface="나눔스퀘어"/>
                          <a:cs typeface="나눔스퀘어"/>
                        </a:rPr>
                        <a:t>888억</a:t>
                      </a:r>
                    </a:p>
                    <a:p>
                      <a:pPr marL="0" indent="0" algn="ctr">
                        <a:buNone/>
                      </a:pPr>
                      <a:r>
                        <a:rPr lang="ko-KR" sz="850" dirty="0">
                          <a:solidFill>
                            <a:srgbClr val="262626"/>
                          </a:solidFill>
                          <a:latin typeface="나눔스퀘어"/>
                          <a:ea typeface="나눔스퀘어"/>
                          <a:cs typeface="나눔스퀘어"/>
                        </a:rPr>
                        <a:t>(보통주·1·2종)</a:t>
                      </a: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3452">
                <a:tc>
                  <a:txBody>
                    <a:bodyPr anchor="ctr"/>
                    <a:lstStyle/>
                    <a:p>
                      <a:pPr marL="0" indent="0" algn="ctr">
                        <a:buNone/>
                      </a:pPr>
                      <a:r>
                        <a:rPr lang="ko-KR" sz="850" dirty="0">
                          <a:solidFill>
                            <a:srgbClr val="262626"/>
                          </a:solidFill>
                          <a:latin typeface="나눔스퀘어 Bold"/>
                          <a:ea typeface="나눔스퀘어 Bold"/>
                          <a:cs typeface="나눔스퀘어 Bold"/>
                        </a:rPr>
                        <a:t>수익률</a:t>
                      </a: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5F3F1"/>
                    </a:solidFill>
                  </a:tcPr>
                </a:tc>
                <a:tc>
                  <a:txBody>
                    <a:bodyPr anchor="ctr"/>
                    <a:lstStyle/>
                    <a:p>
                      <a:pPr marL="0" indent="0" algn="ctr">
                        <a:buNone/>
                      </a:pPr>
                      <a:r>
                        <a:rPr lang="ko-KR" sz="850" dirty="0">
                          <a:solidFill>
                            <a:srgbClr val="262626"/>
                          </a:solidFill>
                          <a:latin typeface="나눔스퀘어"/>
                          <a:ea typeface="나눔스퀘어"/>
                          <a:cs typeface="나눔스퀘어"/>
                        </a:rPr>
                        <a:t>CoC 7.00%</a:t>
                      </a:r>
                    </a:p>
                    <a:p>
                      <a:pPr marL="0" indent="0" algn="ctr">
                        <a:buNone/>
                      </a:pPr>
                      <a:r>
                        <a:rPr lang="ko-KR" sz="850" dirty="0">
                          <a:solidFill>
                            <a:srgbClr val="262626"/>
                          </a:solidFill>
                          <a:latin typeface="나눔스퀘어"/>
                          <a:ea typeface="나눔스퀘어"/>
                          <a:cs typeface="나눔스퀘어"/>
                        </a:rPr>
                        <a:t>IRR 8.32%</a:t>
                      </a: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marL="0" indent="0" algn="ctr">
                        <a:buNone/>
                      </a:pPr>
                      <a:r>
                        <a:rPr lang="ko-KR" sz="850" dirty="0">
                          <a:solidFill>
                            <a:srgbClr val="262626"/>
                          </a:solidFill>
                          <a:latin typeface="나눔스퀘어"/>
                          <a:ea typeface="나눔스퀘어"/>
                          <a:cs typeface="나눔스퀘어"/>
                        </a:rPr>
                        <a:t>CoC 5.44%</a:t>
                      </a:r>
                    </a:p>
                    <a:p>
                      <a:pPr marL="0" indent="0" algn="ctr">
                        <a:buNone/>
                      </a:pPr>
                      <a:r>
                        <a:rPr lang="ko-KR" sz="850" dirty="0">
                          <a:solidFill>
                            <a:srgbClr val="262626"/>
                          </a:solidFill>
                          <a:latin typeface="나눔스퀘어"/>
                          <a:ea typeface="나눔스퀘어"/>
                          <a:cs typeface="나눔스퀘어"/>
                        </a:rPr>
                        <a:t>IRR 10.99%</a:t>
                      </a: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4053">
                <a:tc>
                  <a:txBody>
                    <a:bodyPr anchor="ctr"/>
                    <a:lstStyle/>
                    <a:p>
                      <a:pPr marL="0" indent="0" algn="ctr">
                        <a:buNone/>
                      </a:pPr>
                      <a:r>
                        <a:rPr lang="ko-KR" sz="850" dirty="0">
                          <a:solidFill>
                            <a:srgbClr val="262626"/>
                          </a:solidFill>
                          <a:latin typeface="나눔스퀘어 Bold"/>
                          <a:ea typeface="나눔스퀘어 Bold"/>
                          <a:cs typeface="나눔스퀘어 Bold"/>
                        </a:rPr>
                        <a:t>투자수익</a:t>
                      </a:r>
                    </a:p>
                    <a:p>
                      <a:pPr marL="0" indent="0" algn="ctr">
                        <a:buNone/>
                      </a:pPr>
                      <a:r>
                        <a:rPr lang="ko-KR" sz="850" dirty="0">
                          <a:solidFill>
                            <a:srgbClr val="262626"/>
                          </a:solidFill>
                          <a:latin typeface="나눔스퀘어 Bold"/>
                          <a:ea typeface="나눔스퀘어 Bold"/>
                          <a:cs typeface="나눔스퀘어 Bold"/>
                        </a:rPr>
                        <a:t>(10년)</a:t>
                      </a: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5F3F1"/>
                    </a:solidFill>
                  </a:tcPr>
                </a:tc>
                <a:tc>
                  <a:txBody>
                    <a:bodyPr anchor="ctr"/>
                    <a:lstStyle/>
                    <a:p>
                      <a:pPr marL="0" indent="0" algn="ctr">
                        <a:buNone/>
                      </a:pPr>
                      <a:r>
                        <a:rPr lang="ko-KR" sz="850" dirty="0">
                          <a:solidFill>
                            <a:srgbClr val="262626"/>
                          </a:solidFill>
                          <a:latin typeface="나눔스퀘어"/>
                          <a:ea typeface="나눔스퀘어"/>
                          <a:cs typeface="나눔스퀘어"/>
                        </a:rPr>
                        <a:t>[미기재]</a:t>
                      </a: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EDE6DF"/>
                    </a:solidFill>
                  </a:tcPr>
                </a:tc>
                <a:tc>
                  <a:txBody>
                    <a:bodyPr anchor="ctr"/>
                    <a:lstStyle/>
                    <a:p>
                      <a:pPr marL="0" indent="0" algn="ctr">
                        <a:buNone/>
                      </a:pPr>
                      <a:r>
                        <a:rPr lang="ko-KR" sz="850" dirty="0">
                          <a:solidFill>
                            <a:srgbClr val="262626"/>
                          </a:solidFill>
                          <a:latin typeface="나눔스퀘어"/>
                          <a:ea typeface="나눔스퀘어"/>
                          <a:cs typeface="나눔스퀘어"/>
                        </a:rPr>
                        <a:t>1,071.4억</a:t>
                      </a:r>
                    </a:p>
                    <a:p>
                      <a:pPr marL="0" indent="0" algn="ctr">
                        <a:buNone/>
                      </a:pPr>
                      <a:r>
                        <a:rPr lang="ko-KR" sz="850" dirty="0">
                          <a:solidFill>
                            <a:srgbClr val="262626"/>
                          </a:solidFill>
                          <a:latin typeface="나눔스퀘어"/>
                          <a:ea typeface="나눔스퀘어"/>
                          <a:cs typeface="나눔스퀘어"/>
                        </a:rPr>
                        <a:t>(I.G 483 · C.G 588)</a:t>
                      </a: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EDE6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66" name="Table 65"/>
          <p:cNvGraphicFramePr>
            <a:graphicFrameLocks noGrp="1"/>
          </p:cNvGraphicFramePr>
          <p:nvPr/>
        </p:nvGraphicFramePr>
        <p:xfrm>
          <a:off x="3429000" y="1133856"/>
          <a:ext cx="5221224" cy="859536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914400"/>
                <a:gridCol w="713232"/>
                <a:gridCol w="841248"/>
                <a:gridCol w="914400"/>
                <a:gridCol w="896112"/>
                <a:gridCol w="941832"/>
              </a:tblGrid>
              <a:tr h="228600">
                <a:tc>
                  <a:txBody>
                    <a:bodyPr anchor="ctr"/>
                    <a:lstStyle/>
                    <a:p>
                      <a:pPr marL="0" indent="0" algn="ctr">
                        <a:buNone/>
                      </a:pPr>
                      <a:r>
                        <a:rPr lang="ko-KR" sz="800" dirty="0">
                          <a:solidFill>
                            <a:srgbClr val="FFFFFF"/>
                          </a:solidFill>
                          <a:latin typeface="나눔스퀘어 Bold"/>
                          <a:ea typeface="나눔스퀘어 Bold"/>
                          <a:cs typeface="나눔스퀘어 Bold"/>
                        </a:rPr>
                        <a:t>구 분</a:t>
                      </a: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A39382"/>
                    </a:solidFill>
                  </a:tcPr>
                </a:tc>
                <a:tc>
                  <a:txBody>
                    <a:bodyPr anchor="ctr"/>
                    <a:lstStyle/>
                    <a:p>
                      <a:pPr marL="0" indent="0" algn="ctr">
                        <a:buNone/>
                      </a:pPr>
                      <a:r>
                        <a:rPr lang="ko-KR" sz="800" dirty="0">
                          <a:solidFill>
                            <a:srgbClr val="FFFFFF"/>
                          </a:solidFill>
                          <a:latin typeface="나눔스퀘어 Bold"/>
                          <a:ea typeface="나눔스퀘어 Bold"/>
                          <a:cs typeface="나눔스퀘어 Bold"/>
                        </a:rPr>
                        <a:t>Equity IRR</a:t>
                      </a: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A39382"/>
                    </a:solidFill>
                  </a:tcPr>
                </a:tc>
                <a:tc>
                  <a:txBody>
                    <a:bodyPr anchor="ctr"/>
                    <a:lstStyle/>
                    <a:p>
                      <a:pPr marL="0" indent="0" algn="ctr">
                        <a:buNone/>
                      </a:pPr>
                      <a:r>
                        <a:rPr lang="ko-KR" sz="800" dirty="0">
                          <a:solidFill>
                            <a:srgbClr val="FFFFFF"/>
                          </a:solidFill>
                          <a:latin typeface="나눔스퀘어 Bold"/>
                          <a:ea typeface="나눔스퀘어 Bold"/>
                          <a:cs typeface="나눔스퀘어 Bold"/>
                        </a:rPr>
                        <a:t>매입보수</a:t>
                      </a: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A39382"/>
                    </a:solidFill>
                  </a:tcPr>
                </a:tc>
                <a:tc>
                  <a:txBody>
                    <a:bodyPr anchor="ctr"/>
                    <a:lstStyle/>
                    <a:p>
                      <a:pPr marL="0" indent="0" algn="ctr">
                        <a:buNone/>
                      </a:pPr>
                      <a:r>
                        <a:rPr lang="ko-KR" sz="800" dirty="0">
                          <a:solidFill>
                            <a:srgbClr val="FFFFFF"/>
                          </a:solidFill>
                          <a:latin typeface="나눔스퀘어 Bold"/>
                          <a:ea typeface="나눔스퀘어 Bold"/>
                          <a:cs typeface="나눔스퀘어 Bold"/>
                        </a:rPr>
                        <a:t>운용보수(연)</a:t>
                      </a: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A39382"/>
                    </a:solidFill>
                  </a:tcPr>
                </a:tc>
                <a:tc>
                  <a:txBody>
                    <a:bodyPr anchor="ctr"/>
                    <a:lstStyle/>
                    <a:p>
                      <a:pPr marL="0" indent="0" algn="ctr">
                        <a:buNone/>
                      </a:pPr>
                      <a:r>
                        <a:rPr lang="ko-KR" sz="800" dirty="0">
                          <a:solidFill>
                            <a:srgbClr val="FFFFFF"/>
                          </a:solidFill>
                          <a:latin typeface="나눔스퀘어 Bold"/>
                          <a:ea typeface="나눔스퀘어 Bold"/>
                          <a:cs typeface="나눔스퀘어 Bold"/>
                        </a:rPr>
                        <a:t>매각기본보수</a:t>
                      </a: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A39382"/>
                    </a:solidFill>
                  </a:tcPr>
                </a:tc>
                <a:tc>
                  <a:txBody>
                    <a:bodyPr anchor="ctr"/>
                    <a:lstStyle/>
                    <a:p>
                      <a:pPr marL="0" indent="0" algn="ctr">
                        <a:buNone/>
                      </a:pPr>
                      <a:r>
                        <a:rPr lang="ko-KR" sz="800" dirty="0">
                          <a:solidFill>
                            <a:srgbClr val="FFFFFF"/>
                          </a:solidFill>
                          <a:latin typeface="나눔스퀘어 Bold"/>
                          <a:ea typeface="나눔스퀘어 Bold"/>
                          <a:cs typeface="나눔스퀘어 Bold"/>
                        </a:rPr>
                        <a:t>매각성과보수</a:t>
                      </a: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A39382"/>
                    </a:solidFill>
                  </a:tcPr>
                </a:tc>
              </a:tr>
              <a:tr h="210312">
                <a:tc>
                  <a:txBody>
                    <a:bodyPr anchor="ctr"/>
                    <a:lstStyle/>
                    <a:p>
                      <a:pPr marL="0" indent="0" algn="ctr">
                        <a:buNone/>
                      </a:pPr>
                      <a:r>
                        <a:rPr lang="ko-KR" sz="800" dirty="0">
                          <a:solidFill>
                            <a:srgbClr val="262626"/>
                          </a:solidFill>
                          <a:latin typeface="나눔스퀘어 Bold"/>
                          <a:ea typeface="나눔스퀘어 Bold"/>
                          <a:cs typeface="나눔스퀘어 Bold"/>
                        </a:rPr>
                        <a:t>자리츠1 (72호)</a:t>
                      </a: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5F3F1"/>
                    </a:solidFill>
                  </a:tcPr>
                </a:tc>
                <a:tc>
                  <a:txBody>
                    <a:bodyPr anchor="ctr"/>
                    <a:lstStyle/>
                    <a:p>
                      <a:pPr marL="0" indent="0" algn="ctr">
                        <a:buNone/>
                      </a:pPr>
                      <a:r>
                        <a:rPr lang="ko-KR" sz="800" dirty="0">
                          <a:solidFill>
                            <a:srgbClr val="C00000"/>
                          </a:solidFill>
                          <a:latin typeface="나눔스퀘어 ExtraBold"/>
                          <a:ea typeface="나눔스퀘어 ExtraBold"/>
                          <a:cs typeface="나눔스퀘어 ExtraBold"/>
                        </a:rPr>
                        <a:t>8.89%</a:t>
                      </a: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marL="0" indent="0" algn="ctr">
                        <a:buNone/>
                      </a:pPr>
                      <a:r>
                        <a:rPr lang="ko-KR" sz="800" dirty="0">
                          <a:solidFill>
                            <a:srgbClr val="262626"/>
                          </a:solidFill>
                          <a:latin typeface="나눔스퀘어"/>
                          <a:ea typeface="나눔스퀘어"/>
                          <a:cs typeface="나눔스퀘어"/>
                        </a:rPr>
                        <a:t>매입가 0.5%</a:t>
                      </a: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marL="0" indent="0" algn="ctr">
                        <a:buNone/>
                      </a:pPr>
                      <a:r>
                        <a:rPr lang="ko-KR" sz="800" dirty="0">
                          <a:solidFill>
                            <a:srgbClr val="262626"/>
                          </a:solidFill>
                          <a:latin typeface="나눔스퀘어"/>
                          <a:ea typeface="나눔스퀘어"/>
                          <a:cs typeface="나눔스퀘어"/>
                        </a:rPr>
                        <a:t>AUM 0.223%</a:t>
                      </a: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marL="0" indent="0" algn="ctr">
                        <a:buNone/>
                      </a:pPr>
                      <a:r>
                        <a:rPr lang="ko-KR" sz="800" dirty="0">
                          <a:solidFill>
                            <a:srgbClr val="262626"/>
                          </a:solidFill>
                          <a:latin typeface="나눔스퀘어"/>
                          <a:ea typeface="나눔스퀘어"/>
                          <a:cs typeface="나눔스퀘어"/>
                        </a:rPr>
                        <a:t>매각가 0.5%*</a:t>
                      </a: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marL="0" indent="0" algn="ctr">
                        <a:buNone/>
                      </a:pPr>
                      <a:r>
                        <a:rPr lang="ko-KR" sz="800" dirty="0">
                          <a:solidFill>
                            <a:srgbClr val="C00000"/>
                          </a:solidFill>
                          <a:latin typeface="나눔스퀘어"/>
                          <a:ea typeface="나눔스퀘어"/>
                          <a:cs typeface="나눔스퀘어"/>
                        </a:rPr>
                        <a:t>매각차익 15%</a:t>
                      </a: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noFill/>
                  </a:tcPr>
                </a:tc>
              </a:tr>
              <a:tr h="210312">
                <a:tc>
                  <a:txBody>
                    <a:bodyPr anchor="ctr"/>
                    <a:lstStyle/>
                    <a:p>
                      <a:pPr marL="0" indent="0" algn="ctr">
                        <a:buNone/>
                      </a:pPr>
                      <a:r>
                        <a:rPr lang="ko-KR" sz="800" dirty="0">
                          <a:solidFill>
                            <a:srgbClr val="262626"/>
                          </a:solidFill>
                          <a:latin typeface="나눔스퀘어 Bold"/>
                          <a:ea typeface="나눔스퀘어 Bold"/>
                          <a:cs typeface="나눔스퀘어 Bold"/>
                        </a:rPr>
                        <a:t>자리츠2 (본건)</a:t>
                      </a: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5F3F1"/>
                    </a:solidFill>
                  </a:tcPr>
                </a:tc>
                <a:tc>
                  <a:txBody>
                    <a:bodyPr anchor="ctr"/>
                    <a:lstStyle/>
                    <a:p>
                      <a:pPr marL="0" indent="0" algn="ctr">
                        <a:buNone/>
                      </a:pPr>
                      <a:r>
                        <a:rPr lang="ko-KR" sz="800" dirty="0">
                          <a:solidFill>
                            <a:srgbClr val="C00000"/>
                          </a:solidFill>
                          <a:latin typeface="나눔스퀘어 ExtraBold"/>
                          <a:ea typeface="나눔스퀘어 ExtraBold"/>
                          <a:cs typeface="나눔스퀘어 ExtraBold"/>
                        </a:rPr>
                        <a:t>10.21%</a:t>
                      </a: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marL="0" indent="0" algn="ctr">
                        <a:buNone/>
                      </a:pPr>
                      <a:r>
                        <a:rPr lang="ko-KR" sz="800" dirty="0">
                          <a:solidFill>
                            <a:srgbClr val="262626"/>
                          </a:solidFill>
                          <a:latin typeface="나눔스퀘어"/>
                          <a:ea typeface="나눔스퀘어"/>
                          <a:cs typeface="나눔스퀘어"/>
                        </a:rPr>
                        <a:t>매입가 0.5%</a:t>
                      </a: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marL="0" indent="0" algn="ctr">
                        <a:buNone/>
                      </a:pPr>
                      <a:r>
                        <a:rPr lang="ko-KR" sz="800" dirty="0">
                          <a:solidFill>
                            <a:srgbClr val="262626"/>
                          </a:solidFill>
                          <a:latin typeface="나눔스퀘어"/>
                          <a:ea typeface="나눔스퀘어"/>
                          <a:cs typeface="나눔스퀘어"/>
                        </a:rPr>
                        <a:t>AUM 0.223%</a:t>
                      </a: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marL="0" indent="0" algn="ctr">
                        <a:buNone/>
                      </a:pPr>
                      <a:r>
                        <a:rPr lang="ko-KR" sz="800" dirty="0">
                          <a:solidFill>
                            <a:srgbClr val="262626"/>
                          </a:solidFill>
                          <a:latin typeface="나눔스퀘어"/>
                          <a:ea typeface="나눔스퀘어"/>
                          <a:cs typeface="나눔스퀘어"/>
                        </a:rPr>
                        <a:t>매각가 0.5%</a:t>
                      </a: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marL="0" indent="0" algn="ctr">
                        <a:buNone/>
                      </a:pPr>
                      <a:r>
                        <a:rPr lang="ko-KR" sz="800" dirty="0">
                          <a:solidFill>
                            <a:srgbClr val="C00000"/>
                          </a:solidFill>
                          <a:latin typeface="나눔스퀘어"/>
                          <a:ea typeface="나눔스퀘어"/>
                          <a:cs typeface="나눔스퀘어"/>
                        </a:rPr>
                        <a:t>매각이익 15%</a:t>
                      </a: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noFill/>
                  </a:tcPr>
                </a:tc>
              </a:tr>
              <a:tr h="210312">
                <a:tc>
                  <a:txBody>
                    <a:bodyPr anchor="ctr"/>
                    <a:lstStyle/>
                    <a:p>
                      <a:pPr marL="0" indent="0" algn="ctr">
                        <a:buNone/>
                      </a:pPr>
                      <a:r>
                        <a:rPr lang="ko-KR" sz="800" dirty="0">
                          <a:solidFill>
                            <a:srgbClr val="262626"/>
                          </a:solidFill>
                          <a:latin typeface="나눔스퀘어 Bold"/>
                          <a:ea typeface="나눔스퀘어 Bold"/>
                          <a:cs typeface="나눔스퀘어 Bold"/>
                        </a:rPr>
                        <a:t>모리츠 (KLI)</a:t>
                      </a: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5F3F1"/>
                    </a:solidFill>
                  </a:tcPr>
                </a:tc>
                <a:tc>
                  <a:txBody>
                    <a:bodyPr anchor="ctr"/>
                    <a:lstStyle/>
                    <a:p>
                      <a:pPr marL="0" indent="0" algn="ctr">
                        <a:buNone/>
                      </a:pPr>
                      <a:r>
                        <a:rPr lang="ko-KR" sz="800" dirty="0">
                          <a:solidFill>
                            <a:srgbClr val="262626"/>
                          </a:solidFill>
                          <a:latin typeface="나눔스퀘어 ExtraBold"/>
                          <a:ea typeface="나눔스퀘어 ExtraBold"/>
                          <a:cs typeface="나눔스퀘어 ExtraBold"/>
                        </a:rPr>
                        <a:t>-</a:t>
                      </a: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marL="0" indent="0" algn="ctr">
                        <a:buNone/>
                      </a:pPr>
                      <a:r>
                        <a:rPr lang="ko-KR" sz="800" dirty="0">
                          <a:solidFill>
                            <a:srgbClr val="262626"/>
                          </a:solidFill>
                          <a:latin typeface="나눔스퀘어"/>
                          <a:ea typeface="나눔스퀘어"/>
                          <a:cs typeface="나눔스퀘어"/>
                        </a:rPr>
                        <a:t>투자금 0.5%</a:t>
                      </a: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marL="0" indent="0" algn="ctr">
                        <a:buNone/>
                      </a:pPr>
                      <a:r>
                        <a:rPr lang="ko-KR" sz="800" dirty="0">
                          <a:solidFill>
                            <a:srgbClr val="262626"/>
                          </a:solidFill>
                          <a:latin typeface="나눔스퀘어"/>
                          <a:ea typeface="나눔스퀘어"/>
                          <a:cs typeface="나눔스퀘어"/>
                        </a:rPr>
                        <a:t>출자분 미청구</a:t>
                      </a: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marL="0" indent="0" algn="ctr">
                        <a:buNone/>
                      </a:pPr>
                      <a:r>
                        <a:rPr lang="ko-KR" sz="800" dirty="0">
                          <a:solidFill>
                            <a:srgbClr val="262626"/>
                          </a:solidFill>
                          <a:latin typeface="나눔스퀘어"/>
                          <a:ea typeface="나눔스퀘어"/>
                          <a:cs typeface="나눔스퀘어"/>
                        </a:rPr>
                        <a:t>-</a:t>
                      </a: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marL="0" indent="0" algn="ctr">
                        <a:buNone/>
                      </a:pPr>
                      <a:r>
                        <a:rPr lang="ko-KR" sz="800" dirty="0">
                          <a:solidFill>
                            <a:srgbClr val="262626"/>
                          </a:solidFill>
                          <a:latin typeface="나눔스퀘어"/>
                          <a:ea typeface="나눔스퀘어"/>
                          <a:cs typeface="나눔스퀘어"/>
                        </a:rPr>
                        <a:t>-</a:t>
                      </a: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5" name="Text 13"/>
          <p:cNvSpPr txBox="1"/>
          <p:nvPr/>
        </p:nvSpPr>
        <p:spPr>
          <a:xfrm>
            <a:off x="1399032" y="2176272"/>
            <a:ext cx="2011680" cy="219456"/>
          </a:xfrm>
          <a:prstGeom prst="rect">
            <a:avLst/>
          </a:prstGeom>
          <a:noFill/>
          <a:ln/>
        </p:spPr>
        <p:txBody>
          <a:bodyPr wrap="none" lIns="381" tIns="381" rIns="381" bIns="381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00000"/>
                </a:solidFill>
                <a:latin typeface="나눔스퀘어 ExtraBold" pitchFamily="34" charset="0"/>
                <a:ea typeface="나눔스퀘어 ExtraBold" pitchFamily="34" charset="-122"/>
                <a:cs typeface="나눔스퀘어 ExtraBold" pitchFamily="34" charset="-120"/>
              </a:rPr>
              <a:t>1종 1,193억 (50.13%)</a:t>
            </a:r>
          </a:p>
        </p:txBody>
      </p:sp>
      <p:sp>
        <p:nvSpPr>
          <p:cNvPr id="15" name="Text 13"/>
          <p:cNvSpPr txBox="1"/>
          <p:nvPr/>
        </p:nvSpPr>
        <p:spPr>
          <a:xfrm>
            <a:off x="6611112" y="2176272"/>
            <a:ext cx="2057400" cy="219456"/>
          </a:xfrm>
          <a:prstGeom prst="rect">
            <a:avLst/>
          </a:prstGeom>
          <a:noFill/>
          <a:ln/>
        </p:spPr>
        <p:txBody>
          <a:bodyPr wrap="none" lIns="381" tIns="381" rIns="381" bIns="381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00000"/>
                </a:solidFill>
                <a:latin typeface="나눔스퀘어 ExtraBold" pitchFamily="34" charset="0"/>
                <a:ea typeface="나눔스퀘어 ExtraBold" pitchFamily="34" charset="-122"/>
                <a:cs typeface="나눔스퀘어 ExtraBold" pitchFamily="34" charset="-120"/>
              </a:rPr>
              <a:t>보통주·2-1종 308억 → 확약 후 888억</a:t>
            </a:r>
          </a:p>
        </p:txBody>
      </p:sp>
      <p:sp>
        <p:nvSpPr>
          <p:cNvPr id="21" name="Shape 19"/>
          <p:cNvSpPr/>
          <p:nvPr/>
        </p:nvSpPr>
        <p:spPr>
          <a:xfrm>
            <a:off x="4434840" y="2395728"/>
            <a:ext cx="4215384" cy="2066544"/>
          </a:xfrm>
          <a:prstGeom prst="rect">
            <a:avLst/>
          </a:prstGeom>
          <a:solidFill>
            <a:srgbClr val="FDF7F7"/>
          </a:solidFill>
          <a:ln w="12700">
            <a:solidFill>
              <a:srgbClr val="C00000"/>
            </a:solidFill>
            <a:prstDash val="dash"/>
          </a:ln>
        </p:spPr>
        <p:txBody>
          <a:bodyPr anchor="ctr"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4572000" y="2468880"/>
            <a:ext cx="3291840" cy="384048"/>
          </a:xfrm>
          <a:prstGeom prst="rect">
            <a:avLst/>
          </a:prstGeom>
          <a:solidFill>
            <a:srgbClr val="EDE6DF"/>
          </a:solidFill>
          <a:ln>
            <a:solidFill>
              <a:srgbClr val="A39382"/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62626"/>
                </a:solidFill>
                <a:latin typeface="나눔스퀘어 ExtraBold" pitchFamily="34" charset="0"/>
                <a:ea typeface="나눔스퀘어 ExtraBold" pitchFamily="34" charset="-122"/>
                <a:cs typeface="나눔스퀘어 ExtraBold" pitchFamily="34" charset="-120"/>
              </a:rPr>
              <a:t>자리츠2 </a:t>
            </a:r>
            <a:r>
              <a:rPr lang="en-US" sz="1050" dirty="0">
                <a:solidFill>
                  <a:srgbClr val="262626"/>
                </a:solidFill>
                <a:latin typeface="나눔스퀘어" pitchFamily="34" charset="0"/>
                <a:ea typeface="나눔스퀘어" pitchFamily="34" charset="-122"/>
                <a:cs typeface="나눔스퀘어" pitchFamily="34" charset="-120"/>
              </a:rPr>
              <a:t>코람코라이프로지스 (2,989억)</a:t>
            </a:r>
          </a:p>
          <a:p>
            <a:pPr marL="0" indent="0" algn="ctr">
              <a:buNone/>
            </a:pPr>
            <a:r>
              <a:rPr lang="ko-KR" altLang="en-US" sz="900" b="1" dirty="0" err="1">
                <a:solidFill>
                  <a:srgbClr val="262626"/>
                </a:solidFill>
                <a:latin typeface="나눔스퀘어" pitchFamily="34" charset="0"/>
                <a:ea typeface="나눔스퀘어" pitchFamily="34" charset="-122"/>
              </a:rPr>
              <a:t>본건 안양물류센터 · 거래종결 ’26.10</a:t>
            </a:r>
          </a:p>
        </p:txBody>
      </p:sp>
      <p:sp>
        <p:nvSpPr>
          <p:cNvPr id="27" name="Text 25"/>
          <p:cNvSpPr/>
          <p:nvPr/>
        </p:nvSpPr>
        <p:spPr>
          <a:xfrm>
            <a:off x="502920" y="2962656"/>
            <a:ext cx="914400" cy="1169562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262626"/>
                </a:solidFill>
                <a:latin typeface="나눔스퀘어" pitchFamily="34" charset="0"/>
                <a:ea typeface="나눔스퀘어" pitchFamily="34" charset="-122"/>
                <a:cs typeface="나눔스퀘어" pitchFamily="34" charset="-120"/>
              </a:rPr>
              <a:t>매매대금</a:t>
            </a:r>
          </a:p>
          <a:p>
            <a:pPr marL="0" indent="0" algn="ctr">
              <a:buNone/>
            </a:pPr>
            <a:r>
              <a:rPr lang="en-US" sz="1200" dirty="0">
                <a:solidFill>
                  <a:srgbClr val="262626"/>
                </a:solidFill>
                <a:latin typeface="나눔스퀘어 ExtraBold" pitchFamily="34" charset="0"/>
                <a:ea typeface="나눔스퀘어 ExtraBold" pitchFamily="34" charset="-122"/>
                <a:cs typeface="나눔스퀘어 ExtraBold" pitchFamily="34" charset="-120"/>
              </a:rPr>
              <a:t>5,230</a:t>
            </a:r>
          </a:p>
        </p:txBody>
      </p:sp>
      <p:sp>
        <p:nvSpPr>
          <p:cNvPr id="28" name="Text 26"/>
          <p:cNvSpPr/>
          <p:nvPr/>
        </p:nvSpPr>
        <p:spPr>
          <a:xfrm>
            <a:off x="502920" y="4132218"/>
            <a:ext cx="914400" cy="220326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850" dirty="0" err="1">
                <a:solidFill>
                  <a:srgbClr val="262626"/>
                </a:solidFill>
                <a:latin typeface="나눔스퀘어" pitchFamily="34" charset="0"/>
                <a:ea typeface="나눔스퀘어" pitchFamily="34" charset="-122"/>
                <a:cs typeface="나눔스퀘어" pitchFamily="34" charset="-120"/>
              </a:rPr>
              <a:t>부대비용 등</a:t>
            </a:r>
            <a:r>
              <a:rPr lang="en-US" sz="850" dirty="0">
                <a:solidFill>
                  <a:srgbClr val="262626"/>
                </a:solidFill>
                <a:latin typeface="나눔스퀘어" pitchFamily="34" charset="0"/>
                <a:ea typeface="나눔스퀘어" pitchFamily="34" charset="-122"/>
                <a:cs typeface="나눔스퀘어" pitchFamily="34" charset="-120"/>
              </a:rPr>
              <a:t> </a:t>
            </a:r>
            <a:r>
              <a:rPr lang="en-US" sz="850" dirty="0">
                <a:solidFill>
                  <a:srgbClr val="262626"/>
                </a:solidFill>
                <a:latin typeface="나눔스퀘어 Bold" pitchFamily="34" charset="0"/>
                <a:ea typeface="나눔스퀘어 Bold" pitchFamily="34" charset="-122"/>
                <a:cs typeface="나눔스퀘어 Bold" pitchFamily="34" charset="-120"/>
              </a:rPr>
              <a:t>529.9</a:t>
            </a:r>
          </a:p>
        </p:txBody>
      </p:sp>
      <p:sp>
        <p:nvSpPr>
          <p:cNvPr id="30" name="Text 28"/>
          <p:cNvSpPr/>
          <p:nvPr/>
        </p:nvSpPr>
        <p:spPr>
          <a:xfrm>
            <a:off x="1417320" y="2962656"/>
            <a:ext cx="914400" cy="508489"/>
          </a:xfrm>
          <a:prstGeom prst="rect">
            <a:avLst/>
          </a:prstGeom>
          <a:solidFill>
            <a:srgbClr val="A39382"/>
          </a:solidFill>
          <a:ln>
            <a:solidFill>
              <a:srgbClr val="A39382"/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나눔스퀘어 ExtraBold" pitchFamily="34" charset="-120"/>
              </a:rPr>
              <a:t>Equity</a:t>
            </a:r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나눔스퀘어 ExtraBold" pitchFamily="34" charset="0"/>
                <a:ea typeface="나눔스퀘어 ExtraBold" pitchFamily="34" charset="-122"/>
                <a:cs typeface="나눔스퀘어 ExtraBold" pitchFamily="34" charset="-120"/>
              </a:rPr>
              <a:t>2,379.9</a:t>
            </a:r>
          </a:p>
        </p:txBody>
      </p:sp>
      <p:sp>
        <p:nvSpPr>
          <p:cNvPr id="31" name="Text 29"/>
          <p:cNvSpPr/>
          <p:nvPr/>
        </p:nvSpPr>
        <p:spPr>
          <a:xfrm>
            <a:off x="1417320" y="3471145"/>
            <a:ext cx="914400" cy="670892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62626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나눔스퀘어 ExtraBold" pitchFamily="34" charset="-120"/>
              </a:rPr>
              <a:t>Loan</a:t>
            </a:r>
          </a:p>
          <a:p>
            <a:pPr marL="0" indent="0" algn="ctr">
              <a:buNone/>
            </a:pPr>
            <a:r>
              <a:rPr lang="en-US" sz="1200" dirty="0">
                <a:solidFill>
                  <a:srgbClr val="262626"/>
                </a:solidFill>
                <a:latin typeface="나눔스퀘어 ExtraBold" pitchFamily="34" charset="0"/>
                <a:ea typeface="나눔스퀘어 ExtraBold" pitchFamily="34" charset="-122"/>
                <a:cs typeface="나눔스퀘어 ExtraBold" pitchFamily="34" charset="-120"/>
              </a:rPr>
              <a:t>3,140</a:t>
            </a:r>
          </a:p>
        </p:txBody>
      </p:sp>
      <p:sp>
        <p:nvSpPr>
          <p:cNvPr id="32" name="Text 30"/>
          <p:cNvSpPr/>
          <p:nvPr/>
        </p:nvSpPr>
        <p:spPr>
          <a:xfrm>
            <a:off x="1417320" y="4142037"/>
            <a:ext cx="914400" cy="210507"/>
          </a:xfrm>
          <a:prstGeom prst="rect">
            <a:avLst/>
          </a:prstGeom>
          <a:solidFill>
            <a:srgbClr val="F5F3F1"/>
          </a:solidFill>
          <a:ln w="9525">
            <a:solidFill>
              <a:srgbClr val="A6A6A6"/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850" dirty="0" err="1">
                <a:solidFill>
                  <a:srgbClr val="262626"/>
                </a:solidFill>
                <a:latin typeface="나눔스퀘어" pitchFamily="34" charset="0"/>
                <a:ea typeface="나눔스퀘어" pitchFamily="34" charset="-122"/>
                <a:cs typeface="나눔스퀘어" pitchFamily="34" charset="-120"/>
              </a:rPr>
              <a:t>보증금</a:t>
            </a:r>
            <a:r>
              <a:rPr lang="en-US" sz="850" dirty="0">
                <a:solidFill>
                  <a:srgbClr val="262626"/>
                </a:solidFill>
                <a:latin typeface="나눔스퀘어" pitchFamily="34" charset="0"/>
                <a:ea typeface="나눔스퀘어" pitchFamily="34" charset="-122"/>
                <a:cs typeface="나눔스퀘어" pitchFamily="34" charset="-120"/>
              </a:rPr>
              <a:t> </a:t>
            </a:r>
            <a:r>
              <a:rPr lang="en-US" sz="850" dirty="0">
                <a:solidFill>
                  <a:srgbClr val="262626"/>
                </a:solidFill>
                <a:latin typeface="나눔스퀘어 Bold" pitchFamily="34" charset="0"/>
                <a:ea typeface="나눔스퀘어 Bold" pitchFamily="34" charset="-122"/>
                <a:cs typeface="나눔스퀘어 Bold" pitchFamily="34" charset="-120"/>
              </a:rPr>
              <a:t>240</a:t>
            </a:r>
          </a:p>
        </p:txBody>
      </p:sp>
      <p:sp>
        <p:nvSpPr>
          <p:cNvPr id="27" name="Text 25"/>
          <p:cNvSpPr/>
          <p:nvPr/>
        </p:nvSpPr>
        <p:spPr>
          <a:xfrm>
            <a:off x="4572000" y="2962656"/>
            <a:ext cx="914400" cy="1008098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262626"/>
                </a:solidFill>
                <a:latin typeface="나눔스퀘어" pitchFamily="34" charset="0"/>
                <a:ea typeface="나눔스퀘어" pitchFamily="34" charset="-122"/>
                <a:cs typeface="나눔스퀘어" pitchFamily="34" charset="-120"/>
              </a:rPr>
              <a:t>매매대금</a:t>
            </a:r>
          </a:p>
          <a:p>
            <a:pPr marL="0" indent="0" algn="ctr">
              <a:buNone/>
            </a:pPr>
            <a:r>
              <a:rPr lang="en-US" sz="1200" dirty="0">
                <a:solidFill>
                  <a:srgbClr val="262626"/>
                </a:solidFill>
                <a:latin typeface="나눔스퀘어 ExtraBold" pitchFamily="34" charset="0"/>
                <a:ea typeface="나눔스퀘어 ExtraBold" pitchFamily="34" charset="-122"/>
                <a:cs typeface="나눔스퀘어 ExtraBold" pitchFamily="34" charset="-120"/>
              </a:rPr>
              <a:t>2,700</a:t>
            </a:r>
          </a:p>
        </p:txBody>
      </p:sp>
      <p:sp>
        <p:nvSpPr>
          <p:cNvPr id="28" name="Text 26"/>
          <p:cNvSpPr/>
          <p:nvPr/>
        </p:nvSpPr>
        <p:spPr>
          <a:xfrm>
            <a:off x="4572000" y="3970754"/>
            <a:ext cx="914400" cy="190895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850" dirty="0" err="1">
                <a:solidFill>
                  <a:srgbClr val="262626"/>
                </a:solidFill>
                <a:latin typeface="나눔스퀘어" pitchFamily="34" charset="0"/>
                <a:ea typeface="나눔스퀘어" pitchFamily="34" charset="-122"/>
                <a:cs typeface="나눔스퀘어" pitchFamily="34" charset="-120"/>
              </a:rPr>
              <a:t>부대비용</a:t>
            </a:r>
            <a:r>
              <a:rPr lang="en-US" sz="850" dirty="0">
                <a:solidFill>
                  <a:srgbClr val="262626"/>
                </a:solidFill>
                <a:latin typeface="나눔스퀘어" pitchFamily="34" charset="0"/>
                <a:ea typeface="나눔스퀘어" pitchFamily="34" charset="-122"/>
                <a:cs typeface="나눔스퀘어" pitchFamily="34" charset="-120"/>
              </a:rPr>
              <a:t> </a:t>
            </a:r>
            <a:r>
              <a:rPr lang="en-US" sz="850" dirty="0">
                <a:solidFill>
                  <a:srgbClr val="262626"/>
                </a:solidFill>
                <a:latin typeface="나눔스퀘어 Bold" pitchFamily="34" charset="0"/>
                <a:ea typeface="나눔스퀘어 Bold" pitchFamily="34" charset="-122"/>
                <a:cs typeface="나눔스퀘어 Bold" pitchFamily="34" charset="-120"/>
              </a:rPr>
              <a:t>189</a:t>
            </a:r>
          </a:p>
        </p:txBody>
      </p:sp>
      <p:sp>
        <p:nvSpPr>
          <p:cNvPr id="29" name="Text 27"/>
          <p:cNvSpPr/>
          <p:nvPr/>
        </p:nvSpPr>
        <p:spPr>
          <a:xfrm>
            <a:off x="4572000" y="4161649"/>
            <a:ext cx="914400" cy="190895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262626"/>
                </a:solidFill>
                <a:latin typeface="나눔스퀘어" pitchFamily="34" charset="0"/>
                <a:ea typeface="나눔스퀘어" pitchFamily="34" charset="-122"/>
                <a:cs typeface="나눔스퀘어" pitchFamily="34" charset="-120"/>
              </a:rPr>
              <a:t>예비비</a:t>
            </a:r>
            <a:r>
              <a:rPr lang="en-US" sz="850" dirty="0">
                <a:solidFill>
                  <a:srgbClr val="262626"/>
                </a:solidFill>
                <a:latin typeface="나눔스퀘어 Bold" pitchFamily="34" charset="0"/>
                <a:ea typeface="나눔스퀘어 Bold" pitchFamily="34" charset="-122"/>
                <a:cs typeface="나눔스퀘어 Bold" pitchFamily="34" charset="-120"/>
              </a:rPr>
              <a:t> </a:t>
            </a:r>
            <a:r>
              <a:rPr lang="en-US" sz="850" dirty="0">
                <a:solidFill>
                  <a:srgbClr val="262626"/>
                </a:solidFill>
                <a:latin typeface="나눔스퀘어 Bold" pitchFamily="34" charset="0"/>
                <a:ea typeface="나눔스퀘어 Bold" pitchFamily="34" charset="-122"/>
                <a:cs typeface="나눔스퀘어 Bold" pitchFamily="34" charset="-120"/>
              </a:rPr>
              <a:t>100</a:t>
            </a:r>
          </a:p>
        </p:txBody>
      </p:sp>
      <p:sp>
        <p:nvSpPr>
          <p:cNvPr id="30" name="Text 28"/>
          <p:cNvSpPr/>
          <p:nvPr/>
        </p:nvSpPr>
        <p:spPr>
          <a:xfrm>
            <a:off x="5486400" y="2962656"/>
            <a:ext cx="914400" cy="394682"/>
          </a:xfrm>
          <a:prstGeom prst="rect">
            <a:avLst/>
          </a:prstGeom>
          <a:solidFill>
            <a:srgbClr val="A39382"/>
          </a:solidFill>
          <a:ln>
            <a:solidFill>
              <a:srgbClr val="A39382"/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나눔스퀘어 ExtraBold" pitchFamily="34" charset="-120"/>
              </a:rPr>
              <a:t>Equity</a:t>
            </a:r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나눔스퀘어 ExtraBold" pitchFamily="34" charset="0"/>
                <a:ea typeface="나눔스퀘어 ExtraBold" pitchFamily="34" charset="-122"/>
                <a:cs typeface="나눔스퀘어 ExtraBold" pitchFamily="34" charset="-120"/>
              </a:rPr>
              <a:t>988</a:t>
            </a:r>
          </a:p>
        </p:txBody>
      </p:sp>
      <p:sp>
        <p:nvSpPr>
          <p:cNvPr id="31" name="Text 29"/>
          <p:cNvSpPr/>
          <p:nvPr/>
        </p:nvSpPr>
        <p:spPr>
          <a:xfrm>
            <a:off x="5486400" y="3357338"/>
            <a:ext cx="914400" cy="790963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62626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나눔스퀘어 ExtraBold" pitchFamily="34" charset="-120"/>
              </a:rPr>
              <a:t>Loan</a:t>
            </a:r>
          </a:p>
          <a:p>
            <a:pPr marL="0" indent="0" algn="ctr">
              <a:buNone/>
            </a:pPr>
            <a:r>
              <a:rPr lang="en-US" sz="1200" dirty="0">
                <a:solidFill>
                  <a:srgbClr val="262626"/>
                </a:solidFill>
                <a:latin typeface="나눔스퀘어 ExtraBold" pitchFamily="34" charset="0"/>
                <a:ea typeface="나눔스퀘어 ExtraBold" pitchFamily="34" charset="-122"/>
                <a:cs typeface="나눔스퀘어 ExtraBold" pitchFamily="34" charset="-120"/>
              </a:rPr>
              <a:t>1,980</a:t>
            </a:r>
          </a:p>
        </p:txBody>
      </p:sp>
      <p:sp>
        <p:nvSpPr>
          <p:cNvPr id="32" name="Text 30"/>
          <p:cNvSpPr/>
          <p:nvPr/>
        </p:nvSpPr>
        <p:spPr>
          <a:xfrm>
            <a:off x="5486400" y="4148301"/>
            <a:ext cx="914400" cy="204243"/>
          </a:xfrm>
          <a:prstGeom prst="rect">
            <a:avLst/>
          </a:prstGeom>
          <a:solidFill>
            <a:srgbClr val="F5F3F1"/>
          </a:solidFill>
          <a:ln w="9525">
            <a:solidFill>
              <a:srgbClr val="A6A6A6"/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850" dirty="0" err="1">
                <a:solidFill>
                  <a:srgbClr val="262626"/>
                </a:solidFill>
                <a:latin typeface="나눔스퀘어" pitchFamily="34" charset="0"/>
                <a:ea typeface="나눔스퀘어" pitchFamily="34" charset="-122"/>
                <a:cs typeface="나눔스퀘어" pitchFamily="34" charset="-120"/>
              </a:rPr>
              <a:t>보증금</a:t>
            </a:r>
            <a:r>
              <a:rPr lang="en-US" sz="850" dirty="0">
                <a:solidFill>
                  <a:srgbClr val="262626"/>
                </a:solidFill>
                <a:latin typeface="나눔스퀘어" pitchFamily="34" charset="0"/>
                <a:ea typeface="나눔스퀘어" pitchFamily="34" charset="-122"/>
                <a:cs typeface="나눔스퀘어" pitchFamily="34" charset="-120"/>
              </a:rPr>
              <a:t> </a:t>
            </a:r>
            <a:r>
              <a:rPr lang="en-US" sz="850" dirty="0">
                <a:solidFill>
                  <a:srgbClr val="262626"/>
                </a:solidFill>
                <a:latin typeface="나눔스퀘어 Bold" pitchFamily="34" charset="0"/>
                <a:ea typeface="나눔스퀘어 Bold" pitchFamily="34" charset="-122"/>
                <a:cs typeface="나눔스퀘어 Bold" pitchFamily="34" charset="-120"/>
              </a:rPr>
              <a:t>21</a:t>
            </a:r>
          </a:p>
        </p:txBody>
      </p:sp>
      <p:sp>
        <p:nvSpPr>
          <p:cNvPr id="34" name="Text 32"/>
          <p:cNvSpPr txBox="1"/>
          <p:nvPr/>
        </p:nvSpPr>
        <p:spPr>
          <a:xfrm>
            <a:off x="6510528" y="2962656"/>
            <a:ext cx="2103120" cy="5669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62626"/>
                </a:solidFill>
                <a:latin typeface="나눔스퀘어" pitchFamily="34" charset="0"/>
                <a:ea typeface="나눔스퀘어" pitchFamily="34" charset="-122"/>
                <a:cs typeface="나눔스퀘어" pitchFamily="34" charset="-120"/>
              </a:rPr>
              <a:t>KLI </a:t>
            </a:r>
            <a:r>
              <a:rPr lang="en-US" sz="850" dirty="0">
                <a:solidFill>
                  <a:srgbClr val="262626"/>
                </a:solidFill>
                <a:latin typeface="나눔스퀘어 Bold" pitchFamily="34" charset="0"/>
                <a:ea typeface="나눔스퀘어 Bold" pitchFamily="34" charset="-122"/>
                <a:cs typeface="나눔스퀘어 Bold" pitchFamily="34" charset="-120"/>
              </a:rPr>
              <a:t>308억 </a:t>
            </a:r>
            <a:r>
              <a:rPr lang="en-US" sz="850" dirty="0">
                <a:solidFill>
                  <a:srgbClr val="262626"/>
                </a:solidFill>
                <a:latin typeface="나눔스퀘어 Bold" pitchFamily="34" charset="0"/>
                <a:ea typeface="나눔스퀘어 Bold" pitchFamily="34" charset="-122"/>
                <a:cs typeface="나눔스퀘어 Bold" pitchFamily="34" charset="-120"/>
              </a:rPr>
              <a:t>(31.2%)</a:t>
            </a:r>
          </a:p>
          <a:p>
            <a:pPr marL="0" indent="0">
              <a:buNone/>
            </a:pPr>
            <a:r>
              <a:rPr lang="en-US" sz="850" dirty="0">
                <a:solidFill>
                  <a:srgbClr val="262626"/>
                </a:solidFill>
                <a:latin typeface="나눔스퀘어" pitchFamily="34" charset="0"/>
                <a:ea typeface="나눔스퀘어" pitchFamily="34" charset="-122"/>
                <a:cs typeface="나눔스퀘어" pitchFamily="34" charset="-120"/>
              </a:rPr>
              <a:t>FI(1·2종) </a:t>
            </a:r>
            <a:r>
              <a:rPr lang="en-US" sz="850" dirty="0">
                <a:solidFill>
                  <a:srgbClr val="C00000"/>
                </a:solidFill>
                <a:latin typeface="나눔스퀘어 Bold" pitchFamily="34" charset="0"/>
                <a:ea typeface="나눔스퀘어 Bold" pitchFamily="34" charset="-122"/>
                <a:cs typeface="나눔스퀘어 Bold" pitchFamily="34" charset="-120"/>
              </a:rPr>
              <a:t>580억 </a:t>
            </a:r>
            <a:r>
              <a:rPr lang="en-US" sz="850" dirty="0">
                <a:solidFill>
                  <a:srgbClr val="C00000"/>
                </a:solidFill>
                <a:latin typeface="나눔스퀘어 Bold" pitchFamily="34" charset="0"/>
                <a:ea typeface="나눔스퀘어 Bold" pitchFamily="34" charset="-122"/>
                <a:cs typeface="나눔스퀘어 Bold" pitchFamily="34" charset="-120"/>
              </a:rPr>
              <a:t>(58.7%)</a:t>
            </a:r>
          </a:p>
          <a:p>
            <a:pPr marL="0" indent="0">
              <a:buNone/>
            </a:pPr>
            <a:r>
              <a:rPr lang="en-US" sz="850" dirty="0">
                <a:solidFill>
                  <a:srgbClr val="262626"/>
                </a:solidFill>
                <a:latin typeface="나눔스퀘어" pitchFamily="34" charset="0"/>
                <a:ea typeface="나눔스퀘어" pitchFamily="34" charset="-122"/>
                <a:cs typeface="나눔스퀘어" pitchFamily="34" charset="-120"/>
              </a:rPr>
              <a:t>매도인(3종) </a:t>
            </a:r>
            <a:r>
              <a:rPr lang="en-US" sz="850" dirty="0">
                <a:solidFill>
                  <a:srgbClr val="C00000"/>
                </a:solidFill>
                <a:latin typeface="나눔스퀘어 Bold" pitchFamily="34" charset="0"/>
                <a:ea typeface="나눔스퀘어 Bold" pitchFamily="34" charset="-122"/>
                <a:cs typeface="나눔스퀘어 Bold" pitchFamily="34" charset="-120"/>
              </a:rPr>
              <a:t>100억 </a:t>
            </a:r>
            <a:r>
              <a:rPr lang="en-US" sz="850" dirty="0">
                <a:solidFill>
                  <a:srgbClr val="C00000"/>
                </a:solidFill>
                <a:latin typeface="나눔스퀘어 Bold" pitchFamily="34" charset="0"/>
                <a:ea typeface="나눔스퀘어 Bold" pitchFamily="34" charset="-122"/>
                <a:cs typeface="나눔스퀘어 Bold" pitchFamily="34" charset="-120"/>
              </a:rPr>
              <a:t>(10.1%)</a:t>
            </a:r>
          </a:p>
        </p:txBody>
      </p:sp>
      <p:sp>
        <p:nvSpPr>
          <p:cNvPr id="36" name="Text 34"/>
          <p:cNvSpPr txBox="1"/>
          <p:nvPr/>
        </p:nvSpPr>
        <p:spPr>
          <a:xfrm>
            <a:off x="6510528" y="3602736"/>
            <a:ext cx="2103120" cy="640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62626"/>
                </a:solidFill>
                <a:latin typeface="나눔스퀘어 Bold" pitchFamily="34" charset="0"/>
                <a:ea typeface="나눔스퀘어 Bold" pitchFamily="34" charset="-122"/>
                <a:cs typeface="나눔스퀘어 Bold" pitchFamily="34" charset="-120"/>
              </a:rPr>
              <a:t>LTV 59.8% (감정가 3,345억)</a:t>
            </a:r>
          </a:p>
          <a:p>
            <a:pPr marL="0" indent="0">
              <a:buNone/>
            </a:pPr>
            <a:r>
              <a:rPr lang="en-US" sz="850" dirty="0">
                <a:solidFill>
                  <a:srgbClr val="262626"/>
                </a:solidFill>
                <a:latin typeface="나눔스퀘어" pitchFamily="34" charset="0"/>
                <a:ea typeface="나눔스퀘어" pitchFamily="34" charset="-122"/>
                <a:cs typeface="나눔스퀘어" pitchFamily="34" charset="-120"/>
              </a:rPr>
              <a:t>선순위 1,600 · 중순위 380</a:t>
            </a:r>
          </a:p>
          <a:p>
            <a:pPr marL="0" indent="0">
              <a:buNone/>
            </a:pPr>
            <a:r>
              <a:rPr lang="en-US" sz="850" dirty="0">
                <a:solidFill>
                  <a:srgbClr val="262626"/>
                </a:solidFill>
                <a:latin typeface="나눔스퀘어" pitchFamily="34" charset="0"/>
                <a:ea typeface="나눔스퀘어" pitchFamily="34" charset="-122"/>
                <a:cs typeface="나눔스퀘어" pitchFamily="34" charset="-120"/>
              </a:rPr>
              <a:t>만기 24개월 (리파이 가정)</a:t>
            </a:r>
          </a:p>
        </p:txBody>
      </p:sp>
      <p:graphicFrame>
        <p:nvGraphicFramePr>
          <p:cNvPr id="67" name="Table 66"/>
          <p:cNvGraphicFramePr>
            <a:graphicFrameLocks noGrp="1"/>
          </p:cNvGraphicFramePr>
          <p:nvPr/>
        </p:nvGraphicFramePr>
        <p:xfrm>
          <a:off x="365759" y="4773168"/>
          <a:ext cx="8283325" cy="1746504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620249"/>
                <a:gridCol w="400160"/>
                <a:gridCol w="600241"/>
                <a:gridCol w="600241"/>
                <a:gridCol w="600241"/>
                <a:gridCol w="600241"/>
                <a:gridCol w="600241"/>
                <a:gridCol w="600241"/>
                <a:gridCol w="600241"/>
                <a:gridCol w="600241"/>
                <a:gridCol w="600241"/>
                <a:gridCol w="600241"/>
                <a:gridCol w="600241"/>
                <a:gridCol w="660265"/>
              </a:tblGrid>
              <a:tr h="246888">
                <a:tc gridSpan="2">
                  <a:txBody>
                    <a:bodyPr anchor="ctr"/>
                    <a:lstStyle/>
                    <a:p>
                      <a:pPr marL="0" indent="0" algn="ctr">
                        <a:buNone/>
                      </a:pPr>
                      <a:r>
                        <a:rPr lang="ko-KR" sz="850" dirty="0">
                          <a:solidFill>
                            <a:srgbClr val="FFFFFF"/>
                          </a:solidFill>
                          <a:latin typeface="나눔스퀘어 Bold"/>
                          <a:ea typeface="나눔스퀘어 Bold"/>
                          <a:cs typeface="나눔스퀘어 Bold"/>
                        </a:rPr>
                        <a:t>구 분</a:t>
                      </a: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A39382"/>
                    </a:solidFill>
                  </a:tcPr>
                </a:tc>
                <a:tc hMerge="1">
                  <a:txBody>
                    <a:bodyPr anchor="ctr"/>
                    <a:lstStyle/>
                    <a:p>
                      <a:pPr marL="0" indent="0" algn="ctr">
                        <a:buNone/>
                      </a:pPr>
                      <a:endParaRPr lang="ko-KR" sz="850" dirty="0">
                        <a:solidFill>
                          <a:srgbClr val="FFFFFF"/>
                        </a:solidFill>
                        <a:latin typeface="나눔스퀘어 Bold"/>
                        <a:ea typeface="나눔스퀘어 Bold"/>
                        <a:cs typeface="나눔스퀘어 Bold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A39382"/>
                    </a:solidFill>
                  </a:tcPr>
                </a:tc>
                <a:tc>
                  <a:txBody>
                    <a:bodyPr anchor="ctr"/>
                    <a:lstStyle/>
                    <a:p>
                      <a:pPr marL="0" indent="0" algn="ctr">
                        <a:buNone/>
                      </a:pPr>
                      <a:r>
                        <a:rPr lang="ko-KR" sz="850" dirty="0">
                          <a:solidFill>
                            <a:srgbClr val="FFFFFF"/>
                          </a:solidFill>
                          <a:latin typeface="나눔스퀘어 Bold"/>
                          <a:ea typeface="나눔스퀘어 Bold"/>
                          <a:cs typeface="나눔스퀘어 Bold"/>
                        </a:rPr>
                        <a:t>’26</a:t>
                      </a: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A39382"/>
                    </a:solidFill>
                  </a:tcPr>
                </a:tc>
                <a:tc>
                  <a:txBody>
                    <a:bodyPr anchor="ctr"/>
                    <a:lstStyle/>
                    <a:p>
                      <a:pPr marL="0" indent="0" algn="ctr">
                        <a:buNone/>
                      </a:pPr>
                      <a:r>
                        <a:rPr lang="ko-KR" sz="850" dirty="0">
                          <a:solidFill>
                            <a:srgbClr val="FFFFFF"/>
                          </a:solidFill>
                          <a:latin typeface="나눔스퀘어 Bold"/>
                          <a:ea typeface="나눔스퀘어 Bold"/>
                          <a:cs typeface="나눔스퀘어 Bold"/>
                        </a:rPr>
                        <a:t>’27</a:t>
                      </a: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A39382"/>
                    </a:solidFill>
                  </a:tcPr>
                </a:tc>
                <a:tc>
                  <a:txBody>
                    <a:bodyPr anchor="ctr"/>
                    <a:lstStyle/>
                    <a:p>
                      <a:pPr marL="0" indent="0" algn="ctr">
                        <a:buNone/>
                      </a:pPr>
                      <a:r>
                        <a:rPr lang="ko-KR" sz="850" dirty="0">
                          <a:solidFill>
                            <a:srgbClr val="FFFFFF"/>
                          </a:solidFill>
                          <a:latin typeface="나눔스퀘어 Bold"/>
                          <a:ea typeface="나눔스퀘어 Bold"/>
                          <a:cs typeface="나눔스퀘어 Bold"/>
                        </a:rPr>
                        <a:t>’28</a:t>
                      </a: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A39382"/>
                    </a:solidFill>
                  </a:tcPr>
                </a:tc>
                <a:tc>
                  <a:txBody>
                    <a:bodyPr anchor="ctr"/>
                    <a:lstStyle/>
                    <a:p>
                      <a:pPr marL="0" indent="0" algn="ctr">
                        <a:buNone/>
                      </a:pPr>
                      <a:r>
                        <a:rPr lang="ko-KR" sz="850" dirty="0">
                          <a:solidFill>
                            <a:srgbClr val="FFFFFF"/>
                          </a:solidFill>
                          <a:latin typeface="나눔스퀘어 Bold"/>
                          <a:ea typeface="나눔스퀘어 Bold"/>
                          <a:cs typeface="나눔스퀘어 Bold"/>
                        </a:rPr>
                        <a:t>’29</a:t>
                      </a: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A39382"/>
                    </a:solidFill>
                  </a:tcPr>
                </a:tc>
                <a:tc>
                  <a:txBody>
                    <a:bodyPr anchor="ctr"/>
                    <a:lstStyle/>
                    <a:p>
                      <a:pPr marL="0" indent="0" algn="ctr">
                        <a:buNone/>
                      </a:pPr>
                      <a:r>
                        <a:rPr lang="ko-KR" sz="850" dirty="0">
                          <a:solidFill>
                            <a:srgbClr val="FFFFFF"/>
                          </a:solidFill>
                          <a:latin typeface="나눔스퀘어 Bold"/>
                          <a:ea typeface="나눔스퀘어 Bold"/>
                          <a:cs typeface="나눔스퀘어 Bold"/>
                        </a:rPr>
                        <a:t>’30</a:t>
                      </a: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A39382"/>
                    </a:solidFill>
                  </a:tcPr>
                </a:tc>
                <a:tc>
                  <a:txBody>
                    <a:bodyPr anchor="ctr"/>
                    <a:lstStyle/>
                    <a:p>
                      <a:pPr marL="0" indent="0" algn="ctr">
                        <a:buNone/>
                      </a:pPr>
                      <a:r>
                        <a:rPr lang="ko-KR" sz="850" dirty="0">
                          <a:solidFill>
                            <a:srgbClr val="FFFFFF"/>
                          </a:solidFill>
                          <a:latin typeface="나눔스퀘어 Bold"/>
                          <a:ea typeface="나눔스퀘어 Bold"/>
                          <a:cs typeface="나눔스퀘어 Bold"/>
                        </a:rPr>
                        <a:t>’31</a:t>
                      </a: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A39382"/>
                    </a:solidFill>
                  </a:tcPr>
                </a:tc>
                <a:tc>
                  <a:txBody>
                    <a:bodyPr anchor="ctr"/>
                    <a:lstStyle/>
                    <a:p>
                      <a:pPr marL="0" indent="0" algn="ctr">
                        <a:buNone/>
                      </a:pPr>
                      <a:r>
                        <a:rPr lang="ko-KR" sz="850" dirty="0">
                          <a:solidFill>
                            <a:srgbClr val="FFFFFF"/>
                          </a:solidFill>
                          <a:latin typeface="나눔스퀘어 Bold"/>
                          <a:ea typeface="나눔스퀘어 Bold"/>
                          <a:cs typeface="나눔스퀘어 Bold"/>
                        </a:rPr>
                        <a:t>’32</a:t>
                      </a: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A39382"/>
                    </a:solidFill>
                  </a:tcPr>
                </a:tc>
                <a:tc>
                  <a:txBody>
                    <a:bodyPr anchor="ctr"/>
                    <a:lstStyle/>
                    <a:p>
                      <a:pPr marL="0" indent="0" algn="ctr">
                        <a:buNone/>
                      </a:pPr>
                      <a:r>
                        <a:rPr lang="ko-KR" sz="850" dirty="0">
                          <a:solidFill>
                            <a:srgbClr val="FFFFFF"/>
                          </a:solidFill>
                          <a:latin typeface="나눔스퀘어 Bold"/>
                          <a:ea typeface="나눔스퀘어 Bold"/>
                          <a:cs typeface="나눔스퀘어 Bold"/>
                        </a:rPr>
                        <a:t>’33</a:t>
                      </a: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A39382"/>
                    </a:solidFill>
                  </a:tcPr>
                </a:tc>
                <a:tc>
                  <a:txBody>
                    <a:bodyPr anchor="ctr"/>
                    <a:lstStyle/>
                    <a:p>
                      <a:pPr marL="0" indent="0" algn="ctr">
                        <a:buNone/>
                      </a:pPr>
                      <a:r>
                        <a:rPr lang="ko-KR" sz="850" dirty="0">
                          <a:solidFill>
                            <a:srgbClr val="FFFFFF"/>
                          </a:solidFill>
                          <a:latin typeface="나눔스퀘어 Bold"/>
                          <a:ea typeface="나눔스퀘어 Bold"/>
                          <a:cs typeface="나눔스퀘어 Bold"/>
                        </a:rPr>
                        <a:t>’34</a:t>
                      </a: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A39382"/>
                    </a:solidFill>
                  </a:tcPr>
                </a:tc>
                <a:tc>
                  <a:txBody>
                    <a:bodyPr anchor="ctr"/>
                    <a:lstStyle/>
                    <a:p>
                      <a:pPr marL="0" indent="0" algn="ctr">
                        <a:buNone/>
                      </a:pPr>
                      <a:r>
                        <a:rPr lang="ko-KR" sz="850" dirty="0">
                          <a:solidFill>
                            <a:srgbClr val="FFFFFF"/>
                          </a:solidFill>
                          <a:latin typeface="나눔스퀘어 Bold"/>
                          <a:ea typeface="나눔스퀘어 Bold"/>
                          <a:cs typeface="나눔스퀘어 Bold"/>
                        </a:rPr>
                        <a:t>’35</a:t>
                      </a: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A39382"/>
                    </a:solidFill>
                  </a:tcPr>
                </a:tc>
                <a:tc>
                  <a:txBody>
                    <a:bodyPr anchor="ctr"/>
                    <a:lstStyle/>
                    <a:p>
                      <a:pPr marL="0" indent="0" algn="ctr">
                        <a:buNone/>
                      </a:pPr>
                      <a:r>
                        <a:rPr lang="ko-KR" sz="850" dirty="0">
                          <a:solidFill>
                            <a:srgbClr val="FFFFFF"/>
                          </a:solidFill>
                          <a:latin typeface="나눔스퀘어 Bold"/>
                          <a:ea typeface="나눔스퀘어 Bold"/>
                          <a:cs typeface="나눔스퀘어 Bold"/>
                        </a:rPr>
                        <a:t>’36</a:t>
                      </a: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A39382"/>
                    </a:solidFill>
                  </a:tcPr>
                </a:tc>
                <a:tc>
                  <a:txBody>
                    <a:bodyPr anchor="ctr"/>
                    <a:lstStyle/>
                    <a:p>
                      <a:pPr marL="0" indent="0" algn="ctr">
                        <a:buNone/>
                      </a:pPr>
                      <a:r>
                        <a:rPr lang="ko-KR" sz="850" dirty="0">
                          <a:solidFill>
                            <a:srgbClr val="FFFFFF"/>
                          </a:solidFill>
                          <a:latin typeface="나눔스퀘어 Bold"/>
                          <a:ea typeface="나눔스퀘어 Bold"/>
                          <a:cs typeface="나눔스퀘어 Bold"/>
                        </a:rPr>
                        <a:t>계</a:t>
                      </a: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6F6255"/>
                    </a:solidFill>
                  </a:tcPr>
                </a:tc>
              </a:tr>
              <a:tr h="160020">
                <a:tc rowSpan="3">
                  <a:txBody>
                    <a:bodyPr anchor="ctr"/>
                    <a:lstStyle/>
                    <a:p>
                      <a:pPr marL="0" indent="0" algn="ctr">
                        <a:buNone/>
                      </a:pPr>
                      <a:r>
                        <a:rPr lang="ko-KR" sz="700" dirty="0">
                          <a:solidFill>
                            <a:srgbClr val="262626"/>
                          </a:solidFill>
                          <a:latin typeface="나눔스퀘어 Bold"/>
                          <a:ea typeface="나눔스퀘어 Bold"/>
                          <a:cs typeface="나눔스퀘어 Bold"/>
                        </a:rPr>
                        <a:t>자리츠1</a:t>
                      </a:r>
                    </a:p>
                    <a:p>
                      <a:pPr marL="0" indent="0" algn="ctr">
                        <a:buNone/>
                      </a:pPr>
                      <a:r>
                        <a:rPr lang="ko-KR" sz="700" dirty="0">
                          <a:solidFill>
                            <a:srgbClr val="262626"/>
                          </a:solidFill>
                          <a:latin typeface="나눔스퀘어 Bold"/>
                          <a:ea typeface="나눔스퀘어 Bold"/>
                          <a:cs typeface="나눔스퀘어 Bold"/>
                        </a:rPr>
                        <a:t>72호</a:t>
                      </a: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5F3F1"/>
                    </a:solidFill>
                  </a:tcPr>
                </a:tc>
                <a:tc>
                  <a:txBody>
                    <a:bodyPr anchor="ctr"/>
                    <a:lstStyle/>
                    <a:p>
                      <a:pPr marL="0" indent="0" algn="ctr">
                        <a:buNone/>
                      </a:pPr>
                      <a:r>
                        <a:rPr lang="ko-KR" sz="750" dirty="0">
                          <a:solidFill>
                            <a:srgbClr val="262626"/>
                          </a:solidFill>
                          <a:latin typeface="나눔스퀘어"/>
                          <a:ea typeface="나눔스퀘어"/>
                          <a:cs typeface="나눔스퀘어"/>
                        </a:rPr>
                        <a:t>매입</a:t>
                      </a: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5F3F1"/>
                    </a:solidFill>
                  </a:tcPr>
                </a:tc>
                <a:tc>
                  <a:txBody>
                    <a:bodyPr anchor="ctr"/>
                    <a:lstStyle/>
                    <a:p>
                      <a:pPr marL="0" indent="0" algn="r">
                        <a:buNone/>
                      </a:pPr>
                      <a:r>
                        <a:rPr lang="ko-KR" sz="750" dirty="0">
                          <a:solidFill>
                            <a:srgbClr val="262626"/>
                          </a:solidFill>
                          <a:latin typeface="나눔스퀘어"/>
                          <a:ea typeface="나눔스퀘어"/>
                          <a:cs typeface="나눔스퀘어"/>
                        </a:rPr>
                        <a:t>26.2</a:t>
                      </a: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marL="0" indent="0" algn="r">
                        <a:buNone/>
                      </a:pPr>
                      <a:endParaRPr lang="ko-KR" sz="750" dirty="0">
                        <a:solidFill>
                          <a:srgbClr val="262626"/>
                        </a:solidFill>
                        <a:latin typeface="나눔스퀘어"/>
                        <a:ea typeface="나눔스퀘어"/>
                        <a:cs typeface="나눔스퀘어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marL="0" indent="0" algn="r">
                        <a:buNone/>
                      </a:pPr>
                      <a:endParaRPr lang="ko-KR" sz="750" dirty="0">
                        <a:solidFill>
                          <a:srgbClr val="262626"/>
                        </a:solidFill>
                        <a:latin typeface="나눔스퀘어"/>
                        <a:ea typeface="나눔스퀘어"/>
                        <a:cs typeface="나눔스퀘어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marL="0" indent="0" algn="r">
                        <a:buNone/>
                      </a:pPr>
                      <a:endParaRPr lang="ko-KR" sz="750" dirty="0">
                        <a:solidFill>
                          <a:srgbClr val="262626"/>
                        </a:solidFill>
                        <a:latin typeface="나눔스퀘어"/>
                        <a:ea typeface="나눔스퀘어"/>
                        <a:cs typeface="나눔스퀘어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marL="0" indent="0" algn="r">
                        <a:buNone/>
                      </a:pPr>
                      <a:endParaRPr lang="ko-KR" sz="750" dirty="0">
                        <a:solidFill>
                          <a:srgbClr val="262626"/>
                        </a:solidFill>
                        <a:latin typeface="나눔스퀘어"/>
                        <a:ea typeface="나눔스퀘어"/>
                        <a:cs typeface="나눔스퀘어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marL="0" indent="0" algn="r">
                        <a:buNone/>
                      </a:pPr>
                      <a:endParaRPr lang="ko-KR" sz="750" dirty="0">
                        <a:solidFill>
                          <a:srgbClr val="262626"/>
                        </a:solidFill>
                        <a:latin typeface="나눔스퀘어"/>
                        <a:ea typeface="나눔스퀘어"/>
                        <a:cs typeface="나눔스퀘어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marL="0" indent="0" algn="r">
                        <a:buNone/>
                      </a:pPr>
                      <a:endParaRPr lang="ko-KR" sz="750" dirty="0">
                        <a:solidFill>
                          <a:srgbClr val="262626"/>
                        </a:solidFill>
                        <a:latin typeface="나눔스퀘어"/>
                        <a:ea typeface="나눔스퀘어"/>
                        <a:cs typeface="나눔스퀘어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marL="0" indent="0" algn="r">
                        <a:buNone/>
                      </a:pPr>
                      <a:endParaRPr lang="ko-KR" sz="750" dirty="0">
                        <a:solidFill>
                          <a:srgbClr val="262626"/>
                        </a:solidFill>
                        <a:latin typeface="나눔스퀘어"/>
                        <a:ea typeface="나눔스퀘어"/>
                        <a:cs typeface="나눔스퀘어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marL="0" indent="0" algn="r">
                        <a:buNone/>
                      </a:pPr>
                      <a:endParaRPr lang="ko-KR" sz="750" dirty="0">
                        <a:solidFill>
                          <a:srgbClr val="262626"/>
                        </a:solidFill>
                        <a:latin typeface="나눔스퀘어"/>
                        <a:ea typeface="나눔스퀘어"/>
                        <a:cs typeface="나눔스퀘어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marL="0" indent="0" algn="r">
                        <a:buNone/>
                      </a:pPr>
                      <a:endParaRPr lang="ko-KR" sz="750" dirty="0">
                        <a:solidFill>
                          <a:srgbClr val="262626"/>
                        </a:solidFill>
                        <a:latin typeface="나눔스퀘어"/>
                        <a:ea typeface="나눔스퀘어"/>
                        <a:cs typeface="나눔스퀘어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marL="0" indent="0" algn="r">
                        <a:buNone/>
                      </a:pPr>
                      <a:endParaRPr lang="ko-KR" sz="750" dirty="0">
                        <a:solidFill>
                          <a:srgbClr val="262626"/>
                        </a:solidFill>
                        <a:latin typeface="나눔스퀘어"/>
                        <a:ea typeface="나눔스퀘어"/>
                        <a:cs typeface="나눔스퀘어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marL="0" indent="0" algn="r">
                        <a:buNone/>
                      </a:pPr>
                      <a:r>
                        <a:rPr lang="ko-KR" sz="750" dirty="0">
                          <a:solidFill>
                            <a:srgbClr val="262626"/>
                          </a:solidFill>
                          <a:latin typeface="나눔스퀘어 Bold"/>
                          <a:ea typeface="나눔스퀘어 Bold"/>
                          <a:cs typeface="나눔스퀘어 Bold"/>
                        </a:rPr>
                        <a:t>26.2</a:t>
                      </a: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noFill/>
                  </a:tcPr>
                </a:tc>
              </a:tr>
              <a:tr h="160020">
                <a:tc vMerge="1">
                  <a:txBody>
                    <a:bodyPr anchor="ctr"/>
                    <a:lstStyle/>
                    <a:p>
                      <a:pPr marL="0" indent="0" algn="ctr">
                        <a:buNone/>
                      </a:pPr>
                      <a:endParaRPr lang="ko-KR" sz="700" dirty="0">
                        <a:solidFill>
                          <a:srgbClr val="262626"/>
                        </a:solidFill>
                        <a:latin typeface="나눔스퀘어 Bold"/>
                        <a:ea typeface="나눔스퀘어 Bold"/>
                        <a:cs typeface="나눔스퀘어 Bold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5F3F1"/>
                    </a:solidFill>
                  </a:tcPr>
                </a:tc>
                <a:tc>
                  <a:txBody>
                    <a:bodyPr anchor="ctr"/>
                    <a:lstStyle/>
                    <a:p>
                      <a:pPr marL="0" indent="0" algn="ctr">
                        <a:buNone/>
                      </a:pPr>
                      <a:r>
                        <a:rPr lang="ko-KR" sz="750" dirty="0">
                          <a:solidFill>
                            <a:srgbClr val="262626"/>
                          </a:solidFill>
                          <a:latin typeface="나눔스퀘어"/>
                          <a:ea typeface="나눔스퀘어"/>
                          <a:cs typeface="나눔스퀘어"/>
                        </a:rPr>
                        <a:t>운용</a:t>
                      </a: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5F3F1"/>
                    </a:solidFill>
                  </a:tcPr>
                </a:tc>
                <a:tc>
                  <a:txBody>
                    <a:bodyPr anchor="ctr"/>
                    <a:lstStyle/>
                    <a:p>
                      <a:pPr marL="0" indent="0" algn="r">
                        <a:buNone/>
                      </a:pPr>
                      <a:endParaRPr lang="ko-KR" sz="750" dirty="0">
                        <a:solidFill>
                          <a:srgbClr val="262626"/>
                        </a:solidFill>
                        <a:latin typeface="나눔스퀘어"/>
                        <a:ea typeface="나눔스퀘어"/>
                        <a:cs typeface="나눔스퀘어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marL="0" indent="0" algn="r">
                        <a:buNone/>
                      </a:pPr>
                      <a:r>
                        <a:rPr lang="ko-KR" sz="750" dirty="0">
                          <a:solidFill>
                            <a:srgbClr val="262626"/>
                          </a:solidFill>
                          <a:latin typeface="나눔스퀘어"/>
                          <a:ea typeface="나눔스퀘어"/>
                          <a:cs typeface="나눔스퀘어"/>
                        </a:rPr>
                        <a:t>11.8</a:t>
                      </a: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marL="0" indent="0" algn="r">
                        <a:buNone/>
                      </a:pPr>
                      <a:r>
                        <a:rPr lang="ko-KR" sz="750" dirty="0">
                          <a:solidFill>
                            <a:srgbClr val="262626"/>
                          </a:solidFill>
                          <a:latin typeface="나눔스퀘어"/>
                          <a:ea typeface="나눔스퀘어"/>
                          <a:cs typeface="나눔스퀘어"/>
                        </a:rPr>
                        <a:t>11.8</a:t>
                      </a: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marL="0" indent="0" algn="r">
                        <a:buNone/>
                      </a:pPr>
                      <a:r>
                        <a:rPr lang="ko-KR" sz="750" dirty="0">
                          <a:solidFill>
                            <a:srgbClr val="262626"/>
                          </a:solidFill>
                          <a:latin typeface="나눔스퀘어"/>
                          <a:ea typeface="나눔스퀘어"/>
                          <a:cs typeface="나눔스퀘어"/>
                        </a:rPr>
                        <a:t>11.8</a:t>
                      </a: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marL="0" indent="0" algn="r">
                        <a:buNone/>
                      </a:pPr>
                      <a:r>
                        <a:rPr lang="ko-KR" sz="750" dirty="0">
                          <a:solidFill>
                            <a:srgbClr val="262626"/>
                          </a:solidFill>
                          <a:latin typeface="나눔스퀘어"/>
                          <a:ea typeface="나눔스퀘어"/>
                          <a:cs typeface="나눔스퀘어"/>
                        </a:rPr>
                        <a:t>11.8</a:t>
                      </a: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marL="0" indent="0" algn="r">
                        <a:buNone/>
                      </a:pPr>
                      <a:r>
                        <a:rPr lang="ko-KR" sz="750" dirty="0">
                          <a:solidFill>
                            <a:srgbClr val="262626"/>
                          </a:solidFill>
                          <a:latin typeface="나눔스퀘어"/>
                          <a:ea typeface="나눔스퀘어"/>
                          <a:cs typeface="나눔스퀘어"/>
                        </a:rPr>
                        <a:t>11.8</a:t>
                      </a: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marL="0" indent="0" algn="r">
                        <a:buNone/>
                      </a:pPr>
                      <a:r>
                        <a:rPr lang="ko-KR" sz="750" dirty="0">
                          <a:solidFill>
                            <a:srgbClr val="262626"/>
                          </a:solidFill>
                          <a:latin typeface="나눔스퀘어"/>
                          <a:ea typeface="나눔스퀘어"/>
                          <a:cs typeface="나눔스퀘어"/>
                        </a:rPr>
                        <a:t>11.8</a:t>
                      </a: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marL="0" indent="0" algn="r">
                        <a:buNone/>
                      </a:pPr>
                      <a:r>
                        <a:rPr lang="ko-KR" sz="750" dirty="0">
                          <a:solidFill>
                            <a:srgbClr val="262626"/>
                          </a:solidFill>
                          <a:latin typeface="나눔스퀘어"/>
                          <a:ea typeface="나눔스퀘어"/>
                          <a:cs typeface="나눔스퀘어"/>
                        </a:rPr>
                        <a:t>11.8</a:t>
                      </a: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marL="0" indent="0" algn="r">
                        <a:buNone/>
                      </a:pPr>
                      <a:r>
                        <a:rPr lang="ko-KR" sz="750" dirty="0">
                          <a:solidFill>
                            <a:srgbClr val="262626"/>
                          </a:solidFill>
                          <a:latin typeface="나눔스퀘어"/>
                          <a:ea typeface="나눔스퀘어"/>
                          <a:cs typeface="나눔스퀘어"/>
                        </a:rPr>
                        <a:t>11.8</a:t>
                      </a: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marL="0" indent="0" algn="r">
                        <a:buNone/>
                      </a:pPr>
                      <a:r>
                        <a:rPr lang="ko-KR" sz="750" dirty="0">
                          <a:solidFill>
                            <a:srgbClr val="262626"/>
                          </a:solidFill>
                          <a:latin typeface="나눔스퀘어"/>
                          <a:ea typeface="나눔스퀘어"/>
                          <a:cs typeface="나눔스퀘어"/>
                        </a:rPr>
                        <a:t>11.8</a:t>
                      </a: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marL="0" indent="0" algn="r">
                        <a:buNone/>
                      </a:pPr>
                      <a:r>
                        <a:rPr lang="ko-KR" sz="750" dirty="0">
                          <a:solidFill>
                            <a:srgbClr val="262626"/>
                          </a:solidFill>
                          <a:latin typeface="나눔스퀘어"/>
                          <a:ea typeface="나눔스퀘어"/>
                          <a:cs typeface="나눔스퀘어"/>
                        </a:rPr>
                        <a:t>11.8</a:t>
                      </a: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marL="0" indent="0" algn="r">
                        <a:buNone/>
                      </a:pPr>
                      <a:r>
                        <a:rPr lang="ko-KR" sz="750" dirty="0">
                          <a:solidFill>
                            <a:srgbClr val="262626"/>
                          </a:solidFill>
                          <a:latin typeface="나눔스퀘어 Bold"/>
                          <a:ea typeface="나눔스퀘어 Bold"/>
                          <a:cs typeface="나눔스퀘어 Bold"/>
                        </a:rPr>
                        <a:t>118.1</a:t>
                      </a: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noFill/>
                  </a:tcPr>
                </a:tc>
              </a:tr>
              <a:tr h="160020">
                <a:tc vMerge="1">
                  <a:txBody>
                    <a:bodyPr anchor="ctr"/>
                    <a:lstStyle/>
                    <a:p>
                      <a:pPr marL="0" indent="0" algn="ctr">
                        <a:buNone/>
                      </a:pPr>
                      <a:endParaRPr lang="ko-KR" sz="700" dirty="0">
                        <a:solidFill>
                          <a:srgbClr val="262626"/>
                        </a:solidFill>
                        <a:latin typeface="나눔스퀘어 Bold"/>
                        <a:ea typeface="나눔스퀘어 Bold"/>
                        <a:cs typeface="나눔스퀘어 Bold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5F3F1"/>
                    </a:solidFill>
                  </a:tcPr>
                </a:tc>
                <a:tc>
                  <a:txBody>
                    <a:bodyPr anchor="ctr"/>
                    <a:lstStyle/>
                    <a:p>
                      <a:pPr marL="0" indent="0" algn="ctr">
                        <a:buNone/>
                      </a:pPr>
                      <a:r>
                        <a:rPr lang="ko-KR" sz="750" dirty="0">
                          <a:solidFill>
                            <a:srgbClr val="262626"/>
                          </a:solidFill>
                          <a:latin typeface="나눔스퀘어"/>
                          <a:ea typeface="나눔스퀘어"/>
                          <a:cs typeface="나눔스퀘어"/>
                        </a:rPr>
                        <a:t>매각</a:t>
                      </a: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5F3F1"/>
                    </a:solidFill>
                  </a:tcPr>
                </a:tc>
                <a:tc>
                  <a:txBody>
                    <a:bodyPr anchor="ctr"/>
                    <a:lstStyle/>
                    <a:p>
                      <a:pPr marL="0" indent="0" algn="r">
                        <a:buNone/>
                      </a:pPr>
                      <a:endParaRPr lang="ko-KR" sz="750" dirty="0">
                        <a:solidFill>
                          <a:srgbClr val="262626"/>
                        </a:solidFill>
                        <a:latin typeface="나눔스퀘어"/>
                        <a:ea typeface="나눔스퀘어"/>
                        <a:cs typeface="나눔스퀘어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marL="0" indent="0" algn="r">
                        <a:buNone/>
                      </a:pPr>
                      <a:endParaRPr lang="ko-KR" sz="750" dirty="0">
                        <a:solidFill>
                          <a:srgbClr val="262626"/>
                        </a:solidFill>
                        <a:latin typeface="나눔스퀘어"/>
                        <a:ea typeface="나눔스퀘어"/>
                        <a:cs typeface="나눔스퀘어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marL="0" indent="0" algn="r">
                        <a:buNone/>
                      </a:pPr>
                      <a:endParaRPr lang="ko-KR" sz="750" dirty="0">
                        <a:solidFill>
                          <a:srgbClr val="262626"/>
                        </a:solidFill>
                        <a:latin typeface="나눔스퀘어"/>
                        <a:ea typeface="나눔스퀘어"/>
                        <a:cs typeface="나눔스퀘어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marL="0" indent="0" algn="r">
                        <a:buNone/>
                      </a:pPr>
                      <a:endParaRPr lang="ko-KR" sz="750" dirty="0">
                        <a:solidFill>
                          <a:srgbClr val="262626"/>
                        </a:solidFill>
                        <a:latin typeface="나눔스퀘어"/>
                        <a:ea typeface="나눔스퀘어"/>
                        <a:cs typeface="나눔스퀘어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marL="0" indent="0" algn="r">
                        <a:buNone/>
                      </a:pPr>
                      <a:endParaRPr lang="ko-KR" sz="750" dirty="0">
                        <a:solidFill>
                          <a:srgbClr val="262626"/>
                        </a:solidFill>
                        <a:latin typeface="나눔스퀘어"/>
                        <a:ea typeface="나눔스퀘어"/>
                        <a:cs typeface="나눔스퀘어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marL="0" indent="0" algn="r">
                        <a:buNone/>
                      </a:pPr>
                      <a:endParaRPr lang="ko-KR" sz="750" dirty="0">
                        <a:solidFill>
                          <a:srgbClr val="262626"/>
                        </a:solidFill>
                        <a:latin typeface="나눔스퀘어"/>
                        <a:ea typeface="나눔스퀘어"/>
                        <a:cs typeface="나눔스퀘어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marL="0" indent="0" algn="r">
                        <a:buNone/>
                      </a:pPr>
                      <a:endParaRPr lang="ko-KR" sz="750" dirty="0">
                        <a:solidFill>
                          <a:srgbClr val="262626"/>
                        </a:solidFill>
                        <a:latin typeface="나눔스퀘어"/>
                        <a:ea typeface="나눔스퀘어"/>
                        <a:cs typeface="나눔스퀘어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marL="0" indent="0" algn="r">
                        <a:buNone/>
                      </a:pPr>
                      <a:endParaRPr lang="ko-KR" sz="750" dirty="0">
                        <a:solidFill>
                          <a:srgbClr val="262626"/>
                        </a:solidFill>
                        <a:latin typeface="나눔스퀘어"/>
                        <a:ea typeface="나눔스퀘어"/>
                        <a:cs typeface="나눔스퀘어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marL="0" indent="0" algn="r">
                        <a:buNone/>
                      </a:pPr>
                      <a:endParaRPr lang="ko-KR" sz="750" dirty="0">
                        <a:solidFill>
                          <a:srgbClr val="262626"/>
                        </a:solidFill>
                        <a:latin typeface="나눔스퀘어"/>
                        <a:ea typeface="나눔스퀘어"/>
                        <a:cs typeface="나눔스퀘어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marL="0" indent="0" algn="r">
                        <a:buNone/>
                      </a:pPr>
                      <a:endParaRPr lang="ko-KR" sz="750" dirty="0">
                        <a:solidFill>
                          <a:srgbClr val="262626"/>
                        </a:solidFill>
                        <a:latin typeface="나눔스퀘어"/>
                        <a:ea typeface="나눔스퀘어"/>
                        <a:cs typeface="나눔스퀘어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marL="0" indent="0" algn="r">
                        <a:buNone/>
                      </a:pPr>
                      <a:r>
                        <a:rPr lang="ko-KR" sz="750" dirty="0">
                          <a:solidFill>
                            <a:srgbClr val="262626"/>
                          </a:solidFill>
                          <a:latin typeface="나눔스퀘어"/>
                          <a:ea typeface="나눔스퀘어"/>
                          <a:cs typeface="나눔스퀘어"/>
                        </a:rPr>
                        <a:t>210.5</a:t>
                      </a: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marL="0" indent="0" algn="r">
                        <a:buNone/>
                      </a:pPr>
                      <a:r>
                        <a:rPr lang="ko-KR" sz="750" dirty="0">
                          <a:solidFill>
                            <a:srgbClr val="262626"/>
                          </a:solidFill>
                          <a:latin typeface="나눔스퀘어 Bold"/>
                          <a:ea typeface="나눔스퀘어 Bold"/>
                          <a:cs typeface="나눔스퀘어 Bold"/>
                        </a:rPr>
                        <a:t>210.5</a:t>
                      </a: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noFill/>
                  </a:tcPr>
                </a:tc>
              </a:tr>
              <a:tr h="160020">
                <a:tc rowSpan="3">
                  <a:txBody>
                    <a:bodyPr anchor="ctr"/>
                    <a:lstStyle/>
                    <a:p>
                      <a:pPr marL="0" indent="0" algn="ctr">
                        <a:buNone/>
                      </a:pPr>
                      <a:r>
                        <a:rPr lang="ko-KR" sz="700" dirty="0">
                          <a:solidFill>
                            <a:srgbClr val="262626"/>
                          </a:solidFill>
                          <a:latin typeface="나눔스퀘어 Bold"/>
                          <a:ea typeface="나눔스퀘어 Bold"/>
                          <a:cs typeface="나눔스퀘어 Bold"/>
                        </a:rPr>
                        <a:t>자리츠2</a:t>
                      </a:r>
                    </a:p>
                    <a:p>
                      <a:pPr marL="0" indent="0" algn="ctr">
                        <a:buNone/>
                      </a:pPr>
                      <a:r>
                        <a:rPr lang="ko-KR" sz="700" dirty="0">
                          <a:solidFill>
                            <a:srgbClr val="262626"/>
                          </a:solidFill>
                          <a:latin typeface="나눔스퀘어 Bold"/>
                          <a:ea typeface="나눔스퀘어 Bold"/>
                          <a:cs typeface="나눔스퀘어 Bold"/>
                        </a:rPr>
                        <a:t>본건</a:t>
                      </a: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5F3F1"/>
                    </a:solidFill>
                  </a:tcPr>
                </a:tc>
                <a:tc>
                  <a:txBody>
                    <a:bodyPr anchor="ctr"/>
                    <a:lstStyle/>
                    <a:p>
                      <a:pPr marL="0" indent="0" algn="ctr">
                        <a:buNone/>
                      </a:pPr>
                      <a:r>
                        <a:rPr lang="ko-KR" sz="750" dirty="0">
                          <a:solidFill>
                            <a:srgbClr val="262626"/>
                          </a:solidFill>
                          <a:latin typeface="나눔스퀘어"/>
                          <a:ea typeface="나눔스퀘어"/>
                          <a:cs typeface="나눔스퀘어"/>
                        </a:rPr>
                        <a:t>매입</a:t>
                      </a: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5F3F1"/>
                    </a:solidFill>
                  </a:tcPr>
                </a:tc>
                <a:tc>
                  <a:txBody>
                    <a:bodyPr anchor="ctr"/>
                    <a:lstStyle/>
                    <a:p>
                      <a:pPr marL="0" indent="0" algn="r">
                        <a:buNone/>
                      </a:pPr>
                      <a:r>
                        <a:rPr lang="ko-KR" sz="750" dirty="0">
                          <a:solidFill>
                            <a:srgbClr val="262626"/>
                          </a:solidFill>
                          <a:latin typeface="나눔스퀘어"/>
                          <a:ea typeface="나눔스퀘어"/>
                          <a:cs typeface="나눔스퀘어"/>
                        </a:rPr>
                        <a:t>13.5</a:t>
                      </a: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marL="0" indent="0" algn="r">
                        <a:buNone/>
                      </a:pPr>
                      <a:endParaRPr lang="ko-KR" sz="750" dirty="0">
                        <a:solidFill>
                          <a:srgbClr val="262626"/>
                        </a:solidFill>
                        <a:latin typeface="나눔스퀘어"/>
                        <a:ea typeface="나눔스퀘어"/>
                        <a:cs typeface="나눔스퀘어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marL="0" indent="0" algn="r">
                        <a:buNone/>
                      </a:pPr>
                      <a:endParaRPr lang="ko-KR" sz="750" dirty="0">
                        <a:solidFill>
                          <a:srgbClr val="262626"/>
                        </a:solidFill>
                        <a:latin typeface="나눔스퀘어"/>
                        <a:ea typeface="나눔스퀘어"/>
                        <a:cs typeface="나눔스퀘어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marL="0" indent="0" algn="r">
                        <a:buNone/>
                      </a:pPr>
                      <a:endParaRPr lang="ko-KR" sz="750" dirty="0">
                        <a:solidFill>
                          <a:srgbClr val="262626"/>
                        </a:solidFill>
                        <a:latin typeface="나눔스퀘어"/>
                        <a:ea typeface="나눔스퀘어"/>
                        <a:cs typeface="나눔스퀘어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marL="0" indent="0" algn="r">
                        <a:buNone/>
                      </a:pPr>
                      <a:endParaRPr lang="ko-KR" sz="750" dirty="0">
                        <a:solidFill>
                          <a:srgbClr val="262626"/>
                        </a:solidFill>
                        <a:latin typeface="나눔스퀘어"/>
                        <a:ea typeface="나눔스퀘어"/>
                        <a:cs typeface="나눔스퀘어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marL="0" indent="0" algn="r">
                        <a:buNone/>
                      </a:pPr>
                      <a:endParaRPr lang="ko-KR" sz="750" dirty="0">
                        <a:solidFill>
                          <a:srgbClr val="262626"/>
                        </a:solidFill>
                        <a:latin typeface="나눔스퀘어"/>
                        <a:ea typeface="나눔스퀘어"/>
                        <a:cs typeface="나눔스퀘어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marL="0" indent="0" algn="r">
                        <a:buNone/>
                      </a:pPr>
                      <a:endParaRPr lang="ko-KR" sz="750" dirty="0">
                        <a:solidFill>
                          <a:srgbClr val="262626"/>
                        </a:solidFill>
                        <a:latin typeface="나눔스퀘어"/>
                        <a:ea typeface="나눔스퀘어"/>
                        <a:cs typeface="나눔스퀘어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marL="0" indent="0" algn="r">
                        <a:buNone/>
                      </a:pPr>
                      <a:endParaRPr lang="ko-KR" sz="750" dirty="0">
                        <a:solidFill>
                          <a:srgbClr val="262626"/>
                        </a:solidFill>
                        <a:latin typeface="나눔스퀘어"/>
                        <a:ea typeface="나눔스퀘어"/>
                        <a:cs typeface="나눔스퀘어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marL="0" indent="0" algn="r">
                        <a:buNone/>
                      </a:pPr>
                      <a:endParaRPr lang="ko-KR" sz="750" dirty="0">
                        <a:solidFill>
                          <a:srgbClr val="262626"/>
                        </a:solidFill>
                        <a:latin typeface="나눔스퀘어"/>
                        <a:ea typeface="나눔스퀘어"/>
                        <a:cs typeface="나눔스퀘어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marL="0" indent="0" algn="r">
                        <a:buNone/>
                      </a:pPr>
                      <a:endParaRPr lang="ko-KR" sz="750" dirty="0">
                        <a:solidFill>
                          <a:srgbClr val="262626"/>
                        </a:solidFill>
                        <a:latin typeface="나눔스퀘어"/>
                        <a:ea typeface="나눔스퀘어"/>
                        <a:cs typeface="나눔스퀘어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marL="0" indent="0" algn="r">
                        <a:buNone/>
                      </a:pPr>
                      <a:endParaRPr lang="ko-KR" sz="750" dirty="0">
                        <a:solidFill>
                          <a:srgbClr val="262626"/>
                        </a:solidFill>
                        <a:latin typeface="나눔스퀘어"/>
                        <a:ea typeface="나눔스퀘어"/>
                        <a:cs typeface="나눔스퀘어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marL="0" indent="0" algn="r">
                        <a:buNone/>
                      </a:pPr>
                      <a:r>
                        <a:rPr lang="ko-KR" sz="750" dirty="0">
                          <a:solidFill>
                            <a:srgbClr val="262626"/>
                          </a:solidFill>
                          <a:latin typeface="나눔스퀘어 Bold"/>
                          <a:ea typeface="나눔스퀘어 Bold"/>
                          <a:cs typeface="나눔스퀘어 Bold"/>
                        </a:rPr>
                        <a:t>13.5</a:t>
                      </a: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noFill/>
                  </a:tcPr>
                </a:tc>
              </a:tr>
              <a:tr h="160020">
                <a:tc vMerge="1">
                  <a:txBody>
                    <a:bodyPr anchor="ctr"/>
                    <a:lstStyle/>
                    <a:p>
                      <a:pPr marL="0" indent="0" algn="ctr">
                        <a:buNone/>
                      </a:pPr>
                      <a:endParaRPr lang="ko-KR" sz="700" dirty="0">
                        <a:solidFill>
                          <a:srgbClr val="262626"/>
                        </a:solidFill>
                        <a:latin typeface="나눔스퀘어 Bold"/>
                        <a:ea typeface="나눔스퀘어 Bold"/>
                        <a:cs typeface="나눔스퀘어 Bold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5F3F1"/>
                    </a:solidFill>
                  </a:tcPr>
                </a:tc>
                <a:tc>
                  <a:txBody>
                    <a:bodyPr anchor="ctr"/>
                    <a:lstStyle/>
                    <a:p>
                      <a:pPr marL="0" indent="0" algn="ctr">
                        <a:buNone/>
                      </a:pPr>
                      <a:r>
                        <a:rPr lang="ko-KR" sz="750" dirty="0">
                          <a:solidFill>
                            <a:srgbClr val="262626"/>
                          </a:solidFill>
                          <a:latin typeface="나눔스퀘어"/>
                          <a:ea typeface="나눔스퀘어"/>
                          <a:cs typeface="나눔스퀘어"/>
                        </a:rPr>
                        <a:t>운용</a:t>
                      </a: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5F3F1"/>
                    </a:solidFill>
                  </a:tcPr>
                </a:tc>
                <a:tc>
                  <a:txBody>
                    <a:bodyPr anchor="ctr"/>
                    <a:lstStyle/>
                    <a:p>
                      <a:pPr marL="0" indent="0" algn="r">
                        <a:buNone/>
                      </a:pPr>
                      <a:endParaRPr lang="ko-KR" sz="750" dirty="0">
                        <a:solidFill>
                          <a:srgbClr val="262626"/>
                        </a:solidFill>
                        <a:latin typeface="나눔스퀘어"/>
                        <a:ea typeface="나눔스퀘어"/>
                        <a:cs typeface="나눔스퀘어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marL="0" indent="0" algn="r">
                        <a:buNone/>
                      </a:pPr>
                      <a:r>
                        <a:rPr lang="ko-KR" sz="750" dirty="0">
                          <a:solidFill>
                            <a:srgbClr val="262626"/>
                          </a:solidFill>
                          <a:latin typeface="나눔스퀘어"/>
                          <a:ea typeface="나눔스퀘어"/>
                          <a:cs typeface="나눔스퀘어"/>
                        </a:rPr>
                        <a:t>6.7</a:t>
                      </a: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marL="0" indent="0" algn="r">
                        <a:buNone/>
                      </a:pPr>
                      <a:r>
                        <a:rPr lang="ko-KR" sz="750" dirty="0">
                          <a:solidFill>
                            <a:srgbClr val="262626"/>
                          </a:solidFill>
                          <a:latin typeface="나눔스퀘어"/>
                          <a:ea typeface="나눔스퀘어"/>
                          <a:cs typeface="나눔스퀘어"/>
                        </a:rPr>
                        <a:t>6.7</a:t>
                      </a: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marL="0" indent="0" algn="r">
                        <a:buNone/>
                      </a:pPr>
                      <a:r>
                        <a:rPr lang="ko-KR" sz="750" dirty="0">
                          <a:solidFill>
                            <a:srgbClr val="262626"/>
                          </a:solidFill>
                          <a:latin typeface="나눔스퀘어"/>
                          <a:ea typeface="나눔스퀘어"/>
                          <a:cs typeface="나눔스퀘어"/>
                        </a:rPr>
                        <a:t>6.7</a:t>
                      </a: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marL="0" indent="0" algn="r">
                        <a:buNone/>
                      </a:pPr>
                      <a:r>
                        <a:rPr lang="ko-KR" sz="750" dirty="0">
                          <a:solidFill>
                            <a:srgbClr val="262626"/>
                          </a:solidFill>
                          <a:latin typeface="나눔스퀘어"/>
                          <a:ea typeface="나눔스퀘어"/>
                          <a:cs typeface="나눔스퀘어"/>
                        </a:rPr>
                        <a:t>6.7</a:t>
                      </a: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marL="0" indent="0" algn="r">
                        <a:buNone/>
                      </a:pPr>
                      <a:r>
                        <a:rPr lang="ko-KR" sz="750" dirty="0">
                          <a:solidFill>
                            <a:srgbClr val="262626"/>
                          </a:solidFill>
                          <a:latin typeface="나눔스퀘어"/>
                          <a:ea typeface="나눔스퀘어"/>
                          <a:cs typeface="나눔스퀘어"/>
                        </a:rPr>
                        <a:t>6.7</a:t>
                      </a: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marL="0" indent="0" algn="r">
                        <a:buNone/>
                      </a:pPr>
                      <a:r>
                        <a:rPr lang="ko-KR" sz="750" dirty="0">
                          <a:solidFill>
                            <a:srgbClr val="262626"/>
                          </a:solidFill>
                          <a:latin typeface="나눔스퀘어"/>
                          <a:ea typeface="나눔스퀘어"/>
                          <a:cs typeface="나눔스퀘어"/>
                        </a:rPr>
                        <a:t>6.7</a:t>
                      </a: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marL="0" indent="0" algn="r">
                        <a:buNone/>
                      </a:pPr>
                      <a:r>
                        <a:rPr lang="ko-KR" sz="750" dirty="0">
                          <a:solidFill>
                            <a:srgbClr val="262626"/>
                          </a:solidFill>
                          <a:latin typeface="나눔스퀘어"/>
                          <a:ea typeface="나눔스퀘어"/>
                          <a:cs typeface="나눔스퀘어"/>
                        </a:rPr>
                        <a:t>6.7</a:t>
                      </a: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marL="0" indent="0" algn="r">
                        <a:buNone/>
                      </a:pPr>
                      <a:r>
                        <a:rPr lang="ko-KR" sz="750" dirty="0">
                          <a:solidFill>
                            <a:srgbClr val="262626"/>
                          </a:solidFill>
                          <a:latin typeface="나눔스퀘어"/>
                          <a:ea typeface="나눔스퀘어"/>
                          <a:cs typeface="나눔스퀘어"/>
                        </a:rPr>
                        <a:t>6.7</a:t>
                      </a: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marL="0" indent="0" algn="r">
                        <a:buNone/>
                      </a:pPr>
                      <a:r>
                        <a:rPr lang="ko-KR" sz="750" dirty="0">
                          <a:solidFill>
                            <a:srgbClr val="262626"/>
                          </a:solidFill>
                          <a:latin typeface="나눔스퀘어"/>
                          <a:ea typeface="나눔스퀘어"/>
                          <a:cs typeface="나눔스퀘어"/>
                        </a:rPr>
                        <a:t>6.7</a:t>
                      </a: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marL="0" indent="0" algn="r">
                        <a:buNone/>
                      </a:pPr>
                      <a:r>
                        <a:rPr lang="ko-KR" sz="750" dirty="0">
                          <a:solidFill>
                            <a:srgbClr val="262626"/>
                          </a:solidFill>
                          <a:latin typeface="나눔스퀘어"/>
                          <a:ea typeface="나눔스퀘어"/>
                          <a:cs typeface="나눔스퀘어"/>
                        </a:rPr>
                        <a:t>6.7</a:t>
                      </a: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marL="0" indent="0" algn="r">
                        <a:buNone/>
                      </a:pPr>
                      <a:r>
                        <a:rPr lang="ko-KR" sz="750" dirty="0">
                          <a:solidFill>
                            <a:srgbClr val="262626"/>
                          </a:solidFill>
                          <a:latin typeface="나눔스퀘어 Bold"/>
                          <a:ea typeface="나눔스퀘어 Bold"/>
                          <a:cs typeface="나눔스퀘어 Bold"/>
                        </a:rPr>
                        <a:t>66.7</a:t>
                      </a: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noFill/>
                  </a:tcPr>
                </a:tc>
              </a:tr>
              <a:tr h="160020">
                <a:tc vMerge="1">
                  <a:txBody>
                    <a:bodyPr anchor="ctr"/>
                    <a:lstStyle/>
                    <a:p>
                      <a:pPr marL="0" indent="0" algn="ctr">
                        <a:buNone/>
                      </a:pPr>
                      <a:endParaRPr lang="ko-KR" sz="700" dirty="0">
                        <a:solidFill>
                          <a:srgbClr val="262626"/>
                        </a:solidFill>
                        <a:latin typeface="나눔스퀘어 Bold"/>
                        <a:ea typeface="나눔스퀘어 Bold"/>
                        <a:cs typeface="나눔스퀘어 Bold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5F3F1"/>
                    </a:solidFill>
                  </a:tcPr>
                </a:tc>
                <a:tc>
                  <a:txBody>
                    <a:bodyPr anchor="ctr"/>
                    <a:lstStyle/>
                    <a:p>
                      <a:pPr marL="0" indent="0" algn="ctr">
                        <a:buNone/>
                      </a:pPr>
                      <a:r>
                        <a:rPr lang="ko-KR" sz="750" dirty="0">
                          <a:solidFill>
                            <a:srgbClr val="262626"/>
                          </a:solidFill>
                          <a:latin typeface="나눔스퀘어"/>
                          <a:ea typeface="나눔스퀘어"/>
                          <a:cs typeface="나눔스퀘어"/>
                        </a:rPr>
                        <a:t>매각</a:t>
                      </a: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5F3F1"/>
                    </a:solidFill>
                  </a:tcPr>
                </a:tc>
                <a:tc>
                  <a:txBody>
                    <a:bodyPr anchor="ctr"/>
                    <a:lstStyle/>
                    <a:p>
                      <a:pPr marL="0" indent="0" algn="r">
                        <a:buNone/>
                      </a:pPr>
                      <a:endParaRPr lang="ko-KR" sz="750" dirty="0">
                        <a:solidFill>
                          <a:srgbClr val="262626"/>
                        </a:solidFill>
                        <a:latin typeface="나눔스퀘어"/>
                        <a:ea typeface="나눔스퀘어"/>
                        <a:cs typeface="나눔스퀘어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marL="0" indent="0" algn="r">
                        <a:buNone/>
                      </a:pPr>
                      <a:endParaRPr lang="ko-KR" sz="750" dirty="0">
                        <a:solidFill>
                          <a:srgbClr val="262626"/>
                        </a:solidFill>
                        <a:latin typeface="나눔스퀘어"/>
                        <a:ea typeface="나눔스퀘어"/>
                        <a:cs typeface="나눔스퀘어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marL="0" indent="0" algn="r">
                        <a:buNone/>
                      </a:pPr>
                      <a:endParaRPr lang="ko-KR" sz="750" dirty="0">
                        <a:solidFill>
                          <a:srgbClr val="262626"/>
                        </a:solidFill>
                        <a:latin typeface="나눔스퀘어"/>
                        <a:ea typeface="나눔스퀘어"/>
                        <a:cs typeface="나눔스퀘어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marL="0" indent="0" algn="r">
                        <a:buNone/>
                      </a:pPr>
                      <a:endParaRPr lang="ko-KR" sz="750" dirty="0">
                        <a:solidFill>
                          <a:srgbClr val="262626"/>
                        </a:solidFill>
                        <a:latin typeface="나눔스퀘어"/>
                        <a:ea typeface="나눔스퀘어"/>
                        <a:cs typeface="나눔스퀘어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marL="0" indent="0" algn="r">
                        <a:buNone/>
                      </a:pPr>
                      <a:endParaRPr lang="ko-KR" sz="750" dirty="0">
                        <a:solidFill>
                          <a:srgbClr val="262626"/>
                        </a:solidFill>
                        <a:latin typeface="나눔스퀘어"/>
                        <a:ea typeface="나눔스퀘어"/>
                        <a:cs typeface="나눔스퀘어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marL="0" indent="0" algn="r">
                        <a:buNone/>
                      </a:pPr>
                      <a:endParaRPr lang="ko-KR" sz="750" dirty="0">
                        <a:solidFill>
                          <a:srgbClr val="262626"/>
                        </a:solidFill>
                        <a:latin typeface="나눔스퀘어"/>
                        <a:ea typeface="나눔스퀘어"/>
                        <a:cs typeface="나눔스퀘어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marL="0" indent="0" algn="r">
                        <a:buNone/>
                      </a:pPr>
                      <a:endParaRPr lang="ko-KR" sz="750" dirty="0">
                        <a:solidFill>
                          <a:srgbClr val="262626"/>
                        </a:solidFill>
                        <a:latin typeface="나눔스퀘어"/>
                        <a:ea typeface="나눔스퀘어"/>
                        <a:cs typeface="나눔스퀘어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marL="0" indent="0" algn="r">
                        <a:buNone/>
                      </a:pPr>
                      <a:endParaRPr lang="ko-KR" sz="750" dirty="0">
                        <a:solidFill>
                          <a:srgbClr val="262626"/>
                        </a:solidFill>
                        <a:latin typeface="나눔스퀘어"/>
                        <a:ea typeface="나눔스퀘어"/>
                        <a:cs typeface="나눔스퀘어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marL="0" indent="0" algn="r">
                        <a:buNone/>
                      </a:pPr>
                      <a:endParaRPr lang="ko-KR" sz="750" dirty="0">
                        <a:solidFill>
                          <a:srgbClr val="262626"/>
                        </a:solidFill>
                        <a:latin typeface="나눔스퀘어"/>
                        <a:ea typeface="나눔스퀘어"/>
                        <a:cs typeface="나눔스퀘어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marL="0" indent="0" algn="r">
                        <a:buNone/>
                      </a:pPr>
                      <a:endParaRPr lang="ko-KR" sz="750" dirty="0">
                        <a:solidFill>
                          <a:srgbClr val="262626"/>
                        </a:solidFill>
                        <a:latin typeface="나눔스퀘어"/>
                        <a:ea typeface="나눔스퀘어"/>
                        <a:cs typeface="나눔스퀘어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marL="0" indent="0" algn="r">
                        <a:buNone/>
                      </a:pPr>
                      <a:r>
                        <a:rPr lang="ko-KR" sz="750" dirty="0">
                          <a:solidFill>
                            <a:srgbClr val="262626"/>
                          </a:solidFill>
                          <a:latin typeface="나눔스퀘어"/>
                          <a:ea typeface="나눔스퀘어"/>
                          <a:cs typeface="나눔스퀘어"/>
                        </a:rPr>
                        <a:t>143.6</a:t>
                      </a: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marL="0" indent="0" algn="r">
                        <a:buNone/>
                      </a:pPr>
                      <a:r>
                        <a:rPr lang="ko-KR" sz="750" dirty="0">
                          <a:solidFill>
                            <a:srgbClr val="262626"/>
                          </a:solidFill>
                          <a:latin typeface="나눔스퀘어 Bold"/>
                          <a:ea typeface="나눔스퀘어 Bold"/>
                          <a:cs typeface="나눔스퀘어 Bold"/>
                        </a:rPr>
                        <a:t>143.6</a:t>
                      </a: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noFill/>
                  </a:tcPr>
                </a:tc>
              </a:tr>
              <a:tr h="160020">
                <a:tc rowSpan="2">
                  <a:txBody>
                    <a:bodyPr anchor="ctr"/>
                    <a:lstStyle/>
                    <a:p>
                      <a:pPr marL="0" indent="0" algn="ctr">
                        <a:buNone/>
                      </a:pPr>
                      <a:r>
                        <a:rPr lang="ko-KR" sz="700" dirty="0">
                          <a:solidFill>
                            <a:srgbClr val="262626"/>
                          </a:solidFill>
                          <a:latin typeface="나눔스퀘어 Bold"/>
                          <a:ea typeface="나눔스퀘어 Bold"/>
                          <a:cs typeface="나눔스퀘어 Bold"/>
                        </a:rPr>
                        <a:t>모리츠</a:t>
                      </a:r>
                    </a:p>
                    <a:p>
                      <a:pPr marL="0" indent="0" algn="ctr">
                        <a:buNone/>
                      </a:pPr>
                      <a:r>
                        <a:rPr lang="ko-KR" sz="700" dirty="0">
                          <a:solidFill>
                            <a:srgbClr val="262626"/>
                          </a:solidFill>
                          <a:latin typeface="나눔스퀘어 Bold"/>
                          <a:ea typeface="나눔스퀘어 Bold"/>
                          <a:cs typeface="나눔스퀘어 Bold"/>
                        </a:rPr>
                        <a:t>KLI</a:t>
                      </a: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5F3F1"/>
                    </a:solidFill>
                  </a:tcPr>
                </a:tc>
                <a:tc>
                  <a:txBody>
                    <a:bodyPr anchor="ctr"/>
                    <a:lstStyle/>
                    <a:p>
                      <a:pPr marL="0" indent="0" algn="ctr">
                        <a:buNone/>
                      </a:pPr>
                      <a:r>
                        <a:rPr lang="ko-KR" sz="750" dirty="0">
                          <a:solidFill>
                            <a:srgbClr val="262626"/>
                          </a:solidFill>
                          <a:latin typeface="나눔스퀘어"/>
                          <a:ea typeface="나눔스퀘어"/>
                          <a:cs typeface="나눔스퀘어"/>
                        </a:rPr>
                        <a:t>매입</a:t>
                      </a: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5F3F1"/>
                    </a:solidFill>
                  </a:tcPr>
                </a:tc>
                <a:tc>
                  <a:txBody>
                    <a:bodyPr anchor="ctr"/>
                    <a:lstStyle/>
                    <a:p>
                      <a:pPr marL="0" indent="0" algn="r">
                        <a:buNone/>
                      </a:pPr>
                      <a:r>
                        <a:rPr lang="ko-KR" sz="750" dirty="0">
                          <a:solidFill>
                            <a:srgbClr val="262626"/>
                          </a:solidFill>
                          <a:latin typeface="나눔스퀘어"/>
                          <a:ea typeface="나눔스퀘어"/>
                          <a:cs typeface="나눔스퀘어"/>
                        </a:rPr>
                        <a:t>7.4</a:t>
                      </a: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marL="0" indent="0" algn="r">
                        <a:buNone/>
                      </a:pPr>
                      <a:r>
                        <a:rPr lang="ko-KR" sz="750" dirty="0">
                          <a:solidFill>
                            <a:srgbClr val="262626"/>
                          </a:solidFill>
                          <a:latin typeface="나눔스퀘어"/>
                          <a:ea typeface="나눔스퀘어"/>
                          <a:cs typeface="나눔스퀘어"/>
                        </a:rPr>
                        <a:t>1.7</a:t>
                      </a: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marL="0" indent="0" algn="r">
                        <a:buNone/>
                      </a:pPr>
                      <a:r>
                        <a:rPr lang="ko-KR" sz="750" dirty="0">
                          <a:solidFill>
                            <a:srgbClr val="262626"/>
                          </a:solidFill>
                          <a:latin typeface="나눔스퀘어"/>
                          <a:ea typeface="나눔스퀘어"/>
                          <a:cs typeface="나눔스퀘어"/>
                        </a:rPr>
                        <a:t>1.2</a:t>
                      </a: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marL="0" indent="0" algn="r">
                        <a:buNone/>
                      </a:pPr>
                      <a:endParaRPr lang="ko-KR" sz="750" dirty="0">
                        <a:solidFill>
                          <a:srgbClr val="262626"/>
                        </a:solidFill>
                        <a:latin typeface="나눔스퀘어"/>
                        <a:ea typeface="나눔스퀘어"/>
                        <a:cs typeface="나눔스퀘어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marL="0" indent="0" algn="r">
                        <a:buNone/>
                      </a:pPr>
                      <a:endParaRPr lang="ko-KR" sz="750" dirty="0">
                        <a:solidFill>
                          <a:srgbClr val="262626"/>
                        </a:solidFill>
                        <a:latin typeface="나눔스퀘어"/>
                        <a:ea typeface="나눔스퀘어"/>
                        <a:cs typeface="나눔스퀘어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marL="0" indent="0" algn="r">
                        <a:buNone/>
                      </a:pPr>
                      <a:endParaRPr lang="ko-KR" sz="750" dirty="0">
                        <a:solidFill>
                          <a:srgbClr val="262626"/>
                        </a:solidFill>
                        <a:latin typeface="나눔스퀘어"/>
                        <a:ea typeface="나눔스퀘어"/>
                        <a:cs typeface="나눔스퀘어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marL="0" indent="0" algn="r">
                        <a:buNone/>
                      </a:pPr>
                      <a:endParaRPr lang="ko-KR" sz="750" dirty="0">
                        <a:solidFill>
                          <a:srgbClr val="262626"/>
                        </a:solidFill>
                        <a:latin typeface="나눔스퀘어"/>
                        <a:ea typeface="나눔스퀘어"/>
                        <a:cs typeface="나눔스퀘어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marL="0" indent="0" algn="r">
                        <a:buNone/>
                      </a:pPr>
                      <a:endParaRPr lang="ko-KR" sz="750" dirty="0">
                        <a:solidFill>
                          <a:srgbClr val="262626"/>
                        </a:solidFill>
                        <a:latin typeface="나눔스퀘어"/>
                        <a:ea typeface="나눔스퀘어"/>
                        <a:cs typeface="나눔스퀘어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marL="0" indent="0" algn="r">
                        <a:buNone/>
                      </a:pPr>
                      <a:endParaRPr lang="ko-KR" sz="750" dirty="0">
                        <a:solidFill>
                          <a:srgbClr val="262626"/>
                        </a:solidFill>
                        <a:latin typeface="나눔스퀘어"/>
                        <a:ea typeface="나눔스퀘어"/>
                        <a:cs typeface="나눔스퀘어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marL="0" indent="0" algn="r">
                        <a:buNone/>
                      </a:pPr>
                      <a:endParaRPr lang="ko-KR" sz="750" dirty="0">
                        <a:solidFill>
                          <a:srgbClr val="262626"/>
                        </a:solidFill>
                        <a:latin typeface="나눔스퀘어"/>
                        <a:ea typeface="나눔스퀘어"/>
                        <a:cs typeface="나눔스퀘어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marL="0" indent="0" algn="r">
                        <a:buNone/>
                      </a:pPr>
                      <a:endParaRPr lang="ko-KR" sz="750" dirty="0">
                        <a:solidFill>
                          <a:srgbClr val="262626"/>
                        </a:solidFill>
                        <a:latin typeface="나눔스퀘어"/>
                        <a:ea typeface="나눔스퀘어"/>
                        <a:cs typeface="나눔스퀘어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marL="0" indent="0" algn="r">
                        <a:buNone/>
                      </a:pPr>
                      <a:r>
                        <a:rPr lang="ko-KR" sz="750" dirty="0">
                          <a:solidFill>
                            <a:srgbClr val="262626"/>
                          </a:solidFill>
                          <a:latin typeface="나눔스퀘어 Bold"/>
                          <a:ea typeface="나눔스퀘어 Bold"/>
                          <a:cs typeface="나눔스퀘어 Bold"/>
                        </a:rPr>
                        <a:t>10.3</a:t>
                      </a: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noFill/>
                  </a:tcPr>
                </a:tc>
              </a:tr>
              <a:tr h="160020">
                <a:tc vMerge="1">
                  <a:txBody>
                    <a:bodyPr anchor="ctr"/>
                    <a:lstStyle/>
                    <a:p>
                      <a:pPr marL="0" indent="0" algn="ctr">
                        <a:buNone/>
                      </a:pPr>
                      <a:endParaRPr lang="ko-KR" sz="700" dirty="0">
                        <a:solidFill>
                          <a:srgbClr val="262626"/>
                        </a:solidFill>
                        <a:latin typeface="나눔스퀘어 Bold"/>
                        <a:ea typeface="나눔스퀘어 Bold"/>
                        <a:cs typeface="나눔스퀘어 Bold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5F3F1"/>
                    </a:solidFill>
                  </a:tcPr>
                </a:tc>
                <a:tc>
                  <a:txBody>
                    <a:bodyPr anchor="ctr"/>
                    <a:lstStyle/>
                    <a:p>
                      <a:pPr marL="0" indent="0" algn="ctr">
                        <a:buNone/>
                      </a:pPr>
                      <a:r>
                        <a:rPr lang="ko-KR" sz="750" dirty="0">
                          <a:solidFill>
                            <a:srgbClr val="262626"/>
                          </a:solidFill>
                          <a:latin typeface="나눔스퀘어"/>
                          <a:ea typeface="나눔스퀘어"/>
                          <a:cs typeface="나눔스퀘어"/>
                        </a:rPr>
                        <a:t>운용</a:t>
                      </a: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5F3F1"/>
                    </a:solidFill>
                  </a:tcPr>
                </a:tc>
                <a:tc>
                  <a:txBody>
                    <a:bodyPr anchor="ctr"/>
                    <a:lstStyle/>
                    <a:p>
                      <a:pPr marL="0" indent="0" algn="r">
                        <a:buNone/>
                      </a:pPr>
                      <a:r>
                        <a:rPr lang="ko-KR" sz="750" dirty="0">
                          <a:solidFill>
                            <a:srgbClr val="262626"/>
                          </a:solidFill>
                          <a:latin typeface="나눔스퀘어"/>
                          <a:ea typeface="나눔스퀘어"/>
                          <a:cs typeface="나눔스퀘어"/>
                        </a:rPr>
                        <a:t>-</a:t>
                      </a: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marL="0" indent="0" algn="r">
                        <a:buNone/>
                      </a:pPr>
                      <a:r>
                        <a:rPr lang="ko-KR" sz="750" dirty="0">
                          <a:solidFill>
                            <a:srgbClr val="262626"/>
                          </a:solidFill>
                          <a:latin typeface="나눔스퀘어"/>
                          <a:ea typeface="나눔스퀘어"/>
                          <a:cs typeface="나눔스퀘어"/>
                        </a:rPr>
                        <a:t>-</a:t>
                      </a: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marL="0" indent="0" algn="r">
                        <a:buNone/>
                      </a:pPr>
                      <a:r>
                        <a:rPr lang="ko-KR" sz="750" dirty="0">
                          <a:solidFill>
                            <a:srgbClr val="262626"/>
                          </a:solidFill>
                          <a:latin typeface="나눔스퀘어"/>
                          <a:ea typeface="나눔스퀘어"/>
                          <a:cs typeface="나눔스퀘어"/>
                        </a:rPr>
                        <a:t>-</a:t>
                      </a: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marL="0" indent="0" algn="r">
                        <a:buNone/>
                      </a:pPr>
                      <a:r>
                        <a:rPr lang="ko-KR" sz="750" dirty="0">
                          <a:solidFill>
                            <a:srgbClr val="262626"/>
                          </a:solidFill>
                          <a:latin typeface="나눔스퀘어"/>
                          <a:ea typeface="나눔스퀘어"/>
                          <a:cs typeface="나눔스퀘어"/>
                        </a:rPr>
                        <a:t>-</a:t>
                      </a: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marL="0" indent="0" algn="r">
                        <a:buNone/>
                      </a:pPr>
                      <a:r>
                        <a:rPr lang="ko-KR" sz="750" dirty="0">
                          <a:solidFill>
                            <a:srgbClr val="262626"/>
                          </a:solidFill>
                          <a:latin typeface="나눔스퀘어"/>
                          <a:ea typeface="나눔스퀘어"/>
                          <a:cs typeface="나눔스퀘어"/>
                        </a:rPr>
                        <a:t>-</a:t>
                      </a: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marL="0" indent="0" algn="r">
                        <a:buNone/>
                      </a:pPr>
                      <a:r>
                        <a:rPr lang="ko-KR" sz="750" dirty="0">
                          <a:solidFill>
                            <a:srgbClr val="262626"/>
                          </a:solidFill>
                          <a:latin typeface="나눔스퀘어"/>
                          <a:ea typeface="나눔스퀘어"/>
                          <a:cs typeface="나눔스퀘어"/>
                        </a:rPr>
                        <a:t>-</a:t>
                      </a: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marL="0" indent="0" algn="r">
                        <a:buNone/>
                      </a:pPr>
                      <a:r>
                        <a:rPr lang="ko-KR" sz="750" dirty="0">
                          <a:solidFill>
                            <a:srgbClr val="262626"/>
                          </a:solidFill>
                          <a:latin typeface="나눔스퀘어"/>
                          <a:ea typeface="나눔스퀘어"/>
                          <a:cs typeface="나눔스퀘어"/>
                        </a:rPr>
                        <a:t>-</a:t>
                      </a: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marL="0" indent="0" algn="r">
                        <a:buNone/>
                      </a:pPr>
                      <a:r>
                        <a:rPr lang="ko-KR" sz="750" dirty="0">
                          <a:solidFill>
                            <a:srgbClr val="262626"/>
                          </a:solidFill>
                          <a:latin typeface="나눔스퀘어"/>
                          <a:ea typeface="나눔스퀘어"/>
                          <a:cs typeface="나눔스퀘어"/>
                        </a:rPr>
                        <a:t>-</a:t>
                      </a: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marL="0" indent="0" algn="r">
                        <a:buNone/>
                      </a:pPr>
                      <a:r>
                        <a:rPr lang="ko-KR" sz="750" dirty="0">
                          <a:solidFill>
                            <a:srgbClr val="262626"/>
                          </a:solidFill>
                          <a:latin typeface="나눔스퀘어"/>
                          <a:ea typeface="나눔스퀘어"/>
                          <a:cs typeface="나눔스퀘어"/>
                        </a:rPr>
                        <a:t>-</a:t>
                      </a: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marL="0" indent="0" algn="r">
                        <a:buNone/>
                      </a:pPr>
                      <a:r>
                        <a:rPr lang="ko-KR" sz="750" dirty="0">
                          <a:solidFill>
                            <a:srgbClr val="262626"/>
                          </a:solidFill>
                          <a:latin typeface="나눔스퀘어"/>
                          <a:ea typeface="나눔스퀘어"/>
                          <a:cs typeface="나눔스퀘어"/>
                        </a:rPr>
                        <a:t>-</a:t>
                      </a: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marL="0" indent="0" algn="r">
                        <a:buNone/>
                      </a:pPr>
                      <a:r>
                        <a:rPr lang="ko-KR" sz="750" dirty="0">
                          <a:solidFill>
                            <a:srgbClr val="262626"/>
                          </a:solidFill>
                          <a:latin typeface="나눔스퀘어"/>
                          <a:ea typeface="나눔스퀘어"/>
                          <a:cs typeface="나눔스퀘어"/>
                        </a:rPr>
                        <a:t>-</a:t>
                      </a: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marL="0" indent="0" algn="r">
                        <a:buNone/>
                      </a:pPr>
                      <a:r>
                        <a:rPr lang="ko-KR" sz="750" dirty="0">
                          <a:solidFill>
                            <a:srgbClr val="262626"/>
                          </a:solidFill>
                          <a:latin typeface="나눔스퀘어 Bold"/>
                          <a:ea typeface="나눔스퀘어 Bold"/>
                          <a:cs typeface="나눔스퀘어 Bold"/>
                        </a:rPr>
                        <a:t>-</a:t>
                      </a: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noFill/>
                  </a:tcPr>
                </a:tc>
              </a:tr>
              <a:tr h="219456">
                <a:tc gridSpan="2">
                  <a:txBody>
                    <a:bodyPr anchor="ctr"/>
                    <a:lstStyle/>
                    <a:p>
                      <a:pPr marL="0" indent="0" algn="ctr">
                        <a:buNone/>
                      </a:pPr>
                      <a:r>
                        <a:rPr lang="ko-KR" sz="800" dirty="0">
                          <a:solidFill>
                            <a:srgbClr val="262626"/>
                          </a:solidFill>
                          <a:latin typeface="나눔스퀘어 ExtraBold"/>
                          <a:ea typeface="나눔스퀘어 ExtraBold"/>
                          <a:cs typeface="나눔스퀘어 ExtraBold"/>
                        </a:rPr>
                        <a:t>합 계</a:t>
                      </a: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EDE6DF"/>
                    </a:solidFill>
                  </a:tcPr>
                </a:tc>
                <a:tc hMerge="1">
                  <a:txBody>
                    <a:bodyPr anchor="ctr"/>
                    <a:lstStyle/>
                    <a:p>
                      <a:pPr marL="0" indent="0" algn="ctr">
                        <a:buNone/>
                      </a:pPr>
                      <a:endParaRPr lang="ko-KR" sz="800" dirty="0">
                        <a:solidFill>
                          <a:srgbClr val="262626"/>
                        </a:solidFill>
                        <a:latin typeface="나눔스퀘어 ExtraBold"/>
                        <a:ea typeface="나눔스퀘어 ExtraBold"/>
                        <a:cs typeface="나눔스퀘어 ExtraBold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EDE6DF"/>
                    </a:solidFill>
                  </a:tcPr>
                </a:tc>
                <a:tc>
                  <a:txBody>
                    <a:bodyPr anchor="ctr"/>
                    <a:lstStyle/>
                    <a:p>
                      <a:pPr marL="0" indent="0" algn="r">
                        <a:buNone/>
                      </a:pPr>
                      <a:r>
                        <a:rPr lang="ko-KR" sz="800" dirty="0">
                          <a:solidFill>
                            <a:srgbClr val="262626"/>
                          </a:solidFill>
                          <a:latin typeface="나눔스퀘어 ExtraBold"/>
                          <a:ea typeface="나눔스퀘어 ExtraBold"/>
                          <a:cs typeface="나눔스퀘어 ExtraBold"/>
                        </a:rPr>
                        <a:t>47.1</a:t>
                      </a: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EDE6DF"/>
                    </a:solidFill>
                  </a:tcPr>
                </a:tc>
                <a:tc>
                  <a:txBody>
                    <a:bodyPr anchor="ctr"/>
                    <a:lstStyle/>
                    <a:p>
                      <a:pPr marL="0" indent="0" algn="r">
                        <a:buNone/>
                      </a:pPr>
                      <a:r>
                        <a:rPr lang="ko-KR" sz="800" dirty="0">
                          <a:solidFill>
                            <a:srgbClr val="262626"/>
                          </a:solidFill>
                          <a:latin typeface="나눔스퀘어 ExtraBold"/>
                          <a:ea typeface="나눔스퀘어 ExtraBold"/>
                          <a:cs typeface="나눔스퀘어 ExtraBold"/>
                        </a:rPr>
                        <a:t>20.2</a:t>
                      </a: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EDE6DF"/>
                    </a:solidFill>
                  </a:tcPr>
                </a:tc>
                <a:tc>
                  <a:txBody>
                    <a:bodyPr anchor="ctr"/>
                    <a:lstStyle/>
                    <a:p>
                      <a:pPr marL="0" indent="0" algn="r">
                        <a:buNone/>
                      </a:pPr>
                      <a:r>
                        <a:rPr lang="ko-KR" sz="800" dirty="0">
                          <a:solidFill>
                            <a:srgbClr val="262626"/>
                          </a:solidFill>
                          <a:latin typeface="나눔스퀘어 ExtraBold"/>
                          <a:ea typeface="나눔스퀘어 ExtraBold"/>
                          <a:cs typeface="나눔스퀘어 ExtraBold"/>
                        </a:rPr>
                        <a:t>19.7</a:t>
                      </a: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EDE6DF"/>
                    </a:solidFill>
                  </a:tcPr>
                </a:tc>
                <a:tc>
                  <a:txBody>
                    <a:bodyPr anchor="ctr"/>
                    <a:lstStyle/>
                    <a:p>
                      <a:pPr marL="0" indent="0" algn="r">
                        <a:buNone/>
                      </a:pPr>
                      <a:r>
                        <a:rPr lang="ko-KR" sz="800" dirty="0">
                          <a:solidFill>
                            <a:srgbClr val="262626"/>
                          </a:solidFill>
                          <a:latin typeface="나눔스퀘어 ExtraBold"/>
                          <a:ea typeface="나눔스퀘어 ExtraBold"/>
                          <a:cs typeface="나눔스퀘어 ExtraBold"/>
                        </a:rPr>
                        <a:t>18.5</a:t>
                      </a: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EDE6DF"/>
                    </a:solidFill>
                  </a:tcPr>
                </a:tc>
                <a:tc>
                  <a:txBody>
                    <a:bodyPr anchor="ctr"/>
                    <a:lstStyle/>
                    <a:p>
                      <a:pPr marL="0" indent="0" algn="r">
                        <a:buNone/>
                      </a:pPr>
                      <a:r>
                        <a:rPr lang="ko-KR" sz="800" dirty="0">
                          <a:solidFill>
                            <a:srgbClr val="262626"/>
                          </a:solidFill>
                          <a:latin typeface="나눔스퀘어 ExtraBold"/>
                          <a:ea typeface="나눔스퀘어 ExtraBold"/>
                          <a:cs typeface="나눔스퀘어 ExtraBold"/>
                        </a:rPr>
                        <a:t>18.5</a:t>
                      </a: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EDE6DF"/>
                    </a:solidFill>
                  </a:tcPr>
                </a:tc>
                <a:tc>
                  <a:txBody>
                    <a:bodyPr anchor="ctr"/>
                    <a:lstStyle/>
                    <a:p>
                      <a:pPr marL="0" indent="0" algn="r">
                        <a:buNone/>
                      </a:pPr>
                      <a:r>
                        <a:rPr lang="ko-KR" sz="800" dirty="0">
                          <a:solidFill>
                            <a:srgbClr val="262626"/>
                          </a:solidFill>
                          <a:latin typeface="나눔스퀘어 ExtraBold"/>
                          <a:ea typeface="나눔스퀘어 ExtraBold"/>
                          <a:cs typeface="나눔스퀘어 ExtraBold"/>
                        </a:rPr>
                        <a:t>18.5</a:t>
                      </a: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EDE6DF"/>
                    </a:solidFill>
                  </a:tcPr>
                </a:tc>
                <a:tc>
                  <a:txBody>
                    <a:bodyPr anchor="ctr"/>
                    <a:lstStyle/>
                    <a:p>
                      <a:pPr marL="0" indent="0" algn="r">
                        <a:buNone/>
                      </a:pPr>
                      <a:r>
                        <a:rPr lang="ko-KR" sz="800" dirty="0">
                          <a:solidFill>
                            <a:srgbClr val="262626"/>
                          </a:solidFill>
                          <a:latin typeface="나눔스퀘어 ExtraBold"/>
                          <a:ea typeface="나눔스퀘어 ExtraBold"/>
                          <a:cs typeface="나눔스퀘어 ExtraBold"/>
                        </a:rPr>
                        <a:t>18.5</a:t>
                      </a: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EDE6DF"/>
                    </a:solidFill>
                  </a:tcPr>
                </a:tc>
                <a:tc>
                  <a:txBody>
                    <a:bodyPr anchor="ctr"/>
                    <a:lstStyle/>
                    <a:p>
                      <a:pPr marL="0" indent="0" algn="r">
                        <a:buNone/>
                      </a:pPr>
                      <a:r>
                        <a:rPr lang="ko-KR" sz="800" dirty="0">
                          <a:solidFill>
                            <a:srgbClr val="262626"/>
                          </a:solidFill>
                          <a:latin typeface="나눔스퀘어 ExtraBold"/>
                          <a:ea typeface="나눔스퀘어 ExtraBold"/>
                          <a:cs typeface="나눔스퀘어 ExtraBold"/>
                        </a:rPr>
                        <a:t>18.5</a:t>
                      </a: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EDE6DF"/>
                    </a:solidFill>
                  </a:tcPr>
                </a:tc>
                <a:tc>
                  <a:txBody>
                    <a:bodyPr anchor="ctr"/>
                    <a:lstStyle/>
                    <a:p>
                      <a:pPr marL="0" indent="0" algn="r">
                        <a:buNone/>
                      </a:pPr>
                      <a:r>
                        <a:rPr lang="ko-KR" sz="800" dirty="0">
                          <a:solidFill>
                            <a:srgbClr val="262626"/>
                          </a:solidFill>
                          <a:latin typeface="나눔스퀘어 ExtraBold"/>
                          <a:ea typeface="나눔스퀘어 ExtraBold"/>
                          <a:cs typeface="나눔스퀘어 ExtraBold"/>
                        </a:rPr>
                        <a:t>18.5</a:t>
                      </a: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EDE6DF"/>
                    </a:solidFill>
                  </a:tcPr>
                </a:tc>
                <a:tc>
                  <a:txBody>
                    <a:bodyPr anchor="ctr"/>
                    <a:lstStyle/>
                    <a:p>
                      <a:pPr marL="0" indent="0" algn="r">
                        <a:buNone/>
                      </a:pPr>
                      <a:r>
                        <a:rPr lang="ko-KR" sz="800" dirty="0">
                          <a:solidFill>
                            <a:srgbClr val="262626"/>
                          </a:solidFill>
                          <a:latin typeface="나눔스퀘어 ExtraBold"/>
                          <a:ea typeface="나눔스퀘어 ExtraBold"/>
                          <a:cs typeface="나눔스퀘어 ExtraBold"/>
                        </a:rPr>
                        <a:t>18.5</a:t>
                      </a: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EDE6DF"/>
                    </a:solidFill>
                  </a:tcPr>
                </a:tc>
                <a:tc>
                  <a:txBody>
                    <a:bodyPr anchor="ctr"/>
                    <a:lstStyle/>
                    <a:p>
                      <a:pPr marL="0" indent="0" algn="r">
                        <a:buNone/>
                      </a:pPr>
                      <a:r>
                        <a:rPr lang="ko-KR" sz="800" dirty="0">
                          <a:solidFill>
                            <a:srgbClr val="262626"/>
                          </a:solidFill>
                          <a:latin typeface="나눔스퀘어 ExtraBold"/>
                          <a:ea typeface="나눔스퀘어 ExtraBold"/>
                          <a:cs typeface="나눔스퀘어 ExtraBold"/>
                        </a:rPr>
                        <a:t>372.6</a:t>
                      </a: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EDE6DF"/>
                    </a:solidFill>
                  </a:tcPr>
                </a:tc>
                <a:tc>
                  <a:txBody>
                    <a:bodyPr anchor="ctr"/>
                    <a:lstStyle/>
                    <a:p>
                      <a:pPr marL="0" indent="0" algn="r">
                        <a:buNone/>
                      </a:pPr>
                      <a:r>
                        <a:rPr lang="ko-KR" sz="800" dirty="0">
                          <a:solidFill>
                            <a:srgbClr val="262626"/>
                          </a:solidFill>
                          <a:latin typeface="나눔스퀘어 ExtraBold"/>
                          <a:ea typeface="나눔스퀘어 ExtraBold"/>
                          <a:cs typeface="나눔스퀘어 ExtraBold"/>
                        </a:rPr>
                        <a:t>588.9</a:t>
                      </a: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EDE6D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8" name="Table 67"/>
          <p:cNvGraphicFramePr>
            <a:graphicFrameLocks noGrp="1"/>
          </p:cNvGraphicFramePr>
          <p:nvPr/>
        </p:nvGraphicFramePr>
        <p:xfrm>
          <a:off x="8931953" y="1207008"/>
          <a:ext cx="3044952" cy="1993392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621792"/>
                <a:gridCol w="603504"/>
                <a:gridCol w="603504"/>
                <a:gridCol w="576072"/>
                <a:gridCol w="640080"/>
              </a:tblGrid>
              <a:tr h="384048">
                <a:tc>
                  <a:txBody>
                    <a:bodyPr anchor="ctr"/>
                    <a:lstStyle/>
                    <a:p>
                      <a:pPr marL="0" indent="0" algn="ctr">
                        <a:buNone/>
                      </a:pPr>
                      <a:r>
                        <a:rPr lang="ko-KR" sz="900" dirty="0">
                          <a:solidFill>
                            <a:srgbClr val="FFFFFF"/>
                          </a:solidFill>
                          <a:latin typeface="나눔스퀘어 Bold"/>
                          <a:ea typeface="나눔스퀘어 Bold"/>
                          <a:cs typeface="나눔스퀘어 Bold"/>
                        </a:rPr>
                        <a:t>구 분</a:t>
                      </a: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A39382"/>
                    </a:solidFill>
                  </a:tcPr>
                </a:tc>
                <a:tc>
                  <a:txBody>
                    <a:bodyPr anchor="ctr"/>
                    <a:lstStyle/>
                    <a:p>
                      <a:pPr marL="0" indent="0" algn="ctr">
                        <a:buNone/>
                      </a:pPr>
                      <a:r>
                        <a:rPr lang="ko-KR" sz="900" dirty="0">
                          <a:solidFill>
                            <a:srgbClr val="FFFFFF"/>
                          </a:solidFill>
                          <a:latin typeface="나눔스퀘어 Bold"/>
                          <a:ea typeface="나눔스퀘어 Bold"/>
                          <a:cs typeface="나눔스퀘어 Bold"/>
                        </a:rPr>
                        <a:t>자리츠1</a:t>
                      </a:r>
                    </a:p>
                    <a:p>
                      <a:pPr marL="0" indent="0" algn="ctr">
                        <a:buNone/>
                      </a:pPr>
                      <a:r>
                        <a:rPr lang="ko-KR" sz="900" dirty="0">
                          <a:solidFill>
                            <a:srgbClr val="FFFFFF"/>
                          </a:solidFill>
                          <a:latin typeface="나눔스퀘어 Bold"/>
                          <a:ea typeface="나눔스퀘어 Bold"/>
                          <a:cs typeface="나눔스퀘어 Bold"/>
                        </a:rPr>
                        <a:t>(72호)</a:t>
                      </a: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A39382"/>
                    </a:solidFill>
                  </a:tcPr>
                </a:tc>
                <a:tc>
                  <a:txBody>
                    <a:bodyPr anchor="ctr"/>
                    <a:lstStyle/>
                    <a:p>
                      <a:pPr marL="0" indent="0" algn="ctr">
                        <a:buNone/>
                      </a:pPr>
                      <a:r>
                        <a:rPr lang="ko-KR" sz="900" dirty="0">
                          <a:solidFill>
                            <a:srgbClr val="FFFFFF"/>
                          </a:solidFill>
                          <a:latin typeface="나눔스퀘어 Bold"/>
                          <a:ea typeface="나눔스퀘어 Bold"/>
                          <a:cs typeface="나눔스퀘어 Bold"/>
                        </a:rPr>
                        <a:t>자리츠2</a:t>
                      </a:r>
                    </a:p>
                    <a:p>
                      <a:pPr marL="0" indent="0" algn="ctr">
                        <a:buNone/>
                      </a:pPr>
                      <a:r>
                        <a:rPr lang="ko-KR" sz="900" dirty="0">
                          <a:solidFill>
                            <a:srgbClr val="FFFFFF"/>
                          </a:solidFill>
                          <a:latin typeface="나눔스퀘어 Bold"/>
                          <a:ea typeface="나눔스퀘어 Bold"/>
                          <a:cs typeface="나눔스퀘어 Bold"/>
                        </a:rPr>
                        <a:t>(본건)</a:t>
                      </a: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A39382"/>
                    </a:solidFill>
                  </a:tcPr>
                </a:tc>
                <a:tc>
                  <a:txBody>
                    <a:bodyPr anchor="ctr"/>
                    <a:lstStyle/>
                    <a:p>
                      <a:pPr marL="0" indent="0" algn="ctr">
                        <a:buNone/>
                      </a:pPr>
                      <a:r>
                        <a:rPr lang="ko-KR" sz="900" dirty="0">
                          <a:solidFill>
                            <a:srgbClr val="FFFFFF"/>
                          </a:solidFill>
                          <a:latin typeface="나눔스퀘어 Bold"/>
                          <a:ea typeface="나눔스퀘어 Bold"/>
                          <a:cs typeface="나눔스퀘어 Bold"/>
                        </a:rPr>
                        <a:t>모리츠</a:t>
                      </a:r>
                    </a:p>
                    <a:p>
                      <a:pPr marL="0" indent="0" algn="ctr">
                        <a:buNone/>
                      </a:pPr>
                      <a:r>
                        <a:rPr lang="ko-KR" sz="900" dirty="0">
                          <a:solidFill>
                            <a:srgbClr val="FFFFFF"/>
                          </a:solidFill>
                          <a:latin typeface="나눔스퀘어 Bold"/>
                          <a:ea typeface="나눔스퀘어 Bold"/>
                          <a:cs typeface="나눔스퀘어 Bold"/>
                        </a:rPr>
                        <a:t>(KLI)</a:t>
                      </a: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A39382"/>
                    </a:solidFill>
                  </a:tcPr>
                </a:tc>
                <a:tc>
                  <a:txBody>
                    <a:bodyPr anchor="ctr"/>
                    <a:lstStyle/>
                    <a:p>
                      <a:pPr marL="0" indent="0" algn="ctr">
                        <a:buNone/>
                      </a:pPr>
                      <a:r>
                        <a:rPr lang="ko-KR" sz="900" dirty="0">
                          <a:solidFill>
                            <a:srgbClr val="FFFFFF"/>
                          </a:solidFill>
                          <a:latin typeface="나눔스퀘어 Bold"/>
                          <a:ea typeface="나눔스퀘어 Bold"/>
                          <a:cs typeface="나눔스퀘어 Bold"/>
                        </a:rPr>
                        <a:t>계</a:t>
                      </a: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6F6255"/>
                    </a:solidFill>
                  </a:tcPr>
                </a:tc>
              </a:tr>
              <a:tr h="310896">
                <a:tc>
                  <a:txBody>
                    <a:bodyPr anchor="ctr"/>
                    <a:lstStyle/>
                    <a:p>
                      <a:pPr marL="0" indent="0" algn="ctr">
                        <a:buNone/>
                      </a:pPr>
                      <a:r>
                        <a:rPr lang="ko-KR" sz="900" dirty="0">
                          <a:solidFill>
                            <a:srgbClr val="262626"/>
                          </a:solidFill>
                          <a:latin typeface="나눔스퀘어 Bold"/>
                          <a:ea typeface="나눔스퀘어 Bold"/>
                          <a:cs typeface="나눔스퀘어 Bold"/>
                        </a:rPr>
                        <a:t>매입</a:t>
                      </a: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5F3F1"/>
                    </a:solidFill>
                  </a:tcPr>
                </a:tc>
                <a:tc>
                  <a:txBody>
                    <a:bodyPr anchor="ctr"/>
                    <a:lstStyle/>
                    <a:p>
                      <a:pPr marL="0" indent="0" algn="r">
                        <a:buNone/>
                      </a:pPr>
                      <a:r>
                        <a:rPr lang="ko-KR" sz="900" dirty="0">
                          <a:solidFill>
                            <a:srgbClr val="262626"/>
                          </a:solidFill>
                          <a:latin typeface="나눔스퀘어"/>
                          <a:ea typeface="나눔스퀘어"/>
                          <a:cs typeface="나눔스퀘어"/>
                        </a:rPr>
                        <a:t>26.2</a:t>
                      </a: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marL="0" indent="0" algn="r">
                        <a:buNone/>
                      </a:pPr>
                      <a:r>
                        <a:rPr lang="ko-KR" sz="900" dirty="0">
                          <a:solidFill>
                            <a:srgbClr val="262626"/>
                          </a:solidFill>
                          <a:latin typeface="나눔스퀘어"/>
                          <a:ea typeface="나눔스퀘어"/>
                          <a:cs typeface="나눔스퀘어"/>
                        </a:rPr>
                        <a:t>13.5</a:t>
                      </a: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marL="0" indent="0" algn="r">
                        <a:buNone/>
                      </a:pPr>
                      <a:r>
                        <a:rPr lang="ko-KR" sz="900" dirty="0">
                          <a:solidFill>
                            <a:srgbClr val="262626"/>
                          </a:solidFill>
                          <a:latin typeface="나눔스퀘어"/>
                          <a:ea typeface="나눔스퀘어"/>
                          <a:cs typeface="나눔스퀘어"/>
                        </a:rPr>
                        <a:t>10.3</a:t>
                      </a: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marL="0" indent="0" algn="r">
                        <a:buNone/>
                      </a:pPr>
                      <a:r>
                        <a:rPr lang="ko-KR" sz="900" dirty="0">
                          <a:solidFill>
                            <a:srgbClr val="262626"/>
                          </a:solidFill>
                          <a:latin typeface="나눔스퀘어 Bold"/>
                          <a:ea typeface="나눔스퀘어 Bold"/>
                          <a:cs typeface="나눔스퀘어 Bold"/>
                        </a:rPr>
                        <a:t>50.0</a:t>
                      </a: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noFill/>
                  </a:tcPr>
                </a:tc>
              </a:tr>
              <a:tr h="310896">
                <a:tc>
                  <a:txBody>
                    <a:bodyPr anchor="ctr"/>
                    <a:lstStyle/>
                    <a:p>
                      <a:pPr marL="0" indent="0" algn="ctr">
                        <a:buNone/>
                      </a:pPr>
                      <a:r>
                        <a:rPr lang="ko-KR" sz="900" dirty="0">
                          <a:solidFill>
                            <a:srgbClr val="262626"/>
                          </a:solidFill>
                          <a:latin typeface="나눔스퀘어 Bold"/>
                          <a:ea typeface="나눔스퀘어 Bold"/>
                          <a:cs typeface="나눔스퀘어 Bold"/>
                        </a:rPr>
                        <a:t>운용</a:t>
                      </a: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5F3F1"/>
                    </a:solidFill>
                  </a:tcPr>
                </a:tc>
                <a:tc>
                  <a:txBody>
                    <a:bodyPr anchor="ctr"/>
                    <a:lstStyle/>
                    <a:p>
                      <a:pPr marL="0" indent="0" algn="r">
                        <a:buNone/>
                      </a:pPr>
                      <a:r>
                        <a:rPr lang="ko-KR" sz="900" dirty="0">
                          <a:solidFill>
                            <a:srgbClr val="262626"/>
                          </a:solidFill>
                          <a:latin typeface="나눔스퀘어"/>
                          <a:ea typeface="나눔스퀘어"/>
                          <a:cs typeface="나눔스퀘어"/>
                        </a:rPr>
                        <a:t>118.1</a:t>
                      </a: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marL="0" indent="0" algn="r">
                        <a:buNone/>
                      </a:pPr>
                      <a:r>
                        <a:rPr lang="ko-KR" sz="900" dirty="0">
                          <a:solidFill>
                            <a:srgbClr val="262626"/>
                          </a:solidFill>
                          <a:latin typeface="나눔스퀘어"/>
                          <a:ea typeface="나눔스퀘어"/>
                          <a:cs typeface="나눔스퀘어"/>
                        </a:rPr>
                        <a:t>66.7</a:t>
                      </a: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marL="0" indent="0" algn="r">
                        <a:buNone/>
                      </a:pPr>
                      <a:r>
                        <a:rPr lang="ko-KR" sz="900" dirty="0">
                          <a:solidFill>
                            <a:srgbClr val="262626"/>
                          </a:solidFill>
                          <a:latin typeface="나눔스퀘어"/>
                          <a:ea typeface="나눔스퀘어"/>
                          <a:cs typeface="나눔스퀘어"/>
                        </a:rPr>
                        <a:t>-</a:t>
                      </a: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marL="0" indent="0" algn="r">
                        <a:buNone/>
                      </a:pPr>
                      <a:r>
                        <a:rPr lang="ko-KR" sz="900" dirty="0">
                          <a:solidFill>
                            <a:srgbClr val="262626"/>
                          </a:solidFill>
                          <a:latin typeface="나눔스퀘어 Bold"/>
                          <a:ea typeface="나눔스퀘어 Bold"/>
                          <a:cs typeface="나눔스퀘어 Bold"/>
                        </a:rPr>
                        <a:t>184.8</a:t>
                      </a: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noFill/>
                  </a:tcPr>
                </a:tc>
              </a:tr>
              <a:tr h="310896">
                <a:tc>
                  <a:txBody>
                    <a:bodyPr anchor="ctr"/>
                    <a:lstStyle/>
                    <a:p>
                      <a:pPr marL="0" indent="0" algn="ctr">
                        <a:buNone/>
                      </a:pPr>
                      <a:r>
                        <a:rPr lang="ko-KR" sz="900" dirty="0">
                          <a:solidFill>
                            <a:srgbClr val="262626"/>
                          </a:solidFill>
                          <a:latin typeface="나눔스퀘어 Bold"/>
                          <a:ea typeface="나눔스퀘어 Bold"/>
                          <a:cs typeface="나눔스퀘어 Bold"/>
                        </a:rPr>
                        <a:t>매각기본</a:t>
                      </a: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5F3F1"/>
                    </a:solidFill>
                  </a:tcPr>
                </a:tc>
                <a:tc>
                  <a:txBody>
                    <a:bodyPr anchor="ctr"/>
                    <a:lstStyle/>
                    <a:p>
                      <a:pPr marL="0" indent="0" algn="r">
                        <a:buNone/>
                      </a:pPr>
                      <a:r>
                        <a:rPr lang="ko-KR" sz="900" dirty="0">
                          <a:solidFill>
                            <a:srgbClr val="262626"/>
                          </a:solidFill>
                          <a:latin typeface="나눔스퀘어"/>
                          <a:ea typeface="나눔스퀘어"/>
                          <a:cs typeface="나눔스퀘어"/>
                        </a:rPr>
                        <a:t>34.6</a:t>
                      </a: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marL="0" indent="0" algn="r">
                        <a:buNone/>
                      </a:pPr>
                      <a:r>
                        <a:rPr lang="ko-KR" sz="900" dirty="0">
                          <a:solidFill>
                            <a:srgbClr val="262626"/>
                          </a:solidFill>
                          <a:latin typeface="나눔스퀘어"/>
                          <a:ea typeface="나눔스퀘어"/>
                          <a:cs typeface="나눔스퀘어"/>
                        </a:rPr>
                        <a:t>18.8</a:t>
                      </a: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marL="0" indent="0" algn="r">
                        <a:buNone/>
                      </a:pPr>
                      <a:r>
                        <a:rPr lang="ko-KR" sz="900" dirty="0">
                          <a:solidFill>
                            <a:srgbClr val="262626"/>
                          </a:solidFill>
                          <a:latin typeface="나눔스퀘어"/>
                          <a:ea typeface="나눔스퀘어"/>
                          <a:cs typeface="나눔스퀘어"/>
                        </a:rPr>
                        <a:t>-</a:t>
                      </a: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marL="0" indent="0" algn="r">
                        <a:buNone/>
                      </a:pPr>
                      <a:r>
                        <a:rPr lang="ko-KR" sz="900" dirty="0">
                          <a:solidFill>
                            <a:srgbClr val="262626"/>
                          </a:solidFill>
                          <a:latin typeface="나눔스퀘어 Bold"/>
                          <a:ea typeface="나눔스퀘어 Bold"/>
                          <a:cs typeface="나눔스퀘어 Bold"/>
                        </a:rPr>
                        <a:t>53.4</a:t>
                      </a: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noFill/>
                  </a:tcPr>
                </a:tc>
              </a:tr>
              <a:tr h="310896">
                <a:tc>
                  <a:txBody>
                    <a:bodyPr anchor="ctr"/>
                    <a:lstStyle/>
                    <a:p>
                      <a:pPr marL="0" indent="0" algn="ctr">
                        <a:buNone/>
                      </a:pPr>
                      <a:r>
                        <a:rPr lang="ko-KR" sz="900" dirty="0">
                          <a:solidFill>
                            <a:srgbClr val="262626"/>
                          </a:solidFill>
                          <a:latin typeface="나눔스퀘어 Bold"/>
                          <a:ea typeface="나눔스퀘어 Bold"/>
                          <a:cs typeface="나눔스퀘어 Bold"/>
                        </a:rPr>
                        <a:t>매각성과</a:t>
                      </a: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5F3F1"/>
                    </a:solidFill>
                  </a:tcPr>
                </a:tc>
                <a:tc>
                  <a:txBody>
                    <a:bodyPr anchor="ctr"/>
                    <a:lstStyle/>
                    <a:p>
                      <a:pPr marL="0" indent="0" algn="r">
                        <a:buNone/>
                      </a:pPr>
                      <a:r>
                        <a:rPr lang="ko-KR" sz="900" dirty="0">
                          <a:solidFill>
                            <a:srgbClr val="262626"/>
                          </a:solidFill>
                          <a:latin typeface="나눔스퀘어"/>
                          <a:ea typeface="나눔스퀘어"/>
                          <a:cs typeface="나눔스퀘어"/>
                        </a:rPr>
                        <a:t>175.9</a:t>
                      </a: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marL="0" indent="0" algn="r">
                        <a:buNone/>
                      </a:pPr>
                      <a:r>
                        <a:rPr lang="ko-KR" sz="900" dirty="0">
                          <a:solidFill>
                            <a:srgbClr val="262626"/>
                          </a:solidFill>
                          <a:latin typeface="나눔스퀘어"/>
                          <a:ea typeface="나눔스퀘어"/>
                          <a:cs typeface="나눔스퀘어"/>
                        </a:rPr>
                        <a:t>124.8</a:t>
                      </a: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marL="0" indent="0" algn="r">
                        <a:buNone/>
                      </a:pPr>
                      <a:r>
                        <a:rPr lang="ko-KR" sz="900" dirty="0">
                          <a:solidFill>
                            <a:srgbClr val="262626"/>
                          </a:solidFill>
                          <a:latin typeface="나눔스퀘어"/>
                          <a:ea typeface="나눔스퀘어"/>
                          <a:cs typeface="나눔스퀘어"/>
                        </a:rPr>
                        <a:t>-</a:t>
                      </a: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marL="0" indent="0" algn="r">
                        <a:buNone/>
                      </a:pPr>
                      <a:r>
                        <a:rPr lang="ko-KR" sz="900" dirty="0">
                          <a:solidFill>
                            <a:srgbClr val="262626"/>
                          </a:solidFill>
                          <a:latin typeface="나눔스퀘어 Bold"/>
                          <a:ea typeface="나눔스퀘어 Bold"/>
                          <a:cs typeface="나눔스퀘어 Bold"/>
                        </a:rPr>
                        <a:t>300.7</a:t>
                      </a: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noFill/>
                  </a:tcPr>
                </a:tc>
              </a:tr>
              <a:tr h="365760">
                <a:tc>
                  <a:txBody>
                    <a:bodyPr anchor="ctr"/>
                    <a:lstStyle/>
                    <a:p>
                      <a:pPr marL="0" indent="0" algn="ctr">
                        <a:buNone/>
                      </a:pPr>
                      <a:r>
                        <a:rPr lang="ko-KR" sz="950" dirty="0">
                          <a:solidFill>
                            <a:srgbClr val="262626"/>
                          </a:solidFill>
                          <a:latin typeface="나눔스퀘어 ExtraBold"/>
                          <a:ea typeface="나눔스퀘어 ExtraBold"/>
                          <a:cs typeface="나눔스퀘어 ExtraBold"/>
                        </a:rPr>
                        <a:t>합 계</a:t>
                      </a: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EDE6DF"/>
                    </a:solidFill>
                  </a:tcPr>
                </a:tc>
                <a:tc>
                  <a:txBody>
                    <a:bodyPr anchor="ctr"/>
                    <a:lstStyle/>
                    <a:p>
                      <a:pPr marL="0" indent="0" algn="r">
                        <a:buNone/>
                      </a:pPr>
                      <a:r>
                        <a:rPr lang="ko-KR" sz="950" dirty="0">
                          <a:solidFill>
                            <a:srgbClr val="262626"/>
                          </a:solidFill>
                          <a:latin typeface="나눔스퀘어 ExtraBold"/>
                          <a:ea typeface="나눔스퀘어 ExtraBold"/>
                          <a:cs typeface="나눔스퀘어 ExtraBold"/>
                        </a:rPr>
                        <a:t>354.8</a:t>
                      </a: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EDE6DF"/>
                    </a:solidFill>
                  </a:tcPr>
                </a:tc>
                <a:tc>
                  <a:txBody>
                    <a:bodyPr anchor="ctr"/>
                    <a:lstStyle/>
                    <a:p>
                      <a:pPr marL="0" indent="0" algn="r">
                        <a:buNone/>
                      </a:pPr>
                      <a:r>
                        <a:rPr lang="ko-KR" sz="950" dirty="0">
                          <a:solidFill>
                            <a:srgbClr val="262626"/>
                          </a:solidFill>
                          <a:latin typeface="나눔스퀘어 ExtraBold"/>
                          <a:ea typeface="나눔스퀘어 ExtraBold"/>
                          <a:cs typeface="나눔스퀘어 ExtraBold"/>
                        </a:rPr>
                        <a:t>223.8</a:t>
                      </a: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EDE6DF"/>
                    </a:solidFill>
                  </a:tcPr>
                </a:tc>
                <a:tc>
                  <a:txBody>
                    <a:bodyPr anchor="ctr"/>
                    <a:lstStyle/>
                    <a:p>
                      <a:pPr marL="0" indent="0" algn="r">
                        <a:buNone/>
                      </a:pPr>
                      <a:r>
                        <a:rPr lang="ko-KR" sz="950" dirty="0">
                          <a:solidFill>
                            <a:srgbClr val="262626"/>
                          </a:solidFill>
                          <a:latin typeface="나눔스퀘어 ExtraBold"/>
                          <a:ea typeface="나눔스퀘어 ExtraBold"/>
                          <a:cs typeface="나눔스퀘어 ExtraBold"/>
                        </a:rPr>
                        <a:t>10.3</a:t>
                      </a: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EDE6DF"/>
                    </a:solidFill>
                  </a:tcPr>
                </a:tc>
                <a:tc>
                  <a:txBody>
                    <a:bodyPr anchor="ctr"/>
                    <a:lstStyle/>
                    <a:p>
                      <a:pPr marL="0" indent="0" algn="r">
                        <a:buNone/>
                      </a:pPr>
                      <a:r>
                        <a:rPr lang="ko-KR" sz="1050" dirty="0">
                          <a:solidFill>
                            <a:srgbClr val="C00000"/>
                          </a:solidFill>
                          <a:latin typeface="나눔스퀘어 ExtraBold"/>
                          <a:ea typeface="나눔스퀘어 ExtraBold"/>
                          <a:cs typeface="나눔스퀘어 ExtraBold"/>
                        </a:rPr>
                        <a:t>588.9</a:t>
                      </a: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EDE6DF"/>
                    </a:solidFill>
                  </a:tcPr>
                </a:tc>
              </a:tr>
            </a:tbl>
          </a:graphicData>
        </a:graphic>
      </p:graphicFrame>
      <p:sp>
        <p:nvSpPr>
          <p:cNvPr id="69" name="TextBox 68"/>
          <p:cNvSpPr txBox="1"/>
          <p:nvPr/>
        </p:nvSpPr>
        <p:spPr>
          <a:xfrm>
            <a:off x="8931953" y="3246120"/>
            <a:ext cx="3044952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750">
                <a:latin typeface="나눔스퀘어"/>
                <a:ea typeface="나눔스퀘어"/>
                <a:cs typeface="나눔스퀘어"/>
              </a:rPr>
              <a:t>· 자리츠1: 매입가 5,230억 × 0.5% / AUM 5,759.9억 × 0.223% × 약 10년(C자산 중도매각 반영) / T.Cap 4.93%, *임차인 우선매수권 행사 시 매각기본 0.3%·성과보수 제외</a:t>
            </a:r>
          </a:p>
          <a:p>
            <a:r>
              <a:rPr sz="750">
                <a:latin typeface="나눔스퀘어"/>
                <a:ea typeface="나눔스퀘어"/>
                <a:cs typeface="나눔스퀘어"/>
              </a:rPr>
              <a:t>· 자리츠2: 매입가 2,700억 × 0.5% / AUM 2,989억 × 0.223% × 10년 / T.Cap 4.89%</a:t>
            </a:r>
          </a:p>
          <a:p>
            <a:r>
              <a:rPr sz="750">
                <a:latin typeface="나눔스퀘어"/>
                <a:ea typeface="나눔스퀘어"/>
                <a:cs typeface="나눔스퀘어"/>
              </a:rPr>
              <a:t>· 모리츠: 투자금액 × 0.5% (72호 1,193억 5.9 + 본건 888억 4.4[추정]), 운용보수 출자분 미청구(감사팀 의견)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365760" y="6565392"/>
            <a:ext cx="1152144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700">
                <a:latin typeface="나눔스퀘어"/>
                <a:ea typeface="나눔스퀘어"/>
                <a:cs typeface="나눔스퀘어"/>
              </a:rPr>
              <a:t>※ 출처: 자리츠1 = 현대자동차 실물자산 유동화 프로젝트 투심자료 v1.0(’26.03.26) p.3·4·15·31 / 자리츠2 = 투심자료 v12(’26.10.02)·기준 재무모델 v04 (A&amp;R·Sell-down 탭, 중순위 대주 10/06 의견 기준). 자리츠1 운용보수 연도 배분은 10년 균등 가정[추정], 연도는 각 리츠 사업연도 기준. 모리츠 본건 매입보수 = KLI 취득금액 × 0.5% 산식 적용[추정] — 투심자료 v12 KLI 투자개요(597백만원)와 차이 확인 필요. 당사 직접 출자(PI) 없음. 수익·보수는 예상치이며 확정된 것이 아님.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20"/>
          <p:cNvSpPr/>
          <p:nvPr/>
        </p:nvSpPr>
        <p:spPr>
          <a:xfrm>
            <a:off x="6094476" y="1236617"/>
            <a:ext cx="0" cy="827314"/>
          </a:xfrm>
          <a:prstGeom prst="line">
            <a:avLst/>
          </a:prstGeom>
          <a:noFill/>
          <a:ln w="12700">
            <a:solidFill>
              <a:srgbClr val="A6A6A6"/>
            </a:solidFill>
            <a:prstDash val="solid"/>
          </a:ln>
        </p:spPr>
        <p:txBody>
          <a:bodyPr anchor="ctr"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1417320" y="1588436"/>
            <a:ext cx="0" cy="288000"/>
          </a:xfrm>
          <a:prstGeom prst="line">
            <a:avLst/>
          </a:prstGeom>
          <a:noFill/>
          <a:ln w="12700">
            <a:solidFill>
              <a:srgbClr val="A6A6A6"/>
            </a:solidFill>
            <a:prstDash val="solid"/>
          </a:ln>
        </p:spPr>
        <p:txBody>
          <a:bodyPr anchor="ctr"/>
          <a:lstStyle/>
          <a:p>
            <a:endParaRPr lang="ko-KR" altLang="en-US"/>
          </a:p>
        </p:txBody>
      </p:sp>
      <p:sp>
        <p:nvSpPr>
          <p:cNvPr id="17" name="Shape 14"/>
          <p:cNvSpPr/>
          <p:nvPr/>
        </p:nvSpPr>
        <p:spPr>
          <a:xfrm>
            <a:off x="3755898" y="1588436"/>
            <a:ext cx="0" cy="288000"/>
          </a:xfrm>
          <a:prstGeom prst="line">
            <a:avLst/>
          </a:prstGeom>
          <a:noFill/>
          <a:ln w="12700">
            <a:solidFill>
              <a:srgbClr val="A6A6A6"/>
            </a:solidFill>
            <a:prstDash val="solid"/>
          </a:ln>
        </p:spPr>
        <p:txBody>
          <a:bodyPr anchor="ctr"/>
          <a:lstStyle/>
          <a:p>
            <a:endParaRPr lang="ko-KR" altLang="en-US"/>
          </a:p>
        </p:txBody>
      </p:sp>
      <p:sp>
        <p:nvSpPr>
          <p:cNvPr id="31" name="Shape 26"/>
          <p:cNvSpPr/>
          <p:nvPr/>
        </p:nvSpPr>
        <p:spPr>
          <a:xfrm>
            <a:off x="8433054" y="1588436"/>
            <a:ext cx="0" cy="288000"/>
          </a:xfrm>
          <a:prstGeom prst="line">
            <a:avLst/>
          </a:prstGeom>
          <a:noFill/>
          <a:ln w="12700">
            <a:solidFill>
              <a:srgbClr val="A6A6A6"/>
            </a:solidFill>
            <a:prstDash val="solid"/>
          </a:ln>
        </p:spPr>
        <p:txBody>
          <a:bodyPr anchor="ctr"/>
          <a:lstStyle/>
          <a:p>
            <a:endParaRPr lang="ko-KR" altLang="en-US"/>
          </a:p>
        </p:txBody>
      </p:sp>
      <p:sp>
        <p:nvSpPr>
          <p:cNvPr id="38" name="Shape 32"/>
          <p:cNvSpPr/>
          <p:nvPr/>
        </p:nvSpPr>
        <p:spPr>
          <a:xfrm>
            <a:off x="10771632" y="1588436"/>
            <a:ext cx="0" cy="288000"/>
          </a:xfrm>
          <a:prstGeom prst="line">
            <a:avLst/>
          </a:prstGeom>
          <a:noFill/>
          <a:ln w="12700">
            <a:solidFill>
              <a:srgbClr val="A6A6A6"/>
            </a:solidFill>
            <a:prstDash val="solid"/>
          </a:ln>
        </p:spPr>
        <p:txBody>
          <a:bodyPr anchor="ctr"/>
          <a:lstStyle/>
          <a:p>
            <a:endParaRPr lang="ko-KR" altLang="en-US"/>
          </a:p>
        </p:txBody>
      </p:sp>
      <p:sp>
        <p:nvSpPr>
          <p:cNvPr id="2" name="Text 0"/>
          <p:cNvSpPr txBox="1"/>
          <p:nvPr/>
        </p:nvSpPr>
        <p:spPr>
          <a:xfrm>
            <a:off x="365760" y="201168"/>
            <a:ext cx="868680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262626"/>
                </a:solidFill>
                <a:latin typeface="나눔스퀘어 ExtraBold" pitchFamily="34" charset="0"/>
                <a:ea typeface="나눔스퀘어 ExtraBold" pitchFamily="34" charset="-122"/>
                <a:cs typeface="나눔스퀘어 ExtraBold" pitchFamily="34" charset="-120"/>
              </a:rPr>
              <a:t>제반 실사 업체 선정 현황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365760" y="731520"/>
            <a:ext cx="11457432" cy="0"/>
          </a:xfrm>
          <a:prstGeom prst="line">
            <a:avLst/>
          </a:prstGeom>
          <a:noFill/>
          <a:ln w="19050">
            <a:solidFill>
              <a:srgbClr val="D9D9D9"/>
            </a:solidFill>
            <a:prstDash val="solid"/>
          </a:ln>
        </p:spPr>
        <p:txBody>
          <a:bodyPr anchor="ctr"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365760" y="731520"/>
            <a:ext cx="3291840" cy="0"/>
          </a:xfrm>
          <a:prstGeom prst="line">
            <a:avLst/>
          </a:prstGeom>
          <a:noFill/>
          <a:ln w="31750">
            <a:solidFill>
              <a:srgbClr val="C00000"/>
            </a:solidFill>
            <a:prstDash val="solid"/>
          </a:ln>
        </p:spPr>
        <p:txBody>
          <a:bodyPr anchor="ctr"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9052560" y="109728"/>
            <a:ext cx="2770632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C00000"/>
                </a:solidFill>
                <a:latin typeface="나눔스퀘어 Bold" pitchFamily="34" charset="0"/>
                <a:ea typeface="나눔스퀘어 Bold" pitchFamily="34" charset="-122"/>
                <a:cs typeface="나눔스퀘어 Bold" pitchFamily="34" charset="-120"/>
              </a:rPr>
              <a:t>One </a:t>
            </a:r>
            <a:r>
              <a:rPr lang="en-US" sz="1100" dirty="0">
                <a:solidFill>
                  <a:srgbClr val="262626"/>
                </a:solidFill>
                <a:latin typeface="나눔스퀘어 Bold" pitchFamily="34" charset="0"/>
                <a:ea typeface="나눔스퀘어 Bold" pitchFamily="34" charset="-122"/>
                <a:cs typeface="나눔스퀘어 Bold" pitchFamily="34" charset="-120"/>
              </a:rPr>
              <a:t>KORAMCO </a:t>
            </a:r>
            <a:r>
              <a:rPr lang="en-US" sz="1100" dirty="0">
                <a:solidFill>
                  <a:srgbClr val="C00000"/>
                </a:solidFill>
                <a:latin typeface="나눔스퀘어 Bold" pitchFamily="34" charset="0"/>
                <a:ea typeface="나눔스퀘어 Bold" pitchFamily="34" charset="-122"/>
                <a:cs typeface="나눔스퀘어 Bold" pitchFamily="34" charset="-120"/>
              </a:rPr>
              <a:t>New </a:t>
            </a:r>
            <a:r>
              <a:rPr lang="en-US" sz="1100" dirty="0">
                <a:solidFill>
                  <a:srgbClr val="262626"/>
                </a:solidFill>
                <a:latin typeface="나눔스퀘어 Bold" pitchFamily="34" charset="0"/>
                <a:ea typeface="나눔스퀘어 Bold" pitchFamily="34" charset="-122"/>
                <a:cs typeface="나눔스퀘어 Bold" pitchFamily="34" charset="-120"/>
              </a:rPr>
              <a:t>KORAMCO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910328" y="871727"/>
            <a:ext cx="2377440" cy="438912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나눔스퀘어 ExtraBold" pitchFamily="34" charset="0"/>
                <a:ea typeface="나눔스퀘어 ExtraBold" pitchFamily="34" charset="-122"/>
                <a:cs typeface="나눔스퀘어 ExtraBold" pitchFamily="34" charset="-120"/>
              </a:rPr>
              <a:t>제반실사 선정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208008" y="932688"/>
            <a:ext cx="2615184" cy="438912"/>
          </a:xfrm>
          <a:prstGeom prst="rect">
            <a:avLst/>
          </a:prstGeom>
          <a:solidFill>
            <a:srgbClr val="FFFFFF"/>
          </a:solidFill>
          <a:ln w="15875">
            <a:solidFill>
              <a:srgbClr val="C00000"/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62626"/>
                </a:solidFill>
                <a:latin typeface="나눔스퀘어 Bold" pitchFamily="34" charset="0"/>
                <a:ea typeface="나눔스퀘어 Bold" pitchFamily="34" charset="-122"/>
                <a:cs typeface="나눔스퀘어 Bold" pitchFamily="34" charset="-120"/>
              </a:rPr>
              <a:t>총  </a:t>
            </a:r>
            <a:r>
              <a:rPr lang="en-US" sz="1600" dirty="0">
                <a:solidFill>
                  <a:srgbClr val="C00000"/>
                </a:solidFill>
                <a:latin typeface="나눔스퀘어 ExtraBold" pitchFamily="34" charset="0"/>
                <a:ea typeface="나눔스퀘어 ExtraBold" pitchFamily="34" charset="-122"/>
                <a:cs typeface="나눔스퀘어 ExtraBold" pitchFamily="34" charset="-120"/>
              </a:rPr>
              <a:t>270백만원</a:t>
            </a:r>
            <a:r>
              <a:rPr lang="en-US" sz="950" dirty="0">
                <a:solidFill>
                  <a:srgbClr val="7F7F7F"/>
                </a:solidFill>
                <a:latin typeface="나눔스퀘어" pitchFamily="34" charset="0"/>
                <a:ea typeface="나눔스퀘어" pitchFamily="34" charset="-122"/>
                <a:cs typeface="나눔스퀘어" pitchFamily="34" charset="-120"/>
              </a:rPr>
              <a:t>  (재무모델 견적 기준)</a:t>
            </a:r>
          </a:p>
        </p:txBody>
      </p:sp>
      <p:sp>
        <p:nvSpPr>
          <p:cNvPr id="9" name="Shape 7"/>
          <p:cNvSpPr/>
          <p:nvPr/>
        </p:nvSpPr>
        <p:spPr>
          <a:xfrm>
            <a:off x="1417320" y="1597151"/>
            <a:ext cx="9354312" cy="0"/>
          </a:xfrm>
          <a:prstGeom prst="line">
            <a:avLst/>
          </a:prstGeom>
          <a:noFill/>
          <a:ln w="12700">
            <a:solidFill>
              <a:srgbClr val="A6A6A6"/>
            </a:solidFill>
            <a:prstDash val="solid"/>
          </a:ln>
        </p:spPr>
        <p:txBody>
          <a:bodyPr anchor="ctr"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452850" y="1805292"/>
            <a:ext cx="1872000" cy="457200"/>
          </a:xfrm>
          <a:prstGeom prst="rect">
            <a:avLst/>
          </a:prstGeom>
          <a:solidFill>
            <a:srgbClr val="A39382"/>
          </a:solidFill>
          <a:ln>
            <a:solidFill>
              <a:srgbClr val="A39382"/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나눔스퀘어 ExtraBold" pitchFamily="34" charset="0"/>
                <a:ea typeface="나눔스퀘어 ExtraBold" pitchFamily="34" charset="-122"/>
                <a:cs typeface="나눔스퀘어 ExtraBold" pitchFamily="34" charset="-120"/>
              </a:rPr>
              <a:t>법률실사</a:t>
            </a:r>
          </a:p>
        </p:txBody>
      </p:sp>
      <p:sp>
        <p:nvSpPr>
          <p:cNvPr id="12" name="Text 10"/>
          <p:cNvSpPr/>
          <p:nvPr/>
        </p:nvSpPr>
        <p:spPr>
          <a:xfrm>
            <a:off x="452850" y="2262492"/>
            <a:ext cx="1872000" cy="821211"/>
          </a:xfrm>
          <a:prstGeom prst="rect">
            <a:avLst/>
          </a:prstGeom>
          <a:solidFill>
            <a:srgbClr val="F5F3F1"/>
          </a:solidFill>
          <a:ln w="6350">
            <a:solidFill>
              <a:srgbClr val="D9D9D9"/>
            </a:solidFill>
          </a:ln>
        </p:spPr>
        <p:txBody>
          <a:bodyPr wrap="square" lIns="50800" tIns="101600" rIns="50800" bIns="50800" rtlCol="0" anchor="ctr"/>
          <a:lstStyle/>
          <a:p>
            <a:pPr marL="114300" indent="-114300">
              <a:spcAft>
                <a:spcPts val="300"/>
              </a:spcAft>
              <a:buSzPct val="100000"/>
              <a:buChar char="•"/>
            </a:pPr>
            <a:r>
              <a:rPr lang="en-US" sz="900" dirty="0" err="1">
                <a:solidFill>
                  <a:srgbClr val="262626"/>
                </a:solidFill>
                <a:latin typeface="나눔스퀘어" pitchFamily="34" charset="0"/>
                <a:ea typeface="나눔스퀘어" pitchFamily="34" charset="-122"/>
                <a:cs typeface="나눔스퀘어" pitchFamily="34" charset="-120"/>
              </a:rPr>
              <a:t>법률실사 진행 및 보고서 작성</a:t>
            </a:r>
          </a:p>
          <a:p>
            <a:pPr marL="114300" indent="-114300">
              <a:spcAft>
                <a:spcPts val="300"/>
              </a:spcAft>
              <a:buSzPct val="100000"/>
              <a:buChar char="•"/>
            </a:pPr>
            <a:r>
              <a:rPr lang="en-US" sz="900" dirty="0" err="1">
                <a:solidFill>
                  <a:srgbClr val="262626"/>
                </a:solidFill>
                <a:latin typeface="나눔스퀘어" pitchFamily="34" charset="0"/>
                <a:ea typeface="나눔스퀘어" pitchFamily="34" charset="-122"/>
                <a:cs typeface="나눔스퀘어" pitchFamily="34" charset="-120"/>
              </a:rPr>
              <a:t>매매·주주간·대출 계약서 작성·검토</a:t>
            </a:r>
          </a:p>
          <a:p>
            <a:pPr marL="114300" indent="-114300">
              <a:spcAft>
                <a:spcPts val="300"/>
              </a:spcAft>
              <a:buSzPct val="100000"/>
              <a:buChar char="•"/>
            </a:pPr>
            <a:r>
              <a:rPr lang="en-US" sz="900" dirty="0" err="1">
                <a:solidFill>
                  <a:srgbClr val="262626"/>
                </a:solidFill>
                <a:latin typeface="나눔스퀘어" pitchFamily="34" charset="0"/>
                <a:ea typeface="나눔스퀘어" pitchFamily="34" charset="-122"/>
                <a:cs typeface="나눔스퀘어" pitchFamily="34" charset="-120"/>
              </a:rPr>
              <a:t>신설리츠 투자구조 법률의견</a:t>
            </a:r>
          </a:p>
        </p:txBody>
      </p:sp>
      <p:sp>
        <p:nvSpPr>
          <p:cNvPr id="13" name="Shape 11"/>
          <p:cNvSpPr/>
          <p:nvPr/>
        </p:nvSpPr>
        <p:spPr>
          <a:xfrm>
            <a:off x="1243584" y="3328416"/>
            <a:ext cx="347472" cy="347472"/>
          </a:xfrm>
          <a:prstGeom prst="downArrow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  <p:txBody>
          <a:bodyPr anchor="ctr"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1709928" y="3383280"/>
            <a:ext cx="676656" cy="237744"/>
          </a:xfrm>
          <a:prstGeom prst="roundRect">
            <a:avLst>
              <a:gd name="adj" fmla="val 46154"/>
            </a:avLst>
          </a:prstGeom>
          <a:solidFill>
            <a:srgbClr val="FFFFFF"/>
          </a:solidFill>
          <a:ln w="9525">
            <a:solidFill>
              <a:srgbClr val="C0000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00000"/>
                </a:solidFill>
                <a:latin typeface="나눔스퀘어 Bold" pitchFamily="34" charset="0"/>
                <a:ea typeface="나눔스퀘어 Bold" pitchFamily="34" charset="-122"/>
                <a:cs typeface="나눔스퀘어 Bold" pitchFamily="34" charset="-120"/>
              </a:rPr>
              <a:t>견적 기준</a:t>
            </a:r>
          </a:p>
        </p:txBody>
      </p:sp>
      <p:sp>
        <p:nvSpPr>
          <p:cNvPr id="15" name="Text 13"/>
          <p:cNvSpPr/>
          <p:nvPr/>
        </p:nvSpPr>
        <p:spPr>
          <a:xfrm>
            <a:off x="452850" y="3767328"/>
            <a:ext cx="1872000" cy="713232"/>
          </a:xfrm>
          <a:prstGeom prst="rect">
            <a:avLst/>
          </a:prstGeom>
          <a:solidFill>
            <a:srgbClr val="FBEEEE"/>
          </a:solidFill>
          <a:ln w="15875">
            <a:solidFill>
              <a:srgbClr val="C00000"/>
            </a:solidFill>
            <a:prstDash val="dash"/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100" dirty="0" err="1">
                <a:solidFill>
                  <a:srgbClr val="262626"/>
                </a:solidFill>
                <a:latin typeface="나눔스퀘어 Bold" pitchFamily="34" charset="0"/>
                <a:ea typeface="나눔스퀘어 Bold" pitchFamily="34" charset="-122"/>
                <a:cs typeface="나눔스퀘어 Bold" pitchFamily="34" charset="-120"/>
              </a:rPr>
              <a:t>태평양(BKL)</a:t>
            </a:r>
          </a:p>
          <a:p>
            <a:pPr marL="0" indent="0" algn="ctr">
              <a:buNone/>
            </a:pPr>
            <a:r>
              <a:rPr lang="en-US" sz="1600" dirty="0">
                <a:solidFill>
                  <a:srgbClr val="C00000"/>
                </a:solidFill>
                <a:latin typeface="나눔스퀘어 ExtraBold" pitchFamily="34" charset="0"/>
                <a:ea typeface="나눔스퀘어 ExtraBold" pitchFamily="34" charset="-122"/>
                <a:cs typeface="나눔스퀘어 ExtraBold" pitchFamily="34" charset="-120"/>
              </a:rPr>
              <a:t>80</a:t>
            </a:r>
            <a:r>
              <a:rPr lang="en-US" sz="1150" dirty="0">
                <a:solidFill>
                  <a:srgbClr val="C00000"/>
                </a:solidFill>
                <a:latin typeface="나눔스퀘어 ExtraBold" pitchFamily="34" charset="0"/>
                <a:ea typeface="나눔스퀘어 ExtraBold" pitchFamily="34" charset="-122"/>
                <a:cs typeface="나눔스퀘어 ExtraBold" pitchFamily="34" charset="-120"/>
              </a:rPr>
              <a:t>백만원</a:t>
            </a:r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30971386"/>
              </p:ext>
            </p:extLst>
          </p:nvPr>
        </p:nvGraphicFramePr>
        <p:xfrm>
          <a:off x="442912" y="4736592"/>
          <a:ext cx="1881937" cy="950976"/>
        </p:xfrm>
        <a:graphic>
          <a:graphicData uri="http://schemas.openxmlformats.org/drawingml/2006/table">
            <a:tbl>
              <a:tblPr/>
              <a:tblGrid>
                <a:gridCol w="11291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527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2608">
                <a:tc>
                  <a:txBody>
                    <a:bodyPr anchor="ctr"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나눔스퀘어 Bold" pitchFamily="34" charset="0"/>
                          <a:ea typeface="나눔스퀘어 Bold" pitchFamily="34" charset="-122"/>
                          <a:cs typeface="나눔스퀘어 Bold" pitchFamily="34" charset="-120"/>
                        </a:rPr>
                        <a:t>구분</a:t>
                      </a:r>
                      <a:endParaRPr lang="en-US" sz="950" dirty="0">
                        <a:latin typeface="나눔스퀘어 Bold" charset="0"/>
                        <a:ea typeface="나눔스퀘어 Bold" charset="0"/>
                        <a:cs typeface="나눔스퀘어 Bold" charset="0"/>
                      </a:endParaRPr>
                    </a:p>
                  </a:txBody>
                  <a:tcPr marL="27432" marR="27432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39382"/>
                    </a:solidFill>
                  </a:tcPr>
                </a:tc>
                <a:tc>
                  <a:txBody>
                    <a:bodyPr anchor="ctr"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나눔스퀘어 Bold" pitchFamily="34" charset="0"/>
                          <a:ea typeface="나눔스퀘어 Bold" pitchFamily="34" charset="-122"/>
                          <a:cs typeface="나눔스퀘어 Bold" pitchFamily="34" charset="-120"/>
                        </a:rPr>
                        <a:t>제안가격</a:t>
                      </a:r>
                    </a:p>
                  </a:txBody>
                  <a:tcPr marL="27432" marR="27432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393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 anchor="ctr"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C00000"/>
                          </a:solidFill>
                          <a:latin typeface="나눔스퀘어 Bold" pitchFamily="34" charset="0"/>
                          <a:ea typeface="나눔스퀘어 Bold" pitchFamily="34" charset="-122"/>
                          <a:cs typeface="나눔스퀘어 Bold" pitchFamily="34" charset="-120"/>
                        </a:rPr>
                        <a:t>법무법인 태평양</a:t>
                      </a:r>
                    </a:p>
                  </a:txBody>
                  <a:tcPr marL="27432" marR="27432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EEE"/>
                    </a:solidFill>
                  </a:tcPr>
                </a:tc>
                <a:tc>
                  <a:txBody>
                    <a:bodyPr anchor="ctr"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C00000"/>
                          </a:solidFill>
                          <a:latin typeface="나눔스퀘어 ExtraBold" pitchFamily="34" charset="0"/>
                          <a:ea typeface="나눔스퀘어 ExtraBold" pitchFamily="34" charset="-122"/>
                          <a:cs typeface="나눔스퀘어 ExtraBold" pitchFamily="34" charset="-120"/>
                        </a:rPr>
                        <a:t>80 백만원</a:t>
                      </a:r>
                    </a:p>
                  </a:txBody>
                  <a:tcPr marL="27432" marR="27432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 anchor="ctr"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나눔스퀘어" pitchFamily="34" charset="0"/>
                          <a:ea typeface="나눔스퀘어" pitchFamily="34" charset="-122"/>
                          <a:cs typeface="나눔스퀘어" pitchFamily="34" charset="-120"/>
                        </a:rPr>
                        <a:t>타 제안사</a:t>
                      </a:r>
                    </a:p>
                  </a:txBody>
                  <a:tcPr marL="27432" marR="27432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F1"/>
                    </a:solidFill>
                  </a:tcPr>
                </a:tc>
                <a:tc>
                  <a:txBody>
                    <a:bodyPr anchor="ctr"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나눔스퀘어" pitchFamily="34" charset="0"/>
                          <a:ea typeface="나눔스퀘어" pitchFamily="34" charset="-122"/>
                          <a:cs typeface="나눔스퀘어" pitchFamily="34" charset="-120"/>
                        </a:rPr>
                        <a:t>[미접수]</a:t>
                      </a:r>
                    </a:p>
                  </a:txBody>
                  <a:tcPr marL="27432" marR="27432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8" name="Text 15"/>
          <p:cNvSpPr/>
          <p:nvPr/>
        </p:nvSpPr>
        <p:spPr>
          <a:xfrm>
            <a:off x="2791428" y="1805292"/>
            <a:ext cx="1872000" cy="457200"/>
          </a:xfrm>
          <a:prstGeom prst="rect">
            <a:avLst/>
          </a:prstGeom>
          <a:solidFill>
            <a:srgbClr val="A39382"/>
          </a:solidFill>
          <a:ln>
            <a:solidFill>
              <a:srgbClr val="A39382"/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나눔스퀘어 ExtraBold" pitchFamily="34" charset="0"/>
                <a:ea typeface="나눔스퀘어 ExtraBold" pitchFamily="34" charset="-122"/>
                <a:cs typeface="나눔스퀘어 ExtraBold" pitchFamily="34" charset="-120"/>
              </a:rPr>
              <a:t>감정평가</a:t>
            </a:r>
          </a:p>
        </p:txBody>
      </p:sp>
      <p:sp>
        <p:nvSpPr>
          <p:cNvPr id="19" name="Text 16"/>
          <p:cNvSpPr/>
          <p:nvPr/>
        </p:nvSpPr>
        <p:spPr>
          <a:xfrm>
            <a:off x="2791428" y="2262492"/>
            <a:ext cx="1872000" cy="821211"/>
          </a:xfrm>
          <a:prstGeom prst="rect">
            <a:avLst/>
          </a:prstGeom>
          <a:solidFill>
            <a:srgbClr val="F5F3F1"/>
          </a:solidFill>
          <a:ln w="6350">
            <a:solidFill>
              <a:srgbClr val="D9D9D9"/>
            </a:solidFill>
          </a:ln>
        </p:spPr>
        <p:txBody>
          <a:bodyPr wrap="square" lIns="50800" tIns="101600" rIns="50800" bIns="50800" rtlCol="0" anchor="ctr"/>
          <a:lstStyle/>
          <a:p>
            <a:pPr marL="114300" indent="-114300">
              <a:spcAft>
                <a:spcPts val="300"/>
              </a:spcAft>
              <a:buSzPct val="100000"/>
              <a:buChar char="•"/>
            </a:pPr>
            <a:r>
              <a:rPr lang="en-US" sz="900" dirty="0" err="1">
                <a:solidFill>
                  <a:srgbClr val="262626"/>
                </a:solidFill>
                <a:latin typeface="나눔스퀘어" pitchFamily="34" charset="0"/>
                <a:ea typeface="나눔스퀘어" pitchFamily="34" charset="-122"/>
                <a:cs typeface="나눔스퀘어" pitchFamily="34" charset="-120"/>
              </a:rPr>
              <a:t>감정평가서(담보·시가) 작성</a:t>
            </a:r>
          </a:p>
          <a:p>
            <a:pPr marL="114300" indent="-114300">
              <a:spcAft>
                <a:spcPts val="300"/>
              </a:spcAft>
              <a:buSzPct val="100000"/>
              <a:buChar char="•"/>
            </a:pPr>
            <a:r>
              <a:rPr lang="en-US" sz="900" dirty="0" err="1">
                <a:solidFill>
                  <a:srgbClr val="262626"/>
                </a:solidFill>
                <a:latin typeface="나눔스퀘어" pitchFamily="34" charset="0"/>
                <a:ea typeface="나눔스퀘어" pitchFamily="34" charset="-122"/>
                <a:cs typeface="나눔스퀘어" pitchFamily="34" charset="-120"/>
              </a:rPr>
              <a:t>감정평가액 3,345억원</a:t>
            </a:r>
          </a:p>
          <a:p>
            <a:pPr marL="114300" indent="-114300">
              <a:spcAft>
                <a:spcPts val="300"/>
              </a:spcAft>
              <a:buSzPct val="100000"/>
              <a:buChar char="•"/>
            </a:pPr>
            <a:r>
              <a:rPr lang="en-US" sz="900" dirty="0" err="1">
                <a:solidFill>
                  <a:srgbClr val="262626"/>
                </a:solidFill>
                <a:latin typeface="나눔스퀘어" pitchFamily="34" charset="0"/>
                <a:ea typeface="나눔스퀘어" pitchFamily="34" charset="-122"/>
                <a:cs typeface="나눔스퀘어" pitchFamily="34" charset="-120"/>
              </a:rPr>
              <a:t>기준시점 ’26.08.31</a:t>
            </a:r>
          </a:p>
        </p:txBody>
      </p:sp>
      <p:sp>
        <p:nvSpPr>
          <p:cNvPr id="20" name="Shape 17"/>
          <p:cNvSpPr/>
          <p:nvPr/>
        </p:nvSpPr>
        <p:spPr>
          <a:xfrm>
            <a:off x="3582162" y="3328416"/>
            <a:ext cx="347472" cy="347472"/>
          </a:xfrm>
          <a:prstGeom prst="downArrow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  <p:txBody>
          <a:bodyPr anchor="ctr"/>
          <a:lstStyle/>
          <a:p>
            <a:endParaRPr lang="ko-KR" altLang="en-US"/>
          </a:p>
        </p:txBody>
      </p:sp>
      <p:sp>
        <p:nvSpPr>
          <p:cNvPr id="21" name="Text 18"/>
          <p:cNvSpPr/>
          <p:nvPr/>
        </p:nvSpPr>
        <p:spPr>
          <a:xfrm>
            <a:off x="4048506" y="3383280"/>
            <a:ext cx="676656" cy="237744"/>
          </a:xfrm>
          <a:prstGeom prst="roundRect">
            <a:avLst>
              <a:gd name="adj" fmla="val 46154"/>
            </a:avLst>
          </a:prstGeom>
          <a:solidFill>
            <a:srgbClr val="FFFFFF"/>
          </a:solidFill>
          <a:ln w="9525">
            <a:solidFill>
              <a:srgbClr val="C0000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00000"/>
                </a:solidFill>
                <a:latin typeface="나눔스퀘어 Bold" pitchFamily="34" charset="0"/>
                <a:ea typeface="나눔스퀘어 Bold" pitchFamily="34" charset="-122"/>
                <a:cs typeface="나눔스퀘어 Bold" pitchFamily="34" charset="-120"/>
              </a:rPr>
              <a:t>견적 기준</a:t>
            </a:r>
          </a:p>
        </p:txBody>
      </p:sp>
      <p:sp>
        <p:nvSpPr>
          <p:cNvPr id="22" name="Text 19"/>
          <p:cNvSpPr/>
          <p:nvPr/>
        </p:nvSpPr>
        <p:spPr>
          <a:xfrm>
            <a:off x="2791428" y="3767328"/>
            <a:ext cx="1872000" cy="713232"/>
          </a:xfrm>
          <a:prstGeom prst="rect">
            <a:avLst/>
          </a:prstGeom>
          <a:solidFill>
            <a:srgbClr val="FBEEEE"/>
          </a:solidFill>
          <a:ln w="15875">
            <a:solidFill>
              <a:srgbClr val="C00000"/>
            </a:solidFill>
            <a:prstDash val="dash"/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62626"/>
                </a:solidFill>
                <a:latin typeface="나눔스퀘어 Bold" pitchFamily="34" charset="0"/>
                <a:ea typeface="나눔스퀘어 Bold" pitchFamily="34" charset="-122"/>
                <a:cs typeface="나눔스퀘어 Bold" pitchFamily="34" charset="-120"/>
              </a:rPr>
              <a:t>미래새한</a:t>
            </a:r>
          </a:p>
          <a:p>
            <a:pPr marL="0" indent="0" algn="ctr">
              <a:buNone/>
            </a:pPr>
            <a:r>
              <a:rPr lang="en-US" sz="1600" dirty="0">
                <a:solidFill>
                  <a:srgbClr val="C00000"/>
                </a:solidFill>
                <a:latin typeface="나눔스퀘어 ExtraBold" pitchFamily="34" charset="0"/>
                <a:ea typeface="나눔스퀘어 ExtraBold" pitchFamily="34" charset="-122"/>
                <a:cs typeface="나눔스퀘어 ExtraBold" pitchFamily="34" charset="-120"/>
              </a:rPr>
              <a:t>85</a:t>
            </a:r>
            <a:r>
              <a:rPr lang="en-US" sz="1150" dirty="0">
                <a:solidFill>
                  <a:srgbClr val="C00000"/>
                </a:solidFill>
                <a:latin typeface="나눔스퀘어 ExtraBold" pitchFamily="34" charset="0"/>
                <a:ea typeface="나눔스퀘어 ExtraBold" pitchFamily="34" charset="-122"/>
                <a:cs typeface="나눔스퀘어 ExtraBold" pitchFamily="34" charset="-120"/>
              </a:rPr>
              <a:t>백만원</a:t>
            </a:r>
          </a:p>
        </p:txBody>
      </p:sp>
      <p:graphicFrame>
        <p:nvGraphicFramePr>
          <p:cNvPr id="2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79542269"/>
              </p:ext>
            </p:extLst>
          </p:nvPr>
        </p:nvGraphicFramePr>
        <p:xfrm>
          <a:off x="2791428" y="4736592"/>
          <a:ext cx="1872000" cy="950976"/>
        </p:xfrm>
        <a:graphic>
          <a:graphicData uri="http://schemas.openxmlformats.org/drawingml/2006/table">
            <a:tbl>
              <a:tblPr/>
              <a:tblGrid>
                <a:gridCol w="112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2608">
                <a:tc>
                  <a:txBody>
                    <a:bodyPr anchor="ctr"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나눔스퀘어 Bold" pitchFamily="34" charset="0"/>
                          <a:ea typeface="나눔스퀘어 Bold" pitchFamily="34" charset="-122"/>
                          <a:cs typeface="나눔스퀘어 Bold" pitchFamily="34" charset="-120"/>
                        </a:rPr>
                        <a:t>구분</a:t>
                      </a:r>
                      <a:endParaRPr lang="en-US" sz="950" dirty="0">
                        <a:latin typeface="나눔스퀘어 Bold" charset="0"/>
                        <a:ea typeface="나눔스퀘어 Bold" charset="0"/>
                        <a:cs typeface="나눔스퀘어 Bold" charset="0"/>
                      </a:endParaRPr>
                    </a:p>
                  </a:txBody>
                  <a:tcPr marL="27432" marR="27432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39382"/>
                    </a:solidFill>
                  </a:tcPr>
                </a:tc>
                <a:tc>
                  <a:txBody>
                    <a:bodyPr anchor="ctr"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나눔스퀘어 Bold" pitchFamily="34" charset="0"/>
                          <a:ea typeface="나눔스퀘어 Bold" pitchFamily="34" charset="-122"/>
                          <a:cs typeface="나눔스퀘어 Bold" pitchFamily="34" charset="-120"/>
                        </a:rPr>
                        <a:t>제안가격</a:t>
                      </a:r>
                    </a:p>
                  </a:txBody>
                  <a:tcPr marL="27432" marR="27432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393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 anchor="ctr"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C00000"/>
                          </a:solidFill>
                          <a:latin typeface="나눔스퀘어 Bold" pitchFamily="34" charset="0"/>
                          <a:ea typeface="나눔스퀘어 Bold" pitchFamily="34" charset="-122"/>
                          <a:cs typeface="나눔스퀘어 Bold" pitchFamily="34" charset="-120"/>
                        </a:rPr>
                        <a:t>미래새한감정평가</a:t>
                      </a:r>
                    </a:p>
                  </a:txBody>
                  <a:tcPr marL="27432" marR="27432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EEE"/>
                    </a:solidFill>
                  </a:tcPr>
                </a:tc>
                <a:tc>
                  <a:txBody>
                    <a:bodyPr anchor="ctr"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C00000"/>
                          </a:solidFill>
                          <a:latin typeface="나눔스퀘어 ExtraBold" pitchFamily="34" charset="0"/>
                          <a:ea typeface="나눔스퀘어 ExtraBold" pitchFamily="34" charset="-122"/>
                          <a:cs typeface="나눔스퀘어 ExtraBold" pitchFamily="34" charset="-120"/>
                        </a:rPr>
                        <a:t>85.3백만원</a:t>
                      </a:r>
                    </a:p>
                  </a:txBody>
                  <a:tcPr marL="27432" marR="27432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 anchor="ctr"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나눔스퀘어" pitchFamily="34" charset="0"/>
                          <a:ea typeface="나눔스퀘어" pitchFamily="34" charset="-122"/>
                          <a:cs typeface="나눔스퀘어" pitchFamily="34" charset="-120"/>
                        </a:rPr>
                        <a:t>타 제안사</a:t>
                      </a:r>
                    </a:p>
                  </a:txBody>
                  <a:tcPr marL="27432" marR="27432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F1"/>
                    </a:solidFill>
                  </a:tcPr>
                </a:tc>
                <a:tc>
                  <a:txBody>
                    <a:bodyPr anchor="ctr"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나눔스퀘어" pitchFamily="34" charset="0"/>
                          <a:ea typeface="나눔스퀘어" pitchFamily="34" charset="-122"/>
                          <a:cs typeface="나눔스퀘어" pitchFamily="34" charset="-120"/>
                        </a:rPr>
                        <a:t>[미접수]</a:t>
                      </a:r>
                    </a:p>
                  </a:txBody>
                  <a:tcPr marL="27432" marR="27432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5" name="Text 21"/>
          <p:cNvSpPr/>
          <p:nvPr/>
        </p:nvSpPr>
        <p:spPr>
          <a:xfrm>
            <a:off x="5130006" y="1805292"/>
            <a:ext cx="1872000" cy="457200"/>
          </a:xfrm>
          <a:prstGeom prst="rect">
            <a:avLst/>
          </a:prstGeom>
          <a:solidFill>
            <a:srgbClr val="A39382"/>
          </a:solidFill>
          <a:ln>
            <a:solidFill>
              <a:srgbClr val="A39382"/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나눔스퀘어 ExtraBold" pitchFamily="34" charset="0"/>
                <a:ea typeface="나눔스퀘어 ExtraBold" pitchFamily="34" charset="-122"/>
                <a:cs typeface="나눔스퀘어 ExtraBold" pitchFamily="34" charset="-120"/>
              </a:rPr>
              <a:t>재무실사</a:t>
            </a:r>
          </a:p>
        </p:txBody>
      </p:sp>
      <p:sp>
        <p:nvSpPr>
          <p:cNvPr id="26" name="Text 22"/>
          <p:cNvSpPr/>
          <p:nvPr/>
        </p:nvSpPr>
        <p:spPr>
          <a:xfrm>
            <a:off x="5130006" y="2262492"/>
            <a:ext cx="1872000" cy="821211"/>
          </a:xfrm>
          <a:prstGeom prst="rect">
            <a:avLst/>
          </a:prstGeom>
          <a:solidFill>
            <a:srgbClr val="F5F3F1"/>
          </a:solidFill>
          <a:ln w="6350">
            <a:solidFill>
              <a:srgbClr val="D9D9D9"/>
            </a:solidFill>
          </a:ln>
        </p:spPr>
        <p:txBody>
          <a:bodyPr wrap="square" lIns="50800" tIns="101600" rIns="50800" bIns="50800" rtlCol="0" anchor="ctr"/>
          <a:lstStyle/>
          <a:p>
            <a:pPr marL="114300" indent="-114300">
              <a:spcAft>
                <a:spcPts val="300"/>
              </a:spcAft>
              <a:buSzPct val="100000"/>
              <a:buChar char="•"/>
            </a:pPr>
            <a:r>
              <a:rPr lang="en-US" sz="900" dirty="0" err="1">
                <a:solidFill>
                  <a:srgbClr val="262626"/>
                </a:solidFill>
                <a:latin typeface="나눔스퀘어" pitchFamily="34" charset="0"/>
                <a:ea typeface="나눔스퀘어" pitchFamily="34" charset="-122"/>
                <a:cs typeface="나눔스퀘어" pitchFamily="34" charset="-120"/>
              </a:rPr>
              <a:t>10년 현금흐름·투자자 수익률 분석</a:t>
            </a:r>
          </a:p>
          <a:p>
            <a:pPr marL="114300" indent="-114300">
              <a:spcAft>
                <a:spcPts val="300"/>
              </a:spcAft>
              <a:buSzPct val="100000"/>
              <a:buChar char="•"/>
            </a:pPr>
            <a:r>
              <a:rPr lang="en-US" sz="900" dirty="0" err="1">
                <a:solidFill>
                  <a:srgbClr val="262626"/>
                </a:solidFill>
                <a:latin typeface="나눔스퀘어" pitchFamily="34" charset="0"/>
                <a:ea typeface="나눔스퀘어" pitchFamily="34" charset="-122"/>
                <a:cs typeface="나눔스퀘어" pitchFamily="34" charset="-120"/>
              </a:rPr>
              <a:t>DSCR 등 재무지표 검토</a:t>
            </a:r>
          </a:p>
          <a:p>
            <a:pPr marL="114300" indent="-114300">
              <a:spcAft>
                <a:spcPts val="300"/>
              </a:spcAft>
              <a:buSzPct val="100000"/>
              <a:buChar char="•"/>
            </a:pPr>
            <a:r>
              <a:rPr lang="en-US" sz="900" dirty="0" err="1">
                <a:solidFill>
                  <a:srgbClr val="262626"/>
                </a:solidFill>
                <a:latin typeface="나눔스퀘어" pitchFamily="34" charset="0"/>
                <a:ea typeface="나눔스퀘어" pitchFamily="34" charset="-122"/>
                <a:cs typeface="나눔스퀘어" pitchFamily="34" charset="-120"/>
              </a:rPr>
              <a:t>재무분석보고서 작성</a:t>
            </a:r>
          </a:p>
        </p:txBody>
      </p:sp>
      <p:sp>
        <p:nvSpPr>
          <p:cNvPr id="27" name="Shape 23"/>
          <p:cNvSpPr/>
          <p:nvPr/>
        </p:nvSpPr>
        <p:spPr>
          <a:xfrm>
            <a:off x="5920740" y="3328416"/>
            <a:ext cx="347472" cy="347472"/>
          </a:xfrm>
          <a:prstGeom prst="downArrow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  <p:txBody>
          <a:bodyPr anchor="ctr"/>
          <a:lstStyle/>
          <a:p>
            <a:endParaRPr lang="ko-KR" altLang="en-US"/>
          </a:p>
        </p:txBody>
      </p:sp>
      <p:sp>
        <p:nvSpPr>
          <p:cNvPr id="28" name="Text 24"/>
          <p:cNvSpPr/>
          <p:nvPr/>
        </p:nvSpPr>
        <p:spPr>
          <a:xfrm>
            <a:off x="6387084" y="3383280"/>
            <a:ext cx="676656" cy="237744"/>
          </a:xfrm>
          <a:prstGeom prst="roundRect">
            <a:avLst>
              <a:gd name="adj" fmla="val 46154"/>
            </a:avLst>
          </a:prstGeom>
          <a:solidFill>
            <a:srgbClr val="FFFFFF"/>
          </a:solidFill>
          <a:ln w="9525">
            <a:solidFill>
              <a:srgbClr val="C0000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00000"/>
                </a:solidFill>
                <a:latin typeface="나눔스퀘어 Bold" pitchFamily="34" charset="0"/>
                <a:ea typeface="나눔스퀘어 Bold" pitchFamily="34" charset="-122"/>
                <a:cs typeface="나눔스퀘어 Bold" pitchFamily="34" charset="-120"/>
              </a:rPr>
              <a:t>견적 기준</a:t>
            </a:r>
          </a:p>
        </p:txBody>
      </p:sp>
      <p:sp>
        <p:nvSpPr>
          <p:cNvPr id="29" name="Text 25"/>
          <p:cNvSpPr/>
          <p:nvPr/>
        </p:nvSpPr>
        <p:spPr>
          <a:xfrm>
            <a:off x="5130006" y="3767328"/>
            <a:ext cx="1872000" cy="713232"/>
          </a:xfrm>
          <a:prstGeom prst="rect">
            <a:avLst/>
          </a:prstGeom>
          <a:solidFill>
            <a:srgbClr val="FBEEEE"/>
          </a:solidFill>
          <a:ln w="15875">
            <a:solidFill>
              <a:srgbClr val="C00000"/>
            </a:solidFill>
            <a:prstDash val="dash"/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62626"/>
                </a:solidFill>
                <a:latin typeface="나눔스퀘어 Bold" pitchFamily="34" charset="0"/>
                <a:ea typeface="나눔스퀘어 Bold" pitchFamily="34" charset="-122"/>
                <a:cs typeface="나눔스퀘어 Bold" pitchFamily="34" charset="-120"/>
              </a:rPr>
              <a:t>우리회계법인</a:t>
            </a:r>
          </a:p>
          <a:p>
            <a:pPr marL="0" indent="0" algn="ctr">
              <a:buNone/>
            </a:pPr>
            <a:r>
              <a:rPr lang="en-US" sz="1600" dirty="0">
                <a:solidFill>
                  <a:srgbClr val="C00000"/>
                </a:solidFill>
                <a:latin typeface="나눔스퀘어 ExtraBold" pitchFamily="34" charset="0"/>
                <a:ea typeface="나눔스퀘어 ExtraBold" pitchFamily="34" charset="-122"/>
                <a:cs typeface="나눔스퀘어 ExtraBold" pitchFamily="34" charset="-120"/>
              </a:rPr>
              <a:t>40</a:t>
            </a:r>
            <a:r>
              <a:rPr lang="en-US" sz="1150" dirty="0">
                <a:solidFill>
                  <a:srgbClr val="C00000"/>
                </a:solidFill>
                <a:latin typeface="나눔스퀘어 ExtraBold" pitchFamily="34" charset="0"/>
                <a:ea typeface="나눔스퀘어 ExtraBold" pitchFamily="34" charset="-122"/>
                <a:cs typeface="나눔스퀘어 ExtraBold" pitchFamily="34" charset="-120"/>
              </a:rPr>
              <a:t>백만원</a:t>
            </a:r>
          </a:p>
        </p:txBody>
      </p:sp>
      <p:graphicFrame>
        <p:nvGraphicFramePr>
          <p:cNvPr id="30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66395365"/>
              </p:ext>
            </p:extLst>
          </p:nvPr>
        </p:nvGraphicFramePr>
        <p:xfrm>
          <a:off x="5130006" y="4736592"/>
          <a:ext cx="1872000" cy="950976"/>
        </p:xfrm>
        <a:graphic>
          <a:graphicData uri="http://schemas.openxmlformats.org/drawingml/2006/table">
            <a:tbl>
              <a:tblPr/>
              <a:tblGrid>
                <a:gridCol w="112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2608">
                <a:tc>
                  <a:txBody>
                    <a:bodyPr anchor="ctr"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나눔스퀘어 Bold" pitchFamily="34" charset="0"/>
                          <a:ea typeface="나눔스퀘어 Bold" pitchFamily="34" charset="-122"/>
                          <a:cs typeface="나눔스퀘어 Bold" pitchFamily="34" charset="-120"/>
                        </a:rPr>
                        <a:t>구분</a:t>
                      </a:r>
                      <a:endParaRPr lang="en-US" sz="950" dirty="0">
                        <a:latin typeface="나눔스퀘어 Bold" charset="0"/>
                        <a:ea typeface="나눔스퀘어 Bold" charset="0"/>
                        <a:cs typeface="나눔스퀘어 Bold" charset="0"/>
                      </a:endParaRPr>
                    </a:p>
                  </a:txBody>
                  <a:tcPr marL="27432" marR="27432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39382"/>
                    </a:solidFill>
                  </a:tcPr>
                </a:tc>
                <a:tc>
                  <a:txBody>
                    <a:bodyPr anchor="ctr"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나눔스퀘어 Bold" pitchFamily="34" charset="0"/>
                          <a:ea typeface="나눔스퀘어 Bold" pitchFamily="34" charset="-122"/>
                          <a:cs typeface="나눔스퀘어 Bold" pitchFamily="34" charset="-120"/>
                        </a:rPr>
                        <a:t>제안가격</a:t>
                      </a:r>
                    </a:p>
                  </a:txBody>
                  <a:tcPr marL="27432" marR="27432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393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 anchor="ctr"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C00000"/>
                          </a:solidFill>
                          <a:latin typeface="나눔스퀘어 Bold" pitchFamily="34" charset="0"/>
                          <a:ea typeface="나눔스퀘어 Bold" pitchFamily="34" charset="-122"/>
                          <a:cs typeface="나눔스퀘어 Bold" pitchFamily="34" charset="-120"/>
                        </a:rPr>
                        <a:t>우리회계법인</a:t>
                      </a:r>
                    </a:p>
                  </a:txBody>
                  <a:tcPr marL="27432" marR="27432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EEE"/>
                    </a:solidFill>
                  </a:tcPr>
                </a:tc>
                <a:tc>
                  <a:txBody>
                    <a:bodyPr anchor="ctr"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C00000"/>
                          </a:solidFill>
                          <a:latin typeface="나눔스퀘어 ExtraBold" pitchFamily="34" charset="0"/>
                          <a:ea typeface="나눔스퀘어 ExtraBold" pitchFamily="34" charset="-122"/>
                          <a:cs typeface="나눔스퀘어 ExtraBold" pitchFamily="34" charset="-120"/>
                        </a:rPr>
                        <a:t>40 백만원</a:t>
                      </a:r>
                    </a:p>
                  </a:txBody>
                  <a:tcPr marL="27432" marR="27432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 anchor="ctr"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나눔스퀘어" pitchFamily="34" charset="0"/>
                          <a:ea typeface="나눔스퀘어" pitchFamily="34" charset="-122"/>
                          <a:cs typeface="나눔스퀘어" pitchFamily="34" charset="-120"/>
                        </a:rPr>
                        <a:t>타 제안사</a:t>
                      </a:r>
                    </a:p>
                  </a:txBody>
                  <a:tcPr marL="27432" marR="27432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F1"/>
                    </a:solidFill>
                  </a:tcPr>
                </a:tc>
                <a:tc>
                  <a:txBody>
                    <a:bodyPr anchor="ctr"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나눔스퀘어" pitchFamily="34" charset="0"/>
                          <a:ea typeface="나눔스퀘어" pitchFamily="34" charset="-122"/>
                          <a:cs typeface="나눔스퀘어" pitchFamily="34" charset="-120"/>
                        </a:rPr>
                        <a:t>[미접수]</a:t>
                      </a:r>
                    </a:p>
                  </a:txBody>
                  <a:tcPr marL="27432" marR="27432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2" name="Text 27"/>
          <p:cNvSpPr/>
          <p:nvPr/>
        </p:nvSpPr>
        <p:spPr>
          <a:xfrm>
            <a:off x="7468584" y="1805292"/>
            <a:ext cx="1872000" cy="457200"/>
          </a:xfrm>
          <a:prstGeom prst="rect">
            <a:avLst/>
          </a:prstGeom>
          <a:solidFill>
            <a:srgbClr val="A39382"/>
          </a:solidFill>
          <a:ln>
            <a:solidFill>
              <a:srgbClr val="A39382"/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나눔스퀘어 ExtraBold" pitchFamily="34" charset="0"/>
                <a:ea typeface="나눔스퀘어 ExtraBold" pitchFamily="34" charset="-122"/>
                <a:cs typeface="나눔스퀘어 ExtraBold" pitchFamily="34" charset="-120"/>
              </a:rPr>
              <a:t>물리실사</a:t>
            </a:r>
          </a:p>
        </p:txBody>
      </p:sp>
      <p:sp>
        <p:nvSpPr>
          <p:cNvPr id="33" name="Text 28"/>
          <p:cNvSpPr/>
          <p:nvPr/>
        </p:nvSpPr>
        <p:spPr>
          <a:xfrm>
            <a:off x="7468584" y="2262492"/>
            <a:ext cx="1872000" cy="821211"/>
          </a:xfrm>
          <a:prstGeom prst="rect">
            <a:avLst/>
          </a:prstGeom>
          <a:solidFill>
            <a:srgbClr val="F5F3F1"/>
          </a:solidFill>
          <a:ln w="6350">
            <a:solidFill>
              <a:srgbClr val="D9D9D9"/>
            </a:solidFill>
          </a:ln>
        </p:spPr>
        <p:txBody>
          <a:bodyPr wrap="square" lIns="50800" tIns="101600" rIns="50800" bIns="50800" rtlCol="0" anchor="ctr"/>
          <a:lstStyle/>
          <a:p>
            <a:pPr marL="114300" indent="-114300">
              <a:spcAft>
                <a:spcPts val="300"/>
              </a:spcAft>
              <a:buSzPct val="100000"/>
              <a:buChar char="•"/>
            </a:pPr>
            <a:r>
              <a:rPr lang="en-US" sz="900" dirty="0" err="1">
                <a:solidFill>
                  <a:srgbClr val="262626"/>
                </a:solidFill>
                <a:latin typeface="나눔스퀘어" pitchFamily="34" charset="0"/>
                <a:ea typeface="나눔스퀘어" pitchFamily="34" charset="-122"/>
                <a:cs typeface="나눔스퀘어" pitchFamily="34" charset="-120"/>
              </a:rPr>
              <a:t>건축·구조·기계·전기·소방 실사</a:t>
            </a:r>
          </a:p>
          <a:p>
            <a:pPr marL="114300" indent="-1143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나눔스퀘어" pitchFamily="34" charset="0"/>
                <a:ea typeface="나눔스퀘어" pitchFamily="34" charset="-122"/>
                <a:cs typeface="나눔스퀘어" pitchFamily="34" charset="-120"/>
              </a:rPr>
              <a:t>CAPEX 추정</a:t>
            </a:r>
          </a:p>
          <a:p>
            <a:pPr marL="114300" indent="-114300">
              <a:spcAft>
                <a:spcPts val="300"/>
              </a:spcAft>
              <a:buSzPct val="100000"/>
              <a:buChar char="•"/>
            </a:pPr>
            <a:r>
              <a:rPr lang="en-US" sz="900" dirty="0" err="1">
                <a:solidFill>
                  <a:srgbClr val="262626"/>
                </a:solidFill>
                <a:latin typeface="나눔스퀘어" pitchFamily="34" charset="0"/>
                <a:ea typeface="나눔스퀘어" pitchFamily="34" charset="-122"/>
                <a:cs typeface="나눔스퀘어" pitchFamily="34" charset="-120"/>
              </a:rPr>
              <a:t>물리실사보고서 작성</a:t>
            </a:r>
          </a:p>
        </p:txBody>
      </p:sp>
      <p:sp>
        <p:nvSpPr>
          <p:cNvPr id="34" name="Shape 29"/>
          <p:cNvSpPr/>
          <p:nvPr/>
        </p:nvSpPr>
        <p:spPr>
          <a:xfrm>
            <a:off x="8259318" y="3328416"/>
            <a:ext cx="347472" cy="347472"/>
          </a:xfrm>
          <a:prstGeom prst="downArrow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  <p:txBody>
          <a:bodyPr anchor="ctr"/>
          <a:lstStyle/>
          <a:p>
            <a:endParaRPr lang="ko-KR" altLang="en-US"/>
          </a:p>
        </p:txBody>
      </p:sp>
      <p:sp>
        <p:nvSpPr>
          <p:cNvPr id="35" name="Text 30"/>
          <p:cNvSpPr/>
          <p:nvPr/>
        </p:nvSpPr>
        <p:spPr>
          <a:xfrm>
            <a:off x="8725662" y="3383280"/>
            <a:ext cx="676656" cy="237744"/>
          </a:xfrm>
          <a:prstGeom prst="roundRect">
            <a:avLst>
              <a:gd name="adj" fmla="val 46154"/>
            </a:avLst>
          </a:prstGeom>
          <a:solidFill>
            <a:srgbClr val="FFFFFF"/>
          </a:solidFill>
          <a:ln w="9525">
            <a:solidFill>
              <a:srgbClr val="C0000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00000"/>
                </a:solidFill>
                <a:latin typeface="나눔스퀘어 Bold" pitchFamily="34" charset="0"/>
                <a:ea typeface="나눔스퀘어 Bold" pitchFamily="34" charset="-122"/>
                <a:cs typeface="나눔스퀘어 Bold" pitchFamily="34" charset="-120"/>
              </a:rPr>
              <a:t>견적 기준</a:t>
            </a:r>
          </a:p>
        </p:txBody>
      </p:sp>
      <p:sp>
        <p:nvSpPr>
          <p:cNvPr id="36" name="Text 31"/>
          <p:cNvSpPr/>
          <p:nvPr/>
        </p:nvSpPr>
        <p:spPr>
          <a:xfrm>
            <a:off x="7468584" y="3767328"/>
            <a:ext cx="1872000" cy="713232"/>
          </a:xfrm>
          <a:prstGeom prst="rect">
            <a:avLst/>
          </a:prstGeom>
          <a:solidFill>
            <a:srgbClr val="FBEEEE"/>
          </a:solidFill>
          <a:ln w="15875">
            <a:solidFill>
              <a:srgbClr val="C00000"/>
            </a:solidFill>
            <a:prstDash val="dash"/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62626"/>
                </a:solidFill>
                <a:latin typeface="나눔스퀘어 Bold" pitchFamily="34" charset="0"/>
                <a:ea typeface="나눔스퀘어 Bold" pitchFamily="34" charset="-122"/>
                <a:cs typeface="나눔스퀘어 Bold" pitchFamily="34" charset="-120"/>
              </a:rPr>
              <a:t>CBRE</a:t>
            </a:r>
          </a:p>
          <a:p>
            <a:pPr marL="0" indent="0" algn="ctr">
              <a:buNone/>
            </a:pPr>
            <a:r>
              <a:rPr lang="en-US" sz="1600" dirty="0">
                <a:solidFill>
                  <a:srgbClr val="C00000"/>
                </a:solidFill>
                <a:latin typeface="나눔스퀘어 ExtraBold" pitchFamily="34" charset="0"/>
                <a:ea typeface="나눔스퀘어 ExtraBold" pitchFamily="34" charset="-122"/>
                <a:cs typeface="나눔스퀘어 ExtraBold" pitchFamily="34" charset="-120"/>
              </a:rPr>
              <a:t>25</a:t>
            </a:r>
            <a:r>
              <a:rPr lang="en-US" sz="1150" dirty="0">
                <a:solidFill>
                  <a:srgbClr val="C00000"/>
                </a:solidFill>
                <a:latin typeface="나눔스퀘어 ExtraBold" pitchFamily="34" charset="0"/>
                <a:ea typeface="나눔스퀘어 ExtraBold" pitchFamily="34" charset="-122"/>
                <a:cs typeface="나눔스퀘어 ExtraBold" pitchFamily="34" charset="-120"/>
              </a:rPr>
              <a:t>백만원</a:t>
            </a:r>
          </a:p>
        </p:txBody>
      </p:sp>
      <p:graphicFrame>
        <p:nvGraphicFramePr>
          <p:cNvPr id="37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83057829"/>
              </p:ext>
            </p:extLst>
          </p:nvPr>
        </p:nvGraphicFramePr>
        <p:xfrm>
          <a:off x="7468584" y="4736592"/>
          <a:ext cx="1872000" cy="950976"/>
        </p:xfrm>
        <a:graphic>
          <a:graphicData uri="http://schemas.openxmlformats.org/drawingml/2006/table">
            <a:tbl>
              <a:tblPr/>
              <a:tblGrid>
                <a:gridCol w="112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2608">
                <a:tc>
                  <a:txBody>
                    <a:bodyPr anchor="ctr"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나눔스퀘어 Bold" pitchFamily="34" charset="0"/>
                          <a:ea typeface="나눔스퀘어 Bold" pitchFamily="34" charset="-122"/>
                          <a:cs typeface="나눔스퀘어 Bold" pitchFamily="34" charset="-120"/>
                        </a:rPr>
                        <a:t>구분</a:t>
                      </a:r>
                      <a:endParaRPr lang="en-US" sz="950" dirty="0">
                        <a:latin typeface="나눔스퀘어 Bold" charset="0"/>
                        <a:ea typeface="나눔스퀘어 Bold" charset="0"/>
                        <a:cs typeface="나눔스퀘어 Bold" charset="0"/>
                      </a:endParaRPr>
                    </a:p>
                  </a:txBody>
                  <a:tcPr marL="27432" marR="27432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39382"/>
                    </a:solidFill>
                  </a:tcPr>
                </a:tc>
                <a:tc>
                  <a:txBody>
                    <a:bodyPr anchor="ctr"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나눔스퀘어 Bold" pitchFamily="34" charset="0"/>
                          <a:ea typeface="나눔스퀘어 Bold" pitchFamily="34" charset="-122"/>
                          <a:cs typeface="나눔스퀘어 Bold" pitchFamily="34" charset="-120"/>
                        </a:rPr>
                        <a:t>제안가격</a:t>
                      </a:r>
                    </a:p>
                  </a:txBody>
                  <a:tcPr marL="27432" marR="27432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393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 anchor="ctr"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C00000"/>
                          </a:solidFill>
                          <a:latin typeface="나눔스퀘어 Bold" pitchFamily="34" charset="0"/>
                          <a:ea typeface="나눔스퀘어 Bold" pitchFamily="34" charset="-122"/>
                          <a:cs typeface="나눔스퀘어 Bold" pitchFamily="34" charset="-120"/>
                        </a:rPr>
                        <a:t>CBRE</a:t>
                      </a:r>
                    </a:p>
                  </a:txBody>
                  <a:tcPr marL="27432" marR="27432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EEE"/>
                    </a:solidFill>
                  </a:tcPr>
                </a:tc>
                <a:tc>
                  <a:txBody>
                    <a:bodyPr anchor="ctr"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C00000"/>
                          </a:solidFill>
                          <a:latin typeface="나눔스퀘어 ExtraBold" pitchFamily="34" charset="0"/>
                          <a:ea typeface="나눔스퀘어 ExtraBold" pitchFamily="34" charset="-122"/>
                          <a:cs typeface="나눔스퀘어 ExtraBold" pitchFamily="34" charset="-120"/>
                        </a:rPr>
                        <a:t>25 백만원</a:t>
                      </a:r>
                    </a:p>
                  </a:txBody>
                  <a:tcPr marL="27432" marR="27432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 anchor="ctr"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나눔스퀘어" pitchFamily="34" charset="0"/>
                          <a:ea typeface="나눔스퀘어" pitchFamily="34" charset="-122"/>
                          <a:cs typeface="나눔스퀘어" pitchFamily="34" charset="-120"/>
                        </a:rPr>
                        <a:t>타 제안사</a:t>
                      </a:r>
                    </a:p>
                  </a:txBody>
                  <a:tcPr marL="27432" marR="27432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F1"/>
                    </a:solidFill>
                  </a:tcPr>
                </a:tc>
                <a:tc>
                  <a:txBody>
                    <a:bodyPr anchor="ctr"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나눔스퀘어" pitchFamily="34" charset="0"/>
                          <a:ea typeface="나눔스퀘어" pitchFamily="34" charset="-122"/>
                          <a:cs typeface="나눔스퀘어" pitchFamily="34" charset="-120"/>
                        </a:rPr>
                        <a:t>[미접수]</a:t>
                      </a:r>
                    </a:p>
                  </a:txBody>
                  <a:tcPr marL="27432" marR="27432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9" name="Text 33"/>
          <p:cNvSpPr/>
          <p:nvPr/>
        </p:nvSpPr>
        <p:spPr>
          <a:xfrm>
            <a:off x="9807162" y="1805292"/>
            <a:ext cx="1872000" cy="457200"/>
          </a:xfrm>
          <a:prstGeom prst="rect">
            <a:avLst/>
          </a:prstGeom>
          <a:solidFill>
            <a:srgbClr val="A39382"/>
          </a:solidFill>
          <a:ln>
            <a:solidFill>
              <a:srgbClr val="A39382"/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나눔스퀘어 ExtraBold" pitchFamily="34" charset="0"/>
                <a:ea typeface="나눔스퀘어 ExtraBold" pitchFamily="34" charset="-122"/>
                <a:cs typeface="나눔스퀘어 ExtraBold" pitchFamily="34" charset="-120"/>
              </a:rPr>
              <a:t>시장실사</a:t>
            </a:r>
          </a:p>
        </p:txBody>
      </p:sp>
      <p:sp>
        <p:nvSpPr>
          <p:cNvPr id="40" name="Text 34"/>
          <p:cNvSpPr/>
          <p:nvPr/>
        </p:nvSpPr>
        <p:spPr>
          <a:xfrm>
            <a:off x="9807162" y="2262492"/>
            <a:ext cx="1872000" cy="821211"/>
          </a:xfrm>
          <a:prstGeom prst="rect">
            <a:avLst/>
          </a:prstGeom>
          <a:solidFill>
            <a:srgbClr val="F5F3F1"/>
          </a:solidFill>
          <a:ln w="6350">
            <a:solidFill>
              <a:srgbClr val="D9D9D9"/>
            </a:solidFill>
          </a:ln>
        </p:spPr>
        <p:txBody>
          <a:bodyPr wrap="square" lIns="50800" tIns="101600" rIns="50800" bIns="50800" rtlCol="0" anchor="ctr"/>
          <a:lstStyle/>
          <a:p>
            <a:pPr marL="114300" indent="-114300">
              <a:spcAft>
                <a:spcPts val="300"/>
              </a:spcAft>
              <a:buSzPct val="100000"/>
              <a:buChar char="•"/>
            </a:pPr>
            <a:r>
              <a:rPr lang="en-US" sz="900" dirty="0" err="1">
                <a:solidFill>
                  <a:srgbClr val="262626"/>
                </a:solidFill>
                <a:latin typeface="나눔스퀘어" pitchFamily="34" charset="0"/>
                <a:ea typeface="나눔스퀘어" pitchFamily="34" charset="-122"/>
                <a:cs typeface="나눔스퀘어" pitchFamily="34" charset="-120"/>
              </a:rPr>
              <a:t>시장조사보고서 작성</a:t>
            </a:r>
          </a:p>
          <a:p>
            <a:pPr marL="114300" indent="-114300">
              <a:spcAft>
                <a:spcPts val="300"/>
              </a:spcAft>
              <a:buSzPct val="100000"/>
              <a:buChar char="•"/>
            </a:pPr>
            <a:r>
              <a:rPr lang="en-US" sz="900" dirty="0" err="1">
                <a:solidFill>
                  <a:srgbClr val="262626"/>
                </a:solidFill>
                <a:latin typeface="나눔스퀘어" pitchFamily="34" charset="0"/>
                <a:ea typeface="나눔스퀘어" pitchFamily="34" charset="-122"/>
                <a:cs typeface="나눔스퀘어" pitchFamily="34" charset="-120"/>
              </a:rPr>
              <a:t>매매·임대 거래사례 조사</a:t>
            </a:r>
          </a:p>
          <a:p>
            <a:pPr marL="114300" indent="-114300">
              <a:spcAft>
                <a:spcPts val="300"/>
              </a:spcAft>
              <a:buSzPct val="100000"/>
              <a:buChar char="•"/>
            </a:pPr>
            <a:r>
              <a:rPr lang="en-US" sz="900" dirty="0" err="1">
                <a:solidFill>
                  <a:srgbClr val="262626"/>
                </a:solidFill>
                <a:latin typeface="나눔스퀘어" pitchFamily="34" charset="0"/>
                <a:ea typeface="나눔스퀘어" pitchFamily="34" charset="-122"/>
                <a:cs typeface="나눔스퀘어" pitchFamily="34" charset="-120"/>
              </a:rPr>
              <a:t>적정 임대료(E.NOC) 분석</a:t>
            </a:r>
          </a:p>
        </p:txBody>
      </p:sp>
      <p:sp>
        <p:nvSpPr>
          <p:cNvPr id="41" name="Shape 35"/>
          <p:cNvSpPr/>
          <p:nvPr/>
        </p:nvSpPr>
        <p:spPr>
          <a:xfrm>
            <a:off x="10597896" y="3328416"/>
            <a:ext cx="347472" cy="347472"/>
          </a:xfrm>
          <a:prstGeom prst="downArrow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  <p:txBody>
          <a:bodyPr anchor="ctr"/>
          <a:lstStyle/>
          <a:p>
            <a:endParaRPr lang="ko-KR" altLang="en-US"/>
          </a:p>
        </p:txBody>
      </p:sp>
      <p:sp>
        <p:nvSpPr>
          <p:cNvPr id="42" name="Text 36"/>
          <p:cNvSpPr/>
          <p:nvPr/>
        </p:nvSpPr>
        <p:spPr>
          <a:xfrm>
            <a:off x="11064240" y="3383280"/>
            <a:ext cx="676656" cy="237744"/>
          </a:xfrm>
          <a:prstGeom prst="roundRect">
            <a:avLst>
              <a:gd name="adj" fmla="val 46154"/>
            </a:avLst>
          </a:prstGeom>
          <a:solidFill>
            <a:srgbClr val="FFFFFF"/>
          </a:solidFill>
          <a:ln w="9525">
            <a:solidFill>
              <a:srgbClr val="C0000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00000"/>
                </a:solidFill>
                <a:latin typeface="나눔스퀘어 Bold" pitchFamily="34" charset="0"/>
                <a:ea typeface="나눔스퀘어 Bold" pitchFamily="34" charset="-122"/>
                <a:cs typeface="나눔스퀘어 Bold" pitchFamily="34" charset="-120"/>
              </a:rPr>
              <a:t>견적 기준</a:t>
            </a:r>
          </a:p>
        </p:txBody>
      </p:sp>
      <p:sp>
        <p:nvSpPr>
          <p:cNvPr id="43" name="Text 37"/>
          <p:cNvSpPr/>
          <p:nvPr/>
        </p:nvSpPr>
        <p:spPr>
          <a:xfrm>
            <a:off x="9807162" y="3767328"/>
            <a:ext cx="1872000" cy="713232"/>
          </a:xfrm>
          <a:prstGeom prst="rect">
            <a:avLst/>
          </a:prstGeom>
          <a:solidFill>
            <a:srgbClr val="FBEEEE"/>
          </a:solidFill>
          <a:ln w="15875">
            <a:solidFill>
              <a:srgbClr val="C00000"/>
            </a:solidFill>
            <a:prstDash val="dash"/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62626"/>
                </a:solidFill>
                <a:latin typeface="나눔스퀘어 Bold" pitchFamily="34" charset="0"/>
                <a:ea typeface="나눔스퀘어 Bold" pitchFamily="34" charset="-122"/>
                <a:cs typeface="나눔스퀘어 Bold" pitchFamily="34" charset="-120"/>
              </a:rPr>
              <a:t>Savills</a:t>
            </a:r>
          </a:p>
          <a:p>
            <a:pPr marL="0" indent="0" algn="ctr">
              <a:buNone/>
            </a:pPr>
            <a:r>
              <a:rPr lang="en-US" sz="1600" dirty="0">
                <a:solidFill>
                  <a:srgbClr val="C00000"/>
                </a:solidFill>
                <a:latin typeface="나눔스퀘어 ExtraBold" pitchFamily="34" charset="0"/>
                <a:ea typeface="나눔스퀘어 ExtraBold" pitchFamily="34" charset="-122"/>
                <a:cs typeface="나눔스퀘어 ExtraBold" pitchFamily="34" charset="-120"/>
              </a:rPr>
              <a:t>40</a:t>
            </a:r>
            <a:r>
              <a:rPr lang="en-US" sz="1150" dirty="0">
                <a:solidFill>
                  <a:srgbClr val="C00000"/>
                </a:solidFill>
                <a:latin typeface="나눔스퀘어 ExtraBold" pitchFamily="34" charset="0"/>
                <a:ea typeface="나눔스퀘어 ExtraBold" pitchFamily="34" charset="-122"/>
                <a:cs typeface="나눔스퀘어 ExtraBold" pitchFamily="34" charset="-120"/>
              </a:rPr>
              <a:t>백만원</a:t>
            </a:r>
          </a:p>
        </p:txBody>
      </p:sp>
      <p:graphicFrame>
        <p:nvGraphicFramePr>
          <p:cNvPr id="44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54651108"/>
              </p:ext>
            </p:extLst>
          </p:nvPr>
        </p:nvGraphicFramePr>
        <p:xfrm>
          <a:off x="9807162" y="4736592"/>
          <a:ext cx="1872000" cy="950976"/>
        </p:xfrm>
        <a:graphic>
          <a:graphicData uri="http://schemas.openxmlformats.org/drawingml/2006/table">
            <a:tbl>
              <a:tblPr/>
              <a:tblGrid>
                <a:gridCol w="112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2608">
                <a:tc>
                  <a:txBody>
                    <a:bodyPr anchor="ctr"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나눔스퀘어 Bold" pitchFamily="34" charset="0"/>
                          <a:ea typeface="나눔스퀘어 Bold" pitchFamily="34" charset="-122"/>
                          <a:cs typeface="나눔스퀘어 Bold" pitchFamily="34" charset="-120"/>
                        </a:rPr>
                        <a:t>구분</a:t>
                      </a:r>
                      <a:endParaRPr lang="en-US" sz="950" dirty="0">
                        <a:latin typeface="나눔스퀘어 Bold" charset="0"/>
                        <a:ea typeface="나눔스퀘어 Bold" charset="0"/>
                        <a:cs typeface="나눔스퀘어 Bold" charset="0"/>
                      </a:endParaRPr>
                    </a:p>
                  </a:txBody>
                  <a:tcPr marL="27432" marR="27432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39382"/>
                    </a:solidFill>
                  </a:tcPr>
                </a:tc>
                <a:tc>
                  <a:txBody>
                    <a:bodyPr anchor="ctr"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나눔스퀘어 Bold" pitchFamily="34" charset="0"/>
                          <a:ea typeface="나눔스퀘어 Bold" pitchFamily="34" charset="-122"/>
                          <a:cs typeface="나눔스퀘어 Bold" pitchFamily="34" charset="-120"/>
                        </a:rPr>
                        <a:t>제안가격</a:t>
                      </a:r>
                    </a:p>
                  </a:txBody>
                  <a:tcPr marL="27432" marR="27432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393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 anchor="ctr"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C00000"/>
                          </a:solidFill>
                          <a:latin typeface="나눔스퀘어 Bold" pitchFamily="34" charset="0"/>
                          <a:ea typeface="나눔스퀘어 Bold" pitchFamily="34" charset="-122"/>
                          <a:cs typeface="나눔스퀘어 Bold" pitchFamily="34" charset="-120"/>
                        </a:rPr>
                        <a:t>세빌스(Savills)</a:t>
                      </a:r>
                    </a:p>
                  </a:txBody>
                  <a:tcPr marL="27432" marR="27432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EEE"/>
                    </a:solidFill>
                  </a:tcPr>
                </a:tc>
                <a:tc>
                  <a:txBody>
                    <a:bodyPr anchor="ctr"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C00000"/>
                          </a:solidFill>
                          <a:latin typeface="나눔스퀘어 ExtraBold" pitchFamily="34" charset="0"/>
                          <a:ea typeface="나눔스퀘어 ExtraBold" pitchFamily="34" charset="-122"/>
                          <a:cs typeface="나눔스퀘어 ExtraBold" pitchFamily="34" charset="-120"/>
                        </a:rPr>
                        <a:t>40 백만원</a:t>
                      </a:r>
                    </a:p>
                  </a:txBody>
                  <a:tcPr marL="27432" marR="27432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 anchor="ctr"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나눔스퀘어" pitchFamily="34" charset="0"/>
                          <a:ea typeface="나눔스퀘어" pitchFamily="34" charset="-122"/>
                          <a:cs typeface="나눔스퀘어" pitchFamily="34" charset="-120"/>
                        </a:rPr>
                        <a:t>타 제안사</a:t>
                      </a:r>
                    </a:p>
                  </a:txBody>
                  <a:tcPr marL="27432" marR="27432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F1"/>
                    </a:solidFill>
                  </a:tcPr>
                </a:tc>
                <a:tc>
                  <a:txBody>
                    <a:bodyPr anchor="ctr"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나눔스퀘어" pitchFamily="34" charset="0"/>
                          <a:ea typeface="나눔스퀘어" pitchFamily="34" charset="-122"/>
                          <a:cs typeface="나눔스퀘어" pitchFamily="34" charset="-120"/>
                        </a:rPr>
                        <a:t>[미접수]</a:t>
                      </a:r>
                    </a:p>
                  </a:txBody>
                  <a:tcPr marL="27432" marR="27432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5" name="Text 38"/>
          <p:cNvSpPr txBox="1"/>
          <p:nvPr/>
        </p:nvSpPr>
        <p:spPr>
          <a:xfrm>
            <a:off x="444303" y="5724144"/>
            <a:ext cx="1874520" cy="23774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F7F7F"/>
                </a:solidFill>
                <a:latin typeface="나눔스퀘어" pitchFamily="34" charset="0"/>
                <a:ea typeface="나눔스퀘어" pitchFamily="34" charset="-122"/>
                <a:cs typeface="나눔스퀘어" pitchFamily="34" charset="-120"/>
              </a:rPr>
              <a:t>※ 법률실사보고서 ’26.09.09</a:t>
            </a:r>
          </a:p>
        </p:txBody>
      </p:sp>
      <p:sp>
        <p:nvSpPr>
          <p:cNvPr id="47" name="Text 38">
            <a:extLst>
              <a:ext uri="{FF2B5EF4-FFF2-40B4-BE49-F238E27FC236}">
                <a16:creationId xmlns:a16="http://schemas.microsoft.com/office/drawing/2014/main" id="{8C260385-7513-A293-6A6A-A6E2B3E7A4D7}"/>
              </a:ext>
            </a:extLst>
          </p:cNvPr>
          <p:cNvSpPr txBox="1"/>
          <p:nvPr/>
        </p:nvSpPr>
        <p:spPr>
          <a:xfrm>
            <a:off x="2788978" y="5724144"/>
            <a:ext cx="1874520" cy="23774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F7F7F"/>
                </a:solidFill>
                <a:latin typeface="나눔스퀘어" pitchFamily="34" charset="0"/>
                <a:ea typeface="나눔스퀘어" pitchFamily="34" charset="-122"/>
                <a:cs typeface="나눔스퀘어" pitchFamily="34" charset="-120"/>
              </a:rPr>
              <a:t>※ 담보 감정평가서(우리은행 외)</a:t>
            </a:r>
          </a:p>
        </p:txBody>
      </p:sp>
      <p:sp>
        <p:nvSpPr>
          <p:cNvPr id="49" name="Text 38">
            <a:extLst>
              <a:ext uri="{FF2B5EF4-FFF2-40B4-BE49-F238E27FC236}">
                <a16:creationId xmlns:a16="http://schemas.microsoft.com/office/drawing/2014/main" id="{AE7E79C4-6F38-B2B6-3C34-F8B58A19DC64}"/>
              </a:ext>
            </a:extLst>
          </p:cNvPr>
          <p:cNvSpPr txBox="1"/>
          <p:nvPr/>
        </p:nvSpPr>
        <p:spPr>
          <a:xfrm>
            <a:off x="5130168" y="5724144"/>
            <a:ext cx="1874520" cy="23774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F7F7F"/>
                </a:solidFill>
                <a:latin typeface="나눔스퀘어" pitchFamily="34" charset="0"/>
                <a:ea typeface="나눔스퀘어" pitchFamily="34" charset="-122"/>
                <a:cs typeface="나눔스퀘어" pitchFamily="34" charset="-120"/>
              </a:rPr>
              <a:t>※ 재무분석보고서 ’26.08.14</a:t>
            </a:r>
          </a:p>
        </p:txBody>
      </p:sp>
      <p:sp>
        <p:nvSpPr>
          <p:cNvPr id="51" name="Text 38">
            <a:extLst>
              <a:ext uri="{FF2B5EF4-FFF2-40B4-BE49-F238E27FC236}">
                <a16:creationId xmlns:a16="http://schemas.microsoft.com/office/drawing/2014/main" id="{7B8D2273-ACB2-6BC9-1A42-17E488AD5A3A}"/>
              </a:ext>
            </a:extLst>
          </p:cNvPr>
          <p:cNvSpPr txBox="1"/>
          <p:nvPr/>
        </p:nvSpPr>
        <p:spPr>
          <a:xfrm>
            <a:off x="7460037" y="5724144"/>
            <a:ext cx="1874520" cy="23774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F7F7F"/>
                </a:solidFill>
                <a:latin typeface="나눔스퀘어" pitchFamily="34" charset="0"/>
                <a:ea typeface="나눔스퀘어" pitchFamily="34" charset="-122"/>
                <a:cs typeface="나눔스퀘어" pitchFamily="34" charset="-120"/>
              </a:rPr>
              <a:t>※ 물리실사보고서 ’26.08.31</a:t>
            </a:r>
          </a:p>
        </p:txBody>
      </p:sp>
      <p:sp>
        <p:nvSpPr>
          <p:cNvPr id="51" name="Text 38">
            <a:extLst>
              <a:ext uri="{FF2B5EF4-FFF2-40B4-BE49-F238E27FC236}">
                <a16:creationId xmlns:a16="http://schemas.microsoft.com/office/drawing/2014/main" id="{7B8D2273-ACB2-6BC9-1A42-17E488AD5A3A}"/>
              </a:ext>
            </a:extLst>
          </p:cNvPr>
          <p:cNvSpPr txBox="1"/>
          <p:nvPr/>
        </p:nvSpPr>
        <p:spPr>
          <a:xfrm>
            <a:off x="9807162" y="5724144"/>
            <a:ext cx="1874520" cy="23774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F7F7F"/>
                </a:solidFill>
                <a:latin typeface="나눔스퀘어" pitchFamily="34" charset="0"/>
                <a:ea typeface="나눔스퀘어" pitchFamily="34" charset="-122"/>
                <a:cs typeface="나눔스퀘어" pitchFamily="34" charset="-120"/>
              </a:rPr>
              <a:t>※ 시장조사보고서 ’26.08.10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48056" y="6565392"/>
            <a:ext cx="11338560" cy="237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750">
                <a:latin typeface="나눔스퀘어"/>
                <a:ea typeface="나눔스퀘어"/>
                <a:cs typeface="나눔스퀘어"/>
              </a:rPr>
              <a:t>※ 수수료: 기준 재무모델 v03(’26.09.30) 실사/자문비용 견적 반영액(감정 85.3·법률 80·재무 40·시장 40·물리 25, 합계 270.3백만원, 소유권이전비용 76백만원 별도). VAT 포함 여부·성공불 여부·경쟁 제안가격 [확인 필요].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93</TotalTime>
  <Words>584</Words>
  <Application>Microsoft Office PowerPoint</Application>
  <PresentationFormat>와이드스크린</PresentationFormat>
  <Paragraphs>280</Paragraphs>
  <Slides>2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7" baseType="lpstr">
      <vt:lpstr>나눔스퀘어</vt:lpstr>
      <vt:lpstr>나눔스퀘어 Bold</vt:lpstr>
      <vt:lpstr>나눔스퀘어 ExtraBold</vt:lpstr>
      <vt:lpstr>Arial</vt:lpstr>
      <vt:lpstr>Office Theme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윤 상원</cp:lastModifiedBy>
  <cp:revision>18</cp:revision>
  <cp:lastPrinted>2026-10-06T01:39:36Z</cp:lastPrinted>
  <dcterms:created xsi:type="dcterms:W3CDTF">2026-10-02T02:28:43Z</dcterms:created>
  <dcterms:modified xsi:type="dcterms:W3CDTF">2026-10-06T01:43:32Z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branchUid">
    <vt:lpwstr>FDY2VVBL4xkyidNR1EI0L9e7FUg202504030000000</vt:lpwstr>
  </property>
  <property fmtid="{D5CDD505-2E9C-101B-9397-08002B2CF9AE}" pid="3" name="docPath">
    <vt:lpwstr>VDpcMC4g66as7Lig7KeA7JuQ7YyAKDIwMjF+KVwyMS4g7Yis7J6Q7Ius7J2Y7JyE7JuQ7ZqMXDAuIOq3nOyglVzimIXsi6zsnZjsnpDro4wg6rSA66CoIOqwgOydtOuTnOudvOyduFzilqAg64yA7ZGc64uYIOyngOyLnOyWkeyLnV/smrDrs7jruJTrnbzsnbjrk5wgKOuhr+uNsOuNle2PieusvOulmCkucHB0eA==</vt:lpwstr>
  </property>
  <property fmtid="{D5CDD505-2E9C-101B-9397-08002B2CF9AE}" pid="4" name="docUid">
    <vt:lpwstr>dNZoZMKbvyP8WkkyiekIVOZe4HY</vt:lpwstr>
  </property>
  <property fmtid="{D5CDD505-2E9C-101B-9397-08002B2CF9AE}" pid="5" name="parentBranchUid">
    <vt:lpwstr>dNZoZMKbvyP8WkkyiekIVOZe4HY202504070000000</vt:lpwstr>
  </property>
</Properties>
</file>