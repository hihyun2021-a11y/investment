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5"/>
  </p:notesMasterIdLst>
  <p:handoutMasterIdLst>
    <p:handoutMasterId r:id="rId56"/>
  </p:handoutMasterIdLst>
  <p:sldIdLst>
    <p:sldId id="1174" r:id="rId4"/>
    <p:sldId id="1175" r:id="rId5"/>
    <p:sldId id="1176" r:id="rId6"/>
    <p:sldId id="1657" r:id="rId7"/>
    <p:sldId id="1658" r:id="rId8"/>
    <p:sldId id="1820" r:id="rId9"/>
    <p:sldId id="1832" r:id="rId10"/>
    <p:sldId id="1821" r:id="rId11"/>
    <p:sldId id="1822" r:id="rId12"/>
    <p:sldId id="1183" r:id="rId13"/>
    <p:sldId id="1814" r:id="rId14"/>
    <p:sldId id="1656" r:id="rId15"/>
    <p:sldId id="1686" r:id="rId16"/>
    <p:sldId id="1798" r:id="rId17"/>
    <p:sldId id="1739" r:id="rId18"/>
    <p:sldId id="1740" r:id="rId19"/>
    <p:sldId id="1743" r:id="rId20"/>
    <p:sldId id="1799" r:id="rId21"/>
    <p:sldId id="1806" r:id="rId22"/>
    <p:sldId id="1825" r:id="rId23"/>
    <p:sldId id="1805" r:id="rId24"/>
    <p:sldId id="1807" r:id="rId25"/>
    <p:sldId id="1786" r:id="rId26"/>
    <p:sldId id="1785" r:id="rId27"/>
    <p:sldId id="1828" r:id="rId28"/>
    <p:sldId id="1777" r:id="rId29"/>
    <p:sldId id="1829" r:id="rId30"/>
    <p:sldId id="1781" r:id="rId31"/>
    <p:sldId id="1782" r:id="rId32"/>
    <p:sldId id="1809" r:id="rId33"/>
    <p:sldId id="1748" r:id="rId34"/>
    <p:sldId id="1789" r:id="rId35"/>
    <p:sldId id="1795" r:id="rId36"/>
    <p:sldId id="1752" r:id="rId37"/>
    <p:sldId id="1771" r:id="rId38"/>
    <p:sldId id="1754" r:id="rId39"/>
    <p:sldId id="1772" r:id="rId40"/>
    <p:sldId id="1773" r:id="rId41"/>
    <p:sldId id="1815" r:id="rId42"/>
    <p:sldId id="1831" r:id="rId43"/>
    <p:sldId id="1764" r:id="rId44"/>
    <p:sldId id="1833" r:id="rId45"/>
    <p:sldId id="2076139238" r:id="rId46"/>
    <p:sldId id="2076139240" r:id="rId47"/>
    <p:sldId id="1793" r:id="rId48"/>
    <p:sldId id="2076139241" r:id="rId49"/>
    <p:sldId id="1763" r:id="rId50"/>
    <p:sldId id="2076139256" r:id="rId51"/>
    <p:sldId id="1791" r:id="rId52"/>
    <p:sldId id="1787" r:id="rId53"/>
    <p:sldId id="1779" r:id="rId5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32"/>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772"/>
            <p14:sldId id="1773"/>
            <p14:sldId id="1815"/>
            <p14:sldId id="1831"/>
            <p14:sldId id="1764"/>
            <p14:sldId id="1833"/>
            <p14:sldId id="2076139238"/>
            <p14:sldId id="2076139240"/>
            <p14:sldId id="1793"/>
            <p14:sldId id="2076139241"/>
            <p14:sldId id="1763"/>
            <p14:sldId id="2076139256"/>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2026-10-02</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12</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23</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25</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45</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46</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7.png"/><Relationship Id="rId3" Type="http://schemas.openxmlformats.org/officeDocument/2006/relationships/chart" Target="../charts/chart5.xml"/><Relationship Id="rId4" Type="http://schemas.openxmlformats.org/officeDocument/2006/relationships/image" Target="../media/image38.png"/><Relationship Id="rId5" Type="http://schemas.openxmlformats.org/officeDocument/2006/relationships/image" Target="../media/image39.jpeg"/><Relationship Id="rId6" Type="http://schemas.openxmlformats.org/officeDocument/2006/relationships/image" Target="../media/image40.jpeg"/><Relationship Id="rId7" Type="http://schemas.openxmlformats.org/officeDocument/2006/relationships/image" Target="../media/image41.jpeg"/><Relationship Id="rId8" Type="http://schemas.openxmlformats.org/officeDocument/2006/relationships/image" Target="../media/image4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microsoft.com/office/2007/relationships/hdphoto" Target="../media/hdphoto2.wdp"/><Relationship Id="rId4" Type="http://schemas.openxmlformats.org/officeDocument/2006/relationships/image" Target="../media/image44.png"/><Relationship Id="rId5"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5.jpe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7.xml"/><Relationship Id="rId3" Type="http://schemas.openxmlformats.org/officeDocument/2006/relationships/chart" Target="../charts/char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5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chart" Target="../charts/char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7211958" y="3240217"/>
            <a:ext cx="3246515" cy="1688924"/>
          </a:xfrm>
          <a:prstGeom prst="rect">
            <a:avLst/>
          </a:prstGeom>
          <a:noFill/>
        </p:spPr>
        <p:txBody>
          <a:bodyPr wrap="square" rtlCol="0" anchor="t"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 및 추진일정</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 체결의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 체결의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참여의향서 등</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당사 예상수익</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심의안건</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안건은 매매계약(10/15)·주주간계약(10/16) 체결 및 KLI 매입확약서 제출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납입(10/21) 후 10/22 자리츠 명의 소유권이전으로 거래종결 예정 (기준 일정)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건 및 추진일정</a:t>
              </a:r>
            </a:p>
          </p:txBody>
        </p:sp>
      </p:grpSp>
      <p:graphicFrame>
        <p:nvGraphicFramePr>
          <p:cNvPr id="11" name="표 10"/>
          <p:cNvGraphicFramePr>
            <a:graphicFrameLocks noGrp="1"/>
          </p:cNvGraphicFramePr>
          <p:nvPr>
            <p:extLst>
              <p:ext uri="{D42A27DB-BD31-4B8C-83A1-F6EECF244321}">
                <p14:modId xmlns:p14="http://schemas.microsoft.com/office/powerpoint/2010/main" val="4241037282"/>
              </p:ext>
            </p:extLst>
          </p:nvPr>
        </p:nvGraphicFramePr>
        <p:xfrm>
          <a:off x="509644" y="2357351"/>
          <a:ext cx="9756000" cy="1752600"/>
        </p:xfrm>
        <a:graphic>
          <a:graphicData uri="http://schemas.openxmlformats.org/drawingml/2006/table">
            <a:tbl>
              <a:tblPr>
                <a:tableStyleId>{5940675A-B579-460E-94D1-54222C63F5DA}</a:tableStyleId>
              </a:tblPr>
              <a:tblGrid>
                <a:gridCol w="1368000">
                  <a:extLst>
                    <a:ext uri="{9D8B030D-6E8A-4147-A177-3AD203B41FA5}">
                      <a16:colId xmlns:a16="http://schemas.microsoft.com/office/drawing/2014/main" val="20000"/>
                    </a:ext>
                  </a:extLst>
                </a:gridCol>
                <a:gridCol w="2136114">
                  <a:extLst>
                    <a:ext uri="{9D8B030D-6E8A-4147-A177-3AD203B41FA5}">
                      <a16:colId xmlns:a16="http://schemas.microsoft.com/office/drawing/2014/main" val="20001"/>
                    </a:ext>
                  </a:extLst>
                </a:gridCol>
                <a:gridCol w="6251886">
                  <a:extLst>
                    <a:ext uri="{9D8B030D-6E8A-4147-A177-3AD203B41FA5}">
                      <a16:colId xmlns:a16="http://schemas.microsoft.com/office/drawing/2014/main" val="4219783623"/>
                    </a:ext>
                  </a:extLst>
                </a:gridCol>
              </a:tblGrid>
              <a:tr h="237744">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안건명</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Ⅰ</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latinLnBrk="1">
                        <a:lnSpc>
                          <a:spcPct val="120000"/>
                        </a:lnSpc>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매매계약서의 체결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코크렙안양㈜와 매매대금 2,700억원(VAT 별도) 부동산매매계약 체결 (10/15 체결, 10/22 종결)</a:t>
                      </a:r>
                      <a:endParaRPr lang="en-US" altLang="ko-KR" sz="1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Ⅱ</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주주간계약서의 체결</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KLI·이지스·키움·애큐온·엠지·삼성증권·기계설비공제·코크렙안양 간 주주간계약 (총 988억원)</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안건 Ⅲ</a:t>
                      </a:r>
                      <a:endParaRPr lang="ko-KR" altLang="en-US" sz="11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KLI리츠 매입확약서(LOC) 날인</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tc>
                  <a:txBody>
                    <a:bodyPr/>
                    <a:lstStyle/>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240억원(24개월)·2종 340억원(12개월, KLI 보유분 제외) 매입확약서 제출 (10/16)</a:t>
                      </a:r>
                      <a:endParaRPr lang="en-US" altLang="ko-KR" sz="11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lumMod val="75000"/>
                          <a:lumOff val="25000"/>
                        </a:schemeClr>
                      </a:solidFill>
                      <a:prstDash val="solid"/>
                      <a:round/>
                      <a:headEnd type="none" w="med" len="med"/>
                      <a:tailEnd type="none" w="med" len="med"/>
                    </a:lnT>
                    <a:lnB w="635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6226292"/>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코람코라이프로지스리츠(자리츠) 2026. 9. 11. 자본금 3억원 발기설립 완료(KLI 100% 출자, SHA 전문 제1항)</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기준 일정(TIMELINE, 2026-10-01 변경) 기준이며 협의에 따라 변동될 수 있음.</a:t>
            </a:r>
          </a:p>
        </p:txBody>
      </p:sp>
      <p:grpSp>
        <p:nvGrpSpPr>
          <p:cNvPr id="10" name="그룹 9">
            <a:extLst>
              <a:ext uri="{FF2B5EF4-FFF2-40B4-BE49-F238E27FC236}">
                <a16:creationId xmlns:a16="http://schemas.microsoft.com/office/drawing/2014/main" id="{77549AD3-0377-6965-9436-13EB68A2675B}"/>
              </a:ext>
            </a:extLst>
          </p:cNvPr>
          <p:cNvGrpSpPr/>
          <p:nvPr/>
        </p:nvGrpSpPr>
        <p:grpSpPr>
          <a:xfrm>
            <a:off x="463705" y="4169801"/>
            <a:ext cx="9853614" cy="2526360"/>
            <a:chOff x="463705" y="4169801"/>
            <a:chExt cx="9853614" cy="2526360"/>
          </a:xfrm>
        </p:grpSpPr>
        <p:cxnSp>
          <p:nvCxnSpPr>
            <p:cNvPr id="12" name="꺾인 연결선 22">
              <a:extLst>
                <a:ext uri="{FF2B5EF4-FFF2-40B4-BE49-F238E27FC236}">
                  <a16:creationId xmlns:a16="http://schemas.microsoft.com/office/drawing/2014/main" id="{094B1665-3182-45E4-0988-628B26133A7E}"/>
                </a:ext>
              </a:extLst>
            </p:cNvPr>
            <p:cNvCxnSpPr>
              <a:cxnSpLocks/>
              <a:stCxn id="54" idx="0"/>
              <a:endCxn id="43" idx="0"/>
            </p:cNvCxnSpPr>
            <p:nvPr/>
          </p:nvCxnSpPr>
          <p:spPr>
            <a:xfrm rot="5400000" flipH="1" flipV="1">
              <a:off x="5225871" y="3778929"/>
              <a:ext cx="12700" cy="2414585"/>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98C849D-E104-930E-4FB7-6CD37025003F}"/>
                </a:ext>
              </a:extLst>
            </p:cNvPr>
            <p:cNvSpPr txBox="1"/>
            <p:nvPr/>
          </p:nvSpPr>
          <p:spPr>
            <a:xfrm>
              <a:off x="4789082" y="4680021"/>
              <a:ext cx="713905"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err="1">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실사기간</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4</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a:t>
              </a:r>
            </a:p>
          </p:txBody>
        </p:sp>
        <p:sp>
          <p:nvSpPr>
            <p:cNvPr id="14" name="직사각형 13">
              <a:extLst>
                <a:ext uri="{FF2B5EF4-FFF2-40B4-BE49-F238E27FC236}">
                  <a16:creationId xmlns:a16="http://schemas.microsoft.com/office/drawing/2014/main" id="{DADF8B2B-511F-21FB-37A4-6E4D743F13E8}"/>
                </a:ext>
              </a:extLst>
            </p:cNvPr>
            <p:cNvSpPr/>
            <p:nvPr/>
          </p:nvSpPr>
          <p:spPr>
            <a:xfrm>
              <a:off x="521371" y="4255705"/>
              <a:ext cx="9793286" cy="244045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nvGrpSpPr>
            <p:cNvPr id="15" name="그룹 14">
              <a:extLst>
                <a:ext uri="{FF2B5EF4-FFF2-40B4-BE49-F238E27FC236}">
                  <a16:creationId xmlns:a16="http://schemas.microsoft.com/office/drawing/2014/main" id="{15EAD150-186E-9B27-B6C5-44F5B681D7AD}"/>
                </a:ext>
              </a:extLst>
            </p:cNvPr>
            <p:cNvGrpSpPr/>
            <p:nvPr/>
          </p:nvGrpSpPr>
          <p:grpSpPr>
            <a:xfrm>
              <a:off x="611892" y="4169801"/>
              <a:ext cx="1939955" cy="246221"/>
              <a:chOff x="455544" y="-592941"/>
              <a:chExt cx="1939955" cy="246221"/>
            </a:xfrm>
          </p:grpSpPr>
          <p:sp>
            <p:nvSpPr>
              <p:cNvPr id="76" name="TextBox 75">
                <a:extLst>
                  <a:ext uri="{FF2B5EF4-FFF2-40B4-BE49-F238E27FC236}">
                    <a16:creationId xmlns:a16="http://schemas.microsoft.com/office/drawing/2014/main" id="{69CC0F0A-34FC-A163-3BF4-FEE9B1367F88}"/>
                  </a:ext>
                </a:extLst>
              </p:cNvPr>
              <p:cNvSpPr txBox="1"/>
              <p:nvPr/>
            </p:nvSpPr>
            <p:spPr>
              <a:xfrm>
                <a:off x="455544" y="-592941"/>
                <a:ext cx="1939955"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진행경과 및 향후 사업 예상일정</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직사각형 76">
                <a:extLst>
                  <a:ext uri="{FF2B5EF4-FFF2-40B4-BE49-F238E27FC236}">
                    <a16:creationId xmlns:a16="http://schemas.microsoft.com/office/drawing/2014/main" id="{26ECDAE6-289B-3109-0F0A-56BF4B24E83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7" name="오른쪽 화살표 16">
              <a:extLst>
                <a:ext uri="{FF2B5EF4-FFF2-40B4-BE49-F238E27FC236}">
                  <a16:creationId xmlns:a16="http://schemas.microsoft.com/office/drawing/2014/main" id="{25FAAE59-42FB-D5B9-CF9B-6590696DB342}"/>
                </a:ext>
              </a:extLst>
            </p:cNvPr>
            <p:cNvSpPr/>
            <p:nvPr/>
          </p:nvSpPr>
          <p:spPr>
            <a:xfrm>
              <a:off x="845406" y="5241095"/>
              <a:ext cx="9420238" cy="468154"/>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18" name="오른쪽 화살표 17">
              <a:extLst>
                <a:ext uri="{FF2B5EF4-FFF2-40B4-BE49-F238E27FC236}">
                  <a16:creationId xmlns:a16="http://schemas.microsoft.com/office/drawing/2014/main" id="{45219439-3C0D-C227-F006-94245E935050}"/>
                </a:ext>
              </a:extLst>
            </p:cNvPr>
            <p:cNvSpPr/>
            <p:nvPr/>
          </p:nvSpPr>
          <p:spPr>
            <a:xfrm>
              <a:off x="7172456" y="5241095"/>
              <a:ext cx="3093188" cy="468154"/>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2" name="TextBox 21">
              <a:extLst>
                <a:ext uri="{FF2B5EF4-FFF2-40B4-BE49-F238E27FC236}">
                  <a16:creationId xmlns:a16="http://schemas.microsoft.com/office/drawing/2014/main" id="{F6D779A8-1599-BEA3-91D0-9C16C55A8ECC}"/>
                </a:ext>
              </a:extLst>
            </p:cNvPr>
            <p:cNvSpPr txBox="1"/>
            <p:nvPr/>
          </p:nvSpPr>
          <p:spPr>
            <a:xfrm>
              <a:off x="2352916" y="4986221"/>
              <a:ext cx="822566" cy="230832"/>
            </a:xfrm>
            <a:prstGeom prst="rect">
              <a:avLst/>
            </a:prstGeom>
            <a:solidFill>
              <a:schemeClr val="bg1"/>
            </a:solid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23" name="타원 22">
              <a:extLst>
                <a:ext uri="{FF2B5EF4-FFF2-40B4-BE49-F238E27FC236}">
                  <a16:creationId xmlns:a16="http://schemas.microsoft.com/office/drawing/2014/main" id="{055EB3E6-6E38-B609-7FCA-77E279586017}"/>
                </a:ext>
              </a:extLst>
            </p:cNvPr>
            <p:cNvSpPr/>
            <p:nvPr/>
          </p:nvSpPr>
          <p:spPr>
            <a:xfrm>
              <a:off x="2641486"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24" name="TextBox 23">
              <a:extLst>
                <a:ext uri="{FF2B5EF4-FFF2-40B4-BE49-F238E27FC236}">
                  <a16:creationId xmlns:a16="http://schemas.microsoft.com/office/drawing/2014/main" id="{C0427DA7-C02D-8E0A-62B6-E191657E3DD6}"/>
                </a:ext>
              </a:extLst>
            </p:cNvPr>
            <p:cNvSpPr txBox="1"/>
            <p:nvPr/>
          </p:nvSpPr>
          <p:spPr>
            <a:xfrm>
              <a:off x="2245982" y="5738449"/>
              <a:ext cx="1400757" cy="415498"/>
            </a:xfrm>
            <a:prstGeom prst="rect">
              <a:avLst/>
            </a:prstGeom>
            <a:noFill/>
          </p:spPr>
          <p:txBody>
            <a:bodyPr wrap="square" lIns="0" tIns="0" rIns="0" bIns="0" rtlCol="0" anchor="ctr">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예비투자심의위원회</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양해각서 체결의 건</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실사기관 선정의 건</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TextBox 24">
              <a:extLst>
                <a:ext uri="{FF2B5EF4-FFF2-40B4-BE49-F238E27FC236}">
                  <a16:creationId xmlns:a16="http://schemas.microsoft.com/office/drawing/2014/main" id="{7F869C3E-42C0-7AAD-54C8-8B7B2E7DA623}"/>
                </a:ext>
              </a:extLst>
            </p:cNvPr>
            <p:cNvSpPr txBox="1"/>
            <p:nvPr/>
          </p:nvSpPr>
          <p:spPr>
            <a:xfrm>
              <a:off x="8858900"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ECBD500-988B-D35F-84E8-612136362DA2}"/>
                </a:ext>
              </a:extLst>
            </p:cNvPr>
            <p:cNvSpPr txBox="1"/>
            <p:nvPr/>
          </p:nvSpPr>
          <p:spPr>
            <a:xfrm>
              <a:off x="8825409"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31" name="타원 30">
              <a:extLst>
                <a:ext uri="{FF2B5EF4-FFF2-40B4-BE49-F238E27FC236}">
                  <a16:creationId xmlns:a16="http://schemas.microsoft.com/office/drawing/2014/main" id="{609DC4E0-2C89-97CC-9A83-7F5EC0B77845}"/>
                </a:ext>
              </a:extLst>
            </p:cNvPr>
            <p:cNvSpPr/>
            <p:nvPr/>
          </p:nvSpPr>
          <p:spPr>
            <a:xfrm>
              <a:off x="9054277"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2" name="TextBox 31">
              <a:extLst>
                <a:ext uri="{FF2B5EF4-FFF2-40B4-BE49-F238E27FC236}">
                  <a16:creationId xmlns:a16="http://schemas.microsoft.com/office/drawing/2014/main" id="{2C36E486-A1F4-E9F2-792D-CD94D626183D}"/>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입찰참여</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3" name="TextBox 32">
              <a:extLst>
                <a:ext uri="{FF2B5EF4-FFF2-40B4-BE49-F238E27FC236}">
                  <a16:creationId xmlns:a16="http://schemas.microsoft.com/office/drawing/2014/main" id="{57414923-0262-DDBF-4C75-07D88CA14633}"/>
                </a:ext>
              </a:extLst>
            </p:cNvPr>
            <p:cNvSpPr txBox="1"/>
            <p:nvPr/>
          </p:nvSpPr>
          <p:spPr>
            <a:xfrm>
              <a:off x="463705"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일</a:t>
              </a:r>
            </a:p>
          </p:txBody>
        </p:sp>
        <p:sp>
          <p:nvSpPr>
            <p:cNvPr id="34" name="타원 33">
              <a:extLst>
                <a:ext uri="{FF2B5EF4-FFF2-40B4-BE49-F238E27FC236}">
                  <a16:creationId xmlns:a16="http://schemas.microsoft.com/office/drawing/2014/main" id="{69F26CA5-3DF6-60F2-20B5-BAAE7DA43BF4}"/>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38" name="그룹 37">
              <a:extLst>
                <a:ext uri="{FF2B5EF4-FFF2-40B4-BE49-F238E27FC236}">
                  <a16:creationId xmlns:a16="http://schemas.microsoft.com/office/drawing/2014/main" id="{F2C1FA8E-A6A1-CBC2-629A-99309EFD5CB7}"/>
                </a:ext>
              </a:extLst>
            </p:cNvPr>
            <p:cNvGrpSpPr/>
            <p:nvPr/>
          </p:nvGrpSpPr>
          <p:grpSpPr>
            <a:xfrm>
              <a:off x="1183060" y="4992572"/>
              <a:ext cx="925254" cy="889018"/>
              <a:chOff x="1777019" y="4986221"/>
              <a:chExt cx="925254" cy="889018"/>
            </a:xfrm>
          </p:grpSpPr>
          <p:sp>
            <p:nvSpPr>
              <p:cNvPr id="70" name="TextBox 69">
                <a:extLst>
                  <a:ext uri="{FF2B5EF4-FFF2-40B4-BE49-F238E27FC236}">
                    <a16:creationId xmlns:a16="http://schemas.microsoft.com/office/drawing/2014/main" id="{583DCA4A-B410-6811-2C51-B72F8DF86F46}"/>
                  </a:ext>
                </a:extLst>
              </p:cNvPr>
              <p:cNvSpPr txBox="1"/>
              <p:nvPr/>
            </p:nvSpPr>
            <p:spPr>
              <a:xfrm>
                <a:off x="1777019" y="5736740"/>
                <a:ext cx="925254"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우선협상자 통지</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4" name="TextBox 73">
                <a:extLst>
                  <a:ext uri="{FF2B5EF4-FFF2-40B4-BE49-F238E27FC236}">
                    <a16:creationId xmlns:a16="http://schemas.microsoft.com/office/drawing/2014/main" id="{387F308D-A8EE-633E-D353-8CFF7680E6DC}"/>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18일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5" name="타원 74">
                <a:extLst>
                  <a:ext uri="{FF2B5EF4-FFF2-40B4-BE49-F238E27FC236}">
                    <a16:creationId xmlns:a16="http://schemas.microsoft.com/office/drawing/2014/main" id="{BBB06762-51BC-4F9E-245B-E94B091A52B6}"/>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39" name="TextBox 38">
              <a:extLst>
                <a:ext uri="{FF2B5EF4-FFF2-40B4-BE49-F238E27FC236}">
                  <a16:creationId xmlns:a16="http://schemas.microsoft.com/office/drawing/2014/main" id="{F169118A-E55C-0F41-C3D7-2EC417C17030}"/>
                </a:ext>
              </a:extLst>
            </p:cNvPr>
            <p:cNvSpPr txBox="1"/>
            <p:nvPr/>
          </p:nvSpPr>
          <p:spPr>
            <a:xfrm>
              <a:off x="609669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영업인가 접수</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 대출심의 완료</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253D9366-309D-D9B3-9064-97C0572C211B}"/>
                </a:ext>
              </a:extLst>
            </p:cNvPr>
            <p:cNvSpPr txBox="1"/>
            <p:nvPr/>
          </p:nvSpPr>
          <p:spPr>
            <a:xfrm>
              <a:off x="606320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23일</a:t>
              </a:r>
            </a:p>
          </p:txBody>
        </p:sp>
        <p:sp>
          <p:nvSpPr>
            <p:cNvPr id="44" name="타원 43">
              <a:extLst>
                <a:ext uri="{FF2B5EF4-FFF2-40B4-BE49-F238E27FC236}">
                  <a16:creationId xmlns:a16="http://schemas.microsoft.com/office/drawing/2014/main" id="{3A29D3C6-FE5F-04FD-0958-78733B7738BF}"/>
                </a:ext>
              </a:extLst>
            </p:cNvPr>
            <p:cNvSpPr/>
            <p:nvPr/>
          </p:nvSpPr>
          <p:spPr>
            <a:xfrm>
              <a:off x="629207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45" name="TextBox 44">
              <a:extLst>
                <a:ext uri="{FF2B5EF4-FFF2-40B4-BE49-F238E27FC236}">
                  <a16:creationId xmlns:a16="http://schemas.microsoft.com/office/drawing/2014/main" id="{C9CD8A7A-1975-2849-0C45-55D72578796E}"/>
                </a:ext>
              </a:extLst>
            </p:cNvPr>
            <p:cNvSpPr txBox="1"/>
            <p:nvPr/>
          </p:nvSpPr>
          <p:spPr>
            <a:xfrm>
              <a:off x="9610895" y="5743842"/>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독점적 협상기간</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만료일</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TextBox 46">
              <a:extLst>
                <a:ext uri="{FF2B5EF4-FFF2-40B4-BE49-F238E27FC236}">
                  <a16:creationId xmlns:a16="http://schemas.microsoft.com/office/drawing/2014/main" id="{BDD8FD02-1064-E96D-2E5E-5B26F8093DB5}"/>
                </a:ext>
              </a:extLst>
            </p:cNvPr>
            <p:cNvSpPr txBox="1"/>
            <p:nvPr/>
          </p:nvSpPr>
          <p:spPr>
            <a:xfrm>
              <a:off x="957740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28일</a:t>
              </a:r>
            </a:p>
          </p:txBody>
        </p:sp>
        <p:sp>
          <p:nvSpPr>
            <p:cNvPr id="48" name="타원 47">
              <a:extLst>
                <a:ext uri="{FF2B5EF4-FFF2-40B4-BE49-F238E27FC236}">
                  <a16:creationId xmlns:a16="http://schemas.microsoft.com/office/drawing/2014/main" id="{CFB480AE-3E31-4C9B-5EA9-5DA901429CCD}"/>
                </a:ext>
              </a:extLst>
            </p:cNvPr>
            <p:cNvSpPr/>
            <p:nvPr/>
          </p:nvSpPr>
          <p:spPr>
            <a:xfrm>
              <a:off x="980627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2" name="TextBox 51">
              <a:extLst>
                <a:ext uri="{FF2B5EF4-FFF2-40B4-BE49-F238E27FC236}">
                  <a16:creationId xmlns:a16="http://schemas.microsoft.com/office/drawing/2014/main" id="{3ED4ECA1-72C0-0BB3-FE27-FD120E45977B}"/>
                </a:ext>
              </a:extLst>
            </p:cNvPr>
            <p:cNvSpPr txBox="1"/>
            <p:nvPr/>
          </p:nvSpPr>
          <p:spPr>
            <a:xfrm>
              <a:off x="3685903" y="5765897"/>
              <a:ext cx="908761"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양해각서 체결</a:t>
              </a:r>
            </a:p>
          </p:txBody>
        </p:sp>
        <p:sp>
          <p:nvSpPr>
            <p:cNvPr id="54" name="TextBox 53">
              <a:extLst>
                <a:ext uri="{FF2B5EF4-FFF2-40B4-BE49-F238E27FC236}">
                  <a16:creationId xmlns:a16="http://schemas.microsoft.com/office/drawing/2014/main" id="{195F8413-BF0B-AB3C-3E18-A5B531D6D4AD}"/>
                </a:ext>
              </a:extLst>
            </p:cNvPr>
            <p:cNvSpPr txBox="1"/>
            <p:nvPr/>
          </p:nvSpPr>
          <p:spPr>
            <a:xfrm>
              <a:off x="364862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8월 27일</a:t>
              </a:r>
            </a:p>
          </p:txBody>
        </p:sp>
        <p:sp>
          <p:nvSpPr>
            <p:cNvPr id="55" name="타원 54">
              <a:extLst>
                <a:ext uri="{FF2B5EF4-FFF2-40B4-BE49-F238E27FC236}">
                  <a16:creationId xmlns:a16="http://schemas.microsoft.com/office/drawing/2014/main" id="{29DC4CD5-AA2B-CFF9-45AB-F8C65C503DD6}"/>
                </a:ext>
              </a:extLst>
            </p:cNvPr>
            <p:cNvSpPr/>
            <p:nvPr/>
          </p:nvSpPr>
          <p:spPr>
            <a:xfrm>
              <a:off x="387748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56" name="TextBox 55">
              <a:extLst>
                <a:ext uri="{FF2B5EF4-FFF2-40B4-BE49-F238E27FC236}">
                  <a16:creationId xmlns:a16="http://schemas.microsoft.com/office/drawing/2014/main" id="{DCB591A0-C278-D174-452A-A7B2C902B419}"/>
                </a:ext>
              </a:extLst>
            </p:cNvPr>
            <p:cNvSpPr txBox="1"/>
            <p:nvPr/>
          </p:nvSpPr>
          <p:spPr>
            <a:xfrm>
              <a:off x="6946251"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7일</a:t>
              </a:r>
            </a:p>
          </p:txBody>
        </p:sp>
        <p:sp>
          <p:nvSpPr>
            <p:cNvPr id="57" name="타원 56">
              <a:extLst>
                <a:ext uri="{FF2B5EF4-FFF2-40B4-BE49-F238E27FC236}">
                  <a16:creationId xmlns:a16="http://schemas.microsoft.com/office/drawing/2014/main" id="{8027483D-BD52-FD0C-31E8-428DA19CCD84}"/>
                </a:ext>
              </a:extLst>
            </p:cNvPr>
            <p:cNvSpPr/>
            <p:nvPr/>
          </p:nvSpPr>
          <p:spPr>
            <a:xfrm>
              <a:off x="7175119"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58" name="그룹 57">
              <a:extLst>
                <a:ext uri="{FF2B5EF4-FFF2-40B4-BE49-F238E27FC236}">
                  <a16:creationId xmlns:a16="http://schemas.microsoft.com/office/drawing/2014/main" id="{FD790222-F59E-C67D-F200-09BFB17C3F1E}"/>
                </a:ext>
              </a:extLst>
            </p:cNvPr>
            <p:cNvGrpSpPr/>
            <p:nvPr/>
          </p:nvGrpSpPr>
          <p:grpSpPr>
            <a:xfrm>
              <a:off x="6054076" y="4327490"/>
              <a:ext cx="1668094" cy="892507"/>
              <a:chOff x="147739" y="4679937"/>
              <a:chExt cx="1668094" cy="892507"/>
            </a:xfrm>
            <a:effectLst>
              <a:outerShdw blurRad="50800" dist="38100" dir="2700000" algn="tl" rotWithShape="0">
                <a:prstClr val="black">
                  <a:alpha val="40000"/>
                </a:prstClr>
              </a:outerShdw>
            </a:effectLst>
          </p:grpSpPr>
          <p:cxnSp>
            <p:nvCxnSpPr>
              <p:cNvPr id="66" name="직선 화살표 연결선 65">
                <a:extLst>
                  <a:ext uri="{FF2B5EF4-FFF2-40B4-BE49-F238E27FC236}">
                    <a16:creationId xmlns:a16="http://schemas.microsoft.com/office/drawing/2014/main" id="{647F42D3-EC90-2BD4-607C-1B477F9D93DC}"/>
                  </a:ext>
                </a:extLst>
              </p:cNvPr>
              <p:cNvCxnSpPr>
                <a:cxnSpLocks/>
              </p:cNvCxnSpPr>
              <p:nvPr/>
            </p:nvCxnSpPr>
            <p:spPr>
              <a:xfrm>
                <a:off x="1382831" y="4679937"/>
                <a:ext cx="0" cy="892507"/>
              </a:xfrm>
              <a:prstGeom prst="straightConnector1">
                <a:avLst/>
              </a:prstGeom>
              <a:ln>
                <a:solidFill>
                  <a:schemeClr val="tx1">
                    <a:lumMod val="50000"/>
                    <a:lumOff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67" name="직사각형 66">
                <a:extLst>
                  <a:ext uri="{FF2B5EF4-FFF2-40B4-BE49-F238E27FC236}">
                    <a16:creationId xmlns:a16="http://schemas.microsoft.com/office/drawing/2014/main" id="{3A0444D6-778D-129E-0237-A80EE78B36C1}"/>
                  </a:ext>
                </a:extLst>
              </p:cNvPr>
              <p:cNvSpPr/>
              <p:nvPr/>
            </p:nvSpPr>
            <p:spPr>
              <a:xfrm>
                <a:off x="147739" y="4679937"/>
                <a:ext cx="1668094" cy="296662"/>
              </a:xfrm>
              <a:prstGeom prst="rect">
                <a:avLst/>
              </a:prstGeom>
              <a:solidFill>
                <a:srgbClr val="74808A">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 투자심의위원회 [10/7]</a:t>
                </a:r>
              </a:p>
            </p:txBody>
          </p:sp>
        </p:grpSp>
        <p:sp>
          <p:nvSpPr>
            <p:cNvPr id="59" name="TextBox 58">
              <a:extLst>
                <a:ext uri="{FF2B5EF4-FFF2-40B4-BE49-F238E27FC236}">
                  <a16:creationId xmlns:a16="http://schemas.microsoft.com/office/drawing/2014/main" id="{FF2297D4-3FDA-73F2-939B-E78839674696}"/>
                </a:ext>
              </a:extLst>
            </p:cNvPr>
            <p:cNvSpPr txBox="1"/>
            <p:nvPr/>
          </p:nvSpPr>
          <p:spPr>
            <a:xfrm>
              <a:off x="7614158" y="5916735"/>
              <a:ext cx="1296144" cy="203362"/>
            </a:xfrm>
            <a:prstGeom prst="rect">
              <a:avLst/>
            </a:prstGeom>
            <a:noFill/>
          </p:spPr>
          <p:txBody>
            <a:bodyPr wrap="none" tIns="0" bIns="0" rtlCol="0" anchor="ctr">
              <a:noAutofit/>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영업인가 10/12</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매매계약 10/15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대출약정서 체결</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D1BB4421-561B-A352-DFE2-5188047AC0B5}"/>
                </a:ext>
              </a:extLst>
            </p:cNvPr>
            <p:cNvSpPr txBox="1"/>
            <p:nvPr/>
          </p:nvSpPr>
          <p:spPr>
            <a:xfrm>
              <a:off x="7758174"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10월 16일</a:t>
              </a:r>
            </a:p>
          </p:txBody>
        </p:sp>
        <p:sp>
          <p:nvSpPr>
            <p:cNvPr id="61" name="타원 60">
              <a:extLst>
                <a:ext uri="{FF2B5EF4-FFF2-40B4-BE49-F238E27FC236}">
                  <a16:creationId xmlns:a16="http://schemas.microsoft.com/office/drawing/2014/main" id="{B169D9B7-A960-60F7-D717-4BFE94834367}"/>
                </a:ext>
              </a:extLst>
            </p:cNvPr>
            <p:cNvSpPr/>
            <p:nvPr/>
          </p:nvSpPr>
          <p:spPr>
            <a:xfrm>
              <a:off x="7987042"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2" name="그룹 61">
              <a:extLst>
                <a:ext uri="{FF2B5EF4-FFF2-40B4-BE49-F238E27FC236}">
                  <a16:creationId xmlns:a16="http://schemas.microsoft.com/office/drawing/2014/main" id="{EE7D8E4F-BDB4-E68C-308A-3120A19B3993}"/>
                </a:ext>
              </a:extLst>
            </p:cNvPr>
            <p:cNvGrpSpPr/>
            <p:nvPr/>
          </p:nvGrpSpPr>
          <p:grpSpPr>
            <a:xfrm>
              <a:off x="4589822" y="4986221"/>
              <a:ext cx="739915" cy="983038"/>
              <a:chOff x="4705046" y="4986221"/>
              <a:chExt cx="739915" cy="983038"/>
            </a:xfrm>
          </p:grpSpPr>
          <p:sp>
            <p:nvSpPr>
              <p:cNvPr id="63" name="TextBox 62">
                <a:extLst>
                  <a:ext uri="{FF2B5EF4-FFF2-40B4-BE49-F238E27FC236}">
                    <a16:creationId xmlns:a16="http://schemas.microsoft.com/office/drawing/2014/main" id="{04528DFF-F5FA-91D1-E784-4909632777B4}"/>
                  </a:ext>
                </a:extLst>
              </p:cNvPr>
              <p:cNvSpPr txBox="1"/>
              <p:nvPr/>
            </p:nvSpPr>
            <p:spPr>
              <a:xfrm>
                <a:off x="4738537"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발기설립 완료</a:t>
                </a:r>
              </a:p>
            </p:txBody>
          </p:sp>
          <p:sp>
            <p:nvSpPr>
              <p:cNvPr id="64" name="TextBox 63">
                <a:extLst>
                  <a:ext uri="{FF2B5EF4-FFF2-40B4-BE49-F238E27FC236}">
                    <a16:creationId xmlns:a16="http://schemas.microsoft.com/office/drawing/2014/main" id="{AF9D4D3F-2DEF-D31C-1AAB-FB8A64F18F30}"/>
                  </a:ext>
                </a:extLst>
              </p:cNvPr>
              <p:cNvSpPr txBox="1"/>
              <p:nvPr/>
            </p:nvSpPr>
            <p:spPr>
              <a:xfrm>
                <a:off x="4705046"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9월 11일</a:t>
                </a:r>
              </a:p>
            </p:txBody>
          </p:sp>
          <p:sp>
            <p:nvSpPr>
              <p:cNvPr id="65" name="타원 64">
                <a:extLst>
                  <a:ext uri="{FF2B5EF4-FFF2-40B4-BE49-F238E27FC236}">
                    <a16:creationId xmlns:a16="http://schemas.microsoft.com/office/drawing/2014/main" id="{AD674DF7-017C-770D-A970-66DDAB988AAC}"/>
                  </a:ext>
                </a:extLst>
              </p:cNvPr>
              <p:cNvSpPr/>
              <p:nvPr/>
            </p:nvSpPr>
            <p:spPr>
              <a:xfrm>
                <a:off x="4933914"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 주요 조건</a:t>
              </a:r>
            </a:p>
          </p:txBody>
        </p:sp>
      </p:grpSp>
      <p:graphicFrame>
        <p:nvGraphicFramePr>
          <p:cNvPr id="8" name="표 7">
            <a:extLst>
              <a:ext uri="{FF2B5EF4-FFF2-40B4-BE49-F238E27FC236}">
                <a16:creationId xmlns:a16="http://schemas.microsoft.com/office/drawing/2014/main" id="{18FFC239-92F5-C10F-9B49-13C21052D9B1}"/>
              </a:ext>
            </a:extLst>
          </p:cNvPr>
          <p:cNvGraphicFramePr>
            <a:graphicFrameLocks noGrp="1"/>
          </p:cNvGraphicFramePr>
          <p:nvPr>
            <p:extLst>
              <p:ext uri="{D42A27DB-BD31-4B8C-83A1-F6EECF244321}">
                <p14:modId xmlns:p14="http://schemas.microsoft.com/office/powerpoint/2010/main" val="3888928633"/>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 예정일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 10월 15일(목) 체결 예정 / 거래종결 2026년 10월 22일(목) 예정</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계약서상 체결일·거래종결예정일은 [*] — 체결본에 기재 (전문, 제2.1조)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체결당사자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코크렙안양 주식회사(PFV, 한국투자부동산신탁에 담보신탁 중)</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주식회사 코람코라이프로지스위탁관리부동산투자회사 (전문)</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매매목적물</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 912-2·934·934-1 토지(창고용지) 및 지상 건물, 가설건축물 3동</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부속 동산·시설·설비 일체 (제1.1조, 별첨1)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면적개요</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대지 15,287.5㎡(4,624.47평) / 연면적 95,434.55㎡(28,868.95평)</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임대면적 69,058.12㎡(20,890.08평, IM) — 연면적은 일부멸실 등기 반영(별첨1)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매매대금</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 2,700억원 — 건물·동산 VAT 별도, 매수인 대리납부 (제1.2·1.4조, 별첨2)</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계약금 100억원 체결일 지급, 해약금 아님(민법 제565조 배제) (제1.3조(a))</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 방식</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거래종결일 현재 법률상·사실상 현황 그대로(as-is, where-is) 매수 (제1.1조)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담보책임 배제, 단 매도인 고의·중과실 정보 누락·확약 위반은 예외 (제4.3조)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거래종결시 지급금액</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매매대금 − 계약금 − 승계 임대차보증금 ± 정산금(세금·부담금·임대료 등)</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VAT 미포함(대리납부), 정산합의서 2영업일 전 체결·추가정산 없음 (제1.3·3.6조)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임대차 승계</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매수인이 임대차계약 전부 승계·보증금 반환의무 인수, 종결 전 사유는 매도인 책임</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승계동의서는 CP, 기타 임차인 미징구는 종결 영향 없음 (제5.1조(d), 6.1조(d))</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altLang="en-US" sz="1000" kern="1200" baseline="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매도인의 진술 및 보장</a:t>
                      </a:r>
                      <a:endPar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설립·권한·제3자 동의·상충 없음·완전한 소유권·소송 부존재·임대차·경계침범</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(제4.1조(a)~(h)) — (g)(h) 매도인 협의 중 / 종결일부터 2개월 유효 (제4.4조)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손해배상책임 한도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매매대금의 5%(135억원), 청구기한 종결일(종결 후 확약은 이행기일)부터 2개월</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고의·중과실 위반은 한도·기간 미적용 (제7.1조)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거래신고 / 준거법</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 후 30일과 종결일 중 먼저 오는 날 전 거래신고 / 기업결합 사후신고 30일</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(제5.1조(c)(e)) / 대한민국 법, 서울중앙지방법원 전속관할 (제9.7·9.8조)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(1/2)</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제1~9조·별첨1·2·6. [*] 항목은 협의 중이며, 연면적은 별첨1(일부멸실 등기 반영) 기준으로 IM·재무모델(95,474.59㎡)과 차이.</a:t>
            </a:r>
          </a:p>
        </p:txBody>
      </p: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조항 및 검토 의견</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제4~9조 (종전 2026-09-07 clean본 대비 계약금·CP·매도인 확약·고의·중과실 예외 추가). [*]는 협의 중.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 (2/2)</a:t>
            </a:r>
          </a:p>
        </p:txBody>
      </p:sp>
      <p:graphicFrame>
        <p:nvGraphicFramePr>
          <p:cNvPr id="15" name="신규표"/>
          <p:cNvGraphicFramePr>
            <a:graphicFrameLocks noGrp="1"/>
          </p:cNvGraphicFramePr>
          <p:nvPr>
            <p:extLst>
              <p:ext uri="{D42A27DB-BD31-4B8C-83A1-F6EECF244321}">
                <p14:modId xmlns:p14="http://schemas.microsoft.com/office/powerpoint/2010/main" val="827079413"/>
              </p:ext>
            </p:extLst>
          </p:nvPr>
        </p:nvGraphicFramePr>
        <p:xfrm>
          <a:off x="457200" y="1453896"/>
          <a:ext cx="9875520" cy="4754880"/>
        </p:xfrm>
        <a:graphic>
          <a:graphicData uri="http://schemas.openxmlformats.org/drawingml/2006/table">
            <a:tbl>
              <a:tblPr>
                <a:tableStyleId>{5940675A-B579-460E-94D1-54222C63F5DA}</a:tableStyleId>
              </a:tblPr>
              <a:tblGrid>
                <a:gridCol w="15544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조항</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제4조 진술 및 보장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설립·권한·제3자 동의·상충 없음·소유권·소송 부존재 + 임대차·경계침범 추가</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권한·동의·상충 없음·실사 완료(제공자료 범위), 담보책임 배제 (제4.1~4.3조)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(g)임대차·(h)경계침범은 MOU 범위 외로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수용 여부 미정</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제4.4조 존속기간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진술·보장은 거래종결일부터 2개월간 유효, 기간 내 서면청구 없으면 면책</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제2조 제2항에 따른 조건)</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종결 직후 2개월 내 점검 필요</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제5조 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승계, 거래신고, 기업결합 사후신고, 담보신탁 해지·대출 상환, 보증금 질권 교체</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하자보수청구권 양도, 현황측량·경계, 옥외광고 허가, 소음민원 조치 (제5.1·5.2조)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보증금 질권 교체용 예치금</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50.7억원 자금계획 필요</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제6조 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확약·의무 이행, 진술·보장의 진실성, 중대한 법규·행정·소송 부존재 (제6.1·6.2조)</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매수인 CP 추가: 쿠팡 승계동의서, 우선수익자 전원·수탁자 동의 (제6.1조(d))</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미충족 시 청구권 유보하고</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종결 가능 (제6.1조)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제7조 손해배상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매매대금 5%, 청구기한 2개월(종결 후 확약은 이행기일 기산), 서면·증빙 통지</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고의·중과실 예외, 간접손해 배제 조항 삭제, 지연손해금률 [*] (제7.1·7.2조)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 135억원 수준</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제8조 해제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서면합의 / 불가항력 30일 / 중요 위반 10영업일 미시정(대금 미지급 [*]영업일)</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도산 / CP 미충족 [*]일, 귀책 해제 시 위약금 [*]원·계약금 이자 가산 반환 (제8조)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위약금·기간 공란</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체결 전 합의 필요</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6400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제9조 일반조항</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양도 제한, 비밀유지(해제·종결 후 1년), 비용 각자 부담, 준거법·전속관할</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양해각서 이행보증금(10억원) 반환 관련 권리·의무 존속 (제9.1~9.8조)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제7~9조는 해제 후에도 존속</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(제9.9조)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(1/3)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 markup(2026-10-02) 변경 반영본 제1~7조·별첨1 / 매입·매도확약 공문(안). 대괄호([ ]) 항목은 협의 중. 매입·매도확약 불이행 조건은 확약서(안) 기준. 본 검토는 내부 검토이며 최종 법률자문은 외부 법무법인 확인이 필요함.</a:t>
            </a:r>
          </a:p>
        </p:txBody>
      </p:sp>
      <p:graphicFrame>
        <p:nvGraphicFramePr>
          <p:cNvPr id="19" name="표 18">
            <a:extLst>
              <a:ext uri="{FF2B5EF4-FFF2-40B4-BE49-F238E27FC236}">
                <a16:creationId xmlns:a16="http://schemas.microsoft.com/office/drawing/2014/main" id="{54893D53-3022-7B3F-B64E-7CF51130B054}"/>
              </a:ext>
            </a:extLst>
          </p:cNvPr>
          <p:cNvGraphicFramePr>
            <a:graphicFrameLocks noGrp="1"/>
          </p:cNvGraphicFramePr>
          <p:nvPr/>
        </p:nvGraphicFramePr>
        <p:xfrm>
          <a:off x="521371" y="1450179"/>
          <a:ext cx="9756000" cy="4928235"/>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당사자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KLI(보통주·2-1종), 이지스리츠3호·키움캐피탈·애큐온캐피탈·엠지캐피탈(1-1종)</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삼성증권(2-1종), 이지스K리츠·기계설비건설공제조합(2-2종), 코크렙안양(3종) (별첨1)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출자 구조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988억: 보통주 148억, 1-1종 240억, 2종 500억(KLI 160억), 3종 100억</a:t>
                      </a:r>
                    </a:p>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발행가 보통주 5,000원·1·2종 25,000원·3종 23,000원(434,783주) (제2.1조)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거래종결 2영업일 전 이사회가 정한 납입예정일(기준 10/21) 15:00까지 납입 (제2.2조)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매매대금채권 100억원과 상계 납입, 회사 동의(상법 제421조 제2항) (제2.2조)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발기주식 감자·인수기관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납입 전 KLI 1인 주주로 발기주식 300,000주(3억원) 100% 유상감자 결의 (제2.3조)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미납입분은 우리투자증권(1종)·삼성증권(2종)이 인수계약에 따라 인수 가능 (제2.5조)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배당·이해상충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7.0%·2종 7.5% 누적, 보통주 초기 1년 7.5% 배당 협조(재원 없으면 의무 없음)</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코람코자산신탁의 KLL·KLI·코크렙안양 AMC 겸임 이해상충 고지·확인 (제1.3·1.4조)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24개월 응당일까지 1종 전부(960,000주, 240억원) 발행가액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매입완료일에 누적배당률 기준 미수령 배당 정산 (제3.1·3.4조), 미이행 시 연 5.0%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제2종 매입확약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KLI가 발행일부터 12개월 응당일까지 2종 전부(KLI 보유분 제외, 340억원) 매입</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미수령 배당 정산 (제4.1·4.4조), 미이행 시 연 3.0% 지연이자+미매입잔액 20% 위약벌</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매도확약</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인수인은 체결일, 셀다운 양수인은 양도 완결 전 KLI 앞 매도확약서 제출 (제3.5·4.5조)</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요청일부터 [10]일 내 동일 조건 매도, 미이행 시 1종 5.0% / 2종 3.0%+20%</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제3종 유상감자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24개월(법정절차 지연 시 +[2]개월 '감자약정기한') 내 발행가액 감자 (제5.1조)</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회사는 리파이낸싱 등 감자재원 조달 최선의 노력, 금원 지급 약정은 아님 (제5.2·5.5조)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3종 미감자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감자약정기한 후 12개월 연 6%, 이후 12개월 연 8% 누적우선배당(정관 개정) (제5.3조)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 감자약정기한(+24개월) 도과 시 3종 주주 부동산 매각절차 개시 요청 (제5.4조)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지배구조·양도 제한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 3인 중 2인·대표이사 KLI 지명, 감사 주총 선임(제6조) / 양도 전원 동의(제7.1조)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셀다운: 매도확약서·확약서 제출 + KLI 사전동의(우리투자·삼성 최초 셀다운 면제) (제7.6조)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100A-FB3E-D4B3-20E7-80442E7D8A8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A35C62EE-9A4D-8C38-47DE-D94000BFF661}"/>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947B2283-F5D0-F0FB-FD62-E97869B0667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94449513-AD42-88F0-BED2-CC595F51BC4F}"/>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89B17899-ACE4-E7E7-726C-7D98BFA2C3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892580FB-25B0-8629-4189-CCD491FC211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7F3EF50C-85CE-6902-A95E-268B6174E190}"/>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 구성 및 배당 구조</a:t>
              </a:r>
            </a:p>
          </p:txBody>
        </p:sp>
      </p:grpSp>
      <p:sp>
        <p:nvSpPr>
          <p:cNvPr id="9" name="TextBox 8">
            <a:extLst>
              <a:ext uri="{FF2B5EF4-FFF2-40B4-BE49-F238E27FC236}">
                <a16:creationId xmlns:a16="http://schemas.microsoft.com/office/drawing/2014/main" id="{8674A07F-0B60-F9DD-6E06-5789B7531E4F}"/>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(2/3)</a:t>
            </a:r>
          </a:p>
        </p:txBody>
      </p:sp>
      <p:sp>
        <p:nvSpPr>
          <p:cNvPr id="16" name="직사각형 15">
            <a:extLst>
              <a:ext uri="{FF2B5EF4-FFF2-40B4-BE49-F238E27FC236}">
                <a16:creationId xmlns:a16="http://schemas.microsoft.com/office/drawing/2014/main" id="{C3FF81C5-3EF1-AA2E-D23E-EBD4A00E899F}"/>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 markup(2026-10-02) 제2.1조·제2.4조 표(본건 유상감자 완료 직후 기준). 3종 출자금액은 23,000원×434,783주=10,000,009,000원(합계 98,800,009,000원)으로 주식수·금액 중 기준 항목을 BKL이 확인 요청 중이며, 대괄호 수치는 협의 중.</a:t>
            </a:r>
          </a:p>
        </p:txBody>
      </p:sp>
      <p:graphicFrame>
        <p:nvGraphicFramePr>
          <p:cNvPr id="19" name="Table 13">
            <a:extLst>
              <a:ext uri="{FF2B5EF4-FFF2-40B4-BE49-F238E27FC236}">
                <a16:creationId xmlns:a16="http://schemas.microsoft.com/office/drawing/2014/main" id="{C6B12F1B-70F0-86AB-0625-F6BE7C6FE316}"/>
              </a:ext>
            </a:extLst>
          </p:cNvPr>
          <p:cNvGraphicFramePr>
            <a:graphicFrameLocks noGrp="1"/>
          </p:cNvGraphicFramePr>
          <p:nvPr>
            <p:extLst>
              <p:ext uri="{D42A27DB-BD31-4B8C-83A1-F6EECF244321}">
                <p14:modId xmlns:p14="http://schemas.microsoft.com/office/powerpoint/2010/main" val="4290186501"/>
              </p:ext>
            </p:extLst>
          </p:nvPr>
        </p:nvGraphicFramePr>
        <p:xfrm>
          <a:off x="521371" y="1450178"/>
          <a:ext cx="9756000" cy="5029104"/>
        </p:xfrm>
        <a:graphic>
          <a:graphicData uri="http://schemas.openxmlformats.org/drawingml/2006/table">
            <a:tbl>
              <a:tblPr>
                <a:tableStyleId>{5940675A-B579-460E-94D1-54222C63F5DA}</a:tableStyleId>
              </a:tblPr>
              <a:tblGrid>
                <a:gridCol w="1350000">
                  <a:extLst>
                    <a:ext uri="{9D8B030D-6E8A-4147-A177-3AD203B41FA5}">
                      <a16:colId xmlns:a16="http://schemas.microsoft.com/office/drawing/2014/main" val="20000"/>
                    </a:ext>
                  </a:extLst>
                </a:gridCol>
                <a:gridCol w="2050000">
                  <a:extLst>
                    <a:ext uri="{9D8B030D-6E8A-4147-A177-3AD203B41FA5}">
                      <a16:colId xmlns:a16="http://schemas.microsoft.com/office/drawing/2014/main" val="20001"/>
                    </a:ext>
                  </a:extLst>
                </a:gridCol>
                <a:gridCol w="620000">
                  <a:extLst>
                    <a:ext uri="{9D8B030D-6E8A-4147-A177-3AD203B41FA5}">
                      <a16:colId xmlns:a16="http://schemas.microsoft.com/office/drawing/2014/main" val="20002"/>
                    </a:ext>
                  </a:extLst>
                </a:gridCol>
                <a:gridCol w="1000000">
                  <a:extLst>
                    <a:ext uri="{9D8B030D-6E8A-4147-A177-3AD203B41FA5}">
                      <a16:colId xmlns:a16="http://schemas.microsoft.com/office/drawing/2014/main" val="20003"/>
                    </a:ext>
                  </a:extLst>
                </a:gridCol>
                <a:gridCol w="880000">
                  <a:extLst>
                    <a:ext uri="{9D8B030D-6E8A-4147-A177-3AD203B41FA5}">
                      <a16:colId xmlns:a16="http://schemas.microsoft.com/office/drawing/2014/main" val="20004"/>
                    </a:ext>
                  </a:extLst>
                </a:gridCol>
                <a:gridCol w="1050000">
                  <a:extLst>
                    <a:ext uri="{9D8B030D-6E8A-4147-A177-3AD203B41FA5}">
                      <a16:colId xmlns:a16="http://schemas.microsoft.com/office/drawing/2014/main" val="20005"/>
                    </a:ext>
                  </a:extLst>
                </a:gridCol>
                <a:gridCol w="800000">
                  <a:extLst>
                    <a:ext uri="{9D8B030D-6E8A-4147-A177-3AD203B41FA5}">
                      <a16:colId xmlns:a16="http://schemas.microsoft.com/office/drawing/2014/main" val="20006"/>
                    </a:ext>
                  </a:extLst>
                </a:gridCol>
                <a:gridCol w="1156000">
                  <a:extLst>
                    <a:ext uri="{9D8B030D-6E8A-4147-A177-3AD203B41FA5}">
                      <a16:colId xmlns:a16="http://schemas.microsoft.com/office/drawing/2014/main" val="20007"/>
                    </a:ext>
                  </a:extLst>
                </a:gridCol>
                <a:gridCol w="850000">
                  <a:extLst>
                    <a:ext uri="{9D8B030D-6E8A-4147-A177-3AD203B41FA5}">
                      <a16:colId xmlns:a16="http://schemas.microsoft.com/office/drawing/2014/main" val="20008"/>
                    </a:ext>
                  </a:extLst>
                </a:gridCol>
              </a:tblGrid>
              <a:tr h="419092">
                <a:tc>
                  <a:txBody>
                    <a:bodyPr/>
                    <a:lstStyle/>
                    <a:p>
                      <a:pPr algn="ctr"/>
                      <a:r>
                        <a:rPr sz="1000" dirty="0" err="1">
                          <a:solidFill>
                            <a:srgbClr val="000000"/>
                          </a:solidFill>
                          <a:latin typeface="KoPubWorld돋움체 Bold"/>
                          <a:ea typeface="KoPubWorld돋움체 Bold"/>
                          <a:cs typeface="KoPubWorld돋움체 Bold"/>
                        </a:rPr>
                        <a:t>종류</a:t>
                      </a:r>
                      <a:endParaRPr sz="10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주주명</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의결권</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투자금(백만원)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발행가(원)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주식수(주)</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지분율</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주식수</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err="1">
                          <a:solidFill>
                            <a:srgbClr val="000000"/>
                          </a:solidFill>
                          <a:latin typeface="KoPubWorld돋움체 Bold"/>
                          <a:ea typeface="KoPubWorld돋움체 Bold"/>
                          <a:cs typeface="KoPubWorld돋움체 Bold"/>
                        </a:rPr>
                        <a:t>의결권</a:t>
                      </a:r>
                      <a:r>
                        <a:rPr sz="1000" dirty="0">
                          <a:solidFill>
                            <a:srgbClr val="000000"/>
                          </a:solidFill>
                          <a:latin typeface="KoPubWorld돋움체 Bold"/>
                          <a:ea typeface="KoPubWorld돋움체 Bold"/>
                          <a:cs typeface="KoPubWorld돋움체 Bold"/>
                        </a:rPr>
                        <a:t> </a:t>
                      </a:r>
                      <a:r>
                        <a:rPr sz="1000" dirty="0" err="1">
                          <a:solidFill>
                            <a:srgbClr val="000000"/>
                          </a:solidFill>
                          <a:latin typeface="KoPubWorld돋움체 Bold"/>
                          <a:ea typeface="KoPubWorld돋움체 Bold"/>
                          <a:cs typeface="KoPubWorld돋움체 Bold"/>
                        </a:rPr>
                        <a:t>지분율</a:t>
                      </a:r>
                      <a:endParaRPr sz="1000" dirty="0">
                        <a:solidFill>
                          <a:srgbClr val="000000"/>
                        </a:solidFill>
                        <a:latin typeface="KoPubWorld돋움체 Bold"/>
                        <a:ea typeface="KoPubWorld돋움체 Bold"/>
                        <a:cs typeface="KoPubWorld돋움체 Bold"/>
                      </a:endParaRP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419092">
                <a:tc rowSpan="4">
                  <a:txBody>
                    <a:bodyPr/>
                    <a:lstStyle/>
                    <a:p>
                      <a:pPr algn="ctr"/>
                      <a:r>
                        <a:rPr sz="1000" dirty="0">
                          <a:solidFill>
                            <a:srgbClr val="000000"/>
                          </a:solidFill>
                          <a:latin typeface="KoPubWorld돋움체 Medium"/>
                          <a:ea typeface="KoPubWorld돋움체 Medium"/>
                          <a:cs typeface="KoPubWorld돋움체 Medium"/>
                        </a:rPr>
                        <a:t>제1-1종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이지스리츠3호펀드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1"/>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키움캐피탈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2"/>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애큐온캐피탈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3"/>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엠지캐피탈</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120,000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2.4%</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4"/>
                  </a:ext>
                </a:extLst>
              </a:tr>
              <a:tr h="419092">
                <a:tc rowSpan="2">
                  <a:txBody>
                    <a:bodyPr/>
                    <a:lstStyle/>
                    <a:p>
                      <a:pPr algn="ctr"/>
                      <a:r>
                        <a:rPr sz="1000" dirty="0">
                          <a:solidFill>
                            <a:srgbClr val="000000"/>
                          </a:solidFill>
                          <a:latin typeface="KoPubWorld돋움체 Medium"/>
                          <a:ea typeface="KoPubWorld돋움체 Medium"/>
                          <a:cs typeface="KoPubWorld돋움체 Medium"/>
                        </a:rPr>
                        <a:t>제2-1종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16,000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10.1%</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640,000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12.7%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5"/>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삼성증권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6"/>
                  </a:ext>
                </a:extLst>
              </a:tr>
              <a:tr h="419092">
                <a:tc rowSpan="2">
                  <a:txBody>
                    <a:bodyPr/>
                    <a:lstStyle/>
                    <a:p>
                      <a:pPr algn="ctr"/>
                      <a:r>
                        <a:rPr sz="1000" dirty="0">
                          <a:solidFill>
                            <a:srgbClr val="000000"/>
                          </a:solidFill>
                          <a:latin typeface="KoPubWorld돋움체 Medium"/>
                          <a:ea typeface="KoPubWorld돋움체 Medium"/>
                          <a:cs typeface="KoPubWorld돋움체 Medium"/>
                        </a:rPr>
                        <a:t>제2-2종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이지스K리츠펀드</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400,000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6.3%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7"/>
                  </a:ext>
                </a:extLst>
              </a:tr>
              <a:tr h="419092">
                <a:tc vMerge="1">
                  <a:txBody>
                    <a:bodyPr/>
                    <a:lstStyle/>
                    <a:p>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기계설비건설공제조합</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8"/>
                  </a:ext>
                </a:extLst>
              </a:tr>
              <a:tr h="419092">
                <a:tc>
                  <a:txBody>
                    <a:bodyPr/>
                    <a:lstStyle/>
                    <a:p>
                      <a:pPr algn="ctr"/>
                      <a:r>
                        <a:rPr sz="1000" dirty="0">
                          <a:solidFill>
                            <a:srgbClr val="000000"/>
                          </a:solidFill>
                          <a:latin typeface="KoPubWorld돋움체 Medium"/>
                          <a:ea typeface="KoPubWorld돋움체 Medium"/>
                          <a:cs typeface="KoPubWorld돋움체 Medium"/>
                        </a:rPr>
                        <a:t>제3종 </a:t>
                      </a:r>
                      <a:r>
                        <a:rPr sz="1000" dirty="0" err="1">
                          <a:solidFill>
                            <a:srgbClr val="000000"/>
                          </a:solidFill>
                          <a:latin typeface="KoPubWorld돋움체 Medium"/>
                          <a:ea typeface="KoPubWorld돋움체 Medium"/>
                          <a:cs typeface="KoPubWorld돋움체 Medium"/>
                        </a:rPr>
                        <a:t>종류주식</a:t>
                      </a:r>
                      <a:endParaRPr sz="1000" dirty="0">
                        <a:solidFill>
                          <a:srgbClr val="000000"/>
                        </a:solidFill>
                        <a:latin typeface="KoPubWorld돋움체 Medium"/>
                        <a:ea typeface="KoPubWorld돋움체 Medium"/>
                        <a:cs typeface="KoPubWorld돋움체 Medium"/>
                      </a:endParaRPr>
                    </a:p>
                    <a:p>
                      <a:pPr algn="ctr"/>
                      <a:r>
                        <a:rPr sz="1000" dirty="0">
                          <a:solidFill>
                            <a:srgbClr val="000000"/>
                          </a:solidFill>
                          <a:latin typeface="KoPubWorld돋움체 Medium"/>
                          <a:ea typeface="KoPubWorld돋움체 Medium"/>
                          <a:cs typeface="KoPubWorld돋움체 Medium"/>
                        </a:rPr>
                        <a:t>(</a:t>
                      </a:r>
                      <a:r>
                        <a:rPr sz="1000" dirty="0" err="1">
                          <a:solidFill>
                            <a:srgbClr val="000000"/>
                          </a:solidFill>
                          <a:latin typeface="KoPubWorld돋움체 Medium"/>
                          <a:ea typeface="KoPubWorld돋움체 Medium"/>
                          <a:cs typeface="KoPubWorld돋움체 Medium"/>
                        </a:rPr>
                        <a:t>무의결</a:t>
                      </a:r>
                      <a:r>
                        <a:rPr sz="1000" dirty="0">
                          <a:solidFill>
                            <a:srgbClr val="000000"/>
                          </a:solidFill>
                          <a:latin typeface="KoPubWorld돋움체 Medium"/>
                          <a:ea typeface="KoPubWorld돋움체 Medium"/>
                          <a:cs typeface="KoPubWorld돋움체 Medium"/>
                        </a:rPr>
                        <a:t>)</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코크렙안양(매도인)</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23,000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434,783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6.8%</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09"/>
                  </a:ext>
                </a:extLst>
              </a:tr>
              <a:tr h="419092">
                <a:tc>
                  <a:txBody>
                    <a:bodyPr/>
                    <a:lstStyle/>
                    <a:p>
                      <a:pPr algn="ctr"/>
                      <a:r>
                        <a:rPr sz="1000" dirty="0" err="1">
                          <a:solidFill>
                            <a:srgbClr val="000000"/>
                          </a:solidFill>
                          <a:latin typeface="KoPubWorld돋움체 Medium"/>
                          <a:ea typeface="KoPubWorld돋움체 Medium"/>
                          <a:cs typeface="KoPubWorld돋움체 Medium"/>
                        </a:rPr>
                        <a:t>보통주식</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Medium"/>
                          <a:ea typeface="KoPubWorld돋움체 Medium"/>
                          <a:cs typeface="KoPubWorld돋움체 Medium"/>
                        </a:rPr>
                        <a:t>코람코라이프인프라리츠</a:t>
                      </a:r>
                      <a:endParaRPr sz="1000" dirty="0">
                        <a:solidFill>
                          <a:srgbClr val="000000"/>
                        </a:solidFill>
                        <a:latin typeface="KoPubWorld돋움체 Medium"/>
                        <a:ea typeface="KoPubWorld돋움체 Medium"/>
                        <a:cs typeface="KoPubWorld돋움체 Medium"/>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O</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14,800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46.6%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2,960,000</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58.7%</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010"/>
                  </a:ext>
                </a:extLst>
              </a:tr>
              <a:tr h="419092">
                <a:tc gridSpan="3">
                  <a:txBody>
                    <a:bodyPr/>
                    <a:lstStyle/>
                    <a:p>
                      <a:pPr algn="ctr"/>
                      <a:r>
                        <a:rPr sz="1000" dirty="0" err="1">
                          <a:solidFill>
                            <a:srgbClr val="000000"/>
                          </a:solidFill>
                          <a:latin typeface="KoPubWorld돋움체 Bold"/>
                          <a:ea typeface="KoPubWorld돋움체 Bold"/>
                          <a:cs typeface="KoPubWorld돋움체 Bold"/>
                        </a:rPr>
                        <a:t>합계</a:t>
                      </a:r>
                      <a:endParaRPr sz="1000" dirty="0">
                        <a:solidFill>
                          <a:srgbClr val="000000"/>
                        </a:solidFill>
                        <a:latin typeface="KoPubWorld돋움체 Bold"/>
                        <a:ea typeface="KoPubWorld돋움체 Bold"/>
                        <a:cs typeface="KoPubWorld돋움체 Bold"/>
                      </a:endParaRPr>
                    </a:p>
                  </a:txBody>
                  <a:tcPr marL="0" marR="0" marT="0"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hMerge="1">
                  <a:txBody>
                    <a:bodyPr/>
                    <a:lstStyle/>
                    <a:p>
                      <a:pPr algn="l"/>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Medium"/>
                          <a:ea typeface="KoPubWorld돋움체 Medium"/>
                          <a:cs typeface="KoPubWorld돋움체 Medium"/>
                        </a:rPr>
                        <a:t>98,800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endParaRPr dirty="0"/>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6,354,783</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5,040,000</a:t>
                      </a:r>
                    </a:p>
                  </a:txBody>
                  <a:tcPr marL="0" marR="0" marT="0"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100.0%</a:t>
                      </a:r>
                    </a:p>
                  </a:txBody>
                  <a:tcPr marL="0" marR="0" marT="0"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round/>
                      <a:headEnd type="none" w="med" len="med"/>
                      <a:tailEnd type="none" w="med" len="med"/>
                    </a:lnT>
                    <a:lnB w="3175" cap="flat" cmpd="sng" algn="ctr">
                      <a:solidFill>
                        <a:srgbClr val="BFBFB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1"/>
                  </a:ext>
                </a:extLst>
              </a:tr>
            </a:tbl>
          </a:graphicData>
        </a:graphic>
      </p:graphicFrame>
      <p:sp>
        <p:nvSpPr>
          <p:cNvPr id="9004" name="단위 19">
            <a:extLst>
              <a:ext uri="{FF2B5EF4-FFF2-40B4-BE49-F238E27FC236}">
                <a16:creationId xmlns:a16="http://schemas.microsoft.com/office/drawing/2014/main" id="{FEC03FB0-4CA8-874F-1FCC-130BA63F11D9}"/>
              </a:ext>
            </a:extLst>
          </p:cNvPr>
          <p:cNvSpPr txBox="1"/>
          <p:nvPr/>
        </p:nvSpPr>
        <p:spPr>
          <a:xfrm>
            <a:off x="7677371" y="120395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 원, 주,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431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조건 (정관)</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 (3/3)</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KLL리츠 정관 v8(25359401.v8, clean) / 주주간계약서 BKL v30 markup(2026-10-02) 제1.3·5.3·5.5조. 3종 가산배당 관련 정관 개정은 늦어도 감자약정기한 1개월 전까지 진행 예정(SHA 제5.5조). 본 검토는 내부 검토이며 최종 법률자문은 외부 법무법인 확인이 필요함.</a:t>
            </a:r>
          </a:p>
        </p:txBody>
      </p:sp>
      <p:graphicFrame>
        <p:nvGraphicFramePr>
          <p:cNvPr id="10" name="표 9">
            <a:extLst>
              <a:ext uri="{FF2B5EF4-FFF2-40B4-BE49-F238E27FC236}">
                <a16:creationId xmlns:a16="http://schemas.microsoft.com/office/drawing/2014/main" id="{97FF1ADB-09A7-9E40-2DBC-31528FF2A232}"/>
              </a:ext>
            </a:extLst>
          </p:cNvPr>
          <p:cNvGraphicFramePr>
            <a:graphicFrameLocks noGrp="1"/>
          </p:cNvGraphicFramePr>
          <p:nvPr>
            <p:extLst>
              <p:ext uri="{D42A27DB-BD31-4B8C-83A1-F6EECF244321}">
                <p14:modId xmlns:p14="http://schemas.microsoft.com/office/powerpoint/2010/main" val="4038335037"/>
              </p:ext>
            </p:extLst>
          </p:nvPr>
        </p:nvGraphicFramePr>
        <p:xfrm>
          <a:off x="521371" y="1450179"/>
          <a:ext cx="9756000" cy="4901184"/>
        </p:xfrm>
        <a:graphic>
          <a:graphicData uri="http://schemas.openxmlformats.org/drawingml/2006/table">
            <a:tbl>
              <a:tblPr>
                <a:tableStyleId>{5940675A-B579-460E-94D1-54222C63F5DA}</a:tableStyleId>
              </a:tblPr>
              <a:tblGrid>
                <a:gridCol w="1404000">
                  <a:extLst>
                    <a:ext uri="{9D8B030D-6E8A-4147-A177-3AD203B41FA5}">
                      <a16:colId xmlns:a16="http://schemas.microsoft.com/office/drawing/2014/main" val="20000"/>
                    </a:ext>
                  </a:extLst>
                </a:gridCol>
                <a:gridCol w="8352000">
                  <a:extLst>
                    <a:ext uri="{9D8B030D-6E8A-4147-A177-3AD203B41FA5}">
                      <a16:colId xmlns:a16="http://schemas.microsoft.com/office/drawing/2014/main" val="20001"/>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상호·목적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코람코라이프로지스위탁관리부동산투자회사(KLL REIT)</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취득·관리·임대·처분 등 부투법상 자산 투자·운용 (제1·2조)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9077142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존립기간·상장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 (제5조) / 상장요건 충족 시 지체 없이 상장 (제13조)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978887"/>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발행주식</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액면가 1,000원, 발행예정주식 10억주 (제7·8조)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 제1-1·1-2·2-1·2-2·3종 종류주식 (종류별 5천만주 한도, 제10·11조①)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의결권</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보통주·제1-1종·제2-1종 의결권 있음 / 제1-2종·제2-2종·제3종 무의결권 (제11조⑤)</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무의결권 합계 발행주식총수 1/4 이내(제11조①) — 본건 1,314,783주(20.7%)</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8029674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연 7.0%·2종 연 7.5% 누적배당(발행가액), 보통주 최초 1년 7.5% (제11조②)</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 누적배당 없음 — 미감자 시 연 6%→8% 누적우선배당 (SHA 제5.5조에 따라 개정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50743684"/>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평상시 배당순서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1종 누적미배당 → ② 1종 당기 → ③ 2종 누적미배당 → ④ 2종 당기</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⑤⑥ 보통주 초기배당(미배당분 포함) → ⑦ 잔여 이익 보통주 (제11조②)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742528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매각 결산기 배당</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제2항 ①~⑥ 배당 → 1종 원본 → 2종 원본 → 3종 원본 → 보통주 원본 (제11조③)</a:t>
                      </a:r>
                    </a:p>
                    <a:p>
                      <a:pPr marL="171450" marR="0" lvl="0" indent="-171450" algn="l" defTabSz="1007943" rtl="0" eaLnBrk="1" fontAlgn="ctr"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 20% 제2종·80% 보통주 / 3종 가산배당 순위는 개정 시 1·2종 원본 뒤 배치 필요</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52610538"/>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청산 시 분배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해산 결산기 미배당액 → 1종 원본 → 2종 원본 → 3종 원본 → 보통주 원본</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잔여재산 20% 제2종, 80% 보통주 (제11조④)</a:t>
                      </a:r>
                    </a:p>
                  </a:txBody>
                  <a:tcPr marL="72000" marR="9525" marT="36000" marB="3600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9736213"/>
                  </a:ext>
                </a:extLst>
              </a:tr>
              <a:tr h="420624">
                <a:tc>
                  <a:txBody>
                    <a:bodyPr/>
                    <a:lstStyle/>
                    <a:p>
                      <a:pPr algn="ctr" fontAlgn="ctr">
                        <a:lnSpc>
                          <a:spcPct val="100000"/>
                        </a:lnSpc>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신주발행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이사회 결의로 발행, 영업인가 전 제3자 배정 불가</a:t>
                      </a:r>
                    </a:p>
                    <a:p>
                      <a:pPr marL="171450" marR="0" lvl="0" indent="-171450" algn="l" defTabSz="1007943"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인가 후 3년 내 신주발행계획·매매대금 지급 목적 등은 제3자 배정 허용 (제14조)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65621151"/>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주식 양도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제3자에게 양도 시 이사회 승인 필요 (제19조)</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SHA상 다른 주주 전원 서면동의 원칙, 매입거래·셀다운 특칙 (SHA 제7.1·7.5·7.6조)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48910890"/>
                  </a:ext>
                </a:extLst>
              </a:tr>
              <a:tr h="42062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주주총회 결의</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보통결의: 총자산 30% 초과 자산 취득·처분, 차입·사채발행계획, 자산관리·보관계약 등</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특별결의: 정관 변경, 자본감소, 자기자본 2배 초과 차입 등 (제26·27조)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3839977"/>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KLI 제1·2종 매입확약 공문(안), 제1·2종 매도확약 공문(안), 주주간계약서 BKL v30 markup(2026-10-02) 제2.5·3·4조. 확약서(안) 발행회사명·배당 정산 문구는 SHA v30에 맞춰 수정 필요. 본 검토는 내부 검토이며 외부 법무법인 확인 필요.</a:t>
            </a:r>
          </a:p>
        </p:txBody>
      </p:sp>
      <p:graphicFrame>
        <p:nvGraphicFramePr>
          <p:cNvPr id="17" name="신규표"/>
          <p:cNvGraphicFramePr>
            <a:graphicFrameLocks noGrp="1"/>
          </p:cNvGraphicFramePr>
          <p:nvPr>
            <p:extLst>
              <p:ext uri="{D42A27DB-BD31-4B8C-83A1-F6EECF244321}">
                <p14:modId xmlns:p14="http://schemas.microsoft.com/office/powerpoint/2010/main" val="2326794441"/>
              </p:ext>
            </p:extLst>
          </p:nvPr>
        </p:nvGraphicFramePr>
        <p:xfrm>
          <a:off x="457200" y="1453896"/>
          <a:ext cx="9875520" cy="2139696"/>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제1종 종류주식</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제2종 종류주식</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확약 주체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㈜코람코라이프인프라위탁관리부동산투자회사(KLI)</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발행회사 / 기초자산</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코람코라이프로지스위탁관리부동산투자회사(자리츠)</a:t>
                      </a:r>
                    </a:p>
                    <a:p>
                      <a:pPr marL="171450" indent="-171450" algn="l" defTabSz="1007943" rtl="0" eaLnBrk="1" fontAlgn="ctr" latinLnBrk="1" hangingPunct="1">
                        <a:lnSpc>
                          <a:spcPct val="100000"/>
                        </a:lnSpc>
                        <a:buFont typeface="Arial" panose="020B0604020202020204" pitchFamily="34" charset="0"/>
                        <a:buNone/>
                      </a:pPr>
                      <a:r>
                        <a:rPr lang="ko-KR" altLang="en-US"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(관양동 934 외 2필지)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우선배당률</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7.0% (누적)</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7.5% (누적)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24개월이 되는 달의 응당일 (SHA 제3.1조)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발행일부터 12개월이 되는 달의 응당일 (SHA 제4.1조)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매입금액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 960,000주 = 240억원</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(1-1종 4개 투자자 전부)</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25,000원 × 1,360,000주 = 340억원</a:t>
                      </a:r>
                    </a:p>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보유 2-1종 640,000주 제외)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310896">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 (기준 일정 2026-10-16) (SHA 제3.5조)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(좌 동) (SHA 제4.5조)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14" name="그룹 1">
            <a:extLst>
              <a:ext uri="{FF2B5EF4-FFF2-40B4-BE49-F238E27FC236}">
                <a16:creationId xmlns:a16="http://schemas.microsoft.com/office/drawing/2014/main" id="{1E241363-A27F-F3D9-54EB-21A376A61587}"/>
              </a:ext>
            </a:extLst>
          </p:cNvPr>
          <p:cNvGrpSpPr/>
          <p:nvPr/>
        </p:nvGrpSpPr>
        <p:grpSpPr>
          <a:xfrm>
            <a:off x="458887" y="3739896"/>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23450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 매도확약서 대응 조건</a:t>
              </a:r>
            </a:p>
          </p:txBody>
        </p:sp>
      </p:grpSp>
      <p:graphicFrame>
        <p:nvGraphicFramePr>
          <p:cNvPr id="18" name="신규표"/>
          <p:cNvGraphicFramePr>
            <a:graphicFrameLocks noGrp="1"/>
          </p:cNvGraphicFramePr>
          <p:nvPr>
            <p:extLst>
              <p:ext uri="{D42A27DB-BD31-4B8C-83A1-F6EECF244321}">
                <p14:modId xmlns:p14="http://schemas.microsoft.com/office/powerpoint/2010/main" val="3223449578"/>
              </p:ext>
            </p:extLst>
          </p:nvPr>
        </p:nvGraphicFramePr>
        <p:xfrm>
          <a:off x="457200" y="4114800"/>
          <a:ext cx="9875520" cy="2651760"/>
        </p:xfrm>
        <a:graphic>
          <a:graphicData uri="http://schemas.openxmlformats.org/drawingml/2006/table">
            <a:tbl>
              <a:tblPr>
                <a:tableStyleId>{5940675A-B579-460E-94D1-54222C63F5DA}</a:tableStyleId>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(KLI리츠 → 종류주주)</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매도확약서 (종류주주 → KLI리츠)</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제출 의무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체결일에 KLI가 각 종류주주에게 제출 (SHA 제3.5·4.5조)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인수인은 체결일, 셀다운 양수인은 양도 완결 전 제출 (SHA 제2.5·3.5·4.5조)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핵심 내용</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 내 대상주식 전부를 발행가액(25,000원/주)으로 매입</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서면 요청일부터 [10]일 내 동일 조건으로 매도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선행조건</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① 영업인가·소유권 취득 ② 완전한 소유권 ③ 부담 부존재 ④ 매도확약서 제출</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KLI의 보유주식 전부 매도 서면 요청 (매도확약서 제4항)</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불이행 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연 5.0% 지연손해금 / 2종 연 3.0%+위약벌 20%, 매입의무 존속</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 연 5.0% / 2종 연 3.0%+위약벌 20%, 매도의무 존속</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배당금 정산</a:t>
                      </a:r>
                    </a:p>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효력</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매입완료일에 미수령 누적배당 정산 (SHA 제3.4·4.4조), 상충 시 SHA 우선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동의 없는 양도·담보 금지, 양수인 매도확약서 제출</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970472" y="2007358"/>
            <a:ext cx="3141863" cy="4495281"/>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5885966" y="2020609"/>
            <a:ext cx="3180531" cy="4495280"/>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721946" cy="246221"/>
            <a:chOff x="455544" y="-592941"/>
            <a:chExt cx="1721946"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721946"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412840" cy="246221"/>
            <a:chOff x="455544" y="-592941"/>
            <a:chExt cx="2412840"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412840"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키움캐피탈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,MG</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5" name="그림 14">
            <a:extLst>
              <a:ext uri="{FF2B5EF4-FFF2-40B4-BE49-F238E27FC236}">
                <a16:creationId xmlns:a16="http://schemas.microsoft.com/office/drawing/2014/main" id="{5450106A-E606-97D5-D486-5054F4E124ED}"/>
              </a:ext>
            </a:extLst>
          </p:cNvPr>
          <p:cNvPicPr>
            <a:picLocks noChangeAspect="1"/>
          </p:cNvPicPr>
          <p:nvPr/>
        </p:nvPicPr>
        <p:blipFill>
          <a:blip r:embed="rId3"/>
          <a:stretch>
            <a:fillRect/>
          </a:stretch>
        </p:blipFill>
        <p:spPr>
          <a:xfrm>
            <a:off x="607052" y="2167302"/>
            <a:ext cx="3087678" cy="4170056"/>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2" name="그림 21">
            <a:extLst>
              <a:ext uri="{FF2B5EF4-FFF2-40B4-BE49-F238E27FC236}">
                <a16:creationId xmlns:a16="http://schemas.microsoft.com/office/drawing/2014/main" id="{B709E1C2-F9BD-04BB-486D-FE9C86330752}"/>
              </a:ext>
            </a:extLst>
          </p:cNvPr>
          <p:cNvPicPr>
            <a:picLocks noChangeAspect="1"/>
          </p:cNvPicPr>
          <p:nvPr/>
        </p:nvPicPr>
        <p:blipFill>
          <a:blip r:embed="rId4"/>
          <a:stretch>
            <a:fillRect/>
          </a:stretch>
        </p:blipFill>
        <p:spPr>
          <a:xfrm>
            <a:off x="7254118" y="2671394"/>
            <a:ext cx="2709889" cy="3684922"/>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77266239-DA85-5A3E-CE25-596BDC3E800A}"/>
              </a:ext>
            </a:extLst>
          </p:cNvPr>
          <p:cNvPicPr>
            <a:picLocks noChangeAspect="1"/>
          </p:cNvPicPr>
          <p:nvPr/>
        </p:nvPicPr>
        <p:blipFill>
          <a:blip r:embed="rId5"/>
          <a:stretch>
            <a:fillRect/>
          </a:stretch>
        </p:blipFill>
        <p:spPr>
          <a:xfrm>
            <a:off x="5345906" y="2163981"/>
            <a:ext cx="2836472" cy="3848525"/>
          </a:xfrm>
          <a:prstGeom prst="rect">
            <a:avLst/>
          </a:prstGeom>
          <a:ln>
            <a:solidFill>
              <a:schemeClr val="bg1">
                <a:lumMod val="85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9" name="표 8">
            <a:extLst>
              <a:ext uri="{FF2B5EF4-FFF2-40B4-BE49-F238E27FC236}">
                <a16:creationId xmlns:a16="http://schemas.microsoft.com/office/drawing/2014/main" id="{CFD9F141-C04C-2146-1608-E28C80EF8167}"/>
              </a:ext>
            </a:extLst>
          </p:cNvPr>
          <p:cNvGraphicFramePr>
            <a:graphicFrameLocks noGrp="1"/>
          </p:cNvGraphicFramePr>
          <p:nvPr>
            <p:extLst>
              <p:ext uri="{D42A27DB-BD31-4B8C-83A1-F6EECF244321}">
                <p14:modId xmlns:p14="http://schemas.microsoft.com/office/powerpoint/2010/main" val="3081536201"/>
              </p:ext>
            </p:extLst>
          </p:nvPr>
        </p:nvGraphicFramePr>
        <p:xfrm>
          <a:off x="449263" y="1583593"/>
          <a:ext cx="9799734" cy="2289066"/>
        </p:xfrm>
        <a:graphic>
          <a:graphicData uri="http://schemas.openxmlformats.org/drawingml/2006/table">
            <a:tbl>
              <a:tblPr firstRow="1" bandRow="1">
                <a:tableStyleId>{5940675A-B579-460E-94D1-54222C63F5DA}</a:tableStyleId>
              </a:tblPr>
              <a:tblGrid>
                <a:gridCol w="1113433">
                  <a:extLst>
                    <a:ext uri="{9D8B030D-6E8A-4147-A177-3AD203B41FA5}">
                      <a16:colId xmlns:a16="http://schemas.microsoft.com/office/drawing/2014/main" val="20000"/>
                    </a:ext>
                  </a:extLst>
                </a:gridCol>
                <a:gridCol w="1430956">
                  <a:extLst>
                    <a:ext uri="{9D8B030D-6E8A-4147-A177-3AD203B41FA5}">
                      <a16:colId xmlns:a16="http://schemas.microsoft.com/office/drawing/2014/main" val="20001"/>
                    </a:ext>
                  </a:extLst>
                </a:gridCol>
                <a:gridCol w="1612756">
                  <a:extLst>
                    <a:ext uri="{9D8B030D-6E8A-4147-A177-3AD203B41FA5}">
                      <a16:colId xmlns:a16="http://schemas.microsoft.com/office/drawing/2014/main" val="20004"/>
                    </a:ext>
                  </a:extLst>
                </a:gridCol>
                <a:gridCol w="5642589">
                  <a:extLst>
                    <a:ext uri="{9D8B030D-6E8A-4147-A177-3AD203B41FA5}">
                      <a16:colId xmlns:a16="http://schemas.microsoft.com/office/drawing/2014/main" val="20003"/>
                    </a:ext>
                  </a:extLst>
                </a:gridCol>
              </a:tblGrid>
              <a:tr h="267634">
                <a:tc gridSpan="2">
                  <a:txBody>
                    <a:bodyPr/>
                    <a:lstStyle/>
                    <a:p>
                      <a:pPr algn="ctr" latinLnBrk="1">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latinLnBrk="1">
                        <a:lnSpc>
                          <a:spcPct val="150000"/>
                        </a:lnSpc>
                        <a:buNone/>
                      </a:pPr>
                      <a:endParaRPr lang="ko-KR" altLang="en-US" sz="105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108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345B86"/>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 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lnSpc>
                          <a:spcPct val="150000"/>
                        </a:lnSpc>
                        <a:buNone/>
                      </a:pPr>
                      <a:r>
                        <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286283">
                <a:tc row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운용수익</a:t>
                      </a:r>
                      <a:endParaRPr lang="ko-KR" altLang="en-US" sz="1100" b="1" baseline="30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매입금액 </a:t>
                      </a: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lang="en-US" altLang="ko-KR" sz="1000" b="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66.7억원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latinLnBrk="1">
                        <a:buFont typeface="Arial" panose="020B0604020202020204" pitchFamily="34" charset="0"/>
                        <a:buNone/>
                      </a:pPr>
                      <a:r>
                        <a:rPr lang="en-US" altLang="ko-KR" sz="1000" b="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2,989억원 (매입장부금액의 0.223%/연) x 운용기간 약 10년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283">
                <a:tc vMerge="1">
                  <a:txBody>
                    <a:bodyPr/>
                    <a:lstStyle/>
                    <a:p>
                      <a:pPr latinLnBrk="1">
                        <a:buNone/>
                      </a:pPr>
                      <a:endParaRPr lang="ko-KR" altLang="en-US"/>
                    </a:p>
                  </a:txBody>
                  <a:tcPr anchor="ctr">
                    <a:lnT w="3175" cap="flat" cmpd="sng" algn="ctr">
                      <a:solidFill>
                        <a:schemeClr val="tx1">
                          <a:lumMod val="50000"/>
                          <a:lumOff val="50000"/>
                        </a:schemeClr>
                      </a:solidFill>
                      <a:prstDash val="solid"/>
                      <a:round/>
                      <a:headEnd type="none" w="med" len="med"/>
                      <a:tailEnd type="none" w="med" len="med"/>
                    </a:lnT>
                  </a:tcPr>
                </a:tc>
                <a:tc>
                  <a:txBody>
                    <a:bodyPr/>
                    <a:lstStyle/>
                    <a:p>
                      <a:pPr algn="l" latinLnBrk="1">
                        <a:buNone/>
                      </a:pP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고정보수</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소계</a:t>
                      </a:r>
                      <a:r>
                        <a:rPr lang="en-US" altLang="ko-KR" sz="10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80.2억원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171450" indent="-171450" algn="l" latinLnBrk="1">
                        <a:lnSpc>
                          <a:spcPct val="150000"/>
                        </a:lnSpc>
                        <a:buFont typeface="Arial" panose="020B0604020202020204" pitchFamily="34" charset="0"/>
                        <a:buNone/>
                      </a:pPr>
                      <a:endParaRPr lang="ko-KR" altLang="en-US" sz="1100" b="0" u="sng"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2651194603"/>
                  </a:ext>
                </a:extLst>
              </a:tr>
              <a:tr h="400796">
                <a:tc vMerge="1">
                  <a:txBody>
                    <a:bodyPr/>
                    <a:lstStyle/>
                    <a:p>
                      <a:pPr latinLnBrk="1">
                        <a:buNone/>
                      </a:pPr>
                      <a:endParaRPr lang="ko-KR" altLang="en-US"/>
                    </a:p>
                  </a:txBody>
                  <a:tcPr anchor="ct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18.8억원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513910"/>
                  </a:ext>
                </a:extLst>
              </a:tr>
              <a:tr h="400796">
                <a:tc vMerge="1">
                  <a:txBody>
                    <a:bodyPr/>
                    <a:lstStyle/>
                    <a:p>
                      <a:pPr latinLnBrk="1">
                        <a:buNone/>
                      </a:pPr>
                      <a:endParaRPr lang="ko-KR" altLang="en-US"/>
                    </a:p>
                  </a:txBody>
                  <a:tcPr anchor="ctr"/>
                </a:tc>
                <a:tc>
                  <a:txBody>
                    <a:bodyPr/>
                    <a:lstStyle/>
                    <a:p>
                      <a:pPr algn="l" latinLnBrk="1">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매각성과보수</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 </a:t>
                      </a:r>
                      <a:r>
                        <a:rPr lang="en-US" altLang="ko-KR" sz="1000" kern="1200" spc="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4.89%, </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사업기간 </a:t>
                      </a:r>
                      <a:r>
                        <a:rPr lang="en-US" altLang="ko-KR"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가정</a:t>
                      </a:r>
                      <a:endParaRPr lang="en-US" altLang="ko-KR" sz="110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l" latinLnBrk="1">
                        <a:lnSpc>
                          <a:spcPct val="150000"/>
                        </a:lnSpc>
                        <a:buFont typeface="Arial" panose="020B0604020202020204" pitchFamily="34" charset="0"/>
                        <a:buNone/>
                      </a:pP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a:t>
                      </a:r>
                      <a:r>
                        <a:rPr lang="ko-KR" altLang="en-US" sz="1000" b="0" kern="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차감후</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이익</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매입장부금액</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매각부대비용</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 </a:t>
                      </a:r>
                      <a:r>
                        <a:rPr lang="en-US" altLang="ko-KR" sz="1000" b="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100" b="0" u="sng"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853191"/>
                  </a:ext>
                </a:extLst>
              </a:tr>
              <a:tr h="286283">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108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latinLnBrk="1">
                        <a:buNone/>
                      </a:pPr>
                      <a:r>
                        <a:rPr lang="ko-KR" altLang="en-US" sz="1000" b="1"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algn="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rPr>
                        <a:t>223.8억원</a:t>
                      </a:r>
                    </a:p>
                  </a:txBody>
                  <a:tcPr marL="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indent="0" algn="l" latinLnBrk="1">
                        <a:lnSpc>
                          <a:spcPct val="150000"/>
                        </a:lnSpc>
                        <a:buFont typeface="Arial" panose="020B0604020202020204" pitchFamily="34" charset="0"/>
                        <a:buNone/>
                      </a:pPr>
                      <a:endParaRPr lang="ko-KR" altLang="en-US" sz="1100" b="0" kern="12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16567" marR="116567"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ACE028EC-FB3D-2FFD-08AB-44B2CE25272D}"/>
              </a:ext>
            </a:extLst>
          </p:cNvPr>
          <p:cNvSpPr/>
          <p:nvPr/>
        </p:nvSpPr>
        <p:spPr>
          <a:xfrm>
            <a:off x="458887" y="3887849"/>
            <a:ext cx="9793287" cy="276999"/>
          </a:xfrm>
          <a:prstGeom prst="rect">
            <a:avLst/>
          </a:prstGeom>
        </p:spPr>
        <p:txBody>
          <a:bodyPr wrap="square">
            <a:spAutoFit/>
          </a:bodyPr>
          <a:lstStyle/>
          <a:p>
            <a:pPr marL="228600" marR="0" lvl="0" indent="-228600" algn="l" defTabSz="457200" rtl="0" eaLnBrk="1" fontAlgn="auto" latinLnBrk="0" hangingPunct="1">
              <a:lnSpc>
                <a:spcPct val="120000"/>
              </a:lnSpc>
              <a:spcBef>
                <a:spcPts val="0"/>
              </a:spcBef>
              <a:spcAft>
                <a:spcPts val="0"/>
              </a:spcAft>
              <a:buClrTx/>
              <a:buSzTx/>
              <a:buAutoNum type="arabicParenR"/>
              <a:tabLst/>
              <a:defRPr/>
            </a:pPr>
            <a:r>
              <a:rPr lang="ko-KR" altLang="en-US"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취득부대비용을 제외한 매입 금액</a:t>
            </a:r>
            <a:endParaRPr lang="en-US" altLang="ko-KR" sz="10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5" name="단위 9">
            <a:extLst>
              <a:ext uri="{FF2B5EF4-FFF2-40B4-BE49-F238E27FC236}">
                <a16:creationId xmlns:a16="http://schemas.microsoft.com/office/drawing/2014/main" id="{FEC03FB0-4CA8-874F-1FCC-130BA63F11D9}"/>
              </a:ext>
            </a:extLst>
          </p:cNvPr>
          <p:cNvSpPr txBox="1"/>
          <p:nvPr/>
        </p:nvSpPr>
        <p:spPr>
          <a:xfrm>
            <a:off x="7648997" y="1337372"/>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억원)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2566087"/>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모리츠(KLI리츠) 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투자개요</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투자효과</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투자의사결정 수권절차</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회수전략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16.18%</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4.26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10년 평균 추정 IRR 9.15%</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2" name="단위 23">
            <a:extLst>
              <a:ext uri="{FF2B5EF4-FFF2-40B4-BE49-F238E27FC236}">
                <a16:creationId xmlns:a16="http://schemas.microsoft.com/office/drawing/2014/main" id="{FEC03FB0-4CA8-874F-1FCC-130BA63F11D9}"/>
              </a:ext>
            </a:extLst>
          </p:cNvPr>
          <p:cNvSpPr txBox="1"/>
          <p:nvPr/>
        </p:nvSpPr>
        <p:spPr>
          <a:xfrm>
            <a:off x="7641280" y="3914299"/>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1000906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3억원 및 여유현금 100억원 예정 / 수익률·보수는 재무모델 2026-09-30 기준 (Equity 전체 IRR: IM 탭 10.21%)</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10.21%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9.15%, 보통주 CoC 0.75%·IRR 16.18%</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 측</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확보(9/21)</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이지스·키움·애큐온·MG 인수 (주주간계약 제2.1조)</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매도인 측 재투자 (주주간계약 제5조 유상감자)</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예정(10/14)</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9.15%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연 7.0%·제2종 연 7.5% 누적배당 — 2종은 FY7~11 미지급분을 FY12~15에 누적 지급(3년차 Rent-Free 영향)</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49,268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2026-09-30 IM 탭(B25:N51), FY는 반기</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16.18%·E.M 4.26x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48,180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4.26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2026-09-30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377,753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기간(24개월) 내 DSCR 최소치 / Base 열은 모델 시나리오 산출값으로 기준 Case(IM 탭)와 소폭 차이</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9.39%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재무모델 2026-09-30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15457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403971" y="2324869"/>
            <a:ext cx="1800000"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억원, %)</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10/14(E)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10/14(E) → 10/16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16" name="단위 88">
            <a:extLst>
              <a:ext uri="{FF2B5EF4-FFF2-40B4-BE49-F238E27FC236}">
                <a16:creationId xmlns:a16="http://schemas.microsoft.com/office/drawing/2014/main" id="{FEC03FB0-4CA8-874F-1FCC-130BA63F11D9}"/>
              </a:ext>
            </a:extLst>
          </p:cNvPr>
          <p:cNvSpPr txBox="1"/>
          <p:nvPr/>
        </p:nvSpPr>
        <p:spPr>
          <a:xfrm>
            <a:off x="7714457" y="2445078"/>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78198</TotalTime>
  <Words>13307</Words>
  <Application>Microsoft Office PowerPoint</Application>
  <PresentationFormat>사용자 지정</PresentationFormat>
  <Paragraphs>4000</Paragraphs>
  <Slides>51</Slides>
  <Notes>21</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51</vt:i4>
      </vt:variant>
    </vt:vector>
  </HeadingPairs>
  <TitlesOfParts>
    <vt:vector size="63"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5203</cp:revision>
  <cp:lastPrinted>2026-08-23T23:34:57Z</cp:lastPrinted>
  <dcterms:created xsi:type="dcterms:W3CDTF">2019-10-07T05:08:42Z</dcterms:created>
  <dcterms:modified xsi:type="dcterms:W3CDTF">2026-10-02T04:37:54Z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