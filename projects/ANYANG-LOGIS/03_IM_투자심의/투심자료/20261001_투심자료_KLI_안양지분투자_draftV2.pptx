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87" r:id="rId2"/>
  </p:sldMasterIdLst>
  <p:notesMasterIdLst>
    <p:notesMasterId r:id="rId22"/>
  </p:notesMasterIdLst>
  <p:handoutMasterIdLst>
    <p:handoutMasterId r:id="rId23"/>
  </p:handoutMasterIdLst>
  <p:sldIdLst>
    <p:sldId id="1756" r:id="rId3"/>
    <p:sldId id="1175" r:id="rId4"/>
    <p:sldId id="1176" r:id="rId5"/>
    <p:sldId id="1657" r:id="rId6"/>
    <p:sldId id="2076139243" r:id="rId7"/>
    <p:sldId id="2076139241" r:id="rId8"/>
    <p:sldId id="1822" r:id="rId9"/>
    <p:sldId id="2076139242" r:id="rId10"/>
    <p:sldId id="1764" r:id="rId11"/>
    <p:sldId id="1809" r:id="rId12"/>
    <p:sldId id="2076139239" r:id="rId13"/>
    <p:sldId id="2076139238" r:id="rId14"/>
    <p:sldId id="1786" r:id="rId15"/>
    <p:sldId id="1793" r:id="rId16"/>
    <p:sldId id="1781" r:id="rId17"/>
    <p:sldId id="1763" r:id="rId18"/>
    <p:sldId id="1794" r:id="rId19"/>
    <p:sldId id="1790" r:id="rId20"/>
    <p:sldId id="1780" r:id="rId21"/>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28" userDrawn="1">
          <p15:clr>
            <a:srgbClr val="A4A3A4"/>
          </p15:clr>
        </p15:guide>
        <p15:guide id="20" orient="horz" pos="1360"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3458" userDrawn="1">
          <p15:clr>
            <a:srgbClr val="A4A3A4"/>
          </p15:clr>
        </p15:guide>
        <p15:guide id="32" orient="horz" pos="90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C3E6"/>
    <a:srgbClr val="FFF2CC"/>
    <a:srgbClr val="F8CBAD"/>
    <a:srgbClr val="C00000"/>
    <a:srgbClr val="BFBFBF"/>
    <a:srgbClr val="0000FF"/>
    <a:srgbClr val="2E75B6"/>
    <a:srgbClr val="002060"/>
    <a:srgbClr val="FF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6242" autoAdjust="0"/>
  </p:normalViewPr>
  <p:slideViewPr>
    <p:cSldViewPr showGuides="1">
      <p:cViewPr>
        <p:scale>
          <a:sx n="100" d="100"/>
          <a:sy n="100" d="100"/>
        </p:scale>
        <p:origin x="1602" y="72"/>
      </p:cViewPr>
      <p:guideLst>
        <p:guide orient="horz" pos="4195"/>
        <p:guide orient="horz" pos="680"/>
        <p:guide orient="horz" pos="1111"/>
        <p:guide orient="horz" pos="3628"/>
        <p:guide orient="horz" pos="1360"/>
        <p:guide orient="horz" pos="4105"/>
        <p:guide pos="601"/>
        <p:guide pos="1780"/>
        <p:guide pos="396"/>
        <p:guide pos="1689"/>
        <p:guide pos="4842"/>
        <p:guide orient="horz" pos="2993"/>
        <p:guide pos="3458"/>
        <p:guide orient="horz" pos="907"/>
      </p:guideLst>
    </p:cSldViewPr>
  </p:slideViewPr>
  <p:outlineViewPr>
    <p:cViewPr>
      <p:scale>
        <a:sx n="33" d="100"/>
        <a:sy n="33" d="100"/>
      </p:scale>
      <p:origin x="0" y="-7674"/>
    </p:cViewPr>
  </p:outlineViewPr>
  <p:notesTextViewPr>
    <p:cViewPr>
      <p:scale>
        <a:sx n="100" d="100"/>
        <a:sy n="100" d="100"/>
      </p:scale>
      <p:origin x="0" y="0"/>
    </p:cViewPr>
  </p:notesTextViewPr>
  <p:sorterViewPr>
    <p:cViewPr>
      <p:scale>
        <a:sx n="100" d="100"/>
        <a:sy n="100" d="100"/>
      </p:scale>
      <p:origin x="0" y="-12246"/>
    </p:cViewPr>
  </p:sorterViewPr>
  <p:notesViewPr>
    <p:cSldViewPr>
      <p:cViewPr varScale="1">
        <p:scale>
          <a:sx n="75" d="100"/>
          <a:sy n="75" d="100"/>
        </p:scale>
        <p:origin x="3168" y="54"/>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1-4087-4575-84CA-3BF6C6C2A227}"/>
              </c:ext>
            </c:extLst>
          </c:dPt>
          <c:dPt>
            <c:idx val="8"/>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4087-4575-84CA-3BF6C6C2A227}"/>
              </c:ext>
            </c:extLst>
          </c:dPt>
          <c:dPt>
            <c:idx val="9"/>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4087-4575-84CA-3BF6C6C2A227}"/>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1-4087-4575-84CA-3BF6C6C2A227}"/>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087-4575-84CA-3BF6C6C2A227}"/>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087-4575-84CA-3BF6C6C2A227}"/>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2026(E)</c:v>
                </c:pt>
                <c:pt idx="8">
                  <c:v>2027(E)</c:v>
                </c:pt>
                <c:pt idx="9">
                  <c:v>2028(E)</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6-4087-4575-84CA-3BF6C6C2A227}"/>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계열 1</c:v>
                </c:pt>
              </c:strCache>
            </c:strRef>
          </c:tx>
          <c:spPr>
            <a:solidFill>
              <a:schemeClr val="bg1">
                <a:lumMod val="85000"/>
              </a:schemeClr>
            </a:solidFill>
            <a:ln>
              <a:noFill/>
            </a:ln>
            <a:effectLst/>
          </c:spPr>
          <c:invertIfNegative val="0"/>
          <c:cat>
            <c:strRef>
              <c:f>Sheet1!$A$2:$A$6</c:f>
              <c:strCache>
                <c:ptCount val="5"/>
                <c:pt idx="0">
                  <c:v>2026(E)</c:v>
                </c:pt>
                <c:pt idx="1">
                  <c:v>2027(E)</c:v>
                </c:pt>
                <c:pt idx="2">
                  <c:v>2028(E)</c:v>
                </c:pt>
                <c:pt idx="3">
                  <c:v>2029(E)</c:v>
                </c:pt>
                <c:pt idx="4">
                  <c:v>2030(E)</c:v>
                </c:pt>
              </c:strCache>
            </c:strRef>
          </c:cat>
          <c:val>
            <c:numRef>
              <c:f>Sheet1!$B$2:$B$6</c:f>
              <c:numCache>
                <c:formatCode>0_ </c:formatCode>
                <c:ptCount val="5"/>
                <c:pt idx="0">
                  <c:v>327</c:v>
                </c:pt>
                <c:pt idx="1">
                  <c:v>327</c:v>
                </c:pt>
                <c:pt idx="2">
                  <c:v>327</c:v>
                </c:pt>
                <c:pt idx="3">
                  <c:v>327</c:v>
                </c:pt>
                <c:pt idx="4">
                  <c:v>327</c:v>
                </c:pt>
              </c:numCache>
            </c:numRef>
          </c:val>
          <c:extLst>
            <c:ext xmlns:c16="http://schemas.microsoft.com/office/drawing/2014/chart" uri="{C3380CC4-5D6E-409C-BE32-E72D297353CC}">
              <c16:uniqueId val="{00000000-113F-4E32-8E6E-DB4BD24510C6}"/>
            </c:ext>
          </c:extLst>
        </c:ser>
        <c:ser>
          <c:idx val="1"/>
          <c:order val="1"/>
          <c:tx>
            <c:strRef>
              <c:f>Sheet1!$C$1</c:f>
              <c:strCache>
                <c:ptCount val="1"/>
                <c:pt idx="0">
                  <c:v>계열 2</c:v>
                </c:pt>
              </c:strCache>
            </c:strRef>
          </c:tx>
          <c:spPr>
            <a:solidFill>
              <a:schemeClr val="accent2"/>
            </a:solidFill>
            <a:ln>
              <a:noFill/>
            </a:ln>
            <a:effectLst/>
          </c:spPr>
          <c:invertIfNegative val="0"/>
          <c:dPt>
            <c:idx val="3"/>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2-113F-4E32-8E6E-DB4BD24510C6}"/>
              </c:ext>
            </c:extLst>
          </c:dPt>
          <c:dPt>
            <c:idx val="4"/>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4-113F-4E32-8E6E-DB4BD24510C6}"/>
              </c:ext>
            </c:extLst>
          </c:dPt>
          <c:cat>
            <c:strRef>
              <c:f>Sheet1!$A$2:$A$6</c:f>
              <c:strCache>
                <c:ptCount val="5"/>
                <c:pt idx="0">
                  <c:v>2026(E)</c:v>
                </c:pt>
                <c:pt idx="1">
                  <c:v>2027(E)</c:v>
                </c:pt>
                <c:pt idx="2">
                  <c:v>2028(E)</c:v>
                </c:pt>
                <c:pt idx="3">
                  <c:v>2029(E)</c:v>
                </c:pt>
                <c:pt idx="4">
                  <c:v>2030(E)</c:v>
                </c:pt>
              </c:strCache>
            </c:strRef>
          </c:cat>
          <c:val>
            <c:numRef>
              <c:f>Sheet1!$C$2:$C$6</c:f>
              <c:numCache>
                <c:formatCode>0_ </c:formatCode>
                <c:ptCount val="5"/>
                <c:pt idx="0">
                  <c:v>0</c:v>
                </c:pt>
                <c:pt idx="1">
                  <c:v>12.5</c:v>
                </c:pt>
                <c:pt idx="2">
                  <c:v>18.5</c:v>
                </c:pt>
                <c:pt idx="3">
                  <c:v>30</c:v>
                </c:pt>
                <c:pt idx="4">
                  <c:v>50</c:v>
                </c:pt>
              </c:numCache>
            </c:numRef>
          </c:val>
          <c:extLst>
            <c:ext xmlns:c16="http://schemas.microsoft.com/office/drawing/2014/chart" uri="{C3380CC4-5D6E-409C-BE32-E72D297353CC}">
              <c16:uniqueId val="{00000005-113F-4E32-8E6E-DB4BD24510C6}"/>
            </c:ext>
          </c:extLst>
        </c:ser>
        <c:dLbls>
          <c:showLegendKey val="0"/>
          <c:showVal val="0"/>
          <c:showCatName val="0"/>
          <c:showSerName val="0"/>
          <c:showPercent val="0"/>
          <c:showBubbleSize val="0"/>
        </c:dLbls>
        <c:gapWidth val="50"/>
        <c:overlap val="100"/>
        <c:axId val="1856966128"/>
        <c:axId val="1341953103"/>
      </c:barChart>
      <c:catAx>
        <c:axId val="185696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41953103"/>
        <c:crosses val="autoZero"/>
        <c:auto val="1"/>
        <c:lblAlgn val="ctr"/>
        <c:lblOffset val="100"/>
        <c:noMultiLvlLbl val="0"/>
      </c:catAx>
      <c:valAx>
        <c:axId val="1341953103"/>
        <c:scaling>
          <c:orientation val="minMax"/>
          <c:min val="150"/>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8569661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931515549218114E-2"/>
          <c:y val="0.22080794154416819"/>
          <c:w val="0.82129798242391283"/>
          <c:h val="0.64266971988507748"/>
        </c:manualLayout>
      </c:layout>
      <c:barChart>
        <c:barDir val="col"/>
        <c:grouping val="clustered"/>
        <c:varyColors val="0"/>
        <c:ser>
          <c:idx val="0"/>
          <c:order val="0"/>
          <c:tx>
            <c:strRef>
              <c:f>Sheet1!$B$1</c:f>
              <c:strCache>
                <c:ptCount val="1"/>
                <c:pt idx="0">
                  <c:v>보통주</c:v>
                </c:pt>
              </c:strCache>
            </c:strRef>
          </c:tx>
          <c:spPr>
            <a:solidFill>
              <a:srgbClr val="843C0C"/>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Sheet1!$B$2:$B$11</c:f>
              <c:numCache>
                <c:formatCode>0.0%</c:formatCode>
                <c:ptCount val="10"/>
                <c:pt idx="0">
                  <c:v>7.4999999999999997E-2</c:v>
                </c:pt>
                <c:pt idx="1">
                  <c:v>7.4999999999999997E-2</c:v>
                </c:pt>
                <c:pt idx="2">
                  <c:v>0</c:v>
                </c:pt>
                <c:pt idx="3">
                  <c:v>0</c:v>
                </c:pt>
                <c:pt idx="4">
                  <c:v>0</c:v>
                </c:pt>
                <c:pt idx="5">
                  <c:v>0</c:v>
                </c:pt>
                <c:pt idx="6">
                  <c:v>0</c:v>
                </c:pt>
                <c:pt idx="7">
                  <c:v>0</c:v>
                </c:pt>
                <c:pt idx="8">
                  <c:v>0</c:v>
                </c:pt>
                <c:pt idx="9">
                  <c:v>0.15</c:v>
                </c:pt>
              </c:numCache>
            </c:numRef>
          </c:val>
          <c:extLst>
            <c:ext xmlns:c16="http://schemas.microsoft.com/office/drawing/2014/chart" uri="{C3380CC4-5D6E-409C-BE32-E72D297353CC}">
              <c16:uniqueId val="{00000000-98DF-4EE5-BC2A-B4C65F3DAB91}"/>
            </c:ext>
          </c:extLst>
        </c:ser>
        <c:ser>
          <c:idx val="1"/>
          <c:order val="1"/>
          <c:tx>
            <c:strRef>
              <c:f>Sheet1!$C$1</c:f>
              <c:strCache>
                <c:ptCount val="1"/>
                <c:pt idx="0">
                  <c:v>2종 우선주</c:v>
                </c:pt>
              </c:strCache>
            </c:strRef>
          </c:tx>
          <c:spPr>
            <a:solidFill>
              <a:srgbClr val="F8CBAD"/>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Sheet1!$C$2:$C$11</c:f>
              <c:numCache>
                <c:formatCode>0.0%</c:formatCode>
                <c:ptCount val="10"/>
                <c:pt idx="0">
                  <c:v>7.4999999999999997E-2</c:v>
                </c:pt>
                <c:pt idx="1">
                  <c:v>7.4999999999999997E-2</c:v>
                </c:pt>
                <c:pt idx="2">
                  <c:v>6.6000000000000003E-2</c:v>
                </c:pt>
                <c:pt idx="3">
                  <c:v>0.06</c:v>
                </c:pt>
                <c:pt idx="4">
                  <c:v>8.1000000000000003E-2</c:v>
                </c:pt>
                <c:pt idx="5">
                  <c:v>0.09</c:v>
                </c:pt>
                <c:pt idx="6">
                  <c:v>7.8E-2</c:v>
                </c:pt>
                <c:pt idx="7">
                  <c:v>7.4999999999999997E-2</c:v>
                </c:pt>
                <c:pt idx="8">
                  <c:v>7.4999999999999997E-2</c:v>
                </c:pt>
                <c:pt idx="9">
                  <c:v>0.12</c:v>
                </c:pt>
              </c:numCache>
            </c:numRef>
          </c:val>
          <c:extLst>
            <c:ext xmlns:c16="http://schemas.microsoft.com/office/drawing/2014/chart" uri="{C3380CC4-5D6E-409C-BE32-E72D297353CC}">
              <c16:uniqueId val="{00000001-98DF-4EE5-BC2A-B4C65F3DAB91}"/>
            </c:ext>
          </c:extLst>
        </c:ser>
        <c:ser>
          <c:idx val="2"/>
          <c:order val="2"/>
          <c:tx>
            <c:strRef>
              <c:f>Sheet1!$D$1</c:f>
              <c:strCache>
                <c:ptCount val="1"/>
                <c:pt idx="0">
                  <c:v>1종 우선주</c:v>
                </c:pt>
              </c:strCache>
            </c:strRef>
          </c:tx>
          <c:spPr>
            <a:solidFill>
              <a:srgbClr val="FBE5D6"/>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Sheet1!$D$2:$D$11</c:f>
              <c:numCache>
                <c:formatCode>0.0%</c:formatCode>
                <c:ptCount val="10"/>
                <c:pt idx="0">
                  <c:v>0</c:v>
                </c:pt>
                <c:pt idx="1">
                  <c:v>0</c:v>
                </c:pt>
                <c:pt idx="2">
                  <c:v>0</c:v>
                </c:pt>
                <c:pt idx="3">
                  <c:v>0</c:v>
                </c:pt>
                <c:pt idx="4">
                  <c:v>7.0000000000000007E-2</c:v>
                </c:pt>
                <c:pt idx="5">
                  <c:v>7.0000000000000007E-2</c:v>
                </c:pt>
                <c:pt idx="6">
                  <c:v>7.0000000000000007E-2</c:v>
                </c:pt>
                <c:pt idx="7">
                  <c:v>7.0000000000000007E-2</c:v>
                </c:pt>
                <c:pt idx="8">
                  <c:v>7.0000000000000007E-2</c:v>
                </c:pt>
                <c:pt idx="9">
                  <c:v>7.0000000000000007E-2</c:v>
                </c:pt>
              </c:numCache>
            </c:numRef>
          </c:val>
          <c:extLst>
            <c:ext xmlns:c16="http://schemas.microsoft.com/office/drawing/2014/chart" uri="{C3380CC4-5D6E-409C-BE32-E72D297353CC}">
              <c16:uniqueId val="{00000002-98DF-4EE5-BC2A-B4C65F3DAB91}"/>
            </c:ext>
          </c:extLst>
        </c:ser>
        <c:dLbls>
          <c:showLegendKey val="0"/>
          <c:showVal val="0"/>
          <c:showCatName val="0"/>
          <c:showSerName val="0"/>
          <c:showPercent val="0"/>
          <c:showBubbleSize val="0"/>
        </c:dLbls>
        <c:gapWidth val="150"/>
        <c:axId val="1339193664"/>
        <c:axId val="1523788175"/>
      </c:barChart>
      <c:lineChart>
        <c:grouping val="standard"/>
        <c:varyColors val="0"/>
        <c:ser>
          <c:idx val="4"/>
          <c:order val="4"/>
          <c:tx>
            <c:strRef>
              <c:f>Sheet1!$F$1</c:f>
              <c:strCache>
                <c:ptCount val="1"/>
                <c:pt idx="0">
                  <c:v>열1</c:v>
                </c:pt>
              </c:strCache>
            </c:strRef>
          </c:tx>
          <c:spPr>
            <a:ln w="28575" cap="rnd">
              <a:solidFill>
                <a:schemeClr val="accent5"/>
              </a:solidFill>
              <a:round/>
            </a:ln>
            <a:effectLst/>
          </c:spPr>
          <c:marker>
            <c:symbol val="none"/>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Sheet1!$F$2:$F$11</c:f>
              <c:numCache>
                <c:formatCode>General</c:formatCode>
                <c:ptCount val="10"/>
              </c:numCache>
            </c:numRef>
          </c:val>
          <c:smooth val="0"/>
          <c:extLst>
            <c:ext xmlns:c16="http://schemas.microsoft.com/office/drawing/2014/chart" uri="{C3380CC4-5D6E-409C-BE32-E72D297353CC}">
              <c16:uniqueId val="{00000003-98DF-4EE5-BC2A-B4C65F3DAB91}"/>
            </c:ext>
          </c:extLst>
        </c:ser>
        <c:dLbls>
          <c:showLegendKey val="0"/>
          <c:showVal val="0"/>
          <c:showCatName val="0"/>
          <c:showSerName val="0"/>
          <c:showPercent val="0"/>
          <c:showBubbleSize val="0"/>
        </c:dLbls>
        <c:marker val="1"/>
        <c:smooth val="0"/>
        <c:axId val="1339193664"/>
        <c:axId val="1523788175"/>
      </c:lineChart>
      <c:lineChart>
        <c:grouping val="standard"/>
        <c:varyColors val="0"/>
        <c:ser>
          <c:idx val="3"/>
          <c:order val="3"/>
          <c:tx>
            <c:strRef>
              <c:f>Sheet1!$E$1</c:f>
              <c:strCache>
                <c:ptCount val="1"/>
                <c:pt idx="0">
                  <c:v>종합수익률</c:v>
                </c:pt>
              </c:strCache>
            </c:strRef>
          </c:tx>
          <c:spPr>
            <a:ln w="28575" cap="rnd">
              <a:solidFill>
                <a:schemeClr val="accent4"/>
              </a:solidFill>
              <a:round/>
            </a:ln>
            <a:effectLst>
              <a:outerShdw blurRad="50800" dist="38100" dir="5400000" algn="t" rotWithShape="0">
                <a:prstClr val="black">
                  <a:alpha val="40000"/>
                </a:prstClr>
              </a:outerShdw>
            </a:effectLst>
          </c:spPr>
          <c:marker>
            <c:symbol val="diamond"/>
            <c:size val="9"/>
            <c:spPr>
              <a:solidFill>
                <a:schemeClr val="bg1"/>
              </a:solidFill>
              <a:ln w="9525">
                <a:solidFill>
                  <a:schemeClr val="accent4"/>
                </a:solidFill>
              </a:ln>
              <a:effectLst>
                <a:outerShdw blurRad="50800" dist="38100" dir="5400000" algn="t" rotWithShape="0">
                  <a:prstClr val="black">
                    <a:alpha val="40000"/>
                  </a:prstClr>
                </a:outerShdw>
              </a:effectLst>
            </c:spPr>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Sheet1!$E$2:$E$11</c:f>
              <c:numCache>
                <c:formatCode>0.00%</c:formatCode>
                <c:ptCount val="10"/>
                <c:pt idx="0">
                  <c:v>7.4999999999999997E-2</c:v>
                </c:pt>
                <c:pt idx="1">
                  <c:v>5.8000000000000003E-2</c:v>
                </c:pt>
                <c:pt idx="2">
                  <c:v>6.0999999999999999E-2</c:v>
                </c:pt>
                <c:pt idx="3">
                  <c:v>5.5E-2</c:v>
                </c:pt>
                <c:pt idx="4">
                  <c:v>5.1999999999999998E-2</c:v>
                </c:pt>
                <c:pt idx="5">
                  <c:v>6.4000000000000001E-2</c:v>
                </c:pt>
                <c:pt idx="6">
                  <c:v>6.9000000000000006E-2</c:v>
                </c:pt>
                <c:pt idx="7">
                  <c:v>6.2E-2</c:v>
                </c:pt>
                <c:pt idx="8">
                  <c:v>0.06</c:v>
                </c:pt>
                <c:pt idx="9">
                  <c:v>0.13</c:v>
                </c:pt>
              </c:numCache>
            </c:numRef>
          </c:val>
          <c:smooth val="0"/>
          <c:extLst>
            <c:ext xmlns:c16="http://schemas.microsoft.com/office/drawing/2014/chart" uri="{C3380CC4-5D6E-409C-BE32-E72D297353CC}">
              <c16:uniqueId val="{00000004-98DF-4EE5-BC2A-B4C65F3DAB91}"/>
            </c:ext>
          </c:extLst>
        </c:ser>
        <c:dLbls>
          <c:showLegendKey val="0"/>
          <c:showVal val="0"/>
          <c:showCatName val="0"/>
          <c:showSerName val="0"/>
          <c:showPercent val="0"/>
          <c:showBubbleSize val="0"/>
        </c:dLbls>
        <c:marker val="1"/>
        <c:smooth val="0"/>
        <c:axId val="616716911"/>
        <c:axId val="1885508496"/>
      </c:lineChart>
      <c:catAx>
        <c:axId val="133919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23788175"/>
        <c:crosses val="autoZero"/>
        <c:auto val="1"/>
        <c:lblAlgn val="ctr"/>
        <c:lblOffset val="100"/>
        <c:noMultiLvlLbl val="0"/>
      </c:catAx>
      <c:valAx>
        <c:axId val="1523788175"/>
        <c:scaling>
          <c:orientation val="minMax"/>
          <c:max val="0.15000000000000002"/>
          <c:min val="0"/>
        </c:scaling>
        <c:delete val="0"/>
        <c:axPos val="l"/>
        <c:numFmt formatCode="0.0%" sourceLinked="1"/>
        <c:majorTickMark val="out"/>
        <c:minorTickMark val="in"/>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39193664"/>
        <c:crosses val="autoZero"/>
        <c:crossBetween val="between"/>
        <c:majorUnit val="7.5000000000000011E-2"/>
        <c:minorUnit val="5.000000000000001E-3"/>
      </c:valAx>
      <c:valAx>
        <c:axId val="1885508496"/>
        <c:scaling>
          <c:orientation val="minMax"/>
          <c:max val="0.2"/>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616716911"/>
        <c:crosses val="max"/>
        <c:crossBetween val="between"/>
      </c:valAx>
      <c:catAx>
        <c:axId val="616716911"/>
        <c:scaling>
          <c:orientation val="minMax"/>
        </c:scaling>
        <c:delete val="1"/>
        <c:axPos val="b"/>
        <c:numFmt formatCode="General" sourceLinked="1"/>
        <c:majorTickMark val="out"/>
        <c:minorTickMark val="none"/>
        <c:tickLblPos val="nextTo"/>
        <c:crossAx val="1885508496"/>
        <c:crosses val="autoZero"/>
        <c:auto val="1"/>
        <c:lblAlgn val="ctr"/>
        <c:lblOffset val="100"/>
        <c:noMultiLvlLbl val="0"/>
      </c:catAx>
      <c:spPr>
        <a:noFill/>
        <a:ln>
          <a:noFill/>
        </a:ln>
        <a:effectLst/>
      </c:spPr>
    </c:plotArea>
    <c:legend>
      <c:legendPos val="b"/>
      <c:legendEntry>
        <c:idx val="3"/>
        <c:delete val="1"/>
      </c:legendEntry>
      <c:layout>
        <c:manualLayout>
          <c:xMode val="edge"/>
          <c:yMode val="edge"/>
          <c:x val="0.10325407253996519"/>
          <c:y val="0.22027392610040186"/>
          <c:w val="0.61282190843575501"/>
          <c:h val="0.106052687869462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95923181508082E-2"/>
          <c:y val="9.8222009063704402E-2"/>
          <c:w val="0.91470407681849197"/>
          <c:h val="0.57098589673686562"/>
        </c:manualLayout>
      </c:layout>
      <c:lineChart>
        <c:grouping val="standard"/>
        <c:varyColors val="0"/>
        <c:ser>
          <c:idx val="0"/>
          <c:order val="0"/>
          <c:tx>
            <c:strRef>
              <c:f>Sheet1!$B$1</c:f>
              <c:strCache>
                <c:ptCount val="1"/>
                <c:pt idx="0">
                  <c:v>모리츠(현재)</c:v>
                </c:pt>
              </c:strCache>
            </c:strRef>
          </c:tx>
          <c:spPr>
            <a:ln w="25400" cap="rnd">
              <a:solidFill>
                <a:schemeClr val="bg1">
                  <a:lumMod val="75000"/>
                </a:schemeClr>
              </a:solidFill>
              <a:round/>
            </a:ln>
            <a:effectLst/>
          </c:spPr>
          <c:marker>
            <c:symbol val="square"/>
            <c:size val="7"/>
            <c:spPr>
              <a:solidFill>
                <a:schemeClr val="bg1"/>
              </a:solidFill>
              <a:ln w="9525">
                <a:solidFill>
                  <a:schemeClr val="bg1">
                    <a:lumMod val="75000"/>
                  </a:schemeClr>
                </a:solidFill>
              </a:ln>
              <a:effectLst/>
            </c:spPr>
          </c:marker>
          <c:dLbls>
            <c:dLbl>
              <c:idx val="2"/>
              <c:layout>
                <c:manualLayout>
                  <c:x val="-4.9844150441909908E-2"/>
                  <c:y val="9.6810283797797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276-4896-BCC6-5A9A02C28BFB}"/>
                </c:ext>
              </c:extLst>
            </c:dLbl>
            <c:dLbl>
              <c:idx val="3"/>
              <c:layout>
                <c:manualLayout>
                  <c:x val="-3.7956208542986286E-2"/>
                  <c:y val="2.97826705593440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Sheet1!$B$2:$B$11</c:f>
              <c:numCache>
                <c:formatCode>0.00%</c:formatCode>
                <c:ptCount val="10"/>
                <c:pt idx="0">
                  <c:v>6.0838968718619178E-2</c:v>
                </c:pt>
                <c:pt idx="1">
                  <c:v>4.6291161341579179E-2</c:v>
                </c:pt>
                <c:pt idx="2">
                  <c:v>4.206802209910921E-2</c:v>
                </c:pt>
                <c:pt idx="3">
                  <c:v>4.4354027122363207E-2</c:v>
                </c:pt>
                <c:pt idx="4">
                  <c:v>4.5388282445619189E-2</c:v>
                </c:pt>
                <c:pt idx="5">
                  <c:v>4.7025412153104462E-2</c:v>
                </c:pt>
                <c:pt idx="6">
                  <c:v>4.5857768921576794E-2</c:v>
                </c:pt>
                <c:pt idx="7">
                  <c:v>5.4038871104378203E-2</c:v>
                </c:pt>
                <c:pt idx="8">
                  <c:v>5.4985088986083466E-2</c:v>
                </c:pt>
                <c:pt idx="9">
                  <c:v>5.5454832123439275E-2</c:v>
                </c:pt>
              </c:numCache>
            </c:numRef>
          </c:val>
          <c:smooth val="0"/>
          <c:extLst>
            <c:ext xmlns:c16="http://schemas.microsoft.com/office/drawing/2014/chart" uri="{C3380CC4-5D6E-409C-BE32-E72D297353CC}">
              <c16:uniqueId val="{00000001-6276-4896-BCC6-5A9A02C28BFB}"/>
            </c:ext>
          </c:extLst>
        </c:ser>
        <c:ser>
          <c:idx val="1"/>
          <c:order val="1"/>
          <c:tx>
            <c:strRef>
              <c:f>Sheet1!$C$1</c:f>
              <c:strCache>
                <c:ptCount val="1"/>
                <c:pt idx="0">
                  <c:v>본 건 포함</c:v>
                </c:pt>
              </c:strCache>
            </c:strRef>
          </c:tx>
          <c:spPr>
            <a:ln w="28575" cap="rnd">
              <a:solidFill>
                <a:srgbClr val="C00000"/>
              </a:solidFill>
              <a:round/>
            </a:ln>
            <a:effectLst>
              <a:outerShdw blurRad="50800" dist="38100" dir="2700000" algn="tl" rotWithShape="0">
                <a:prstClr val="black">
                  <a:alpha val="40000"/>
                </a:prstClr>
              </a:outerShdw>
            </a:effectLst>
          </c:spPr>
          <c:marker>
            <c:symbol val="circle"/>
            <c:size val="7"/>
            <c:spPr>
              <a:solidFill>
                <a:schemeClr val="bg1"/>
              </a:solidFill>
              <a:ln w="9525">
                <a:solidFill>
                  <a:srgbClr val="C00000"/>
                </a:solidFill>
              </a:ln>
              <a:effectLst>
                <a:outerShdw blurRad="50800" dist="38100" dir="2700000" algn="tl" rotWithShape="0">
                  <a:prstClr val="black">
                    <a:alpha val="40000"/>
                  </a:prstClr>
                </a:outerShdw>
              </a:effectLst>
            </c:spPr>
          </c:marker>
          <c:dLbls>
            <c:dLbl>
              <c:idx val="0"/>
              <c:layout>
                <c:manualLayout>
                  <c:x val="-4.411747611048486E-2"/>
                  <c:y val="-3.650955479865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76-4896-BCC6-5A9A02C28BFB}"/>
                </c:ext>
              </c:extLst>
            </c:dLbl>
            <c:dLbl>
              <c:idx val="1"/>
              <c:layout>
                <c:manualLayout>
                  <c:x val="-2.9920292102100517E-2"/>
                  <c:y val="-6.66237051598973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76-4896-BCC6-5A9A02C28BFB}"/>
                </c:ext>
              </c:extLst>
            </c:dLbl>
            <c:dLbl>
              <c:idx val="2"/>
              <c:layout>
                <c:manualLayout>
                  <c:x val="-4.4117547633148152E-2"/>
                  <c:y val="-8.15506558536527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76-4896-BCC6-5A9A02C28BFB}"/>
                </c:ext>
              </c:extLst>
            </c:dLbl>
            <c:dLbl>
              <c:idx val="3"/>
              <c:layout>
                <c:manualLayout>
                  <c:x val="-6.2691510645657506E-2"/>
                  <c:y val="-6.83469768710955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76-4896-BCC6-5A9A02C28BFB}"/>
                </c:ext>
              </c:extLst>
            </c:dLbl>
            <c:dLbl>
              <c:idx val="4"/>
              <c:layout>
                <c:manualLayout>
                  <c:x val="-4.4136719735141827E-2"/>
                  <c:y val="-9.70868355369493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76-4896-BCC6-5A9A02C28BFB}"/>
                </c:ext>
              </c:extLst>
            </c:dLbl>
            <c:dLbl>
              <c:idx val="5"/>
              <c:layout>
                <c:manualLayout>
                  <c:x val="-5.0184541770033314E-2"/>
                  <c:y val="-8.1704468497735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76-4896-BCC6-5A9A02C28BFB}"/>
                </c:ext>
              </c:extLst>
            </c:dLbl>
            <c:dLbl>
              <c:idx val="6"/>
              <c:layout>
                <c:manualLayout>
                  <c:x val="-4.6139818374556017E-2"/>
                  <c:y val="-4.0156862970344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76-4896-BCC6-5A9A02C28BFB}"/>
                </c:ext>
              </c:extLst>
            </c:dLbl>
            <c:dLbl>
              <c:idx val="7"/>
              <c:layout>
                <c:manualLayout>
                  <c:x val="-4.6139818374555941E-2"/>
                  <c:y val="-4.74514793137316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76-4896-BCC6-5A9A02C28BFB}"/>
                </c:ext>
              </c:extLst>
            </c:dLbl>
            <c:dLbl>
              <c:idx val="8"/>
              <c:layout>
                <c:manualLayout>
                  <c:x val="-5.4152020275384634E-2"/>
                  <c:y val="-5.42702439634951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76-4896-BCC6-5A9A02C28BFB}"/>
                </c:ext>
              </c:extLst>
            </c:dLbl>
            <c:dLbl>
              <c:idx val="9"/>
              <c:layout>
                <c:manualLayout>
                  <c:x val="-9.8017459428965305E-3"/>
                  <c:y val="-5.141592106629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Sheet1!$C$2:$C$11</c:f>
              <c:numCache>
                <c:formatCode>0.00%</c:formatCode>
                <c:ptCount val="10"/>
                <c:pt idx="0">
                  <c:v>6.1600025666094696E-2</c:v>
                </c:pt>
                <c:pt idx="1">
                  <c:v>4.8727449494653387E-2</c:v>
                </c:pt>
                <c:pt idx="2">
                  <c:v>4.4824348628650645E-2</c:v>
                </c:pt>
                <c:pt idx="3">
                  <c:v>4.7163229335548701E-2</c:v>
                </c:pt>
                <c:pt idx="4">
                  <c:v>4.4978015952720218E-2</c:v>
                </c:pt>
                <c:pt idx="5">
                  <c:v>4.8759595783479409E-2</c:v>
                </c:pt>
                <c:pt idx="6">
                  <c:v>4.7680395297748132E-2</c:v>
                </c:pt>
                <c:pt idx="7">
                  <c:v>5.5323869876547478E-2</c:v>
                </c:pt>
                <c:pt idx="8">
                  <c:v>5.6217881602774383E-2</c:v>
                </c:pt>
                <c:pt idx="9">
                  <c:v>5.666756068905663E-2</c:v>
                </c:pt>
              </c:numCache>
            </c:numRef>
          </c:val>
          <c:smooth val="0"/>
          <c:extLst>
            <c:ext xmlns:c16="http://schemas.microsoft.com/office/drawing/2014/chart" uri="{C3380CC4-5D6E-409C-BE32-E72D297353CC}">
              <c16:uniqueId val="{0000000C-6276-4896-BCC6-5A9A02C28BFB}"/>
            </c:ext>
          </c:extLst>
        </c:ser>
        <c:dLbls>
          <c:showLegendKey val="0"/>
          <c:showVal val="0"/>
          <c:showCatName val="0"/>
          <c:showSerName val="0"/>
          <c:showPercent val="0"/>
          <c:showBubbleSize val="0"/>
        </c:dLbls>
        <c:marker val="1"/>
        <c:smooth val="0"/>
        <c:axId val="43317775"/>
        <c:axId val="43324015"/>
        <c:extLst/>
      </c:lineChart>
      <c:catAx>
        <c:axId val="43317775"/>
        <c:scaling>
          <c:orientation val="minMax"/>
        </c:scaling>
        <c:delete val="0"/>
        <c:axPos val="b"/>
        <c:numFmt formatCode="&quot;FY&quot;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24015"/>
        <c:crosses val="autoZero"/>
        <c:auto val="1"/>
        <c:lblAlgn val="ctr"/>
        <c:lblOffset val="100"/>
        <c:noMultiLvlLbl val="0"/>
      </c:catAx>
      <c:valAx>
        <c:axId val="43324015"/>
        <c:scaling>
          <c:orientation val="minMax"/>
          <c:min val="3.5000000000000003E-2"/>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17775"/>
        <c:crosses val="autoZero"/>
        <c:crossBetween val="between"/>
      </c:valAx>
      <c:spPr>
        <a:noFill/>
        <a:ln>
          <a:noFill/>
        </a:ln>
        <a:effectLst/>
      </c:spPr>
    </c:plotArea>
    <c:legend>
      <c:legendPos val="b"/>
      <c:layout>
        <c:manualLayout>
          <c:xMode val="edge"/>
          <c:yMode val="edge"/>
          <c:x val="0.56343832850428266"/>
          <c:y val="0.59742021392753364"/>
          <c:w val="0.43128533843593181"/>
          <c:h val="0.123486728306344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pattFill prst="wdUpDiag">
              <a:fgClr>
                <a:schemeClr val="tx2">
                  <a:lumMod val="20000"/>
                  <a:lumOff val="80000"/>
                </a:schemeClr>
              </a:fgClr>
              <a:bgClr>
                <a:schemeClr val="bg1"/>
              </a:bgClr>
            </a:pattFill>
            <a:ln>
              <a:solidFill>
                <a:schemeClr val="bg1"/>
              </a:solidFill>
            </a:ln>
            <a:effectLst/>
          </c:spPr>
          <c:invertIfNegative val="0"/>
          <c:dPt>
            <c:idx val="0"/>
            <c:invertIfNegative val="0"/>
            <c:bubble3D val="0"/>
            <c:spPr>
              <a:pattFill prst="wdUpDiag">
                <a:fgClr>
                  <a:schemeClr val="tx2">
                    <a:lumMod val="20000"/>
                    <a:lumOff val="80000"/>
                  </a:schemeClr>
                </a:fgClr>
                <a:bgClr>
                  <a:schemeClr val="bg1"/>
                </a:bgClr>
              </a:pattFill>
              <a:ln>
                <a:solidFill>
                  <a:schemeClr val="bg1"/>
                </a:solidFill>
              </a:ln>
              <a:effectLst/>
            </c:spPr>
            <c:extLst>
              <c:ext xmlns:c16="http://schemas.microsoft.com/office/drawing/2014/chart" uri="{C3380CC4-5D6E-409C-BE32-E72D297353CC}">
                <c16:uniqueId val="{00000001-6D46-4C40-A0AF-A4A9AE983CCC}"/>
              </c:ext>
            </c:extLst>
          </c:dPt>
          <c:cat>
            <c:strRef>
              <c:f>Sheet1!$A$2:$A$3</c:f>
              <c:strCache>
                <c:ptCount val="2"/>
                <c:pt idx="0">
                  <c:v>항목 1</c:v>
                </c:pt>
                <c:pt idx="1">
                  <c:v>항목 2</c:v>
                </c:pt>
              </c:strCache>
            </c:strRef>
          </c:cat>
          <c:val>
            <c:numRef>
              <c:f>Sheet1!$B$2:$B$3</c:f>
              <c:numCache>
                <c:formatCode>General</c:formatCode>
                <c:ptCount val="2"/>
                <c:pt idx="0">
                  <c:v>665</c:v>
                </c:pt>
              </c:numCache>
            </c:numRef>
          </c:val>
          <c:extLst>
            <c:ext xmlns:c16="http://schemas.microsoft.com/office/drawing/2014/chart" uri="{C3380CC4-5D6E-409C-BE32-E72D297353CC}">
              <c16:uniqueId val="{00000002-6D46-4C40-A0AF-A4A9AE983CCC}"/>
            </c:ext>
          </c:extLst>
        </c:ser>
        <c:ser>
          <c:idx val="1"/>
          <c:order val="1"/>
          <c:tx>
            <c:strRef>
              <c:f>Sheet1!$C$1</c:f>
              <c:strCache>
                <c:ptCount val="1"/>
                <c:pt idx="0">
                  <c:v>계열 2</c:v>
                </c:pt>
              </c:strCache>
            </c:strRef>
          </c:tx>
          <c:spPr>
            <a:pattFill prst="wdUpDiag">
              <a:fgClr>
                <a:schemeClr val="bg1">
                  <a:lumMod val="9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1">
                  <c:v>665</c:v>
                </c:pt>
              </c:numCache>
            </c:numRef>
          </c:val>
          <c:extLst>
            <c:ext xmlns:c16="http://schemas.microsoft.com/office/drawing/2014/chart" uri="{C3380CC4-5D6E-409C-BE32-E72D297353CC}">
              <c16:uniqueId val="{00000003-6D46-4C40-A0AF-A4A9AE983CCC}"/>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6D46-4C40-A0AF-A4A9AE983CCC}"/>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6D46-4C40-A0AF-A4A9AE983CCC}"/>
            </c:ext>
          </c:extLst>
        </c:ser>
        <c:ser>
          <c:idx val="4"/>
          <c:order val="4"/>
          <c:tx>
            <c:strRef>
              <c:f>Sheet1!$F$1</c:f>
              <c:strCache>
                <c:ptCount val="1"/>
                <c:pt idx="0">
                  <c:v>계열 5</c:v>
                </c:pt>
              </c:strCache>
            </c:strRef>
          </c:tx>
          <c:spPr>
            <a:solidFill>
              <a:srgbClr val="F8CBAD"/>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6D46-4C40-A0AF-A4A9AE983CCC}"/>
            </c:ext>
          </c:extLst>
        </c:ser>
        <c:ser>
          <c:idx val="5"/>
          <c:order val="5"/>
          <c:tx>
            <c:strRef>
              <c:f>Sheet1!$G$1</c:f>
              <c:strCache>
                <c:ptCount val="1"/>
                <c:pt idx="0">
                  <c:v>계열 6</c:v>
                </c:pt>
              </c:strCache>
            </c:strRef>
          </c:tx>
          <c:spPr>
            <a:solidFill>
              <a:srgbClr val="FBE5D6"/>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6D46-4C40-A0AF-A4A9AE983CCC}"/>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numCache>
            </c:numRef>
          </c:val>
          <c:extLst>
            <c:ext xmlns:c16="http://schemas.microsoft.com/office/drawing/2014/chart" uri="{C3380CC4-5D6E-409C-BE32-E72D297353CC}">
              <c16:uniqueId val="{00000008-6D46-4C40-A0AF-A4A9AE983CCC}"/>
            </c:ext>
          </c:extLst>
        </c:ser>
        <c:ser>
          <c:idx val="7"/>
          <c:order val="7"/>
          <c:tx>
            <c:strRef>
              <c:f>Sheet1!$I$1</c:f>
              <c:strCache>
                <c:ptCount val="1"/>
                <c:pt idx="0">
                  <c:v>계열 8</c:v>
                </c:pt>
              </c:strCache>
            </c:strRef>
          </c:tx>
          <c:spPr>
            <a:solidFill>
              <a:schemeClr val="bg2">
                <a:lumMod val="90000"/>
              </a:schemeClr>
            </a:solid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2130</c:v>
                </c:pt>
              </c:numCache>
            </c:numRef>
          </c:val>
          <c:extLst>
            <c:ext xmlns:c16="http://schemas.microsoft.com/office/drawing/2014/chart" uri="{C3380CC4-5D6E-409C-BE32-E72D297353CC}">
              <c16:uniqueId val="{00000009-6D46-4C40-A0AF-A4A9AE983CCC}"/>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6D46-4C40-A0AF-A4A9AE983CCC}"/>
            </c:ext>
          </c:extLst>
        </c:ser>
        <c:ser>
          <c:idx val="9"/>
          <c:order val="9"/>
          <c:tx>
            <c:strRef>
              <c:f>Sheet1!$K$1</c:f>
              <c:strCache>
                <c:ptCount val="1"/>
                <c:pt idx="0">
                  <c:v>계열 10</c:v>
                </c:pt>
              </c:strCache>
            </c:strRef>
          </c:tx>
          <c:spPr>
            <a:solidFill>
              <a:srgbClr val="D6DCE5"/>
            </a:solidFill>
            <a:ln>
              <a:noFill/>
            </a:ln>
            <a:effectLst/>
          </c:spPr>
          <c:invertIfNegative val="0"/>
          <c:cat>
            <c:strRef>
              <c:f>Sheet1!$A$2:$A$3</c:f>
              <c:strCache>
                <c:ptCount val="2"/>
                <c:pt idx="0">
                  <c:v>항목 1</c:v>
                </c:pt>
                <c:pt idx="1">
                  <c:v>항목 2</c:v>
                </c:pt>
              </c:strCache>
            </c:strRef>
          </c:cat>
          <c:val>
            <c:numRef>
              <c:f>Sheet1!$K$2:$K$3</c:f>
              <c:numCache>
                <c:formatCode>General</c:formatCode>
                <c:ptCount val="2"/>
                <c:pt idx="0">
                  <c:v>3035</c:v>
                </c:pt>
              </c:numCache>
            </c:numRef>
          </c:val>
          <c:extLst>
            <c:ext xmlns:c16="http://schemas.microsoft.com/office/drawing/2014/chart" uri="{C3380CC4-5D6E-409C-BE32-E72D297353CC}">
              <c16:uniqueId val="{0000000B-6D46-4C40-A0AF-A4A9AE983CCC}"/>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700"/>
          <c:min val="0"/>
        </c:scaling>
        <c:delete val="0"/>
        <c:axPos val="l"/>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3"/>
            <a:ext cx="2950529" cy="499033"/>
          </a:xfrm>
          <a:prstGeom prst="rect">
            <a:avLst/>
          </a:prstGeom>
        </p:spPr>
        <p:txBody>
          <a:bodyPr vert="horz" lIns="91540" tIns="45769" rIns="91540" bIns="45769"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2" y="3"/>
            <a:ext cx="2950529" cy="499033"/>
          </a:xfrm>
          <a:prstGeom prst="rect">
            <a:avLst/>
          </a:prstGeom>
        </p:spPr>
        <p:txBody>
          <a:bodyPr vert="horz" lIns="91540" tIns="45769" rIns="91540" bIns="45769"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2026-09-30</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1" y="9440309"/>
            <a:ext cx="2950529" cy="499033"/>
          </a:xfrm>
          <a:prstGeom prst="rect">
            <a:avLst/>
          </a:prstGeom>
        </p:spPr>
        <p:txBody>
          <a:bodyPr vert="horz" lIns="91540" tIns="45769" rIns="91540" bIns="45769"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2" y="9440309"/>
            <a:ext cx="2950529" cy="499033"/>
          </a:xfrm>
          <a:prstGeom prst="rect">
            <a:avLst/>
          </a:prstGeom>
        </p:spPr>
        <p:txBody>
          <a:bodyPr vert="horz" lIns="91540" tIns="45769" rIns="91540" bIns="45769"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2" tIns="45761" rIns="91522"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2" tIns="45761" rIns="91522"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2026-09-30</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2" tIns="45761" rIns="91522"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2" tIns="45761" rIns="91522"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2" tIns="45761" rIns="91522"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2" tIns="45761" rIns="91522"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17A77-EB0A-59CD-3E45-75969671F8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807A19C-242D-03DC-AC7E-8D76A8F0AE1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A3EE431-B322-B2FB-5523-724110EB608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294748F-CB85-EC77-4825-9169B251F532}"/>
              </a:ext>
            </a:extLst>
          </p:cNvPr>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3259228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marL="0" marR="0" lvl="0" indent="0" algn="r" defTabSz="457755" rtl="0" eaLnBrk="1" fontAlgn="auto" latinLnBrk="0" hangingPunct="1">
              <a:lnSpc>
                <a:spcPct val="100000"/>
              </a:lnSpc>
              <a:spcBef>
                <a:spcPts val="0"/>
              </a:spcBef>
              <a:spcAft>
                <a:spcPts val="0"/>
              </a:spcAft>
              <a:buClrTx/>
              <a:buSzTx/>
              <a:buFontTx/>
              <a:buNone/>
              <a:tabLst/>
              <a:defRPr/>
            </a:pPr>
            <a:fld id="{2B8DFE68-44DA-46E6-B8A3-9F09BDCA52AB}" type="slidenum">
              <a:rPr kumimoji="0" lang="ko-KR" altLang="en-US" sz="1200" b="0" i="0" u="none" strike="noStrike" kern="1200" cap="none" spc="0" normalizeH="0" baseline="0" noProof="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pPr marL="0" marR="0" lvl="0" indent="0" algn="r" defTabSz="457755" rtl="0" eaLnBrk="1" fontAlgn="auto" latinLnBrk="0"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B58F-FA30-CD0D-83A7-A3CC7982ED0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9CE320-F6F4-D054-3402-A83A2AB8AE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F42AAFD-B4BD-DF84-12D3-D66ED0F3E79C}"/>
              </a:ext>
            </a:extLst>
          </p:cNvPr>
          <p:cNvSpPr>
            <a:spLocks noGrp="1"/>
          </p:cNvSpPr>
          <p:nvPr>
            <p:ph type="body" idx="1"/>
          </p:nvPr>
        </p:nvSpPr>
        <p:spPr/>
        <p:txBody>
          <a:bodyPr/>
          <a:lstStyle/>
          <a:p>
            <a:r>
              <a:rPr lang="en-US" altLang="ko-KR" dirty="0"/>
              <a:t>5</a:t>
            </a:r>
            <a:r>
              <a:rPr lang="ko-KR" altLang="en-US" dirty="0" err="1"/>
              <a:t>년차</a:t>
            </a:r>
            <a:r>
              <a:rPr lang="ko-KR" altLang="en-US" dirty="0"/>
              <a:t> 매각배당 을 원본으로 메꾸는 걸로</a:t>
            </a:r>
          </a:p>
        </p:txBody>
      </p:sp>
      <p:sp>
        <p:nvSpPr>
          <p:cNvPr id="4" name="슬라이드 번호 개체 틀 3">
            <a:extLst>
              <a:ext uri="{FF2B5EF4-FFF2-40B4-BE49-F238E27FC236}">
                <a16:creationId xmlns:a16="http://schemas.microsoft.com/office/drawing/2014/main" id="{E88F0115-A40D-D99E-20D3-38A438C86C2E}"/>
              </a:ext>
            </a:extLst>
          </p:cNvPr>
          <p:cNvSpPr>
            <a:spLocks noGrp="1"/>
          </p:cNvSpPr>
          <p:nvPr>
            <p:ph type="sldNum" sz="quarter" idx="5"/>
          </p:nvPr>
        </p:nvSpPr>
        <p:spPr/>
        <p:txBody>
          <a:bodyPr/>
          <a:lstStyle/>
          <a:p>
            <a:pPr defTabSz="441564">
              <a:defRPr/>
            </a:pPr>
            <a:fld id="{2B8DFE68-44DA-46E6-B8A3-9F09BDCA52AB}" type="slidenum">
              <a:rPr lang="ko-KR" altLang="en-US">
                <a:solidFill>
                  <a:prstClr val="black"/>
                </a:solidFill>
              </a:rPr>
              <a:pPr defTabSz="441564">
                <a:defRPr/>
              </a:pPr>
              <a:t>14</a:t>
            </a:fld>
            <a:endParaRPr lang="ko-KR" altLang="en-US">
              <a:solidFill>
                <a:prstClr val="black"/>
              </a:solidFill>
            </a:endParaRPr>
          </a:p>
        </p:txBody>
      </p:sp>
    </p:spTree>
    <p:extLst>
      <p:ext uri="{BB962C8B-B14F-4D97-AF65-F5344CB8AC3E}">
        <p14:creationId xmlns:p14="http://schemas.microsoft.com/office/powerpoint/2010/main" val="4123022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740C-BB77-511A-E912-40D6E907EA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524734-E4D0-D4F7-53C7-B2DC83BA72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7F6F6E-EFB5-6ACF-100F-47E1CD0AFF1F}"/>
              </a:ext>
            </a:extLst>
          </p:cNvPr>
          <p:cNvSpPr>
            <a:spLocks noGrp="1"/>
          </p:cNvSpPr>
          <p:nvPr>
            <p:ph type="body" idx="1"/>
          </p:nvPr>
        </p:nvSpPr>
        <p:spPr/>
        <p:txBody>
          <a:bodyPr/>
          <a:lstStyle/>
          <a:p>
            <a:r>
              <a:rPr lang="ko-KR" altLang="en-US" dirty="0" err="1"/>
              <a:t>공모예외기관</a:t>
            </a:r>
            <a:endParaRPr lang="ko-KR" altLang="en-US" dirty="0"/>
          </a:p>
        </p:txBody>
      </p:sp>
      <p:sp>
        <p:nvSpPr>
          <p:cNvPr id="4" name="슬라이드 번호 개체 틀 3">
            <a:extLst>
              <a:ext uri="{FF2B5EF4-FFF2-40B4-BE49-F238E27FC236}">
                <a16:creationId xmlns:a16="http://schemas.microsoft.com/office/drawing/2014/main" id="{C9518416-CA6A-5D83-76B2-4B83FF436139}"/>
              </a:ext>
            </a:extLst>
          </p:cNvPr>
          <p:cNvSpPr>
            <a:spLocks noGrp="1"/>
          </p:cNvSpPr>
          <p:nvPr>
            <p:ph type="sldNum" sz="quarter" idx="5"/>
          </p:nvPr>
        </p:nvSpPr>
        <p:spPr/>
        <p:txBody>
          <a:bodyPr/>
          <a:lstStyle/>
          <a:p>
            <a:fld id="{2B8DFE68-44DA-46E6-B8A3-9F09BDCA52AB}" type="slidenum">
              <a:rPr lang="ko-KR" altLang="en-US" smtClean="0"/>
              <a:pPr/>
              <a:t>15</a:t>
            </a:fld>
            <a:endParaRPr lang="ko-KR" altLang="en-US"/>
          </a:p>
        </p:txBody>
      </p:sp>
    </p:spTree>
    <p:extLst>
      <p:ext uri="{BB962C8B-B14F-4D97-AF65-F5344CB8AC3E}">
        <p14:creationId xmlns:p14="http://schemas.microsoft.com/office/powerpoint/2010/main" val="94435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microsoft.com/office/2007/relationships/hdphoto" Target="../media/hdphoto2.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xml"/><Relationship Id="rId4" Type="http://schemas.microsoft.com/office/2007/relationships/hdphoto" Target="../media/hdphoto2.wdp"/></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6.xml"/><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7.xml"/><Relationship Id="rId4" Type="http://schemas.microsoft.com/office/2007/relationships/hdphoto" Target="../media/hdphoto2.wdp"/></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8.xml"/><Relationship Id="rId4" Type="http://schemas.microsoft.com/office/2007/relationships/hdphoto" Target="../media/hdphoto2.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9.xml"/><Relationship Id="rId4" Type="http://schemas.microsoft.com/office/2007/relationships/hdphoto" Target="../media/hdphoto2.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 Id="rId4" Type="http://schemas.microsoft.com/office/2007/relationships/hdphoto" Target="../media/hdphoto2.wdp"/></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 Id="rId4" Type="http://schemas.microsoft.com/office/2007/relationships/hdphoto" Target="../media/hdphoto2.wdp"/></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48828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9/30/2026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67037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pic>
        <p:nvPicPr>
          <p:cNvPr id="3" name="그림 2"/>
          <p:cNvPicPr>
            <a:picLocks noChangeAspect="1"/>
          </p:cNvPicPr>
          <p:nvPr userDrawn="1"/>
        </p:nvPicPr>
        <p:blipFill rotWithShape="1">
          <a:blip r:embed="rId2"/>
          <a:srcRect l="18544" b="4354"/>
          <a:stretch/>
        </p:blipFill>
        <p:spPr>
          <a:xfrm>
            <a:off x="7788" y="4094632"/>
            <a:ext cx="4372862" cy="3465043"/>
          </a:xfrm>
          <a:prstGeom prst="rect">
            <a:avLst/>
          </a:prstGeom>
        </p:spPr>
      </p:pic>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5" name="직선 연결선 4">
            <a:extLst>
              <a:ext uri="{FF2B5EF4-FFF2-40B4-BE49-F238E27FC236}">
                <a16:creationId xmlns:a16="http://schemas.microsoft.com/office/drawing/2014/main" id="{E698E318-C31C-4B7D-C179-4C56B3D6F138}"/>
              </a:ext>
            </a:extLst>
          </p:cNvPr>
          <p:cNvCxnSpPr/>
          <p:nvPr userDrawn="1"/>
        </p:nvCxnSpPr>
        <p:spPr>
          <a:xfrm>
            <a:off x="269874" y="6804025"/>
            <a:ext cx="10044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pic>
        <p:nvPicPr>
          <p:cNvPr id="3" name="그림 2"/>
          <p:cNvPicPr>
            <a:picLocks noChangeAspect="1"/>
          </p:cNvPicPr>
          <p:nvPr userDrawn="1"/>
        </p:nvPicPr>
        <p:blipFill rotWithShape="1">
          <a:blip r:embed="rId2"/>
          <a:srcRect l="18544" b="4354"/>
          <a:stretch/>
        </p:blipFill>
        <p:spPr>
          <a:xfrm>
            <a:off x="7788" y="4094632"/>
            <a:ext cx="4372862" cy="3465043"/>
          </a:xfrm>
          <a:prstGeom prst="rect">
            <a:avLst/>
          </a:prstGeom>
        </p:spPr>
      </p:pic>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그림 1">
            <a:extLst>
              <a:ext uri="{FF2B5EF4-FFF2-40B4-BE49-F238E27FC236}">
                <a16:creationId xmlns:a16="http://schemas.microsoft.com/office/drawing/2014/main" id="{9520C0AA-552F-A4DD-999E-0243E4E8C24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4562" r="10258"/>
          <a:stretch/>
        </p:blipFill>
        <p:spPr>
          <a:xfrm>
            <a:off x="0" y="0"/>
            <a:ext cx="10746506" cy="7559675"/>
          </a:xfrm>
          <a:prstGeom prst="rect">
            <a:avLst/>
          </a:prstGeom>
        </p:spPr>
      </p:pic>
      <p:sp>
        <p:nvSpPr>
          <p:cNvPr id="4" name="직사각형 3">
            <a:extLst>
              <a:ext uri="{FF2B5EF4-FFF2-40B4-BE49-F238E27FC236}">
                <a16:creationId xmlns:a16="http://schemas.microsoft.com/office/drawing/2014/main" id="{4E719A9A-BDF6-2C92-6A2F-31156B42C4B1}"/>
              </a:ext>
            </a:extLst>
          </p:cNvPr>
          <p:cNvSpPr/>
          <p:nvPr userDrawn="1"/>
        </p:nvSpPr>
        <p:spPr>
          <a:xfrm>
            <a:off x="0" y="0"/>
            <a:ext cx="10746505" cy="7559675"/>
          </a:xfrm>
          <a:prstGeom prst="rect">
            <a:avLst/>
          </a:prstGeom>
          <a:gradFill>
            <a:gsLst>
              <a:gs pos="0">
                <a:schemeClr val="bg1"/>
              </a:gs>
              <a:gs pos="53000">
                <a:schemeClr val="bg1"/>
              </a:gs>
              <a:gs pos="100000">
                <a:schemeClr val="bg1">
                  <a:alpha val="5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5" name="직선 연결선 4">
            <a:extLst>
              <a:ext uri="{FF2B5EF4-FFF2-40B4-BE49-F238E27FC236}">
                <a16:creationId xmlns:a16="http://schemas.microsoft.com/office/drawing/2014/main" id="{E698E318-C31C-4B7D-C179-4C56B3D6F138}"/>
              </a:ext>
            </a:extLst>
          </p:cNvPr>
          <p:cNvCxnSpPr/>
          <p:nvPr userDrawn="1"/>
        </p:nvCxnSpPr>
        <p:spPr>
          <a:xfrm>
            <a:off x="269874" y="6804025"/>
            <a:ext cx="10044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6" descr="CI기본형">
            <a:extLst>
              <a:ext uri="{FF2B5EF4-FFF2-40B4-BE49-F238E27FC236}">
                <a16:creationId xmlns:a16="http://schemas.microsoft.com/office/drawing/2014/main" id="{55030481-6155-9A3B-B805-FB15724CCEE6}"/>
              </a:ext>
            </a:extLst>
          </p:cNvPr>
          <p:cNvPicPr>
            <a:picLocks noChangeAspect="1" noChangeArrowheads="1"/>
          </p:cNvPicPr>
          <p:nvPr userDrawn="1"/>
        </p:nvPicPr>
        <p:blipFill>
          <a:blip r:embed="rId5" cstate="print">
            <a:extLst>
              <a:ext uri="{BEBA8EAE-BF5A-486C-A8C5-ECC9F3942E4B}">
                <a14:imgProps xmlns:a14="http://schemas.microsoft.com/office/drawing/2010/main">
                  <a14:imgLayer r:embed="rId6">
                    <a14:imgEffect>
                      <a14:saturation sat="33000"/>
                    </a14:imgEffect>
                  </a14:imgLayer>
                </a14:imgProps>
              </a:ext>
            </a:extLst>
          </a:blip>
          <a:srcRect t="14815" b="12407"/>
          <a:stretch>
            <a:fillRect/>
          </a:stretch>
        </p:blipFill>
        <p:spPr bwMode="auto">
          <a:xfrm>
            <a:off x="252807" y="6980340"/>
            <a:ext cx="1109453" cy="291885"/>
          </a:xfrm>
          <a:prstGeom prst="rect">
            <a:avLst/>
          </a:prstGeom>
          <a:noFill/>
          <a:ln w="9525">
            <a:noFill/>
            <a:miter lim="800000"/>
            <a:headEnd/>
            <a:tailEnd/>
          </a:ln>
        </p:spPr>
      </p:pic>
      <p:sp>
        <p:nvSpPr>
          <p:cNvPr id="8" name="TextBox 7">
            <a:extLst>
              <a:ext uri="{FF2B5EF4-FFF2-40B4-BE49-F238E27FC236}">
                <a16:creationId xmlns:a16="http://schemas.microsoft.com/office/drawing/2014/main" id="{10E34D32-4B6F-BEE4-CEB3-3973B4716071}"/>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0. Executive Summary</a:t>
            </a:r>
            <a:endParaRPr lang="ko-KR" altLang="en-US" noProof="0" dirty="0"/>
          </a:p>
        </p:txBody>
      </p:sp>
    </p:spTree>
    <p:extLst>
      <p:ext uri="{BB962C8B-B14F-4D97-AF65-F5344CB8AC3E}">
        <p14:creationId xmlns:p14="http://schemas.microsoft.com/office/powerpoint/2010/main" val="237837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p15:clr>
            <a:srgbClr val="FBAE40"/>
          </p15:clr>
        </p15:guide>
        <p15:guide id="3" pos="56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7F3924C1-BA52-5A60-A497-910BA82F3D32}"/>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7F3924C1-BA52-5A60-A497-910BA82F3D32}"/>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686BE778-4C5D-D3A6-39CD-76B38E7DE5D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3FC79C2-C7C9-A33B-644E-74BFA1A46C0C}"/>
              </a:ext>
            </a:extLst>
          </p:cNvPr>
          <p:cNvSpPr/>
          <p:nvPr userDrawn="1"/>
        </p:nvSpPr>
        <p:spPr>
          <a:xfrm flipV="1">
            <a:off x="6262678" y="-2"/>
            <a:ext cx="4429135" cy="755774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478594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흰배경">
    <p:spTree>
      <p:nvGrpSpPr>
        <p:cNvPr id="1" name=""/>
        <p:cNvGrpSpPr/>
        <p:nvPr/>
      </p:nvGrpSpPr>
      <p:grpSpPr>
        <a:xfrm>
          <a:off x="0" y="0"/>
          <a:ext cx="0" cy="0"/>
          <a:chOff x="0" y="0"/>
          <a:chExt cx="0" cy="0"/>
        </a:xfrm>
      </p:grpSpPr>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5" name="직사각형 4">
            <a:extLst>
              <a:ext uri="{FF2B5EF4-FFF2-40B4-BE49-F238E27FC236}">
                <a16:creationId xmlns:a16="http://schemas.microsoft.com/office/drawing/2014/main" id="{AD812282-E6E3-7F2E-5EBB-6FB19D37455E}"/>
              </a:ext>
            </a:extLst>
          </p:cNvPr>
          <p:cNvSpPr/>
          <p:nvPr userDrawn="1"/>
        </p:nvSpPr>
        <p:spPr>
          <a:xfrm>
            <a:off x="0" y="0"/>
            <a:ext cx="3689722"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80884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흰배경">
    <p:spTree>
      <p:nvGrpSpPr>
        <p:cNvPr id="1" name=""/>
        <p:cNvGrpSpPr/>
        <p:nvPr/>
      </p:nvGrpSpPr>
      <p:grpSpPr>
        <a:xfrm>
          <a:off x="0" y="0"/>
          <a:ext cx="0" cy="0"/>
          <a:chOff x="0" y="0"/>
          <a:chExt cx="0" cy="0"/>
        </a:xfrm>
      </p:grpSpPr>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46" name="직사각형 45">
            <a:extLst>
              <a:ext uri="{FF2B5EF4-FFF2-40B4-BE49-F238E27FC236}">
                <a16:creationId xmlns:a16="http://schemas.microsoft.com/office/drawing/2014/main" id="{01A3F993-4EC0-3F23-3315-85EC6D737462}"/>
              </a:ext>
            </a:extLst>
          </p:cNvPr>
          <p:cNvSpPr/>
          <p:nvPr userDrawn="1"/>
        </p:nvSpPr>
        <p:spPr>
          <a:xfrm>
            <a:off x="-1" y="0"/>
            <a:ext cx="5345907"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07132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5D80BF7E-184B-205B-AB45-2A3F502FE30C}"/>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499FFDB0-81BC-FBAD-E505-4640D647C843}"/>
              </a:ext>
            </a:extLst>
          </p:cNvPr>
          <p:cNvSpPr/>
          <p:nvPr userDrawn="1"/>
        </p:nvSpPr>
        <p:spPr>
          <a:xfrm>
            <a:off x="6708327" y="0"/>
            <a:ext cx="3983486"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380462F6-3265-4BF7-1CB9-66B91B21A76A}"/>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IV.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380462F6-3265-4BF7-1CB9-66B91B21A76A}"/>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6757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CACC35F4-1F8A-8BD8-CEC0-1F0949D393CE}"/>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10127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p15:clr>
            <a:srgbClr val="FBAE40"/>
          </p15:clr>
        </p15:guide>
        <p15:guide id="3" pos="56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4075392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67494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439009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87429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7645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추진 일정</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99736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74399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42040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a:t>
            </a:r>
            <a:r>
              <a:rPr lang="en-US" altLang="ko-KR" sz="1886" b="1" kern="120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 예정사항</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56867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791787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4101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ags" Target="../tags/tag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C764DE79-268F-4C1A-8933-263129D2AF90}" type="datetimeFigureOut">
              <a:rPr lang="en-US" smtClean="0"/>
              <a:t>9/30/2026</a:t>
            </a:fld>
            <a:endParaRPr lang="en-US" dirty="0"/>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4" r:id="rId3"/>
    <p:sldLayoutId id="2147483756" r:id="rId4"/>
    <p:sldLayoutId id="2147483730" r:id="rId5"/>
    <p:sldLayoutId id="2147483754" r:id="rId6"/>
    <p:sldLayoutId id="2147483731" r:id="rId7"/>
    <p:sldLayoutId id="2147483728" r:id="rId8"/>
    <p:sldLayoutId id="2147483784" r:id="rId9"/>
    <p:sldLayoutId id="2147483785" r:id="rId10"/>
    <p:sldLayoutId id="2147483757" r:id="rId11"/>
    <p:sldLayoutId id="2147483752" r:id="rId12"/>
    <p:sldLayoutId id="2147483755" r:id="rId13"/>
    <p:sldLayoutId id="2147483786" r:id="rId14"/>
    <p:sldLayoutId id="2147483750"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42733012"/>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hart" Target="../charts/chart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chart" Target="../charts/char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emf"/><Relationship Id="rId2" Type="http://schemas.openxmlformats.org/officeDocument/2006/relationships/image" Target="../media/image10.jpe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chart" Target="../charts/chart5.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A445-4997-AD4B-4F0E-F83AB8C07931}"/>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E5BD4069-A1DC-5AA7-C341-322B7CE02DB0}"/>
              </a:ext>
            </a:extLst>
          </p:cNvPr>
          <p:cNvPicPr>
            <a:picLocks noChangeAspect="1"/>
          </p:cNvPicPr>
          <p:nvPr/>
        </p:nvPicPr>
        <p:blipFill>
          <a:blip r:embed="rId3"/>
          <a:stretch>
            <a:fillRect/>
          </a:stretch>
        </p:blipFill>
        <p:spPr>
          <a:xfrm>
            <a:off x="9068692" y="957901"/>
            <a:ext cx="1133106" cy="329076"/>
          </a:xfrm>
          <a:prstGeom prst="rect">
            <a:avLst/>
          </a:prstGeom>
        </p:spPr>
      </p:pic>
      <p:grpSp>
        <p:nvGrpSpPr>
          <p:cNvPr id="13" name="그룹 12">
            <a:extLst>
              <a:ext uri="{FF2B5EF4-FFF2-40B4-BE49-F238E27FC236}">
                <a16:creationId xmlns:a16="http://schemas.microsoft.com/office/drawing/2014/main" id="{CFB1820E-105D-C293-4060-20CB72E24CF5}"/>
              </a:ext>
            </a:extLst>
          </p:cNvPr>
          <p:cNvGrpSpPr/>
          <p:nvPr/>
        </p:nvGrpSpPr>
        <p:grpSpPr>
          <a:xfrm>
            <a:off x="-8792" y="1122040"/>
            <a:ext cx="10700605" cy="0"/>
            <a:chOff x="-8792" y="1288322"/>
            <a:chExt cx="9152793" cy="0"/>
          </a:xfrm>
        </p:grpSpPr>
        <p:cxnSp>
          <p:nvCxnSpPr>
            <p:cNvPr id="18" name="직선 연결선 17">
              <a:extLst>
                <a:ext uri="{FF2B5EF4-FFF2-40B4-BE49-F238E27FC236}">
                  <a16:creationId xmlns:a16="http://schemas.microsoft.com/office/drawing/2014/main" id="{B7C5A682-C79E-5F32-CA44-763852B1128B}"/>
                </a:ext>
              </a:extLst>
            </p:cNvPr>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9455BB99-810B-659B-6D48-071632F549E0}"/>
                </a:ext>
              </a:extLst>
            </p:cNvPr>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a:extLst>
              <a:ext uri="{FF2B5EF4-FFF2-40B4-BE49-F238E27FC236}">
                <a16:creationId xmlns:a16="http://schemas.microsoft.com/office/drawing/2014/main" id="{D5B8E9A8-BFE9-66DD-20AB-07ED3AC71443}"/>
              </a:ext>
            </a:extLst>
          </p:cNvPr>
          <p:cNvSpPr/>
          <p:nvPr/>
        </p:nvSpPr>
        <p:spPr>
          <a:xfrm>
            <a:off x="377826" y="5039977"/>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KORAMCO REITs Management and Trust Co., Ltd. </a:t>
            </a:r>
          </a:p>
        </p:txBody>
      </p:sp>
      <p:sp>
        <p:nvSpPr>
          <p:cNvPr id="22" name="Rectangle 2">
            <a:extLst>
              <a:ext uri="{FF2B5EF4-FFF2-40B4-BE49-F238E27FC236}">
                <a16:creationId xmlns:a16="http://schemas.microsoft.com/office/drawing/2014/main" id="{D6E03260-A910-AEDE-2748-E10E3F17FCA9}"/>
              </a:ext>
            </a:extLst>
          </p:cNvPr>
          <p:cNvSpPr txBox="1">
            <a:spLocks/>
          </p:cNvSpPr>
          <p:nvPr/>
        </p:nvSpPr>
        <p:spPr bwMode="auto">
          <a:xfrm>
            <a:off x="377825" y="2238959"/>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코람코라이프인프라위탁관리부동산투자회사ㅣ</a:t>
            </a:r>
            <a:r>
              <a:rPr kumimoji="1" lang="en-US" altLang="ko-KR" sz="14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KOSPI 357120</a:t>
            </a: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a:t>
            </a:r>
            <a:r>
              <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r>
              <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투자의 건</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a:extLst>
              <a:ext uri="{FF2B5EF4-FFF2-40B4-BE49-F238E27FC236}">
                <a16:creationId xmlns:a16="http://schemas.microsoft.com/office/drawing/2014/main" id="{201B8014-D1FC-8A19-53A9-201F470C2B02}"/>
              </a:ext>
            </a:extLst>
          </p:cNvPr>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a:extLst>
              <a:ext uri="{FF2B5EF4-FFF2-40B4-BE49-F238E27FC236}">
                <a16:creationId xmlns:a16="http://schemas.microsoft.com/office/drawing/2014/main" id="{E687DEBB-8870-0992-2220-19B0D67D478E}"/>
              </a:ext>
            </a:extLst>
          </p:cNvPr>
          <p:cNvSpPr/>
          <p:nvPr/>
        </p:nvSpPr>
        <p:spPr>
          <a:xfrm>
            <a:off x="377825" y="5400017"/>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a:extLst>
              <a:ext uri="{FF2B5EF4-FFF2-40B4-BE49-F238E27FC236}">
                <a16:creationId xmlns:a16="http://schemas.microsoft.com/office/drawing/2014/main" id="{F1AA7FE9-4C12-D201-6B48-FC65EB59EBDA}"/>
              </a:ext>
            </a:extLst>
          </p:cNvPr>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sp>
        <p:nvSpPr>
          <p:cNvPr id="4" name="직사각형 3">
            <a:extLst>
              <a:ext uri="{FF2B5EF4-FFF2-40B4-BE49-F238E27FC236}">
                <a16:creationId xmlns:a16="http://schemas.microsoft.com/office/drawing/2014/main" id="{AC905E75-DCC0-450B-B1FE-FCCAD9ADC70C}"/>
              </a:ext>
            </a:extLst>
          </p:cNvPr>
          <p:cNvSpPr/>
          <p:nvPr/>
        </p:nvSpPr>
        <p:spPr>
          <a:xfrm>
            <a:off x="377827" y="338174"/>
            <a:ext cx="1184354" cy="250068"/>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a:t>
            </a:r>
            <a:r>
              <a:rPr kumimoji="0"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p>
        </p:txBody>
      </p:sp>
    </p:spTree>
    <p:extLst>
      <p:ext uri="{BB962C8B-B14F-4D97-AF65-F5344CB8AC3E}">
        <p14:creationId xmlns:p14="http://schemas.microsoft.com/office/powerpoint/2010/main" val="4057126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kumimoji="0" lang="ko-KR" altLang="en-US" sz="1107" b="0" i="0" u="none" strike="noStrike" kern="1200" cap="none" spc="0" normalizeH="0" baseline="0" noProof="0" dirty="0" err="1">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ko-KR"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kumimoji="0" lang="ko-KR" altLang="en-US"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996427"/>
          </a:xfrm>
          <a:prstGeom prst="rect">
            <a:avLst/>
          </a:prstGeom>
          <a:noFill/>
        </p:spPr>
        <p:txBody>
          <a:bodyPr wrap="square" rtlCol="0" anchor="t" anchorCtr="0">
            <a:spAutoFit/>
          </a:bodyPr>
          <a:lstStyle/>
          <a:p>
            <a:pPr marL="171450" marR="0" lvl="0" indent="-171450" algn="l" defTabSz="457200" rtl="0" eaLnBrk="1" fontAlgn="auto" latinLnBrk="0" hangingPunct="1">
              <a:lnSpc>
                <a:spcPct val="150000"/>
              </a:lnSpc>
              <a:spcBef>
                <a:spcPts val="0"/>
              </a:spcBef>
              <a:spcAft>
                <a:spcPts val="0"/>
              </a:spcAft>
              <a:buClrTx/>
              <a:buSzTx/>
              <a:buFontTx/>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marR="0" lvl="0" indent="-171450" algn="l" defTabSz="457200" rtl="0" eaLnBrk="1" fontAlgn="auto" latinLnBrk="0" hangingPunct="1">
              <a:lnSpc>
                <a:spcPct val="150000"/>
              </a:lnSpc>
              <a:spcBef>
                <a:spcPts val="0"/>
              </a:spcBef>
              <a:spcAft>
                <a:spcPts val="0"/>
              </a:spcAft>
              <a:buClrTx/>
              <a:buSzTx/>
              <a:buFontTx/>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171450" lvl="0" indent="-171450">
              <a:lnSpc>
                <a:spcPct val="150000"/>
              </a:lnSpc>
              <a:buFontTx/>
              <a:buChar char="-"/>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Ⅰ</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출자의 건 </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lvl="0" indent="-171450">
              <a:lnSpc>
                <a:spcPct val="150000"/>
              </a:lnSpc>
              <a:buFontTx/>
              <a:buChar char="-"/>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Ⅱ</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매입확약서(LOC) 날인</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 안건은 </a:t>
            </a:r>
            <a:r>
              <a:rPr kumimoji="0" lang="ko-KR" altLang="en-US" sz="14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코람코라이프인프라리츠의</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4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자리츠</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4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출자 및 </a:t>
            </a:r>
            <a:r>
              <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우선주에 대한 매입확약서(LOC) 날인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심의 종료로부터 후 </a:t>
            </a:r>
            <a:r>
              <a:rPr kumimoji="0" lang="ko-KR" altLang="en-US" sz="14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투자자로서 </a:t>
            </a:r>
            <a:r>
              <a:rPr kumimoji="0" lang="ko-KR" altLang="en-US" sz="14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자리츠</a:t>
            </a:r>
            <a:r>
              <a:rPr lang="en-US" altLang="ko-KR"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4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코람코라이프로지스리츠</a:t>
            </a:r>
            <a:r>
              <a:rPr lang="en-US" altLang="ko-KR"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에 납입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3723861000"/>
              </p:ext>
            </p:extLst>
          </p:nvPr>
        </p:nvGraphicFramePr>
        <p:xfrm>
          <a:off x="509644" y="2357351"/>
          <a:ext cx="9756000" cy="1249680"/>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37744">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lnSpc>
                          <a:spcPct val="12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20000"/>
                        </a:lnSpc>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날인의 건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37" name="꺾인 연결선 22">
            <a:extLst>
              <a:ext uri="{FF2B5EF4-FFF2-40B4-BE49-F238E27FC236}">
                <a16:creationId xmlns:a16="http://schemas.microsoft.com/office/drawing/2014/main" id="{0DB8BE85-BA40-2273-2D22-D6062390D50C}"/>
              </a:ext>
            </a:extLst>
          </p:cNvPr>
          <p:cNvCxnSpPr>
            <a:cxnSpLocks/>
            <a:stCxn id="128" idx="0"/>
            <a:endCxn id="107"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741AF1-BAD2-5C01-53D6-56C22C06D785}"/>
              </a:ext>
            </a:extLst>
          </p:cNvPr>
          <p:cNvSpPr txBox="1"/>
          <p:nvPr/>
        </p:nvSpPr>
        <p:spPr>
          <a:xfrm>
            <a:off x="4789082" y="4680021"/>
            <a:ext cx="713905"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41" name="직사각형 40">
            <a:extLst>
              <a:ext uri="{FF2B5EF4-FFF2-40B4-BE49-F238E27FC236}">
                <a16:creationId xmlns:a16="http://schemas.microsoft.com/office/drawing/2014/main" id="{FBF764AD-9F4D-007E-53D4-B86677FB241D}"/>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27CDB938-FE60-2B09-8A37-524FC46A4095}"/>
              </a:ext>
            </a:extLst>
          </p:cNvPr>
          <p:cNvGrpSpPr/>
          <p:nvPr/>
        </p:nvGrpSpPr>
        <p:grpSpPr>
          <a:xfrm>
            <a:off x="611892" y="4169801"/>
            <a:ext cx="1939955" cy="246221"/>
            <a:chOff x="455544" y="-592941"/>
            <a:chExt cx="1939955" cy="246221"/>
          </a:xfrm>
        </p:grpSpPr>
        <p:sp>
          <p:nvSpPr>
            <p:cNvPr id="46" name="TextBox 45">
              <a:extLst>
                <a:ext uri="{FF2B5EF4-FFF2-40B4-BE49-F238E27FC236}">
                  <a16:creationId xmlns:a16="http://schemas.microsoft.com/office/drawing/2014/main" id="{E1FAB967-07D7-8FD3-425E-0D3109939F03}"/>
                </a:ext>
              </a:extLst>
            </p:cNvPr>
            <p:cNvSpPr txBox="1"/>
            <p:nvPr/>
          </p:nvSpPr>
          <p:spPr>
            <a:xfrm>
              <a:off x="455544" y="-592941"/>
              <a:ext cx="193995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직사각형 48">
              <a:extLst>
                <a:ext uri="{FF2B5EF4-FFF2-40B4-BE49-F238E27FC236}">
                  <a16:creationId xmlns:a16="http://schemas.microsoft.com/office/drawing/2014/main" id="{E86436BC-529B-CDEB-D50C-452D2F00AD9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0" name="오른쪽 화살표 16">
            <a:extLst>
              <a:ext uri="{FF2B5EF4-FFF2-40B4-BE49-F238E27FC236}">
                <a16:creationId xmlns:a16="http://schemas.microsoft.com/office/drawing/2014/main" id="{77E91E03-98F2-450B-77A1-43629DA4947B}"/>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1" name="오른쪽 화살표 17">
            <a:extLst>
              <a:ext uri="{FF2B5EF4-FFF2-40B4-BE49-F238E27FC236}">
                <a16:creationId xmlns:a16="http://schemas.microsoft.com/office/drawing/2014/main" id="{CD838F5B-8BA9-2276-8BBF-715F081CA06D}"/>
              </a:ext>
            </a:extLst>
          </p:cNvPr>
          <p:cNvSpPr/>
          <p:nvPr/>
        </p:nvSpPr>
        <p:spPr>
          <a:xfrm>
            <a:off x="7172456" y="5241095"/>
            <a:ext cx="309318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3" name="TextBox 52">
            <a:extLst>
              <a:ext uri="{FF2B5EF4-FFF2-40B4-BE49-F238E27FC236}">
                <a16:creationId xmlns:a16="http://schemas.microsoft.com/office/drawing/2014/main" id="{D970675F-0876-D174-6135-52B374A54357}"/>
              </a:ext>
            </a:extLst>
          </p:cNvPr>
          <p:cNvSpPr txBox="1"/>
          <p:nvPr/>
        </p:nvSpPr>
        <p:spPr>
          <a:xfrm>
            <a:off x="2352916" y="4986221"/>
            <a:ext cx="822566" cy="230832"/>
          </a:xfrm>
          <a:prstGeom prst="rect">
            <a:avLst/>
          </a:prstGeom>
          <a:solidFill>
            <a:schemeClr val="bg1"/>
          </a:solid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68" name="타원 67">
            <a:extLst>
              <a:ext uri="{FF2B5EF4-FFF2-40B4-BE49-F238E27FC236}">
                <a16:creationId xmlns:a16="http://schemas.microsoft.com/office/drawing/2014/main" id="{70D1D696-6606-5D96-F8CA-FCD3F6A9FB36}"/>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69" name="TextBox 68">
            <a:extLst>
              <a:ext uri="{FF2B5EF4-FFF2-40B4-BE49-F238E27FC236}">
                <a16:creationId xmlns:a16="http://schemas.microsoft.com/office/drawing/2014/main" id="{7D2E9ED6-7362-DE30-0B31-C1578C9866B8}"/>
              </a:ext>
            </a:extLst>
          </p:cNvPr>
          <p:cNvSpPr txBox="1"/>
          <p:nvPr/>
        </p:nvSpPr>
        <p:spPr>
          <a:xfrm>
            <a:off x="2245982" y="5738449"/>
            <a:ext cx="1400757" cy="41549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1" name="TextBox 70">
            <a:extLst>
              <a:ext uri="{FF2B5EF4-FFF2-40B4-BE49-F238E27FC236}">
                <a16:creationId xmlns:a16="http://schemas.microsoft.com/office/drawing/2014/main" id="{115C11F2-9E38-B74F-254D-622DC354C0D0}"/>
              </a:ext>
            </a:extLst>
          </p:cNvPr>
          <p:cNvSpPr txBox="1"/>
          <p:nvPr/>
        </p:nvSpPr>
        <p:spPr>
          <a:xfrm>
            <a:off x="8858900" y="5765897"/>
            <a:ext cx="672932" cy="203362"/>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2" name="TextBox 71">
            <a:extLst>
              <a:ext uri="{FF2B5EF4-FFF2-40B4-BE49-F238E27FC236}">
                <a16:creationId xmlns:a16="http://schemas.microsoft.com/office/drawing/2014/main" id="{5802985F-42AB-2FCB-80B6-76F06B19D051}"/>
              </a:ext>
            </a:extLst>
          </p:cNvPr>
          <p:cNvSpPr txBox="1"/>
          <p:nvPr/>
        </p:nvSpPr>
        <p:spPr>
          <a:xfrm>
            <a:off x="8825409"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73" name="타원 72">
            <a:extLst>
              <a:ext uri="{FF2B5EF4-FFF2-40B4-BE49-F238E27FC236}">
                <a16:creationId xmlns:a16="http://schemas.microsoft.com/office/drawing/2014/main" id="{432A4B53-2301-9464-B196-EC65F5A61494}"/>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80" name="TextBox 79">
            <a:extLst>
              <a:ext uri="{FF2B5EF4-FFF2-40B4-BE49-F238E27FC236}">
                <a16:creationId xmlns:a16="http://schemas.microsoft.com/office/drawing/2014/main" id="{6DFFD4EE-87BB-0698-6FED-0AACAF2F6A79}"/>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1" name="TextBox 80">
            <a:extLst>
              <a:ext uri="{FF2B5EF4-FFF2-40B4-BE49-F238E27FC236}">
                <a16:creationId xmlns:a16="http://schemas.microsoft.com/office/drawing/2014/main" id="{D1397358-E35E-A927-FB9E-0BD060B3B4A0}"/>
              </a:ext>
            </a:extLst>
          </p:cNvPr>
          <p:cNvSpPr txBox="1"/>
          <p:nvPr/>
        </p:nvSpPr>
        <p:spPr>
          <a:xfrm>
            <a:off x="463705"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84" name="타원 83">
            <a:extLst>
              <a:ext uri="{FF2B5EF4-FFF2-40B4-BE49-F238E27FC236}">
                <a16:creationId xmlns:a16="http://schemas.microsoft.com/office/drawing/2014/main" id="{AD94EA02-D19C-8C10-B6A4-826DD48CB6FC}"/>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47" name="그룹 146">
            <a:extLst>
              <a:ext uri="{FF2B5EF4-FFF2-40B4-BE49-F238E27FC236}">
                <a16:creationId xmlns:a16="http://schemas.microsoft.com/office/drawing/2014/main" id="{D82D1F4D-AC1D-336B-F40F-C3F225004812}"/>
              </a:ext>
            </a:extLst>
          </p:cNvPr>
          <p:cNvGrpSpPr/>
          <p:nvPr/>
        </p:nvGrpSpPr>
        <p:grpSpPr>
          <a:xfrm>
            <a:off x="1183060" y="4992572"/>
            <a:ext cx="925254" cy="889018"/>
            <a:chOff x="1777019" y="4986221"/>
            <a:chExt cx="925254" cy="889018"/>
          </a:xfrm>
        </p:grpSpPr>
        <p:sp>
          <p:nvSpPr>
            <p:cNvPr id="95" name="TextBox 94">
              <a:extLst>
                <a:ext uri="{FF2B5EF4-FFF2-40B4-BE49-F238E27FC236}">
                  <a16:creationId xmlns:a16="http://schemas.microsoft.com/office/drawing/2014/main" id="{F6431406-7568-7589-EB39-B69A904D4348}"/>
                </a:ext>
              </a:extLst>
            </p:cNvPr>
            <p:cNvSpPr txBox="1"/>
            <p:nvPr/>
          </p:nvSpPr>
          <p:spPr>
            <a:xfrm>
              <a:off x="1777019" y="5736740"/>
              <a:ext cx="925254" cy="138499"/>
            </a:xfrm>
            <a:prstGeom prst="rect">
              <a:avLst/>
            </a:prstGeom>
            <a:noFill/>
          </p:spPr>
          <p:txBody>
            <a:bodyPr wrap="none" t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6" name="TextBox 95">
              <a:extLst>
                <a:ext uri="{FF2B5EF4-FFF2-40B4-BE49-F238E27FC236}">
                  <a16:creationId xmlns:a16="http://schemas.microsoft.com/office/drawing/2014/main" id="{AD0C1413-248E-C2E6-DD04-800B8BC8E6E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7" name="타원 96">
              <a:extLst>
                <a:ext uri="{FF2B5EF4-FFF2-40B4-BE49-F238E27FC236}">
                  <a16:creationId xmlns:a16="http://schemas.microsoft.com/office/drawing/2014/main" id="{856E6372-F09C-2050-1115-6439A40C598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6" name="TextBox 105">
            <a:extLst>
              <a:ext uri="{FF2B5EF4-FFF2-40B4-BE49-F238E27FC236}">
                <a16:creationId xmlns:a16="http://schemas.microsoft.com/office/drawing/2014/main" id="{F2ACFEBC-6570-5CB2-BCC3-51851881A24B}"/>
              </a:ext>
            </a:extLst>
          </p:cNvPr>
          <p:cNvSpPr txBox="1"/>
          <p:nvPr/>
        </p:nvSpPr>
        <p:spPr>
          <a:xfrm>
            <a:off x="6096697" y="5765897"/>
            <a:ext cx="672932" cy="203362"/>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접수(9/11)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최종본(9/17)</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7" name="TextBox 106">
            <a:extLst>
              <a:ext uri="{FF2B5EF4-FFF2-40B4-BE49-F238E27FC236}">
                <a16:creationId xmlns:a16="http://schemas.microsoft.com/office/drawing/2014/main" id="{A9303C4E-5718-6FBB-625F-B6A060B01B66}"/>
              </a:ext>
            </a:extLst>
          </p:cNvPr>
          <p:cNvSpPr txBox="1"/>
          <p:nvPr/>
        </p:nvSpPr>
        <p:spPr>
          <a:xfrm>
            <a:off x="606320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17일</a:t>
            </a:r>
          </a:p>
        </p:txBody>
      </p:sp>
      <p:sp>
        <p:nvSpPr>
          <p:cNvPr id="108" name="타원 107">
            <a:extLst>
              <a:ext uri="{FF2B5EF4-FFF2-40B4-BE49-F238E27FC236}">
                <a16:creationId xmlns:a16="http://schemas.microsoft.com/office/drawing/2014/main" id="{59A4AA78-428E-DDCC-B56C-2DACCA88C748}"/>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설립자본금 3억원 출자 및 발기설립 완료(8/28)</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p:txBody>
      </p:sp>
      <p:sp>
        <p:nvSpPr>
          <p:cNvPr id="117" name="TextBox 116">
            <a:extLst>
              <a:ext uri="{FF2B5EF4-FFF2-40B4-BE49-F238E27FC236}">
                <a16:creationId xmlns:a16="http://schemas.microsoft.com/office/drawing/2014/main" id="{91A8CA2F-12BF-26F2-3FD2-6FF1D0B79A7F}"/>
              </a:ext>
            </a:extLst>
          </p:cNvPr>
          <p:cNvSpPr txBox="1"/>
          <p:nvPr/>
        </p:nvSpPr>
        <p:spPr>
          <a:xfrm>
            <a:off x="9610895" y="5743842"/>
            <a:ext cx="672932" cy="203362"/>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8" name="TextBox 117">
            <a:extLst>
              <a:ext uri="{FF2B5EF4-FFF2-40B4-BE49-F238E27FC236}">
                <a16:creationId xmlns:a16="http://schemas.microsoft.com/office/drawing/2014/main" id="{03DE435F-1FA6-57EA-F3C7-96C660A9F6F9}"/>
              </a:ext>
            </a:extLst>
          </p:cNvPr>
          <p:cNvSpPr txBox="1"/>
          <p:nvPr/>
        </p:nvSpPr>
        <p:spPr>
          <a:xfrm>
            <a:off x="9577404"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26일</a:t>
            </a:r>
          </a:p>
        </p:txBody>
      </p:sp>
      <p:sp>
        <p:nvSpPr>
          <p:cNvPr id="119" name="타원 118">
            <a:extLst>
              <a:ext uri="{FF2B5EF4-FFF2-40B4-BE49-F238E27FC236}">
                <a16:creationId xmlns:a16="http://schemas.microsoft.com/office/drawing/2014/main" id="{438AADBD-DB37-CD70-39AF-101D0F9E270E}"/>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27" name="TextBox 126">
            <a:extLst>
              <a:ext uri="{FF2B5EF4-FFF2-40B4-BE49-F238E27FC236}">
                <a16:creationId xmlns:a16="http://schemas.microsoft.com/office/drawing/2014/main" id="{C14872E0-8C10-B7A7-708E-8488ACE5348B}"/>
              </a:ext>
            </a:extLst>
          </p:cNvPr>
          <p:cNvSpPr txBox="1"/>
          <p:nvPr/>
        </p:nvSpPr>
        <p:spPr>
          <a:xfrm>
            <a:off x="3685903" y="5765897"/>
            <a:ext cx="908761" cy="203362"/>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체결</a:t>
            </a:r>
          </a:p>
        </p:txBody>
      </p:sp>
      <p:sp>
        <p:nvSpPr>
          <p:cNvPr id="128" name="TextBox 127">
            <a:extLst>
              <a:ext uri="{FF2B5EF4-FFF2-40B4-BE49-F238E27FC236}">
                <a16:creationId xmlns:a16="http://schemas.microsoft.com/office/drawing/2014/main" id="{A54E3A0F-3C25-CB6F-412C-53299D74FC9F}"/>
              </a:ext>
            </a:extLst>
          </p:cNvPr>
          <p:cNvSpPr txBox="1"/>
          <p:nvPr/>
        </p:nvSpPr>
        <p:spPr>
          <a:xfrm>
            <a:off x="3648621"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129" name="타원 128">
            <a:extLst>
              <a:ext uri="{FF2B5EF4-FFF2-40B4-BE49-F238E27FC236}">
                <a16:creationId xmlns:a16="http://schemas.microsoft.com/office/drawing/2014/main" id="{8B34E54B-59F8-FB4D-CEC4-4B5848F7C560}"/>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99" name="TextBox 98">
            <a:extLst>
              <a:ext uri="{FF2B5EF4-FFF2-40B4-BE49-F238E27FC236}">
                <a16:creationId xmlns:a16="http://schemas.microsoft.com/office/drawing/2014/main" id="{53B93C17-3FD3-D6EE-FDDB-04EDF93F10E3}"/>
              </a:ext>
            </a:extLst>
          </p:cNvPr>
          <p:cNvSpPr txBox="1"/>
          <p:nvPr/>
        </p:nvSpPr>
        <p:spPr>
          <a:xfrm>
            <a:off x="6946251"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00" name="타원 99">
            <a:extLst>
              <a:ext uri="{FF2B5EF4-FFF2-40B4-BE49-F238E27FC236}">
                <a16:creationId xmlns:a16="http://schemas.microsoft.com/office/drawing/2014/main" id="{9AE1258E-3BEF-8BEC-2A4C-5E2DF185077B}"/>
              </a:ext>
            </a:extLst>
          </p:cNvPr>
          <p:cNvSpPr/>
          <p:nvPr/>
        </p:nvSpPr>
        <p:spPr>
          <a:xfrm>
            <a:off x="717511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6" name="그룹 15">
            <a:extLst>
              <a:ext uri="{FF2B5EF4-FFF2-40B4-BE49-F238E27FC236}">
                <a16:creationId xmlns:a16="http://schemas.microsoft.com/office/drawing/2014/main" id="{77391365-80BF-7F00-621D-CA55310CCAC4}"/>
              </a:ext>
            </a:extLst>
          </p:cNvPr>
          <p:cNvGrpSpPr/>
          <p:nvPr/>
        </p:nvGrpSpPr>
        <p:grpSpPr>
          <a:xfrm>
            <a:off x="6054076" y="4327490"/>
            <a:ext cx="1668094" cy="892507"/>
            <a:chOff x="147739" y="4679937"/>
            <a:chExt cx="1668094" cy="892507"/>
          </a:xfrm>
          <a:effectLst>
            <a:outerShdw blurRad="50800" dist="38100" dir="2700000" algn="tl" rotWithShape="0">
              <a:prstClr val="black">
                <a:alpha val="40000"/>
              </a:prstClr>
            </a:outerShdw>
          </a:effectLst>
        </p:grpSpPr>
        <p:cxnSp>
          <p:nvCxnSpPr>
            <p:cNvPr id="35" name="직선 화살표 연결선 34">
              <a:extLst>
                <a:ext uri="{FF2B5EF4-FFF2-40B4-BE49-F238E27FC236}">
                  <a16:creationId xmlns:a16="http://schemas.microsoft.com/office/drawing/2014/main" id="{463ED6E2-9651-4166-80F6-1E19766039E0}"/>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759A2804-C822-6514-AB52-33AEADC618F7}"/>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a:t>
              </a:r>
              <a:r>
                <a:rPr kumimoji="0" lang="en-US" altLang="ko-KR"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[9/30]</a:t>
              </a: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19" name="TextBox 18">
            <a:extLst>
              <a:ext uri="{FF2B5EF4-FFF2-40B4-BE49-F238E27FC236}">
                <a16:creationId xmlns:a16="http://schemas.microsoft.com/office/drawing/2014/main" id="{39A7B024-B9AB-71BD-BEAA-BE016B6C55ED}"/>
              </a:ext>
            </a:extLst>
          </p:cNvPr>
          <p:cNvSpPr txBox="1"/>
          <p:nvPr/>
        </p:nvSpPr>
        <p:spPr>
          <a:xfrm>
            <a:off x="7614158" y="5764444"/>
            <a:ext cx="1296144" cy="203362"/>
          </a:xfrm>
          <a:prstGeom prst="rect">
            <a:avLst/>
          </a:prstGeom>
          <a:noFill/>
        </p:spPr>
        <p:txBody>
          <a:bodyPr wrap="none" tIns="0" bIns="0" rtlCol="0">
            <a:no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완료</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1F472091-6262-E5A6-705F-906C7932A00C}"/>
              </a:ext>
            </a:extLst>
          </p:cNvPr>
          <p:cNvSpPr txBox="1"/>
          <p:nvPr/>
        </p:nvSpPr>
        <p:spPr>
          <a:xfrm>
            <a:off x="7758174"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13일</a:t>
            </a:r>
          </a:p>
        </p:txBody>
      </p:sp>
      <p:sp>
        <p:nvSpPr>
          <p:cNvPr id="21" name="타원 20">
            <a:extLst>
              <a:ext uri="{FF2B5EF4-FFF2-40B4-BE49-F238E27FC236}">
                <a16:creationId xmlns:a16="http://schemas.microsoft.com/office/drawing/2014/main" id="{9CF824AA-60CE-FFD4-2C83-4B2C908A4346}"/>
              </a:ext>
            </a:extLst>
          </p:cNvPr>
          <p:cNvSpPr/>
          <p:nvPr/>
        </p:nvSpPr>
        <p:spPr>
          <a:xfrm>
            <a:off x="798704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30" name="그룹 29">
            <a:extLst>
              <a:ext uri="{FF2B5EF4-FFF2-40B4-BE49-F238E27FC236}">
                <a16:creationId xmlns:a16="http://schemas.microsoft.com/office/drawing/2014/main" id="{F52D1B80-0EC2-08C8-9469-555B869581D3}"/>
              </a:ext>
            </a:extLst>
          </p:cNvPr>
          <p:cNvGrpSpPr/>
          <p:nvPr/>
        </p:nvGrpSpPr>
        <p:grpSpPr>
          <a:xfrm>
            <a:off x="4589822" y="4986221"/>
            <a:ext cx="739915" cy="983038"/>
            <a:chOff x="4705046" y="4986221"/>
            <a:chExt cx="739915" cy="983038"/>
          </a:xfrm>
        </p:grpSpPr>
        <p:sp>
          <p:nvSpPr>
            <p:cNvPr id="26" name="TextBox 25">
              <a:extLst>
                <a:ext uri="{FF2B5EF4-FFF2-40B4-BE49-F238E27FC236}">
                  <a16:creationId xmlns:a16="http://schemas.microsoft.com/office/drawing/2014/main" id="{BC2AC806-326D-4F36-2226-BBD166E7B1DB}"/>
                </a:ext>
              </a:extLst>
            </p:cNvPr>
            <p:cNvSpPr txBox="1"/>
            <p:nvPr/>
          </p:nvSpPr>
          <p:spPr>
            <a:xfrm>
              <a:off x="4738537" y="5765897"/>
              <a:ext cx="672932" cy="203362"/>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27" name="TextBox 26">
              <a:extLst>
                <a:ext uri="{FF2B5EF4-FFF2-40B4-BE49-F238E27FC236}">
                  <a16:creationId xmlns:a16="http://schemas.microsoft.com/office/drawing/2014/main" id="{C859A1E0-2E46-A9D7-5879-E87608313D74}"/>
                </a:ext>
              </a:extLst>
            </p:cNvPr>
            <p:cNvSpPr txBox="1"/>
            <p:nvPr/>
          </p:nvSpPr>
          <p:spPr>
            <a:xfrm>
              <a:off x="470504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28일</a:t>
              </a:r>
            </a:p>
          </p:txBody>
        </p:sp>
        <p:sp>
          <p:nvSpPr>
            <p:cNvPr id="28" name="타원 27">
              <a:extLst>
                <a:ext uri="{FF2B5EF4-FFF2-40B4-BE49-F238E27FC236}">
                  <a16:creationId xmlns:a16="http://schemas.microsoft.com/office/drawing/2014/main" id="{EB389287-1073-4887-0213-7ACEF76434D8}"/>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80911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정관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2042980506"/>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A75D0-F579-D4DA-04F3-D21D9C3A96DB}"/>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F5BE94F7-DC7C-5A5C-62C5-E3E7B2BBC0E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8284D85-B17B-6B2C-3B06-B4A1B5761E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17785B6A-E978-1D7C-6FBD-A3D24898B99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F6FD42C1-2FBD-44CB-76FF-1A90DBAF7948}"/>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29456504-0C2A-AA1B-CBF8-B82C5B9311A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89F9709-9071-18AA-C891-CC296143D89D}"/>
                </a:ext>
              </a:extLst>
            </p:cNvPr>
            <p:cNvSpPr txBox="1"/>
            <p:nvPr/>
          </p:nvSpPr>
          <p:spPr>
            <a:xfrm>
              <a:off x="417444" y="1652332"/>
              <a:ext cx="125511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14ECF9DC-E80D-94CB-CA2B-8F3FF4CC2771}"/>
              </a:ext>
            </a:extLst>
          </p:cNvPr>
          <p:cNvGraphicFramePr>
            <a:graphicFrameLocks noGrp="1"/>
          </p:cNvGraphicFramePr>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11" name="TextBox 10">
            <a:extLst>
              <a:ext uri="{FF2B5EF4-FFF2-40B4-BE49-F238E27FC236}">
                <a16:creationId xmlns:a16="http://schemas.microsoft.com/office/drawing/2014/main" id="{8B490DBD-E858-1D4A-BB4C-B02B20C06271}"/>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023253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09BBC-E1D0-3228-1D0F-766169BEEC4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1CFB0891-6D31-3531-A675-FC2A281E6E4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7BD8046-9BB6-073E-B92E-C18ED133818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D3B173E-0E5F-DAD9-617E-DA9E69D6DD9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E4DD24E9-E6EA-34A6-7594-90C6D869775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337356D-17F7-3AD0-BD57-F89797BC2E45}"/>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83E573D-5A36-34AA-0B0D-32BACAD5F451}"/>
                </a:ext>
              </a:extLst>
            </p:cNvPr>
            <p:cNvSpPr txBox="1"/>
            <p:nvPr/>
          </p:nvSpPr>
          <p:spPr>
            <a:xfrm>
              <a:off x="417444" y="1652332"/>
              <a:ext cx="115207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구성표</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pic>
        <p:nvPicPr>
          <p:cNvPr id="11" name="그림 10">
            <a:extLst>
              <a:ext uri="{FF2B5EF4-FFF2-40B4-BE49-F238E27FC236}">
                <a16:creationId xmlns:a16="http://schemas.microsoft.com/office/drawing/2014/main" id="{C51C6A5F-12BD-16F7-F16E-4E7025E136B0}"/>
              </a:ext>
            </a:extLst>
          </p:cNvPr>
          <p:cNvPicPr>
            <a:picLocks noChangeAspect="1"/>
          </p:cNvPicPr>
          <p:nvPr/>
        </p:nvPicPr>
        <p:blipFill>
          <a:blip r:embed="rId2"/>
          <a:stretch>
            <a:fillRect/>
          </a:stretch>
        </p:blipFill>
        <p:spPr>
          <a:xfrm>
            <a:off x="458887" y="1763613"/>
            <a:ext cx="9328703" cy="3949041"/>
          </a:xfrm>
          <a:prstGeom prst="rect">
            <a:avLst/>
          </a:prstGeom>
        </p:spPr>
      </p:pic>
      <p:sp>
        <p:nvSpPr>
          <p:cNvPr id="13" name="TextBox 12">
            <a:extLst>
              <a:ext uri="{FF2B5EF4-FFF2-40B4-BE49-F238E27FC236}">
                <a16:creationId xmlns:a16="http://schemas.microsoft.com/office/drawing/2014/main" id="{A464B78F-A814-9690-7358-EB656EADD34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4992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Ⅱ.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코람코 제1종·제2종 우선주 매입확약 공문(안)(투자자용) / 주주간계약서 v22 제3.5조·제4.5조. 발행회사명·주식수·문서번호는 확정 후 기재.</a:t>
            </a:r>
          </a:p>
        </p:txBody>
      </p:sp>
      <p:graphicFrame>
        <p:nvGraphicFramePr>
          <p:cNvPr id="17" name="신규표"/>
          <p:cNvGraphicFramePr>
            <a:graphicFrameLocks noGrp="1"/>
          </p:cNvGraphicFramePr>
          <p:nvPr/>
        </p:nvGraphicFramePr>
        <p:xfrm>
          <a:off x="457200" y="1453896"/>
          <a:ext cx="9875520" cy="213969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제1종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제2종 종류주식</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 주체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발행회사 / 기초자산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자리츠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안양물류센터 (관양동 934 외 2필지)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24개월이 되는 달의 응당일</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12개월이 되는 달의 응당일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매입금액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(240억원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(500억원 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 (기준 일정 2026-10-13)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739896"/>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 매도확약서 대응 조건</a:t>
              </a:r>
            </a:p>
          </p:txBody>
        </p:sp>
      </p:grpSp>
      <p:graphicFrame>
        <p:nvGraphicFramePr>
          <p:cNvPr id="18" name="신규표"/>
          <p:cNvGraphicFramePr>
            <a:graphicFrameLocks noGrp="1"/>
          </p:cNvGraphicFramePr>
          <p:nvPr/>
        </p:nvGraphicFramePr>
        <p:xfrm>
          <a:off x="457200" y="4114800"/>
          <a:ext cx="9875520" cy="2651760"/>
        </p:xfrm>
        <a:graphic>
          <a:graphicData uri="http://schemas.openxmlformats.org/drawingml/2006/table">
            <a:tbl>
              <a:tblPr>
                <a:tableStyleId>{5940675A-B579-460E-94D1-54222C63F5DA}</a:tableStyleId>
              </a:tblPr>
              <a:tblGrid>
                <a:gridCol w="13716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(KLI리츠 → 종류주주)</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매도확약서 (종류주주 → KLI리츠)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의무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체결일에 KLI리츠가 각 종류주주에게 제출 (제3.5조·제4.5조)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같은 날 각 종류주주가 KLI리츠에 제출. 셀다운 양수인은 거래 완결 전 제출</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핵심 내용</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 내 대상주식 전부를 발행가액(25,000원/주)으로 매입 확약</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KLI리츠의 매도 요청일로부터 [*]일 내 동일 조건으로 매도 확약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영업인가 취득·소유권 확보 ② 종류주주의 완전한 소유권 ③ 부담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부존재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④ 매도확약서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매입확약서와 동일 — 매도확약서 제출이 매입확약 효력 발생 조건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불이행 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미매입잔액에 연 5.0% 지연손해금, 초과 손해 별도 배상, 매입의무 존속</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미매도잔액에 연 5.0% 지연이자 포함 모든 손해 배상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효력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매입일 전일까지 종류주주, 매입일부터 KLI리츠 귀속 (5영업일 내 정산)</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매입 목적 외 사용 불가, 주주간계약과 상충 시 주주간계약 우선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697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EF541-9CAD-9E39-2BC0-8C81A7D80F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3297C3-8452-4F54-AF3F-85EC2BAE7F7A}"/>
              </a:ext>
            </a:extLst>
          </p:cNvPr>
          <p:cNvSpPr txBox="1"/>
          <p:nvPr/>
        </p:nvSpPr>
        <p:spPr>
          <a:xfrm>
            <a:off x="432185" y="2079170"/>
            <a:ext cx="3115642" cy="26270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kumimoji="0" lang="ko-KR" altLang="en-US" sz="1107" b="0" i="0" u="none" strike="noStrike" kern="1200" cap="none" spc="0" normalizeH="0" baseline="0" noProof="0" dirty="0" err="1">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a:extLst>
              <a:ext uri="{FF2B5EF4-FFF2-40B4-BE49-F238E27FC236}">
                <a16:creationId xmlns:a16="http://schemas.microsoft.com/office/drawing/2014/main" id="{80B51CBF-09D6-B3F3-E2CE-CDE17FBD7488}"/>
              </a:ext>
            </a:extLst>
          </p:cNvPr>
          <p:cNvSpPr txBox="1"/>
          <p:nvPr/>
        </p:nvSpPr>
        <p:spPr>
          <a:xfrm>
            <a:off x="809402" y="2778552"/>
            <a:ext cx="2080546" cy="461665"/>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ko-KR"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kumimoji="0" lang="ko-KR" altLang="en-US"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a:extLst>
              <a:ext uri="{FF2B5EF4-FFF2-40B4-BE49-F238E27FC236}">
                <a16:creationId xmlns:a16="http://schemas.microsoft.com/office/drawing/2014/main" id="{4DE900A9-8A0E-F64A-5B71-F415F8068706}"/>
              </a:ext>
            </a:extLst>
          </p:cNvPr>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a:extLst>
              <a:ext uri="{FF2B5EF4-FFF2-40B4-BE49-F238E27FC236}">
                <a16:creationId xmlns:a16="http://schemas.microsoft.com/office/drawing/2014/main" id="{3D6384B6-0D6C-CD05-DCB1-54DF8D2D8C5D}"/>
              </a:ext>
            </a:extLst>
          </p:cNvPr>
          <p:cNvGrpSpPr/>
          <p:nvPr/>
        </p:nvGrpSpPr>
        <p:grpSpPr>
          <a:xfrm>
            <a:off x="552349" y="2783484"/>
            <a:ext cx="257057" cy="324000"/>
            <a:chOff x="5238750" y="-523875"/>
            <a:chExt cx="409575" cy="704850"/>
          </a:xfrm>
        </p:grpSpPr>
        <p:sp>
          <p:nvSpPr>
            <p:cNvPr id="6" name="직사각형 5">
              <a:extLst>
                <a:ext uri="{FF2B5EF4-FFF2-40B4-BE49-F238E27FC236}">
                  <a16:creationId xmlns:a16="http://schemas.microsoft.com/office/drawing/2014/main" id="{7AB1B6D9-87D7-2EE1-8883-D2A1CAE3D91A}"/>
                </a:ext>
              </a:extLst>
            </p:cNvPr>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a:extLst>
                <a:ext uri="{FF2B5EF4-FFF2-40B4-BE49-F238E27FC236}">
                  <a16:creationId xmlns:a16="http://schemas.microsoft.com/office/drawing/2014/main" id="{0ABF3BA4-E276-94FB-EFD3-43AE03F83B7F}"/>
                </a:ext>
              </a:extLst>
            </p:cNvPr>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a:extLst>
                <a:ext uri="{FF2B5EF4-FFF2-40B4-BE49-F238E27FC236}">
                  <a16:creationId xmlns:a16="http://schemas.microsoft.com/office/drawing/2014/main" id="{E02F4918-AFFB-D4C7-CF87-F4C8B0E03C04}"/>
                </a:ext>
              </a:extLst>
            </p:cNvPr>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1" name="TextBox 10">
            <a:extLst>
              <a:ext uri="{FF2B5EF4-FFF2-40B4-BE49-F238E27FC236}">
                <a16:creationId xmlns:a16="http://schemas.microsoft.com/office/drawing/2014/main" id="{4313207D-1708-4E52-AA1D-91043124E31D}"/>
              </a:ext>
            </a:extLst>
          </p:cNvPr>
          <p:cNvSpPr txBox="1"/>
          <p:nvPr/>
        </p:nvSpPr>
        <p:spPr>
          <a:xfrm>
            <a:off x="7499250" y="3052715"/>
            <a:ext cx="2743300" cy="623248"/>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101736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D6224CAD-D28F-BE27-F165-6CD86EA56940}"/>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5341F24A-71DD-0139-FD87-D65CF8D53B3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359F2E0C-3611-A623-1A40-C82DB5174F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73E1A8E8-1F33-EF5F-683F-CF9857C7046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1D167F19-83BF-A644-42C2-D898EA395C1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DE111CCA-4BA7-0201-7A2B-E01EAB2D61BE}"/>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8B2C2B16-126A-5C9B-F2C6-1D6B8C65F2C0}"/>
              </a:ext>
            </a:extLst>
          </p:cNvPr>
          <p:cNvSpPr txBox="1"/>
          <p:nvPr/>
        </p:nvSpPr>
        <p:spPr>
          <a:xfrm>
            <a:off x="283368" y="6813808"/>
            <a:ext cx="10519226"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 리츠의 영업인가 상 사업계획 기준으로 주주총회 보통결의에 따라 사업계획 연장될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Equity IRR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수익률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운용 후 매각</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가정</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감사팀</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검토의견에 따라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주주의 이익을 극대화할 선관주의 의무</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 입장에서 당사가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모자리츠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운용보수를 수취하게 되는 경우 실질수익률 저하될 수 있음</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로써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모리츠의</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출자금액만큼의 운용보수는 청구하지 않는 것으로 계획</a:t>
            </a:r>
            <a:endPar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TextBox 22">
            <a:extLst>
              <a:ext uri="{FF2B5EF4-FFF2-40B4-BE49-F238E27FC236}">
                <a16:creationId xmlns:a16="http://schemas.microsoft.com/office/drawing/2014/main" id="{17F4B00E-860B-49FB-0560-B2E712A3D601}"/>
              </a:ext>
            </a:extLst>
          </p:cNvPr>
          <p:cNvSpPr txBox="1"/>
          <p:nvPr/>
        </p:nvSpPr>
        <p:spPr>
          <a:xfrm>
            <a:off x="283368" y="1040097"/>
            <a:ext cx="10152063"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a:solidFill>
                  <a:prstClr val="black"/>
                </a:solidFill>
              </a:rPr>
              <a:t>본건은 </a:t>
            </a:r>
            <a:r>
              <a:rPr lang="ko-KR" altLang="en-US" sz="1600" dirty="0" err="1">
                <a:solidFill>
                  <a:prstClr val="black"/>
                </a:solidFill>
              </a:rPr>
              <a:t>코람코라이프인프라리츠가</a:t>
            </a:r>
            <a:r>
              <a:rPr lang="ko-KR" altLang="en-US" sz="1600" dirty="0">
                <a:solidFill>
                  <a:prstClr val="black"/>
                </a:solidFill>
              </a:rPr>
              <a:t> </a:t>
            </a:r>
            <a:r>
              <a:rPr lang="ko-KR" altLang="en-US" sz="1600" dirty="0" err="1">
                <a:solidFill>
                  <a:prstClr val="black"/>
                </a:solidFill>
              </a:rPr>
              <a:t>보통주</a:t>
            </a:r>
            <a:r>
              <a:rPr lang="ko-KR" altLang="en-US" sz="1600" dirty="0">
                <a:solidFill>
                  <a:prstClr val="black"/>
                </a:solidFill>
              </a:rPr>
              <a:t> 출자를 통해 </a:t>
            </a:r>
            <a:r>
              <a:rPr lang="ko-KR" altLang="en-US" sz="1600" dirty="0" err="1">
                <a:solidFill>
                  <a:prstClr val="black"/>
                </a:solidFill>
              </a:rPr>
              <a:t>자리츠</a:t>
            </a:r>
            <a:r>
              <a:rPr lang="ko-KR" altLang="en-US" sz="1600" dirty="0">
                <a:solidFill>
                  <a:prstClr val="black"/>
                </a:solidFill>
              </a:rPr>
              <a:t> 설립 후 단계적으로 지분을 확대하는 건임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총 투자금액은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880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억원이며 보통주는 설립시점 납임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및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우선주는 각각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경과 후 매입하는 구조</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F76162D3-E41A-0DCD-9CE5-F0E0D0914654}"/>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E6226EFA-2903-5478-9457-3F91F8A4DB91}"/>
              </a:ext>
            </a:extLst>
          </p:cNvPr>
          <p:cNvGraphicFramePr>
            <a:graphicFrameLocks noGrp="1"/>
          </p:cNvGraphicFramePr>
          <p:nvPr>
            <p:extLst>
              <p:ext uri="{D42A27DB-BD31-4B8C-83A1-F6EECF244321}">
                <p14:modId xmlns:p14="http://schemas.microsoft.com/office/powerpoint/2010/main" val="271997679"/>
              </p:ext>
            </p:extLst>
          </p:nvPr>
        </p:nvGraphicFramePr>
        <p:xfrm>
          <a:off x="520700" y="2357348"/>
          <a:ext cx="9722196" cy="4332605"/>
        </p:xfrm>
        <a:graphic>
          <a:graphicData uri="http://schemas.openxmlformats.org/drawingml/2006/table">
            <a:tbl>
              <a:tblPr>
                <a:tableStyleId>{5940675A-B579-460E-94D1-54222C63F5DA}</a:tableStyleId>
              </a:tblPr>
              <a:tblGrid>
                <a:gridCol w="1267526">
                  <a:extLst>
                    <a:ext uri="{9D8B030D-6E8A-4147-A177-3AD203B41FA5}">
                      <a16:colId xmlns:a16="http://schemas.microsoft.com/office/drawing/2014/main" val="20000"/>
                    </a:ext>
                  </a:extLst>
                </a:gridCol>
                <a:gridCol w="3702490">
                  <a:extLst>
                    <a:ext uri="{9D8B030D-6E8A-4147-A177-3AD203B41FA5}">
                      <a16:colId xmlns:a16="http://schemas.microsoft.com/office/drawing/2014/main" val="20001"/>
                    </a:ext>
                  </a:extLst>
                </a:gridCol>
                <a:gridCol w="1620180">
                  <a:extLst>
                    <a:ext uri="{9D8B030D-6E8A-4147-A177-3AD203B41FA5}">
                      <a16:colId xmlns:a16="http://schemas.microsoft.com/office/drawing/2014/main" val="2852905440"/>
                    </a:ext>
                  </a:extLst>
                </a:gridCol>
                <a:gridCol w="3132000">
                  <a:extLst>
                    <a:ext uri="{9D8B030D-6E8A-4147-A177-3AD203B41FA5}">
                      <a16:colId xmlns:a16="http://schemas.microsoft.com/office/drawing/2014/main" val="3409433172"/>
                    </a:ext>
                  </a:extLst>
                </a:gridCol>
              </a:tblGrid>
              <a:tr h="282931">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8"/>
                  </a:ext>
                </a:extLst>
              </a:tr>
              <a:tr h="273647">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0"/>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공모형</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리츠</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1"/>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시가 총액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[4,463]</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주식수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97,335,354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a:t>
                      </a:r>
                      <a:r>
                        <a:rPr lang="ko-KR" altLang="en-US" sz="8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8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9</a:t>
                      </a:r>
                      <a:r>
                        <a:rPr lang="ko-KR" altLang="en-US" sz="8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월말 종가 기준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 총계</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 결산 기준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4628645"/>
                  </a:ext>
                </a:extLst>
              </a:tr>
              <a:tr h="27364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 금액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매입금액</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3"/>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결산기</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270103635"/>
                  </a:ext>
                </a:extLst>
              </a:tr>
              <a:tr h="257691">
                <a:tc>
                  <a:txBody>
                    <a:bodyPr/>
                    <a:lstStyle/>
                    <a:p>
                      <a:pPr algn="ctr" latinLnBrk="1"/>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보유기간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’36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4"/>
                  </a:ext>
                </a:extLst>
              </a:tr>
              <a:tr h="681898">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5"/>
                  </a:ext>
                </a:extLst>
              </a:tr>
              <a:tr h="85303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 보수</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6"/>
                  </a:ext>
                </a:extLst>
              </a:tr>
              <a:tr h="888813">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예상수익률</a:t>
                      </a:r>
                      <a:endParaRPr lang="ko-KR" altLang="en-US" sz="100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444480993"/>
                  </a:ext>
                </a:extLst>
              </a:tr>
            </a:tbl>
          </a:graphicData>
        </a:graphic>
      </p:graphicFrame>
      <p:graphicFrame>
        <p:nvGraphicFramePr>
          <p:cNvPr id="4" name="표 3">
            <a:extLst>
              <a:ext uri="{FF2B5EF4-FFF2-40B4-BE49-F238E27FC236}">
                <a16:creationId xmlns:a16="http://schemas.microsoft.com/office/drawing/2014/main" id="{85E5F59D-F2A2-2836-D6CD-26715BFA68C1}"/>
              </a:ext>
            </a:extLst>
          </p:cNvPr>
          <p:cNvGraphicFramePr>
            <a:graphicFrameLocks noGrp="1"/>
          </p:cNvGraphicFramePr>
          <p:nvPr>
            <p:extLst>
              <p:ext uri="{D42A27DB-BD31-4B8C-83A1-F6EECF244321}">
                <p14:modId xmlns:p14="http://schemas.microsoft.com/office/powerpoint/2010/main" val="4286592701"/>
              </p:ext>
            </p:extLst>
          </p:nvPr>
        </p:nvGraphicFramePr>
        <p:xfrm>
          <a:off x="1889522" y="4283893"/>
          <a:ext cx="8208913" cy="648000"/>
        </p:xfrm>
        <a:graphic>
          <a:graphicData uri="http://schemas.openxmlformats.org/drawingml/2006/table">
            <a:tbl>
              <a:tblPr>
                <a:tableStyleId>{5940675A-B579-460E-94D1-54222C63F5DA}</a:tableStyleId>
              </a:tblPr>
              <a:tblGrid>
                <a:gridCol w="1086373">
                  <a:extLst>
                    <a:ext uri="{9D8B030D-6E8A-4147-A177-3AD203B41FA5}">
                      <a16:colId xmlns:a16="http://schemas.microsoft.com/office/drawing/2014/main" val="20000"/>
                    </a:ext>
                  </a:extLst>
                </a:gridCol>
                <a:gridCol w="1799901">
                  <a:extLst>
                    <a:ext uri="{9D8B030D-6E8A-4147-A177-3AD203B41FA5}">
                      <a16:colId xmlns:a16="http://schemas.microsoft.com/office/drawing/2014/main" val="20001"/>
                    </a:ext>
                  </a:extLst>
                </a:gridCol>
                <a:gridCol w="1774213">
                  <a:extLst>
                    <a:ext uri="{9D8B030D-6E8A-4147-A177-3AD203B41FA5}">
                      <a16:colId xmlns:a16="http://schemas.microsoft.com/office/drawing/2014/main" val="20002"/>
                    </a:ext>
                  </a:extLst>
                </a:gridCol>
                <a:gridCol w="1774213">
                  <a:extLst>
                    <a:ext uri="{9D8B030D-6E8A-4147-A177-3AD203B41FA5}">
                      <a16:colId xmlns:a16="http://schemas.microsoft.com/office/drawing/2014/main" val="20003"/>
                    </a:ext>
                  </a:extLst>
                </a:gridCol>
                <a:gridCol w="1774213">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수수료</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en-US" altLang="ko-KR"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597</a:t>
                      </a:r>
                      <a:r>
                        <a:rPr lang="ko-KR" altLang="en-US"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자산가액의</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표 4">
            <a:extLst>
              <a:ext uri="{FF2B5EF4-FFF2-40B4-BE49-F238E27FC236}">
                <a16:creationId xmlns:a16="http://schemas.microsoft.com/office/drawing/2014/main" id="{0CE7B849-FC94-B8F1-0E4D-D9C39CB64C65}"/>
              </a:ext>
            </a:extLst>
          </p:cNvPr>
          <p:cNvGraphicFramePr>
            <a:graphicFrameLocks noGrp="1"/>
          </p:cNvGraphicFramePr>
          <p:nvPr>
            <p:extLst>
              <p:ext uri="{D42A27DB-BD31-4B8C-83A1-F6EECF244321}">
                <p14:modId xmlns:p14="http://schemas.microsoft.com/office/powerpoint/2010/main" val="950469418"/>
              </p:ext>
            </p:extLst>
          </p:nvPr>
        </p:nvGraphicFramePr>
        <p:xfrm>
          <a:off x="1889522" y="5039977"/>
          <a:ext cx="8208912" cy="648000"/>
        </p:xfrm>
        <a:graphic>
          <a:graphicData uri="http://schemas.openxmlformats.org/drawingml/2006/table">
            <a:tbl>
              <a:tblPr>
                <a:tableStyleId>{5940675A-B579-460E-94D1-54222C63F5DA}</a:tableStyleId>
              </a:tblPr>
              <a:tblGrid>
                <a:gridCol w="1095149">
                  <a:extLst>
                    <a:ext uri="{9D8B030D-6E8A-4147-A177-3AD203B41FA5}">
                      <a16:colId xmlns:a16="http://schemas.microsoft.com/office/drawing/2014/main" val="20000"/>
                    </a:ext>
                  </a:extLst>
                </a:gridCol>
                <a:gridCol w="1785678">
                  <a:extLst>
                    <a:ext uri="{9D8B030D-6E8A-4147-A177-3AD203B41FA5}">
                      <a16:colId xmlns:a16="http://schemas.microsoft.com/office/drawing/2014/main" val="20001"/>
                    </a:ext>
                  </a:extLst>
                </a:gridCol>
                <a:gridCol w="5328085">
                  <a:extLst>
                    <a:ext uri="{9D8B030D-6E8A-4147-A177-3AD203B41FA5}">
                      <a16:colId xmlns:a16="http://schemas.microsoft.com/office/drawing/2014/main" val="20002"/>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 초과 분의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차익의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매각가액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6" name="표 5">
            <a:extLst>
              <a:ext uri="{FF2B5EF4-FFF2-40B4-BE49-F238E27FC236}">
                <a16:creationId xmlns:a16="http://schemas.microsoft.com/office/drawing/2014/main" id="{5C801088-F6B2-96DB-0F2C-744BBF6306AC}"/>
              </a:ext>
            </a:extLst>
          </p:cNvPr>
          <p:cNvGraphicFramePr>
            <a:graphicFrameLocks noGrp="1"/>
          </p:cNvGraphicFramePr>
          <p:nvPr>
            <p:extLst>
              <p:ext uri="{D42A27DB-BD31-4B8C-83A1-F6EECF244321}">
                <p14:modId xmlns:p14="http://schemas.microsoft.com/office/powerpoint/2010/main" val="2368745758"/>
              </p:ext>
            </p:extLst>
          </p:nvPr>
        </p:nvGraphicFramePr>
        <p:xfrm>
          <a:off x="1889525" y="5885621"/>
          <a:ext cx="8208908" cy="738532"/>
        </p:xfrm>
        <a:graphic>
          <a:graphicData uri="http://schemas.openxmlformats.org/drawingml/2006/table">
            <a:tbl>
              <a:tblPr>
                <a:tableStyleId>{5940675A-B579-460E-94D1-54222C63F5DA}</a:tableStyleId>
              </a:tblPr>
              <a:tblGrid>
                <a:gridCol w="1942565">
                  <a:extLst>
                    <a:ext uri="{9D8B030D-6E8A-4147-A177-3AD203B41FA5}">
                      <a16:colId xmlns:a16="http://schemas.microsoft.com/office/drawing/2014/main" val="20000"/>
                    </a:ext>
                  </a:extLst>
                </a:gridCol>
                <a:gridCol w="2088781">
                  <a:extLst>
                    <a:ext uri="{9D8B030D-6E8A-4147-A177-3AD203B41FA5}">
                      <a16:colId xmlns:a16="http://schemas.microsoft.com/office/drawing/2014/main" val="2416294628"/>
                    </a:ext>
                  </a:extLst>
                </a:gridCol>
                <a:gridCol w="2088781">
                  <a:extLst>
                    <a:ext uri="{9D8B030D-6E8A-4147-A177-3AD203B41FA5}">
                      <a16:colId xmlns:a16="http://schemas.microsoft.com/office/drawing/2014/main" val="1731281613"/>
                    </a:ext>
                  </a:extLst>
                </a:gridCol>
                <a:gridCol w="2088781">
                  <a:extLst>
                    <a:ext uri="{9D8B030D-6E8A-4147-A177-3AD203B41FA5}">
                      <a16:colId xmlns:a16="http://schemas.microsoft.com/office/drawing/2014/main" val="20002"/>
                    </a:ext>
                  </a:extLst>
                </a:gridCol>
              </a:tblGrid>
              <a:tr h="135308">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제외</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포함</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IRR</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62952105"/>
                  </a:ext>
                </a:extLst>
              </a:tr>
              <a:tr h="150343">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7749718"/>
                  </a:ext>
                </a:extLst>
              </a:tr>
              <a:tr h="150343">
                <a:tc>
                  <a:txBody>
                    <a:bodyPr/>
                    <a:lstStyle/>
                    <a:p>
                      <a:pPr algn="ctr" latinLnBrk="1"/>
                      <a:r>
                        <a:rPr lang="en-US" altLang="ko-KR"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 </a:t>
                      </a:r>
                      <a:r>
                        <a:rPr lang="ko-KR" altLang="en-US"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endPar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endPar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endPar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7358915"/>
                  </a:ext>
                </a:extLst>
              </a:tr>
            </a:tbl>
          </a:graphicData>
        </a:graphic>
      </p:graphicFrame>
    </p:spTree>
    <p:extLst>
      <p:ext uri="{BB962C8B-B14F-4D97-AF65-F5344CB8AC3E}">
        <p14:creationId xmlns:p14="http://schemas.microsoft.com/office/powerpoint/2010/main" val="60468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57658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금번 투자 시 별도 유상증자 없이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년의 기간에 걸쳐 단계적으로 매입할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1276-71EB-6C07-9215-246822076F0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7D201A29-E534-7D8C-9198-1415ABD6B343}"/>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39EB9806-8AED-CC36-FC7C-B7EE69618CD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72031407-F316-7B1C-8CF7-65EB0978B22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1729F649-3CD0-F48C-1341-0876E92A77A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D958B363-151A-0398-CABD-AE308FCF6C1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6A203237-5759-02AD-9ABD-6A8961055BBC}"/>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배경</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사각형: 둥근 모서리 3">
            <a:extLst>
              <a:ext uri="{FF2B5EF4-FFF2-40B4-BE49-F238E27FC236}">
                <a16:creationId xmlns:a16="http://schemas.microsoft.com/office/drawing/2014/main" id="{A403522E-4305-09CE-4825-D894F2AD5ED4}"/>
              </a:ext>
            </a:extLst>
          </p:cNvPr>
          <p:cNvSpPr/>
          <p:nvPr/>
        </p:nvSpPr>
        <p:spPr>
          <a:xfrm>
            <a:off x="444184" y="2554628"/>
            <a:ext cx="2453450"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공급량</a:t>
            </a:r>
          </a:p>
        </p:txBody>
      </p:sp>
      <p:graphicFrame>
        <p:nvGraphicFramePr>
          <p:cNvPr id="14" name="차트 13">
            <a:extLst>
              <a:ext uri="{FF2B5EF4-FFF2-40B4-BE49-F238E27FC236}">
                <a16:creationId xmlns:a16="http://schemas.microsoft.com/office/drawing/2014/main" id="{CF97BC2A-9E15-FF0E-E2AE-F65CB3003D15}"/>
              </a:ext>
            </a:extLst>
          </p:cNvPr>
          <p:cNvGraphicFramePr/>
          <p:nvPr>
            <p:extLst>
              <p:ext uri="{D42A27DB-BD31-4B8C-83A1-F6EECF244321}">
                <p14:modId xmlns:p14="http://schemas.microsoft.com/office/powerpoint/2010/main" val="749380130"/>
              </p:ext>
            </p:extLst>
          </p:nvPr>
        </p:nvGraphicFramePr>
        <p:xfrm>
          <a:off x="734111" y="4980470"/>
          <a:ext cx="4543070" cy="1669128"/>
        </p:xfrm>
        <a:graphic>
          <a:graphicData uri="http://schemas.openxmlformats.org/drawingml/2006/chart">
            <c:chart xmlns:c="http://schemas.openxmlformats.org/drawingml/2006/chart" xmlns:r="http://schemas.openxmlformats.org/officeDocument/2006/relationships" r:id="rId2"/>
          </a:graphicData>
        </a:graphic>
      </p:graphicFrame>
      <p:grpSp>
        <p:nvGrpSpPr>
          <p:cNvPr id="15" name="그룹 14">
            <a:extLst>
              <a:ext uri="{FF2B5EF4-FFF2-40B4-BE49-F238E27FC236}">
                <a16:creationId xmlns:a16="http://schemas.microsoft.com/office/drawing/2014/main" id="{69D746D3-10CA-082A-B8E4-3A101D51AE46}"/>
              </a:ext>
            </a:extLst>
          </p:cNvPr>
          <p:cNvGrpSpPr/>
          <p:nvPr/>
        </p:nvGrpSpPr>
        <p:grpSpPr>
          <a:xfrm>
            <a:off x="580166" y="4729630"/>
            <a:ext cx="2688557" cy="216268"/>
            <a:chOff x="455544" y="-592941"/>
            <a:chExt cx="2688557" cy="246221"/>
          </a:xfrm>
        </p:grpSpPr>
        <p:sp>
          <p:nvSpPr>
            <p:cNvPr id="56" name="TextBox 55">
              <a:extLst>
                <a:ext uri="{FF2B5EF4-FFF2-40B4-BE49-F238E27FC236}">
                  <a16:creationId xmlns:a16="http://schemas.microsoft.com/office/drawing/2014/main" id="{17A1A002-A1A6-58D3-7097-F00A0490694A}"/>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7" name="직사각형 56">
              <a:extLst>
                <a:ext uri="{FF2B5EF4-FFF2-40B4-BE49-F238E27FC236}">
                  <a16:creationId xmlns:a16="http://schemas.microsoft.com/office/drawing/2014/main" id="{015BF8F3-BE06-6431-3E06-CE95161E2496}"/>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DE6EF900-900E-DCB9-1A69-2922CAA14FEB}"/>
              </a:ext>
            </a:extLst>
          </p:cNvPr>
          <p:cNvPicPr>
            <a:picLocks noChangeAspect="1"/>
          </p:cNvPicPr>
          <p:nvPr/>
        </p:nvPicPr>
        <p:blipFill>
          <a:blip r:embed="rId3"/>
          <a:stretch>
            <a:fillRect/>
          </a:stretch>
        </p:blipFill>
        <p:spPr>
          <a:xfrm>
            <a:off x="759523" y="2894201"/>
            <a:ext cx="4423096" cy="1679120"/>
          </a:xfrm>
          <a:prstGeom prst="rect">
            <a:avLst/>
          </a:prstGeom>
        </p:spPr>
      </p:pic>
      <p:sp>
        <p:nvSpPr>
          <p:cNvPr id="17" name="직사각형 16">
            <a:extLst>
              <a:ext uri="{FF2B5EF4-FFF2-40B4-BE49-F238E27FC236}">
                <a16:creationId xmlns:a16="http://schemas.microsoft.com/office/drawing/2014/main" id="{8EF1FBEF-EF69-30DE-8B42-457136007188}"/>
              </a:ext>
            </a:extLst>
          </p:cNvPr>
          <p:cNvSpPr/>
          <p:nvPr/>
        </p:nvSpPr>
        <p:spPr>
          <a:xfrm>
            <a:off x="759523" y="2880486"/>
            <a:ext cx="4423096" cy="1677613"/>
          </a:xfrm>
          <a:prstGeom prst="rect">
            <a:avLst/>
          </a:prstGeom>
          <a:solidFill>
            <a:schemeClr val="bg1">
              <a:alpha val="30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8" name="그룹 17">
            <a:extLst>
              <a:ext uri="{FF2B5EF4-FFF2-40B4-BE49-F238E27FC236}">
                <a16:creationId xmlns:a16="http://schemas.microsoft.com/office/drawing/2014/main" id="{0239643C-23D3-EDAB-BAFC-5FFFCA03B1D5}"/>
              </a:ext>
            </a:extLst>
          </p:cNvPr>
          <p:cNvGrpSpPr/>
          <p:nvPr/>
        </p:nvGrpSpPr>
        <p:grpSpPr>
          <a:xfrm>
            <a:off x="1224807" y="2949130"/>
            <a:ext cx="3010458" cy="1539381"/>
            <a:chOff x="1224807" y="2436617"/>
            <a:chExt cx="3010458" cy="1752584"/>
          </a:xfrm>
        </p:grpSpPr>
        <p:sp>
          <p:nvSpPr>
            <p:cNvPr id="39" name="TextBox 38">
              <a:extLst>
                <a:ext uri="{FF2B5EF4-FFF2-40B4-BE49-F238E27FC236}">
                  <a16:creationId xmlns:a16="http://schemas.microsoft.com/office/drawing/2014/main" id="{17EE2569-8239-A146-2D11-0281641E126C}"/>
                </a:ext>
              </a:extLst>
            </p:cNvPr>
            <p:cNvSpPr txBox="1"/>
            <p:nvPr/>
          </p:nvSpPr>
          <p:spPr>
            <a:xfrm>
              <a:off x="2184679" y="2732862"/>
              <a:ext cx="546117" cy="233014"/>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고양시</a:t>
              </a:r>
            </a:p>
          </p:txBody>
        </p:sp>
        <p:sp>
          <p:nvSpPr>
            <p:cNvPr id="41" name="TextBox 40">
              <a:extLst>
                <a:ext uri="{FF2B5EF4-FFF2-40B4-BE49-F238E27FC236}">
                  <a16:creationId xmlns:a16="http://schemas.microsoft.com/office/drawing/2014/main" id="{6D4EB324-B285-D8CF-70C8-5C40E5964949}"/>
                </a:ext>
              </a:extLst>
            </p:cNvPr>
            <p:cNvSpPr txBox="1"/>
            <p:nvPr/>
          </p:nvSpPr>
          <p:spPr>
            <a:xfrm>
              <a:off x="1224807" y="2626673"/>
              <a:ext cx="546117" cy="233014"/>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김포시</a:t>
              </a:r>
            </a:p>
          </p:txBody>
        </p:sp>
        <p:sp>
          <p:nvSpPr>
            <p:cNvPr id="42" name="TextBox 41">
              <a:extLst>
                <a:ext uri="{FF2B5EF4-FFF2-40B4-BE49-F238E27FC236}">
                  <a16:creationId xmlns:a16="http://schemas.microsoft.com/office/drawing/2014/main" id="{8BB7B60B-DFDC-DF1F-E6F0-3E9B29803637}"/>
                </a:ext>
              </a:extLst>
            </p:cNvPr>
            <p:cNvSpPr txBox="1"/>
            <p:nvPr/>
          </p:nvSpPr>
          <p:spPr>
            <a:xfrm>
              <a:off x="3165140" y="3933104"/>
              <a:ext cx="546117"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p>
          </p:txBody>
        </p:sp>
        <p:sp>
          <p:nvSpPr>
            <p:cNvPr id="43" name="TextBox 42">
              <a:extLst>
                <a:ext uri="{FF2B5EF4-FFF2-40B4-BE49-F238E27FC236}">
                  <a16:creationId xmlns:a16="http://schemas.microsoft.com/office/drawing/2014/main" id="{087166FA-A7FA-37B7-E1BF-FEA929E2CB70}"/>
                </a:ext>
              </a:extLst>
            </p:cNvPr>
            <p:cNvSpPr txBox="1"/>
            <p:nvPr/>
          </p:nvSpPr>
          <p:spPr>
            <a:xfrm>
              <a:off x="1978050" y="3442315"/>
              <a:ext cx="546117" cy="233014"/>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부천시</a:t>
              </a:r>
            </a:p>
          </p:txBody>
        </p:sp>
        <p:sp>
          <p:nvSpPr>
            <p:cNvPr id="44" name="TextBox 43">
              <a:extLst>
                <a:ext uri="{FF2B5EF4-FFF2-40B4-BE49-F238E27FC236}">
                  <a16:creationId xmlns:a16="http://schemas.microsoft.com/office/drawing/2014/main" id="{4D896F40-D963-D4BE-E786-63D001451689}"/>
                </a:ext>
              </a:extLst>
            </p:cNvPr>
            <p:cNvSpPr txBox="1"/>
            <p:nvPr/>
          </p:nvSpPr>
          <p:spPr>
            <a:xfrm>
              <a:off x="2786965" y="3762188"/>
              <a:ext cx="546117" cy="233014"/>
            </a:xfrm>
            <a:prstGeom prst="rect">
              <a:avLst/>
            </a:prstGeom>
            <a:noFill/>
          </p:spPr>
          <p:txBody>
            <a:bodyPr wrap="square" lIns="0" tIns="46800" rIns="0" bIns="46800" rtlCol="0">
              <a:spAutoFit/>
            </a:bodyPr>
            <a:lstStyle>
              <a:defPPr>
                <a:defRPr lang="en-US"/>
              </a:defPPr>
              <a:lvl1pPr algn="ctr">
                <a:defRPr sz="1000" spc="-30">
                  <a:effectLst>
                    <a:glow rad="50800">
                      <a:prstClr val="white"/>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a:t>과천</a:t>
              </a:r>
            </a:p>
          </p:txBody>
        </p:sp>
        <p:sp>
          <p:nvSpPr>
            <p:cNvPr id="45" name="TextBox 44">
              <a:extLst>
                <a:ext uri="{FF2B5EF4-FFF2-40B4-BE49-F238E27FC236}">
                  <a16:creationId xmlns:a16="http://schemas.microsoft.com/office/drawing/2014/main" id="{73E53072-435F-2EA4-06FD-B6CE61C08466}"/>
                </a:ext>
              </a:extLst>
            </p:cNvPr>
            <p:cNvSpPr txBox="1"/>
            <p:nvPr/>
          </p:nvSpPr>
          <p:spPr>
            <a:xfrm>
              <a:off x="2484856" y="3882746"/>
              <a:ext cx="546117"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46" name="TextBox 45">
              <a:extLst>
                <a:ext uri="{FF2B5EF4-FFF2-40B4-BE49-F238E27FC236}">
                  <a16:creationId xmlns:a16="http://schemas.microsoft.com/office/drawing/2014/main" id="{94815F1F-1F0E-CD9B-602B-92BCAD78AC8D}"/>
                </a:ext>
              </a:extLst>
            </p:cNvPr>
            <p:cNvSpPr txBox="1"/>
            <p:nvPr/>
          </p:nvSpPr>
          <p:spPr>
            <a:xfrm>
              <a:off x="3566453" y="2763058"/>
              <a:ext cx="546117" cy="233014"/>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남양주시</a:t>
              </a:r>
            </a:p>
          </p:txBody>
        </p:sp>
        <p:sp>
          <p:nvSpPr>
            <p:cNvPr id="47" name="TextBox 46">
              <a:extLst>
                <a:ext uri="{FF2B5EF4-FFF2-40B4-BE49-F238E27FC236}">
                  <a16:creationId xmlns:a16="http://schemas.microsoft.com/office/drawing/2014/main" id="{B726F422-BC79-C75D-E998-8D9EB01E65F3}"/>
                </a:ext>
              </a:extLst>
            </p:cNvPr>
            <p:cNvSpPr txBox="1"/>
            <p:nvPr/>
          </p:nvSpPr>
          <p:spPr>
            <a:xfrm>
              <a:off x="1397210" y="3669482"/>
              <a:ext cx="546117" cy="233014"/>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인천광역시</a:t>
              </a:r>
            </a:p>
          </p:txBody>
        </p:sp>
        <p:sp>
          <p:nvSpPr>
            <p:cNvPr id="48" name="TextBox 47">
              <a:extLst>
                <a:ext uri="{FF2B5EF4-FFF2-40B4-BE49-F238E27FC236}">
                  <a16:creationId xmlns:a16="http://schemas.microsoft.com/office/drawing/2014/main" id="{91CC9A10-35DF-CC11-5064-FD9019856FE4}"/>
                </a:ext>
              </a:extLst>
            </p:cNvPr>
            <p:cNvSpPr txBox="1"/>
            <p:nvPr/>
          </p:nvSpPr>
          <p:spPr>
            <a:xfrm>
              <a:off x="1893655" y="3272924"/>
              <a:ext cx="546117" cy="248402"/>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TextBox 48">
              <a:extLst>
                <a:ext uri="{FF2B5EF4-FFF2-40B4-BE49-F238E27FC236}">
                  <a16:creationId xmlns:a16="http://schemas.microsoft.com/office/drawing/2014/main" id="{EE4B064C-6D8C-61FC-85DB-C7A136D4541F}"/>
                </a:ext>
              </a:extLst>
            </p:cNvPr>
            <p:cNvSpPr txBox="1"/>
            <p:nvPr/>
          </p:nvSpPr>
          <p:spPr>
            <a:xfrm>
              <a:off x="1265337" y="2436617"/>
              <a:ext cx="546117"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0" name="TextBox 49">
              <a:extLst>
                <a:ext uri="{FF2B5EF4-FFF2-40B4-BE49-F238E27FC236}">
                  <a16:creationId xmlns:a16="http://schemas.microsoft.com/office/drawing/2014/main" id="{620C481A-89A8-F36A-04E2-79D5AA702215}"/>
                </a:ext>
              </a:extLst>
            </p:cNvPr>
            <p:cNvSpPr txBox="1"/>
            <p:nvPr/>
          </p:nvSpPr>
          <p:spPr>
            <a:xfrm>
              <a:off x="2491920" y="3732749"/>
              <a:ext cx="546117"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1" name="TextBox 50">
              <a:extLst>
                <a:ext uri="{FF2B5EF4-FFF2-40B4-BE49-F238E27FC236}">
                  <a16:creationId xmlns:a16="http://schemas.microsoft.com/office/drawing/2014/main" id="{2C61840D-C95B-DB13-4E98-B8EC247AF9BC}"/>
                </a:ext>
              </a:extLst>
            </p:cNvPr>
            <p:cNvSpPr txBox="1"/>
            <p:nvPr/>
          </p:nvSpPr>
          <p:spPr>
            <a:xfrm>
              <a:off x="2819212" y="3579514"/>
              <a:ext cx="546117"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2" name="TextBox 51">
              <a:extLst>
                <a:ext uri="{FF2B5EF4-FFF2-40B4-BE49-F238E27FC236}">
                  <a16:creationId xmlns:a16="http://schemas.microsoft.com/office/drawing/2014/main" id="{BC5663D1-6215-AA32-35DB-F6E68DE2C9EC}"/>
                </a:ext>
              </a:extLst>
            </p:cNvPr>
            <p:cNvSpPr txBox="1"/>
            <p:nvPr/>
          </p:nvSpPr>
          <p:spPr>
            <a:xfrm>
              <a:off x="3228482" y="3778539"/>
              <a:ext cx="546117"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3" name="TextBox 52">
              <a:extLst>
                <a:ext uri="{FF2B5EF4-FFF2-40B4-BE49-F238E27FC236}">
                  <a16:creationId xmlns:a16="http://schemas.microsoft.com/office/drawing/2014/main" id="{7E0EB682-9B70-3BFD-73B2-9D9F3F2DEE82}"/>
                </a:ext>
              </a:extLst>
            </p:cNvPr>
            <p:cNvSpPr txBox="1"/>
            <p:nvPr/>
          </p:nvSpPr>
          <p:spPr>
            <a:xfrm>
              <a:off x="3482058" y="2613183"/>
              <a:ext cx="753207"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4" name="TextBox 53">
              <a:extLst>
                <a:ext uri="{FF2B5EF4-FFF2-40B4-BE49-F238E27FC236}">
                  <a16:creationId xmlns:a16="http://schemas.microsoft.com/office/drawing/2014/main" id="{CBA2258C-A045-23D9-7F7F-668263BA02CB}"/>
                </a:ext>
              </a:extLst>
            </p:cNvPr>
            <p:cNvSpPr txBox="1"/>
            <p:nvPr/>
          </p:nvSpPr>
          <p:spPr>
            <a:xfrm>
              <a:off x="2251108" y="2549693"/>
              <a:ext cx="546117"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5" name="TextBox 54">
              <a:extLst>
                <a:ext uri="{FF2B5EF4-FFF2-40B4-BE49-F238E27FC236}">
                  <a16:creationId xmlns:a16="http://schemas.microsoft.com/office/drawing/2014/main" id="{D7697A10-4671-B9F0-2D14-67986E31AA5C}"/>
                </a:ext>
              </a:extLst>
            </p:cNvPr>
            <p:cNvSpPr txBox="1"/>
            <p:nvPr/>
          </p:nvSpPr>
          <p:spPr>
            <a:xfrm>
              <a:off x="1315478" y="3499371"/>
              <a:ext cx="690825"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4" name="TextBox 33">
            <a:extLst>
              <a:ext uri="{FF2B5EF4-FFF2-40B4-BE49-F238E27FC236}">
                <a16:creationId xmlns:a16="http://schemas.microsoft.com/office/drawing/2014/main" id="{9D6B7BE8-1152-BA87-B04C-8329725AFB2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61" name="Table 6">
            <a:extLst>
              <a:ext uri="{FF2B5EF4-FFF2-40B4-BE49-F238E27FC236}">
                <a16:creationId xmlns:a16="http://schemas.microsoft.com/office/drawing/2014/main" id="{79410521-E69B-A6ED-13A8-A0F75FDE28C6}"/>
              </a:ext>
            </a:extLst>
          </p:cNvPr>
          <p:cNvGraphicFramePr>
            <a:graphicFrameLocks noGrp="1"/>
          </p:cNvGraphicFramePr>
          <p:nvPr>
            <p:extLst>
              <p:ext uri="{D42A27DB-BD31-4B8C-83A1-F6EECF244321}">
                <p14:modId xmlns:p14="http://schemas.microsoft.com/office/powerpoint/2010/main" val="842058939"/>
              </p:ext>
            </p:extLst>
          </p:nvPr>
        </p:nvGraphicFramePr>
        <p:xfrm>
          <a:off x="5386893" y="5328008"/>
          <a:ext cx="4999571" cy="1404153"/>
        </p:xfrm>
        <a:graphic>
          <a:graphicData uri="http://schemas.openxmlformats.org/drawingml/2006/table">
            <a:tbl>
              <a:tblPr>
                <a:tableStyleId>{5C22544A-7EE6-4342-B048-85BDC9FD1C3A}</a:tableStyleId>
              </a:tblPr>
              <a:tblGrid>
                <a:gridCol w="810289">
                  <a:extLst>
                    <a:ext uri="{9D8B030D-6E8A-4147-A177-3AD203B41FA5}">
                      <a16:colId xmlns:a16="http://schemas.microsoft.com/office/drawing/2014/main" val="646663967"/>
                    </a:ext>
                  </a:extLst>
                </a:gridCol>
                <a:gridCol w="878308">
                  <a:extLst>
                    <a:ext uri="{9D8B030D-6E8A-4147-A177-3AD203B41FA5}">
                      <a16:colId xmlns:a16="http://schemas.microsoft.com/office/drawing/2014/main" val="767592186"/>
                    </a:ext>
                  </a:extLst>
                </a:gridCol>
                <a:gridCol w="878308">
                  <a:extLst>
                    <a:ext uri="{9D8B030D-6E8A-4147-A177-3AD203B41FA5}">
                      <a16:colId xmlns:a16="http://schemas.microsoft.com/office/drawing/2014/main" val="288594886"/>
                    </a:ext>
                  </a:extLst>
                </a:gridCol>
                <a:gridCol w="878308">
                  <a:extLst>
                    <a:ext uri="{9D8B030D-6E8A-4147-A177-3AD203B41FA5}">
                      <a16:colId xmlns:a16="http://schemas.microsoft.com/office/drawing/2014/main" val="3166528932"/>
                    </a:ext>
                  </a:extLst>
                </a:gridCol>
                <a:gridCol w="878308">
                  <a:extLst>
                    <a:ext uri="{9D8B030D-6E8A-4147-A177-3AD203B41FA5}">
                      <a16:colId xmlns:a16="http://schemas.microsoft.com/office/drawing/2014/main" val="1127324243"/>
                    </a:ext>
                  </a:extLst>
                </a:gridCol>
                <a:gridCol w="676050">
                  <a:extLst>
                    <a:ext uri="{9D8B030D-6E8A-4147-A177-3AD203B41FA5}">
                      <a16:colId xmlns:a16="http://schemas.microsoft.com/office/drawing/2014/main" val="2691302053"/>
                    </a:ext>
                  </a:extLst>
                </a:gridCol>
              </a:tblGrid>
              <a:tr h="156017">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17km(35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광명</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광명</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월암</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15km(29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판교</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JC)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156017">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36km(34</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156017">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156017">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65" name="TextBox 64">
            <a:extLst>
              <a:ext uri="{FF2B5EF4-FFF2-40B4-BE49-F238E27FC236}">
                <a16:creationId xmlns:a16="http://schemas.microsoft.com/office/drawing/2014/main" id="{88BAEC8E-DB7F-AD1A-476E-8C697EF366DA}"/>
              </a:ext>
            </a:extLst>
          </p:cNvPr>
          <p:cNvSpPr txBox="1"/>
          <p:nvPr/>
        </p:nvSpPr>
        <p:spPr>
          <a:xfrm>
            <a:off x="305346" y="6804173"/>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92" name="그림 91">
            <a:extLst>
              <a:ext uri="{FF2B5EF4-FFF2-40B4-BE49-F238E27FC236}">
                <a16:creationId xmlns:a16="http://schemas.microsoft.com/office/drawing/2014/main" id="{69CB26DB-4D12-83DF-068C-8174A8106129}"/>
              </a:ext>
            </a:extLst>
          </p:cNvPr>
          <p:cNvPicPr>
            <a:picLocks noChangeAspect="1"/>
          </p:cNvPicPr>
          <p:nvPr/>
        </p:nvPicPr>
        <p:blipFill>
          <a:blip r:embed="rId4"/>
          <a:stretch>
            <a:fillRect/>
          </a:stretch>
        </p:blipFill>
        <p:spPr>
          <a:xfrm>
            <a:off x="6246006" y="2283137"/>
            <a:ext cx="3233171" cy="2901248"/>
          </a:xfrm>
          <a:prstGeom prst="rect">
            <a:avLst/>
          </a:prstGeom>
        </p:spPr>
      </p:pic>
      <p:sp>
        <p:nvSpPr>
          <p:cNvPr id="94" name="TextBox 93">
            <a:extLst>
              <a:ext uri="{FF2B5EF4-FFF2-40B4-BE49-F238E27FC236}">
                <a16:creationId xmlns:a16="http://schemas.microsoft.com/office/drawing/2014/main" id="{25480CCD-B463-C6EA-194C-D1A231281A7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 자산은 서울 서초</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관악구역에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분내로 접근 가능한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자산으로서 안정적 임대수요를 갖추고 있음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ko-KR" altLang="en-US"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 수도권 근접 </a:t>
            </a:r>
            <a:r>
              <a:rPr lang="en-US" altLang="ko-KR"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 신규공급이 제한될 예정으로 입지적 희소성 및 자산가치의 장기적 상승이 기대됨</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21152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86C-9454-9159-13A7-BB02103C0D0A}"/>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2F9FB2AB-2AC9-97A2-DF9F-35000B963094}"/>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4D63B03B-2B66-44CB-8D29-0EDFD9AD7BF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E8E01B99-436E-9812-8797-B35F89BB188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67F78556-115F-5D23-35A2-21DC10A140C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25C061CB-3953-8442-6FC2-F99B38BE236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7EFFC548-651A-F92B-955A-BA98AF081E7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337F5084-E627-7010-1047-B720357309B1}"/>
              </a:ext>
            </a:extLst>
          </p:cNvPr>
          <p:cNvSpPr txBox="1"/>
          <p:nvPr/>
        </p:nvSpPr>
        <p:spPr>
          <a:xfrm>
            <a:off x="283368" y="6813808"/>
            <a:ext cx="306494" cy="215444"/>
          </a:xfrm>
          <a:prstGeom prst="rect">
            <a:avLst/>
          </a:prstGeom>
          <a:noFill/>
        </p:spPr>
        <p:txBody>
          <a:bodyPr wrap="none" rtlCol="0">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3" name="TextBox 22">
            <a:extLst>
              <a:ext uri="{FF2B5EF4-FFF2-40B4-BE49-F238E27FC236}">
                <a16:creationId xmlns:a16="http://schemas.microsoft.com/office/drawing/2014/main" id="{EF65395B-ED52-90CA-A301-E87A91B80D4C}"/>
              </a:ext>
            </a:extLst>
          </p:cNvPr>
          <p:cNvSpPr txBox="1"/>
          <p:nvPr/>
        </p:nvSpPr>
        <p:spPr>
          <a:xfrm>
            <a:off x="283368" y="1040097"/>
            <a:ext cx="10152063"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err="1">
                <a:solidFill>
                  <a:prstClr val="black"/>
                </a:solidFill>
              </a:rPr>
              <a:t>모리츠는</a:t>
            </a:r>
            <a:r>
              <a:rPr lang="ko-KR" altLang="en-US" sz="1600" dirty="0">
                <a:solidFill>
                  <a:prstClr val="black"/>
                </a:solidFill>
              </a:rPr>
              <a:t> 보유 자산가치의 활용을 위하여 유휴 </a:t>
            </a:r>
            <a:r>
              <a:rPr lang="en-US" altLang="ko-KR" sz="1600" dirty="0">
                <a:solidFill>
                  <a:prstClr val="black"/>
                </a:solidFill>
              </a:rPr>
              <a:t>LTV</a:t>
            </a:r>
            <a:r>
              <a:rPr lang="ko-KR" altLang="en-US" sz="1600" dirty="0">
                <a:solidFill>
                  <a:prstClr val="black"/>
                </a:solidFill>
              </a:rPr>
              <a:t>를 활용하여 </a:t>
            </a:r>
            <a:r>
              <a:rPr lang="en-US" altLang="ko-KR" sz="1600" dirty="0">
                <a:solidFill>
                  <a:prstClr val="black"/>
                </a:solidFill>
              </a:rPr>
              <a:t>Spread Margin</a:t>
            </a:r>
            <a:r>
              <a:rPr lang="ko-KR" altLang="en-US" sz="1600" dirty="0">
                <a:solidFill>
                  <a:prstClr val="black"/>
                </a:solidFill>
              </a:rPr>
              <a:t>이 기대되는 안정적 자산에 투자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물류센터는 안정적 임차수요가 존재하여 조달금리 대비 안정적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Spread Margin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수취가 예상되며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인하 시 수익률 인상효과가 극대화 될 것으로 기대 </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51C1933B-8C2B-C118-9777-7CD376A8D6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8" name="그림 37">
            <a:extLst>
              <a:ext uri="{FF2B5EF4-FFF2-40B4-BE49-F238E27FC236}">
                <a16:creationId xmlns:a16="http://schemas.microsoft.com/office/drawing/2014/main" id="{698A88DB-1CEB-CDD8-BC94-1BBF90E4B2B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633620" y="2447958"/>
            <a:ext cx="4070597" cy="4140191"/>
          </a:xfrm>
          <a:prstGeom prst="rect">
            <a:avLst/>
          </a:prstGeom>
          <a:ln>
            <a:solidFill>
              <a:schemeClr val="tx1">
                <a:lumMod val="50000"/>
                <a:lumOff val="50000"/>
              </a:schemeClr>
            </a:solidFill>
          </a:ln>
        </p:spPr>
      </p:pic>
      <p:sp>
        <p:nvSpPr>
          <p:cNvPr id="40" name="직사각형 39">
            <a:extLst>
              <a:ext uri="{FF2B5EF4-FFF2-40B4-BE49-F238E27FC236}">
                <a16:creationId xmlns:a16="http://schemas.microsoft.com/office/drawing/2014/main" id="{E3088366-BFD4-0903-5D7A-633261471088}"/>
              </a:ext>
            </a:extLst>
          </p:cNvPr>
          <p:cNvSpPr/>
          <p:nvPr/>
        </p:nvSpPr>
        <p:spPr>
          <a:xfrm>
            <a:off x="1378118" y="3279452"/>
            <a:ext cx="223372" cy="13850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altLang="en-US"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61" name="그림 60">
            <a:extLst>
              <a:ext uri="{FF2B5EF4-FFF2-40B4-BE49-F238E27FC236}">
                <a16:creationId xmlns:a16="http://schemas.microsoft.com/office/drawing/2014/main" id="{6193CC39-F998-2C8B-9367-79139695FED0}"/>
              </a:ext>
            </a:extLst>
          </p:cNvPr>
          <p:cNvPicPr>
            <a:picLocks noChangeAspect="1"/>
          </p:cNvPicPr>
          <p:nvPr/>
        </p:nvPicPr>
        <p:blipFill>
          <a:blip r:embed="rId4"/>
          <a:srcRect l="22705" t="3194" r="3088" b="52001"/>
          <a:stretch>
            <a:fillRect/>
          </a:stretch>
        </p:blipFill>
        <p:spPr>
          <a:xfrm>
            <a:off x="1557843" y="2591705"/>
            <a:ext cx="3020633" cy="2016224"/>
          </a:xfrm>
          <a:prstGeom prst="rect">
            <a:avLst/>
          </a:prstGeom>
          <a:ln w="19050">
            <a:solidFill>
              <a:srgbClr val="FF0000"/>
            </a:solidFill>
          </a:ln>
          <a:effectLst>
            <a:outerShdw blurRad="63500" sx="102000" sy="102000" algn="ctr" rotWithShape="0">
              <a:prstClr val="black">
                <a:alpha val="40000"/>
              </a:prstClr>
            </a:outerShdw>
          </a:effectLst>
        </p:spPr>
      </p:pic>
      <p:sp>
        <p:nvSpPr>
          <p:cNvPr id="5" name="사각형: 둥근 모서리 4">
            <a:extLst>
              <a:ext uri="{FF2B5EF4-FFF2-40B4-BE49-F238E27FC236}">
                <a16:creationId xmlns:a16="http://schemas.microsoft.com/office/drawing/2014/main" id="{5DC653EB-7EED-07D1-2195-9CB3DB53C293}"/>
              </a:ext>
            </a:extLst>
          </p:cNvPr>
          <p:cNvSpPr/>
          <p:nvPr/>
        </p:nvSpPr>
        <p:spPr>
          <a:xfrm>
            <a:off x="5273898" y="2554628"/>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단계별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확대전략</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4" name="그룹 3">
            <a:extLst>
              <a:ext uri="{FF2B5EF4-FFF2-40B4-BE49-F238E27FC236}">
                <a16:creationId xmlns:a16="http://schemas.microsoft.com/office/drawing/2014/main" id="{66D00051-DFC9-4460-060C-75902C274FA9}"/>
              </a:ext>
            </a:extLst>
          </p:cNvPr>
          <p:cNvGrpSpPr/>
          <p:nvPr/>
        </p:nvGrpSpPr>
        <p:grpSpPr>
          <a:xfrm>
            <a:off x="4758201" y="2927231"/>
            <a:ext cx="5607325" cy="3722367"/>
            <a:chOff x="5741950" y="2927231"/>
            <a:chExt cx="4623576" cy="3722367"/>
          </a:xfrm>
        </p:grpSpPr>
        <p:graphicFrame>
          <p:nvGraphicFramePr>
            <p:cNvPr id="6" name="차트 5">
              <a:extLst>
                <a:ext uri="{FF2B5EF4-FFF2-40B4-BE49-F238E27FC236}">
                  <a16:creationId xmlns:a16="http://schemas.microsoft.com/office/drawing/2014/main" id="{B1349D45-AFC2-E885-3AE6-A434495843D7}"/>
                </a:ext>
              </a:extLst>
            </p:cNvPr>
            <p:cNvGraphicFramePr/>
            <p:nvPr>
              <p:extLst>
                <p:ext uri="{D42A27DB-BD31-4B8C-83A1-F6EECF244321}">
                  <p14:modId xmlns:p14="http://schemas.microsoft.com/office/powerpoint/2010/main" val="2854866564"/>
                </p:ext>
              </p:extLst>
            </p:nvPr>
          </p:nvGraphicFramePr>
          <p:xfrm>
            <a:off x="5741950" y="4087587"/>
            <a:ext cx="4387312" cy="2402735"/>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그룹 1">
              <a:extLst>
                <a:ext uri="{FF2B5EF4-FFF2-40B4-BE49-F238E27FC236}">
                  <a16:creationId xmlns:a16="http://schemas.microsoft.com/office/drawing/2014/main" id="{2DE09C5E-74F3-B409-87B8-B6A4B98EA778}"/>
                </a:ext>
              </a:extLst>
            </p:cNvPr>
            <p:cNvGrpSpPr/>
            <p:nvPr/>
          </p:nvGrpSpPr>
          <p:grpSpPr>
            <a:xfrm>
              <a:off x="6173080" y="2927231"/>
              <a:ext cx="4192446" cy="3722367"/>
              <a:chOff x="6173080" y="2927231"/>
              <a:chExt cx="4192446" cy="3722367"/>
            </a:xfrm>
          </p:grpSpPr>
          <p:sp>
            <p:nvSpPr>
              <p:cNvPr id="3" name="직사각형 2">
                <a:extLst>
                  <a:ext uri="{FF2B5EF4-FFF2-40B4-BE49-F238E27FC236}">
                    <a16:creationId xmlns:a16="http://schemas.microsoft.com/office/drawing/2014/main" id="{95AD49D5-3C73-9E1A-1DB5-A74EBE2ED1D8}"/>
                  </a:ext>
                </a:extLst>
              </p:cNvPr>
              <p:cNvSpPr/>
              <p:nvPr/>
            </p:nvSpPr>
            <p:spPr>
              <a:xfrm>
                <a:off x="8460082" y="3402289"/>
                <a:ext cx="1602751" cy="3247309"/>
              </a:xfrm>
              <a:prstGeom prst="rect">
                <a:avLst/>
              </a:prstGeom>
              <a:solidFill>
                <a:schemeClr val="accent2">
                  <a:lumMod val="20000"/>
                  <a:lumOff val="80000"/>
                  <a:alpha val="607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CBE53288-CFA1-0524-7E79-883C37292912}"/>
                  </a:ext>
                </a:extLst>
              </p:cNvPr>
              <p:cNvGrpSpPr/>
              <p:nvPr/>
            </p:nvGrpSpPr>
            <p:grpSpPr>
              <a:xfrm>
                <a:off x="6173080" y="4856300"/>
                <a:ext cx="3930211" cy="229785"/>
                <a:chOff x="5849962" y="3563813"/>
                <a:chExt cx="4211011" cy="261610"/>
              </a:xfrm>
            </p:grpSpPr>
            <p:sp>
              <p:nvSpPr>
                <p:cNvPr id="59" name="TextBox 58">
                  <a:extLst>
                    <a:ext uri="{FF2B5EF4-FFF2-40B4-BE49-F238E27FC236}">
                      <a16:creationId xmlns:a16="http://schemas.microsoft.com/office/drawing/2014/main" id="{0A418404-5388-E534-FFEB-67C422796755}"/>
                    </a:ext>
                  </a:extLst>
                </p:cNvPr>
                <p:cNvSpPr txBox="1"/>
                <p:nvPr/>
              </p:nvSpPr>
              <p:spPr>
                <a:xfrm>
                  <a:off x="5849962" y="3563813"/>
                  <a:ext cx="900100" cy="261610"/>
                </a:xfrm>
                <a:prstGeom prst="rect">
                  <a:avLst/>
                </a:prstGeom>
                <a:noFill/>
              </p:spPr>
              <p:txBody>
                <a:bodyPr wrap="square" rtlCol="0">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0" name="TextBox 59">
                  <a:extLst>
                    <a:ext uri="{FF2B5EF4-FFF2-40B4-BE49-F238E27FC236}">
                      <a16:creationId xmlns:a16="http://schemas.microsoft.com/office/drawing/2014/main" id="{52CD815C-78A9-10B1-E8AD-F692C82D7889}"/>
                    </a:ext>
                  </a:extLst>
                </p:cNvPr>
                <p:cNvSpPr txBox="1"/>
                <p:nvPr/>
              </p:nvSpPr>
              <p:spPr>
                <a:xfrm>
                  <a:off x="7485556" y="3563813"/>
                  <a:ext cx="900100" cy="261610"/>
                </a:xfrm>
                <a:prstGeom prst="rect">
                  <a:avLst/>
                </a:prstGeom>
                <a:noFill/>
              </p:spPr>
              <p:txBody>
                <a:bodyPr wrap="square" rtlCol="0">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2" name="TextBox 61">
                  <a:extLst>
                    <a:ext uri="{FF2B5EF4-FFF2-40B4-BE49-F238E27FC236}">
                      <a16:creationId xmlns:a16="http://schemas.microsoft.com/office/drawing/2014/main" id="{1939BE6F-6F5B-F810-0609-F1A074240B25}"/>
                    </a:ext>
                  </a:extLst>
                </p:cNvPr>
                <p:cNvSpPr txBox="1"/>
                <p:nvPr/>
              </p:nvSpPr>
              <p:spPr>
                <a:xfrm>
                  <a:off x="8357359" y="3563813"/>
                  <a:ext cx="900100" cy="261610"/>
                </a:xfrm>
                <a:prstGeom prst="rect">
                  <a:avLst/>
                </a:prstGeom>
                <a:noFill/>
              </p:spPr>
              <p:txBody>
                <a:bodyPr wrap="square" rtlCol="0">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3" name="TextBox 62">
                  <a:extLst>
                    <a:ext uri="{FF2B5EF4-FFF2-40B4-BE49-F238E27FC236}">
                      <a16:creationId xmlns:a16="http://schemas.microsoft.com/office/drawing/2014/main" id="{B1FD7A22-704A-73B0-C47B-821CFF9811BC}"/>
                    </a:ext>
                  </a:extLst>
                </p:cNvPr>
                <p:cNvSpPr txBox="1"/>
                <p:nvPr/>
              </p:nvSpPr>
              <p:spPr>
                <a:xfrm>
                  <a:off x="9160873" y="3563813"/>
                  <a:ext cx="900100" cy="261610"/>
                </a:xfrm>
                <a:prstGeom prst="rect">
                  <a:avLst/>
                </a:prstGeom>
                <a:noFill/>
              </p:spPr>
              <p:txBody>
                <a:bodyPr wrap="square" rtlCol="0">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4" name="TextBox 63">
                  <a:extLst>
                    <a:ext uri="{FF2B5EF4-FFF2-40B4-BE49-F238E27FC236}">
                      <a16:creationId xmlns:a16="http://schemas.microsoft.com/office/drawing/2014/main" id="{FF45988C-C135-7AF0-88DF-D6CB3121271E}"/>
                    </a:ext>
                  </a:extLst>
                </p:cNvPr>
                <p:cNvSpPr txBox="1"/>
                <p:nvPr/>
              </p:nvSpPr>
              <p:spPr>
                <a:xfrm>
                  <a:off x="6682042" y="3563813"/>
                  <a:ext cx="900100" cy="261610"/>
                </a:xfrm>
                <a:prstGeom prst="rect">
                  <a:avLst/>
                </a:prstGeom>
                <a:noFill/>
              </p:spPr>
              <p:txBody>
                <a:bodyPr wrap="square" rtlCol="0">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grpSp>
          <p:sp>
            <p:nvSpPr>
              <p:cNvPr id="19" name="TextBox 18">
                <a:extLst>
                  <a:ext uri="{FF2B5EF4-FFF2-40B4-BE49-F238E27FC236}">
                    <a16:creationId xmlns:a16="http://schemas.microsoft.com/office/drawing/2014/main" id="{3826D72A-9262-5582-D27B-7FF31A16878E}"/>
                  </a:ext>
                </a:extLst>
              </p:cNvPr>
              <p:cNvSpPr txBox="1"/>
              <p:nvPr/>
            </p:nvSpPr>
            <p:spPr>
              <a:xfrm>
                <a:off x="6385918" y="3368301"/>
                <a:ext cx="1944764" cy="351436"/>
              </a:xfrm>
              <a:prstGeom prst="rect">
                <a:avLst/>
              </a:prstGeom>
              <a:noFill/>
            </p:spPr>
            <p:txBody>
              <a:bodyPr wrap="none" rtlCol="0">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Spread Margin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지분수익률</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조달이자율</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TextBox 19">
                <a:extLst>
                  <a:ext uri="{FF2B5EF4-FFF2-40B4-BE49-F238E27FC236}">
                    <a16:creationId xmlns:a16="http://schemas.microsoft.com/office/drawing/2014/main" id="{D4D688A0-B50D-6968-2792-1EE4C8A075C9}"/>
                  </a:ext>
                </a:extLst>
              </p:cNvPr>
              <p:cNvSpPr txBox="1"/>
              <p:nvPr/>
            </p:nvSpPr>
            <p:spPr>
              <a:xfrm>
                <a:off x="8269841" y="2927231"/>
                <a:ext cx="1983236" cy="351436"/>
              </a:xfrm>
              <a:prstGeom prst="rect">
                <a:avLst/>
              </a:prstGeom>
              <a:noFill/>
            </p:spPr>
            <p:txBody>
              <a:bodyPr wrap="none" rtlCol="0">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 </a:t>
                </a:r>
                <a:r>
                  <a:rPr lang="ko-KR" altLang="en-US" sz="10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금리 절감 시</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자유형: 도형 21">
                <a:extLst>
                  <a:ext uri="{FF2B5EF4-FFF2-40B4-BE49-F238E27FC236}">
                    <a16:creationId xmlns:a16="http://schemas.microsoft.com/office/drawing/2014/main" id="{83237FB9-3F96-CB2E-5B48-22BD381E12E8}"/>
                  </a:ext>
                </a:extLst>
              </p:cNvPr>
              <p:cNvSpPr/>
              <p:nvPr/>
            </p:nvSpPr>
            <p:spPr>
              <a:xfrm>
                <a:off x="6283199" y="425016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5" name="자유형: 도형 24">
                <a:extLst>
                  <a:ext uri="{FF2B5EF4-FFF2-40B4-BE49-F238E27FC236}">
                    <a16:creationId xmlns:a16="http://schemas.microsoft.com/office/drawing/2014/main" id="{D9E01715-95FF-FD4F-E70B-C9D11E1480F9}"/>
                  </a:ext>
                </a:extLst>
              </p:cNvPr>
              <p:cNvSpPr/>
              <p:nvPr/>
            </p:nvSpPr>
            <p:spPr>
              <a:xfrm>
                <a:off x="7307043" y="412942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6" name="그룹 25">
                <a:extLst>
                  <a:ext uri="{FF2B5EF4-FFF2-40B4-BE49-F238E27FC236}">
                    <a16:creationId xmlns:a16="http://schemas.microsoft.com/office/drawing/2014/main" id="{942957ED-653D-B337-8F74-B9722F4ACE68}"/>
                  </a:ext>
                </a:extLst>
              </p:cNvPr>
              <p:cNvGrpSpPr/>
              <p:nvPr/>
            </p:nvGrpSpPr>
            <p:grpSpPr>
              <a:xfrm>
                <a:off x="8629856" y="3963964"/>
                <a:ext cx="1735670" cy="609357"/>
                <a:chOff x="8971864" y="3196450"/>
                <a:chExt cx="1909237" cy="839441"/>
              </a:xfrm>
              <a:solidFill>
                <a:schemeClr val="accent4">
                  <a:lumMod val="60000"/>
                  <a:lumOff val="40000"/>
                </a:schemeClr>
              </a:solidFill>
              <a:effectLst>
                <a:outerShdw blurRad="50800" dist="38100" dir="2700000" algn="tl" rotWithShape="0">
                  <a:prstClr val="black">
                    <a:alpha val="40000"/>
                  </a:prstClr>
                </a:outerShdw>
              </a:effectLst>
            </p:grpSpPr>
            <p:sp>
              <p:nvSpPr>
                <p:cNvPr id="36" name="직사각형 35">
                  <a:extLst>
                    <a:ext uri="{FF2B5EF4-FFF2-40B4-BE49-F238E27FC236}">
                      <a16:creationId xmlns:a16="http://schemas.microsoft.com/office/drawing/2014/main" id="{41ADC5EE-AF78-9213-06DE-C9E7D06A8A37}"/>
                    </a:ext>
                  </a:extLst>
                </p:cNvPr>
                <p:cNvSpPr/>
                <p:nvPr/>
              </p:nvSpPr>
              <p:spPr>
                <a:xfrm>
                  <a:off x="8971864" y="3196450"/>
                  <a:ext cx="1909237" cy="583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활용한 스프레드마진 확대</a:t>
                  </a:r>
                  <a:endParaRPr lang="en-US" altLang="ko-KR"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7" name="이등변 삼각형 36">
                  <a:extLst>
                    <a:ext uri="{FF2B5EF4-FFF2-40B4-BE49-F238E27FC236}">
                      <a16:creationId xmlns:a16="http://schemas.microsoft.com/office/drawing/2014/main" id="{343BEEBA-9E26-AE86-DADB-4B575A147CA3}"/>
                    </a:ext>
                  </a:extLst>
                </p:cNvPr>
                <p:cNvSpPr/>
                <p:nvPr/>
              </p:nvSpPr>
              <p:spPr>
                <a:xfrm rot="10800000">
                  <a:off x="9185690" y="3774281"/>
                  <a:ext cx="112147" cy="26161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7" name="그룹 26">
                <a:extLst>
                  <a:ext uri="{FF2B5EF4-FFF2-40B4-BE49-F238E27FC236}">
                    <a16:creationId xmlns:a16="http://schemas.microsoft.com/office/drawing/2014/main" id="{5A93457D-0A72-A60F-91D3-5C1B8F2B3A9E}"/>
                  </a:ext>
                </a:extLst>
              </p:cNvPr>
              <p:cNvGrpSpPr/>
              <p:nvPr/>
            </p:nvGrpSpPr>
            <p:grpSpPr>
              <a:xfrm>
                <a:off x="6270459" y="3622296"/>
                <a:ext cx="3792373" cy="220507"/>
                <a:chOff x="6283198" y="3270279"/>
                <a:chExt cx="1222948" cy="450278"/>
              </a:xfrm>
            </p:grpSpPr>
            <p:cxnSp>
              <p:nvCxnSpPr>
                <p:cNvPr id="32" name="직선 연결선 31">
                  <a:extLst>
                    <a:ext uri="{FF2B5EF4-FFF2-40B4-BE49-F238E27FC236}">
                      <a16:creationId xmlns:a16="http://schemas.microsoft.com/office/drawing/2014/main" id="{102849B6-67AA-F808-1ABA-84E48A330F05}"/>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5171544-155B-AA52-48EE-F942860C84D5}"/>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A1CAEF8-8480-AF2C-2A30-21192242488D}"/>
                    </a:ext>
                  </a:extLst>
                </p:cNvPr>
                <p:cNvCxnSpPr>
                  <a:cxnSpLocks/>
                </p:cNvCxnSpPr>
                <p:nvPr/>
              </p:nvCxnSpPr>
              <p:spPr>
                <a:xfrm>
                  <a:off x="6283198" y="3495418"/>
                  <a:ext cx="1222948" cy="0"/>
                </a:xfrm>
                <a:prstGeom prst="straightConnector1">
                  <a:avLst/>
                </a:prstGeom>
                <a:ln w="12700">
                  <a:solidFill>
                    <a:schemeClr val="tx1">
                      <a:lumMod val="50000"/>
                      <a:lumOff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그룹 27">
                <a:extLst>
                  <a:ext uri="{FF2B5EF4-FFF2-40B4-BE49-F238E27FC236}">
                    <a16:creationId xmlns:a16="http://schemas.microsoft.com/office/drawing/2014/main" id="{BF451C2D-99A4-FDB9-AD74-EA70C5A24846}"/>
                  </a:ext>
                </a:extLst>
              </p:cNvPr>
              <p:cNvGrpSpPr/>
              <p:nvPr/>
            </p:nvGrpSpPr>
            <p:grpSpPr>
              <a:xfrm>
                <a:off x="8455225" y="3296882"/>
                <a:ext cx="1594869" cy="220507"/>
                <a:chOff x="6283198" y="3270279"/>
                <a:chExt cx="1222948" cy="450278"/>
              </a:xfrm>
            </p:grpSpPr>
            <p:cxnSp>
              <p:nvCxnSpPr>
                <p:cNvPr id="29" name="직선 연결선 28">
                  <a:extLst>
                    <a:ext uri="{FF2B5EF4-FFF2-40B4-BE49-F238E27FC236}">
                      <a16:creationId xmlns:a16="http://schemas.microsoft.com/office/drawing/2014/main" id="{768D7CED-B49B-7015-11F3-E3FD25309AC7}"/>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72673F5-2F40-186B-7298-E0DB9E43F2A1}"/>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73C8B53-53F4-8B42-65F8-29C9F05607E0}"/>
                    </a:ext>
                  </a:extLst>
                </p:cNvPr>
                <p:cNvCxnSpPr>
                  <a:cxnSpLocks/>
                </p:cNvCxnSpPr>
                <p:nvPr/>
              </p:nvCxnSpPr>
              <p:spPr>
                <a:xfrm>
                  <a:off x="6283198" y="3495418"/>
                  <a:ext cx="122294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4707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A3E-85FC-ACF6-C616-592FCEAE126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9B63053B-1734-77C5-E4B8-9E8A4B6C79A2}"/>
              </a:ext>
            </a:extLst>
          </p:cNvPr>
          <p:cNvGrpSpPr/>
          <p:nvPr/>
        </p:nvGrpSpPr>
        <p:grpSpPr>
          <a:xfrm>
            <a:off x="2502082" y="2956898"/>
            <a:ext cx="519881" cy="1260136"/>
            <a:chOff x="-751295" y="2303673"/>
            <a:chExt cx="519881" cy="1735477"/>
          </a:xfrm>
        </p:grpSpPr>
        <p:grpSp>
          <p:nvGrpSpPr>
            <p:cNvPr id="9" name="그룹 8">
              <a:extLst>
                <a:ext uri="{FF2B5EF4-FFF2-40B4-BE49-F238E27FC236}">
                  <a16:creationId xmlns:a16="http://schemas.microsoft.com/office/drawing/2014/main" id="{D279615E-5E54-425A-7A61-E65548867E02}"/>
                </a:ext>
              </a:extLst>
            </p:cNvPr>
            <p:cNvGrpSpPr/>
            <p:nvPr/>
          </p:nvGrpSpPr>
          <p:grpSpPr>
            <a:xfrm>
              <a:off x="-535811" y="2303673"/>
              <a:ext cx="92967" cy="1735477"/>
              <a:chOff x="1091841" y="2251677"/>
              <a:chExt cx="92967" cy="744273"/>
            </a:xfrm>
          </p:grpSpPr>
          <p:cxnSp>
            <p:nvCxnSpPr>
              <p:cNvPr id="11" name="직선 연결선 10">
                <a:extLst>
                  <a:ext uri="{FF2B5EF4-FFF2-40B4-BE49-F238E27FC236}">
                    <a16:creationId xmlns:a16="http://schemas.microsoft.com/office/drawing/2014/main" id="{2E9708DA-000C-174C-117E-D9A2D5E3DC2A}"/>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8E8A39C3-3DEE-66BD-38EA-6C6C72D055A0}"/>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961A9A11-D61F-44C9-8890-9980E39EF86C}"/>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708F15A-C93C-26D5-982A-A62720067A50}"/>
                </a:ext>
              </a:extLst>
            </p:cNvPr>
            <p:cNvSpPr txBox="1"/>
            <p:nvPr/>
          </p:nvSpPr>
          <p:spPr>
            <a:xfrm>
              <a:off x="-751295" y="2987439"/>
              <a:ext cx="519881" cy="381487"/>
            </a:xfrm>
            <a:prstGeom prst="rect">
              <a:avLst/>
            </a:prstGeom>
            <a:solidFill>
              <a:srgbClr val="F8F8F8"/>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48.9%</a:t>
              </a:r>
            </a:p>
          </p:txBody>
        </p:sp>
      </p:grpSp>
      <p:grpSp>
        <p:nvGrpSpPr>
          <p:cNvPr id="15" name="그룹 14">
            <a:extLst>
              <a:ext uri="{FF2B5EF4-FFF2-40B4-BE49-F238E27FC236}">
                <a16:creationId xmlns:a16="http://schemas.microsoft.com/office/drawing/2014/main" id="{81F77C1C-1CA7-1AD1-72DF-E27EBB40841A}"/>
              </a:ext>
            </a:extLst>
          </p:cNvPr>
          <p:cNvGrpSpPr/>
          <p:nvPr/>
        </p:nvGrpSpPr>
        <p:grpSpPr>
          <a:xfrm>
            <a:off x="2504354" y="2267668"/>
            <a:ext cx="1129710" cy="1949361"/>
            <a:chOff x="-1089539" y="2126544"/>
            <a:chExt cx="1129710" cy="1912606"/>
          </a:xfrm>
        </p:grpSpPr>
        <p:grpSp>
          <p:nvGrpSpPr>
            <p:cNvPr id="16" name="그룹 15">
              <a:extLst>
                <a:ext uri="{FF2B5EF4-FFF2-40B4-BE49-F238E27FC236}">
                  <a16:creationId xmlns:a16="http://schemas.microsoft.com/office/drawing/2014/main" id="{64AA808D-EB50-AF05-91E4-0BDF9D8A3B57}"/>
                </a:ext>
              </a:extLst>
            </p:cNvPr>
            <p:cNvGrpSpPr/>
            <p:nvPr/>
          </p:nvGrpSpPr>
          <p:grpSpPr>
            <a:xfrm>
              <a:off x="-535811" y="2303673"/>
              <a:ext cx="92967" cy="1735477"/>
              <a:chOff x="1091841" y="2251677"/>
              <a:chExt cx="92967" cy="744273"/>
            </a:xfrm>
          </p:grpSpPr>
          <p:cxnSp>
            <p:nvCxnSpPr>
              <p:cNvPr id="24" name="직선 연결선 23">
                <a:extLst>
                  <a:ext uri="{FF2B5EF4-FFF2-40B4-BE49-F238E27FC236}">
                    <a16:creationId xmlns:a16="http://schemas.microsoft.com/office/drawing/2014/main" id="{0FB5E395-33C7-0067-3CB9-C64FBF093F66}"/>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E7103829-98EF-D508-4CA2-8249BC94A595}"/>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AE62444D-6C3F-9FAD-3A23-BC383A211EAE}"/>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91789EB3-28AF-AF5D-72EA-C0F902A739D3}"/>
                  </a:ext>
                </a:extLst>
              </p:cNvPr>
              <p:cNvCxnSpPr/>
              <p:nvPr/>
            </p:nvCxnSpPr>
            <p:spPr>
              <a:xfrm>
                <a:off x="1091841" y="2351284"/>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AE3B2454-58BD-DFC5-6BBA-8941152B3386}"/>
                </a:ext>
              </a:extLst>
            </p:cNvPr>
            <p:cNvSpPr txBox="1"/>
            <p:nvPr/>
          </p:nvSpPr>
          <p:spPr>
            <a:xfrm>
              <a:off x="-1089539" y="2126544"/>
              <a:ext cx="1129710" cy="138826"/>
            </a:xfrm>
            <a:prstGeom prst="rect">
              <a:avLst/>
            </a:prstGeom>
            <a:solidFill>
              <a:schemeClr val="bg1"/>
            </a:solid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최대 </a:t>
              </a: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a:t>
              </a:r>
              <a:endPar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8" name="그룹 27">
            <a:extLst>
              <a:ext uri="{FF2B5EF4-FFF2-40B4-BE49-F238E27FC236}">
                <a16:creationId xmlns:a16="http://schemas.microsoft.com/office/drawing/2014/main" id="{AF059E30-2892-8424-8394-CB0492F53A49}"/>
              </a:ext>
            </a:extLst>
          </p:cNvPr>
          <p:cNvGrpSpPr/>
          <p:nvPr/>
        </p:nvGrpSpPr>
        <p:grpSpPr>
          <a:xfrm>
            <a:off x="2226778" y="2531792"/>
            <a:ext cx="1461493" cy="405453"/>
            <a:chOff x="2354463" y="2531792"/>
            <a:chExt cx="1461493" cy="405453"/>
          </a:xfrm>
        </p:grpSpPr>
        <p:sp>
          <p:nvSpPr>
            <p:cNvPr id="29" name="직사각형 28">
              <a:extLst>
                <a:ext uri="{FF2B5EF4-FFF2-40B4-BE49-F238E27FC236}">
                  <a16:creationId xmlns:a16="http://schemas.microsoft.com/office/drawing/2014/main" id="{C5ED29F9-4680-B454-7DC8-BE9E8592A439}"/>
                </a:ext>
              </a:extLst>
            </p:cNvPr>
            <p:cNvSpPr/>
            <p:nvPr/>
          </p:nvSpPr>
          <p:spPr>
            <a:xfrm>
              <a:off x="2354463" y="2696662"/>
              <a:ext cx="1125038" cy="240583"/>
            </a:xfrm>
            <a:prstGeom prst="rect">
              <a:avLst/>
            </a:prstGeom>
            <a:gradFill>
              <a:gsLst>
                <a:gs pos="0">
                  <a:schemeClr val="bg1"/>
                </a:gs>
                <a:gs pos="72000">
                  <a:schemeClr val="accent2">
                    <a:lumMod val="40000"/>
                    <a:lumOff val="60000"/>
                  </a:schemeClr>
                </a:gs>
                <a:gs pos="100000">
                  <a:schemeClr val="accent2">
                    <a:lumMod val="60000"/>
                    <a:lumOff val="40000"/>
                  </a:schemeClr>
                </a:gs>
              </a:gsLst>
              <a:lin ang="10800000" scaled="0"/>
            </a:gradFill>
            <a:ln w="3175" cap="flat" cmpd="sng" algn="ctr">
              <a:no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0" name="그룹 29">
              <a:extLst>
                <a:ext uri="{FF2B5EF4-FFF2-40B4-BE49-F238E27FC236}">
                  <a16:creationId xmlns:a16="http://schemas.microsoft.com/office/drawing/2014/main" id="{744D1A71-DFE6-1A86-CFCD-2C4C7BE63D93}"/>
                </a:ext>
              </a:extLst>
            </p:cNvPr>
            <p:cNvGrpSpPr/>
            <p:nvPr/>
          </p:nvGrpSpPr>
          <p:grpSpPr>
            <a:xfrm>
              <a:off x="3277347" y="2531792"/>
              <a:ext cx="538609" cy="405452"/>
              <a:chOff x="4231041" y="2531791"/>
              <a:chExt cx="538609" cy="405452"/>
            </a:xfrm>
          </p:grpSpPr>
          <p:sp>
            <p:nvSpPr>
              <p:cNvPr id="31" name="화살표: 아래쪽 30">
                <a:extLst>
                  <a:ext uri="{FF2B5EF4-FFF2-40B4-BE49-F238E27FC236}">
                    <a16:creationId xmlns:a16="http://schemas.microsoft.com/office/drawing/2014/main" id="{62150880-5DAA-9FC6-C030-FF370CAB4B38}"/>
                  </a:ext>
                </a:extLst>
              </p:cNvPr>
              <p:cNvSpPr/>
              <p:nvPr/>
            </p:nvSpPr>
            <p:spPr>
              <a:xfrm rot="10800000">
                <a:off x="4269603" y="2696664"/>
                <a:ext cx="396042" cy="240579"/>
              </a:xfrm>
              <a:prstGeom prst="downArrow">
                <a:avLst/>
              </a:prstGeom>
              <a:gradFill>
                <a:gsLst>
                  <a:gs pos="0">
                    <a:schemeClr val="bg1">
                      <a:lumMod val="95000"/>
                    </a:schemeClr>
                  </a:gs>
                  <a:gs pos="72000">
                    <a:schemeClr val="bg1">
                      <a:lumMod val="75000"/>
                    </a:schemeClr>
                  </a:gs>
                  <a:gs pos="100000">
                    <a:schemeClr val="tx1">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FE31D60E-828B-D810-6C55-C9AAEFFBEABA}"/>
                  </a:ext>
                </a:extLst>
              </p:cNvPr>
              <p:cNvSpPr txBox="1"/>
              <p:nvPr/>
            </p:nvSpPr>
            <p:spPr>
              <a:xfrm>
                <a:off x="4231041" y="2531791"/>
                <a:ext cx="538609" cy="163415"/>
              </a:xfrm>
              <a:prstGeom prst="rect">
                <a:avLst/>
              </a:prstGeom>
              <a:solidFill>
                <a:schemeClr val="bg1"/>
              </a:solidFill>
            </p:spPr>
            <p:txBody>
              <a:bodyPr wrap="none" lIns="0" tIns="0" rIns="0" bIns="0" rtlCol="0" anchor="ctr">
                <a:no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2.5%</a:t>
                </a:r>
              </a:p>
            </p:txBody>
          </p:sp>
        </p:grpSp>
      </p:grpSp>
      <p:cxnSp>
        <p:nvCxnSpPr>
          <p:cNvPr id="33" name="직선 연결선 32">
            <a:extLst>
              <a:ext uri="{FF2B5EF4-FFF2-40B4-BE49-F238E27FC236}">
                <a16:creationId xmlns:a16="http://schemas.microsoft.com/office/drawing/2014/main" id="{CA0513A3-9951-13A8-8DD7-B16811E07CFD}"/>
              </a:ext>
            </a:extLst>
          </p:cNvPr>
          <p:cNvCxnSpPr>
            <a:cxnSpLocks/>
          </p:cNvCxnSpPr>
          <p:nvPr/>
        </p:nvCxnSpPr>
        <p:spPr>
          <a:xfrm>
            <a:off x="595886" y="5219997"/>
            <a:ext cx="1843909" cy="0"/>
          </a:xfrm>
          <a:prstGeom prst="line">
            <a:avLst/>
          </a:prstGeom>
          <a:noFill/>
          <a:ln w="6350" cap="flat" cmpd="sng" algn="ctr">
            <a:solidFill>
              <a:srgbClr val="B2B2B2"/>
            </a:solidFill>
            <a:prstDash val="solid"/>
            <a:miter lim="800000"/>
          </a:ln>
          <a:effectLst/>
        </p:spPr>
      </p:cxnSp>
      <p:sp>
        <p:nvSpPr>
          <p:cNvPr id="34" name="직사각형 33">
            <a:extLst>
              <a:ext uri="{FF2B5EF4-FFF2-40B4-BE49-F238E27FC236}">
                <a16:creationId xmlns:a16="http://schemas.microsoft.com/office/drawing/2014/main" id="{E374C57A-4F79-69EA-EFF8-4D6A72F50897}"/>
              </a:ext>
            </a:extLst>
          </p:cNvPr>
          <p:cNvSpPr/>
          <p:nvPr/>
        </p:nvSpPr>
        <p:spPr>
          <a:xfrm>
            <a:off x="1541446" y="2962498"/>
            <a:ext cx="963539" cy="1260138"/>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5" name="직사각형 34">
            <a:extLst>
              <a:ext uri="{FF2B5EF4-FFF2-40B4-BE49-F238E27FC236}">
                <a16:creationId xmlns:a16="http://schemas.microsoft.com/office/drawing/2014/main" id="{DE6F51FB-2D04-BAE5-3F9F-5EBE1F33ACBD}"/>
              </a:ext>
            </a:extLst>
          </p:cNvPr>
          <p:cNvSpPr/>
          <p:nvPr/>
        </p:nvSpPr>
        <p:spPr>
          <a:xfrm>
            <a:off x="1538543" y="4734936"/>
            <a:ext cx="963539" cy="425485"/>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 name="직사각형 35">
            <a:extLst>
              <a:ext uri="{FF2B5EF4-FFF2-40B4-BE49-F238E27FC236}">
                <a16:creationId xmlns:a16="http://schemas.microsoft.com/office/drawing/2014/main" id="{397E6E58-30FE-4D84-10B9-2F25E4B189B0}"/>
              </a:ext>
            </a:extLst>
          </p:cNvPr>
          <p:cNvSpPr/>
          <p:nvPr/>
        </p:nvSpPr>
        <p:spPr>
          <a:xfrm>
            <a:off x="1538542" y="4247890"/>
            <a:ext cx="963539" cy="137480"/>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805</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7" name="직사각형 36">
            <a:extLst>
              <a:ext uri="{FF2B5EF4-FFF2-40B4-BE49-F238E27FC236}">
                <a16:creationId xmlns:a16="http://schemas.microsoft.com/office/drawing/2014/main" id="{B4FCB7EC-9BE2-B6FE-E27B-668B9369DEE8}"/>
              </a:ext>
            </a:extLst>
          </p:cNvPr>
          <p:cNvSpPr/>
          <p:nvPr/>
        </p:nvSpPr>
        <p:spPr>
          <a:xfrm>
            <a:off x="595888" y="3196404"/>
            <a:ext cx="900084" cy="1964017"/>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등 </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감정가액</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6,193</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8" name="직사각형 37">
            <a:extLst>
              <a:ext uri="{FF2B5EF4-FFF2-40B4-BE49-F238E27FC236}">
                <a16:creationId xmlns:a16="http://schemas.microsoft.com/office/drawing/2014/main" id="{8B7DBB23-3456-F0AC-0D6A-7627241BFC98}"/>
              </a:ext>
            </a:extLst>
          </p:cNvPr>
          <p:cNvSpPr/>
          <p:nvPr/>
        </p:nvSpPr>
        <p:spPr>
          <a:xfrm>
            <a:off x="1538542" y="2696666"/>
            <a:ext cx="963539" cy="240579"/>
          </a:xfrm>
          <a:prstGeom prst="rect">
            <a:avLst/>
          </a:prstGeom>
          <a:pattFill prst="dkUpDiag">
            <a:fgClr>
              <a:schemeClr val="accent2">
                <a:lumMod val="20000"/>
                <a:lumOff val="80000"/>
              </a:schemeClr>
            </a:fgClr>
            <a:bgClr>
              <a:schemeClr val="bg1"/>
            </a:bgClr>
          </a:pattFill>
          <a:ln w="3175" cap="flat" cmpd="sng" algn="ctr">
            <a:solidFill>
              <a:sysClr val="windowText" lastClr="000000">
                <a:lumMod val="50000"/>
                <a:lumOff val="50000"/>
              </a:sys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직사각형 38">
            <a:extLst>
              <a:ext uri="{FF2B5EF4-FFF2-40B4-BE49-F238E27FC236}">
                <a16:creationId xmlns:a16="http://schemas.microsoft.com/office/drawing/2014/main" id="{EB017010-27D4-3A9F-81E6-B0F70AFF8A4A}"/>
              </a:ext>
            </a:extLst>
          </p:cNvPr>
          <p:cNvSpPr/>
          <p:nvPr/>
        </p:nvSpPr>
        <p:spPr>
          <a:xfrm>
            <a:off x="595886" y="2696666"/>
            <a:ext cx="901253" cy="240579"/>
          </a:xfrm>
          <a:prstGeom prst="rect">
            <a:avLst/>
          </a:prstGeom>
          <a:pattFill prst="dkUpDiag">
            <a:fgClr>
              <a:schemeClr val="accent2">
                <a:lumMod val="20000"/>
                <a:lumOff val="80000"/>
              </a:schemeClr>
            </a:fgClr>
            <a:bgClr>
              <a:schemeClr val="bg1"/>
            </a:bgClr>
          </a:pattFill>
          <a:ln w="12700" cap="flat" cmpd="sng" algn="ctr">
            <a:solidFill>
              <a:srgbClr val="FF0000"/>
            </a:solidFill>
            <a:prstDash val="solid"/>
            <a:miter lim="800000"/>
          </a:ln>
          <a:effectLst>
            <a:outerShdw blurRad="50800" dist="38100" dir="2700000" algn="tl" rotWithShape="0">
              <a:prstClr val="black">
                <a:alpha val="40000"/>
              </a:prstClr>
            </a:outerShdw>
          </a:effectLst>
        </p:spPr>
        <p:txBody>
          <a:bodyPr lIns="36000" tIns="0" rIns="36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a:t>
            </a:r>
            <a:endPar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0" name="그룹 39">
            <a:extLst>
              <a:ext uri="{FF2B5EF4-FFF2-40B4-BE49-F238E27FC236}">
                <a16:creationId xmlns:a16="http://schemas.microsoft.com/office/drawing/2014/main" id="{10F379A3-5897-A617-6574-7E24CD4AFE74}"/>
              </a:ext>
            </a:extLst>
          </p:cNvPr>
          <p:cNvGrpSpPr/>
          <p:nvPr/>
        </p:nvGrpSpPr>
        <p:grpSpPr>
          <a:xfrm>
            <a:off x="2717566" y="2696668"/>
            <a:ext cx="92965" cy="240577"/>
            <a:chOff x="1091841" y="2251677"/>
            <a:chExt cx="92967" cy="744273"/>
          </a:xfrm>
        </p:grpSpPr>
        <p:cxnSp>
          <p:nvCxnSpPr>
            <p:cNvPr id="41" name="직선 연결선 40">
              <a:extLst>
                <a:ext uri="{FF2B5EF4-FFF2-40B4-BE49-F238E27FC236}">
                  <a16:creationId xmlns:a16="http://schemas.microsoft.com/office/drawing/2014/main" id="{CA2E1BCF-E5F5-CAAB-F78F-564ACD24DA6B}"/>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3797773-4925-678D-08A0-BB8A6F9D43B1}"/>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C1ABF942-F1A4-4052-8AAB-0B6F01318059}"/>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CE17AB8-76B7-53AF-E1CA-775FFCA92CF6}"/>
              </a:ext>
            </a:extLst>
          </p:cNvPr>
          <p:cNvSpPr txBox="1"/>
          <p:nvPr/>
        </p:nvSpPr>
        <p:spPr>
          <a:xfrm>
            <a:off x="595885" y="5256001"/>
            <a:ext cx="1843909" cy="300082"/>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자산가치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6,789</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(’26.09</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말 기준</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직사각형 46">
            <a:extLst>
              <a:ext uri="{FF2B5EF4-FFF2-40B4-BE49-F238E27FC236}">
                <a16:creationId xmlns:a16="http://schemas.microsoft.com/office/drawing/2014/main" id="{A0773A8D-62D4-5D12-06DD-9CF1283D56BA}"/>
              </a:ext>
            </a:extLst>
          </p:cNvPr>
          <p:cNvSpPr/>
          <p:nvPr/>
        </p:nvSpPr>
        <p:spPr>
          <a:xfrm>
            <a:off x="1538541" y="4410707"/>
            <a:ext cx="963539" cy="306382"/>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평가이익</a:t>
            </a: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8" name="표 47">
            <a:extLst>
              <a:ext uri="{FF2B5EF4-FFF2-40B4-BE49-F238E27FC236}">
                <a16:creationId xmlns:a16="http://schemas.microsoft.com/office/drawing/2014/main" id="{41BCC721-823B-2F1C-A7FA-F332C68CDA0F}"/>
              </a:ext>
            </a:extLst>
          </p:cNvPr>
          <p:cNvGraphicFramePr>
            <a:graphicFrameLocks noGrp="1"/>
          </p:cNvGraphicFramePr>
          <p:nvPr/>
        </p:nvGraphicFramePr>
        <p:xfrm>
          <a:off x="212909" y="5612958"/>
          <a:ext cx="3138908" cy="777240"/>
        </p:xfrm>
        <a:graphic>
          <a:graphicData uri="http://schemas.openxmlformats.org/drawingml/2006/table">
            <a:tbl>
              <a:tblPr>
                <a:tableStyleId>{5940675A-B579-460E-94D1-54222C63F5DA}</a:tableStyleId>
              </a:tblPr>
              <a:tblGrid>
                <a:gridCol w="645082">
                  <a:extLst>
                    <a:ext uri="{9D8B030D-6E8A-4147-A177-3AD203B41FA5}">
                      <a16:colId xmlns:a16="http://schemas.microsoft.com/office/drawing/2014/main" val="20000"/>
                    </a:ext>
                  </a:extLst>
                </a:gridCol>
                <a:gridCol w="1073576">
                  <a:extLst>
                    <a:ext uri="{9D8B030D-6E8A-4147-A177-3AD203B41FA5}">
                      <a16:colId xmlns:a16="http://schemas.microsoft.com/office/drawing/2014/main" val="1420972515"/>
                    </a:ext>
                  </a:extLst>
                </a:gridCol>
                <a:gridCol w="785579">
                  <a:extLst>
                    <a:ext uri="{9D8B030D-6E8A-4147-A177-3AD203B41FA5}">
                      <a16:colId xmlns:a16="http://schemas.microsoft.com/office/drawing/2014/main" val="2224299482"/>
                    </a:ext>
                  </a:extLst>
                </a:gridCol>
                <a:gridCol w="634671">
                  <a:extLst>
                    <a:ext uri="{9D8B030D-6E8A-4147-A177-3AD203B41FA5}">
                      <a16:colId xmlns:a16="http://schemas.microsoft.com/office/drawing/2014/main" val="1829693737"/>
                    </a:ext>
                  </a:extLst>
                </a:gridCol>
              </a:tblGrid>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자산가치</a:t>
                      </a:r>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부채규모</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endPar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rgbClr val="F2F2F2"/>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6,789</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48.9%</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274426981"/>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투자후</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9050" cap="flat" cmpd="sng" algn="ctr">
                      <a:solidFill>
                        <a:srgbClr val="C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7,677</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9,092</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51.4%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41600960"/>
                  </a:ext>
                </a:extLst>
              </a:tr>
            </a:tbl>
          </a:graphicData>
        </a:graphic>
      </p:graphicFrame>
      <p:sp>
        <p:nvSpPr>
          <p:cNvPr id="49" name="TextBox 48">
            <a:extLst>
              <a:ext uri="{FF2B5EF4-FFF2-40B4-BE49-F238E27FC236}">
                <a16:creationId xmlns:a16="http://schemas.microsoft.com/office/drawing/2014/main" id="{8F11CC3A-3079-1BD9-DA0F-F1A832D4002E}"/>
              </a:ext>
            </a:extLst>
          </p:cNvPr>
          <p:cNvSpPr txBox="1"/>
          <p:nvPr/>
        </p:nvSpPr>
        <p:spPr>
          <a:xfrm>
            <a:off x="197334" y="6408129"/>
            <a:ext cx="3651570" cy="707886"/>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경일감정평가법인 담보감정평가</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(’25.05)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NICE</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피앤아이</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공정가치평가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(’26.05)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 현금 및 현금성자산 잔액 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63" name="그룹 62">
            <a:extLst>
              <a:ext uri="{FF2B5EF4-FFF2-40B4-BE49-F238E27FC236}">
                <a16:creationId xmlns:a16="http://schemas.microsoft.com/office/drawing/2014/main" id="{D46CFE6E-CA58-F564-A0A1-60BCC7BF830D}"/>
              </a:ext>
            </a:extLst>
          </p:cNvPr>
          <p:cNvGrpSpPr/>
          <p:nvPr/>
        </p:nvGrpSpPr>
        <p:grpSpPr>
          <a:xfrm>
            <a:off x="5557966" y="3893715"/>
            <a:ext cx="1584171" cy="2802445"/>
            <a:chOff x="4454724" y="3648260"/>
            <a:chExt cx="1323230" cy="1659622"/>
          </a:xfrm>
        </p:grpSpPr>
        <p:sp>
          <p:nvSpPr>
            <p:cNvPr id="57" name="직사각형 56">
              <a:extLst>
                <a:ext uri="{FF2B5EF4-FFF2-40B4-BE49-F238E27FC236}">
                  <a16:creationId xmlns:a16="http://schemas.microsoft.com/office/drawing/2014/main" id="{BE1B7C5D-323D-74B0-2F42-F9FD07BE7956}"/>
                </a:ext>
              </a:extLst>
            </p:cNvPr>
            <p:cNvSpPr/>
            <p:nvPr/>
          </p:nvSpPr>
          <p:spPr>
            <a:xfrm>
              <a:off x="4454724" y="3648260"/>
              <a:ext cx="1323230" cy="16596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1" name="그림 60">
              <a:extLst>
                <a:ext uri="{FF2B5EF4-FFF2-40B4-BE49-F238E27FC236}">
                  <a16:creationId xmlns:a16="http://schemas.microsoft.com/office/drawing/2014/main" id="{39E395A4-35B5-951A-B7ED-2732B1992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36428" y="3705210"/>
              <a:ext cx="1186375" cy="667336"/>
            </a:xfrm>
            <a:prstGeom prst="rect">
              <a:avLst/>
            </a:prstGeom>
          </p:spPr>
        </p:pic>
      </p:grpSp>
      <p:sp>
        <p:nvSpPr>
          <p:cNvPr id="64" name="TextBox 63">
            <a:extLst>
              <a:ext uri="{FF2B5EF4-FFF2-40B4-BE49-F238E27FC236}">
                <a16:creationId xmlns:a16="http://schemas.microsoft.com/office/drawing/2014/main" id="{152A55F9-473C-0D8E-3548-1283FC1A19D1}"/>
              </a:ext>
            </a:extLst>
          </p:cNvPr>
          <p:cNvSpPr txBox="1"/>
          <p:nvPr/>
        </p:nvSpPr>
        <p:spPr>
          <a:xfrm>
            <a:off x="5542800" y="3487844"/>
            <a:ext cx="1584169" cy="438582"/>
          </a:xfrm>
          <a:prstGeom prst="rect">
            <a:avLst/>
          </a:prstGeom>
          <a:noFill/>
        </p:spPr>
        <p:txBody>
          <a:bodyPr wrap="square" rtlCol="0">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66" name="표 65">
            <a:extLst>
              <a:ext uri="{FF2B5EF4-FFF2-40B4-BE49-F238E27FC236}">
                <a16:creationId xmlns:a16="http://schemas.microsoft.com/office/drawing/2014/main" id="{B23ABA8A-2951-8341-33F8-5AE1565D31B4}"/>
              </a:ext>
            </a:extLst>
          </p:cNvPr>
          <p:cNvGraphicFramePr>
            <a:graphicFrameLocks noGrp="1"/>
          </p:cNvGraphicFramePr>
          <p:nvPr/>
        </p:nvGraphicFramePr>
        <p:xfrm>
          <a:off x="5644321"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Logistics</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3,476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718740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5765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744211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8713805"/>
                  </a:ext>
                </a:extLst>
              </a:tr>
            </a:tbl>
          </a:graphicData>
        </a:graphic>
      </p:graphicFrame>
      <p:sp>
        <p:nvSpPr>
          <p:cNvPr id="68" name="직사각형 67">
            <a:extLst>
              <a:ext uri="{FF2B5EF4-FFF2-40B4-BE49-F238E27FC236}">
                <a16:creationId xmlns:a16="http://schemas.microsoft.com/office/drawing/2014/main" id="{4A5C4048-11D8-C9DB-7354-6BDA4EB2D364}"/>
              </a:ext>
            </a:extLst>
          </p:cNvPr>
          <p:cNvSpPr/>
          <p:nvPr/>
        </p:nvSpPr>
        <p:spPr>
          <a:xfrm>
            <a:off x="3812900"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TextBox 69">
            <a:extLst>
              <a:ext uri="{FF2B5EF4-FFF2-40B4-BE49-F238E27FC236}">
                <a16:creationId xmlns:a16="http://schemas.microsoft.com/office/drawing/2014/main" id="{7B6A6713-495B-2217-73B7-77B63BCB1F10}"/>
              </a:ext>
            </a:extLst>
          </p:cNvPr>
          <p:cNvSpPr txBox="1"/>
          <p:nvPr/>
        </p:nvSpPr>
        <p:spPr>
          <a:xfrm>
            <a:off x="3797734" y="3487844"/>
            <a:ext cx="1584169" cy="438582"/>
          </a:xfrm>
          <a:prstGeom prst="rect">
            <a:avLst/>
          </a:prstGeom>
          <a:noFill/>
        </p:spPr>
        <p:txBody>
          <a:bodyPr wrap="square" rtlCol="0">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1" name="표 70">
            <a:extLst>
              <a:ext uri="{FF2B5EF4-FFF2-40B4-BE49-F238E27FC236}">
                <a16:creationId xmlns:a16="http://schemas.microsoft.com/office/drawing/2014/main" id="{147F82C0-6B2B-A9A6-A0DB-E96CD8B36553}"/>
              </a:ext>
            </a:extLst>
          </p:cNvPr>
          <p:cNvGraphicFramePr>
            <a:graphicFrameLocks noGrp="1"/>
          </p:cNvGraphicFramePr>
          <p:nvPr/>
        </p:nvGraphicFramePr>
        <p:xfrm>
          <a:off x="3910716"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Energy+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406268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4252371"/>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153000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93554"/>
                  </a:ext>
                </a:extLst>
              </a:tr>
            </a:tbl>
          </a:graphicData>
        </a:graphic>
      </p:graphicFrame>
      <p:sp>
        <p:nvSpPr>
          <p:cNvPr id="73" name="직사각형 72">
            <a:extLst>
              <a:ext uri="{FF2B5EF4-FFF2-40B4-BE49-F238E27FC236}">
                <a16:creationId xmlns:a16="http://schemas.microsoft.com/office/drawing/2014/main" id="{D513EFFB-C67F-8F50-07EC-43DDBD21E050}"/>
              </a:ext>
            </a:extLst>
          </p:cNvPr>
          <p:cNvSpPr/>
          <p:nvPr/>
        </p:nvSpPr>
        <p:spPr>
          <a:xfrm>
            <a:off x="7269284"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 name="TextBox 74">
            <a:extLst>
              <a:ext uri="{FF2B5EF4-FFF2-40B4-BE49-F238E27FC236}">
                <a16:creationId xmlns:a16="http://schemas.microsoft.com/office/drawing/2014/main" id="{5AC6B3E0-3A48-7D1B-6784-D87ACCDBEFA7}"/>
              </a:ext>
            </a:extLst>
          </p:cNvPr>
          <p:cNvSpPr txBox="1"/>
          <p:nvPr/>
        </p:nvSpPr>
        <p:spPr>
          <a:xfrm>
            <a:off x="7254118" y="3487844"/>
            <a:ext cx="1584169" cy="438582"/>
          </a:xfrm>
          <a:prstGeom prst="rect">
            <a:avLst/>
          </a:prstGeom>
          <a:noFill/>
        </p:spPr>
        <p:txBody>
          <a:bodyPr wrap="square" rtlCol="0">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7.8%</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지분증권</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6" name="표 75">
            <a:extLst>
              <a:ext uri="{FF2B5EF4-FFF2-40B4-BE49-F238E27FC236}">
                <a16:creationId xmlns:a16="http://schemas.microsoft.com/office/drawing/2014/main" id="{F4DB2166-E861-F34B-ACE5-99C31F853963}"/>
              </a:ext>
            </a:extLst>
          </p:cNvPr>
          <p:cNvGraphicFramePr>
            <a:graphicFrameLocks noGrp="1"/>
          </p:cNvGraphicFramePr>
          <p:nvPr/>
        </p:nvGraphicFramePr>
        <p:xfrm>
          <a:off x="7351955"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823172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126067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4292517"/>
                  </a:ext>
                </a:extLst>
              </a:tr>
            </a:tbl>
          </a:graphicData>
        </a:graphic>
      </p:graphicFrame>
      <p:sp>
        <p:nvSpPr>
          <p:cNvPr id="79" name="직사각형 78">
            <a:extLst>
              <a:ext uri="{FF2B5EF4-FFF2-40B4-BE49-F238E27FC236}">
                <a16:creationId xmlns:a16="http://schemas.microsoft.com/office/drawing/2014/main" id="{E8848C6A-B31D-B07B-6A0B-F2F1B3F9FD89}"/>
              </a:ext>
            </a:extLst>
          </p:cNvPr>
          <p:cNvSpPr/>
          <p:nvPr/>
        </p:nvSpPr>
        <p:spPr>
          <a:xfrm>
            <a:off x="8961472"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TextBox 80">
            <a:extLst>
              <a:ext uri="{FF2B5EF4-FFF2-40B4-BE49-F238E27FC236}">
                <a16:creationId xmlns:a16="http://schemas.microsoft.com/office/drawing/2014/main" id="{9B9BB9B4-A8A9-CF0A-F499-8EEE0599E898}"/>
              </a:ext>
            </a:extLst>
          </p:cNvPr>
          <p:cNvSpPr txBox="1"/>
          <p:nvPr/>
        </p:nvSpPr>
        <p:spPr>
          <a:xfrm>
            <a:off x="8946306" y="3487844"/>
            <a:ext cx="1584169" cy="438582"/>
          </a:xfrm>
          <a:prstGeom prst="rect">
            <a:avLst/>
          </a:prstGeom>
          <a:noFill/>
        </p:spPr>
        <p:txBody>
          <a:bodyPr wrap="square" rtlCol="0">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82" name="표 81">
            <a:extLst>
              <a:ext uri="{FF2B5EF4-FFF2-40B4-BE49-F238E27FC236}">
                <a16:creationId xmlns:a16="http://schemas.microsoft.com/office/drawing/2014/main" id="{A7C81002-929E-E161-7BCC-2EEC47CBC281}"/>
              </a:ext>
            </a:extLst>
          </p:cNvPr>
          <p:cNvGraphicFramePr>
            <a:graphicFrameLocks noGrp="1"/>
          </p:cNvGraphicFramePr>
          <p:nvPr/>
        </p:nvGraphicFramePr>
        <p:xfrm>
          <a:off x="9044143"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Hotel</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7008925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803996"/>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4121328"/>
                  </a:ext>
                </a:extLst>
              </a:tr>
            </a:tbl>
          </a:graphicData>
        </a:graphic>
      </p:graphicFrame>
      <p:grpSp>
        <p:nvGrpSpPr>
          <p:cNvPr id="2" name="그룹 1">
            <a:extLst>
              <a:ext uri="{FF2B5EF4-FFF2-40B4-BE49-F238E27FC236}">
                <a16:creationId xmlns:a16="http://schemas.microsoft.com/office/drawing/2014/main" id="{3964ACBF-7378-5EA4-E25D-FBC040E88415}"/>
              </a:ext>
            </a:extLst>
          </p:cNvPr>
          <p:cNvGrpSpPr/>
          <p:nvPr/>
        </p:nvGrpSpPr>
        <p:grpSpPr>
          <a:xfrm>
            <a:off x="4397814" y="2227704"/>
            <a:ext cx="1812188" cy="532992"/>
            <a:chOff x="7013913" y="2204738"/>
            <a:chExt cx="1899081" cy="558549"/>
          </a:xfrm>
        </p:grpSpPr>
        <p:sp>
          <p:nvSpPr>
            <p:cNvPr id="3" name="직사각형 2">
              <a:extLst>
                <a:ext uri="{FF2B5EF4-FFF2-40B4-BE49-F238E27FC236}">
                  <a16:creationId xmlns:a16="http://schemas.microsoft.com/office/drawing/2014/main" id="{270D2CF1-0920-C8A2-5655-D9D54DE8C1F4}"/>
                </a:ext>
              </a:extLst>
            </p:cNvPr>
            <p:cNvSpPr/>
            <p:nvPr/>
          </p:nvSpPr>
          <p:spPr>
            <a:xfrm>
              <a:off x="7013913" y="2204738"/>
              <a:ext cx="1899081" cy="55854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그림 4">
              <a:extLst>
                <a:ext uri="{FF2B5EF4-FFF2-40B4-BE49-F238E27FC236}">
                  <a16:creationId xmlns:a16="http://schemas.microsoft.com/office/drawing/2014/main" id="{FECD334B-30B2-6113-4226-C306340A3B0A}"/>
                </a:ext>
              </a:extLst>
            </p:cNvPr>
            <p:cNvPicPr>
              <a:picLocks noChangeAspect="1"/>
            </p:cNvPicPr>
            <p:nvPr/>
          </p:nvPicPr>
          <p:blipFill>
            <a:blip r:embed="rId3"/>
            <a:stretch>
              <a:fillRect/>
            </a:stretch>
          </p:blipFill>
          <p:spPr>
            <a:xfrm>
              <a:off x="7177386" y="2261063"/>
              <a:ext cx="1597573" cy="452371"/>
            </a:xfrm>
            <a:prstGeom prst="rect">
              <a:avLst/>
            </a:prstGeom>
          </p:spPr>
        </p:pic>
      </p:grpSp>
      <p:sp>
        <p:nvSpPr>
          <p:cNvPr id="7" name="직사각형 6">
            <a:extLst>
              <a:ext uri="{FF2B5EF4-FFF2-40B4-BE49-F238E27FC236}">
                <a16:creationId xmlns:a16="http://schemas.microsoft.com/office/drawing/2014/main" id="{432BC0B3-5F73-38F0-D5FE-459A65B39E06}"/>
              </a:ext>
            </a:extLst>
          </p:cNvPr>
          <p:cNvSpPr/>
          <p:nvPr/>
        </p:nvSpPr>
        <p:spPr>
          <a:xfrm>
            <a:off x="595888" y="2962499"/>
            <a:ext cx="900084" cy="215974"/>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algn="ctr">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현금</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0" name="연결선: 꺾임 19">
            <a:extLst>
              <a:ext uri="{FF2B5EF4-FFF2-40B4-BE49-F238E27FC236}">
                <a16:creationId xmlns:a16="http://schemas.microsoft.com/office/drawing/2014/main" id="{A19411DC-7319-1BBE-1418-4A17C59587B5}"/>
              </a:ext>
            </a:extLst>
          </p:cNvPr>
          <p:cNvCxnSpPr>
            <a:stCxn id="3" idx="2"/>
            <a:endCxn id="70" idx="0"/>
          </p:cNvCxnSpPr>
          <p:nvPr/>
        </p:nvCxnSpPr>
        <p:spPr>
          <a:xfrm rot="5400000">
            <a:off x="4583290" y="2767226"/>
            <a:ext cx="727148" cy="71408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50D78131-329C-E726-36AF-1BDDE5EAA891}"/>
              </a:ext>
            </a:extLst>
          </p:cNvPr>
          <p:cNvCxnSpPr>
            <a:stCxn id="3" idx="2"/>
            <a:endCxn id="64" idx="0"/>
          </p:cNvCxnSpPr>
          <p:nvPr/>
        </p:nvCxnSpPr>
        <p:spPr>
          <a:xfrm rot="16200000" flipH="1">
            <a:off x="5455822" y="2608781"/>
            <a:ext cx="727148" cy="1030977"/>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연결선: 꺾임 44">
            <a:extLst>
              <a:ext uri="{FF2B5EF4-FFF2-40B4-BE49-F238E27FC236}">
                <a16:creationId xmlns:a16="http://schemas.microsoft.com/office/drawing/2014/main" id="{9FC9BE6B-9554-2290-2FAB-80F511E2C781}"/>
              </a:ext>
            </a:extLst>
          </p:cNvPr>
          <p:cNvCxnSpPr>
            <a:stCxn id="3" idx="2"/>
            <a:endCxn id="75" idx="0"/>
          </p:cNvCxnSpPr>
          <p:nvPr/>
        </p:nvCxnSpPr>
        <p:spPr>
          <a:xfrm rot="16200000" flipH="1">
            <a:off x="6311481" y="1753122"/>
            <a:ext cx="727148" cy="27422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연결선: 꺾임 50">
            <a:extLst>
              <a:ext uri="{FF2B5EF4-FFF2-40B4-BE49-F238E27FC236}">
                <a16:creationId xmlns:a16="http://schemas.microsoft.com/office/drawing/2014/main" id="{315D4024-EEF6-9C8E-15A0-2012C93A093D}"/>
              </a:ext>
            </a:extLst>
          </p:cNvPr>
          <p:cNvCxnSpPr>
            <a:stCxn id="3" idx="2"/>
            <a:endCxn id="81" idx="0"/>
          </p:cNvCxnSpPr>
          <p:nvPr/>
        </p:nvCxnSpPr>
        <p:spPr>
          <a:xfrm rot="16200000" flipH="1">
            <a:off x="7157575" y="907028"/>
            <a:ext cx="727148" cy="44344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B592422-CA64-8E0D-6F16-B06116EA4017}"/>
              </a:ext>
            </a:extLst>
          </p:cNvPr>
          <p:cNvSpPr txBox="1"/>
          <p:nvPr/>
        </p:nvSpPr>
        <p:spPr>
          <a:xfrm>
            <a:off x="6318021" y="2267669"/>
            <a:ext cx="1584169" cy="438582"/>
          </a:xfrm>
          <a:prstGeom prst="rect">
            <a:avLst/>
          </a:prstGeom>
          <a:noFill/>
        </p:spPr>
        <p:txBody>
          <a:bodyPr wrap="square" rtlCol="0">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5.0%</a:t>
            </a:r>
          </a:p>
        </p:txBody>
      </p:sp>
      <p:pic>
        <p:nvPicPr>
          <p:cNvPr id="55" name="그림 54">
            <a:extLst>
              <a:ext uri="{FF2B5EF4-FFF2-40B4-BE49-F238E27FC236}">
                <a16:creationId xmlns:a16="http://schemas.microsoft.com/office/drawing/2014/main" id="{FE08E2CB-3C47-150E-2A7D-3FDFB1453D2C}"/>
              </a:ext>
            </a:extLst>
          </p:cNvPr>
          <p:cNvPicPr>
            <a:picLocks noChangeAspect="1"/>
          </p:cNvPicPr>
          <p:nvPr/>
        </p:nvPicPr>
        <p:blipFill>
          <a:blip r:embed="rId4"/>
          <a:stretch>
            <a:fillRect/>
          </a:stretch>
        </p:blipFill>
        <p:spPr>
          <a:xfrm>
            <a:off x="3900499" y="3995861"/>
            <a:ext cx="1460272" cy="1116408"/>
          </a:xfrm>
          <a:prstGeom prst="rect">
            <a:avLst/>
          </a:prstGeom>
        </p:spPr>
      </p:pic>
      <p:pic>
        <p:nvPicPr>
          <p:cNvPr id="58" name="그림 57">
            <a:extLst>
              <a:ext uri="{FF2B5EF4-FFF2-40B4-BE49-F238E27FC236}">
                <a16:creationId xmlns:a16="http://schemas.microsoft.com/office/drawing/2014/main" id="{36D42D0E-5E2C-B048-5B15-E99A9191CD5D}"/>
              </a:ext>
            </a:extLst>
          </p:cNvPr>
          <p:cNvPicPr>
            <a:picLocks noChangeAspect="1"/>
          </p:cNvPicPr>
          <p:nvPr/>
        </p:nvPicPr>
        <p:blipFill>
          <a:blip r:embed="rId5"/>
          <a:stretch>
            <a:fillRect/>
          </a:stretch>
        </p:blipFill>
        <p:spPr>
          <a:xfrm>
            <a:off x="9306346" y="3989881"/>
            <a:ext cx="936385" cy="1122388"/>
          </a:xfrm>
          <a:prstGeom prst="rect">
            <a:avLst/>
          </a:prstGeom>
        </p:spPr>
      </p:pic>
      <p:pic>
        <p:nvPicPr>
          <p:cNvPr id="88" name="그림 87">
            <a:extLst>
              <a:ext uri="{FF2B5EF4-FFF2-40B4-BE49-F238E27FC236}">
                <a16:creationId xmlns:a16="http://schemas.microsoft.com/office/drawing/2014/main" id="{F7F33B2E-DC81-2A4D-F41C-1889E14D678A}"/>
              </a:ext>
            </a:extLst>
          </p:cNvPr>
          <p:cNvPicPr>
            <a:picLocks noChangeAspect="1"/>
          </p:cNvPicPr>
          <p:nvPr/>
        </p:nvPicPr>
        <p:blipFill>
          <a:blip r:embed="rId6"/>
          <a:stretch>
            <a:fillRect/>
          </a:stretch>
        </p:blipFill>
        <p:spPr>
          <a:xfrm>
            <a:off x="7351955" y="3989882"/>
            <a:ext cx="1090295" cy="1086828"/>
          </a:xfrm>
          <a:prstGeom prst="rect">
            <a:avLst/>
          </a:prstGeom>
        </p:spPr>
      </p:pic>
      <p:pic>
        <p:nvPicPr>
          <p:cNvPr id="65" name="그림 64">
            <a:extLst>
              <a:ext uri="{FF2B5EF4-FFF2-40B4-BE49-F238E27FC236}">
                <a16:creationId xmlns:a16="http://schemas.microsoft.com/office/drawing/2014/main" id="{031D39ED-8B52-C52A-668E-01B70344BB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02995" y="4803210"/>
            <a:ext cx="991177" cy="236767"/>
          </a:xfrm>
          <a:prstGeom prst="rect">
            <a:avLst/>
          </a:prstGeom>
          <a:extLst>
            <a:ext uri="{909E8E84-426E-40DD-AFC4-6F175D3DCCD1}">
              <a14:hiddenFill xmlns:a14="http://schemas.microsoft.com/office/drawing/2010/main">
                <a:solidFill>
                  <a:srgbClr val="FFFFFF"/>
                </a:solidFill>
              </a14:hiddenFill>
            </a:ext>
          </a:extLst>
        </p:spPr>
      </p:pic>
      <p:grpSp>
        <p:nvGrpSpPr>
          <p:cNvPr id="6" name="그룹 5">
            <a:extLst>
              <a:ext uri="{FF2B5EF4-FFF2-40B4-BE49-F238E27FC236}">
                <a16:creationId xmlns:a16="http://schemas.microsoft.com/office/drawing/2014/main" id="{7BF4082B-CF47-5014-06F1-2322F7A1DC00}"/>
              </a:ext>
            </a:extLst>
          </p:cNvPr>
          <p:cNvGrpSpPr/>
          <p:nvPr/>
        </p:nvGrpSpPr>
        <p:grpSpPr>
          <a:xfrm>
            <a:off x="458887" y="1987916"/>
            <a:ext cx="9783663" cy="247712"/>
            <a:chOff x="417444" y="1605420"/>
            <a:chExt cx="8983731" cy="247712"/>
          </a:xfrm>
        </p:grpSpPr>
        <p:sp>
          <p:nvSpPr>
            <p:cNvPr id="18" name="직사각형 17">
              <a:extLst>
                <a:ext uri="{FF2B5EF4-FFF2-40B4-BE49-F238E27FC236}">
                  <a16:creationId xmlns:a16="http://schemas.microsoft.com/office/drawing/2014/main" id="{AD891C13-E209-80E9-AEF8-05E42B0AEED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9" name="직선 연결선 18">
              <a:extLst>
                <a:ext uri="{FF2B5EF4-FFF2-40B4-BE49-F238E27FC236}">
                  <a16:creationId xmlns:a16="http://schemas.microsoft.com/office/drawing/2014/main" id="{FE636F42-B46C-D6A0-771B-3DAEA76FA70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 name="자유형 29">
              <a:extLst>
                <a:ext uri="{FF2B5EF4-FFF2-40B4-BE49-F238E27FC236}">
                  <a16:creationId xmlns:a16="http://schemas.microsoft.com/office/drawing/2014/main" id="{585E230F-D277-34B6-7A4A-27F568F60D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30">
              <a:extLst>
                <a:ext uri="{FF2B5EF4-FFF2-40B4-BE49-F238E27FC236}">
                  <a16:creationId xmlns:a16="http://schemas.microsoft.com/office/drawing/2014/main" id="{02A6C60F-29CB-6300-ADEE-538BE2C0D35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672934A9-8503-17E2-44F3-B606B72BC228}"/>
                </a:ext>
              </a:extLst>
            </p:cNvPr>
            <p:cNvSpPr txBox="1"/>
            <p:nvPr/>
          </p:nvSpPr>
          <p:spPr>
            <a:xfrm>
              <a:off x="417444" y="1652332"/>
              <a:ext cx="145529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모리츠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및 자산구성 현황</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4" name="TextBox 53">
            <a:extLst>
              <a:ext uri="{FF2B5EF4-FFF2-40B4-BE49-F238E27FC236}">
                <a16:creationId xmlns:a16="http://schemas.microsoft.com/office/drawing/2014/main" id="{4966143C-CB9D-763B-3258-29B706731722}"/>
              </a:ext>
            </a:extLst>
          </p:cNvPr>
          <p:cNvSpPr txBox="1"/>
          <p:nvPr/>
        </p:nvSpPr>
        <p:spPr>
          <a:xfrm>
            <a:off x="283368" y="1040097"/>
            <a:ext cx="10152063"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는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가치의 포트폴리오를 운용 중이며 유휴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를 활용하여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신구 투자 계획</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 포함 시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1.77</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 가치규모</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감정가 기준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는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51.4%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수준으로 유휴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활용 예정임</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TextBox 58">
            <a:extLst>
              <a:ext uri="{FF2B5EF4-FFF2-40B4-BE49-F238E27FC236}">
                <a16:creationId xmlns:a16="http://schemas.microsoft.com/office/drawing/2014/main" id="{FBA7AD80-603D-A6B7-98BA-140F072A01A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906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11EEAA4D-1808-24E8-07F1-A16CE23DA6C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1" name="차트 10">
            <a:extLst>
              <a:ext uri="{FF2B5EF4-FFF2-40B4-BE49-F238E27FC236}">
                <a16:creationId xmlns:a16="http://schemas.microsoft.com/office/drawing/2014/main" id="{BC1D164A-4FA5-DF24-CFE8-F8BC0C94DDFD}"/>
              </a:ext>
            </a:extLst>
          </p:cNvPr>
          <p:cNvGraphicFramePr/>
          <p:nvPr>
            <p:extLst>
              <p:ext uri="{D42A27DB-BD31-4B8C-83A1-F6EECF244321}">
                <p14:modId xmlns:p14="http://schemas.microsoft.com/office/powerpoint/2010/main" val="3118560959"/>
              </p:ext>
            </p:extLst>
          </p:nvPr>
        </p:nvGraphicFramePr>
        <p:xfrm>
          <a:off x="5009179" y="1968620"/>
          <a:ext cx="5682633" cy="201492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그룹 2">
            <a:extLst>
              <a:ext uri="{FF2B5EF4-FFF2-40B4-BE49-F238E27FC236}">
                <a16:creationId xmlns:a16="http://schemas.microsoft.com/office/drawing/2014/main" id="{9F9D805D-BF4F-7542-7E38-9EFEB963B13A}"/>
              </a:ext>
            </a:extLst>
          </p:cNvPr>
          <p:cNvGrpSpPr/>
          <p:nvPr/>
        </p:nvGrpSpPr>
        <p:grpSpPr>
          <a:xfrm>
            <a:off x="5417914" y="3957970"/>
            <a:ext cx="4752528" cy="537184"/>
            <a:chOff x="5417914" y="5508029"/>
            <a:chExt cx="4752528" cy="537184"/>
          </a:xfrm>
        </p:grpSpPr>
        <p:sp>
          <p:nvSpPr>
            <p:cNvPr id="4" name="화살표: 오른쪽 3">
              <a:extLst>
                <a:ext uri="{FF2B5EF4-FFF2-40B4-BE49-F238E27FC236}">
                  <a16:creationId xmlns:a16="http://schemas.microsoft.com/office/drawing/2014/main" id="{43B1DF8A-4AFC-FA05-403B-2E2F290569C1}"/>
                </a:ext>
              </a:extLst>
            </p:cNvPr>
            <p:cNvSpPr/>
            <p:nvPr/>
          </p:nvSpPr>
          <p:spPr>
            <a:xfrm>
              <a:off x="6534038" y="5508029"/>
              <a:ext cx="3636404" cy="140370"/>
            </a:xfrm>
            <a:prstGeom prst="rightArrow">
              <a:avLst>
                <a:gd name="adj1" fmla="val 100000"/>
                <a:gd name="adj2" fmla="val 5000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829AF3FC-BCA3-2DA1-FF70-73027FD625B5}"/>
                </a:ext>
              </a:extLst>
            </p:cNvPr>
            <p:cNvSpPr/>
            <p:nvPr/>
          </p:nvSpPr>
          <p:spPr>
            <a:xfrm>
              <a:off x="5957974" y="5699175"/>
              <a:ext cx="4212468" cy="140370"/>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C287A563-08BE-2634-1A43-89185A9156E4}"/>
                </a:ext>
              </a:extLst>
            </p:cNvPr>
            <p:cNvSpPr/>
            <p:nvPr/>
          </p:nvSpPr>
          <p:spPr>
            <a:xfrm>
              <a:off x="5417914" y="5904843"/>
              <a:ext cx="4752528" cy="140370"/>
            </a:xfrm>
            <a:prstGeom prst="rightArrow">
              <a:avLst>
                <a:gd name="adj1" fmla="val 100000"/>
                <a:gd name="adj2"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1E41B99F-FE47-A29B-1A78-DA10BB19F81E}"/>
                </a:ext>
              </a:extLst>
            </p:cNvPr>
            <p:cNvSpPr/>
            <p:nvPr/>
          </p:nvSpPr>
          <p:spPr>
            <a:xfrm>
              <a:off x="5417914" y="5765883"/>
              <a:ext cx="4212468" cy="73662"/>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2" name="표 11">
            <a:extLst>
              <a:ext uri="{FF2B5EF4-FFF2-40B4-BE49-F238E27FC236}">
                <a16:creationId xmlns:a16="http://schemas.microsoft.com/office/drawing/2014/main" id="{1AB945BC-ACD2-08F8-CA20-DDDBD2BD07BE}"/>
              </a:ext>
            </a:extLst>
          </p:cNvPr>
          <p:cNvGraphicFramePr>
            <a:graphicFrameLocks noGrp="1"/>
          </p:cNvGraphicFramePr>
          <p:nvPr>
            <p:extLst>
              <p:ext uri="{D42A27DB-BD31-4B8C-83A1-F6EECF244321}">
                <p14:modId xmlns:p14="http://schemas.microsoft.com/office/powerpoint/2010/main" val="1626968460"/>
              </p:ext>
            </p:extLst>
          </p:nvPr>
        </p:nvGraphicFramePr>
        <p:xfrm>
          <a:off x="4646463" y="3756356"/>
          <a:ext cx="5586362" cy="1131454"/>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1062829811"/>
                    </a:ext>
                  </a:extLst>
                </a:gridCol>
                <a:gridCol w="568571">
                  <a:extLst>
                    <a:ext uri="{9D8B030D-6E8A-4147-A177-3AD203B41FA5}">
                      <a16:colId xmlns:a16="http://schemas.microsoft.com/office/drawing/2014/main" val="1061362965"/>
                    </a:ext>
                  </a:extLst>
                </a:gridCol>
                <a:gridCol w="551007">
                  <a:extLst>
                    <a:ext uri="{9D8B030D-6E8A-4147-A177-3AD203B41FA5}">
                      <a16:colId xmlns:a16="http://schemas.microsoft.com/office/drawing/2014/main" val="3617187186"/>
                    </a:ext>
                  </a:extLst>
                </a:gridCol>
                <a:gridCol w="462252">
                  <a:extLst>
                    <a:ext uri="{9D8B030D-6E8A-4147-A177-3AD203B41FA5}">
                      <a16:colId xmlns:a16="http://schemas.microsoft.com/office/drawing/2014/main" val="4093198474"/>
                    </a:ext>
                  </a:extLst>
                </a:gridCol>
                <a:gridCol w="462252">
                  <a:extLst>
                    <a:ext uri="{9D8B030D-6E8A-4147-A177-3AD203B41FA5}">
                      <a16:colId xmlns:a16="http://schemas.microsoft.com/office/drawing/2014/main" val="3255307381"/>
                    </a:ext>
                  </a:extLst>
                </a:gridCol>
                <a:gridCol w="462252">
                  <a:extLst>
                    <a:ext uri="{9D8B030D-6E8A-4147-A177-3AD203B41FA5}">
                      <a16:colId xmlns:a16="http://schemas.microsoft.com/office/drawing/2014/main" val="94420624"/>
                    </a:ext>
                  </a:extLst>
                </a:gridCol>
                <a:gridCol w="462252">
                  <a:extLst>
                    <a:ext uri="{9D8B030D-6E8A-4147-A177-3AD203B41FA5}">
                      <a16:colId xmlns:a16="http://schemas.microsoft.com/office/drawing/2014/main" val="3541631959"/>
                    </a:ext>
                  </a:extLst>
                </a:gridCol>
                <a:gridCol w="462252">
                  <a:extLst>
                    <a:ext uri="{9D8B030D-6E8A-4147-A177-3AD203B41FA5}">
                      <a16:colId xmlns:a16="http://schemas.microsoft.com/office/drawing/2014/main" val="544633973"/>
                    </a:ext>
                  </a:extLst>
                </a:gridCol>
                <a:gridCol w="462252">
                  <a:extLst>
                    <a:ext uri="{9D8B030D-6E8A-4147-A177-3AD203B41FA5}">
                      <a16:colId xmlns:a16="http://schemas.microsoft.com/office/drawing/2014/main" val="536529741"/>
                    </a:ext>
                  </a:extLst>
                </a:gridCol>
                <a:gridCol w="486636">
                  <a:extLst>
                    <a:ext uri="{9D8B030D-6E8A-4147-A177-3AD203B41FA5}">
                      <a16:colId xmlns:a16="http://schemas.microsoft.com/office/drawing/2014/main" val="3381518015"/>
                    </a:ext>
                  </a:extLst>
                </a:gridCol>
                <a:gridCol w="486636">
                  <a:extLst>
                    <a:ext uri="{9D8B030D-6E8A-4147-A177-3AD203B41FA5}">
                      <a16:colId xmlns:a16="http://schemas.microsoft.com/office/drawing/2014/main" val="899365463"/>
                    </a:ext>
                  </a:extLst>
                </a:gridCol>
              </a:tblGrid>
              <a:tr h="178954">
                <a:tc>
                  <a:txBody>
                    <a:bodyPr/>
                    <a:lstStyle/>
                    <a:p>
                      <a:pPr algn="ctr">
                        <a:lnSpc>
                          <a:spcPct val="100000"/>
                        </a:lnSpc>
                      </a:pPr>
                      <a:r>
                        <a:rPr lang="ko-KR" altLang="en-US" sz="1000" b="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8504334"/>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12795985"/>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739995126"/>
                  </a:ext>
                </a:extLst>
              </a:tr>
              <a:tr h="188902">
                <a:tc>
                  <a:txBody>
                    <a:bodyPr/>
                    <a:lstStyle/>
                    <a:p>
                      <a:pPr marL="254000" marR="61595" indent="-254000" algn="ctr" latinLnBrk="0">
                        <a:lnSpc>
                          <a:spcPts val="1600"/>
                        </a:lnSpc>
                        <a:buNone/>
                      </a:pPr>
                      <a:r>
                        <a:rPr lang="ko-KR" altLang="en-US" sz="1000" kern="0" baseline="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0081421"/>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합계</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92663786"/>
                  </a:ext>
                </a:extLst>
              </a:tr>
              <a:tr h="188902">
                <a:tc>
                  <a:txBody>
                    <a:bodyPr/>
                    <a:lstStyle/>
                    <a:p>
                      <a:pPr marL="254000" marR="61595" indent="-254000" algn="ctr" latinLnBrk="0">
                        <a:lnSpc>
                          <a:spcPts val="1600"/>
                        </a:lnSpc>
                        <a:buNone/>
                      </a:pPr>
                      <a:r>
                        <a:rPr lang="ko-KR" altLang="en-US"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전체수익률</a:t>
                      </a:r>
                      <a:endParaRPr lang="ko-KR"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72.4%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10776341"/>
                  </a:ext>
                </a:extLst>
              </a:tr>
            </a:tbl>
          </a:graphicData>
        </a:graphic>
      </p:graphicFrame>
      <p:grpSp>
        <p:nvGrpSpPr>
          <p:cNvPr id="92" name="그룹 91">
            <a:extLst>
              <a:ext uri="{FF2B5EF4-FFF2-40B4-BE49-F238E27FC236}">
                <a16:creationId xmlns:a16="http://schemas.microsoft.com/office/drawing/2014/main" id="{75BDC7EA-711A-E24F-C884-D99D04FC0417}"/>
              </a:ext>
            </a:extLst>
          </p:cNvPr>
          <p:cNvGrpSpPr/>
          <p:nvPr/>
        </p:nvGrpSpPr>
        <p:grpSpPr>
          <a:xfrm>
            <a:off x="5074444" y="4948749"/>
            <a:ext cx="5212546" cy="2071094"/>
            <a:chOff x="5074444" y="4684530"/>
            <a:chExt cx="5212546" cy="2071094"/>
          </a:xfrm>
        </p:grpSpPr>
        <p:sp>
          <p:nvSpPr>
            <p:cNvPr id="90" name="자유형: 도형 89">
              <a:extLst>
                <a:ext uri="{FF2B5EF4-FFF2-40B4-BE49-F238E27FC236}">
                  <a16:creationId xmlns:a16="http://schemas.microsoft.com/office/drawing/2014/main" id="{FC9D1EE9-4FB6-D4E6-2C97-FCE8267BE624}"/>
                </a:ext>
              </a:extLst>
            </p:cNvPr>
            <p:cNvSpPr/>
            <p:nvPr/>
          </p:nvSpPr>
          <p:spPr>
            <a:xfrm>
              <a:off x="5074444" y="4684530"/>
              <a:ext cx="5193506" cy="348884"/>
            </a:xfrm>
            <a:custGeom>
              <a:avLst/>
              <a:gdLst>
                <a:gd name="csX0" fmla="*/ 280987 w 5193506"/>
                <a:gd name="csY0" fmla="*/ 0 h 211931"/>
                <a:gd name="csX1" fmla="*/ 0 w 5193506"/>
                <a:gd name="csY1" fmla="*/ 211931 h 211931"/>
                <a:gd name="csX2" fmla="*/ 5193506 w 5193506"/>
                <a:gd name="csY2" fmla="*/ 209550 h 211931"/>
                <a:gd name="csX3" fmla="*/ 2745581 w 5193506"/>
                <a:gd name="csY3" fmla="*/ 0 h 211931"/>
                <a:gd name="csX4" fmla="*/ 280987 w 5193506"/>
                <a:gd name="csY4" fmla="*/ 0 h 211931"/>
              </a:gdLst>
              <a:ahLst/>
              <a:cxnLst>
                <a:cxn ang="0">
                  <a:pos x="csX0" y="csY0"/>
                </a:cxn>
                <a:cxn ang="0">
                  <a:pos x="csX1" y="csY1"/>
                </a:cxn>
                <a:cxn ang="0">
                  <a:pos x="csX2" y="csY2"/>
                </a:cxn>
                <a:cxn ang="0">
                  <a:pos x="csX3" y="csY3"/>
                </a:cxn>
                <a:cxn ang="0">
                  <a:pos x="csX4" y="csY4"/>
                </a:cxn>
              </a:cxnLst>
              <a:rect l="l" t="t" r="r" b="b"/>
              <a:pathLst>
                <a:path w="5193506" h="211931">
                  <a:moveTo>
                    <a:pt x="280987" y="0"/>
                  </a:moveTo>
                  <a:lnTo>
                    <a:pt x="0" y="211931"/>
                  </a:lnTo>
                  <a:lnTo>
                    <a:pt x="5193506" y="209550"/>
                  </a:lnTo>
                  <a:lnTo>
                    <a:pt x="2745581" y="0"/>
                  </a:lnTo>
                  <a:lnTo>
                    <a:pt x="280987" y="0"/>
                  </a:lnTo>
                  <a:close/>
                </a:path>
              </a:pathLst>
            </a:custGeom>
            <a:gradFill>
              <a:gsLst>
                <a:gs pos="0">
                  <a:schemeClr val="tx1">
                    <a:lumMod val="50000"/>
                    <a:lumOff val="50000"/>
                  </a:schemeClr>
                </a:gs>
                <a:gs pos="100000">
                  <a:srgbClr val="F2F2F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직사각형 90">
              <a:extLst>
                <a:ext uri="{FF2B5EF4-FFF2-40B4-BE49-F238E27FC236}">
                  <a16:creationId xmlns:a16="http://schemas.microsoft.com/office/drawing/2014/main" id="{8CB2D7E2-E481-640F-F8E8-65E104988906}"/>
                </a:ext>
              </a:extLst>
            </p:cNvPr>
            <p:cNvSpPr/>
            <p:nvPr/>
          </p:nvSpPr>
          <p:spPr>
            <a:xfrm>
              <a:off x="5075120" y="5033413"/>
              <a:ext cx="5211870" cy="1722211"/>
            </a:xfrm>
            <a:prstGeom prst="rect">
              <a:avLst/>
            </a:prstGeom>
            <a:solidFill>
              <a:schemeClr val="bg1">
                <a:lumMod val="95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자유형: 도형 1">
            <a:extLst>
              <a:ext uri="{FF2B5EF4-FFF2-40B4-BE49-F238E27FC236}">
                <a16:creationId xmlns:a16="http://schemas.microsoft.com/office/drawing/2014/main" id="{73CD9F1F-9D96-0FA6-25AF-B6F82480BC8E}"/>
              </a:ext>
            </a:extLst>
          </p:cNvPr>
          <p:cNvSpPr/>
          <p:nvPr/>
        </p:nvSpPr>
        <p:spPr>
          <a:xfrm>
            <a:off x="2655143" y="2600014"/>
            <a:ext cx="237573" cy="1111006"/>
          </a:xfrm>
          <a:custGeom>
            <a:avLst/>
            <a:gdLst>
              <a:gd name="csX0" fmla="*/ 251460 w 251460"/>
              <a:gd name="csY0" fmla="*/ 0 h 1021080"/>
              <a:gd name="csX1" fmla="*/ 251460 w 251460"/>
              <a:gd name="csY1" fmla="*/ 830580 h 1021080"/>
              <a:gd name="csX2" fmla="*/ 0 w 251460"/>
              <a:gd name="csY2" fmla="*/ 1021080 h 1021080"/>
              <a:gd name="csX3" fmla="*/ 0 w 251460"/>
              <a:gd name="csY3" fmla="*/ 784860 h 1021080"/>
              <a:gd name="csX4" fmla="*/ 251460 w 251460"/>
              <a:gd name="csY4" fmla="*/ 0 h 1021080"/>
            </a:gdLst>
            <a:ahLst/>
            <a:cxnLst>
              <a:cxn ang="0">
                <a:pos x="csX0" y="csY0"/>
              </a:cxn>
              <a:cxn ang="0">
                <a:pos x="csX1" y="csY1"/>
              </a:cxn>
              <a:cxn ang="0">
                <a:pos x="csX2" y="csY2"/>
              </a:cxn>
              <a:cxn ang="0">
                <a:pos x="csX3" y="csY3"/>
              </a:cxn>
              <a:cxn ang="0">
                <a:pos x="csX4" y="csY4"/>
              </a:cxn>
            </a:cxnLst>
            <a:rect l="l" t="t" r="r" b="b"/>
            <a:pathLst>
              <a:path w="251460" h="1021080">
                <a:moveTo>
                  <a:pt x="251460" y="0"/>
                </a:moveTo>
                <a:lnTo>
                  <a:pt x="251460" y="830580"/>
                </a:lnTo>
                <a:lnTo>
                  <a:pt x="0" y="1021080"/>
                </a:lnTo>
                <a:lnTo>
                  <a:pt x="0" y="784860"/>
                </a:lnTo>
                <a:lnTo>
                  <a:pt x="251460" y="0"/>
                </a:lnTo>
                <a:close/>
              </a:path>
            </a:pathLst>
          </a:custGeom>
          <a:gradFill>
            <a:gsLst>
              <a:gs pos="0">
                <a:schemeClr val="bg1"/>
              </a:gs>
              <a:gs pos="99000">
                <a:schemeClr val="bg1">
                  <a:lumMod val="85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87C5F2EE-AC0D-149C-0358-5C739834414D}"/>
              </a:ext>
            </a:extLst>
          </p:cNvPr>
          <p:cNvSpPr txBox="1"/>
          <p:nvPr/>
        </p:nvSpPr>
        <p:spPr>
          <a:xfrm>
            <a:off x="9462463" y="215802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rgbClr val="C00000"/>
                </a:solidFill>
              </a:rPr>
              <a:t>318.0</a:t>
            </a:r>
            <a:r>
              <a:rPr lang="en-US" altLang="ko-KR" sz="1100" kern="0" dirty="0">
                <a:solidFill>
                  <a:srgbClr val="C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100" i="0" u="none" strike="noStrike" kern="0" cap="none" spc="0" normalizeH="0" baseline="0" noProof="0" dirty="0">
              <a:ln>
                <a:noFill/>
              </a:ln>
              <a:solidFill>
                <a:srgbClr val="C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4" name="TextBox 13">
            <a:extLst>
              <a:ext uri="{FF2B5EF4-FFF2-40B4-BE49-F238E27FC236}">
                <a16:creationId xmlns:a16="http://schemas.microsoft.com/office/drawing/2014/main" id="{EDB403B2-5FBC-4F03-CDBA-524906F02FC8}"/>
              </a:ext>
            </a:extLst>
          </p:cNvPr>
          <p:cNvSpPr txBox="1"/>
          <p:nvPr/>
        </p:nvSpPr>
        <p:spPr>
          <a:xfrm>
            <a:off x="9961546" y="268754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chemeClr val="accent4">
                    <a:lumMod val="75000"/>
                  </a:schemeClr>
                </a:solidFill>
              </a:rPr>
              <a:t>72.4%</a:t>
            </a:r>
            <a:endParaRPr kumimoji="0" lang="en-US" altLang="ko-KR" sz="1100" i="0" u="none" strike="noStrike" kern="0" cap="none" spc="0" normalizeH="0" baseline="0" noProof="0" dirty="0">
              <a:ln>
                <a:noFill/>
              </a:ln>
              <a:solidFill>
                <a:schemeClr val="accent4">
                  <a:lumMod val="75000"/>
                </a:schemeClr>
              </a:solidFill>
              <a:effectLst/>
              <a:uLnTx/>
              <a:uFillTx/>
            </a:endParaRPr>
          </a:p>
        </p:txBody>
      </p:sp>
      <p:sp>
        <p:nvSpPr>
          <p:cNvPr id="15" name="직사각형 14">
            <a:extLst>
              <a:ext uri="{FF2B5EF4-FFF2-40B4-BE49-F238E27FC236}">
                <a16:creationId xmlns:a16="http://schemas.microsoft.com/office/drawing/2014/main" id="{910B5DB4-E3ED-8CA5-383F-8B7EBD1F6345}"/>
              </a:ext>
            </a:extLst>
          </p:cNvPr>
          <p:cNvSpPr/>
          <p:nvPr/>
        </p:nvSpPr>
        <p:spPr>
          <a:xfrm rot="19756475">
            <a:off x="9645450" y="2528350"/>
            <a:ext cx="542294"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A7E0B39A-3645-F874-7954-AAD34D6306F0}"/>
              </a:ext>
            </a:extLst>
          </p:cNvPr>
          <p:cNvSpPr/>
          <p:nvPr/>
        </p:nvSpPr>
        <p:spPr>
          <a:xfrm rot="5400000">
            <a:off x="9450681" y="3125937"/>
            <a:ext cx="466820"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8" name="그룹 57">
            <a:extLst>
              <a:ext uri="{FF2B5EF4-FFF2-40B4-BE49-F238E27FC236}">
                <a16:creationId xmlns:a16="http://schemas.microsoft.com/office/drawing/2014/main" id="{127D42E8-E42D-F3B2-C952-E7A1FB54B5DA}"/>
              </a:ext>
            </a:extLst>
          </p:cNvPr>
          <p:cNvGrpSpPr/>
          <p:nvPr/>
        </p:nvGrpSpPr>
        <p:grpSpPr>
          <a:xfrm>
            <a:off x="632881" y="3408589"/>
            <a:ext cx="2027932" cy="2315464"/>
            <a:chOff x="557374" y="3465659"/>
            <a:chExt cx="2271211" cy="2315464"/>
          </a:xfrm>
        </p:grpSpPr>
        <p:grpSp>
          <p:nvGrpSpPr>
            <p:cNvPr id="57" name="그룹 56">
              <a:extLst>
                <a:ext uri="{FF2B5EF4-FFF2-40B4-BE49-F238E27FC236}">
                  <a16:creationId xmlns:a16="http://schemas.microsoft.com/office/drawing/2014/main" id="{C7112543-0621-FB52-F755-4FCE5FD6B73E}"/>
                </a:ext>
              </a:extLst>
            </p:cNvPr>
            <p:cNvGrpSpPr/>
            <p:nvPr/>
          </p:nvGrpSpPr>
          <p:grpSpPr>
            <a:xfrm>
              <a:off x="557374" y="3465659"/>
              <a:ext cx="2264861" cy="2315464"/>
              <a:chOff x="557374" y="3465659"/>
              <a:chExt cx="2264861" cy="2315464"/>
            </a:xfrm>
          </p:grpSpPr>
          <p:grpSp>
            <p:nvGrpSpPr>
              <p:cNvPr id="17" name="그룹 16">
                <a:extLst>
                  <a:ext uri="{FF2B5EF4-FFF2-40B4-BE49-F238E27FC236}">
                    <a16:creationId xmlns:a16="http://schemas.microsoft.com/office/drawing/2014/main" id="{CB3BCFD4-4D92-B20D-160C-22FA40AB4E1C}"/>
                  </a:ext>
                </a:extLst>
              </p:cNvPr>
              <p:cNvGrpSpPr/>
              <p:nvPr/>
            </p:nvGrpSpPr>
            <p:grpSpPr>
              <a:xfrm>
                <a:off x="557374" y="3465659"/>
                <a:ext cx="2264861" cy="2032025"/>
                <a:chOff x="612316" y="3023991"/>
                <a:chExt cx="2264861" cy="1157769"/>
              </a:xfrm>
            </p:grpSpPr>
            <p:sp>
              <p:nvSpPr>
                <p:cNvPr id="18" name="직사각형 17">
                  <a:extLst>
                    <a:ext uri="{FF2B5EF4-FFF2-40B4-BE49-F238E27FC236}">
                      <a16:creationId xmlns:a16="http://schemas.microsoft.com/office/drawing/2014/main" id="{ED6F96F7-830C-B413-CE76-5EAFFFA5864C}"/>
                    </a:ext>
                  </a:extLst>
                </p:cNvPr>
                <p:cNvSpPr/>
                <p:nvPr/>
              </p:nvSpPr>
              <p:spPr>
                <a:xfrm>
                  <a:off x="1809458" y="3416465"/>
                  <a:ext cx="1067719" cy="765295"/>
                </a:xfrm>
                <a:prstGeom prst="rect">
                  <a:avLst/>
                </a:prstGeom>
                <a:pattFill prst="wdDnDiag">
                  <a:fgClr>
                    <a:schemeClr val="bg1">
                      <a:lumMod val="95000"/>
                    </a:schemeClr>
                  </a:fgClr>
                  <a:bgClr>
                    <a:schemeClr val="bg1"/>
                  </a:bgClr>
                </a:patt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내 조달계획</a:t>
                  </a:r>
                  <a:endPar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직사각형 18">
                  <a:extLst>
                    <a:ext uri="{FF2B5EF4-FFF2-40B4-BE49-F238E27FC236}">
                      <a16:creationId xmlns:a16="http://schemas.microsoft.com/office/drawing/2014/main" id="{DBA7DDB1-C83C-FAA8-1597-156E8038DF94}"/>
                    </a:ext>
                  </a:extLst>
                </p:cNvPr>
                <p:cNvSpPr/>
                <p:nvPr/>
              </p:nvSpPr>
              <p:spPr>
                <a:xfrm>
                  <a:off x="612316" y="3993692"/>
                  <a:ext cx="1098977" cy="188068"/>
                </a:xfrm>
                <a:prstGeom prst="rect">
                  <a:avLst/>
                </a:prstGeom>
                <a:solidFill>
                  <a:srgbClr val="843C0C"/>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kumimoji="0" lang="ko-KR" altLang="en-US" sz="900" b="0" i="0" u="none" strike="noStrike" kern="0" cap="none" spc="0" normalizeH="0" baseline="0" noProof="0" dirty="0">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kumimoji="0" lang="ko-KR" altLang="en-US"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직사각형 19">
                  <a:extLst>
                    <a:ext uri="{FF2B5EF4-FFF2-40B4-BE49-F238E27FC236}">
                      <a16:creationId xmlns:a16="http://schemas.microsoft.com/office/drawing/2014/main" id="{B44F98B1-DDAA-98A1-7F23-7B6B9CB109EB}"/>
                    </a:ext>
                  </a:extLst>
                </p:cNvPr>
                <p:cNvSpPr/>
                <p:nvPr/>
              </p:nvSpPr>
              <p:spPr>
                <a:xfrm>
                  <a:off x="1809458" y="3023991"/>
                  <a:ext cx="1067719" cy="171028"/>
                </a:xfrm>
                <a:prstGeom prst="rect">
                  <a:avLst/>
                </a:prstGeom>
                <a:solidFill>
                  <a:schemeClr val="accent1">
                    <a:lumMod val="20000"/>
                    <a:lumOff val="80000"/>
                  </a:schemeClr>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a:t>
                  </a: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8565F68D-6E95-640F-8F60-6093365D56EC}"/>
                    </a:ext>
                  </a:extLst>
                </p:cNvPr>
                <p:cNvSpPr/>
                <p:nvPr/>
              </p:nvSpPr>
              <p:spPr>
                <a:xfrm>
                  <a:off x="612316" y="3024291"/>
                  <a:ext cx="1098977" cy="268278"/>
                </a:xfrm>
                <a:prstGeom prst="rect">
                  <a:avLst/>
                </a:prstGeom>
                <a:solidFill>
                  <a:schemeClr val="accent2">
                    <a:lumMod val="20000"/>
                    <a:lumOff val="8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BF5A07F1-C55A-2AEA-95C2-9EB59015D66E}"/>
                    </a:ext>
                  </a:extLst>
                </p:cNvPr>
                <p:cNvSpPr/>
                <p:nvPr/>
              </p:nvSpPr>
              <p:spPr>
                <a:xfrm>
                  <a:off x="612316" y="3311785"/>
                  <a:ext cx="1098977" cy="670733"/>
                </a:xfrm>
                <a:prstGeom prst="rect">
                  <a:avLst/>
                </a:prstGeom>
                <a:solidFill>
                  <a:schemeClr val="accent2">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직사각형 22">
                  <a:extLst>
                    <a:ext uri="{FF2B5EF4-FFF2-40B4-BE49-F238E27FC236}">
                      <a16:creationId xmlns:a16="http://schemas.microsoft.com/office/drawing/2014/main" id="{B4716FB5-6E72-7154-AC73-320E1C9B8194}"/>
                    </a:ext>
                  </a:extLst>
                </p:cNvPr>
                <p:cNvSpPr/>
                <p:nvPr/>
              </p:nvSpPr>
              <p:spPr>
                <a:xfrm>
                  <a:off x="1809458" y="3213213"/>
                  <a:ext cx="1067719" cy="185058"/>
                </a:xfrm>
                <a:prstGeom prst="rect">
                  <a:avLst/>
                </a:prstGeom>
                <a:solidFill>
                  <a:schemeClr val="accent1">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24" name="TextBox 23">
                <a:extLst>
                  <a:ext uri="{FF2B5EF4-FFF2-40B4-BE49-F238E27FC236}">
                    <a16:creationId xmlns:a16="http://schemas.microsoft.com/office/drawing/2014/main" id="{61431656-C523-2807-69A2-A671FA490EA1}"/>
                  </a:ext>
                </a:extLst>
              </p:cNvPr>
              <p:cNvSpPr txBox="1"/>
              <p:nvPr/>
            </p:nvSpPr>
            <p:spPr>
              <a:xfrm>
                <a:off x="1130913" y="5558946"/>
                <a:ext cx="1120942" cy="2221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5" name="그룹 24">
              <a:extLst>
                <a:ext uri="{FF2B5EF4-FFF2-40B4-BE49-F238E27FC236}">
                  <a16:creationId xmlns:a16="http://schemas.microsoft.com/office/drawing/2014/main" id="{9BA7052E-8375-ED45-1348-1D3587192DF2}"/>
                </a:ext>
              </a:extLst>
            </p:cNvPr>
            <p:cNvGrpSpPr/>
            <p:nvPr/>
          </p:nvGrpSpPr>
          <p:grpSpPr>
            <a:xfrm>
              <a:off x="563724" y="3479663"/>
              <a:ext cx="2264861" cy="2079284"/>
              <a:chOff x="944811" y="3367156"/>
              <a:chExt cx="2264861" cy="916321"/>
            </a:xfrm>
          </p:grpSpPr>
          <p:cxnSp>
            <p:nvCxnSpPr>
              <p:cNvPr id="26" name="직선 연결선 25">
                <a:extLst>
                  <a:ext uri="{FF2B5EF4-FFF2-40B4-BE49-F238E27FC236}">
                    <a16:creationId xmlns:a16="http://schemas.microsoft.com/office/drawing/2014/main" id="{B752AE65-27C1-16E7-C243-4A96BA7704B9}"/>
                  </a:ext>
                </a:extLst>
              </p:cNvPr>
              <p:cNvCxnSpPr/>
              <p:nvPr/>
            </p:nvCxnSpPr>
            <p:spPr>
              <a:xfrm>
                <a:off x="944811" y="4283477"/>
                <a:ext cx="22648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0D594C46-5956-E214-9713-62603FEC76C9}"/>
                  </a:ext>
                </a:extLst>
              </p:cNvPr>
              <p:cNvCxnSpPr>
                <a:cxnSpLocks/>
              </p:cNvCxnSpPr>
              <p:nvPr/>
            </p:nvCxnSpPr>
            <p:spPr>
              <a:xfrm flipV="1">
                <a:off x="2083831" y="3367156"/>
                <a:ext cx="0" cy="91632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8" name="표 27">
            <a:extLst>
              <a:ext uri="{FF2B5EF4-FFF2-40B4-BE49-F238E27FC236}">
                <a16:creationId xmlns:a16="http://schemas.microsoft.com/office/drawing/2014/main" id="{5E15F942-7210-4655-E38D-69593456A6C7}"/>
              </a:ext>
            </a:extLst>
          </p:cNvPr>
          <p:cNvGraphicFramePr>
            <a:graphicFrameLocks noGrp="1"/>
          </p:cNvGraphicFramePr>
          <p:nvPr>
            <p:extLst>
              <p:ext uri="{D42A27DB-BD31-4B8C-83A1-F6EECF244321}">
                <p14:modId xmlns:p14="http://schemas.microsoft.com/office/powerpoint/2010/main" val="2930907524"/>
              </p:ext>
            </p:extLst>
          </p:nvPr>
        </p:nvGraphicFramePr>
        <p:xfrm>
          <a:off x="2887176" y="3808672"/>
          <a:ext cx="1450618" cy="880930"/>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Coupon</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YTM(P)</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8216911"/>
                  </a:ext>
                </a:extLst>
              </a:tr>
            </a:tbl>
          </a:graphicData>
        </a:graphic>
      </p:graphicFrame>
      <p:graphicFrame>
        <p:nvGraphicFramePr>
          <p:cNvPr id="29" name="표 28">
            <a:extLst>
              <a:ext uri="{FF2B5EF4-FFF2-40B4-BE49-F238E27FC236}">
                <a16:creationId xmlns:a16="http://schemas.microsoft.com/office/drawing/2014/main" id="{875D94BE-ACFF-BE85-5A11-2BA9A1DA1006}"/>
              </a:ext>
            </a:extLst>
          </p:cNvPr>
          <p:cNvGraphicFramePr>
            <a:graphicFrameLocks noGrp="1"/>
          </p:cNvGraphicFramePr>
          <p:nvPr/>
        </p:nvGraphicFramePr>
        <p:xfrm>
          <a:off x="563722" y="6043956"/>
          <a:ext cx="3807296" cy="504000"/>
        </p:xfrm>
        <a:graphic>
          <a:graphicData uri="http://schemas.openxmlformats.org/drawingml/2006/table">
            <a:tbl>
              <a:tblPr>
                <a:tableStyleId>{5C22544A-7EE6-4342-B048-85BDC9FD1C3A}</a:tableStyleId>
              </a:tblPr>
              <a:tblGrid>
                <a:gridCol w="951824">
                  <a:extLst>
                    <a:ext uri="{9D8B030D-6E8A-4147-A177-3AD203B41FA5}">
                      <a16:colId xmlns:a16="http://schemas.microsoft.com/office/drawing/2014/main" val="1234754593"/>
                    </a:ext>
                  </a:extLst>
                </a:gridCol>
                <a:gridCol w="951824">
                  <a:extLst>
                    <a:ext uri="{9D8B030D-6E8A-4147-A177-3AD203B41FA5}">
                      <a16:colId xmlns:a16="http://schemas.microsoft.com/office/drawing/2014/main" val="620841542"/>
                    </a:ext>
                  </a:extLst>
                </a:gridCol>
                <a:gridCol w="951824">
                  <a:extLst>
                    <a:ext uri="{9D8B030D-6E8A-4147-A177-3AD203B41FA5}">
                      <a16:colId xmlns:a16="http://schemas.microsoft.com/office/drawing/2014/main" val="1274709765"/>
                    </a:ext>
                  </a:extLst>
                </a:gridCol>
                <a:gridCol w="951824">
                  <a:extLst>
                    <a:ext uri="{9D8B030D-6E8A-4147-A177-3AD203B41FA5}">
                      <a16:colId xmlns:a16="http://schemas.microsoft.com/office/drawing/2014/main" val="1921278914"/>
                    </a:ext>
                  </a:extLst>
                </a:gridCol>
              </a:tblGrid>
              <a:tr h="252000">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5051867"/>
                  </a:ext>
                </a:extLst>
              </a:tr>
              <a:tr h="252000">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투자금액</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2576"/>
                  </a:ext>
                </a:extLst>
              </a:tr>
            </a:tbl>
          </a:graphicData>
        </a:graphic>
      </p:graphicFrame>
      <p:graphicFrame>
        <p:nvGraphicFramePr>
          <p:cNvPr id="30" name="표 29">
            <a:extLst>
              <a:ext uri="{FF2B5EF4-FFF2-40B4-BE49-F238E27FC236}">
                <a16:creationId xmlns:a16="http://schemas.microsoft.com/office/drawing/2014/main" id="{9889D3EF-6641-86A0-7307-9D1BFB91F9CB}"/>
              </a:ext>
            </a:extLst>
          </p:cNvPr>
          <p:cNvGraphicFramePr>
            <a:graphicFrameLocks noGrp="1"/>
          </p:cNvGraphicFramePr>
          <p:nvPr>
            <p:extLst>
              <p:ext uri="{D42A27DB-BD31-4B8C-83A1-F6EECF244321}">
                <p14:modId xmlns:p14="http://schemas.microsoft.com/office/powerpoint/2010/main" val="1805577765"/>
              </p:ext>
            </p:extLst>
          </p:nvPr>
        </p:nvGraphicFramePr>
        <p:xfrm>
          <a:off x="2885259" y="2743592"/>
          <a:ext cx="1450618" cy="704744"/>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4013980"/>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이자율</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bl>
          </a:graphicData>
        </a:graphic>
      </p:graphicFrame>
      <p:graphicFrame>
        <p:nvGraphicFramePr>
          <p:cNvPr id="34" name="표 33">
            <a:extLst>
              <a:ext uri="{FF2B5EF4-FFF2-40B4-BE49-F238E27FC236}">
                <a16:creationId xmlns:a16="http://schemas.microsoft.com/office/drawing/2014/main" id="{EBBCA2B8-D593-A45E-8365-8E02EC21C0BB}"/>
              </a:ext>
            </a:extLst>
          </p:cNvPr>
          <p:cNvGraphicFramePr>
            <a:graphicFrameLocks noGrp="1"/>
          </p:cNvGraphicFramePr>
          <p:nvPr>
            <p:extLst>
              <p:ext uri="{D42A27DB-BD31-4B8C-83A1-F6EECF244321}">
                <p14:modId xmlns:p14="http://schemas.microsoft.com/office/powerpoint/2010/main" val="110044217"/>
              </p:ext>
            </p:extLst>
          </p:nvPr>
        </p:nvGraphicFramePr>
        <p:xfrm>
          <a:off x="2887176" y="5010073"/>
          <a:ext cx="1450618" cy="52855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조달계획</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우선주원본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bl>
          </a:graphicData>
        </a:graphic>
      </p:graphicFrame>
      <p:sp>
        <p:nvSpPr>
          <p:cNvPr id="35" name="직사각형 34">
            <a:extLst>
              <a:ext uri="{FF2B5EF4-FFF2-40B4-BE49-F238E27FC236}">
                <a16:creationId xmlns:a16="http://schemas.microsoft.com/office/drawing/2014/main" id="{5D27D581-CB3A-06C6-0AC1-2791A273C43C}"/>
              </a:ext>
            </a:extLst>
          </p:cNvPr>
          <p:cNvSpPr/>
          <p:nvPr/>
        </p:nvSpPr>
        <p:spPr>
          <a:xfrm>
            <a:off x="5358479" y="3740546"/>
            <a:ext cx="2520000" cy="1208202"/>
          </a:xfrm>
          <a:prstGeom prst="rect">
            <a:avLst/>
          </a:prstGeom>
          <a:noFill/>
          <a:ln w="28575">
            <a:solidFill>
              <a:schemeClr val="tx1">
                <a:lumMod val="50000"/>
                <a:lumOff val="5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5" name="차트 44">
            <a:extLst>
              <a:ext uri="{FF2B5EF4-FFF2-40B4-BE49-F238E27FC236}">
                <a16:creationId xmlns:a16="http://schemas.microsoft.com/office/drawing/2014/main" id="{220EE368-A5BE-AB00-BAE6-411227D180B6}"/>
              </a:ext>
            </a:extLst>
          </p:cNvPr>
          <p:cNvGraphicFramePr/>
          <p:nvPr>
            <p:extLst>
              <p:ext uri="{D42A27DB-BD31-4B8C-83A1-F6EECF244321}">
                <p14:modId xmlns:p14="http://schemas.microsoft.com/office/powerpoint/2010/main" val="3725663090"/>
              </p:ext>
            </p:extLst>
          </p:nvPr>
        </p:nvGraphicFramePr>
        <p:xfrm>
          <a:off x="4613081" y="5458554"/>
          <a:ext cx="5702294" cy="1969078"/>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그룹 45">
            <a:extLst>
              <a:ext uri="{FF2B5EF4-FFF2-40B4-BE49-F238E27FC236}">
                <a16:creationId xmlns:a16="http://schemas.microsoft.com/office/drawing/2014/main" id="{48A2DCAF-2FDE-ED96-60AF-D4236D84E208}"/>
              </a:ext>
            </a:extLst>
          </p:cNvPr>
          <p:cNvGrpSpPr/>
          <p:nvPr/>
        </p:nvGrpSpPr>
        <p:grpSpPr>
          <a:xfrm>
            <a:off x="5166332" y="5223868"/>
            <a:ext cx="5122754" cy="123111"/>
            <a:chOff x="4471624" y="6645058"/>
            <a:chExt cx="5558410" cy="123111"/>
          </a:xfrm>
        </p:grpSpPr>
        <p:sp>
          <p:nvSpPr>
            <p:cNvPr id="47" name="TextBox 46">
              <a:extLst>
                <a:ext uri="{FF2B5EF4-FFF2-40B4-BE49-F238E27FC236}">
                  <a16:creationId xmlns:a16="http://schemas.microsoft.com/office/drawing/2014/main" id="{73CDF6B3-0C6F-799C-34E6-3A1C071ECB09}"/>
                </a:ext>
              </a:extLst>
            </p:cNvPr>
            <p:cNvSpPr txBox="1"/>
            <p:nvPr/>
          </p:nvSpPr>
          <p:spPr>
            <a:xfrm>
              <a:off x="5036088"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p>
          </p:txBody>
        </p:sp>
        <p:sp>
          <p:nvSpPr>
            <p:cNvPr id="48" name="TextBox 47">
              <a:extLst>
                <a:ext uri="{FF2B5EF4-FFF2-40B4-BE49-F238E27FC236}">
                  <a16:creationId xmlns:a16="http://schemas.microsoft.com/office/drawing/2014/main" id="{A7B26F46-1835-EE77-05FB-332D0784B550}"/>
                </a:ext>
              </a:extLst>
            </p:cNvPr>
            <p:cNvSpPr txBox="1"/>
            <p:nvPr/>
          </p:nvSpPr>
          <p:spPr>
            <a:xfrm>
              <a:off x="5600552"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p:txBody>
        </p:sp>
        <p:sp>
          <p:nvSpPr>
            <p:cNvPr id="49" name="TextBox 48">
              <a:extLst>
                <a:ext uri="{FF2B5EF4-FFF2-40B4-BE49-F238E27FC236}">
                  <a16:creationId xmlns:a16="http://schemas.microsoft.com/office/drawing/2014/main" id="{1CDD8088-CEA4-E167-1C4C-E14C45E8DAA8}"/>
                </a:ext>
              </a:extLst>
            </p:cNvPr>
            <p:cNvSpPr txBox="1"/>
            <p:nvPr/>
          </p:nvSpPr>
          <p:spPr>
            <a:xfrm>
              <a:off x="6165016"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28.05)</a:t>
              </a:r>
            </a:p>
          </p:txBody>
        </p:sp>
        <p:sp>
          <p:nvSpPr>
            <p:cNvPr id="50" name="TextBox 49">
              <a:extLst>
                <a:ext uri="{FF2B5EF4-FFF2-40B4-BE49-F238E27FC236}">
                  <a16:creationId xmlns:a16="http://schemas.microsoft.com/office/drawing/2014/main" id="{F68922CB-8FA8-EB20-095F-63117205B6EC}"/>
                </a:ext>
              </a:extLst>
            </p:cNvPr>
            <p:cNvSpPr txBox="1"/>
            <p:nvPr/>
          </p:nvSpPr>
          <p:spPr>
            <a:xfrm>
              <a:off x="6729480"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28.11)</a:t>
              </a:r>
            </a:p>
          </p:txBody>
        </p:sp>
        <p:sp>
          <p:nvSpPr>
            <p:cNvPr id="51" name="TextBox 50">
              <a:extLst>
                <a:ext uri="{FF2B5EF4-FFF2-40B4-BE49-F238E27FC236}">
                  <a16:creationId xmlns:a16="http://schemas.microsoft.com/office/drawing/2014/main" id="{C994DC00-132B-EA12-F59C-59CA5C71BC43}"/>
                </a:ext>
              </a:extLst>
            </p:cNvPr>
            <p:cNvSpPr txBox="1"/>
            <p:nvPr/>
          </p:nvSpPr>
          <p:spPr>
            <a:xfrm>
              <a:off x="7293944"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29.05)</a:t>
              </a:r>
            </a:p>
          </p:txBody>
        </p:sp>
        <p:sp>
          <p:nvSpPr>
            <p:cNvPr id="52" name="TextBox 51">
              <a:extLst>
                <a:ext uri="{FF2B5EF4-FFF2-40B4-BE49-F238E27FC236}">
                  <a16:creationId xmlns:a16="http://schemas.microsoft.com/office/drawing/2014/main" id="{7BDEACA7-FAC3-E684-40E4-3F3B945EAC66}"/>
                </a:ext>
              </a:extLst>
            </p:cNvPr>
            <p:cNvSpPr txBox="1"/>
            <p:nvPr/>
          </p:nvSpPr>
          <p:spPr>
            <a:xfrm>
              <a:off x="7858408"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29.11)</a:t>
              </a:r>
            </a:p>
          </p:txBody>
        </p:sp>
        <p:sp>
          <p:nvSpPr>
            <p:cNvPr id="53" name="TextBox 52">
              <a:extLst>
                <a:ext uri="{FF2B5EF4-FFF2-40B4-BE49-F238E27FC236}">
                  <a16:creationId xmlns:a16="http://schemas.microsoft.com/office/drawing/2014/main" id="{07DFB728-78F1-069F-EADF-28E0D58E7097}"/>
                </a:ext>
              </a:extLst>
            </p:cNvPr>
            <p:cNvSpPr txBox="1"/>
            <p:nvPr/>
          </p:nvSpPr>
          <p:spPr>
            <a:xfrm>
              <a:off x="8422872"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30.05)</a:t>
              </a:r>
            </a:p>
          </p:txBody>
        </p:sp>
        <p:sp>
          <p:nvSpPr>
            <p:cNvPr id="54" name="TextBox 53">
              <a:extLst>
                <a:ext uri="{FF2B5EF4-FFF2-40B4-BE49-F238E27FC236}">
                  <a16:creationId xmlns:a16="http://schemas.microsoft.com/office/drawing/2014/main" id="{E785B94A-87BD-ACBC-6C82-E33E6628A3B6}"/>
                </a:ext>
              </a:extLst>
            </p:cNvPr>
            <p:cNvSpPr txBox="1"/>
            <p:nvPr/>
          </p:nvSpPr>
          <p:spPr>
            <a:xfrm>
              <a:off x="8987336"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30.11)</a:t>
              </a:r>
            </a:p>
          </p:txBody>
        </p:sp>
        <p:sp>
          <p:nvSpPr>
            <p:cNvPr id="55" name="TextBox 54">
              <a:extLst>
                <a:ext uri="{FF2B5EF4-FFF2-40B4-BE49-F238E27FC236}">
                  <a16:creationId xmlns:a16="http://schemas.microsoft.com/office/drawing/2014/main" id="{F722AEF6-BFCA-12F7-1819-EC68AF1D9ED3}"/>
                </a:ext>
              </a:extLst>
            </p:cNvPr>
            <p:cNvSpPr txBox="1"/>
            <p:nvPr/>
          </p:nvSpPr>
          <p:spPr>
            <a:xfrm>
              <a:off x="9551796"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31.05)</a:t>
              </a:r>
            </a:p>
          </p:txBody>
        </p:sp>
        <p:sp>
          <p:nvSpPr>
            <p:cNvPr id="56" name="TextBox 55">
              <a:extLst>
                <a:ext uri="{FF2B5EF4-FFF2-40B4-BE49-F238E27FC236}">
                  <a16:creationId xmlns:a16="http://schemas.microsoft.com/office/drawing/2014/main" id="{1098F35C-2CE5-722C-9664-BEF0C729A123}"/>
                </a:ext>
              </a:extLst>
            </p:cNvPr>
            <p:cNvSpPr txBox="1"/>
            <p:nvPr/>
          </p:nvSpPr>
          <p:spPr>
            <a:xfrm>
              <a:off x="4471624" y="6645058"/>
              <a:ext cx="478238" cy="123111"/>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26.11)</a:t>
              </a:r>
            </a:p>
          </p:txBody>
        </p:sp>
      </p:grpSp>
      <p:grpSp>
        <p:nvGrpSpPr>
          <p:cNvPr id="89" name="그룹 88">
            <a:extLst>
              <a:ext uri="{FF2B5EF4-FFF2-40B4-BE49-F238E27FC236}">
                <a16:creationId xmlns:a16="http://schemas.microsoft.com/office/drawing/2014/main" id="{D4EB81F6-1721-5783-6835-194AC8DA66DF}"/>
              </a:ext>
            </a:extLst>
          </p:cNvPr>
          <p:cNvGrpSpPr/>
          <p:nvPr/>
        </p:nvGrpSpPr>
        <p:grpSpPr>
          <a:xfrm>
            <a:off x="5166332" y="5075981"/>
            <a:ext cx="5122754" cy="153888"/>
            <a:chOff x="5166332" y="5106046"/>
            <a:chExt cx="5122754" cy="153888"/>
          </a:xfrm>
        </p:grpSpPr>
        <p:sp>
          <p:nvSpPr>
            <p:cNvPr id="70" name="TextBox 69">
              <a:extLst>
                <a:ext uri="{FF2B5EF4-FFF2-40B4-BE49-F238E27FC236}">
                  <a16:creationId xmlns:a16="http://schemas.microsoft.com/office/drawing/2014/main" id="{8DA7CCEA-910C-67E5-8B95-AD6045F9B2FC}"/>
                </a:ext>
              </a:extLst>
            </p:cNvPr>
            <p:cNvSpPr txBox="1"/>
            <p:nvPr/>
          </p:nvSpPr>
          <p:spPr>
            <a:xfrm>
              <a:off x="5686555" y="5106046"/>
              <a:ext cx="440755" cy="153888"/>
            </a:xfrm>
            <a:prstGeom prst="rect">
              <a:avLst/>
            </a:prstGeom>
            <a:noFill/>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FY14</a:t>
              </a:r>
            </a:p>
          </p:txBody>
        </p:sp>
        <p:sp>
          <p:nvSpPr>
            <p:cNvPr id="72" name="TextBox 71">
              <a:extLst>
                <a:ext uri="{FF2B5EF4-FFF2-40B4-BE49-F238E27FC236}">
                  <a16:creationId xmlns:a16="http://schemas.microsoft.com/office/drawing/2014/main" id="{AF3A853F-837F-0758-E210-31FD956965ED}"/>
                </a:ext>
              </a:extLst>
            </p:cNvPr>
            <p:cNvSpPr txBox="1"/>
            <p:nvPr/>
          </p:nvSpPr>
          <p:spPr>
            <a:xfrm>
              <a:off x="6206777" y="5106046"/>
              <a:ext cx="440755" cy="153888"/>
            </a:xfrm>
            <a:prstGeom prst="rect">
              <a:avLst/>
            </a:prstGeom>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FY15</a:t>
              </a:r>
            </a:p>
          </p:txBody>
        </p:sp>
        <p:sp>
          <p:nvSpPr>
            <p:cNvPr id="74" name="TextBox 73">
              <a:extLst>
                <a:ext uri="{FF2B5EF4-FFF2-40B4-BE49-F238E27FC236}">
                  <a16:creationId xmlns:a16="http://schemas.microsoft.com/office/drawing/2014/main" id="{F594A6F6-D565-11FA-81AD-C1B8AE17D2A8}"/>
                </a:ext>
              </a:extLst>
            </p:cNvPr>
            <p:cNvSpPr txBox="1"/>
            <p:nvPr/>
          </p:nvSpPr>
          <p:spPr>
            <a:xfrm>
              <a:off x="6727000" y="5106046"/>
              <a:ext cx="440755" cy="153888"/>
            </a:xfrm>
            <a:prstGeom prst="rect">
              <a:avLst/>
            </a:prstGeom>
            <a:noFill/>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FY16</a:t>
              </a:r>
            </a:p>
          </p:txBody>
        </p:sp>
        <p:sp>
          <p:nvSpPr>
            <p:cNvPr id="76" name="TextBox 75">
              <a:extLst>
                <a:ext uri="{FF2B5EF4-FFF2-40B4-BE49-F238E27FC236}">
                  <a16:creationId xmlns:a16="http://schemas.microsoft.com/office/drawing/2014/main" id="{FD28038E-75B2-317C-1E19-073D34C66A27}"/>
                </a:ext>
              </a:extLst>
            </p:cNvPr>
            <p:cNvSpPr txBox="1"/>
            <p:nvPr/>
          </p:nvSpPr>
          <p:spPr>
            <a:xfrm>
              <a:off x="7247222" y="5106046"/>
              <a:ext cx="440755" cy="153888"/>
            </a:xfrm>
            <a:prstGeom prst="rect">
              <a:avLst/>
            </a:prstGeom>
            <a:noFill/>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FY17</a:t>
              </a:r>
            </a:p>
          </p:txBody>
        </p:sp>
        <p:sp>
          <p:nvSpPr>
            <p:cNvPr id="78" name="TextBox 77">
              <a:extLst>
                <a:ext uri="{FF2B5EF4-FFF2-40B4-BE49-F238E27FC236}">
                  <a16:creationId xmlns:a16="http://schemas.microsoft.com/office/drawing/2014/main" id="{6F0F33CE-F3D9-D957-406C-F4DD819A61C9}"/>
                </a:ext>
              </a:extLst>
            </p:cNvPr>
            <p:cNvSpPr txBox="1"/>
            <p:nvPr/>
          </p:nvSpPr>
          <p:spPr>
            <a:xfrm>
              <a:off x="7767445" y="5106046"/>
              <a:ext cx="440755" cy="153888"/>
            </a:xfrm>
            <a:prstGeom prst="rect">
              <a:avLst/>
            </a:prstGeom>
            <a:noFill/>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FY18</a:t>
              </a:r>
            </a:p>
          </p:txBody>
        </p:sp>
        <p:sp>
          <p:nvSpPr>
            <p:cNvPr id="80" name="TextBox 79">
              <a:extLst>
                <a:ext uri="{FF2B5EF4-FFF2-40B4-BE49-F238E27FC236}">
                  <a16:creationId xmlns:a16="http://schemas.microsoft.com/office/drawing/2014/main" id="{DF51BE9E-5D3F-478A-9819-A6CEC201BB63}"/>
                </a:ext>
              </a:extLst>
            </p:cNvPr>
            <p:cNvSpPr txBox="1"/>
            <p:nvPr/>
          </p:nvSpPr>
          <p:spPr>
            <a:xfrm>
              <a:off x="8287667" y="5106046"/>
              <a:ext cx="440755" cy="153888"/>
            </a:xfrm>
            <a:prstGeom prst="rect">
              <a:avLst/>
            </a:prstGeom>
            <a:noFill/>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FY19</a:t>
              </a:r>
            </a:p>
          </p:txBody>
        </p:sp>
        <p:sp>
          <p:nvSpPr>
            <p:cNvPr id="82" name="TextBox 81">
              <a:extLst>
                <a:ext uri="{FF2B5EF4-FFF2-40B4-BE49-F238E27FC236}">
                  <a16:creationId xmlns:a16="http://schemas.microsoft.com/office/drawing/2014/main" id="{C84098D6-0F77-D646-B207-BB7C04BAE0A8}"/>
                </a:ext>
              </a:extLst>
            </p:cNvPr>
            <p:cNvSpPr txBox="1"/>
            <p:nvPr/>
          </p:nvSpPr>
          <p:spPr>
            <a:xfrm>
              <a:off x="8807890" y="5106046"/>
              <a:ext cx="440755" cy="153888"/>
            </a:xfrm>
            <a:prstGeom prst="rect">
              <a:avLst/>
            </a:prstGeom>
            <a:noFill/>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FY20</a:t>
              </a:r>
            </a:p>
          </p:txBody>
        </p:sp>
        <p:sp>
          <p:nvSpPr>
            <p:cNvPr id="84" name="TextBox 83">
              <a:extLst>
                <a:ext uri="{FF2B5EF4-FFF2-40B4-BE49-F238E27FC236}">
                  <a16:creationId xmlns:a16="http://schemas.microsoft.com/office/drawing/2014/main" id="{DE5A4BA4-1754-4A40-6B03-696D12166A7D}"/>
                </a:ext>
              </a:extLst>
            </p:cNvPr>
            <p:cNvSpPr txBox="1"/>
            <p:nvPr/>
          </p:nvSpPr>
          <p:spPr>
            <a:xfrm>
              <a:off x="9328112" y="5106046"/>
              <a:ext cx="440755" cy="153888"/>
            </a:xfrm>
            <a:prstGeom prst="rect">
              <a:avLst/>
            </a:prstGeom>
            <a:noFill/>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FY21</a:t>
              </a:r>
            </a:p>
          </p:txBody>
        </p:sp>
        <p:sp>
          <p:nvSpPr>
            <p:cNvPr id="86" name="TextBox 85">
              <a:extLst>
                <a:ext uri="{FF2B5EF4-FFF2-40B4-BE49-F238E27FC236}">
                  <a16:creationId xmlns:a16="http://schemas.microsoft.com/office/drawing/2014/main" id="{72B56555-DE5D-2D0B-9424-C892BD6BAA96}"/>
                </a:ext>
              </a:extLst>
            </p:cNvPr>
            <p:cNvSpPr txBox="1"/>
            <p:nvPr/>
          </p:nvSpPr>
          <p:spPr>
            <a:xfrm>
              <a:off x="9848331" y="5106046"/>
              <a:ext cx="440755" cy="153888"/>
            </a:xfrm>
            <a:prstGeom prst="rect">
              <a:avLst/>
            </a:prstGeom>
            <a:noFill/>
          </p:spPr>
          <p:txBody>
            <a:bodyPr wrap="square" lIns="0" tIns="0" rIns="0" bIns="0" rtlCol="0">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FY22</a:t>
              </a:r>
            </a:p>
          </p:txBody>
        </p:sp>
        <p:sp>
          <p:nvSpPr>
            <p:cNvPr id="88" name="TextBox 87">
              <a:extLst>
                <a:ext uri="{FF2B5EF4-FFF2-40B4-BE49-F238E27FC236}">
                  <a16:creationId xmlns:a16="http://schemas.microsoft.com/office/drawing/2014/main" id="{70E8AD82-7E9D-66CA-E484-28F9E106202B}"/>
                </a:ext>
              </a:extLst>
            </p:cNvPr>
            <p:cNvSpPr txBox="1"/>
            <p:nvPr/>
          </p:nvSpPr>
          <p:spPr>
            <a:xfrm>
              <a:off x="5166332" y="5106046"/>
              <a:ext cx="440755" cy="153888"/>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FY13</a:t>
              </a:r>
            </a:p>
          </p:txBody>
        </p:sp>
      </p:grpSp>
      <p:grpSp>
        <p:nvGrpSpPr>
          <p:cNvPr id="99" name="그룹 98">
            <a:extLst>
              <a:ext uri="{FF2B5EF4-FFF2-40B4-BE49-F238E27FC236}">
                <a16:creationId xmlns:a16="http://schemas.microsoft.com/office/drawing/2014/main" id="{F4A69EE1-08F3-423C-B934-E22FD1A72DB0}"/>
              </a:ext>
            </a:extLst>
          </p:cNvPr>
          <p:cNvGrpSpPr/>
          <p:nvPr/>
        </p:nvGrpSpPr>
        <p:grpSpPr>
          <a:xfrm>
            <a:off x="4651841" y="3189360"/>
            <a:ext cx="5663534" cy="169277"/>
            <a:chOff x="4651841" y="2925141"/>
            <a:chExt cx="5663534" cy="169277"/>
          </a:xfrm>
        </p:grpSpPr>
        <p:cxnSp>
          <p:nvCxnSpPr>
            <p:cNvPr id="96" name="직선 연결선 95">
              <a:extLst>
                <a:ext uri="{FF2B5EF4-FFF2-40B4-BE49-F238E27FC236}">
                  <a16:creationId xmlns:a16="http://schemas.microsoft.com/office/drawing/2014/main" id="{56F6D79C-A93F-6F1E-19A7-048B18EF5415}"/>
                </a:ext>
              </a:extLst>
            </p:cNvPr>
            <p:cNvCxnSpPr>
              <a:cxnSpLocks/>
            </p:cNvCxnSpPr>
            <p:nvPr/>
          </p:nvCxnSpPr>
          <p:spPr>
            <a:xfrm>
              <a:off x="5386709" y="3004229"/>
              <a:ext cx="4928666" cy="0"/>
            </a:xfrm>
            <a:prstGeom prst="line">
              <a:avLst/>
            </a:prstGeom>
            <a:ln w="15875">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8765C7F-F02E-5B07-91B8-EF142EA6DDC1}"/>
                </a:ext>
              </a:extLst>
            </p:cNvPr>
            <p:cNvSpPr txBox="1"/>
            <p:nvPr/>
          </p:nvSpPr>
          <p:spPr>
            <a:xfrm>
              <a:off x="4651841" y="2925141"/>
              <a:ext cx="711403" cy="169277"/>
            </a:xfrm>
            <a:prstGeom prst="rect">
              <a:avLst/>
            </a:prstGeom>
            <a:solidFill>
              <a:schemeClr val="accent4">
                <a:lumMod val="40000"/>
                <a:lumOff val="60000"/>
              </a:schemeClr>
            </a:solid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spcBef>
                  <a:spcPts val="0"/>
                </a:spcBef>
                <a:spcAft>
                  <a:spcPts val="0"/>
                </a:spcAft>
                <a:buClrTx/>
                <a:buSzTx/>
                <a:buFont typeface="Wingdings" panose="05000000000000000000" pitchFamily="2" charset="2"/>
                <a:buNone/>
                <a:tabLst/>
                <a:defRPr/>
              </a:pPr>
              <a:r>
                <a:rPr lang="en-US" altLang="ko-KR" sz="1100" kern="0" dirty="0">
                  <a:solidFill>
                    <a:srgbClr val="C00000"/>
                  </a:solidFill>
                </a:rPr>
                <a:t>CoC 6.2%</a:t>
              </a:r>
              <a:endParaRPr kumimoji="0" lang="en-US" altLang="ko-KR" sz="1100" i="0" u="none" strike="noStrike" kern="0" cap="none" spc="0" normalizeH="0" baseline="0" noProof="0" dirty="0">
                <a:ln>
                  <a:noFill/>
                </a:ln>
                <a:solidFill>
                  <a:srgbClr val="C00000"/>
                </a:solidFill>
                <a:effectLst/>
                <a:uLnTx/>
                <a:uFillTx/>
              </a:endParaRPr>
            </a:p>
          </p:txBody>
        </p:sp>
      </p:grpSp>
      <p:grpSp>
        <p:nvGrpSpPr>
          <p:cNvPr id="108" name="그룹 107">
            <a:extLst>
              <a:ext uri="{FF2B5EF4-FFF2-40B4-BE49-F238E27FC236}">
                <a16:creationId xmlns:a16="http://schemas.microsoft.com/office/drawing/2014/main" id="{E912B092-0C8A-24E2-8005-A68B52EFA6B7}"/>
              </a:ext>
            </a:extLst>
          </p:cNvPr>
          <p:cNvGrpSpPr/>
          <p:nvPr/>
        </p:nvGrpSpPr>
        <p:grpSpPr>
          <a:xfrm>
            <a:off x="5166332" y="5386854"/>
            <a:ext cx="5010020" cy="108012"/>
            <a:chOff x="5166332" y="5348182"/>
            <a:chExt cx="5010020" cy="108012"/>
          </a:xfrm>
        </p:grpSpPr>
        <p:cxnSp>
          <p:nvCxnSpPr>
            <p:cNvPr id="94" name="직선 연결선 93">
              <a:extLst>
                <a:ext uri="{FF2B5EF4-FFF2-40B4-BE49-F238E27FC236}">
                  <a16:creationId xmlns:a16="http://schemas.microsoft.com/office/drawing/2014/main" id="{383DA8AC-EFBC-A324-9823-0BC02CC79A84}"/>
                </a:ext>
              </a:extLst>
            </p:cNvPr>
            <p:cNvCxnSpPr/>
            <p:nvPr/>
          </p:nvCxnSpPr>
          <p:spPr>
            <a:xfrm>
              <a:off x="5166332" y="5400017"/>
              <a:ext cx="500411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B94EED31-5A9D-B664-C7F0-69607DAA05A5}"/>
                </a:ext>
              </a:extLst>
            </p:cNvPr>
            <p:cNvCxnSpPr>
              <a:cxnSpLocks/>
            </p:cNvCxnSpPr>
            <p:nvPr/>
          </p:nvCxnSpPr>
          <p:spPr>
            <a:xfrm>
              <a:off x="516633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9A836CDF-569B-4674-59BE-D6967E08E5B3}"/>
                </a:ext>
              </a:extLst>
            </p:cNvPr>
            <p:cNvCxnSpPr>
              <a:cxnSpLocks/>
            </p:cNvCxnSpPr>
            <p:nvPr/>
          </p:nvCxnSpPr>
          <p:spPr>
            <a:xfrm>
              <a:off x="6168336"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EB2E3A13-023D-2F56-C8D0-36179B6AF27F}"/>
                </a:ext>
              </a:extLst>
            </p:cNvPr>
            <p:cNvCxnSpPr>
              <a:cxnSpLocks/>
            </p:cNvCxnSpPr>
            <p:nvPr/>
          </p:nvCxnSpPr>
          <p:spPr>
            <a:xfrm>
              <a:off x="1017635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직선 연결선 104">
              <a:extLst>
                <a:ext uri="{FF2B5EF4-FFF2-40B4-BE49-F238E27FC236}">
                  <a16:creationId xmlns:a16="http://schemas.microsoft.com/office/drawing/2014/main" id="{13C8F479-46E7-F134-D285-2CCC4CF372DF}"/>
                </a:ext>
              </a:extLst>
            </p:cNvPr>
            <p:cNvCxnSpPr>
              <a:cxnSpLocks/>
            </p:cNvCxnSpPr>
            <p:nvPr/>
          </p:nvCxnSpPr>
          <p:spPr>
            <a:xfrm>
              <a:off x="9174348"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77B7AD69-F668-5D6D-FE31-E9CCE7FA6CB9}"/>
                </a:ext>
              </a:extLst>
            </p:cNvPr>
            <p:cNvCxnSpPr>
              <a:cxnSpLocks/>
            </p:cNvCxnSpPr>
            <p:nvPr/>
          </p:nvCxnSpPr>
          <p:spPr>
            <a:xfrm>
              <a:off x="8172344"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32D7B84-5904-3A3E-4B1C-1593DAF922D7}"/>
                </a:ext>
              </a:extLst>
            </p:cNvPr>
            <p:cNvCxnSpPr>
              <a:cxnSpLocks/>
            </p:cNvCxnSpPr>
            <p:nvPr/>
          </p:nvCxnSpPr>
          <p:spPr>
            <a:xfrm>
              <a:off x="7170340"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88AB08F2-9D51-EED2-F308-68A204FA8824}"/>
              </a:ext>
            </a:extLst>
          </p:cNvPr>
          <p:cNvGrpSpPr/>
          <p:nvPr/>
        </p:nvGrpSpPr>
        <p:grpSpPr>
          <a:xfrm>
            <a:off x="458887" y="1979637"/>
            <a:ext cx="9783663" cy="247712"/>
            <a:chOff x="417444" y="1605420"/>
            <a:chExt cx="8983731" cy="247712"/>
          </a:xfrm>
        </p:grpSpPr>
        <p:sp>
          <p:nvSpPr>
            <p:cNvPr id="31" name="직사각형 30">
              <a:extLst>
                <a:ext uri="{FF2B5EF4-FFF2-40B4-BE49-F238E27FC236}">
                  <a16:creationId xmlns:a16="http://schemas.microsoft.com/office/drawing/2014/main" id="{0358B15F-B154-0C41-B644-3DA500B2EDB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2" name="직선 연결선 31">
              <a:extLst>
                <a:ext uri="{FF2B5EF4-FFF2-40B4-BE49-F238E27FC236}">
                  <a16:creationId xmlns:a16="http://schemas.microsoft.com/office/drawing/2014/main" id="{7185617C-0B3B-A3C1-22A1-A6ACC64DF9F0}"/>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3" name="자유형 29">
              <a:extLst>
                <a:ext uri="{FF2B5EF4-FFF2-40B4-BE49-F238E27FC236}">
                  <a16:creationId xmlns:a16="http://schemas.microsoft.com/office/drawing/2014/main" id="{89C0D163-B64F-6550-EA17-EBCA9C56F42E}"/>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6" name="자유형 30">
              <a:extLst>
                <a:ext uri="{FF2B5EF4-FFF2-40B4-BE49-F238E27FC236}">
                  <a16:creationId xmlns:a16="http://schemas.microsoft.com/office/drawing/2014/main" id="{4CE7F9ED-5376-152B-6FE0-A6A13F2C10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9D776C5-843E-53A9-374F-E9AB714E9DE1}"/>
                </a:ext>
              </a:extLst>
            </p:cNvPr>
            <p:cNvSpPr txBox="1"/>
            <p:nvPr/>
          </p:nvSpPr>
          <p:spPr>
            <a:xfrm>
              <a:off x="417444" y="1652332"/>
              <a:ext cx="15774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4" name="TextBox 43">
            <a:extLst>
              <a:ext uri="{FF2B5EF4-FFF2-40B4-BE49-F238E27FC236}">
                <a16:creationId xmlns:a16="http://schemas.microsoft.com/office/drawing/2014/main" id="{FF262C19-59F2-15CF-B175-73E0FB2BBA8D}"/>
              </a:ext>
            </a:extLst>
          </p:cNvPr>
          <p:cNvSpPr txBox="1"/>
          <p:nvPr/>
        </p:nvSpPr>
        <p:spPr>
          <a:xfrm>
            <a:off x="283368" y="1040097"/>
            <a:ext cx="10152063"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전환사채</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및 </a:t>
            </a:r>
            <a:r>
              <a:rPr lang="ko-KR" altLang="en-US" sz="1600" dirty="0">
                <a:solidFill>
                  <a:prstClr val="black"/>
                </a:solidFill>
              </a:rPr>
              <a:t>회수 </a:t>
            </a:r>
            <a:r>
              <a:rPr lang="en-US" altLang="ko-KR" sz="1600" dirty="0">
                <a:solidFill>
                  <a:prstClr val="black"/>
                </a:solidFill>
              </a:rPr>
              <a:t>Equity </a:t>
            </a:r>
            <a:r>
              <a:rPr lang="ko-KR" altLang="en-US" sz="1600" dirty="0">
                <a:solidFill>
                  <a:prstClr val="black"/>
                </a:solidFill>
              </a:rPr>
              <a:t>원본</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을 통해 재원조달 예정이며 회사채 발행은 완료된 상태</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개년 누적 수익률은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6.2%, IRR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수준이며 본 건 투자로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모리츠의</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배당수익률이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+10bp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상승할 것으로 기대됨</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0474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6694-E844-0A45-1B62-1E8CED637A79}"/>
            </a:ext>
          </a:extLst>
        </p:cNvPr>
        <p:cNvGrpSpPr/>
        <p:nvPr/>
      </p:nvGrpSpPr>
      <p:grpSpPr>
        <a:xfrm>
          <a:off x="0" y="0"/>
          <a:ext cx="0" cy="0"/>
          <a:chOff x="0" y="0"/>
          <a:chExt cx="0" cy="0"/>
        </a:xfrm>
      </p:grpSpPr>
      <p:graphicFrame>
        <p:nvGraphicFramePr>
          <p:cNvPr id="171" name="표 170">
            <a:extLst>
              <a:ext uri="{FF2B5EF4-FFF2-40B4-BE49-F238E27FC236}">
                <a16:creationId xmlns:a16="http://schemas.microsoft.com/office/drawing/2014/main" id="{BB3E544C-E206-A242-DC61-4F6F00B00A65}"/>
              </a:ext>
            </a:extLst>
          </p:cNvPr>
          <p:cNvGraphicFramePr>
            <a:graphicFrameLocks noGrp="1"/>
          </p:cNvGraphicFramePr>
          <p:nvPr>
            <p:extLst>
              <p:ext uri="{D42A27DB-BD31-4B8C-83A1-F6EECF244321}">
                <p14:modId xmlns:p14="http://schemas.microsoft.com/office/powerpoint/2010/main" val="2257734187"/>
              </p:ext>
            </p:extLst>
          </p:nvPr>
        </p:nvGraphicFramePr>
        <p:xfrm>
          <a:off x="4173358" y="2546173"/>
          <a:ext cx="6030613" cy="1866900"/>
        </p:xfrm>
        <a:graphic>
          <a:graphicData uri="http://schemas.openxmlformats.org/drawingml/2006/table">
            <a:tbl>
              <a:tblPr firstRow="1" bandRow="1">
                <a:tableStyleId>{5940675A-B579-460E-94D1-54222C63F5DA}</a:tableStyleId>
              </a:tblPr>
              <a:tblGrid>
                <a:gridCol w="1305619">
                  <a:extLst>
                    <a:ext uri="{9D8B030D-6E8A-4147-A177-3AD203B41FA5}">
                      <a16:colId xmlns:a16="http://schemas.microsoft.com/office/drawing/2014/main" val="20001"/>
                    </a:ext>
                  </a:extLst>
                </a:gridCol>
                <a:gridCol w="643684">
                  <a:extLst>
                    <a:ext uri="{9D8B030D-6E8A-4147-A177-3AD203B41FA5}">
                      <a16:colId xmlns:a16="http://schemas.microsoft.com/office/drawing/2014/main" val="1811899878"/>
                    </a:ext>
                  </a:extLst>
                </a:gridCol>
                <a:gridCol w="816262">
                  <a:extLst>
                    <a:ext uri="{9D8B030D-6E8A-4147-A177-3AD203B41FA5}">
                      <a16:colId xmlns:a16="http://schemas.microsoft.com/office/drawing/2014/main" val="3634522071"/>
                    </a:ext>
                  </a:extLst>
                </a:gridCol>
                <a:gridCol w="816262">
                  <a:extLst>
                    <a:ext uri="{9D8B030D-6E8A-4147-A177-3AD203B41FA5}">
                      <a16:colId xmlns:a16="http://schemas.microsoft.com/office/drawing/2014/main" val="1295834120"/>
                    </a:ext>
                  </a:extLst>
                </a:gridCol>
                <a:gridCol w="816262">
                  <a:extLst>
                    <a:ext uri="{9D8B030D-6E8A-4147-A177-3AD203B41FA5}">
                      <a16:colId xmlns:a16="http://schemas.microsoft.com/office/drawing/2014/main" val="3602166017"/>
                    </a:ext>
                  </a:extLst>
                </a:gridCol>
                <a:gridCol w="816262">
                  <a:extLst>
                    <a:ext uri="{9D8B030D-6E8A-4147-A177-3AD203B41FA5}">
                      <a16:colId xmlns:a16="http://schemas.microsoft.com/office/drawing/2014/main" val="3052098930"/>
                    </a:ext>
                  </a:extLst>
                </a:gridCol>
                <a:gridCol w="816262">
                  <a:extLst>
                    <a:ext uri="{9D8B030D-6E8A-4147-A177-3AD203B41FA5}">
                      <a16:colId xmlns:a16="http://schemas.microsoft.com/office/drawing/2014/main" val="2320362625"/>
                    </a:ext>
                  </a:extLst>
                </a:gridCol>
              </a:tblGrid>
              <a:tr h="135518">
                <a:tc>
                  <a:txBody>
                    <a:bodyPr/>
                    <a:lstStyle/>
                    <a:p>
                      <a:pPr algn="ctr">
                        <a:lnSpc>
                          <a:spcPct val="100000"/>
                        </a:lnSpc>
                      </a:pPr>
                      <a:r>
                        <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ko-KR" altLang="en-US" sz="1000" b="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자산수</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장부가</a:t>
                      </a: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ko-KR" altLang="en-US" sz="1000" b="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a:t>
                      </a: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97">
                <a:tc>
                  <a:txBody>
                    <a:bodyPr/>
                    <a:lstStyle/>
                    <a:p>
                      <a:pPr marL="254000" marR="61595" indent="-254000" algn="l" latinLnBrk="0">
                        <a:lnSpc>
                          <a:spcPts val="1600"/>
                        </a:lnSpc>
                        <a:buNone/>
                      </a:pPr>
                      <a:r>
                        <a:rPr lang="en-US"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a:t>
                      </a:r>
                      <a:endParaRPr 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17</a:t>
                      </a: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1,024억원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1,130억원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1,227억원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278억원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fontAlgn="ctr">
                        <a:buNone/>
                      </a:pPr>
                      <a:r>
                        <a:rPr lang="ko-KR" sz="1000" b="0" i="0" u="none" strike="noStrike" dirty="0">
                          <a:solidFill>
                            <a:srgbClr val="646464"/>
                          </a:solidFill>
                          <a:effectLst/>
                          <a:latin typeface="Arial" panose="020B0604020202020204" pitchFamily="34" charset="0"/>
                          <a:ea typeface="맑은 고딕" panose="020B0503020000020004" pitchFamily="50" charset="-127"/>
                        </a:rPr>
                        <a:t>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73421764"/>
                  </a:ext>
                </a:extLst>
              </a:tr>
              <a:tr h="169397">
                <a:tc>
                  <a:txBody>
                    <a:bodyPr/>
                    <a:lstStyle/>
                    <a:p>
                      <a:pPr marL="254000" marR="61595" indent="-254000" algn="l" latinLnBrk="0">
                        <a:lnSpc>
                          <a:spcPts val="1600"/>
                        </a:lnSpc>
                        <a:buNone/>
                      </a:pPr>
                      <a:r>
                        <a:rPr lang="en-US"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a:t>
                      </a: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a:t>
                      </a:r>
                      <a:endParaRPr 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a:t>
                      </a: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227억원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250억원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254억원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fontAlgn="ctr">
                        <a:buNone/>
                      </a:pPr>
                      <a:r>
                        <a:rPr lang="ko-KR" sz="1000" b="0" i="0" u="none" strike="noStrike">
                          <a:solidFill>
                            <a:srgbClr val="646464"/>
                          </a:solidFill>
                          <a:effectLst/>
                          <a:latin typeface="Arial" panose="020B0604020202020204" pitchFamily="34" charset="0"/>
                          <a:ea typeface="맑은 고딕" panose="020B0503020000020004" pitchFamily="50" charset="-127"/>
                        </a:rPr>
                        <a:t>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98513852"/>
                  </a:ext>
                </a:extLst>
              </a:tr>
              <a:tr h="169397">
                <a:tc>
                  <a:txBody>
                    <a:bodyPr/>
                    <a:lstStyle/>
                    <a:p>
                      <a:pPr marL="254000" marR="61595" indent="-254000" algn="l" latinLnBrk="0">
                        <a:lnSpc>
                          <a:spcPts val="1600"/>
                        </a:lnSpc>
                        <a:buNone/>
                      </a:pPr>
                      <a:r>
                        <a:rPr lang="en-US"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a:t>
                      </a:r>
                      <a:endParaRPr 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a:t>
                      </a: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275억원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304억원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326억원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rPr>
                        <a:t>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78755670"/>
                  </a:ext>
                </a:extLst>
              </a:tr>
              <a:tr h="169397">
                <a:tc>
                  <a:txBody>
                    <a:bodyPr/>
                    <a:lstStyle/>
                    <a:p>
                      <a:pPr marL="254000" marR="61595" indent="-254000" algn="l" latinLnBrk="0">
                        <a:lnSpc>
                          <a:spcPts val="1600"/>
                        </a:lnSpc>
                        <a:buNone/>
                      </a:pPr>
                      <a:r>
                        <a:rPr lang="en-US"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a:t>
                      </a:r>
                      <a:endParaRPr 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a:t>
                      </a: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437억원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481억원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579억원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107억원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fontAlgn="ctr">
                        <a:buNone/>
                      </a:pPr>
                      <a:r>
                        <a:rPr lang="ko-KR" sz="1000" b="0" i="0" u="none" strike="noStrike">
                          <a:solidFill>
                            <a:srgbClr val="646464"/>
                          </a:solidFill>
                          <a:effectLst/>
                          <a:latin typeface="Arial" panose="020B0604020202020204" pitchFamily="34" charset="0"/>
                          <a:ea typeface="맑은 고딕" panose="020B0503020000020004" pitchFamily="50" charset="-127"/>
                        </a:rPr>
                        <a:t>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1309678"/>
                  </a:ext>
                </a:extLst>
              </a:tr>
              <a:tr h="169397">
                <a:tc>
                  <a:txBody>
                    <a:bodyPr/>
                    <a:lstStyle/>
                    <a:p>
                      <a:pPr marL="254000" marR="61595" indent="-254000" algn="l" latinLnBrk="0">
                        <a:lnSpc>
                          <a:spcPts val="1600"/>
                        </a:lnSpc>
                        <a:buNone/>
                      </a:pPr>
                      <a:r>
                        <a:rPr lang="en-US"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a:t>
                      </a:r>
                      <a:endParaRPr 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a:t>
                      </a: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246억원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298억원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314억원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87억원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fontAlgn="ctr">
                        <a:buNone/>
                      </a:pPr>
                      <a:r>
                        <a:rPr lang="ko-KR" sz="1000" b="0" i="0" u="none" strike="noStrike">
                          <a:solidFill>
                            <a:srgbClr val="646464"/>
                          </a:solidFill>
                          <a:effectLst/>
                          <a:latin typeface="Arial" panose="020B0604020202020204" pitchFamily="34" charset="0"/>
                          <a:ea typeface="맑은 고딕" panose="020B0503020000020004" pitchFamily="50" charset="-127"/>
                        </a:rPr>
                        <a:t>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876725"/>
                  </a:ext>
                </a:extLst>
              </a:tr>
              <a:tr h="169397">
                <a:tc>
                  <a:txBody>
                    <a:bodyPr/>
                    <a:lstStyle/>
                    <a:p>
                      <a:pPr marL="254000" marR="61595" indent="-254000" algn="l" latinLnBrk="0">
                        <a:lnSpc>
                          <a:spcPts val="1600"/>
                        </a:lnSpc>
                        <a:buNone/>
                      </a:pPr>
                      <a:r>
                        <a:rPr lang="en-US"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a:t>
                      </a: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a:t>
                      </a:r>
                      <a:endParaRPr 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a:t>
                      </a: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550억원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734억원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fontAlgn="ctr">
                        <a:buNone/>
                      </a:pPr>
                      <a:r>
                        <a:rPr lang="ko-KR" sz="1000" b="0" i="0" u="none" strike="noStrike" dirty="0">
                          <a:solidFill>
                            <a:srgbClr val="646464"/>
                          </a:solidFill>
                          <a:effectLst/>
                          <a:latin typeface="Arial" panose="020B0604020202020204" pitchFamily="34" charset="0"/>
                          <a:ea typeface="맑은 고딕" panose="020B0503020000020004" pitchFamily="50" charset="-127"/>
                        </a:rPr>
                        <a:t>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39548024"/>
                  </a:ext>
                </a:extLst>
              </a:tr>
              <a:tr h="169397">
                <a:tc>
                  <a:txBody>
                    <a:bodyPr/>
                    <a:lstStyle/>
                    <a:p>
                      <a:pPr marL="254000" marR="61595" indent="-254000" algn="l" latinLnBrk="0">
                        <a:lnSpc>
                          <a:spcPts val="1600"/>
                        </a:lnSpc>
                        <a:buNone/>
                      </a:pPr>
                      <a:r>
                        <a:rPr lang="ko-KR" altLang="en-US" sz="1000" kern="10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 계</a:t>
                      </a:r>
                      <a:endParaRPr lang="ko-KR" sz="1000" kern="10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rPr>
                        <a:t>49</a:t>
                      </a: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rPr>
                        <a:t>2,759억원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rPr>
                        <a:t>3,197억원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rPr>
                        <a:t>3,292억원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777억원</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51182561"/>
                  </a:ext>
                </a:extLst>
              </a:tr>
              <a:tr h="169397">
                <a:tc>
                  <a:txBody>
                    <a:bodyPr/>
                    <a:lstStyle/>
                    <a:p>
                      <a:pPr marL="254000" marR="61595" lvl="0" indent="-254000" algn="l" defTabSz="1007943" rtl="0" eaLnBrk="1" fontAlgn="auto" latinLnBrk="0" hangingPunct="1">
                        <a:lnSpc>
                          <a:spcPts val="1600"/>
                        </a:lnSpc>
                        <a:spcBef>
                          <a:spcPts val="0"/>
                        </a:spcBef>
                        <a:spcAft>
                          <a:spcPts val="0"/>
                        </a:spcAft>
                        <a:buClrTx/>
                        <a:buSzTx/>
                        <a:buFontTx/>
                        <a:buNone/>
                        <a:tabLst/>
                        <a:defRPr/>
                      </a:pPr>
                      <a:r>
                        <a:rPr lang="en-US"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a:t>
                      </a: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a:t>
                      </a:r>
                      <a:r>
                        <a:rPr lang="en-US"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 </a:t>
                      </a:r>
                      <a:endParaRPr lang="ko-KR"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952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 </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 시</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14370672"/>
                  </a:ext>
                </a:extLst>
              </a:tr>
              <a:tr h="169397">
                <a:tc>
                  <a:txBody>
                    <a:bodyPr/>
                    <a:lstStyle/>
                    <a:p>
                      <a:pPr marL="254000" marR="61595" lvl="0" indent="-254000" algn="l" defTabSz="1007943" rtl="0" eaLnBrk="1" fontAlgn="auto" latinLnBrk="0" hangingPunct="1">
                        <a:lnSpc>
                          <a:spcPts val="1600"/>
                        </a:lnSpc>
                        <a:spcBef>
                          <a:spcPts val="0"/>
                        </a:spcBef>
                        <a:spcAft>
                          <a:spcPts val="0"/>
                        </a:spcAft>
                        <a:buClrTx/>
                        <a:buSzTx/>
                        <a:buFontTx/>
                        <a:buNone/>
                        <a:tabLst/>
                        <a:defRPr/>
                      </a:pPr>
                      <a:r>
                        <a:rPr lang="ko-KR" altLang="en-US"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매각요청 자산</a:t>
                      </a:r>
                      <a:endParaRPr lang="ko-KR" altLang="ko-KR" sz="1000" kern="1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42</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1143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lang="ko-KR"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2,645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r" rtl="0" fontAlgn="ctr">
                        <a:buNone/>
                      </a:pP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66350424"/>
                  </a:ext>
                </a:extLst>
              </a:tr>
            </a:tbl>
          </a:graphicData>
        </a:graphic>
      </p:graphicFrame>
      <p:sp>
        <p:nvSpPr>
          <p:cNvPr id="25" name="TextBox 24">
            <a:extLst>
              <a:ext uri="{FF2B5EF4-FFF2-40B4-BE49-F238E27FC236}">
                <a16:creationId xmlns:a16="http://schemas.microsoft.com/office/drawing/2014/main" id="{9446D086-6714-AA6A-DAEC-1E0909AC181C}"/>
              </a:ext>
            </a:extLst>
          </p:cNvPr>
          <p:cNvSpPr txBox="1"/>
          <p:nvPr/>
        </p:nvSpPr>
        <p:spPr>
          <a:xfrm>
            <a:off x="283368"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ko-KR" altLang="en-US" sz="1600" dirty="0">
                <a:solidFill>
                  <a:prstClr val="black"/>
                </a:solidFill>
              </a:rPr>
              <a:t>본 건 투자자금 중 약 </a:t>
            </a:r>
            <a:r>
              <a:rPr lang="en-US" altLang="ko-KR" sz="1600" dirty="0">
                <a:solidFill>
                  <a:prstClr val="black"/>
                </a:solidFill>
              </a:rPr>
              <a:t>578</a:t>
            </a:r>
            <a:r>
              <a:rPr lang="ko-KR" altLang="en-US" sz="1600" dirty="0">
                <a:solidFill>
                  <a:prstClr val="black"/>
                </a:solidFill>
              </a:rPr>
              <a:t>억원은 보유 투자지분</a:t>
            </a:r>
            <a:r>
              <a:rPr lang="en-US" altLang="ko-KR" sz="1600" dirty="0">
                <a:solidFill>
                  <a:prstClr val="black"/>
                </a:solidFill>
              </a:rPr>
              <a:t>(DF</a:t>
            </a:r>
            <a:r>
              <a:rPr lang="ko-KR" altLang="en-US" sz="1600" dirty="0">
                <a:solidFill>
                  <a:prstClr val="black"/>
                </a:solidFill>
              </a:rPr>
              <a:t>타워 우선주</a:t>
            </a:r>
            <a:r>
              <a:rPr lang="en-US" altLang="ko-KR" sz="1600" dirty="0">
                <a:solidFill>
                  <a:prstClr val="black"/>
                </a:solidFill>
              </a:rPr>
              <a:t>)</a:t>
            </a:r>
            <a:r>
              <a:rPr lang="ko-KR" altLang="en-US" sz="1600" dirty="0">
                <a:solidFill>
                  <a:prstClr val="black"/>
                </a:solidFill>
              </a:rPr>
              <a:t>에 대한 원본회수 및 주유소 매각 원본으로 조달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코람코더원강남제</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호리츠의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사업계획 만료</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우선주 약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억원에 대해 회수</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요청된 주유소 자산 중 원본 약 </a:t>
            </a:r>
            <a:r>
              <a:rPr lang="en-US" altLang="ko-KR"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회수로 조달  </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 name="그룹 2">
            <a:extLst>
              <a:ext uri="{FF2B5EF4-FFF2-40B4-BE49-F238E27FC236}">
                <a16:creationId xmlns:a16="http://schemas.microsoft.com/office/drawing/2014/main" id="{D8DCF405-B8F1-0988-0FB5-43C46E58EBE9}"/>
              </a:ext>
            </a:extLst>
          </p:cNvPr>
          <p:cNvGrpSpPr/>
          <p:nvPr/>
        </p:nvGrpSpPr>
        <p:grpSpPr>
          <a:xfrm>
            <a:off x="458887" y="1987916"/>
            <a:ext cx="9783663" cy="247712"/>
            <a:chOff x="458887" y="1987916"/>
            <a:chExt cx="9783663" cy="247712"/>
          </a:xfrm>
        </p:grpSpPr>
        <p:sp>
          <p:nvSpPr>
            <p:cNvPr id="5" name="직사각형 4">
              <a:extLst>
                <a:ext uri="{FF2B5EF4-FFF2-40B4-BE49-F238E27FC236}">
                  <a16:creationId xmlns:a16="http://schemas.microsoft.com/office/drawing/2014/main" id="{06D4D147-A49A-2B59-321C-489887ADDD23}"/>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D5F9174-70E9-B456-E6AC-E77828E641B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159">
              <a:extLst>
                <a:ext uri="{FF2B5EF4-FFF2-40B4-BE49-F238E27FC236}">
                  <a16:creationId xmlns:a16="http://schemas.microsoft.com/office/drawing/2014/main" id="{69E44512-F1A1-9EA6-B4B3-ACBDACE09A64}"/>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160">
              <a:extLst>
                <a:ext uri="{FF2B5EF4-FFF2-40B4-BE49-F238E27FC236}">
                  <a16:creationId xmlns:a16="http://schemas.microsoft.com/office/drawing/2014/main" id="{564429AC-4941-5659-F7A2-069366DB9EA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7240FE8-C1CC-3501-4102-FE9C5C0862F7}"/>
                </a:ext>
              </a:extLst>
            </p:cNvPr>
            <p:cNvSpPr txBox="1"/>
            <p:nvPr/>
          </p:nvSpPr>
          <p:spPr>
            <a:xfrm>
              <a:off x="458887" y="2034828"/>
              <a:ext cx="1717927"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TextBox 3">
            <a:extLst>
              <a:ext uri="{FF2B5EF4-FFF2-40B4-BE49-F238E27FC236}">
                <a16:creationId xmlns:a16="http://schemas.microsoft.com/office/drawing/2014/main" id="{E9457F5A-5564-2515-192B-D7058921E54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표 13">
            <a:extLst>
              <a:ext uri="{FF2B5EF4-FFF2-40B4-BE49-F238E27FC236}">
                <a16:creationId xmlns:a16="http://schemas.microsoft.com/office/drawing/2014/main" id="{BB7C945E-AB23-C8E7-9AD7-5AA488C09687}"/>
              </a:ext>
            </a:extLst>
          </p:cNvPr>
          <p:cNvGraphicFramePr>
            <a:graphicFrameLocks noGrp="1"/>
          </p:cNvGraphicFramePr>
          <p:nvPr>
            <p:extLst>
              <p:ext uri="{D42A27DB-BD31-4B8C-83A1-F6EECF244321}">
                <p14:modId xmlns:p14="http://schemas.microsoft.com/office/powerpoint/2010/main" val="3281534993"/>
              </p:ext>
            </p:extLst>
          </p:nvPr>
        </p:nvGraphicFramePr>
        <p:xfrm>
          <a:off x="458887" y="5804437"/>
          <a:ext cx="9749172" cy="819716"/>
        </p:xfrm>
        <a:graphic>
          <a:graphicData uri="http://schemas.openxmlformats.org/drawingml/2006/table">
            <a:tbl>
              <a:tblPr>
                <a:tableStyleId>{5C22544A-7EE6-4342-B048-85BDC9FD1C3A}</a:tableStyleId>
              </a:tblPr>
              <a:tblGrid>
                <a:gridCol w="1600297">
                  <a:extLst>
                    <a:ext uri="{9D8B030D-6E8A-4147-A177-3AD203B41FA5}">
                      <a16:colId xmlns:a16="http://schemas.microsoft.com/office/drawing/2014/main" val="3529049996"/>
                    </a:ext>
                  </a:extLst>
                </a:gridCol>
                <a:gridCol w="929495">
                  <a:extLst>
                    <a:ext uri="{9D8B030D-6E8A-4147-A177-3AD203B41FA5}">
                      <a16:colId xmlns:a16="http://schemas.microsoft.com/office/drawing/2014/main" val="2351432306"/>
                    </a:ext>
                  </a:extLst>
                </a:gridCol>
                <a:gridCol w="794132">
                  <a:extLst>
                    <a:ext uri="{9D8B030D-6E8A-4147-A177-3AD203B41FA5}">
                      <a16:colId xmlns:a16="http://schemas.microsoft.com/office/drawing/2014/main" val="2878194831"/>
                    </a:ext>
                  </a:extLst>
                </a:gridCol>
                <a:gridCol w="794132">
                  <a:extLst>
                    <a:ext uri="{9D8B030D-6E8A-4147-A177-3AD203B41FA5}">
                      <a16:colId xmlns:a16="http://schemas.microsoft.com/office/drawing/2014/main" val="1049825522"/>
                    </a:ext>
                  </a:extLst>
                </a:gridCol>
                <a:gridCol w="794132">
                  <a:extLst>
                    <a:ext uri="{9D8B030D-6E8A-4147-A177-3AD203B41FA5}">
                      <a16:colId xmlns:a16="http://schemas.microsoft.com/office/drawing/2014/main" val="1841492734"/>
                    </a:ext>
                  </a:extLst>
                </a:gridCol>
                <a:gridCol w="794132">
                  <a:extLst>
                    <a:ext uri="{9D8B030D-6E8A-4147-A177-3AD203B41FA5}">
                      <a16:colId xmlns:a16="http://schemas.microsoft.com/office/drawing/2014/main" val="1609912402"/>
                    </a:ext>
                  </a:extLst>
                </a:gridCol>
                <a:gridCol w="794132">
                  <a:extLst>
                    <a:ext uri="{9D8B030D-6E8A-4147-A177-3AD203B41FA5}">
                      <a16:colId xmlns:a16="http://schemas.microsoft.com/office/drawing/2014/main" val="1838646714"/>
                    </a:ext>
                  </a:extLst>
                </a:gridCol>
                <a:gridCol w="649744">
                  <a:extLst>
                    <a:ext uri="{9D8B030D-6E8A-4147-A177-3AD203B41FA5}">
                      <a16:colId xmlns:a16="http://schemas.microsoft.com/office/drawing/2014/main" val="1720080032"/>
                    </a:ext>
                  </a:extLst>
                </a:gridCol>
                <a:gridCol w="649744">
                  <a:extLst>
                    <a:ext uri="{9D8B030D-6E8A-4147-A177-3AD203B41FA5}">
                      <a16:colId xmlns:a16="http://schemas.microsoft.com/office/drawing/2014/main" val="1690139599"/>
                    </a:ext>
                  </a:extLst>
                </a:gridCol>
                <a:gridCol w="649744">
                  <a:extLst>
                    <a:ext uri="{9D8B030D-6E8A-4147-A177-3AD203B41FA5}">
                      <a16:colId xmlns:a16="http://schemas.microsoft.com/office/drawing/2014/main" val="2601004436"/>
                    </a:ext>
                  </a:extLst>
                </a:gridCol>
                <a:gridCol w="649744">
                  <a:extLst>
                    <a:ext uri="{9D8B030D-6E8A-4147-A177-3AD203B41FA5}">
                      <a16:colId xmlns:a16="http://schemas.microsoft.com/office/drawing/2014/main" val="2400228930"/>
                    </a:ext>
                  </a:extLst>
                </a:gridCol>
                <a:gridCol w="649744">
                  <a:extLst>
                    <a:ext uri="{9D8B030D-6E8A-4147-A177-3AD203B41FA5}">
                      <a16:colId xmlns:a16="http://schemas.microsoft.com/office/drawing/2014/main" val="4260174469"/>
                    </a:ext>
                  </a:extLst>
                </a:gridCol>
              </a:tblGrid>
              <a:tr h="204929">
                <a:tc>
                  <a:txBody>
                    <a:bodyPr/>
                    <a:lstStyle/>
                    <a:p>
                      <a:pPr algn="ctr" fontAlgn="ctr">
                        <a:buNone/>
                      </a:pPr>
                      <a:r>
                        <a:rPr lang="ko-KR" altLang="en-US" sz="900" u="none" strike="noStrike" dirty="0">
                          <a:effectLst/>
                        </a:rPr>
                        <a:t>매각 </a:t>
                      </a:r>
                      <a:r>
                        <a:rPr lang="ko-KR" altLang="en-US" sz="900" u="none" strike="noStrike" dirty="0" err="1">
                          <a:effectLst/>
                        </a:rPr>
                        <a:t>달성률</a:t>
                      </a:r>
                      <a:endParaRPr lang="ko-KR" sz="9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36%</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dirty="0">
                          <a:effectLst/>
                        </a:rPr>
                        <a:t>10%</a:t>
                      </a:r>
                      <a:endParaRPr lang="ko-KR" sz="9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20%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30%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40%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50%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60%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70%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80%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90%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ctr" fontAlgn="ctr">
                        <a:buNone/>
                      </a:pPr>
                      <a:r>
                        <a:rPr lang="ko-KR" sz="900" u="none" strike="noStrike">
                          <a:effectLst/>
                        </a:rPr>
                        <a:t>100%</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extLst>
                  <a:ext uri="{0D108BD9-81ED-4DB2-BD59-A6C34878D82A}">
                    <a16:rowId xmlns:a16="http://schemas.microsoft.com/office/drawing/2014/main" val="1104098933"/>
                  </a:ext>
                </a:extLst>
              </a:tr>
              <a:tr h="204929">
                <a:tc>
                  <a:txBody>
                    <a:bodyPr/>
                    <a:lstStyle/>
                    <a:p>
                      <a:pPr algn="ctr" fontAlgn="ctr">
                        <a:buNone/>
                      </a:pPr>
                      <a:r>
                        <a:rPr lang="ko-KR" sz="900" u="none" strike="noStrike">
                          <a:effectLst/>
                        </a:rPr>
                        <a:t>DF타워 우선주 원본</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373억원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dirty="0">
                          <a:effectLst/>
                        </a:rPr>
                        <a:t>373억원</a:t>
                      </a:r>
                      <a:endParaRPr lang="ko-KR" sz="9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extLst>
                  <a:ext uri="{0D108BD9-81ED-4DB2-BD59-A6C34878D82A}">
                    <a16:rowId xmlns:a16="http://schemas.microsoft.com/office/drawing/2014/main" val="1231175609"/>
                  </a:ext>
                </a:extLst>
              </a:tr>
              <a:tr h="204929">
                <a:tc>
                  <a:txBody>
                    <a:bodyPr/>
                    <a:lstStyle/>
                    <a:p>
                      <a:pPr algn="ctr" fontAlgn="ctr">
                        <a:buNone/>
                      </a:pPr>
                      <a:r>
                        <a:rPr lang="ko-KR" sz="900" u="none" strike="noStrike">
                          <a:effectLst/>
                        </a:rPr>
                        <a:t>주유소 회수 원본</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205억원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56억원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113억원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169억원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dirty="0">
                          <a:effectLst/>
                        </a:rPr>
                        <a:t>226억원</a:t>
                      </a:r>
                      <a:endParaRPr lang="ko-KR" sz="9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282억원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339억원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395억원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451억원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508억원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564억원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extLst>
                  <a:ext uri="{0D108BD9-81ED-4DB2-BD59-A6C34878D82A}">
                    <a16:rowId xmlns:a16="http://schemas.microsoft.com/office/drawing/2014/main" val="1546236798"/>
                  </a:ext>
                </a:extLst>
              </a:tr>
              <a:tr h="204929">
                <a:tc>
                  <a:txBody>
                    <a:bodyPr/>
                    <a:lstStyle/>
                    <a:p>
                      <a:pPr algn="ctr" fontAlgn="ctr">
                        <a:buNone/>
                      </a:pPr>
                      <a:r>
                        <a:rPr lang="ko-KR" sz="900" u="none" strike="noStrike">
                          <a:effectLst/>
                        </a:rPr>
                        <a:t>재투자 재원(합계)</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578억원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429억원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486억원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542억원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599억원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655억원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712억원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768억원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824억원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a:effectLst/>
                        </a:rPr>
                        <a:t>881억원</a:t>
                      </a:r>
                      <a:endParaRPr lang="ko-KR" sz="9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tc>
                  <a:txBody>
                    <a:bodyPr/>
                    <a:lstStyle/>
                    <a:p>
                      <a:pPr algn="r" fontAlgn="ctr">
                        <a:buNone/>
                      </a:pPr>
                      <a:r>
                        <a:rPr lang="ko-KR" sz="900" u="none" strike="noStrike" dirty="0">
                          <a:effectLst/>
                        </a:rPr>
                        <a:t>937억원</a:t>
                      </a:r>
                      <a:endParaRPr lang="ko-KR" sz="9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tc>
                <a:extLst>
                  <a:ext uri="{0D108BD9-81ED-4DB2-BD59-A6C34878D82A}">
                    <a16:rowId xmlns:a16="http://schemas.microsoft.com/office/drawing/2014/main" val="4078480158"/>
                  </a:ext>
                </a:extLst>
              </a:tr>
            </a:tbl>
          </a:graphicData>
        </a:graphic>
      </p:graphicFrame>
      <p:graphicFrame>
        <p:nvGraphicFramePr>
          <p:cNvPr id="16" name="표 15">
            <a:extLst>
              <a:ext uri="{FF2B5EF4-FFF2-40B4-BE49-F238E27FC236}">
                <a16:creationId xmlns:a16="http://schemas.microsoft.com/office/drawing/2014/main" id="{C1524171-667C-F12C-D5D4-DBD5F17275A1}"/>
              </a:ext>
            </a:extLst>
          </p:cNvPr>
          <p:cNvGraphicFramePr>
            <a:graphicFrameLocks noGrp="1"/>
          </p:cNvGraphicFramePr>
          <p:nvPr>
            <p:extLst>
              <p:ext uri="{D42A27DB-BD31-4B8C-83A1-F6EECF244321}">
                <p14:modId xmlns:p14="http://schemas.microsoft.com/office/powerpoint/2010/main" val="3859059987"/>
              </p:ext>
            </p:extLst>
          </p:nvPr>
        </p:nvGraphicFramePr>
        <p:xfrm>
          <a:off x="487841" y="2450932"/>
          <a:ext cx="2806869" cy="2873114"/>
        </p:xfrm>
        <a:graphic>
          <a:graphicData uri="http://schemas.openxmlformats.org/drawingml/2006/table">
            <a:tbl>
              <a:tblPr>
                <a:tableStyleId>{5C22544A-7EE6-4342-B048-85BDC9FD1C3A}</a:tableStyleId>
              </a:tblPr>
              <a:tblGrid>
                <a:gridCol w="971804">
                  <a:extLst>
                    <a:ext uri="{9D8B030D-6E8A-4147-A177-3AD203B41FA5}">
                      <a16:colId xmlns:a16="http://schemas.microsoft.com/office/drawing/2014/main" val="3917235798"/>
                    </a:ext>
                  </a:extLst>
                </a:gridCol>
                <a:gridCol w="1835065">
                  <a:extLst>
                    <a:ext uri="{9D8B030D-6E8A-4147-A177-3AD203B41FA5}">
                      <a16:colId xmlns:a16="http://schemas.microsoft.com/office/drawing/2014/main" val="3969814081"/>
                    </a:ext>
                  </a:extLst>
                </a:gridCol>
              </a:tblGrid>
              <a:tr h="400810">
                <a:tc>
                  <a:txBody>
                    <a:bodyPr/>
                    <a:lstStyle/>
                    <a:p>
                      <a:pPr algn="ctr" latinLnBrk="1">
                        <a:lnSpc>
                          <a:spcPct val="116000"/>
                        </a:lnSpc>
                        <a:buNone/>
                      </a:pPr>
                      <a:r>
                        <a:rPr lang="ko-KR" sz="900" kern="100">
                          <a:effectLst/>
                        </a:rPr>
                        <a:t>구분</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ko-KR" sz="900" kern="100">
                          <a:effectLst/>
                        </a:rPr>
                        <a:t>코람코더원강남</a:t>
                      </a:r>
                      <a:r>
                        <a:rPr lang="en-US" sz="900" kern="100">
                          <a:effectLst/>
                        </a:rPr>
                        <a:t>1</a:t>
                      </a:r>
                      <a:r>
                        <a:rPr lang="ko-KR" sz="900" kern="100">
                          <a:effectLst/>
                        </a:rPr>
                        <a:t>호 우선주</a:t>
                      </a:r>
                      <a:endParaRPr lang="ko-KR" sz="1000" kern="100">
                        <a:effectLst/>
                      </a:endParaRPr>
                    </a:p>
                    <a:p>
                      <a:pPr algn="ctr" latinLnBrk="1">
                        <a:buNone/>
                      </a:pPr>
                      <a:r>
                        <a:rPr lang="en-US" sz="900" kern="100">
                          <a:effectLst/>
                        </a:rPr>
                        <a:t>(DF</a:t>
                      </a:r>
                      <a:r>
                        <a:rPr lang="ko-KR" sz="900" kern="100">
                          <a:effectLst/>
                        </a:rPr>
                        <a:t>타워</a:t>
                      </a:r>
                      <a:r>
                        <a:rPr lang="en-US" sz="900" kern="100">
                          <a:effectLst/>
                        </a:rPr>
                        <a:t>)</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2421743362"/>
                  </a:ext>
                </a:extLst>
              </a:tr>
              <a:tr h="1223626">
                <a:tc>
                  <a:txBody>
                    <a:bodyPr/>
                    <a:lstStyle/>
                    <a:p>
                      <a:pPr algn="ctr" latinLnBrk="1">
                        <a:buNone/>
                      </a:pPr>
                      <a:r>
                        <a:rPr lang="ko-KR" sz="900" kern="100">
                          <a:effectLst/>
                        </a:rPr>
                        <a:t>사진</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just">
                        <a:buNone/>
                      </a:pPr>
                      <a:endParaRPr lang="ko-KR" sz="1000" kern="100">
                        <a:effectLst/>
                        <a:latin typeface="맑은 고딕" panose="020B0503020000020004" pitchFamily="50" charset="-127"/>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2361888091"/>
                  </a:ext>
                </a:extLst>
              </a:tr>
              <a:tr h="138742">
                <a:tc>
                  <a:txBody>
                    <a:bodyPr/>
                    <a:lstStyle/>
                    <a:p>
                      <a:pPr algn="ctr" latinLnBrk="1">
                        <a:buNone/>
                      </a:pPr>
                      <a:r>
                        <a:rPr lang="ko-KR" sz="900" kern="100">
                          <a:effectLst/>
                        </a:rPr>
                        <a:t>소재지</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ko-KR" sz="900" kern="100">
                          <a:effectLst/>
                        </a:rPr>
                        <a:t>서초구 강남대로</a:t>
                      </a:r>
                      <a:r>
                        <a:rPr lang="en-US" sz="900" kern="100">
                          <a:effectLst/>
                        </a:rPr>
                        <a:t> 369</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806366030"/>
                  </a:ext>
                </a:extLst>
              </a:tr>
              <a:tr h="138742">
                <a:tc>
                  <a:txBody>
                    <a:bodyPr/>
                    <a:lstStyle/>
                    <a:p>
                      <a:pPr algn="ctr" latinLnBrk="1">
                        <a:buNone/>
                      </a:pPr>
                      <a:r>
                        <a:rPr lang="ko-KR" sz="900" kern="100">
                          <a:effectLst/>
                        </a:rPr>
                        <a:t>대지면적</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en-US" sz="900" kern="100">
                          <a:effectLst/>
                        </a:rPr>
                        <a:t>1,777.40</a:t>
                      </a:r>
                      <a:r>
                        <a:rPr lang="ko-KR" sz="900" kern="100">
                          <a:effectLst/>
                        </a:rPr>
                        <a:t>㎡</a:t>
                      </a:r>
                      <a:r>
                        <a:rPr lang="en-US" sz="900" kern="100">
                          <a:effectLst/>
                        </a:rPr>
                        <a:t>(538</a:t>
                      </a:r>
                      <a:r>
                        <a:rPr lang="ko-KR" sz="900" kern="100">
                          <a:effectLst/>
                        </a:rPr>
                        <a:t>평</a:t>
                      </a:r>
                      <a:r>
                        <a:rPr lang="en-US" sz="900" kern="100">
                          <a:effectLst/>
                        </a:rPr>
                        <a:t>)</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2800812181"/>
                  </a:ext>
                </a:extLst>
              </a:tr>
              <a:tr h="138742">
                <a:tc>
                  <a:txBody>
                    <a:bodyPr/>
                    <a:lstStyle/>
                    <a:p>
                      <a:pPr algn="ctr" latinLnBrk="1">
                        <a:buNone/>
                      </a:pPr>
                      <a:r>
                        <a:rPr lang="ko-KR" sz="900" kern="100">
                          <a:effectLst/>
                        </a:rPr>
                        <a:t>연면적</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en-US" sz="900" kern="100">
                          <a:effectLst/>
                        </a:rPr>
                        <a:t>29,916.06</a:t>
                      </a:r>
                      <a:r>
                        <a:rPr lang="ko-KR" sz="900" kern="100">
                          <a:effectLst/>
                        </a:rPr>
                        <a:t>㎡</a:t>
                      </a:r>
                      <a:r>
                        <a:rPr lang="en-US" sz="900" kern="100">
                          <a:effectLst/>
                        </a:rPr>
                        <a:t>(9,050</a:t>
                      </a:r>
                      <a:r>
                        <a:rPr lang="ko-KR" sz="900" kern="100">
                          <a:effectLst/>
                        </a:rPr>
                        <a:t>평</a:t>
                      </a:r>
                      <a:r>
                        <a:rPr lang="en-US" sz="900" kern="100">
                          <a:effectLst/>
                        </a:rPr>
                        <a:t>)</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3519960407"/>
                  </a:ext>
                </a:extLst>
              </a:tr>
              <a:tr h="138742">
                <a:tc>
                  <a:txBody>
                    <a:bodyPr/>
                    <a:lstStyle/>
                    <a:p>
                      <a:pPr algn="ctr" latinLnBrk="1">
                        <a:buNone/>
                      </a:pPr>
                      <a:r>
                        <a:rPr lang="ko-KR" sz="900" kern="100">
                          <a:effectLst/>
                        </a:rPr>
                        <a:t>주요 임차인</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ko-KR" sz="900" kern="100">
                          <a:effectLst/>
                        </a:rPr>
                        <a:t>두나무</a:t>
                      </a:r>
                      <a:r>
                        <a:rPr lang="en-US" sz="900" kern="100">
                          <a:effectLst/>
                        </a:rPr>
                        <a:t>(89%)</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2949403113"/>
                  </a:ext>
                </a:extLst>
              </a:tr>
              <a:tr h="138742">
                <a:tc>
                  <a:txBody>
                    <a:bodyPr/>
                    <a:lstStyle/>
                    <a:p>
                      <a:pPr algn="ctr" latinLnBrk="1">
                        <a:buNone/>
                      </a:pPr>
                      <a:r>
                        <a:rPr lang="en-US" sz="900" kern="100">
                          <a:effectLst/>
                        </a:rPr>
                        <a:t>WALE</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en-US" sz="900" kern="100">
                          <a:effectLst/>
                        </a:rPr>
                        <a:t>3.5</a:t>
                      </a:r>
                      <a:r>
                        <a:rPr lang="ko-KR" sz="900" kern="100">
                          <a:effectLst/>
                        </a:rPr>
                        <a:t>년</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185031305"/>
                  </a:ext>
                </a:extLst>
              </a:tr>
              <a:tr h="138742">
                <a:tc>
                  <a:txBody>
                    <a:bodyPr/>
                    <a:lstStyle/>
                    <a:p>
                      <a:pPr algn="ctr" latinLnBrk="1">
                        <a:buNone/>
                      </a:pPr>
                      <a:r>
                        <a:rPr lang="ko-KR" sz="900" kern="100">
                          <a:effectLst/>
                        </a:rPr>
                        <a:t>공실률</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en-US" sz="900" kern="100">
                          <a:effectLst/>
                        </a:rPr>
                        <a:t>0%</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396372306"/>
                  </a:ext>
                </a:extLst>
              </a:tr>
              <a:tr h="138742">
                <a:tc>
                  <a:txBody>
                    <a:bodyPr/>
                    <a:lstStyle/>
                    <a:p>
                      <a:pPr algn="ctr" latinLnBrk="1">
                        <a:buNone/>
                      </a:pPr>
                      <a:r>
                        <a:rPr lang="ko-KR" sz="900" b="1" kern="100" dirty="0">
                          <a:effectLst/>
                        </a:rPr>
                        <a:t>만기</a:t>
                      </a:r>
                      <a:endParaRPr lang="ko-KR" sz="1000" b="1" kern="100" dirty="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en-US" sz="900" b="1" kern="100" dirty="0">
                          <a:effectLst/>
                        </a:rPr>
                        <a:t>’27.05</a:t>
                      </a:r>
                      <a:endParaRPr lang="ko-KR" sz="1000" b="1" kern="100" dirty="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4088463193"/>
                  </a:ext>
                </a:extLst>
              </a:tr>
              <a:tr h="138742">
                <a:tc>
                  <a:txBody>
                    <a:bodyPr/>
                    <a:lstStyle/>
                    <a:p>
                      <a:pPr algn="ctr" latinLnBrk="1">
                        <a:buNone/>
                      </a:pPr>
                      <a:r>
                        <a:rPr lang="ko-KR" sz="900" kern="100">
                          <a:effectLst/>
                        </a:rPr>
                        <a:t>투자금액</a:t>
                      </a:r>
                      <a:endParaRPr lang="ko-KR" sz="1000" kern="10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en-US" sz="900" kern="100" dirty="0">
                          <a:effectLst/>
                        </a:rPr>
                        <a:t>373</a:t>
                      </a:r>
                      <a:r>
                        <a:rPr lang="ko-KR" sz="900" kern="100" dirty="0">
                          <a:effectLst/>
                        </a:rPr>
                        <a:t>억원</a:t>
                      </a:r>
                      <a:endParaRPr lang="ko-KR" sz="1000" kern="100" dirty="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986638306"/>
                  </a:ext>
                </a:extLst>
              </a:tr>
              <a:tr h="138742">
                <a:tc>
                  <a:txBody>
                    <a:bodyPr/>
                    <a:lstStyle/>
                    <a:p>
                      <a:pPr algn="ctr" latinLnBrk="1">
                        <a:buNone/>
                      </a:pPr>
                      <a:r>
                        <a:rPr lang="ko-KR" sz="900" kern="100" dirty="0">
                          <a:effectLst/>
                        </a:rPr>
                        <a:t>평가금액</a:t>
                      </a:r>
                      <a:endParaRPr lang="ko-KR" sz="1000" kern="100" dirty="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tc>
                  <a:txBody>
                    <a:bodyPr/>
                    <a:lstStyle/>
                    <a:p>
                      <a:pPr algn="ctr" latinLnBrk="1">
                        <a:buNone/>
                      </a:pPr>
                      <a:r>
                        <a:rPr lang="en-US" sz="900" kern="100" dirty="0">
                          <a:effectLst/>
                        </a:rPr>
                        <a:t>392</a:t>
                      </a:r>
                      <a:r>
                        <a:rPr lang="ko-KR" sz="900" kern="100" dirty="0">
                          <a:effectLst/>
                        </a:rPr>
                        <a:t>억원 </a:t>
                      </a:r>
                      <a:r>
                        <a:rPr lang="en-US" sz="900" kern="100" dirty="0">
                          <a:effectLst/>
                        </a:rPr>
                        <a:t>(’25.11</a:t>
                      </a:r>
                      <a:r>
                        <a:rPr lang="ko-KR" sz="900" kern="100" dirty="0">
                          <a:effectLst/>
                        </a:rPr>
                        <a:t>말</a:t>
                      </a:r>
                      <a:r>
                        <a:rPr lang="en-US" sz="900" kern="100" dirty="0">
                          <a:effectLst/>
                        </a:rPr>
                        <a:t>,NICE P&amp;I)</a:t>
                      </a:r>
                      <a:endParaRPr lang="ko-KR" sz="1000" kern="100" dirty="0">
                        <a:effectLst/>
                        <a:latin typeface="Times New Roman" panose="02020603050405020304" pitchFamily="18" charset="0"/>
                        <a:ea typeface="맑은 고딕" panose="020B0503020000020004" pitchFamily="50" charset="-127"/>
                        <a:cs typeface="Arial" panose="020B0604020202020204" pitchFamily="34" charset="0"/>
                      </a:endParaRPr>
                    </a:p>
                  </a:txBody>
                  <a:tcPr marL="68580" marR="68580" marT="0" marB="0" anchor="ctr"/>
                </a:tc>
                <a:extLst>
                  <a:ext uri="{0D108BD9-81ED-4DB2-BD59-A6C34878D82A}">
                    <a16:rowId xmlns:a16="http://schemas.microsoft.com/office/drawing/2014/main" val="3952570276"/>
                  </a:ext>
                </a:extLst>
              </a:tr>
            </a:tbl>
          </a:graphicData>
        </a:graphic>
      </p:graphicFrame>
      <p:pic>
        <p:nvPicPr>
          <p:cNvPr id="17" name="그림 16" descr="이미지: df타워 전경">
            <a:extLst>
              <a:ext uri="{FF2B5EF4-FFF2-40B4-BE49-F238E27FC236}">
                <a16:creationId xmlns:a16="http://schemas.microsoft.com/office/drawing/2014/main" id="{16F2EFDD-817A-BA68-1381-E011F1DFAA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1638" y="2867554"/>
            <a:ext cx="1303862" cy="1149871"/>
          </a:xfrm>
          <a:prstGeom prst="rect">
            <a:avLst/>
          </a:prstGeom>
          <a:noFill/>
          <a:ln>
            <a:noFill/>
          </a:ln>
        </p:spPr>
      </p:pic>
      <p:sp>
        <p:nvSpPr>
          <p:cNvPr id="144" name="사각형: 둥근 모서리 143">
            <a:extLst>
              <a:ext uri="{FF2B5EF4-FFF2-40B4-BE49-F238E27FC236}">
                <a16:creationId xmlns:a16="http://schemas.microsoft.com/office/drawing/2014/main" id="{0EF32AE6-4F4A-6FF1-BD35-B35F5302E00D}"/>
              </a:ext>
            </a:extLst>
          </p:cNvPr>
          <p:cNvSpPr/>
          <p:nvPr/>
        </p:nvSpPr>
        <p:spPr>
          <a:xfrm>
            <a:off x="4157774" y="2231665"/>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매각요청 자산</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2" name="TextBox 171">
            <a:extLst>
              <a:ext uri="{FF2B5EF4-FFF2-40B4-BE49-F238E27FC236}">
                <a16:creationId xmlns:a16="http://schemas.microsoft.com/office/drawing/2014/main" id="{3C4DCE3E-6F59-66A9-7BF8-61C3ED03218C}"/>
              </a:ext>
            </a:extLst>
          </p:cNvPr>
          <p:cNvSpPr txBox="1"/>
          <p:nvPr/>
        </p:nvSpPr>
        <p:spPr>
          <a:xfrm>
            <a:off x="8962382" y="2324869"/>
            <a:ext cx="1241589" cy="230832"/>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cxnSp>
        <p:nvCxnSpPr>
          <p:cNvPr id="147" name="직선 연결선 146">
            <a:extLst>
              <a:ext uri="{FF2B5EF4-FFF2-40B4-BE49-F238E27FC236}">
                <a16:creationId xmlns:a16="http://schemas.microsoft.com/office/drawing/2014/main" id="{8769C521-CC3E-D9FC-68A7-6B290AFA0FA3}"/>
              </a:ext>
            </a:extLst>
          </p:cNvPr>
          <p:cNvCxnSpPr/>
          <p:nvPr/>
        </p:nvCxnSpPr>
        <p:spPr>
          <a:xfrm>
            <a:off x="4237552" y="4907824"/>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B39CCABF-192D-7750-BD43-2F34B0751001}"/>
              </a:ext>
            </a:extLst>
          </p:cNvPr>
          <p:cNvCxnSpPr/>
          <p:nvPr/>
        </p:nvCxnSpPr>
        <p:spPr>
          <a:xfrm>
            <a:off x="4237552" y="4499917"/>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49" name="직사각형 148">
            <a:extLst>
              <a:ext uri="{FF2B5EF4-FFF2-40B4-BE49-F238E27FC236}">
                <a16:creationId xmlns:a16="http://schemas.microsoft.com/office/drawing/2014/main" id="{B09BD3FB-2BF0-E224-A3A1-122BDE4D0367}"/>
              </a:ext>
            </a:extLst>
          </p:cNvPr>
          <p:cNvSpPr/>
          <p:nvPr/>
        </p:nvSpPr>
        <p:spPr>
          <a:xfrm>
            <a:off x="4491789" y="4540750"/>
            <a:ext cx="582552" cy="79719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278</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TextBox 149">
            <a:extLst>
              <a:ext uri="{FF2B5EF4-FFF2-40B4-BE49-F238E27FC236}">
                <a16:creationId xmlns:a16="http://schemas.microsoft.com/office/drawing/2014/main" id="{1AB43087-7B02-4A88-5E6F-2708A42BBB29}"/>
              </a:ext>
            </a:extLst>
          </p:cNvPr>
          <p:cNvSpPr txBox="1"/>
          <p:nvPr/>
        </p:nvSpPr>
        <p:spPr>
          <a:xfrm>
            <a:off x="4424050" y="5403433"/>
            <a:ext cx="718031" cy="115618"/>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2021</a:t>
            </a:r>
          </a:p>
        </p:txBody>
      </p:sp>
      <p:sp>
        <p:nvSpPr>
          <p:cNvPr id="151" name="직사각형 150">
            <a:extLst>
              <a:ext uri="{FF2B5EF4-FFF2-40B4-BE49-F238E27FC236}">
                <a16:creationId xmlns:a16="http://schemas.microsoft.com/office/drawing/2014/main" id="{E48CCFEB-1904-EC98-74E8-AEC7CDEB192A}"/>
              </a:ext>
            </a:extLst>
          </p:cNvPr>
          <p:cNvSpPr/>
          <p:nvPr/>
        </p:nvSpPr>
        <p:spPr>
          <a:xfrm>
            <a:off x="5207165" y="5017523"/>
            <a:ext cx="582552" cy="3204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TextBox 151">
            <a:extLst>
              <a:ext uri="{FF2B5EF4-FFF2-40B4-BE49-F238E27FC236}">
                <a16:creationId xmlns:a16="http://schemas.microsoft.com/office/drawing/2014/main" id="{0F5BC19A-E39B-2DDB-CAEA-C2607AC61EDB}"/>
              </a:ext>
            </a:extLst>
          </p:cNvPr>
          <p:cNvSpPr txBox="1"/>
          <p:nvPr/>
        </p:nvSpPr>
        <p:spPr>
          <a:xfrm>
            <a:off x="5139426" y="5403433"/>
            <a:ext cx="718031" cy="115618"/>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2022</a:t>
            </a:r>
          </a:p>
        </p:txBody>
      </p:sp>
      <p:sp>
        <p:nvSpPr>
          <p:cNvPr id="153" name="직사각형 152">
            <a:extLst>
              <a:ext uri="{FF2B5EF4-FFF2-40B4-BE49-F238E27FC236}">
                <a16:creationId xmlns:a16="http://schemas.microsoft.com/office/drawing/2014/main" id="{6E0386E1-2852-54A3-34EC-0DC75608CF49}"/>
              </a:ext>
            </a:extLst>
          </p:cNvPr>
          <p:cNvSpPr/>
          <p:nvPr/>
        </p:nvSpPr>
        <p:spPr>
          <a:xfrm>
            <a:off x="5922541" y="5017522"/>
            <a:ext cx="582552" cy="32042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spc="-30" dirty="0">
                <a:solidFill>
                  <a:prstClr val="white"/>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TextBox 153">
            <a:extLst>
              <a:ext uri="{FF2B5EF4-FFF2-40B4-BE49-F238E27FC236}">
                <a16:creationId xmlns:a16="http://schemas.microsoft.com/office/drawing/2014/main" id="{A2588E0E-6870-D9A4-BD75-3EEB8A38F7C2}"/>
              </a:ext>
            </a:extLst>
          </p:cNvPr>
          <p:cNvSpPr txBox="1"/>
          <p:nvPr/>
        </p:nvSpPr>
        <p:spPr>
          <a:xfrm>
            <a:off x="5854802" y="5403433"/>
            <a:ext cx="718031" cy="115618"/>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p:txBody>
      </p:sp>
      <p:sp>
        <p:nvSpPr>
          <p:cNvPr id="155" name="직사각형 154">
            <a:extLst>
              <a:ext uri="{FF2B5EF4-FFF2-40B4-BE49-F238E27FC236}">
                <a16:creationId xmlns:a16="http://schemas.microsoft.com/office/drawing/2014/main" id="{1D43DE81-4026-205F-E73B-79F8B859F5A1}"/>
              </a:ext>
            </a:extLst>
          </p:cNvPr>
          <p:cNvSpPr/>
          <p:nvPr/>
        </p:nvSpPr>
        <p:spPr>
          <a:xfrm>
            <a:off x="6637916" y="4938554"/>
            <a:ext cx="582552" cy="39938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TextBox 155">
            <a:extLst>
              <a:ext uri="{FF2B5EF4-FFF2-40B4-BE49-F238E27FC236}">
                <a16:creationId xmlns:a16="http://schemas.microsoft.com/office/drawing/2014/main" id="{F80C1110-E53E-F935-665E-53B3FA6CB5C2}"/>
              </a:ext>
            </a:extLst>
          </p:cNvPr>
          <p:cNvSpPr txBox="1"/>
          <p:nvPr/>
        </p:nvSpPr>
        <p:spPr>
          <a:xfrm>
            <a:off x="6570178" y="5403433"/>
            <a:ext cx="718031" cy="115618"/>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2024</a:t>
            </a:r>
          </a:p>
        </p:txBody>
      </p:sp>
      <p:sp>
        <p:nvSpPr>
          <p:cNvPr id="157" name="직사각형 156">
            <a:extLst>
              <a:ext uri="{FF2B5EF4-FFF2-40B4-BE49-F238E27FC236}">
                <a16:creationId xmlns:a16="http://schemas.microsoft.com/office/drawing/2014/main" id="{E1C6EC5B-C39A-4693-ECB5-43175D39F189}"/>
              </a:ext>
            </a:extLst>
          </p:cNvPr>
          <p:cNvSpPr/>
          <p:nvPr/>
        </p:nvSpPr>
        <p:spPr>
          <a:xfrm>
            <a:off x="7299582" y="5017522"/>
            <a:ext cx="582552" cy="3204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TextBox 157">
            <a:extLst>
              <a:ext uri="{FF2B5EF4-FFF2-40B4-BE49-F238E27FC236}">
                <a16:creationId xmlns:a16="http://schemas.microsoft.com/office/drawing/2014/main" id="{130BD6B2-E415-5F23-C88A-C23E32832EC3}"/>
              </a:ext>
            </a:extLst>
          </p:cNvPr>
          <p:cNvSpPr txBox="1"/>
          <p:nvPr/>
        </p:nvSpPr>
        <p:spPr>
          <a:xfrm>
            <a:off x="7231843" y="5403433"/>
            <a:ext cx="718031" cy="115618"/>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2025</a:t>
            </a:r>
          </a:p>
        </p:txBody>
      </p:sp>
      <p:sp>
        <p:nvSpPr>
          <p:cNvPr id="159" name="직사각형 158">
            <a:extLst>
              <a:ext uri="{FF2B5EF4-FFF2-40B4-BE49-F238E27FC236}">
                <a16:creationId xmlns:a16="http://schemas.microsoft.com/office/drawing/2014/main" id="{579A9A48-B95A-6CB2-A184-1CA851795880}"/>
              </a:ext>
            </a:extLst>
          </p:cNvPr>
          <p:cNvSpPr/>
          <p:nvPr/>
        </p:nvSpPr>
        <p:spPr>
          <a:xfrm>
            <a:off x="8014958" y="4922137"/>
            <a:ext cx="582552" cy="415806"/>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TextBox 159">
            <a:extLst>
              <a:ext uri="{FF2B5EF4-FFF2-40B4-BE49-F238E27FC236}">
                <a16:creationId xmlns:a16="http://schemas.microsoft.com/office/drawing/2014/main" id="{E6F9581D-87E0-EF02-D328-BDDB0120F6D5}"/>
              </a:ext>
            </a:extLst>
          </p:cNvPr>
          <p:cNvSpPr txBox="1"/>
          <p:nvPr/>
        </p:nvSpPr>
        <p:spPr>
          <a:xfrm>
            <a:off x="7947219" y="5403433"/>
            <a:ext cx="718031" cy="127180"/>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p>
        </p:txBody>
      </p:sp>
      <p:sp>
        <p:nvSpPr>
          <p:cNvPr id="166" name="직사각형 165">
            <a:extLst>
              <a:ext uri="{FF2B5EF4-FFF2-40B4-BE49-F238E27FC236}">
                <a16:creationId xmlns:a16="http://schemas.microsoft.com/office/drawing/2014/main" id="{80A2A4E2-9A0A-BC3C-E879-466780D56A54}"/>
              </a:ext>
            </a:extLst>
          </p:cNvPr>
          <p:cNvSpPr/>
          <p:nvPr/>
        </p:nvSpPr>
        <p:spPr>
          <a:xfrm>
            <a:off x="8766286" y="4524073"/>
            <a:ext cx="860952" cy="1019960"/>
          </a:xfrm>
          <a:prstGeom prst="rect">
            <a:avLst/>
          </a:prstGeom>
          <a:noFill/>
          <a:ln w="28575">
            <a:solidFill>
              <a:srgbClr val="C00000"/>
            </a:solidFill>
            <a:prstDash val="sysDash"/>
            <a:extLst>
              <a:ext uri="{C807C97D-BFC1-408E-A445-0C87EB9F89A2}">
                <ask:lineSketchStyleProps xmlns:ask="http://schemas.microsoft.com/office/drawing/2018/sketchyshapes" sd="1219033472">
                  <a:custGeom>
                    <a:avLst/>
                    <a:gdLst>
                      <a:gd name="connsiteX0" fmla="*/ 0 w 1343710"/>
                      <a:gd name="connsiteY0" fmla="*/ 0 h 991552"/>
                      <a:gd name="connsiteX1" fmla="*/ 434466 w 1343710"/>
                      <a:gd name="connsiteY1" fmla="*/ 0 h 991552"/>
                      <a:gd name="connsiteX2" fmla="*/ 842058 w 1343710"/>
                      <a:gd name="connsiteY2" fmla="*/ 0 h 991552"/>
                      <a:gd name="connsiteX3" fmla="*/ 1343710 w 1343710"/>
                      <a:gd name="connsiteY3" fmla="*/ 0 h 991552"/>
                      <a:gd name="connsiteX4" fmla="*/ 1343710 w 1343710"/>
                      <a:gd name="connsiteY4" fmla="*/ 485860 h 991552"/>
                      <a:gd name="connsiteX5" fmla="*/ 1343710 w 1343710"/>
                      <a:gd name="connsiteY5" fmla="*/ 991552 h 991552"/>
                      <a:gd name="connsiteX6" fmla="*/ 922681 w 1343710"/>
                      <a:gd name="connsiteY6" fmla="*/ 991552 h 991552"/>
                      <a:gd name="connsiteX7" fmla="*/ 501652 w 1343710"/>
                      <a:gd name="connsiteY7" fmla="*/ 991552 h 991552"/>
                      <a:gd name="connsiteX8" fmla="*/ 0 w 1343710"/>
                      <a:gd name="connsiteY8" fmla="*/ 991552 h 991552"/>
                      <a:gd name="connsiteX9" fmla="*/ 0 w 1343710"/>
                      <a:gd name="connsiteY9" fmla="*/ 525523 h 991552"/>
                      <a:gd name="connsiteX10" fmla="*/ 0 w 1343710"/>
                      <a:gd name="connsiteY10" fmla="*/ 0 h 9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710" h="991552" extrusionOk="0">
                        <a:moveTo>
                          <a:pt x="0" y="0"/>
                        </a:moveTo>
                        <a:cubicBezTo>
                          <a:pt x="213401" y="-18320"/>
                          <a:pt x="251872" y="16927"/>
                          <a:pt x="434466" y="0"/>
                        </a:cubicBezTo>
                        <a:cubicBezTo>
                          <a:pt x="617060" y="-16927"/>
                          <a:pt x="737171" y="15607"/>
                          <a:pt x="842058" y="0"/>
                        </a:cubicBezTo>
                        <a:cubicBezTo>
                          <a:pt x="946945" y="-15607"/>
                          <a:pt x="1107365" y="20478"/>
                          <a:pt x="1343710" y="0"/>
                        </a:cubicBezTo>
                        <a:cubicBezTo>
                          <a:pt x="1381686" y="199782"/>
                          <a:pt x="1321648" y="288460"/>
                          <a:pt x="1343710" y="485860"/>
                        </a:cubicBezTo>
                        <a:cubicBezTo>
                          <a:pt x="1365772" y="683260"/>
                          <a:pt x="1309601" y="809412"/>
                          <a:pt x="1343710" y="991552"/>
                        </a:cubicBezTo>
                        <a:cubicBezTo>
                          <a:pt x="1250420" y="1015778"/>
                          <a:pt x="1068813" y="973608"/>
                          <a:pt x="922681" y="991552"/>
                        </a:cubicBezTo>
                        <a:cubicBezTo>
                          <a:pt x="776549" y="1009496"/>
                          <a:pt x="695297" y="989603"/>
                          <a:pt x="501652" y="991552"/>
                        </a:cubicBezTo>
                        <a:cubicBezTo>
                          <a:pt x="308007" y="993501"/>
                          <a:pt x="149015" y="984688"/>
                          <a:pt x="0" y="991552"/>
                        </a:cubicBezTo>
                        <a:cubicBezTo>
                          <a:pt x="-26908" y="782999"/>
                          <a:pt x="4059" y="694924"/>
                          <a:pt x="0" y="525523"/>
                        </a:cubicBezTo>
                        <a:cubicBezTo>
                          <a:pt x="-4059" y="356122"/>
                          <a:pt x="26005" y="14519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TextBox 166">
            <a:extLst>
              <a:ext uri="{FF2B5EF4-FFF2-40B4-BE49-F238E27FC236}">
                <a16:creationId xmlns:a16="http://schemas.microsoft.com/office/drawing/2014/main" id="{EF486BC3-F9B8-94D0-E69E-FF3E1A58E01B}"/>
              </a:ext>
            </a:extLst>
          </p:cNvPr>
          <p:cNvSpPr txBox="1"/>
          <p:nvPr/>
        </p:nvSpPr>
        <p:spPr>
          <a:xfrm>
            <a:off x="7614919" y="4480764"/>
            <a:ext cx="1121268" cy="415498"/>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a:t>
            </a:r>
            <a:endParaRPr lang="en-US" altLang="ko-KR"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 </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endPar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69" name="직선 연결선 168">
            <a:extLst>
              <a:ext uri="{FF2B5EF4-FFF2-40B4-BE49-F238E27FC236}">
                <a16:creationId xmlns:a16="http://schemas.microsoft.com/office/drawing/2014/main" id="{027611C2-D4D3-0A4F-478F-F70145B50BAA}"/>
              </a:ext>
            </a:extLst>
          </p:cNvPr>
          <p:cNvCxnSpPr>
            <a:cxnSpLocks/>
          </p:cNvCxnSpPr>
          <p:nvPr/>
        </p:nvCxnSpPr>
        <p:spPr>
          <a:xfrm>
            <a:off x="4237552" y="5337746"/>
            <a:ext cx="5898886"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a16="http://schemas.microsoft.com/office/drawing/2014/main" id="{0EB75D71-7427-CFAB-A861-51C223F43694}"/>
              </a:ext>
            </a:extLst>
          </p:cNvPr>
          <p:cNvSpPr/>
          <p:nvPr/>
        </p:nvSpPr>
        <p:spPr>
          <a:xfrm>
            <a:off x="8905814" y="4692593"/>
            <a:ext cx="582552" cy="6559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205</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달성</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TextBox 176">
            <a:extLst>
              <a:ext uri="{FF2B5EF4-FFF2-40B4-BE49-F238E27FC236}">
                <a16:creationId xmlns:a16="http://schemas.microsoft.com/office/drawing/2014/main" id="{858E23E8-76FB-0A4D-009F-B8E2E791AD74}"/>
              </a:ext>
            </a:extLst>
          </p:cNvPr>
          <p:cNvSpPr txBox="1"/>
          <p:nvPr/>
        </p:nvSpPr>
        <p:spPr>
          <a:xfrm>
            <a:off x="8840294" y="5403433"/>
            <a:ext cx="718031" cy="127180"/>
          </a:xfrm>
          <a:prstGeom prst="rect">
            <a:avLst/>
          </a:prstGeom>
          <a:noFill/>
        </p:spPr>
        <p:txBody>
          <a:bodyPr wrap="squar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2027~2028</a:t>
            </a:r>
          </a:p>
        </p:txBody>
      </p:sp>
    </p:spTree>
    <p:extLst>
      <p:ext uri="{BB962C8B-B14F-4D97-AF65-F5344CB8AC3E}">
        <p14:creationId xmlns:p14="http://schemas.microsoft.com/office/powerpoint/2010/main" val="275872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B8-55E6-50D1-24AC-C250B774CEED}"/>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F54B2B5B-0A0B-EAB2-3671-F612A3F6E296}"/>
              </a:ext>
            </a:extLst>
          </p:cNvPr>
          <p:cNvGrpSpPr/>
          <p:nvPr/>
        </p:nvGrpSpPr>
        <p:grpSpPr>
          <a:xfrm>
            <a:off x="458887" y="1987916"/>
            <a:ext cx="9783663" cy="247712"/>
            <a:chOff x="458887" y="1987916"/>
            <a:chExt cx="9783663" cy="247712"/>
          </a:xfrm>
        </p:grpSpPr>
        <p:sp>
          <p:nvSpPr>
            <p:cNvPr id="6" name="직사각형 5">
              <a:extLst>
                <a:ext uri="{FF2B5EF4-FFF2-40B4-BE49-F238E27FC236}">
                  <a16:creationId xmlns:a16="http://schemas.microsoft.com/office/drawing/2014/main" id="{15D7A1D7-5A97-F2E0-A675-EE01891DB865}"/>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 name="직선 연결선 8">
              <a:extLst>
                <a:ext uri="{FF2B5EF4-FFF2-40B4-BE49-F238E27FC236}">
                  <a16:creationId xmlns:a16="http://schemas.microsoft.com/office/drawing/2014/main" id="{24FB6A19-E6B3-1AE6-8063-693BC6881E78}"/>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0" name="자유형 159">
              <a:extLst>
                <a:ext uri="{FF2B5EF4-FFF2-40B4-BE49-F238E27FC236}">
                  <a16:creationId xmlns:a16="http://schemas.microsoft.com/office/drawing/2014/main" id="{CF35D65F-CDDF-22A8-BBCE-CFCCD2921329}"/>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자유형 160">
              <a:extLst>
                <a:ext uri="{FF2B5EF4-FFF2-40B4-BE49-F238E27FC236}">
                  <a16:creationId xmlns:a16="http://schemas.microsoft.com/office/drawing/2014/main" id="{E3299770-AC0F-480D-DB37-B7546AD70898}"/>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7F0DF745-A8B6-A377-CB45-96724AD5089A}"/>
                </a:ext>
              </a:extLst>
            </p:cNvPr>
            <p:cNvSpPr txBox="1"/>
            <p:nvPr/>
          </p:nvSpPr>
          <p:spPr>
            <a:xfrm>
              <a:off x="458887" y="2034828"/>
              <a:ext cx="124985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grpSp>
        <p:nvGrpSpPr>
          <p:cNvPr id="80" name="그룹 79">
            <a:extLst>
              <a:ext uri="{FF2B5EF4-FFF2-40B4-BE49-F238E27FC236}">
                <a16:creationId xmlns:a16="http://schemas.microsoft.com/office/drawing/2014/main" id="{E26D9D99-D108-4556-B8EF-33277F7CEBDF}"/>
              </a:ext>
            </a:extLst>
          </p:cNvPr>
          <p:cNvGrpSpPr/>
          <p:nvPr/>
        </p:nvGrpSpPr>
        <p:grpSpPr>
          <a:xfrm>
            <a:off x="5363513" y="2368184"/>
            <a:ext cx="1677062" cy="246221"/>
            <a:chOff x="455998" y="2440192"/>
            <a:chExt cx="1677062" cy="246221"/>
          </a:xfrm>
        </p:grpSpPr>
        <p:sp>
          <p:nvSpPr>
            <p:cNvPr id="60" name="TextBox 59">
              <a:extLst>
                <a:ext uri="{FF2B5EF4-FFF2-40B4-BE49-F238E27FC236}">
                  <a16:creationId xmlns:a16="http://schemas.microsoft.com/office/drawing/2014/main" id="{FF8F0C3E-AC8D-75F9-E5DD-23215DA78459}"/>
                </a:ext>
              </a:extLst>
            </p:cNvPr>
            <p:cNvSpPr txBox="1"/>
            <p:nvPr/>
          </p:nvSpPr>
          <p:spPr>
            <a:xfrm>
              <a:off x="455998" y="2440192"/>
              <a:ext cx="1677062"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투자 법률검토 내용</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1" name="직사각형 60">
              <a:extLst>
                <a:ext uri="{FF2B5EF4-FFF2-40B4-BE49-F238E27FC236}">
                  <a16:creationId xmlns:a16="http://schemas.microsoft.com/office/drawing/2014/main" id="{1E379A59-A281-12EA-ED83-5E461690995B}"/>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9" name="그룹 58">
            <a:extLst>
              <a:ext uri="{FF2B5EF4-FFF2-40B4-BE49-F238E27FC236}">
                <a16:creationId xmlns:a16="http://schemas.microsoft.com/office/drawing/2014/main" id="{76C709AD-6157-3604-D694-4FAAD60BC3EC}"/>
              </a:ext>
            </a:extLst>
          </p:cNvPr>
          <p:cNvGrpSpPr/>
          <p:nvPr/>
        </p:nvGrpSpPr>
        <p:grpSpPr>
          <a:xfrm>
            <a:off x="458887" y="2368184"/>
            <a:ext cx="1790875" cy="246221"/>
            <a:chOff x="455998" y="2440192"/>
            <a:chExt cx="1790875" cy="246221"/>
          </a:xfrm>
        </p:grpSpPr>
        <p:sp>
          <p:nvSpPr>
            <p:cNvPr id="62" name="TextBox 61">
              <a:extLst>
                <a:ext uri="{FF2B5EF4-FFF2-40B4-BE49-F238E27FC236}">
                  <a16:creationId xmlns:a16="http://schemas.microsoft.com/office/drawing/2014/main" id="{DA420C03-0EC6-8B49-D13C-9E57C742320B}"/>
                </a:ext>
              </a:extLst>
            </p:cNvPr>
            <p:cNvSpPr txBox="1"/>
            <p:nvPr/>
          </p:nvSpPr>
          <p:spPr>
            <a:xfrm>
              <a:off x="455998" y="2440192"/>
              <a:ext cx="1790875"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투자관련 수권절차 체크리스트</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C1B550E9-53E0-0D33-B596-1AA1E15D2D06}"/>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 name="표 1">
            <a:extLst>
              <a:ext uri="{FF2B5EF4-FFF2-40B4-BE49-F238E27FC236}">
                <a16:creationId xmlns:a16="http://schemas.microsoft.com/office/drawing/2014/main" id="{B79A2028-5A18-D225-04B8-A913C282E9AA}"/>
              </a:ext>
            </a:extLst>
          </p:cNvPr>
          <p:cNvGraphicFramePr>
            <a:graphicFrameLocks noGrp="1"/>
          </p:cNvGraphicFramePr>
          <p:nvPr>
            <p:extLst>
              <p:ext uri="{D42A27DB-BD31-4B8C-83A1-F6EECF244321}">
                <p14:modId xmlns:p14="http://schemas.microsoft.com/office/powerpoint/2010/main" val="4164082619"/>
              </p:ext>
            </p:extLst>
          </p:nvPr>
        </p:nvGraphicFramePr>
        <p:xfrm>
          <a:off x="595736" y="5203424"/>
          <a:ext cx="4703235" cy="1260000"/>
        </p:xfrm>
        <a:graphic>
          <a:graphicData uri="http://schemas.openxmlformats.org/drawingml/2006/table">
            <a:tbl>
              <a:tblPr>
                <a:tableStyleId>{5940675A-B579-460E-94D1-54222C63F5DA}</a:tableStyleId>
              </a:tblPr>
              <a:tblGrid>
                <a:gridCol w="862210">
                  <a:extLst>
                    <a:ext uri="{9D8B030D-6E8A-4147-A177-3AD203B41FA5}">
                      <a16:colId xmlns:a16="http://schemas.microsoft.com/office/drawing/2014/main" val="20000"/>
                    </a:ext>
                  </a:extLst>
                </a:gridCol>
                <a:gridCol w="2828738">
                  <a:extLst>
                    <a:ext uri="{9D8B030D-6E8A-4147-A177-3AD203B41FA5}">
                      <a16:colId xmlns:a16="http://schemas.microsoft.com/office/drawing/2014/main" val="852014373"/>
                    </a:ext>
                  </a:extLst>
                </a:gridCol>
                <a:gridCol w="1012287">
                  <a:extLst>
                    <a:ext uri="{9D8B030D-6E8A-4147-A177-3AD203B41FA5}">
                      <a16:colId xmlns:a16="http://schemas.microsoft.com/office/drawing/2014/main" val="1554093756"/>
                    </a:ext>
                  </a:extLst>
                </a:gridCol>
              </a:tblGrid>
              <a:tr h="252000">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진행상황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2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주주총회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차입계획 및 사채발행계획 승인의 건</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이내</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2/25,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승인완료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3020372274"/>
                  </a:ext>
                </a:extLst>
              </a:tr>
              <a:tr h="252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차입계획 및 사채발행계획 승인의 건</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이내</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1/27,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승인완료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3220065"/>
                  </a:ext>
                </a:extLst>
              </a:tr>
              <a:tr h="252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latinLnBrk="1"/>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전단채</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발행 및 인수계약 체결 승인의 건</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(1,199</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4/28(E)</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99334124"/>
                  </a:ext>
                </a:extLst>
              </a:tr>
              <a:tr h="252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변경인가</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인가 시 사업계획에 따른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 변경 시 제외</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X</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1324032"/>
                  </a:ext>
                </a:extLst>
              </a:tr>
            </a:tbl>
          </a:graphicData>
        </a:graphic>
      </p:graphicFrame>
      <p:sp>
        <p:nvSpPr>
          <p:cNvPr id="3" name="직사각형 2">
            <a:extLst>
              <a:ext uri="{FF2B5EF4-FFF2-40B4-BE49-F238E27FC236}">
                <a16:creationId xmlns:a16="http://schemas.microsoft.com/office/drawing/2014/main" id="{EC8DB9EE-131C-3E19-08A5-A77C498F7F47}"/>
              </a:ext>
            </a:extLst>
          </p:cNvPr>
          <p:cNvSpPr/>
          <p:nvPr/>
        </p:nvSpPr>
        <p:spPr>
          <a:xfrm>
            <a:off x="388228" y="4925003"/>
            <a:ext cx="1512168"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사채</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관련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직사각형 3">
            <a:extLst>
              <a:ext uri="{FF2B5EF4-FFF2-40B4-BE49-F238E27FC236}">
                <a16:creationId xmlns:a16="http://schemas.microsoft.com/office/drawing/2014/main" id="{7FA61D49-1B93-FA16-7B03-8F7BE90F18B0}"/>
              </a:ext>
            </a:extLst>
          </p:cNvPr>
          <p:cNvSpPr/>
          <p:nvPr/>
        </p:nvSpPr>
        <p:spPr>
          <a:xfrm>
            <a:off x="395886" y="2858176"/>
            <a:ext cx="1512168"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증권 투자관련</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7" name="표 6">
            <a:extLst>
              <a:ext uri="{FF2B5EF4-FFF2-40B4-BE49-F238E27FC236}">
                <a16:creationId xmlns:a16="http://schemas.microsoft.com/office/drawing/2014/main" id="{58098F33-0745-3595-91D3-6588BCEC44B6}"/>
              </a:ext>
            </a:extLst>
          </p:cNvPr>
          <p:cNvGraphicFramePr>
            <a:graphicFrameLocks noGrp="1"/>
          </p:cNvGraphicFramePr>
          <p:nvPr>
            <p:extLst>
              <p:ext uri="{D42A27DB-BD31-4B8C-83A1-F6EECF244321}">
                <p14:modId xmlns:p14="http://schemas.microsoft.com/office/powerpoint/2010/main" val="1194006615"/>
              </p:ext>
            </p:extLst>
          </p:nvPr>
        </p:nvGraphicFramePr>
        <p:xfrm>
          <a:off x="603394" y="3122132"/>
          <a:ext cx="4720217" cy="1260000"/>
        </p:xfrm>
        <a:graphic>
          <a:graphicData uri="http://schemas.openxmlformats.org/drawingml/2006/table">
            <a:tbl>
              <a:tblPr>
                <a:tableStyleId>{5940675A-B579-460E-94D1-54222C63F5DA}</a:tableStyleId>
              </a:tblPr>
              <a:tblGrid>
                <a:gridCol w="854070">
                  <a:extLst>
                    <a:ext uri="{9D8B030D-6E8A-4147-A177-3AD203B41FA5}">
                      <a16:colId xmlns:a16="http://schemas.microsoft.com/office/drawing/2014/main" val="20000"/>
                    </a:ext>
                  </a:extLst>
                </a:gridCol>
                <a:gridCol w="2826854">
                  <a:extLst>
                    <a:ext uri="{9D8B030D-6E8A-4147-A177-3AD203B41FA5}">
                      <a16:colId xmlns:a16="http://schemas.microsoft.com/office/drawing/2014/main" val="852014373"/>
                    </a:ext>
                  </a:extLst>
                </a:gridCol>
                <a:gridCol w="1039293">
                  <a:extLst>
                    <a:ext uri="{9D8B030D-6E8A-4147-A177-3AD203B41FA5}">
                      <a16:colId xmlns:a16="http://schemas.microsoft.com/office/drawing/2014/main" val="3145354454"/>
                    </a:ext>
                  </a:extLst>
                </a:gridCol>
              </a:tblGrid>
              <a:tr h="252000">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의안 내용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진행상황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2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주주총회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총자산의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초과하는 자산의 취득에 한함</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해당사항없음</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3020372274"/>
                  </a:ext>
                </a:extLst>
              </a:tr>
              <a:tr h="252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2F2F2"/>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지분증권 투자 승인의 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4/1(E)</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3220065"/>
                  </a:ext>
                </a:extLst>
              </a:tr>
              <a:tr h="252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승인의 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4/28(E)</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14806546"/>
                  </a:ext>
                </a:extLst>
              </a:tr>
              <a:tr h="252000">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변경인가</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latinLnBrk="1"/>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년도 변경인가 내용에 따라 변경보고 예정</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변경보고 예정</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1389081"/>
                  </a:ext>
                </a:extLst>
              </a:tr>
            </a:tbl>
          </a:graphicData>
        </a:graphic>
      </p:graphicFrame>
      <p:graphicFrame>
        <p:nvGraphicFramePr>
          <p:cNvPr id="67" name="표 66">
            <a:extLst>
              <a:ext uri="{FF2B5EF4-FFF2-40B4-BE49-F238E27FC236}">
                <a16:creationId xmlns:a16="http://schemas.microsoft.com/office/drawing/2014/main" id="{6707570E-EC90-B26A-176A-7EDF6F79321F}"/>
              </a:ext>
            </a:extLst>
          </p:cNvPr>
          <p:cNvGraphicFramePr>
            <a:graphicFrameLocks noGrp="1"/>
          </p:cNvGraphicFramePr>
          <p:nvPr>
            <p:extLst>
              <p:ext uri="{D42A27DB-BD31-4B8C-83A1-F6EECF244321}">
                <p14:modId xmlns:p14="http://schemas.microsoft.com/office/powerpoint/2010/main" val="2759206953"/>
              </p:ext>
            </p:extLst>
          </p:nvPr>
        </p:nvGraphicFramePr>
        <p:xfrm>
          <a:off x="5506479" y="2771725"/>
          <a:ext cx="4782001" cy="3691700"/>
        </p:xfrm>
        <a:graphic>
          <a:graphicData uri="http://schemas.openxmlformats.org/drawingml/2006/table">
            <a:tbl>
              <a:tblPr>
                <a:tableStyleId>{5940675A-B579-460E-94D1-54222C63F5DA}</a:tableStyleId>
              </a:tblPr>
              <a:tblGrid>
                <a:gridCol w="736204">
                  <a:extLst>
                    <a:ext uri="{9D8B030D-6E8A-4147-A177-3AD203B41FA5}">
                      <a16:colId xmlns:a16="http://schemas.microsoft.com/office/drawing/2014/main" val="20000"/>
                    </a:ext>
                  </a:extLst>
                </a:gridCol>
                <a:gridCol w="2087421">
                  <a:extLst>
                    <a:ext uri="{9D8B030D-6E8A-4147-A177-3AD203B41FA5}">
                      <a16:colId xmlns:a16="http://schemas.microsoft.com/office/drawing/2014/main" val="852014373"/>
                    </a:ext>
                  </a:extLst>
                </a:gridCol>
                <a:gridCol w="1958376">
                  <a:extLst>
                    <a:ext uri="{9D8B030D-6E8A-4147-A177-3AD203B41FA5}">
                      <a16:colId xmlns:a16="http://schemas.microsoft.com/office/drawing/2014/main" val="3145354454"/>
                    </a:ext>
                  </a:extLst>
                </a:gridCol>
              </a:tblGrid>
              <a:tr h="270348">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쟁점</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대응방안</a:t>
                      </a: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27669">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2F2F2"/>
                    </a:solidFill>
                  </a:tcPr>
                </a:tc>
                <a:tc>
                  <a:txBody>
                    <a:bodyPr/>
                    <a:lstStyle/>
                    <a:p>
                      <a:pPr lvl="0" defTabSz="457200" latinLnBrk="0">
                        <a:defRP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20372274"/>
                  </a:ext>
                </a:extLst>
              </a:tr>
              <a:tr h="427669">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2F2F2"/>
                    </a:solidFill>
                  </a:tcPr>
                </a:tc>
                <a:tc>
                  <a:txBody>
                    <a:bodyPr/>
                    <a:lstStyle/>
                    <a:p>
                      <a:pPr lvl="0" defTabSz="457200" latinLnBrk="0">
                        <a:defRPr/>
                      </a:pP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13220065"/>
                  </a:ext>
                </a:extLst>
              </a:tr>
              <a:tr h="427669">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2F2F2"/>
                    </a:solidFill>
                  </a:tcPr>
                </a:tc>
                <a:tc>
                  <a:txBody>
                    <a:bodyPr/>
                    <a:lstStyle/>
                    <a:p>
                      <a:pPr lvl="0" defTabSz="457200" latinLnBrk="0">
                        <a:defRP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14806546"/>
                  </a:ext>
                </a:extLst>
              </a:tr>
              <a:tr h="427669">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2F2F2"/>
                    </a:solidFill>
                  </a:tcPr>
                </a:tc>
                <a:tc>
                  <a:txBody>
                    <a:bodyPr/>
                    <a:lstStyle/>
                    <a:p>
                      <a:pPr lvl="0" defTabSz="457200" latinLnBrk="0">
                        <a:defRP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lvl="0" defTabSz="457200" latinLnBrk="0">
                        <a:defRP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01389081"/>
                  </a:ext>
                </a:extLst>
              </a:tr>
              <a:tr h="427669">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2F2F2"/>
                    </a:solidFill>
                  </a:tcPr>
                </a:tc>
                <a:tc>
                  <a:txBody>
                    <a:bodyPr/>
                    <a:lstStyle/>
                    <a:p>
                      <a:pPr lvl="0" defTabSz="457200" latinLnBrk="0">
                        <a:defRP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46589663"/>
                  </a:ext>
                </a:extLst>
              </a:tr>
              <a:tr h="427669">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74605282"/>
                  </a:ext>
                </a:extLst>
              </a:tr>
              <a:tr h="427669">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2F2F2"/>
                    </a:solidFill>
                  </a:tcPr>
                </a:tc>
                <a:tc>
                  <a:txBody>
                    <a:bodyPr/>
                    <a:lstStyle/>
                    <a:p>
                      <a:pPr lvl="0" defTabSz="457200" latinLnBrk="0">
                        <a:defRP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16116062"/>
                  </a:ext>
                </a:extLst>
              </a:tr>
              <a:tr h="427669">
                <a:tc>
                  <a:txBody>
                    <a:bodyPr/>
                    <a:lstStyle/>
                    <a:p>
                      <a:pPr algn="ctr" latinLnBrk="1"/>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lvl="0" defTabSz="457200" latinLnBrk="0">
                        <a:defRPr/>
                      </a:pP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042081"/>
                  </a:ext>
                </a:extLst>
              </a:tr>
            </a:tbl>
          </a:graphicData>
        </a:graphic>
      </p:graphicFrame>
      <p:sp>
        <p:nvSpPr>
          <p:cNvPr id="70" name="TextBox 69">
            <a:extLst>
              <a:ext uri="{FF2B5EF4-FFF2-40B4-BE49-F238E27FC236}">
                <a16:creationId xmlns:a16="http://schemas.microsoft.com/office/drawing/2014/main" id="{9D1C3325-858A-7F55-99D0-35F7FC884374}"/>
              </a:ext>
            </a:extLst>
          </p:cNvPr>
          <p:cNvSpPr txBox="1"/>
          <p:nvPr/>
        </p:nvSpPr>
        <p:spPr>
          <a:xfrm>
            <a:off x="283369" y="1040097"/>
            <a:ext cx="9995086" cy="728849"/>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법률검토 결과 </a:t>
            </a:r>
            <a:r>
              <a:rPr lang="en-US" altLang="ko-KR" sz="1600" dirty="0">
                <a:solidFill>
                  <a:prstClr val="black"/>
                </a:solidFill>
              </a:rPr>
              <a:t>KLI </a:t>
            </a:r>
            <a:r>
              <a:rPr lang="ko-KR" altLang="en-US" sz="1600" dirty="0">
                <a:solidFill>
                  <a:prstClr val="black"/>
                </a:solidFill>
              </a:rPr>
              <a:t>측 이사회 승인으로 주주간계약 체결 후 투자진행 예정임</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법률실사 결과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 관련 쟁점과 대응 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59CE54BA-1207-D92A-74BF-AECCA457E4CD}"/>
              </a:ext>
            </a:extLst>
          </p:cNvPr>
          <p:cNvSpPr txBox="1"/>
          <p:nvPr/>
        </p:nvSpPr>
        <p:spPr>
          <a:xfrm>
            <a:off x="283367" y="6813808"/>
            <a:ext cx="10009067" cy="21544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4" name="직사각형 13">
            <a:extLst>
              <a:ext uri="{FF2B5EF4-FFF2-40B4-BE49-F238E27FC236}">
                <a16:creationId xmlns:a16="http://schemas.microsoft.com/office/drawing/2014/main" id="{5E3D1DF1-9A79-0B7E-58A8-6B4D81E8DF7B}"/>
              </a:ext>
            </a:extLst>
          </p:cNvPr>
          <p:cNvSpPr/>
          <p:nvPr/>
        </p:nvSpPr>
        <p:spPr>
          <a:xfrm>
            <a:off x="368263" y="2265664"/>
            <a:ext cx="9971137" cy="4295768"/>
          </a:xfrm>
          <a:prstGeom prst="rect">
            <a:avLst/>
          </a:prstGeom>
          <a:solidFill>
            <a:schemeClr val="tx1">
              <a:lumMod val="50000"/>
              <a:lumOff val="5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법률의견서 반영해서 </a:t>
            </a:r>
            <a:endParaRPr lang="en-US" altLang="ko-KR" dirty="0"/>
          </a:p>
          <a:p>
            <a:pPr algn="ctr"/>
            <a:r>
              <a:rPr lang="ko-KR" altLang="en-US" dirty="0"/>
              <a:t>변경예정</a:t>
            </a:r>
          </a:p>
        </p:txBody>
      </p:sp>
      <p:sp>
        <p:nvSpPr>
          <p:cNvPr id="15" name="TextBox 14">
            <a:extLst>
              <a:ext uri="{FF2B5EF4-FFF2-40B4-BE49-F238E27FC236}">
                <a16:creationId xmlns:a16="http://schemas.microsoft.com/office/drawing/2014/main" id="{7C9A6F24-BBA4-05D9-0ECF-12E179BFF66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투자의사결정 수권절차</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15471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AA0A-81C4-D043-8A57-B6E187DCDE71}"/>
            </a:ext>
          </a:extLst>
        </p:cNvPr>
        <p:cNvGrpSpPr/>
        <p:nvPr/>
      </p:nvGrpSpPr>
      <p:grpSpPr>
        <a:xfrm>
          <a:off x="0" y="0"/>
          <a:ext cx="0" cy="0"/>
          <a:chOff x="0" y="0"/>
          <a:chExt cx="0" cy="0"/>
        </a:xfrm>
      </p:grpSpPr>
      <p:grpSp>
        <p:nvGrpSpPr>
          <p:cNvPr id="70" name="그룹 69">
            <a:extLst>
              <a:ext uri="{FF2B5EF4-FFF2-40B4-BE49-F238E27FC236}">
                <a16:creationId xmlns:a16="http://schemas.microsoft.com/office/drawing/2014/main" id="{4CBAF6E2-C7E0-C7FF-0720-8C3ACCDF9BFB}"/>
              </a:ext>
            </a:extLst>
          </p:cNvPr>
          <p:cNvGrpSpPr/>
          <p:nvPr/>
        </p:nvGrpSpPr>
        <p:grpSpPr>
          <a:xfrm>
            <a:off x="-343252" y="2526737"/>
            <a:ext cx="3497925" cy="4853500"/>
            <a:chOff x="-538779" y="2392059"/>
            <a:chExt cx="3667768" cy="4853500"/>
          </a:xfrm>
        </p:grpSpPr>
        <p:graphicFrame>
          <p:nvGraphicFramePr>
            <p:cNvPr id="71" name="차트 70">
              <a:extLst>
                <a:ext uri="{FF2B5EF4-FFF2-40B4-BE49-F238E27FC236}">
                  <a16:creationId xmlns:a16="http://schemas.microsoft.com/office/drawing/2014/main" id="{9FCC344D-9439-D93D-3814-A09ECF1B532D}"/>
                </a:ext>
              </a:extLst>
            </p:cNvPr>
            <p:cNvGraphicFramePr/>
            <p:nvPr/>
          </p:nvGraphicFramePr>
          <p:xfrm>
            <a:off x="-538779" y="2392059"/>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a:extLst>
                <a:ext uri="{FF2B5EF4-FFF2-40B4-BE49-F238E27FC236}">
                  <a16:creationId xmlns:a16="http://schemas.microsoft.com/office/drawing/2014/main" id="{EB4D3833-E975-B4DE-E23F-B95DB7DD775E}"/>
                </a:ext>
              </a:extLst>
            </p:cNvPr>
            <p:cNvSpPr txBox="1"/>
            <p:nvPr/>
          </p:nvSpPr>
          <p:spPr>
            <a:xfrm>
              <a:off x="454958" y="4718821"/>
              <a:ext cx="1182867" cy="707886"/>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p>
          </p:txBody>
        </p:sp>
        <p:sp>
          <p:nvSpPr>
            <p:cNvPr id="73" name="TextBox 72">
              <a:extLst>
                <a:ext uri="{FF2B5EF4-FFF2-40B4-BE49-F238E27FC236}">
                  <a16:creationId xmlns:a16="http://schemas.microsoft.com/office/drawing/2014/main" id="{875F8E61-6A11-5885-5C6B-8EDC1A7D0F15}"/>
                </a:ext>
              </a:extLst>
            </p:cNvPr>
            <p:cNvSpPr txBox="1"/>
            <p:nvPr/>
          </p:nvSpPr>
          <p:spPr>
            <a:xfrm>
              <a:off x="1873983" y="376612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4" name="TextBox 73">
              <a:extLst>
                <a:ext uri="{FF2B5EF4-FFF2-40B4-BE49-F238E27FC236}">
                  <a16:creationId xmlns:a16="http://schemas.microsoft.com/office/drawing/2014/main" id="{A7F848B8-C213-575C-6214-8B563773E4D5}"/>
                </a:ext>
              </a:extLst>
            </p:cNvPr>
            <p:cNvSpPr txBox="1"/>
            <p:nvPr/>
          </p:nvSpPr>
          <p:spPr>
            <a:xfrm>
              <a:off x="1759714" y="2556621"/>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5" name="TextBox 74">
              <a:extLst>
                <a:ext uri="{FF2B5EF4-FFF2-40B4-BE49-F238E27FC236}">
                  <a16:creationId xmlns:a16="http://schemas.microsoft.com/office/drawing/2014/main" id="{3229279F-CD29-F1AC-85B7-95A34D9F9F77}"/>
                </a:ext>
              </a:extLst>
            </p:cNvPr>
            <p:cNvSpPr txBox="1"/>
            <p:nvPr/>
          </p:nvSpPr>
          <p:spPr>
            <a:xfrm>
              <a:off x="531178" y="5601322"/>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6" name="TextBox 75">
              <a:extLst>
                <a:ext uri="{FF2B5EF4-FFF2-40B4-BE49-F238E27FC236}">
                  <a16:creationId xmlns:a16="http://schemas.microsoft.com/office/drawing/2014/main" id="{1FCEFCF8-7268-8114-70BA-BA62833E2484}"/>
                </a:ext>
              </a:extLst>
            </p:cNvPr>
            <p:cNvSpPr txBox="1"/>
            <p:nvPr/>
          </p:nvSpPr>
          <p:spPr>
            <a:xfrm>
              <a:off x="1816439" y="5655612"/>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매각배당</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707</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5" name="직사각형 4">
            <a:extLst>
              <a:ext uri="{FF2B5EF4-FFF2-40B4-BE49-F238E27FC236}">
                <a16:creationId xmlns:a16="http://schemas.microsoft.com/office/drawing/2014/main" id="{EBD185FC-5EAA-C5D9-56AB-744610B14F08}"/>
              </a:ext>
            </a:extLst>
          </p:cNvPr>
          <p:cNvSpPr/>
          <p:nvPr/>
        </p:nvSpPr>
        <p:spPr>
          <a:xfrm>
            <a:off x="4386750" y="4438729"/>
            <a:ext cx="1895260"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수도권 </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7" name="직사각형 6">
            <a:extLst>
              <a:ext uri="{FF2B5EF4-FFF2-40B4-BE49-F238E27FC236}">
                <a16:creationId xmlns:a16="http://schemas.microsoft.com/office/drawing/2014/main" id="{A18341AE-E1D8-CA2A-C991-C0CE38191D25}"/>
              </a:ext>
            </a:extLst>
          </p:cNvPr>
          <p:cNvSpPr/>
          <p:nvPr/>
        </p:nvSpPr>
        <p:spPr>
          <a:xfrm>
            <a:off x="566899" y="2339677"/>
            <a:ext cx="1117943"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년도 </a:t>
            </a: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Exit</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계획</a:t>
            </a:r>
          </a:p>
        </p:txBody>
      </p:sp>
      <p:grpSp>
        <p:nvGrpSpPr>
          <p:cNvPr id="35" name="그룹 34">
            <a:extLst>
              <a:ext uri="{FF2B5EF4-FFF2-40B4-BE49-F238E27FC236}">
                <a16:creationId xmlns:a16="http://schemas.microsoft.com/office/drawing/2014/main" id="{02131FF2-44A4-9032-9FAB-C3B875ECDF55}"/>
              </a:ext>
            </a:extLst>
          </p:cNvPr>
          <p:cNvGrpSpPr/>
          <p:nvPr/>
        </p:nvGrpSpPr>
        <p:grpSpPr>
          <a:xfrm>
            <a:off x="600370" y="2765447"/>
            <a:ext cx="2297357" cy="3528392"/>
            <a:chOff x="825352" y="2476196"/>
            <a:chExt cx="2297357" cy="3453993"/>
          </a:xfrm>
        </p:grpSpPr>
        <p:cxnSp>
          <p:nvCxnSpPr>
            <p:cNvPr id="33" name="직선 연결선 32">
              <a:extLst>
                <a:ext uri="{FF2B5EF4-FFF2-40B4-BE49-F238E27FC236}">
                  <a16:creationId xmlns:a16="http://schemas.microsoft.com/office/drawing/2014/main" id="{F8BB151E-B355-82A8-CD6A-0BD9152BF64B}"/>
                </a:ext>
              </a:extLst>
            </p:cNvPr>
            <p:cNvCxnSpPr>
              <a:cxnSpLocks/>
            </p:cNvCxnSpPr>
            <p:nvPr/>
          </p:nvCxnSpPr>
          <p:spPr>
            <a:xfrm>
              <a:off x="825352" y="5930189"/>
              <a:ext cx="2297357" cy="0"/>
            </a:xfrm>
            <a:prstGeom prst="line">
              <a:avLst/>
            </a:prstGeom>
            <a:noFill/>
            <a:ln w="6350" cap="flat" cmpd="sng" algn="ctr">
              <a:solidFill>
                <a:srgbClr val="B2B2B2"/>
              </a:solidFill>
              <a:prstDash val="solid"/>
              <a:miter lim="800000"/>
            </a:ln>
            <a:effectLst/>
          </p:spPr>
        </p:cxnSp>
        <p:cxnSp>
          <p:nvCxnSpPr>
            <p:cNvPr id="34" name="직선 연결선 33">
              <a:extLst>
                <a:ext uri="{FF2B5EF4-FFF2-40B4-BE49-F238E27FC236}">
                  <a16:creationId xmlns:a16="http://schemas.microsoft.com/office/drawing/2014/main" id="{54B1C9E3-04BD-8FAB-8596-EA0F6DC30E91}"/>
                </a:ext>
              </a:extLst>
            </p:cNvPr>
            <p:cNvCxnSpPr>
              <a:cxnSpLocks/>
            </p:cNvCxnSpPr>
            <p:nvPr/>
          </p:nvCxnSpPr>
          <p:spPr>
            <a:xfrm>
              <a:off x="1995592" y="2476196"/>
              <a:ext cx="0" cy="3453993"/>
            </a:xfrm>
            <a:prstGeom prst="line">
              <a:avLst/>
            </a:prstGeom>
            <a:noFill/>
            <a:ln w="6350" cap="flat" cmpd="sng" algn="ctr">
              <a:solidFill>
                <a:srgbClr val="B2B2B2"/>
              </a:solidFill>
              <a:prstDash val="solid"/>
              <a:miter lim="800000"/>
            </a:ln>
            <a:effectLst/>
          </p:spPr>
        </p:cxnSp>
      </p:grpSp>
      <p:grpSp>
        <p:nvGrpSpPr>
          <p:cNvPr id="45" name="그룹 44">
            <a:extLst>
              <a:ext uri="{FF2B5EF4-FFF2-40B4-BE49-F238E27FC236}">
                <a16:creationId xmlns:a16="http://schemas.microsoft.com/office/drawing/2014/main" id="{B01651CF-1B2E-E469-9049-D58BE6E70425}"/>
              </a:ext>
            </a:extLst>
          </p:cNvPr>
          <p:cNvGrpSpPr/>
          <p:nvPr/>
        </p:nvGrpSpPr>
        <p:grpSpPr>
          <a:xfrm>
            <a:off x="1691193" y="4807567"/>
            <a:ext cx="2512956" cy="1545703"/>
            <a:chOff x="1901452" y="4417802"/>
            <a:chExt cx="2512956" cy="1545703"/>
          </a:xfrm>
        </p:grpSpPr>
        <p:sp>
          <p:nvSpPr>
            <p:cNvPr id="38" name="직사각형 37">
              <a:extLst>
                <a:ext uri="{FF2B5EF4-FFF2-40B4-BE49-F238E27FC236}">
                  <a16:creationId xmlns:a16="http://schemas.microsoft.com/office/drawing/2014/main" id="{090204E5-4B81-5705-E65D-A2E05F8AC44F}"/>
                </a:ext>
              </a:extLst>
            </p:cNvPr>
            <p:cNvSpPr/>
            <p:nvPr/>
          </p:nvSpPr>
          <p:spPr>
            <a:xfrm>
              <a:off x="2043803" y="4417802"/>
              <a:ext cx="1107304" cy="817433"/>
            </a:xfrm>
            <a:prstGeom prst="rect">
              <a:avLst/>
            </a:prstGeom>
            <a:solidFill>
              <a:schemeClr val="accent4">
                <a:lumMod val="20000"/>
                <a:lumOff val="80000"/>
                <a:alpha val="50000"/>
              </a:schemeClr>
            </a:solidFill>
            <a:ln>
              <a:solidFill>
                <a:schemeClr val="accent4">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TextBox 43">
              <a:extLst>
                <a:ext uri="{FF2B5EF4-FFF2-40B4-BE49-F238E27FC236}">
                  <a16:creationId xmlns:a16="http://schemas.microsoft.com/office/drawing/2014/main" id="{399F9BEB-2336-299D-A478-584CF4E18E31}"/>
                </a:ext>
              </a:extLst>
            </p:cNvPr>
            <p:cNvSpPr txBox="1"/>
            <p:nvPr/>
          </p:nvSpPr>
          <p:spPr>
            <a:xfrm>
              <a:off x="1901452" y="4670417"/>
              <a:ext cx="1392438" cy="400110"/>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보유지분</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85" name="TextBox 84">
              <a:extLst>
                <a:ext uri="{FF2B5EF4-FFF2-40B4-BE49-F238E27FC236}">
                  <a16:creationId xmlns:a16="http://schemas.microsoft.com/office/drawing/2014/main" id="{C8F34D5C-EC31-2395-8D8E-E8CA016C3958}"/>
                </a:ext>
              </a:extLst>
            </p:cNvPr>
            <p:cNvSpPr txBox="1"/>
            <p:nvPr/>
          </p:nvSpPr>
          <p:spPr>
            <a:xfrm>
              <a:off x="3518505" y="5035180"/>
              <a:ext cx="895903" cy="400110"/>
            </a:xfrm>
            <a:prstGeom prst="rect">
              <a:avLst/>
            </a:prstGeom>
            <a:solidFill>
              <a:schemeClr val="accent4">
                <a:lumMod val="20000"/>
                <a:lumOff val="80000"/>
              </a:schemeClr>
            </a:solidFill>
            <a:effectLst>
              <a:outerShdw blurRad="63500" sx="102000" sy="102000" algn="ctr" rotWithShape="0">
                <a:prstClr val="black">
                  <a:alpha val="40000"/>
                </a:prstClr>
              </a:outerShdw>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원본회수 가능</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7" name="TextBox 86">
              <a:extLst>
                <a:ext uri="{FF2B5EF4-FFF2-40B4-BE49-F238E27FC236}">
                  <a16:creationId xmlns:a16="http://schemas.microsoft.com/office/drawing/2014/main" id="{CE2EFE59-0B4B-335C-DD2F-E0BE5227F865}"/>
                </a:ext>
              </a:extLst>
            </p:cNvPr>
            <p:cNvSpPr txBox="1"/>
            <p:nvPr/>
          </p:nvSpPr>
          <p:spPr>
            <a:xfrm>
              <a:off x="3518505" y="5746345"/>
              <a:ext cx="895903" cy="217160"/>
            </a:xfrm>
            <a:prstGeom prst="rect">
              <a:avLst/>
            </a:prstGeom>
            <a:solidFill>
              <a:schemeClr val="bg1">
                <a:lumMod val="95000"/>
              </a:schemeClr>
            </a:solidFill>
            <a:ln>
              <a:noFill/>
            </a:ln>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11.0%</a:t>
              </a:r>
            </a:p>
          </p:txBody>
        </p:sp>
      </p:grpSp>
      <p:sp>
        <p:nvSpPr>
          <p:cNvPr id="49" name="TextBox 48">
            <a:extLst>
              <a:ext uri="{FF2B5EF4-FFF2-40B4-BE49-F238E27FC236}">
                <a16:creationId xmlns:a16="http://schemas.microsoft.com/office/drawing/2014/main" id="{C1E682FA-AB12-3643-079A-0E405D09E103}"/>
              </a:ext>
            </a:extLst>
          </p:cNvPr>
          <p:cNvSpPr txBox="1"/>
          <p:nvPr/>
        </p:nvSpPr>
        <p:spPr>
          <a:xfrm>
            <a:off x="829582" y="6371531"/>
            <a:ext cx="1882056" cy="3077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kumimoji="0" lang="ko-KR" altLang="en-US" sz="105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 매각가치</a:t>
            </a:r>
            <a:r>
              <a:rPr kumimoji="0" lang="ko-KR" altLang="en-US"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3,759</a:t>
            </a:r>
            <a:r>
              <a:rPr kumimoji="0" lang="ko-KR" altLang="en-US"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lang="en-US" altLang="ko-KR" sz="900" kern="0" dirty="0">
                <a:solidFill>
                  <a:prstClr val="black"/>
                </a:solidFill>
              </a:rPr>
              <a:t>(1,301</a:t>
            </a:r>
            <a:r>
              <a:rPr lang="ko-KR" altLang="en-US" sz="900" kern="0" dirty="0">
                <a:solidFill>
                  <a:prstClr val="black"/>
                </a:solidFill>
              </a:rPr>
              <a:t>만원</a:t>
            </a:r>
            <a:r>
              <a:rPr lang="en-US" altLang="ko-KR" sz="900" kern="0" dirty="0">
                <a:solidFill>
                  <a:prstClr val="black"/>
                </a:solidFill>
              </a:rPr>
              <a:t>/</a:t>
            </a:r>
            <a:r>
              <a:rPr lang="ko-KR" altLang="en-US" sz="900" kern="0" dirty="0">
                <a:solidFill>
                  <a:prstClr val="black"/>
                </a:solidFill>
              </a:rPr>
              <a:t>평</a:t>
            </a:r>
            <a:r>
              <a:rPr lang="en-US" altLang="ko-KR" sz="900" kern="0" dirty="0">
                <a:solidFill>
                  <a:prstClr val="black"/>
                </a:solidFill>
              </a:rPr>
              <a:t>,</a:t>
            </a:r>
            <a:r>
              <a:rPr lang="ko-KR" altLang="en-US" sz="900" kern="0" dirty="0">
                <a:solidFill>
                  <a:prstClr val="black"/>
                </a:solidFill>
              </a:rPr>
              <a:t> </a:t>
            </a:r>
            <a:r>
              <a:rPr lang="en-US" altLang="ko-KR" sz="900" kern="0" dirty="0" err="1">
                <a:solidFill>
                  <a:prstClr val="black"/>
                </a:solidFill>
              </a:rPr>
              <a:t>Cap.Rate</a:t>
            </a:r>
            <a:r>
              <a:rPr lang="en-US" altLang="ko-KR" sz="900" kern="0" dirty="0">
                <a:solidFill>
                  <a:prstClr val="black"/>
                </a:solidFill>
              </a:rPr>
              <a:t> 4.9%)</a:t>
            </a:r>
            <a:endParaRPr kumimoji="0" lang="en-US" altLang="ko-KR" sz="9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55" name="신규표">
            <a:extLst>
              <a:ext uri="{FF2B5EF4-FFF2-40B4-BE49-F238E27FC236}">
                <a16:creationId xmlns:a16="http://schemas.microsoft.com/office/drawing/2014/main" id="{4E5CAB12-D528-6A72-2599-C7D87B72C4F5}"/>
              </a:ext>
            </a:extLst>
          </p:cNvPr>
          <p:cNvGraphicFramePr>
            <a:graphicFrameLocks noGrp="1"/>
          </p:cNvGraphicFramePr>
          <p:nvPr>
            <p:extLst>
              <p:ext uri="{D42A27DB-BD31-4B8C-83A1-F6EECF244321}">
                <p14:modId xmlns:p14="http://schemas.microsoft.com/office/powerpoint/2010/main" val="2441130612"/>
              </p:ext>
            </p:extLst>
          </p:nvPr>
        </p:nvGraphicFramePr>
        <p:xfrm>
          <a:off x="4518956" y="4698971"/>
          <a:ext cx="5795501" cy="1997190"/>
        </p:xfrm>
        <a:graphic>
          <a:graphicData uri="http://schemas.openxmlformats.org/drawingml/2006/table">
            <a:tbl>
              <a:tblPr>
                <a:tableStyleId>{5940675A-B579-460E-94D1-54222C63F5DA}</a:tableStyleId>
              </a:tblPr>
              <a:tblGrid>
                <a:gridCol w="776045">
                  <a:extLst>
                    <a:ext uri="{9D8B030D-6E8A-4147-A177-3AD203B41FA5}">
                      <a16:colId xmlns:a16="http://schemas.microsoft.com/office/drawing/2014/main" val="20000"/>
                    </a:ext>
                  </a:extLst>
                </a:gridCol>
                <a:gridCol w="836576">
                  <a:extLst>
                    <a:ext uri="{9D8B030D-6E8A-4147-A177-3AD203B41FA5}">
                      <a16:colId xmlns:a16="http://schemas.microsoft.com/office/drawing/2014/main" val="20002"/>
                    </a:ext>
                  </a:extLst>
                </a:gridCol>
                <a:gridCol w="836576">
                  <a:extLst>
                    <a:ext uri="{9D8B030D-6E8A-4147-A177-3AD203B41FA5}">
                      <a16:colId xmlns:a16="http://schemas.microsoft.com/office/drawing/2014/main" val="20003"/>
                    </a:ext>
                  </a:extLst>
                </a:gridCol>
                <a:gridCol w="836576">
                  <a:extLst>
                    <a:ext uri="{9D8B030D-6E8A-4147-A177-3AD203B41FA5}">
                      <a16:colId xmlns:a16="http://schemas.microsoft.com/office/drawing/2014/main" val="20005"/>
                    </a:ext>
                  </a:extLst>
                </a:gridCol>
                <a:gridCol w="836576">
                  <a:extLst>
                    <a:ext uri="{9D8B030D-6E8A-4147-A177-3AD203B41FA5}">
                      <a16:colId xmlns:a16="http://schemas.microsoft.com/office/drawing/2014/main" val="20006"/>
                    </a:ext>
                  </a:extLst>
                </a:gridCol>
                <a:gridCol w="836576">
                  <a:extLst>
                    <a:ext uri="{9D8B030D-6E8A-4147-A177-3AD203B41FA5}">
                      <a16:colId xmlns:a16="http://schemas.microsoft.com/office/drawing/2014/main" val="20007"/>
                    </a:ext>
                  </a:extLst>
                </a:gridCol>
                <a:gridCol w="836576">
                  <a:extLst>
                    <a:ext uri="{9D8B030D-6E8A-4147-A177-3AD203B41FA5}">
                      <a16:colId xmlns:a16="http://schemas.microsoft.com/office/drawing/2014/main" val="20008"/>
                    </a:ext>
                  </a:extLst>
                </a:gridCol>
              </a:tblGrid>
              <a:tr h="292705">
                <a:tc>
                  <a:txBody>
                    <a:bodyPr/>
                    <a:lstStyle/>
                    <a:p>
                      <a:pPr algn="ctr" latinLnBrk="1">
                        <a:buNone/>
                      </a:pPr>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83127" marR="83127"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a:t>
                      </a:r>
                      <a:r>
                        <a:rPr lang="ko-KR" altLang="en-US"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 </a:t>
                      </a: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네오003</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큐브김포고촌</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7508">
                <a:tc>
                  <a:txBody>
                    <a:bodyPr/>
                    <a:lstStyle/>
                    <a:p>
                      <a:pPr algn="ctr" fontAlgn="ctr">
                        <a:buNone/>
                      </a:pPr>
                      <a:r>
                        <a:rPr lang="ko-KR" sz="9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3"/>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4"/>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5"/>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6"/>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7"/>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8"/>
                      <a:stretch>
                        <a:fillRect/>
                      </a:stretch>
                    </a:blipFill>
                  </a:tcPr>
                </a:tc>
                <a:extLst>
                  <a:ext uri="{0D108BD9-81ED-4DB2-BD59-A6C34878D82A}">
                    <a16:rowId xmlns:a16="http://schemas.microsoft.com/office/drawing/2014/main" val="10001"/>
                  </a:ext>
                </a:extLst>
              </a:tr>
              <a:tr h="292705">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소재지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거래시점</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180337">
                <a:tc>
                  <a:txBody>
                    <a:bodyPr/>
                    <a:lstStyle/>
                    <a:p>
                      <a:pPr algn="ctr" fontAlgn="ctr">
                        <a:buNone/>
                      </a:pPr>
                      <a:r>
                        <a:rPr lang="ko-KR" sz="9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endPar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9"/>
                  </a:ext>
                </a:extLst>
              </a:tr>
              <a:tr h="150787">
                <a:tc>
                  <a:txBody>
                    <a:bodyPr/>
                    <a:lstStyle/>
                    <a:p>
                      <a:pPr algn="ctr"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5.36%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4.54%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61" name="직사각형 60">
            <a:extLst>
              <a:ext uri="{FF2B5EF4-FFF2-40B4-BE49-F238E27FC236}">
                <a16:creationId xmlns:a16="http://schemas.microsoft.com/office/drawing/2014/main" id="{024EAE5F-ADEB-2815-6232-AB0DF21DC5BC}"/>
              </a:ext>
            </a:extLst>
          </p:cNvPr>
          <p:cNvSpPr/>
          <p:nvPr/>
        </p:nvSpPr>
        <p:spPr>
          <a:xfrm>
            <a:off x="4379879" y="2339677"/>
            <a:ext cx="1434079"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물류센터</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8" name="그룹 7">
            <a:extLst>
              <a:ext uri="{FF2B5EF4-FFF2-40B4-BE49-F238E27FC236}">
                <a16:creationId xmlns:a16="http://schemas.microsoft.com/office/drawing/2014/main" id="{02FAF633-6845-A868-9D53-4D07FEF69B08}"/>
              </a:ext>
            </a:extLst>
          </p:cNvPr>
          <p:cNvGrpSpPr/>
          <p:nvPr/>
        </p:nvGrpSpPr>
        <p:grpSpPr>
          <a:xfrm>
            <a:off x="4494109" y="2691299"/>
            <a:ext cx="6075459" cy="1700606"/>
            <a:chOff x="4494109" y="2192871"/>
            <a:chExt cx="6075459" cy="2091022"/>
          </a:xfrm>
        </p:grpSpPr>
        <p:pic>
          <p:nvPicPr>
            <p:cNvPr id="65" name="그림 64">
              <a:extLst>
                <a:ext uri="{FF2B5EF4-FFF2-40B4-BE49-F238E27FC236}">
                  <a16:creationId xmlns:a16="http://schemas.microsoft.com/office/drawing/2014/main" id="{8993728D-9EE5-C99C-02CC-41E329493238}"/>
                </a:ext>
              </a:extLst>
            </p:cNvPr>
            <p:cNvPicPr>
              <a:picLocks noChangeAspect="1"/>
            </p:cNvPicPr>
            <p:nvPr/>
          </p:nvPicPr>
          <p:blipFill>
            <a:blip r:embed="rId9"/>
            <a:stretch>
              <a:fillRect/>
            </a:stretch>
          </p:blipFill>
          <p:spPr>
            <a:xfrm>
              <a:off x="4494109" y="2213654"/>
              <a:ext cx="5820349" cy="2070239"/>
            </a:xfrm>
            <a:prstGeom prst="rect">
              <a:avLst/>
            </a:prstGeom>
          </p:spPr>
        </p:pic>
        <p:sp>
          <p:nvSpPr>
            <p:cNvPr id="67" name="직사각형 66">
              <a:extLst>
                <a:ext uri="{FF2B5EF4-FFF2-40B4-BE49-F238E27FC236}">
                  <a16:creationId xmlns:a16="http://schemas.microsoft.com/office/drawing/2014/main" id="{17F18305-4F45-2048-20B8-F763B88C25C8}"/>
                </a:ext>
              </a:extLst>
            </p:cNvPr>
            <p:cNvSpPr/>
            <p:nvPr/>
          </p:nvSpPr>
          <p:spPr>
            <a:xfrm>
              <a:off x="9558373" y="2854183"/>
              <a:ext cx="684077" cy="1000784"/>
            </a:xfrm>
            <a:prstGeom prst="rect">
              <a:avLst/>
            </a:prstGeom>
            <a:noFill/>
            <a:ln w="19050">
              <a:solidFill>
                <a:schemeClr val="accent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9" name="TextBox 68">
              <a:extLst>
                <a:ext uri="{FF2B5EF4-FFF2-40B4-BE49-F238E27FC236}">
                  <a16:creationId xmlns:a16="http://schemas.microsoft.com/office/drawing/2014/main" id="{857B4DFB-AD2A-870E-7FDE-CDFE9D770580}"/>
                </a:ext>
              </a:extLst>
            </p:cNvPr>
            <p:cNvSpPr txBox="1"/>
            <p:nvPr/>
          </p:nvSpPr>
          <p:spPr>
            <a:xfrm>
              <a:off x="8683792" y="2473703"/>
              <a:ext cx="1885776" cy="380480"/>
            </a:xfrm>
            <a:prstGeom prst="rect">
              <a:avLst/>
            </a:prstGeom>
          </p:spPr>
          <p:txBody>
            <a:bodyPr wrap="square" lIns="72000" tIns="36000" rIns="72000" bIns="36000" rtlCol="0">
              <a:spAutoFit/>
            </a:bodyPr>
            <a:lstStyle/>
            <a:p>
              <a:pPr algn="ctr"/>
              <a:r>
                <a:rPr lang="en-US" altLang="ko-KR"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’25~’26.1Q </a:t>
              </a:r>
            </a:p>
            <a:p>
              <a:pPr algn="ctr"/>
              <a:r>
                <a:rPr lang="en-US" altLang="ko-KR"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 Avg. </a:t>
              </a:r>
              <a:r>
                <a:rPr lang="en-US" altLang="ko-KR" sz="10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5.42%</a:t>
              </a:r>
              <a:endParaRPr lang="ko-KR" altLang="en-US" sz="10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80" name="그림 79">
              <a:extLst>
                <a:ext uri="{FF2B5EF4-FFF2-40B4-BE49-F238E27FC236}">
                  <a16:creationId xmlns:a16="http://schemas.microsoft.com/office/drawing/2014/main" id="{88ACA2CE-918E-6667-E214-A4585CEDECB7}"/>
                </a:ext>
              </a:extLst>
            </p:cNvPr>
            <p:cNvPicPr>
              <a:picLocks noChangeAspect="1"/>
            </p:cNvPicPr>
            <p:nvPr/>
          </p:nvPicPr>
          <p:blipFill>
            <a:blip r:embed="rId9"/>
            <a:srcRect l="34224" t="1001" r="33440" b="89722"/>
            <a:stretch>
              <a:fillRect/>
            </a:stretch>
          </p:blipFill>
          <p:spPr>
            <a:xfrm>
              <a:off x="6041199" y="2229639"/>
              <a:ext cx="2916324" cy="297576"/>
            </a:xfrm>
            <a:prstGeom prst="rect">
              <a:avLst/>
            </a:prstGeom>
          </p:spPr>
        </p:pic>
        <p:sp>
          <p:nvSpPr>
            <p:cNvPr id="82" name="직사각형 81">
              <a:extLst>
                <a:ext uri="{FF2B5EF4-FFF2-40B4-BE49-F238E27FC236}">
                  <a16:creationId xmlns:a16="http://schemas.microsoft.com/office/drawing/2014/main" id="{2C2515CE-36C8-62E0-9D44-760C62CDEAD7}"/>
                </a:ext>
              </a:extLst>
            </p:cNvPr>
            <p:cNvSpPr/>
            <p:nvPr/>
          </p:nvSpPr>
          <p:spPr>
            <a:xfrm>
              <a:off x="4535926" y="2192871"/>
              <a:ext cx="5778531" cy="205814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cxnSp>
        <p:nvCxnSpPr>
          <p:cNvPr id="86" name="직선 화살표 연결선 85">
            <a:extLst>
              <a:ext uri="{FF2B5EF4-FFF2-40B4-BE49-F238E27FC236}">
                <a16:creationId xmlns:a16="http://schemas.microsoft.com/office/drawing/2014/main" id="{80E5D41F-5715-EC91-9B38-E99FD3A6C5CA}"/>
              </a:ext>
            </a:extLst>
          </p:cNvPr>
          <p:cNvCxnSpPr>
            <a:cxnSpLocks/>
          </p:cNvCxnSpPr>
          <p:nvPr/>
        </p:nvCxnSpPr>
        <p:spPr>
          <a:xfrm>
            <a:off x="449362" y="6244690"/>
            <a:ext cx="2806293" cy="0"/>
          </a:xfrm>
          <a:prstGeom prst="straightConnector1">
            <a:avLst/>
          </a:prstGeom>
          <a:ln w="15875">
            <a:solidFill>
              <a:schemeClr val="tx1">
                <a:lumMod val="65000"/>
                <a:lumOff val="35000"/>
              </a:schemeClr>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8AFF8D9-E064-1817-CD5E-D66CDB93C032}"/>
              </a:ext>
            </a:extLst>
          </p:cNvPr>
          <p:cNvSpPr txBox="1"/>
          <p:nvPr/>
        </p:nvSpPr>
        <p:spPr>
          <a:xfrm>
            <a:off x="1954688" y="2391458"/>
            <a:ext cx="2399969" cy="276999"/>
          </a:xfrm>
          <a:prstGeom prst="rect">
            <a:avLst/>
          </a:prstGeom>
          <a:noFill/>
        </p:spPr>
        <p:txBody>
          <a:bodyPr wrap="square">
            <a:spAutoFit/>
          </a:bodyPr>
          <a:lstStyle/>
          <a:p>
            <a:pPr algn="ct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 4%</a:t>
            </a:r>
            <a:r>
              <a:rPr lang="ko-KR" altLang="en-US"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중반</a:t>
            </a: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 </a:t>
            </a: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980</a:t>
            </a:r>
            <a:r>
              <a:rPr lang="ko-KR" altLang="en-US" sz="1200" spc="-5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만원대</a:t>
            </a: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직사각형 8">
            <a:extLst>
              <a:ext uri="{FF2B5EF4-FFF2-40B4-BE49-F238E27FC236}">
                <a16:creationId xmlns:a16="http://schemas.microsoft.com/office/drawing/2014/main" id="{2BCFA72F-2164-7013-5B7D-DF2A30EC3758}"/>
              </a:ext>
            </a:extLst>
          </p:cNvPr>
          <p:cNvSpPr/>
          <p:nvPr/>
        </p:nvSpPr>
        <p:spPr>
          <a:xfrm>
            <a:off x="1848805" y="5631413"/>
            <a:ext cx="1092044" cy="109729"/>
          </a:xfrm>
          <a:prstGeom prst="rect">
            <a:avLst/>
          </a:prstGeom>
          <a:solidFill>
            <a:schemeClr val="bg1">
              <a:lumMod val="95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부대비용</a:t>
            </a:r>
          </a:p>
        </p:txBody>
      </p:sp>
      <p:cxnSp>
        <p:nvCxnSpPr>
          <p:cNvPr id="41" name="직선 화살표 연결선 40">
            <a:extLst>
              <a:ext uri="{FF2B5EF4-FFF2-40B4-BE49-F238E27FC236}">
                <a16:creationId xmlns:a16="http://schemas.microsoft.com/office/drawing/2014/main" id="{2316ECBF-5638-BC53-A5C3-2D2EB443D26F}"/>
              </a:ext>
            </a:extLst>
          </p:cNvPr>
          <p:cNvCxnSpPr>
            <a:cxnSpLocks/>
          </p:cNvCxnSpPr>
          <p:nvPr/>
        </p:nvCxnSpPr>
        <p:spPr>
          <a:xfrm>
            <a:off x="449362" y="5625002"/>
            <a:ext cx="2806293" cy="0"/>
          </a:xfrm>
          <a:prstGeom prst="straightConnector1">
            <a:avLst/>
          </a:prstGeom>
          <a:ln w="22225">
            <a:solidFill>
              <a:schemeClr val="tx1"/>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B4F734-242F-CA06-2FB2-1CD8E0BCD14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회수 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0" name="그룹 9">
            <a:extLst>
              <a:ext uri="{FF2B5EF4-FFF2-40B4-BE49-F238E27FC236}">
                <a16:creationId xmlns:a16="http://schemas.microsoft.com/office/drawing/2014/main" id="{15DA1FB9-6057-88B4-8AEC-703DDEC145EB}"/>
              </a:ext>
            </a:extLst>
          </p:cNvPr>
          <p:cNvGrpSpPr/>
          <p:nvPr/>
        </p:nvGrpSpPr>
        <p:grpSpPr>
          <a:xfrm>
            <a:off x="458887" y="1987916"/>
            <a:ext cx="9783663" cy="247712"/>
            <a:chOff x="458887" y="1987916"/>
            <a:chExt cx="9783663" cy="247712"/>
          </a:xfrm>
        </p:grpSpPr>
        <p:sp>
          <p:nvSpPr>
            <p:cNvPr id="11" name="직사각형 10">
              <a:extLst>
                <a:ext uri="{FF2B5EF4-FFF2-40B4-BE49-F238E27FC236}">
                  <a16:creationId xmlns:a16="http://schemas.microsoft.com/office/drawing/2014/main" id="{CD9204E6-33F9-15AA-AF6D-44D1772283C1}"/>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9B27E816-D798-EFB0-7DBC-47DCE832A880}"/>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3" name="자유형 159">
              <a:extLst>
                <a:ext uri="{FF2B5EF4-FFF2-40B4-BE49-F238E27FC236}">
                  <a16:creationId xmlns:a16="http://schemas.microsoft.com/office/drawing/2014/main" id="{58A4EED7-5191-040C-866F-552A1BACCFC7}"/>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자유형 160">
              <a:extLst>
                <a:ext uri="{FF2B5EF4-FFF2-40B4-BE49-F238E27FC236}">
                  <a16:creationId xmlns:a16="http://schemas.microsoft.com/office/drawing/2014/main" id="{21F6EB44-29AB-9B90-26D7-C61027F25A57}"/>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E4F60A74-1BA8-AF3D-E6F0-1F449CA3EB27}"/>
                </a:ext>
              </a:extLst>
            </p:cNvPr>
            <p:cNvSpPr txBox="1"/>
            <p:nvPr/>
          </p:nvSpPr>
          <p:spPr>
            <a:xfrm>
              <a:off x="458887" y="2034828"/>
              <a:ext cx="124985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sp>
        <p:nvSpPr>
          <p:cNvPr id="17" name="TextBox 16">
            <a:extLst>
              <a:ext uri="{FF2B5EF4-FFF2-40B4-BE49-F238E27FC236}">
                <a16:creationId xmlns:a16="http://schemas.microsoft.com/office/drawing/2014/main" id="{7C34E235-CE27-87BE-5FF0-81B87B3B5ACD}"/>
              </a:ext>
            </a:extLst>
          </p:cNvPr>
          <p:cNvSpPr txBox="1"/>
          <p:nvPr/>
        </p:nvSpPr>
        <p:spPr>
          <a:xfrm>
            <a:off x="283369" y="1040097"/>
            <a:ext cx="9995086" cy="728849"/>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prstClr val="black"/>
                </a:solidFill>
              </a:rPr>
              <a:t>’26</a:t>
            </a:r>
            <a:r>
              <a:rPr lang="ko-KR" altLang="en-US" sz="1600" dirty="0">
                <a:solidFill>
                  <a:prstClr val="black"/>
                </a:solidFill>
              </a:rPr>
              <a:t>년도 수도권 </a:t>
            </a:r>
            <a:r>
              <a:rPr lang="en-US" altLang="ko-KR" sz="1600" dirty="0">
                <a:solidFill>
                  <a:prstClr val="black"/>
                </a:solidFill>
              </a:rPr>
              <a:t>Last-mile </a:t>
            </a:r>
            <a:r>
              <a:rPr lang="ko-KR" altLang="en-US" sz="1600" dirty="0">
                <a:solidFill>
                  <a:prstClr val="black"/>
                </a:solidFill>
              </a:rPr>
              <a:t>거래사례 분석 내용 토대 시 </a:t>
            </a:r>
            <a:r>
              <a:rPr lang="en-US" altLang="ko-KR" sz="1600" dirty="0">
                <a:solidFill>
                  <a:prstClr val="black"/>
                </a:solidFill>
              </a:rPr>
              <a:t>10</a:t>
            </a:r>
            <a:r>
              <a:rPr lang="ko-KR" altLang="en-US" sz="1600" dirty="0">
                <a:solidFill>
                  <a:prstClr val="black"/>
                </a:solidFill>
              </a:rPr>
              <a:t>년 후 매각에 따른 매각차익이 기대됨 </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 자 리츠에 투하한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보유지분의 원본손실이 나지 않는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BEP </a:t>
            </a:r>
            <a:r>
              <a:rPr lang="en-US" altLang="ko-KR"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거래사례 감안 시 안정적 회수가 예상됨 </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78081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C4D8-6476-452B-775E-9A40DB6D2C34}"/>
            </a:ext>
          </a:extLst>
        </p:cNvPr>
        <p:cNvGrpSpPr/>
        <p:nvPr/>
      </p:nvGrpSpPr>
      <p:grpSpPr>
        <a:xfrm>
          <a:off x="0" y="0"/>
          <a:ext cx="0" cy="0"/>
          <a:chOff x="0" y="0"/>
          <a:chExt cx="0" cy="0"/>
        </a:xfrm>
      </p:grpSpPr>
      <p:graphicFrame>
        <p:nvGraphicFramePr>
          <p:cNvPr id="7" name="표 6">
            <a:extLst>
              <a:ext uri="{FF2B5EF4-FFF2-40B4-BE49-F238E27FC236}">
                <a16:creationId xmlns:a16="http://schemas.microsoft.com/office/drawing/2014/main" id="{2F5D4739-545A-854C-A8CF-734DBA279893}"/>
              </a:ext>
            </a:extLst>
          </p:cNvPr>
          <p:cNvGraphicFramePr>
            <a:graphicFrameLocks noGrp="1"/>
          </p:cNvGraphicFramePr>
          <p:nvPr>
            <p:extLst>
              <p:ext uri="{D42A27DB-BD31-4B8C-83A1-F6EECF244321}">
                <p14:modId xmlns:p14="http://schemas.microsoft.com/office/powerpoint/2010/main" val="1653105772"/>
              </p:ext>
            </p:extLst>
          </p:nvPr>
        </p:nvGraphicFramePr>
        <p:xfrm>
          <a:off x="773398" y="1043533"/>
          <a:ext cx="9289031" cy="5672955"/>
        </p:xfrm>
        <a:graphic>
          <a:graphicData uri="http://schemas.openxmlformats.org/drawingml/2006/table">
            <a:tbl>
              <a:tblPr>
                <a:tableStyleId>{5C22544A-7EE6-4342-B048-85BDC9FD1C3A}</a:tableStyleId>
              </a:tblPr>
              <a:tblGrid>
                <a:gridCol w="1065130">
                  <a:extLst>
                    <a:ext uri="{9D8B030D-6E8A-4147-A177-3AD203B41FA5}">
                      <a16:colId xmlns:a16="http://schemas.microsoft.com/office/drawing/2014/main" val="1941051276"/>
                    </a:ext>
                  </a:extLst>
                </a:gridCol>
                <a:gridCol w="298236">
                  <a:extLst>
                    <a:ext uri="{9D8B030D-6E8A-4147-A177-3AD203B41FA5}">
                      <a16:colId xmlns:a16="http://schemas.microsoft.com/office/drawing/2014/main" val="4131942571"/>
                    </a:ext>
                  </a:extLst>
                </a:gridCol>
                <a:gridCol w="1347363">
                  <a:extLst>
                    <a:ext uri="{9D8B030D-6E8A-4147-A177-3AD203B41FA5}">
                      <a16:colId xmlns:a16="http://schemas.microsoft.com/office/drawing/2014/main" val="2304195968"/>
                    </a:ext>
                  </a:extLst>
                </a:gridCol>
                <a:gridCol w="3289151">
                  <a:extLst>
                    <a:ext uri="{9D8B030D-6E8A-4147-A177-3AD203B41FA5}">
                      <a16:colId xmlns:a16="http://schemas.microsoft.com/office/drawing/2014/main" val="2453820789"/>
                    </a:ext>
                  </a:extLst>
                </a:gridCol>
                <a:gridCol w="3289151">
                  <a:extLst>
                    <a:ext uri="{9D8B030D-6E8A-4147-A177-3AD203B41FA5}">
                      <a16:colId xmlns:a16="http://schemas.microsoft.com/office/drawing/2014/main" val="3152571475"/>
                    </a:ext>
                  </a:extLst>
                </a:gridCol>
              </a:tblGrid>
              <a:tr h="172055">
                <a:tc gridSpan="2">
                  <a:txBody>
                    <a:bodyPr/>
                    <a:lstStyle/>
                    <a:p>
                      <a:pPr marL="0" marR="0" indent="0" algn="ctr" fontAlgn="base" latinLnBrk="0">
                        <a:lnSpc>
                          <a:spcPct val="100000"/>
                        </a:lnSpc>
                        <a:buNone/>
                      </a:pP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lstStyle/>
                    <a:p>
                      <a:pPr latinLnBrk="1"/>
                      <a:endParaRPr lang="ko-KR" altLang="en-US"/>
                    </a:p>
                  </a:txBody>
                  <a:tcPr/>
                </a:tc>
                <a:tc>
                  <a:txBody>
                    <a:bodyPr/>
                    <a:lstStyle/>
                    <a:p>
                      <a:pPr marL="0" marR="0" indent="0" algn="ctr" fontAlgn="base" latinLnBrk="0">
                        <a:lnSpc>
                          <a:spcPct val="100000"/>
                        </a:lnSpc>
                        <a:buNone/>
                      </a:pPr>
                      <a:r>
                        <a:rPr lang="ko-KR" altLang="en-US"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영업인가관련</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00000"/>
                        </a:lnSpc>
                        <a:buNone/>
                      </a:pPr>
                      <a:r>
                        <a:rPr lang="ko-KR" sz="1000" kern="0" spc="0" dirty="0" err="1">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(KLL</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子리츠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00000"/>
                        </a:lnSpc>
                        <a:buNone/>
                      </a:pPr>
                      <a:r>
                        <a:rPr lang="ko-KR" sz="1000" kern="0" spc="0" dirty="0" err="1">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母리츠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63645471"/>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2026-07-16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입찰공고 및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TM</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베포</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매각자문사</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_JLL)</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865659917"/>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2026-08-05</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입찰제안서 제출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861935025"/>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2026-08-27</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체결</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매도인</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216773502"/>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2026-09-11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r>
                        <a:rPr lang="ko-KR" altLang="en-US"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부동산원 사전미팅</a:t>
                      </a: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회사 발기설립 완료</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255469362"/>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공식 접수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fontAlgn="base" latinLnBrk="1">
                        <a:lnSpc>
                          <a:spcPct val="100000"/>
                        </a:lnSpc>
                        <a:buNone/>
                      </a:pP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선순위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 완료</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LOC</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97205"/>
                  </a:ext>
                </a:extLst>
              </a:tr>
              <a:tr h="151990">
                <a:tc>
                  <a:txBody>
                    <a:bodyP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2026-09-24</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추석연휴</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8219361"/>
                  </a:ext>
                </a:extLst>
              </a:tr>
              <a:tr h="151990">
                <a:tc>
                  <a:txBody>
                    <a:bodyPr/>
                    <a:lstStyle/>
                    <a:p>
                      <a:pPr marL="0" marR="0" indent="0" algn="ctr" fontAlgn="base" latinLnBrk="0">
                        <a:lnSpc>
                          <a:spcPct val="100000"/>
                        </a:lnSpc>
                        <a:buNone/>
                      </a:pPr>
                      <a:r>
                        <a:rPr lang="en-US"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2026-09-25</a:t>
                      </a:r>
                      <a:endParaRPr lang="ko-KR"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ko-KR"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추석연휴</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94745254"/>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2026-09-28</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3336967853"/>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2026-09-29</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altLang="en-US" sz="900" kern="0" spc="0"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국토부</a:t>
                      </a:r>
                      <a:r>
                        <a:rPr lang="ko-KR" altLang="en-US"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보고업무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r>
                        <a:rPr lang="ko-KR" alt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위수탁</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체결완료</a:t>
                      </a:r>
                      <a:endParaRPr lang="ko-KR" alt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3796258425"/>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2026-09-30</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248517962"/>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r>
                        <a:rPr lang="ko-KR" altLang="en-US"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지원업무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1060235445"/>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2026-10-02</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최종 합의 회람 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최종 합의 회람 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7608628"/>
                  </a:ext>
                </a:extLst>
              </a:tr>
              <a:tr h="151990">
                <a:tc>
                  <a:txBody>
                    <a:bodyP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2026-10-05</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개천절 대체휴무일</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extLst>
                  <a:ext uri="{0D108BD9-81ED-4DB2-BD59-A6C34878D82A}">
                    <a16:rowId xmlns:a16="http://schemas.microsoft.com/office/drawing/2014/main" val="3210237899"/>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 합의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사모사채 인수확약서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251439993"/>
                  </a:ext>
                </a:extLst>
              </a:tr>
              <a:tr h="151990">
                <a:tc>
                  <a:txBody>
                    <a:bodyPr/>
                    <a:lstStyle/>
                    <a:p>
                      <a:pPr marL="0" marR="0" indent="0" algn="ctr" fontAlgn="base" latinLnBrk="0">
                        <a:lnSpc>
                          <a:spcPct val="100000"/>
                        </a:lnSpc>
                        <a:buNone/>
                      </a:pPr>
                      <a:r>
                        <a:rPr lang="en-US"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2026-10-07</a:t>
                      </a: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내부 투자심의위원회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내부 투자심의위원회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269043425"/>
                  </a:ext>
                </a:extLst>
              </a:tr>
              <a:tr h="151990">
                <a:tc>
                  <a:txBody>
                    <a:bodyPr/>
                    <a:lstStyle/>
                    <a:p>
                      <a:pPr marL="0" marR="0" indent="0" algn="ctr" fontAlgn="base" latinLnBrk="0">
                        <a:lnSpc>
                          <a:spcPct val="100000"/>
                        </a:lnSpc>
                        <a:buNone/>
                      </a:pPr>
                      <a:r>
                        <a:rPr lang="en-US"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2026-10-08</a:t>
                      </a: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lang="ko-KR" alt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l" defTabSz="1007943" rtl="0" eaLnBrk="1" fontAlgn="base" latinLnBrk="1" hangingPunct="1">
                        <a:lnSpc>
                          <a:spcPct val="100000"/>
                        </a:lnSpc>
                        <a:spcBef>
                          <a:spcPts val="0"/>
                        </a:spcBef>
                        <a:spcAft>
                          <a:spcPts val="0"/>
                        </a:spcAft>
                        <a:buClrTx/>
                        <a:buSzTx/>
                        <a:buFontTx/>
                        <a:buNone/>
                        <a:tabLst/>
                        <a:defRPr/>
                      </a:pP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합의</a:t>
                      </a:r>
                      <a:endParaRPr lang="ko-KR" sz="900" kern="0" spc="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11330696"/>
                  </a:ext>
                </a:extLst>
              </a:tr>
              <a:tr h="151990">
                <a:tc>
                  <a:txBody>
                    <a:bodyP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2026-10-09</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a:lnSpc>
                          <a:spcPct val="100000"/>
                        </a:lnSpc>
                        <a:buNone/>
                      </a:pPr>
                      <a:r>
                        <a:rPr lang="en-US" alt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한글날</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l">
                        <a:lnSpc>
                          <a:spcPct val="100000"/>
                        </a:lnSpc>
                        <a:buNone/>
                      </a:pPr>
                      <a:endParaRPr 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46778699"/>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2026-10-12</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lvl="0" indent="0" algn="ctr" defTabSz="1007943" rtl="0" eaLnBrk="1" fontAlgn="base" latinLnBrk="1" hangingPunct="1">
                        <a:lnSpc>
                          <a:spcPct val="100000"/>
                        </a:lnSpc>
                        <a:spcBef>
                          <a:spcPts val="0"/>
                        </a:spcBef>
                        <a:spcAft>
                          <a:spcPts val="0"/>
                        </a:spcAft>
                        <a:buClrTx/>
                        <a:buSzTx/>
                        <a:buFontTx/>
                        <a:buNone/>
                        <a:tabLst/>
                        <a:defRPr/>
                      </a:pPr>
                      <a:r>
                        <a:rPr lang="ko-KR" altLang="ko-KR" sz="900" kern="0" spc="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완료목표일</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투자자문위원회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008051875"/>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287283137"/>
                  </a:ext>
                </a:extLst>
              </a:tr>
              <a:tr h="558309">
                <a:tc>
                  <a:txBody>
                    <a:bodyPr/>
                    <a:lstStyle/>
                    <a:p>
                      <a:pPr marL="0" marR="0" indent="0" algn="ctr" fontAlgn="base" latinLnBrk="0">
                        <a:lnSpc>
                          <a:spcPct val="10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2026-10-14</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50000"/>
                        </a:lnSpc>
                        <a:buNone/>
                      </a:pP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5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이사회 및 주주총회 개최 </a:t>
                      </a:r>
                    </a:p>
                    <a:p>
                      <a:pPr marL="0" marR="0" indent="0" algn="l" fontAlgn="base" latinLnBrk="1">
                        <a:lnSpc>
                          <a:spcPct val="15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신주발행 승인의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체결의 건</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 체결의 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5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이사회 개최</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 제출의 건</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사모사채</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및 인수계약 체결의 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841275314"/>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2026-10-15</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r>
                        <a:rPr lang="ko-KR" altLang="en-US"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a:t>
                      </a: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16822231"/>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및 대출약정 체결</a:t>
                      </a:r>
                      <a:endParaRPr lang="en-US" alt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매입확약서 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2484140"/>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2026-10-19</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351962818"/>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2026-10-20</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12090969"/>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납입 완료</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대출금 인출요청서 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납입</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520093402"/>
                  </a:ext>
                </a:extLst>
              </a:tr>
              <a:tr h="151990">
                <a:tc>
                  <a:txBody>
                    <a:bodyPr/>
                    <a:lstStyle/>
                    <a:p>
                      <a:pPr marL="0" marR="0" indent="0" algn="ctr" fontAlgn="base" latinLnBrk="0">
                        <a:lnSpc>
                          <a:spcPct val="10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2026-10-22</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lstStyle/>
                    <a:p>
                      <a:pPr marL="0" marR="0" indent="0" algn="ctr"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목</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lstStyle/>
                    <a:p>
                      <a:pPr marL="0" marR="0" indent="0" algn="l"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대출차입금 인출 및 잔금 지급</a:t>
                      </a: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소유권이전 완료</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변경보고</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82659298"/>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40394384"/>
                  </a:ext>
                </a:extLst>
              </a:tr>
              <a:tr h="151990">
                <a:tc>
                  <a:txBody>
                    <a:bodyP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2026-10-28</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독점적 협상기간 만료</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예정일</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644029616"/>
                  </a:ext>
                </a:extLst>
              </a:tr>
              <a:tr h="151990">
                <a:tc>
                  <a:txBody>
                    <a:bodyP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2026-10-30</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투자확약서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기간만료</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2451104"/>
                  </a:ext>
                </a:extLst>
              </a:tr>
            </a:tbl>
          </a:graphicData>
        </a:graphic>
      </p:graphicFrame>
    </p:spTree>
    <p:extLst>
      <p:ext uri="{BB962C8B-B14F-4D97-AF65-F5344CB8AC3E}">
        <p14:creationId xmlns:p14="http://schemas.microsoft.com/office/powerpoint/2010/main" val="232942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0BEEB-9DD2-3C77-2FC8-A30F3EE5E5DF}"/>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1B62D799-CE76-9167-CAA6-458518F228D7}"/>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be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95512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0A80C80-F074-4A60-86CB-0B0DD1500F97}">
  <we:reference id="wa200010001" version="1.0.0.1" store="ko-KR" storeType="OMEX"/>
  <we:alternateReferences>
    <we:reference id="WA200010001" version="1.0.0.1" store="" storeType="OMEX"/>
  </we:alternateReferences>
  <we:properties>
    <we:property name="claude.fileId" value="&quot;df7891e2-9e3d-429a-bc7e-87bd417d596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94192</TotalTime>
  <Words>3326</Words>
  <Application>Microsoft Office PowerPoint</Application>
  <PresentationFormat>사용자 지정</PresentationFormat>
  <Paragraphs>988</Paragraphs>
  <Slides>19</Slides>
  <Notes>4</Notes>
  <HiddenSlides>0</HiddenSlides>
  <MMClips>0</MMClips>
  <ScaleCrop>false</ScaleCrop>
  <HeadingPairs>
    <vt:vector size="6" baseType="variant">
      <vt:variant>
        <vt:lpstr>사용한 글꼴</vt:lpstr>
      </vt:variant>
      <vt:variant>
        <vt:i4>11</vt:i4>
      </vt:variant>
      <vt:variant>
        <vt:lpstr>테마</vt:lpstr>
      </vt:variant>
      <vt:variant>
        <vt:i4>2</vt:i4>
      </vt:variant>
      <vt:variant>
        <vt:lpstr>슬라이드 제목</vt:lpstr>
      </vt:variant>
      <vt:variant>
        <vt:i4>19</vt:i4>
      </vt:variant>
    </vt:vector>
  </HeadingPairs>
  <TitlesOfParts>
    <vt:vector size="32" baseType="lpstr">
      <vt:lpstr>KoPubWorld돋움체 Bold</vt:lpstr>
      <vt:lpstr>KoPubWorld돋움체 Light</vt:lpstr>
      <vt:lpstr>KoPubWorld돋움체 Medium</vt:lpstr>
      <vt:lpstr>KoPubWorld바탕체 Medium</vt:lpstr>
      <vt:lpstr>맑은 고딕</vt:lpstr>
      <vt:lpstr>하나 CM</vt:lpstr>
      <vt:lpstr>Arial</vt:lpstr>
      <vt:lpstr>Calibri</vt:lpstr>
      <vt:lpstr>Calibri Light</vt:lpstr>
      <vt:lpstr>Times New Roman</vt:lpstr>
      <vt:lpstr>Wingdings</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5366</cp:revision>
  <cp:lastPrinted>2026-03-24T08:05:21Z</cp:lastPrinted>
  <dcterms:created xsi:type="dcterms:W3CDTF">2019-10-07T05:08:42Z</dcterms:created>
  <dcterms:modified xsi:type="dcterms:W3CDTF">2026-10-01T08:10:07Z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cF_T0GkpntLHHvFV8OwBnZLtooc202402010000000</vt:lpwstr>
  </property>
  <property fmtid="{D5CDD505-2E9C-101B-9397-08002B2CF9AE}" pid="3" name="docPath">
    <vt:lpwstr>WDpcNy7snpDsgrDsmrTsmIEo7L2U7YGs66CZKVw1Mi4g7L2U656M7L2U65287J207ZSE7J247ZSE6528XOy9lO2BrOugmeyViOyWkVx2MS4wW+yDgeyepeumrOy4oO2MgF0g67O47Yis7Ius7J6Q66OMX0tMSSDsp4DrtoTtiKzsnpAucHB0eF9kcmFmdC5wcHR4X1YyIC0g67O17IKs67O4LnBwdHg=</vt:lpwstr>
  </property>
  <property fmtid="{D5CDD505-2E9C-101B-9397-08002B2CF9AE}" pid="4" name="docUid">
    <vt:lpwstr>1zCo5okiqpJXTDsjY9eqR4XTkvc</vt:lpwstr>
  </property>
  <property fmtid="{D5CDD505-2E9C-101B-9397-08002B2CF9AE}" pid="5" name="parentBranchUid">
    <vt:lpwstr>XUcWbd-NnYHVOfCAZHCSoaEMHQs202402010000000</vt:lpwstr>
  </property>
</Properties>
</file>