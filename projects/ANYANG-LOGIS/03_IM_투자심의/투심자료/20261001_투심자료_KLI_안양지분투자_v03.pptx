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712" r:id="rId1"/>
    <p:sldMasterId id="2147483787" r:id="rId2"/>
  </p:sldMasterIdLst>
  <p:notesMasterIdLst>
    <p:notesMasterId r:id="rId22"/>
  </p:notesMasterIdLst>
  <p:handoutMasterIdLst>
    <p:handoutMasterId r:id="rId23"/>
  </p:handoutMasterIdLst>
  <p:sldIdLst>
    <p:sldId id="1756" r:id="rId3"/>
    <p:sldId id="1175" r:id="rId4"/>
    <p:sldId id="1176" r:id="rId5"/>
    <p:sldId id="1657" r:id="rId6"/>
    <p:sldId id="2076139243" r:id="rId7"/>
    <p:sldId id="2076139241" r:id="rId8"/>
    <p:sldId id="1822" r:id="rId9"/>
    <p:sldId id="2076139242" r:id="rId10"/>
    <p:sldId id="1764" r:id="rId11"/>
    <p:sldId id="1809" r:id="rId12"/>
    <p:sldId id="2076139239" r:id="rId13"/>
    <p:sldId id="2076139238" r:id="rId14"/>
    <p:sldId id="1786" r:id="rId15"/>
    <p:sldId id="1793" r:id="rId16"/>
    <p:sldId id="1781" r:id="rId17"/>
    <p:sldId id="1763" r:id="rId18"/>
    <p:sldId id="1794" r:id="rId19"/>
    <p:sldId id="1790" r:id="rId20"/>
    <p:sldId id="1780" r:id="rId21"/>
  </p:sldIdLst>
  <p:sldSz cx="10691813" cy="7559675"/>
  <p:notesSz cx="6807200" cy="99393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4195" userDrawn="1">
          <p15:clr>
            <a:srgbClr val="A4A3A4"/>
          </p15:clr>
        </p15:guide>
        <p15:guide id="13" orient="horz" pos="680" userDrawn="1">
          <p15:clr>
            <a:srgbClr val="A4A3A4"/>
          </p15:clr>
        </p15:guide>
        <p15:guide id="14" orient="horz" pos="1111" userDrawn="1">
          <p15:clr>
            <a:srgbClr val="A4A3A4"/>
          </p15:clr>
        </p15:guide>
        <p15:guide id="16" orient="horz" pos="3628" userDrawn="1">
          <p15:clr>
            <a:srgbClr val="A4A3A4"/>
          </p15:clr>
        </p15:guide>
        <p15:guide id="20" orient="horz" pos="1360" userDrawn="1">
          <p15:clr>
            <a:srgbClr val="A4A3A4"/>
          </p15:clr>
        </p15:guide>
        <p15:guide id="23" orient="horz" pos="4105" userDrawn="1">
          <p15:clr>
            <a:srgbClr val="A4A3A4"/>
          </p15:clr>
        </p15:guide>
        <p15:guide id="24" pos="601" userDrawn="1">
          <p15:clr>
            <a:srgbClr val="A4A3A4"/>
          </p15:clr>
        </p15:guide>
        <p15:guide id="26" pos="1780" userDrawn="1">
          <p15:clr>
            <a:srgbClr val="A4A3A4"/>
          </p15:clr>
        </p15:guide>
        <p15:guide id="27" pos="396" userDrawn="1">
          <p15:clr>
            <a:srgbClr val="A4A3A4"/>
          </p15:clr>
        </p15:guide>
        <p15:guide id="28" pos="1689" userDrawn="1">
          <p15:clr>
            <a:srgbClr val="A4A3A4"/>
          </p15:clr>
        </p15:guide>
        <p15:guide id="29" pos="4842" userDrawn="1">
          <p15:clr>
            <a:srgbClr val="A4A3A4"/>
          </p15:clr>
        </p15:guide>
        <p15:guide id="30" orient="horz" pos="2993" userDrawn="1">
          <p15:clr>
            <a:srgbClr val="A4A3A4"/>
          </p15:clr>
        </p15:guide>
        <p15:guide id="31" pos="3458" userDrawn="1">
          <p15:clr>
            <a:srgbClr val="A4A3A4"/>
          </p15:clr>
        </p15:guide>
        <p15:guide id="32" orient="horz" pos="90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DC3E6"/>
    <a:srgbClr val="FFF2CC"/>
    <a:srgbClr val="F8CBAD"/>
    <a:srgbClr val="C00000"/>
    <a:srgbClr val="BFBFBF"/>
    <a:srgbClr val="0000FF"/>
    <a:srgbClr val="2E75B6"/>
    <a:srgbClr val="002060"/>
    <a:srgbClr val="FFFFFF"/>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보통 스타일 2 - 강조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129" autoAdjust="0"/>
    <p:restoredTop sz="96242" autoAdjust="0"/>
  </p:normalViewPr>
  <p:slideViewPr>
    <p:cSldViewPr showGuides="1">
      <p:cViewPr>
        <p:scale>
          <a:sx n="100" d="100"/>
          <a:sy n="100" d="100"/>
        </p:scale>
        <p:origin x="1602" y="72"/>
      </p:cViewPr>
      <p:guideLst>
        <p:guide orient="horz" pos="4195"/>
        <p:guide orient="horz" pos="680"/>
        <p:guide orient="horz" pos="1111"/>
        <p:guide orient="horz" pos="3628"/>
        <p:guide orient="horz" pos="1360"/>
        <p:guide orient="horz" pos="4105"/>
        <p:guide pos="601"/>
        <p:guide pos="1780"/>
        <p:guide pos="396"/>
        <p:guide pos="1689"/>
        <p:guide pos="4842"/>
        <p:guide orient="horz" pos="2993"/>
        <p:guide pos="3458"/>
        <p:guide orient="horz" pos="907"/>
      </p:guideLst>
    </p:cSldViewPr>
  </p:slideViewPr>
  <p:outlineViewPr>
    <p:cViewPr>
      <p:scale>
        <a:sx n="33" d="100"/>
        <a:sy n="33" d="100"/>
      </p:scale>
      <p:origin x="0" y="-7674"/>
    </p:cViewPr>
  </p:outlineViewPr>
  <p:notesTextViewPr>
    <p:cViewPr>
      <p:scale>
        <a:sx n="100" d="100"/>
        <a:sy n="100" d="100"/>
      </p:scale>
      <p:origin x="0" y="0"/>
    </p:cViewPr>
  </p:notesTextViewPr>
  <p:sorterViewPr>
    <p:cViewPr>
      <p:scale>
        <a:sx n="100" d="100"/>
        <a:sy n="100" d="100"/>
      </p:scale>
      <p:origin x="0" y="-12246"/>
    </p:cViewPr>
  </p:sorterViewPr>
  <p:notesViewPr>
    <p:cSldViewPr>
      <p:cViewPr varScale="1">
        <p:scale>
          <a:sx n="75" d="100"/>
          <a:sy n="75" d="100"/>
        </p:scale>
        <p:origin x="3168" y="54"/>
      </p:cViewPr>
      <p:guideLst/>
    </p:cSldViewPr>
  </p:notesViewPr>
  <p:gridSpacing cx="36004" cy="36004"/>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notesMaster" Target="notesMasters/notesMaster1.xml"/><Relationship Id="rId23" Type="http://schemas.openxmlformats.org/officeDocument/2006/relationships/handoutMaster" Target="handoutMasters/handout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계열 1</c:v>
                </c:pt>
              </c:strCache>
            </c:strRef>
          </c:tx>
          <c:spPr>
            <a:solidFill>
              <a:schemeClr val="bg1">
                <a:lumMod val="85000"/>
              </a:schemeClr>
            </a:solidFill>
            <a:ln>
              <a:noFill/>
            </a:ln>
            <a:effectLst/>
          </c:spPr>
          <c:invertIfNegative val="0"/>
          <c:dPt>
            <c:idx val="7"/>
            <c:invertIfNegative val="0"/>
            <c:bubble3D val="0"/>
            <c:spPr>
              <a:solidFill>
                <a:schemeClr val="accent1">
                  <a:lumMod val="75000"/>
                </a:schemeClr>
              </a:solidFill>
              <a:ln>
                <a:no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1-4087-4575-84CA-3BF6C6C2A227}"/>
              </c:ext>
            </c:extLst>
          </c:dPt>
          <c:dPt>
            <c:idx val="8"/>
            <c:invertIfNegative val="0"/>
            <c:bubble3D val="0"/>
            <c:spPr>
              <a:solidFill>
                <a:schemeClr val="accent1">
                  <a:lumMod val="75000"/>
                </a:schemeClr>
              </a:solidFill>
              <a:ln>
                <a:no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3-4087-4575-84CA-3BF6C6C2A227}"/>
              </c:ext>
            </c:extLst>
          </c:dPt>
          <c:dPt>
            <c:idx val="9"/>
            <c:invertIfNegative val="0"/>
            <c:bubble3D val="0"/>
            <c:spPr>
              <a:solidFill>
                <a:schemeClr val="accent1">
                  <a:lumMod val="75000"/>
                </a:schemeClr>
              </a:solidFill>
              <a:ln>
                <a:no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5-4087-4575-84CA-3BF6C6C2A227}"/>
              </c:ext>
            </c:extLst>
          </c:dPt>
          <c:dLbls>
            <c:dLbl>
              <c:idx val="7"/>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p>
              </c:txPr>
              <c:showLegendKey val="0"/>
              <c:showVal val="1"/>
              <c:showCatName val="0"/>
              <c:showSerName val="0"/>
              <c:showPercent val="0"/>
              <c:showBubbleSize val="0"/>
              <c:extLst>
                <c:ext xmlns:c16="http://schemas.microsoft.com/office/drawing/2014/chart" uri="{C3380CC4-5D6E-409C-BE32-E72D297353CC}">
                  <c16:uniqueId val="{00000001-4087-4575-84CA-3BF6C6C2A227}"/>
                </c:ext>
              </c:extLst>
            </c:dLbl>
            <c:dLbl>
              <c:idx val="8"/>
              <c:layout>
                <c:manualLayout>
                  <c:x val="1.1181866006907121E-2"/>
                  <c:y val="-0.14034618726191278"/>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087-4575-84CA-3BF6C6C2A227}"/>
                </c:ext>
              </c:extLst>
            </c:dLbl>
            <c:dLbl>
              <c:idx val="9"/>
              <c:tx>
                <c:rich>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fld id="{33BBDAF7-A592-420E-8E01-773697116AAB}" type="VALUE">
                      <a:rPr lang="en-US" altLang="ko-KR" sz="900"/>
                      <a:pP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t>[값]</a:t>
                    </a:fld>
                    <a:endParaRPr lang="ko-KR" altLang="en-US"/>
                  </a:p>
                </c:rich>
              </c:tx>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ltLang="en-US"/>
                </a:p>
              </c:txP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4087-4575-84CA-3BF6C6C2A227}"/>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2019</c:v>
                </c:pt>
                <c:pt idx="1">
                  <c:v>2020</c:v>
                </c:pt>
                <c:pt idx="2">
                  <c:v>2021</c:v>
                </c:pt>
                <c:pt idx="3">
                  <c:v>2022</c:v>
                </c:pt>
                <c:pt idx="4">
                  <c:v>2023</c:v>
                </c:pt>
                <c:pt idx="5">
                  <c:v>2024</c:v>
                </c:pt>
                <c:pt idx="6">
                  <c:v>2025</c:v>
                </c:pt>
                <c:pt idx="7">
                  <c:v>2026(E)</c:v>
                </c:pt>
                <c:pt idx="8">
                  <c:v>2027(E)</c:v>
                </c:pt>
                <c:pt idx="9">
                  <c:v>2028(E)</c:v>
                </c:pt>
              </c:strCache>
            </c:strRef>
          </c:cat>
          <c:val>
            <c:numRef>
              <c:f>Sheet1!$B$2:$B$11</c:f>
              <c:numCache>
                <c:formatCode>#,##0"㎡"</c:formatCode>
                <c:ptCount val="10"/>
                <c:pt idx="0">
                  <c:v>412281</c:v>
                </c:pt>
                <c:pt idx="1">
                  <c:v>249050</c:v>
                </c:pt>
                <c:pt idx="2">
                  <c:v>597660</c:v>
                </c:pt>
                <c:pt idx="3">
                  <c:v>1005298</c:v>
                </c:pt>
                <c:pt idx="4">
                  <c:v>1196317</c:v>
                </c:pt>
                <c:pt idx="5">
                  <c:v>1046620</c:v>
                </c:pt>
                <c:pt idx="6">
                  <c:v>195416</c:v>
                </c:pt>
                <c:pt idx="7">
                  <c:v>100920</c:v>
                </c:pt>
                <c:pt idx="8">
                  <c:v>195980</c:v>
                </c:pt>
                <c:pt idx="9">
                  <c:v>95599</c:v>
                </c:pt>
              </c:numCache>
            </c:numRef>
          </c:val>
          <c:extLst>
            <c:ext xmlns:c16="http://schemas.microsoft.com/office/drawing/2014/chart" uri="{C3380CC4-5D6E-409C-BE32-E72D297353CC}">
              <c16:uniqueId val="{00000006-4087-4575-84CA-3BF6C6C2A227}"/>
            </c:ext>
          </c:extLst>
        </c:ser>
        <c:dLbls>
          <c:showLegendKey val="0"/>
          <c:showVal val="0"/>
          <c:showCatName val="0"/>
          <c:showSerName val="0"/>
          <c:showPercent val="0"/>
          <c:showBubbleSize val="0"/>
        </c:dLbls>
        <c:gapWidth val="100"/>
        <c:axId val="71828096"/>
        <c:axId val="1477092975"/>
      </c:barChart>
      <c:catAx>
        <c:axId val="718280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477092975"/>
        <c:crosses val="autoZero"/>
        <c:auto val="1"/>
        <c:lblAlgn val="ctr"/>
        <c:lblOffset val="100"/>
        <c:noMultiLvlLbl val="0"/>
      </c:catAx>
      <c:valAx>
        <c:axId val="1477092975"/>
        <c:scaling>
          <c:orientation val="minMax"/>
        </c:scaling>
        <c:delete val="1"/>
        <c:axPos val="l"/>
        <c:majorGridlines>
          <c:spPr>
            <a:ln w="9525" cap="flat" cmpd="sng" algn="ctr">
              <a:solidFill>
                <a:schemeClr val="tx1">
                  <a:lumMod val="15000"/>
                  <a:lumOff val="85000"/>
                </a:schemeClr>
              </a:solidFill>
              <a:round/>
            </a:ln>
            <a:effectLst/>
          </c:spPr>
        </c:majorGridlines>
        <c:numFmt formatCode="#,##0&quot;㎡&quot;" sourceLinked="1"/>
        <c:majorTickMark val="none"/>
        <c:minorTickMark val="none"/>
        <c:tickLblPos val="nextTo"/>
        <c:crossAx val="7182809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계열 1</c:v>
                </c:pt>
              </c:strCache>
            </c:strRef>
          </c:tx>
          <c:spPr>
            <a:solidFill>
              <a:schemeClr val="bg1">
                <a:lumMod val="85000"/>
              </a:schemeClr>
            </a:solidFill>
            <a:ln>
              <a:noFill/>
            </a:ln>
            <a:effectLst/>
          </c:spPr>
          <c:invertIfNegative val="0"/>
          <c:cat>
            <c:strRef>
              <c:f>Sheet1!$A$2:$A$6</c:f>
              <c:strCache>
                <c:ptCount val="5"/>
                <c:pt idx="0">
                  <c:v>2026(E)</c:v>
                </c:pt>
                <c:pt idx="1">
                  <c:v>2027(E)</c:v>
                </c:pt>
                <c:pt idx="2">
                  <c:v>2028(E)</c:v>
                </c:pt>
                <c:pt idx="3">
                  <c:v>2029(E)</c:v>
                </c:pt>
                <c:pt idx="4">
                  <c:v>2030(E)</c:v>
                </c:pt>
              </c:strCache>
            </c:strRef>
          </c:cat>
          <c:val>
            <c:numRef>
              <c:f>Sheet1!$B$2:$B$6</c:f>
              <c:numCache>
                <c:formatCode>0_ </c:formatCode>
                <c:ptCount val="5"/>
                <c:pt idx="0">
                  <c:v>327</c:v>
                </c:pt>
                <c:pt idx="1">
                  <c:v>327</c:v>
                </c:pt>
                <c:pt idx="2">
                  <c:v>327</c:v>
                </c:pt>
                <c:pt idx="3">
                  <c:v>327</c:v>
                </c:pt>
                <c:pt idx="4">
                  <c:v>327</c:v>
                </c:pt>
              </c:numCache>
            </c:numRef>
          </c:val>
          <c:extLst>
            <c:ext xmlns:c16="http://schemas.microsoft.com/office/drawing/2014/chart" uri="{C3380CC4-5D6E-409C-BE32-E72D297353CC}">
              <c16:uniqueId val="{00000000-113F-4E32-8E6E-DB4BD24510C6}"/>
            </c:ext>
          </c:extLst>
        </c:ser>
        <c:ser>
          <c:idx val="1"/>
          <c:order val="1"/>
          <c:tx>
            <c:strRef>
              <c:f>Sheet1!$C$1</c:f>
              <c:strCache>
                <c:ptCount val="1"/>
                <c:pt idx="0">
                  <c:v>계열 2</c:v>
                </c:pt>
              </c:strCache>
            </c:strRef>
          </c:tx>
          <c:spPr>
            <a:solidFill>
              <a:schemeClr val="accent2"/>
            </a:solidFill>
            <a:ln>
              <a:noFill/>
            </a:ln>
            <a:effectLst/>
          </c:spPr>
          <c:invertIfNegative val="0"/>
          <c:dPt>
            <c:idx val="3"/>
            <c:invertIfNegative val="0"/>
            <c:bubble3D val="0"/>
            <c:spPr>
              <a:pattFill prst="wdUpDiag">
                <a:fgClr>
                  <a:schemeClr val="accent2">
                    <a:lumMod val="75000"/>
                  </a:schemeClr>
                </a:fgClr>
                <a:bgClr>
                  <a:schemeClr val="bg1"/>
                </a:bgClr>
              </a:pattFill>
              <a:ln>
                <a:noFill/>
              </a:ln>
              <a:effectLst/>
            </c:spPr>
            <c:extLst>
              <c:ext xmlns:c16="http://schemas.microsoft.com/office/drawing/2014/chart" uri="{C3380CC4-5D6E-409C-BE32-E72D297353CC}">
                <c16:uniqueId val="{00000002-113F-4E32-8E6E-DB4BD24510C6}"/>
              </c:ext>
            </c:extLst>
          </c:dPt>
          <c:dPt>
            <c:idx val="4"/>
            <c:invertIfNegative val="0"/>
            <c:bubble3D val="0"/>
            <c:spPr>
              <a:pattFill prst="wdUpDiag">
                <a:fgClr>
                  <a:schemeClr val="accent2">
                    <a:lumMod val="75000"/>
                  </a:schemeClr>
                </a:fgClr>
                <a:bgClr>
                  <a:schemeClr val="bg1"/>
                </a:bgClr>
              </a:pattFill>
              <a:ln>
                <a:noFill/>
              </a:ln>
              <a:effectLst/>
            </c:spPr>
            <c:extLst>
              <c:ext xmlns:c16="http://schemas.microsoft.com/office/drawing/2014/chart" uri="{C3380CC4-5D6E-409C-BE32-E72D297353CC}">
                <c16:uniqueId val="{00000004-113F-4E32-8E6E-DB4BD24510C6}"/>
              </c:ext>
            </c:extLst>
          </c:dPt>
          <c:cat>
            <c:strRef>
              <c:f>Sheet1!$A$2:$A$6</c:f>
              <c:strCache>
                <c:ptCount val="5"/>
                <c:pt idx="0">
                  <c:v>2026(E)</c:v>
                </c:pt>
                <c:pt idx="1">
                  <c:v>2027(E)</c:v>
                </c:pt>
                <c:pt idx="2">
                  <c:v>2028(E)</c:v>
                </c:pt>
                <c:pt idx="3">
                  <c:v>2029(E)</c:v>
                </c:pt>
                <c:pt idx="4">
                  <c:v>2030(E)</c:v>
                </c:pt>
              </c:strCache>
            </c:strRef>
          </c:cat>
          <c:val>
            <c:numRef>
              <c:f>Sheet1!$C$2:$C$6</c:f>
              <c:numCache>
                <c:formatCode>0_ </c:formatCode>
                <c:ptCount val="5"/>
                <c:pt idx="0">
                  <c:v>0</c:v>
                </c:pt>
                <c:pt idx="1">
                  <c:v>12.5</c:v>
                </c:pt>
                <c:pt idx="2">
                  <c:v>18.5</c:v>
                </c:pt>
                <c:pt idx="3">
                  <c:v>30</c:v>
                </c:pt>
                <c:pt idx="4">
                  <c:v>50</c:v>
                </c:pt>
              </c:numCache>
            </c:numRef>
          </c:val>
          <c:extLst>
            <c:ext xmlns:c16="http://schemas.microsoft.com/office/drawing/2014/chart" uri="{C3380CC4-5D6E-409C-BE32-E72D297353CC}">
              <c16:uniqueId val="{00000005-113F-4E32-8E6E-DB4BD24510C6}"/>
            </c:ext>
          </c:extLst>
        </c:ser>
        <c:dLbls>
          <c:showLegendKey val="0"/>
          <c:showVal val="0"/>
          <c:showCatName val="0"/>
          <c:showSerName val="0"/>
          <c:showPercent val="0"/>
          <c:showBubbleSize val="0"/>
        </c:dLbls>
        <c:gapWidth val="50"/>
        <c:overlap val="100"/>
        <c:axId val="1856966128"/>
        <c:axId val="1341953103"/>
      </c:barChart>
      <c:catAx>
        <c:axId val="18569661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341953103"/>
        <c:crosses val="autoZero"/>
        <c:auto val="1"/>
        <c:lblAlgn val="ctr"/>
        <c:lblOffset val="100"/>
        <c:noMultiLvlLbl val="0"/>
      </c:catAx>
      <c:valAx>
        <c:axId val="1341953103"/>
        <c:scaling>
          <c:orientation val="minMax"/>
          <c:min val="150"/>
        </c:scaling>
        <c:delete val="0"/>
        <c:axPos val="l"/>
        <c:numFmt formatCode="0_ " sourceLinked="1"/>
        <c:majorTickMark val="out"/>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85696612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100">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3931515549218114E-2"/>
          <c:y val="0.22080794154416819"/>
          <c:w val="0.82129798242391283"/>
          <c:h val="0.64266971988507748"/>
        </c:manualLayout>
      </c:layout>
      <c:barChart>
        <c:barDir val="col"/>
        <c:grouping val="clustered"/>
        <c:varyColors val="0"/>
        <c:ser>
          <c:idx val="0"/>
          <c:order val="0"/>
          <c:tx>
            <c:strRef>
              <c:f>Sheet1!$B$1</c:f>
              <c:strCache>
                <c:ptCount val="1"/>
                <c:pt idx="0">
                  <c:v>보통주</c:v>
                </c:pt>
              </c:strCache>
            </c:strRef>
          </c:tx>
          <c:spPr>
            <a:solidFill>
              <a:srgbClr val="843C0C"/>
            </a:solidFill>
            <a:ln>
              <a:noFill/>
            </a:ln>
            <a:effectLst/>
          </c:spPr>
          <c:invertIfNegative val="0"/>
          <c:cat>
            <c:strRef>
              <c:f>Sheet1!$A$2:$A$11</c:f>
              <c:strCache>
                <c:ptCount val="10"/>
                <c:pt idx="0">
                  <c:v>1Y</c:v>
                </c:pt>
                <c:pt idx="1">
                  <c:v>2Y</c:v>
                </c:pt>
                <c:pt idx="2">
                  <c:v>3Y</c:v>
                </c:pt>
                <c:pt idx="3">
                  <c:v>4Y</c:v>
                </c:pt>
                <c:pt idx="4">
                  <c:v>5Y</c:v>
                </c:pt>
                <c:pt idx="5">
                  <c:v>6Y</c:v>
                </c:pt>
                <c:pt idx="6">
                  <c:v>7Y</c:v>
                </c:pt>
                <c:pt idx="7">
                  <c:v>8Y</c:v>
                </c:pt>
                <c:pt idx="8">
                  <c:v>9Y</c:v>
                </c:pt>
                <c:pt idx="9">
                  <c:v>10Y</c:v>
                </c:pt>
              </c:strCache>
            </c:strRef>
          </c:cat>
          <c:val>
            <c:numRef>
              <c:f>Sheet1!$B$2:$B$11</c:f>
              <c:numCache>
                <c:formatCode>0.0%</c:formatCode>
                <c:ptCount val="10"/>
                <c:pt idx="0">
                  <c:v>7.4999999999999997E-2</c:v>
                </c:pt>
                <c:pt idx="1">
                  <c:v>7.4999999999999997E-2</c:v>
                </c:pt>
                <c:pt idx="2">
                  <c:v>0</c:v>
                </c:pt>
                <c:pt idx="3">
                  <c:v>0</c:v>
                </c:pt>
                <c:pt idx="4">
                  <c:v>0</c:v>
                </c:pt>
                <c:pt idx="5">
                  <c:v>0</c:v>
                </c:pt>
                <c:pt idx="6">
                  <c:v>0</c:v>
                </c:pt>
                <c:pt idx="7">
                  <c:v>0</c:v>
                </c:pt>
                <c:pt idx="8">
                  <c:v>0</c:v>
                </c:pt>
                <c:pt idx="9">
                  <c:v>0.15</c:v>
                </c:pt>
              </c:numCache>
            </c:numRef>
          </c:val>
          <c:extLst>
            <c:ext xmlns:c16="http://schemas.microsoft.com/office/drawing/2014/chart" uri="{C3380CC4-5D6E-409C-BE32-E72D297353CC}">
              <c16:uniqueId val="{00000000-98DF-4EE5-BC2A-B4C65F3DAB91}"/>
            </c:ext>
          </c:extLst>
        </c:ser>
        <c:ser>
          <c:idx val="1"/>
          <c:order val="1"/>
          <c:tx>
            <c:strRef>
              <c:f>Sheet1!$C$1</c:f>
              <c:strCache>
                <c:ptCount val="1"/>
                <c:pt idx="0">
                  <c:v>2종 우선주</c:v>
                </c:pt>
              </c:strCache>
            </c:strRef>
          </c:tx>
          <c:spPr>
            <a:solidFill>
              <a:srgbClr val="F8CBAD"/>
            </a:solidFill>
            <a:ln>
              <a:noFill/>
            </a:ln>
            <a:effectLst/>
          </c:spPr>
          <c:invertIfNegative val="0"/>
          <c:cat>
            <c:strRef>
              <c:f>Sheet1!$A$2:$A$11</c:f>
              <c:strCache>
                <c:ptCount val="10"/>
                <c:pt idx="0">
                  <c:v>1Y</c:v>
                </c:pt>
                <c:pt idx="1">
                  <c:v>2Y</c:v>
                </c:pt>
                <c:pt idx="2">
                  <c:v>3Y</c:v>
                </c:pt>
                <c:pt idx="3">
                  <c:v>4Y</c:v>
                </c:pt>
                <c:pt idx="4">
                  <c:v>5Y</c:v>
                </c:pt>
                <c:pt idx="5">
                  <c:v>6Y</c:v>
                </c:pt>
                <c:pt idx="6">
                  <c:v>7Y</c:v>
                </c:pt>
                <c:pt idx="7">
                  <c:v>8Y</c:v>
                </c:pt>
                <c:pt idx="8">
                  <c:v>9Y</c:v>
                </c:pt>
                <c:pt idx="9">
                  <c:v>10Y</c:v>
                </c:pt>
              </c:strCache>
            </c:strRef>
          </c:cat>
          <c:val>
            <c:numRef>
              <c:f>Sheet1!$C$2:$C$11</c:f>
              <c:numCache>
                <c:formatCode>0.0%</c:formatCode>
                <c:ptCount val="10"/>
                <c:pt idx="0">
                  <c:v>7.4999999999999997E-2</c:v>
                </c:pt>
                <c:pt idx="1">
                  <c:v>7.4999999999999997E-2</c:v>
                </c:pt>
                <c:pt idx="2">
                  <c:v>6.6000000000000003E-2</c:v>
                </c:pt>
                <c:pt idx="3">
                  <c:v>0.06</c:v>
                </c:pt>
                <c:pt idx="4">
                  <c:v>8.1000000000000003E-2</c:v>
                </c:pt>
                <c:pt idx="5">
                  <c:v>0.09</c:v>
                </c:pt>
                <c:pt idx="6">
                  <c:v>7.8E-2</c:v>
                </c:pt>
                <c:pt idx="7">
                  <c:v>7.4999999999999997E-2</c:v>
                </c:pt>
                <c:pt idx="8">
                  <c:v>7.4999999999999997E-2</c:v>
                </c:pt>
                <c:pt idx="9">
                  <c:v>0.12</c:v>
                </c:pt>
              </c:numCache>
            </c:numRef>
          </c:val>
          <c:extLst>
            <c:ext xmlns:c16="http://schemas.microsoft.com/office/drawing/2014/chart" uri="{C3380CC4-5D6E-409C-BE32-E72D297353CC}">
              <c16:uniqueId val="{00000001-98DF-4EE5-BC2A-B4C65F3DAB91}"/>
            </c:ext>
          </c:extLst>
        </c:ser>
        <c:ser>
          <c:idx val="2"/>
          <c:order val="2"/>
          <c:tx>
            <c:strRef>
              <c:f>Sheet1!$D$1</c:f>
              <c:strCache>
                <c:ptCount val="1"/>
                <c:pt idx="0">
                  <c:v>1종 우선주</c:v>
                </c:pt>
              </c:strCache>
            </c:strRef>
          </c:tx>
          <c:spPr>
            <a:solidFill>
              <a:srgbClr val="FBE5D6"/>
            </a:solidFill>
            <a:ln>
              <a:noFill/>
            </a:ln>
            <a:effectLst/>
          </c:spPr>
          <c:invertIfNegative val="0"/>
          <c:cat>
            <c:strRef>
              <c:f>Sheet1!$A$2:$A$11</c:f>
              <c:strCache>
                <c:ptCount val="10"/>
                <c:pt idx="0">
                  <c:v>1Y</c:v>
                </c:pt>
                <c:pt idx="1">
                  <c:v>2Y</c:v>
                </c:pt>
                <c:pt idx="2">
                  <c:v>3Y</c:v>
                </c:pt>
                <c:pt idx="3">
                  <c:v>4Y</c:v>
                </c:pt>
                <c:pt idx="4">
                  <c:v>5Y</c:v>
                </c:pt>
                <c:pt idx="5">
                  <c:v>6Y</c:v>
                </c:pt>
                <c:pt idx="6">
                  <c:v>7Y</c:v>
                </c:pt>
                <c:pt idx="7">
                  <c:v>8Y</c:v>
                </c:pt>
                <c:pt idx="8">
                  <c:v>9Y</c:v>
                </c:pt>
                <c:pt idx="9">
                  <c:v>10Y</c:v>
                </c:pt>
              </c:strCache>
            </c:strRef>
          </c:cat>
          <c:val>
            <c:numRef>
              <c:f>Sheet1!$D$2:$D$11</c:f>
              <c:numCache>
                <c:formatCode>0.0%</c:formatCode>
                <c:ptCount val="10"/>
                <c:pt idx="0">
                  <c:v>0</c:v>
                </c:pt>
                <c:pt idx="1">
                  <c:v>0</c:v>
                </c:pt>
                <c:pt idx="2">
                  <c:v>0</c:v>
                </c:pt>
                <c:pt idx="3">
                  <c:v>0</c:v>
                </c:pt>
                <c:pt idx="4">
                  <c:v>7.0000000000000007E-2</c:v>
                </c:pt>
                <c:pt idx="5">
                  <c:v>7.0000000000000007E-2</c:v>
                </c:pt>
                <c:pt idx="6">
                  <c:v>7.0000000000000007E-2</c:v>
                </c:pt>
                <c:pt idx="7">
                  <c:v>7.0000000000000007E-2</c:v>
                </c:pt>
                <c:pt idx="8">
                  <c:v>7.0000000000000007E-2</c:v>
                </c:pt>
                <c:pt idx="9">
                  <c:v>7.0000000000000007E-2</c:v>
                </c:pt>
              </c:numCache>
            </c:numRef>
          </c:val>
          <c:extLst>
            <c:ext xmlns:c16="http://schemas.microsoft.com/office/drawing/2014/chart" uri="{C3380CC4-5D6E-409C-BE32-E72D297353CC}">
              <c16:uniqueId val="{00000002-98DF-4EE5-BC2A-B4C65F3DAB91}"/>
            </c:ext>
          </c:extLst>
        </c:ser>
        <c:dLbls>
          <c:showLegendKey val="0"/>
          <c:showVal val="0"/>
          <c:showCatName val="0"/>
          <c:showSerName val="0"/>
          <c:showPercent val="0"/>
          <c:showBubbleSize val="0"/>
        </c:dLbls>
        <c:gapWidth val="150"/>
        <c:axId val="1339193664"/>
        <c:axId val="1523788175"/>
      </c:barChart>
      <c:lineChart>
        <c:grouping val="standard"/>
        <c:varyColors val="0"/>
        <c:ser>
          <c:idx val="4"/>
          <c:order val="4"/>
          <c:tx>
            <c:strRef>
              <c:f>Sheet1!$F$1</c:f>
              <c:strCache>
                <c:ptCount val="1"/>
                <c:pt idx="0">
                  <c:v>열1</c:v>
                </c:pt>
              </c:strCache>
            </c:strRef>
          </c:tx>
          <c:spPr>
            <a:ln w="28575" cap="rnd">
              <a:solidFill>
                <a:schemeClr val="accent5"/>
              </a:solidFill>
              <a:round/>
            </a:ln>
            <a:effectLst/>
          </c:spPr>
          <c:marker>
            <c:symbol val="none"/>
          </c:marker>
          <c:cat>
            <c:strRef>
              <c:f>Sheet1!$A$2:$A$11</c:f>
              <c:strCache>
                <c:ptCount val="10"/>
                <c:pt idx="0">
                  <c:v>1Y</c:v>
                </c:pt>
                <c:pt idx="1">
                  <c:v>2Y</c:v>
                </c:pt>
                <c:pt idx="2">
                  <c:v>3Y</c:v>
                </c:pt>
                <c:pt idx="3">
                  <c:v>4Y</c:v>
                </c:pt>
                <c:pt idx="4">
                  <c:v>5Y</c:v>
                </c:pt>
                <c:pt idx="5">
                  <c:v>6Y</c:v>
                </c:pt>
                <c:pt idx="6">
                  <c:v>7Y</c:v>
                </c:pt>
                <c:pt idx="7">
                  <c:v>8Y</c:v>
                </c:pt>
                <c:pt idx="8">
                  <c:v>9Y</c:v>
                </c:pt>
                <c:pt idx="9">
                  <c:v>10Y</c:v>
                </c:pt>
              </c:strCache>
            </c:strRef>
          </c:cat>
          <c:val>
            <c:numRef>
              <c:f>Sheet1!$F$2:$F$11</c:f>
              <c:numCache>
                <c:formatCode>General</c:formatCode>
                <c:ptCount val="10"/>
              </c:numCache>
            </c:numRef>
          </c:val>
          <c:smooth val="0"/>
          <c:extLst>
            <c:ext xmlns:c16="http://schemas.microsoft.com/office/drawing/2014/chart" uri="{C3380CC4-5D6E-409C-BE32-E72D297353CC}">
              <c16:uniqueId val="{00000003-98DF-4EE5-BC2A-B4C65F3DAB91}"/>
            </c:ext>
          </c:extLst>
        </c:ser>
        <c:dLbls>
          <c:showLegendKey val="0"/>
          <c:showVal val="0"/>
          <c:showCatName val="0"/>
          <c:showSerName val="0"/>
          <c:showPercent val="0"/>
          <c:showBubbleSize val="0"/>
        </c:dLbls>
        <c:marker val="1"/>
        <c:smooth val="0"/>
        <c:axId val="1339193664"/>
        <c:axId val="1523788175"/>
      </c:lineChart>
      <c:lineChart>
        <c:grouping val="standard"/>
        <c:varyColors val="0"/>
        <c:ser>
          <c:idx val="3"/>
          <c:order val="3"/>
          <c:tx>
            <c:strRef>
              <c:f>Sheet1!$E$1</c:f>
              <c:strCache>
                <c:ptCount val="1"/>
                <c:pt idx="0">
                  <c:v>종합수익률</c:v>
                </c:pt>
              </c:strCache>
            </c:strRef>
          </c:tx>
          <c:spPr>
            <a:ln w="28575" cap="rnd">
              <a:solidFill>
                <a:schemeClr val="accent4"/>
              </a:solidFill>
              <a:round/>
            </a:ln>
            <a:effectLst>
              <a:outerShdw blurRad="50800" dist="38100" dir="5400000" algn="t" rotWithShape="0">
                <a:prstClr val="black">
                  <a:alpha val="40000"/>
                </a:prstClr>
              </a:outerShdw>
            </a:effectLst>
          </c:spPr>
          <c:marker>
            <c:symbol val="diamond"/>
            <c:size val="9"/>
            <c:spPr>
              <a:solidFill>
                <a:schemeClr val="bg1"/>
              </a:solidFill>
              <a:ln w="9525">
                <a:solidFill>
                  <a:schemeClr val="accent4"/>
                </a:solidFill>
              </a:ln>
              <a:effectLst>
                <a:outerShdw blurRad="50800" dist="38100" dir="5400000" algn="t" rotWithShape="0">
                  <a:prstClr val="black">
                    <a:alpha val="40000"/>
                  </a:prstClr>
                </a:outerShdw>
              </a:effectLst>
            </c:spPr>
          </c:marker>
          <c:cat>
            <c:strRef>
              <c:f>Sheet1!$A$2:$A$11</c:f>
              <c:strCache>
                <c:ptCount val="10"/>
                <c:pt idx="0">
                  <c:v>1Y</c:v>
                </c:pt>
                <c:pt idx="1">
                  <c:v>2Y</c:v>
                </c:pt>
                <c:pt idx="2">
                  <c:v>3Y</c:v>
                </c:pt>
                <c:pt idx="3">
                  <c:v>4Y</c:v>
                </c:pt>
                <c:pt idx="4">
                  <c:v>5Y</c:v>
                </c:pt>
                <c:pt idx="5">
                  <c:v>6Y</c:v>
                </c:pt>
                <c:pt idx="6">
                  <c:v>7Y</c:v>
                </c:pt>
                <c:pt idx="7">
                  <c:v>8Y</c:v>
                </c:pt>
                <c:pt idx="8">
                  <c:v>9Y</c:v>
                </c:pt>
                <c:pt idx="9">
                  <c:v>10Y</c:v>
                </c:pt>
              </c:strCache>
            </c:strRef>
          </c:cat>
          <c:val>
            <c:numRef>
              <c:f>Sheet1!$E$2:$E$11</c:f>
              <c:numCache>
                <c:formatCode>0.00%</c:formatCode>
                <c:ptCount val="10"/>
                <c:pt idx="0">
                  <c:v>7.4999999999999997E-2</c:v>
                </c:pt>
                <c:pt idx="1">
                  <c:v>5.8000000000000003E-2</c:v>
                </c:pt>
                <c:pt idx="2">
                  <c:v>6.0999999999999999E-2</c:v>
                </c:pt>
                <c:pt idx="3">
                  <c:v>5.5E-2</c:v>
                </c:pt>
                <c:pt idx="4">
                  <c:v>5.1999999999999998E-2</c:v>
                </c:pt>
                <c:pt idx="5">
                  <c:v>6.4000000000000001E-2</c:v>
                </c:pt>
                <c:pt idx="6">
                  <c:v>6.9000000000000006E-2</c:v>
                </c:pt>
                <c:pt idx="7">
                  <c:v>6.2E-2</c:v>
                </c:pt>
                <c:pt idx="8">
                  <c:v>0.06</c:v>
                </c:pt>
                <c:pt idx="9">
                  <c:v>0.13</c:v>
                </c:pt>
              </c:numCache>
            </c:numRef>
          </c:val>
          <c:smooth val="0"/>
          <c:extLst>
            <c:ext xmlns:c16="http://schemas.microsoft.com/office/drawing/2014/chart" uri="{C3380CC4-5D6E-409C-BE32-E72D297353CC}">
              <c16:uniqueId val="{00000004-98DF-4EE5-BC2A-B4C65F3DAB91}"/>
            </c:ext>
          </c:extLst>
        </c:ser>
        <c:dLbls>
          <c:showLegendKey val="0"/>
          <c:showVal val="0"/>
          <c:showCatName val="0"/>
          <c:showSerName val="0"/>
          <c:showPercent val="0"/>
          <c:showBubbleSize val="0"/>
        </c:dLbls>
        <c:marker val="1"/>
        <c:smooth val="0"/>
        <c:axId val="616716911"/>
        <c:axId val="1885508496"/>
      </c:lineChart>
      <c:catAx>
        <c:axId val="13391936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523788175"/>
        <c:crosses val="autoZero"/>
        <c:auto val="1"/>
        <c:lblAlgn val="ctr"/>
        <c:lblOffset val="100"/>
        <c:noMultiLvlLbl val="0"/>
      </c:catAx>
      <c:valAx>
        <c:axId val="1523788175"/>
        <c:scaling>
          <c:orientation val="minMax"/>
          <c:max val="0.15000000000000002"/>
          <c:min val="0"/>
        </c:scaling>
        <c:delete val="0"/>
        <c:axPos val="l"/>
        <c:numFmt formatCode="0.0%" sourceLinked="1"/>
        <c:majorTickMark val="out"/>
        <c:minorTickMark val="in"/>
        <c:tickLblPos val="nextTo"/>
        <c:spPr>
          <a:noFill/>
          <a:ln>
            <a:solidFill>
              <a:schemeClr val="bg1">
                <a:lumMod val="75000"/>
              </a:schemeClr>
            </a:solid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339193664"/>
        <c:crosses val="autoZero"/>
        <c:crossBetween val="between"/>
        <c:majorUnit val="7.5000000000000011E-2"/>
        <c:minorUnit val="5.000000000000001E-3"/>
      </c:valAx>
      <c:valAx>
        <c:axId val="1885508496"/>
        <c:scaling>
          <c:orientation val="minMax"/>
          <c:max val="0.2"/>
          <c:min val="0"/>
        </c:scaling>
        <c:delete val="0"/>
        <c:axPos val="r"/>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616716911"/>
        <c:crosses val="max"/>
        <c:crossBetween val="between"/>
      </c:valAx>
      <c:catAx>
        <c:axId val="616716911"/>
        <c:scaling>
          <c:orientation val="minMax"/>
        </c:scaling>
        <c:delete val="1"/>
        <c:axPos val="b"/>
        <c:numFmt formatCode="General" sourceLinked="1"/>
        <c:majorTickMark val="out"/>
        <c:minorTickMark val="none"/>
        <c:tickLblPos val="nextTo"/>
        <c:crossAx val="1885508496"/>
        <c:crosses val="autoZero"/>
        <c:auto val="1"/>
        <c:lblAlgn val="ctr"/>
        <c:lblOffset val="100"/>
        <c:noMultiLvlLbl val="0"/>
      </c:catAx>
      <c:spPr>
        <a:noFill/>
        <a:ln>
          <a:noFill/>
        </a:ln>
        <a:effectLst/>
      </c:spPr>
    </c:plotArea>
    <c:legend>
      <c:legendPos val="b"/>
      <c:legendEntry>
        <c:idx val="3"/>
        <c:delete val="1"/>
      </c:legendEntry>
      <c:layout>
        <c:manualLayout>
          <c:xMode val="edge"/>
          <c:yMode val="edge"/>
          <c:x val="0.10325407253996519"/>
          <c:y val="0.22027392610040186"/>
          <c:w val="0.61282190843575501"/>
          <c:h val="0.1060526878694620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5295923181508082E-2"/>
          <c:y val="9.8222009063704402E-2"/>
          <c:w val="0.91470407681849197"/>
          <c:h val="0.57098589673686562"/>
        </c:manualLayout>
      </c:layout>
      <c:lineChart>
        <c:grouping val="standard"/>
        <c:varyColors val="0"/>
        <c:ser>
          <c:idx val="0"/>
          <c:order val="0"/>
          <c:tx>
            <c:strRef>
              <c:f>Sheet1!$B$1</c:f>
              <c:strCache>
                <c:ptCount val="1"/>
                <c:pt idx="0">
                  <c:v>모리츠(현재)</c:v>
                </c:pt>
              </c:strCache>
            </c:strRef>
          </c:tx>
          <c:spPr>
            <a:ln w="25400" cap="rnd">
              <a:solidFill>
                <a:schemeClr val="bg1">
                  <a:lumMod val="75000"/>
                </a:schemeClr>
              </a:solidFill>
              <a:round/>
            </a:ln>
            <a:effectLst/>
          </c:spPr>
          <c:marker>
            <c:symbol val="square"/>
            <c:size val="7"/>
            <c:spPr>
              <a:solidFill>
                <a:schemeClr val="bg1"/>
              </a:solidFill>
              <a:ln w="9525">
                <a:solidFill>
                  <a:schemeClr val="bg1">
                    <a:lumMod val="75000"/>
                  </a:schemeClr>
                </a:solidFill>
              </a:ln>
              <a:effectLst/>
            </c:spPr>
          </c:marker>
          <c:dLbls>
            <c:dLbl>
              <c:idx val="2"/>
              <c:layout>
                <c:manualLayout>
                  <c:x val="-4.9844150441909908E-2"/>
                  <c:y val="9.681028379779775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6276-4896-BCC6-5A9A02C28BFB}"/>
                </c:ext>
              </c:extLst>
            </c:dLbl>
            <c:dLbl>
              <c:idx val="3"/>
              <c:layout>
                <c:manualLayout>
                  <c:x val="-3.7956208542986286E-2"/>
                  <c:y val="2.978267055934400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276-4896-BCC6-5A9A02C28BFB}"/>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lumMod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Sheet1!$A$2:$A$11</c:f>
              <c:numCache>
                <c:formatCode>"FY"General</c:formatCode>
                <c:ptCount val="10"/>
                <c:pt idx="0">
                  <c:v>13</c:v>
                </c:pt>
                <c:pt idx="1">
                  <c:v>14</c:v>
                </c:pt>
                <c:pt idx="2">
                  <c:v>15</c:v>
                </c:pt>
                <c:pt idx="3">
                  <c:v>16</c:v>
                </c:pt>
                <c:pt idx="4">
                  <c:v>17</c:v>
                </c:pt>
                <c:pt idx="5">
                  <c:v>18</c:v>
                </c:pt>
                <c:pt idx="6">
                  <c:v>19</c:v>
                </c:pt>
                <c:pt idx="7">
                  <c:v>20</c:v>
                </c:pt>
                <c:pt idx="8">
                  <c:v>21</c:v>
                </c:pt>
                <c:pt idx="9">
                  <c:v>22</c:v>
                </c:pt>
              </c:numCache>
            </c:numRef>
          </c:cat>
          <c:val>
            <c:numRef>
              <c:f>Sheet1!$B$2:$B$11</c:f>
              <c:numCache>
                <c:formatCode>0.00%</c:formatCode>
                <c:ptCount val="10"/>
                <c:pt idx="0">
                  <c:v>6.0838968718619178E-2</c:v>
                </c:pt>
                <c:pt idx="1">
                  <c:v>4.6291161341579179E-2</c:v>
                </c:pt>
                <c:pt idx="2">
                  <c:v>4.206802209910921E-2</c:v>
                </c:pt>
                <c:pt idx="3">
                  <c:v>4.4354027122363207E-2</c:v>
                </c:pt>
                <c:pt idx="4">
                  <c:v>4.5388282445619189E-2</c:v>
                </c:pt>
                <c:pt idx="5">
                  <c:v>4.7025412153104462E-2</c:v>
                </c:pt>
                <c:pt idx="6">
                  <c:v>4.5857768921576794E-2</c:v>
                </c:pt>
                <c:pt idx="7">
                  <c:v>5.4038871104378203E-2</c:v>
                </c:pt>
                <c:pt idx="8">
                  <c:v>5.4985088986083466E-2</c:v>
                </c:pt>
                <c:pt idx="9">
                  <c:v>5.5454832123439275E-2</c:v>
                </c:pt>
              </c:numCache>
            </c:numRef>
          </c:val>
          <c:smooth val="0"/>
          <c:extLst>
            <c:ext xmlns:c16="http://schemas.microsoft.com/office/drawing/2014/chart" uri="{C3380CC4-5D6E-409C-BE32-E72D297353CC}">
              <c16:uniqueId val="{00000001-6276-4896-BCC6-5A9A02C28BFB}"/>
            </c:ext>
          </c:extLst>
        </c:ser>
        <c:ser>
          <c:idx val="1"/>
          <c:order val="1"/>
          <c:tx>
            <c:strRef>
              <c:f>Sheet1!$C$1</c:f>
              <c:strCache>
                <c:ptCount val="1"/>
                <c:pt idx="0">
                  <c:v>본 건 포함</c:v>
                </c:pt>
              </c:strCache>
            </c:strRef>
          </c:tx>
          <c:spPr>
            <a:ln w="28575" cap="rnd">
              <a:solidFill>
                <a:srgbClr val="C00000"/>
              </a:solidFill>
              <a:round/>
            </a:ln>
            <a:effectLst>
              <a:outerShdw blurRad="50800" dist="38100" dir="2700000" algn="tl" rotWithShape="0">
                <a:prstClr val="black">
                  <a:alpha val="40000"/>
                </a:prstClr>
              </a:outerShdw>
            </a:effectLst>
          </c:spPr>
          <c:marker>
            <c:symbol val="circle"/>
            <c:size val="7"/>
            <c:spPr>
              <a:solidFill>
                <a:schemeClr val="bg1"/>
              </a:solidFill>
              <a:ln w="9525">
                <a:solidFill>
                  <a:srgbClr val="C00000"/>
                </a:solidFill>
              </a:ln>
              <a:effectLst>
                <a:outerShdw blurRad="50800" dist="38100" dir="2700000" algn="tl" rotWithShape="0">
                  <a:prstClr val="black">
                    <a:alpha val="40000"/>
                  </a:prstClr>
                </a:outerShdw>
              </a:effectLst>
            </c:spPr>
          </c:marker>
          <c:dLbls>
            <c:dLbl>
              <c:idx val="0"/>
              <c:layout>
                <c:manualLayout>
                  <c:x val="-4.411747611048486E-2"/>
                  <c:y val="-3.65095547986513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276-4896-BCC6-5A9A02C28BFB}"/>
                </c:ext>
              </c:extLst>
            </c:dLbl>
            <c:dLbl>
              <c:idx val="1"/>
              <c:layout>
                <c:manualLayout>
                  <c:x val="-2.9920292102100517E-2"/>
                  <c:y val="-6.662370515989736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276-4896-BCC6-5A9A02C28BFB}"/>
                </c:ext>
              </c:extLst>
            </c:dLbl>
            <c:dLbl>
              <c:idx val="2"/>
              <c:layout>
                <c:manualLayout>
                  <c:x val="-4.4117547633148152E-2"/>
                  <c:y val="-8.155065585365274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276-4896-BCC6-5A9A02C28BFB}"/>
                </c:ext>
              </c:extLst>
            </c:dLbl>
            <c:dLbl>
              <c:idx val="3"/>
              <c:layout>
                <c:manualLayout>
                  <c:x val="-6.2691510645657506E-2"/>
                  <c:y val="-6.834697687109551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276-4896-BCC6-5A9A02C28BFB}"/>
                </c:ext>
              </c:extLst>
            </c:dLbl>
            <c:dLbl>
              <c:idx val="4"/>
              <c:layout>
                <c:manualLayout>
                  <c:x val="-4.4136719735141827E-2"/>
                  <c:y val="-9.708683553694939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6276-4896-BCC6-5A9A02C28BFB}"/>
                </c:ext>
              </c:extLst>
            </c:dLbl>
            <c:dLbl>
              <c:idx val="5"/>
              <c:layout>
                <c:manualLayout>
                  <c:x val="-5.0184541770033314E-2"/>
                  <c:y val="-8.17044684977359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6276-4896-BCC6-5A9A02C28BFB}"/>
                </c:ext>
              </c:extLst>
            </c:dLbl>
            <c:dLbl>
              <c:idx val="6"/>
              <c:layout>
                <c:manualLayout>
                  <c:x val="-4.6139818374556017E-2"/>
                  <c:y val="-4.015686297034483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6276-4896-BCC6-5A9A02C28BFB}"/>
                </c:ext>
              </c:extLst>
            </c:dLbl>
            <c:dLbl>
              <c:idx val="7"/>
              <c:layout>
                <c:manualLayout>
                  <c:x val="-4.6139818374555941E-2"/>
                  <c:y val="-4.745147931373168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6276-4896-BCC6-5A9A02C28BFB}"/>
                </c:ext>
              </c:extLst>
            </c:dLbl>
            <c:dLbl>
              <c:idx val="8"/>
              <c:layout>
                <c:manualLayout>
                  <c:x val="-5.4152020275384634E-2"/>
                  <c:y val="-5.427024396349515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6276-4896-BCC6-5A9A02C28BFB}"/>
                </c:ext>
              </c:extLst>
            </c:dLbl>
            <c:dLbl>
              <c:idx val="9"/>
              <c:layout>
                <c:manualLayout>
                  <c:x val="-9.8017459428965305E-3"/>
                  <c:y val="-5.14159210662944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6276-4896-BCC6-5A9A02C28BFB}"/>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accent2">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Sheet1!$A$2:$A$11</c:f>
              <c:numCache>
                <c:formatCode>"FY"General</c:formatCode>
                <c:ptCount val="10"/>
                <c:pt idx="0">
                  <c:v>13</c:v>
                </c:pt>
                <c:pt idx="1">
                  <c:v>14</c:v>
                </c:pt>
                <c:pt idx="2">
                  <c:v>15</c:v>
                </c:pt>
                <c:pt idx="3">
                  <c:v>16</c:v>
                </c:pt>
                <c:pt idx="4">
                  <c:v>17</c:v>
                </c:pt>
                <c:pt idx="5">
                  <c:v>18</c:v>
                </c:pt>
                <c:pt idx="6">
                  <c:v>19</c:v>
                </c:pt>
                <c:pt idx="7">
                  <c:v>20</c:v>
                </c:pt>
                <c:pt idx="8">
                  <c:v>21</c:v>
                </c:pt>
                <c:pt idx="9">
                  <c:v>22</c:v>
                </c:pt>
              </c:numCache>
            </c:numRef>
          </c:cat>
          <c:val>
            <c:numRef>
              <c:f>Sheet1!$C$2:$C$11</c:f>
              <c:numCache>
                <c:formatCode>0.00%</c:formatCode>
                <c:ptCount val="10"/>
                <c:pt idx="0">
                  <c:v>6.1600025666094696E-2</c:v>
                </c:pt>
                <c:pt idx="1">
                  <c:v>4.8727449494653387E-2</c:v>
                </c:pt>
                <c:pt idx="2">
                  <c:v>4.4824348628650645E-2</c:v>
                </c:pt>
                <c:pt idx="3">
                  <c:v>4.7163229335548701E-2</c:v>
                </c:pt>
                <c:pt idx="4">
                  <c:v>4.4978015952720218E-2</c:v>
                </c:pt>
                <c:pt idx="5">
                  <c:v>4.8759595783479409E-2</c:v>
                </c:pt>
                <c:pt idx="6">
                  <c:v>4.7680395297748132E-2</c:v>
                </c:pt>
                <c:pt idx="7">
                  <c:v>5.5323869876547478E-2</c:v>
                </c:pt>
                <c:pt idx="8">
                  <c:v>5.6217881602774383E-2</c:v>
                </c:pt>
                <c:pt idx="9">
                  <c:v>5.666756068905663E-2</c:v>
                </c:pt>
              </c:numCache>
            </c:numRef>
          </c:val>
          <c:smooth val="0"/>
          <c:extLst>
            <c:ext xmlns:c16="http://schemas.microsoft.com/office/drawing/2014/chart" uri="{C3380CC4-5D6E-409C-BE32-E72D297353CC}">
              <c16:uniqueId val="{0000000C-6276-4896-BCC6-5A9A02C28BFB}"/>
            </c:ext>
          </c:extLst>
        </c:ser>
        <c:dLbls>
          <c:showLegendKey val="0"/>
          <c:showVal val="0"/>
          <c:showCatName val="0"/>
          <c:showSerName val="0"/>
          <c:showPercent val="0"/>
          <c:showBubbleSize val="0"/>
        </c:dLbls>
        <c:marker val="1"/>
        <c:smooth val="0"/>
        <c:axId val="43317775"/>
        <c:axId val="43324015"/>
        <c:extLst/>
      </c:lineChart>
      <c:catAx>
        <c:axId val="43317775"/>
        <c:scaling>
          <c:orientation val="minMax"/>
        </c:scaling>
        <c:delete val="0"/>
        <c:axPos val="b"/>
        <c:numFmt formatCode="&quot;FY&quot;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9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43324015"/>
        <c:crosses val="autoZero"/>
        <c:auto val="1"/>
        <c:lblAlgn val="ctr"/>
        <c:lblOffset val="100"/>
        <c:noMultiLvlLbl val="0"/>
      </c:catAx>
      <c:valAx>
        <c:axId val="43324015"/>
        <c:scaling>
          <c:orientation val="minMax"/>
          <c:min val="3.5000000000000003E-2"/>
        </c:scaling>
        <c:delete val="0"/>
        <c:axPos val="l"/>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43317775"/>
        <c:crosses val="autoZero"/>
        <c:crossBetween val="between"/>
      </c:valAx>
      <c:spPr>
        <a:noFill/>
        <a:ln>
          <a:noFill/>
        </a:ln>
        <a:effectLst/>
      </c:spPr>
    </c:plotArea>
    <c:legend>
      <c:legendPos val="b"/>
      <c:layout>
        <c:manualLayout>
          <c:xMode val="edge"/>
          <c:yMode val="edge"/>
          <c:x val="0.56343832850428266"/>
          <c:y val="0.59742021392753364"/>
          <c:w val="0.43128533843593181"/>
          <c:h val="0.12348672830634438"/>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033871280844373"/>
          <c:y val="5.8697153169973294E-2"/>
          <c:w val="0.69464753495859077"/>
          <c:h val="0.70909634995729098"/>
        </c:manualLayout>
      </c:layout>
      <c:barChart>
        <c:barDir val="col"/>
        <c:grouping val="stacked"/>
        <c:varyColors val="0"/>
        <c:ser>
          <c:idx val="0"/>
          <c:order val="0"/>
          <c:tx>
            <c:strRef>
              <c:f>Sheet1!$B$1</c:f>
              <c:strCache>
                <c:ptCount val="1"/>
                <c:pt idx="0">
                  <c:v>계열 1</c:v>
                </c:pt>
              </c:strCache>
            </c:strRef>
          </c:tx>
          <c:spPr>
            <a:pattFill prst="wdUpDiag">
              <a:fgClr>
                <a:schemeClr val="tx2">
                  <a:lumMod val="20000"/>
                  <a:lumOff val="80000"/>
                </a:schemeClr>
              </a:fgClr>
              <a:bgClr>
                <a:schemeClr val="bg1"/>
              </a:bgClr>
            </a:pattFill>
            <a:ln>
              <a:solidFill>
                <a:schemeClr val="bg1"/>
              </a:solidFill>
            </a:ln>
            <a:effectLst/>
          </c:spPr>
          <c:invertIfNegative val="0"/>
          <c:dPt>
            <c:idx val="0"/>
            <c:invertIfNegative val="0"/>
            <c:bubble3D val="0"/>
            <c:spPr>
              <a:pattFill prst="wdUpDiag">
                <a:fgClr>
                  <a:schemeClr val="tx2">
                    <a:lumMod val="20000"/>
                    <a:lumOff val="80000"/>
                  </a:schemeClr>
                </a:fgClr>
                <a:bgClr>
                  <a:schemeClr val="bg1"/>
                </a:bgClr>
              </a:pattFill>
              <a:ln>
                <a:solidFill>
                  <a:schemeClr val="bg1"/>
                </a:solidFill>
              </a:ln>
              <a:effectLst/>
            </c:spPr>
            <c:extLst>
              <c:ext xmlns:c16="http://schemas.microsoft.com/office/drawing/2014/chart" uri="{C3380CC4-5D6E-409C-BE32-E72D297353CC}">
                <c16:uniqueId val="{00000001-6D46-4C40-A0AF-A4A9AE983CCC}"/>
              </c:ext>
            </c:extLst>
          </c:dPt>
          <c:cat>
            <c:strRef>
              <c:f>Sheet1!$A$2:$A$3</c:f>
              <c:strCache>
                <c:ptCount val="2"/>
                <c:pt idx="0">
                  <c:v>항목 1</c:v>
                </c:pt>
                <c:pt idx="1">
                  <c:v>항목 2</c:v>
                </c:pt>
              </c:strCache>
            </c:strRef>
          </c:cat>
          <c:val>
            <c:numRef>
              <c:f>Sheet1!$B$2:$B$3</c:f>
              <c:numCache>
                <c:formatCode>General</c:formatCode>
                <c:ptCount val="2"/>
                <c:pt idx="0">
                  <c:v>665</c:v>
                </c:pt>
              </c:numCache>
            </c:numRef>
          </c:val>
          <c:extLst>
            <c:ext xmlns:c16="http://schemas.microsoft.com/office/drawing/2014/chart" uri="{C3380CC4-5D6E-409C-BE32-E72D297353CC}">
              <c16:uniqueId val="{00000002-6D46-4C40-A0AF-A4A9AE983CCC}"/>
            </c:ext>
          </c:extLst>
        </c:ser>
        <c:ser>
          <c:idx val="1"/>
          <c:order val="1"/>
          <c:tx>
            <c:strRef>
              <c:f>Sheet1!$C$1</c:f>
              <c:strCache>
                <c:ptCount val="1"/>
                <c:pt idx="0">
                  <c:v>계열 2</c:v>
                </c:pt>
              </c:strCache>
            </c:strRef>
          </c:tx>
          <c:spPr>
            <a:pattFill prst="wdUpDiag">
              <a:fgClr>
                <a:schemeClr val="bg1">
                  <a:lumMod val="95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Sheet1!$C$2:$C$3</c:f>
              <c:numCache>
                <c:formatCode>General</c:formatCode>
                <c:ptCount val="2"/>
                <c:pt idx="1">
                  <c:v>665</c:v>
                </c:pt>
              </c:numCache>
            </c:numRef>
          </c:val>
          <c:extLst>
            <c:ext xmlns:c16="http://schemas.microsoft.com/office/drawing/2014/chart" uri="{C3380CC4-5D6E-409C-BE32-E72D297353CC}">
              <c16:uniqueId val="{00000003-6D46-4C40-A0AF-A4A9AE983CCC}"/>
            </c:ext>
          </c:extLst>
        </c:ser>
        <c:ser>
          <c:idx val="2"/>
          <c:order val="2"/>
          <c:tx>
            <c:strRef>
              <c:f>Sheet1!$D$1</c:f>
              <c:strCache>
                <c:ptCount val="1"/>
                <c:pt idx="0">
                  <c:v>계열 3</c:v>
                </c:pt>
              </c:strCache>
            </c:strRef>
          </c:tx>
          <c:spPr>
            <a:solidFill>
              <a:schemeClr val="accent2">
                <a:lumMod val="50000"/>
              </a:schemeClr>
            </a:solidFill>
            <a:ln>
              <a:solidFill>
                <a:schemeClr val="bg1"/>
              </a:solidFill>
            </a:ln>
            <a:effectLst/>
          </c:spPr>
          <c:invertIfNegative val="0"/>
          <c:cat>
            <c:strRef>
              <c:f>Sheet1!$A$2:$A$3</c:f>
              <c:strCache>
                <c:ptCount val="2"/>
                <c:pt idx="0">
                  <c:v>항목 1</c:v>
                </c:pt>
                <c:pt idx="1">
                  <c:v>항목 2</c:v>
                </c:pt>
              </c:strCache>
            </c:strRef>
          </c:cat>
          <c:val>
            <c:numRef>
              <c:f>Sheet1!$D$2:$D$3</c:f>
              <c:numCache>
                <c:formatCode>General</c:formatCode>
                <c:ptCount val="2"/>
                <c:pt idx="1">
                  <c:v>144</c:v>
                </c:pt>
              </c:numCache>
            </c:numRef>
          </c:val>
          <c:extLst>
            <c:ext xmlns:c16="http://schemas.microsoft.com/office/drawing/2014/chart" uri="{C3380CC4-5D6E-409C-BE32-E72D297353CC}">
              <c16:uniqueId val="{00000004-6D46-4C40-A0AF-A4A9AE983CCC}"/>
            </c:ext>
          </c:extLst>
        </c:ser>
        <c:ser>
          <c:idx val="3"/>
          <c:order val="3"/>
          <c:tx>
            <c:strRef>
              <c:f>Sheet1!$E$1</c:f>
              <c:strCache>
                <c:ptCount val="1"/>
                <c:pt idx="0">
                  <c:v>계열 4</c:v>
                </c:pt>
              </c:strCache>
            </c:strRef>
          </c:tx>
          <c:spPr>
            <a:solidFill>
              <a:schemeClr val="accent2">
                <a:lumMod val="75000"/>
              </a:schemeClr>
            </a:solidFill>
            <a:ln>
              <a:solidFill>
                <a:schemeClr val="bg1"/>
              </a:solidFill>
            </a:ln>
            <a:effectLst/>
          </c:spPr>
          <c:invertIfNegative val="0"/>
          <c:cat>
            <c:strRef>
              <c:f>Sheet1!$A$2:$A$3</c:f>
              <c:strCache>
                <c:ptCount val="2"/>
                <c:pt idx="0">
                  <c:v>항목 1</c:v>
                </c:pt>
                <c:pt idx="1">
                  <c:v>항목 2</c:v>
                </c:pt>
              </c:strCache>
            </c:strRef>
          </c:cat>
          <c:val>
            <c:numRef>
              <c:f>Sheet1!$E$2:$E$3</c:f>
              <c:numCache>
                <c:formatCode>General</c:formatCode>
                <c:ptCount val="2"/>
              </c:numCache>
            </c:numRef>
          </c:val>
          <c:extLst>
            <c:ext xmlns:c16="http://schemas.microsoft.com/office/drawing/2014/chart" uri="{C3380CC4-5D6E-409C-BE32-E72D297353CC}">
              <c16:uniqueId val="{00000005-6D46-4C40-A0AF-A4A9AE983CCC}"/>
            </c:ext>
          </c:extLst>
        </c:ser>
        <c:ser>
          <c:idx val="4"/>
          <c:order val="4"/>
          <c:tx>
            <c:strRef>
              <c:f>Sheet1!$F$1</c:f>
              <c:strCache>
                <c:ptCount val="1"/>
                <c:pt idx="0">
                  <c:v>계열 5</c:v>
                </c:pt>
              </c:strCache>
            </c:strRef>
          </c:tx>
          <c:spPr>
            <a:solidFill>
              <a:srgbClr val="F8CBAD"/>
            </a:solidFill>
            <a:ln>
              <a:solidFill>
                <a:schemeClr val="bg1"/>
              </a:solidFill>
            </a:ln>
            <a:effectLst/>
          </c:spPr>
          <c:invertIfNegative val="0"/>
          <c:cat>
            <c:strRef>
              <c:f>Sheet1!$A$2:$A$3</c:f>
              <c:strCache>
                <c:ptCount val="2"/>
                <c:pt idx="0">
                  <c:v>항목 1</c:v>
                </c:pt>
                <c:pt idx="1">
                  <c:v>항목 2</c:v>
                </c:pt>
              </c:strCache>
            </c:strRef>
          </c:cat>
          <c:val>
            <c:numRef>
              <c:f>Sheet1!$F$2:$F$3</c:f>
              <c:numCache>
                <c:formatCode>General</c:formatCode>
                <c:ptCount val="2"/>
                <c:pt idx="1">
                  <c:v>500</c:v>
                </c:pt>
              </c:numCache>
            </c:numRef>
          </c:val>
          <c:extLst>
            <c:ext xmlns:c16="http://schemas.microsoft.com/office/drawing/2014/chart" uri="{C3380CC4-5D6E-409C-BE32-E72D297353CC}">
              <c16:uniqueId val="{00000006-6D46-4C40-A0AF-A4A9AE983CCC}"/>
            </c:ext>
          </c:extLst>
        </c:ser>
        <c:ser>
          <c:idx val="5"/>
          <c:order val="5"/>
          <c:tx>
            <c:strRef>
              <c:f>Sheet1!$G$1</c:f>
              <c:strCache>
                <c:ptCount val="1"/>
                <c:pt idx="0">
                  <c:v>계열 6</c:v>
                </c:pt>
              </c:strCache>
            </c:strRef>
          </c:tx>
          <c:spPr>
            <a:solidFill>
              <a:srgbClr val="FBE5D6"/>
            </a:solidFill>
            <a:ln>
              <a:solidFill>
                <a:schemeClr val="bg1"/>
              </a:solidFill>
            </a:ln>
            <a:effectLst/>
          </c:spPr>
          <c:invertIfNegative val="0"/>
          <c:cat>
            <c:strRef>
              <c:f>Sheet1!$A$2:$A$3</c:f>
              <c:strCache>
                <c:ptCount val="2"/>
                <c:pt idx="0">
                  <c:v>항목 1</c:v>
                </c:pt>
                <c:pt idx="1">
                  <c:v>항목 2</c:v>
                </c:pt>
              </c:strCache>
            </c:strRef>
          </c:cat>
          <c:val>
            <c:numRef>
              <c:f>Sheet1!$G$2:$G$3</c:f>
              <c:numCache>
                <c:formatCode>General</c:formatCode>
                <c:ptCount val="2"/>
                <c:pt idx="1">
                  <c:v>240</c:v>
                </c:pt>
              </c:numCache>
            </c:numRef>
          </c:val>
          <c:extLst>
            <c:ext xmlns:c16="http://schemas.microsoft.com/office/drawing/2014/chart" uri="{C3380CC4-5D6E-409C-BE32-E72D297353CC}">
              <c16:uniqueId val="{00000007-6D46-4C40-A0AF-A4A9AE983CCC}"/>
            </c:ext>
          </c:extLst>
        </c:ser>
        <c:ser>
          <c:idx val="6"/>
          <c:order val="6"/>
          <c:tx>
            <c:strRef>
              <c:f>Sheet1!$H$1</c:f>
              <c:strCache>
                <c:ptCount val="1"/>
                <c:pt idx="0">
                  <c:v>계열 7</c:v>
                </c:pt>
              </c:strCache>
            </c:strRef>
          </c:tx>
          <c:spPr>
            <a:pattFill prst="wdUpDiag">
              <a:fgClr>
                <a:schemeClr val="accent1">
                  <a:lumMod val="20000"/>
                  <a:lumOff val="8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Sheet1!$H$2:$H$3</c:f>
              <c:numCache>
                <c:formatCode>General</c:formatCode>
                <c:ptCount val="2"/>
              </c:numCache>
            </c:numRef>
          </c:val>
          <c:extLst>
            <c:ext xmlns:c16="http://schemas.microsoft.com/office/drawing/2014/chart" uri="{C3380CC4-5D6E-409C-BE32-E72D297353CC}">
              <c16:uniqueId val="{00000008-6D46-4C40-A0AF-A4A9AE983CCC}"/>
            </c:ext>
          </c:extLst>
        </c:ser>
        <c:ser>
          <c:idx val="7"/>
          <c:order val="7"/>
          <c:tx>
            <c:strRef>
              <c:f>Sheet1!$I$1</c:f>
              <c:strCache>
                <c:ptCount val="1"/>
                <c:pt idx="0">
                  <c:v>계열 8</c:v>
                </c:pt>
              </c:strCache>
            </c:strRef>
          </c:tx>
          <c:spPr>
            <a:solidFill>
              <a:schemeClr val="bg2">
                <a:lumMod val="90000"/>
              </a:schemeClr>
            </a:solidFill>
            <a:ln>
              <a:solidFill>
                <a:schemeClr val="bg1"/>
              </a:solidFill>
            </a:ln>
            <a:effectLst/>
          </c:spPr>
          <c:invertIfNegative val="0"/>
          <c:cat>
            <c:strRef>
              <c:f>Sheet1!$A$2:$A$3</c:f>
              <c:strCache>
                <c:ptCount val="2"/>
                <c:pt idx="0">
                  <c:v>항목 1</c:v>
                </c:pt>
                <c:pt idx="1">
                  <c:v>항목 2</c:v>
                </c:pt>
              </c:strCache>
            </c:strRef>
          </c:cat>
          <c:val>
            <c:numRef>
              <c:f>Sheet1!$I$2:$I$3</c:f>
              <c:numCache>
                <c:formatCode>General</c:formatCode>
                <c:ptCount val="2"/>
                <c:pt idx="1">
                  <c:v>2130</c:v>
                </c:pt>
              </c:numCache>
            </c:numRef>
          </c:val>
          <c:extLst>
            <c:ext xmlns:c16="http://schemas.microsoft.com/office/drawing/2014/chart" uri="{C3380CC4-5D6E-409C-BE32-E72D297353CC}">
              <c16:uniqueId val="{00000009-6D46-4C40-A0AF-A4A9AE983CCC}"/>
            </c:ext>
          </c:extLst>
        </c:ser>
        <c:ser>
          <c:idx val="8"/>
          <c:order val="8"/>
          <c:tx>
            <c:strRef>
              <c:f>Sheet1!$J$1</c:f>
              <c:strCache>
                <c:ptCount val="1"/>
                <c:pt idx="0">
                  <c:v>계열 9</c:v>
                </c:pt>
              </c:strCache>
            </c:strRef>
          </c:tx>
          <c:spPr>
            <a:solidFill>
              <a:schemeClr val="accent3">
                <a:lumMod val="60000"/>
              </a:schemeClr>
            </a:solidFill>
            <a:ln>
              <a:noFill/>
            </a:ln>
            <a:effectLst/>
          </c:spPr>
          <c:invertIfNegative val="0"/>
          <c:cat>
            <c:strRef>
              <c:f>Sheet1!$A$2:$A$3</c:f>
              <c:strCache>
                <c:ptCount val="2"/>
                <c:pt idx="0">
                  <c:v>항목 1</c:v>
                </c:pt>
                <c:pt idx="1">
                  <c:v>항목 2</c:v>
                </c:pt>
              </c:strCache>
            </c:strRef>
          </c:cat>
          <c:val>
            <c:numRef>
              <c:f>Sheet1!$J$2:$J$3</c:f>
              <c:numCache>
                <c:formatCode>General</c:formatCode>
                <c:ptCount val="2"/>
                <c:pt idx="1">
                  <c:v>21</c:v>
                </c:pt>
              </c:numCache>
            </c:numRef>
          </c:val>
          <c:extLst>
            <c:ext xmlns:c16="http://schemas.microsoft.com/office/drawing/2014/chart" uri="{C3380CC4-5D6E-409C-BE32-E72D297353CC}">
              <c16:uniqueId val="{0000000A-6D46-4C40-A0AF-A4A9AE983CCC}"/>
            </c:ext>
          </c:extLst>
        </c:ser>
        <c:ser>
          <c:idx val="9"/>
          <c:order val="9"/>
          <c:tx>
            <c:strRef>
              <c:f>Sheet1!$K$1</c:f>
              <c:strCache>
                <c:ptCount val="1"/>
                <c:pt idx="0">
                  <c:v>계열 10</c:v>
                </c:pt>
              </c:strCache>
            </c:strRef>
          </c:tx>
          <c:spPr>
            <a:solidFill>
              <a:srgbClr val="D6DCE5"/>
            </a:solidFill>
            <a:ln>
              <a:noFill/>
            </a:ln>
            <a:effectLst/>
          </c:spPr>
          <c:invertIfNegative val="0"/>
          <c:cat>
            <c:strRef>
              <c:f>Sheet1!$A$2:$A$3</c:f>
              <c:strCache>
                <c:ptCount val="2"/>
                <c:pt idx="0">
                  <c:v>항목 1</c:v>
                </c:pt>
                <c:pt idx="1">
                  <c:v>항목 2</c:v>
                </c:pt>
              </c:strCache>
            </c:strRef>
          </c:cat>
          <c:val>
            <c:numRef>
              <c:f>Sheet1!$K$2:$K$3</c:f>
              <c:numCache>
                <c:formatCode>General</c:formatCode>
                <c:ptCount val="2"/>
                <c:pt idx="0">
                  <c:v>3035</c:v>
                </c:pt>
              </c:numCache>
            </c:numRef>
          </c:val>
          <c:extLst>
            <c:ext xmlns:c16="http://schemas.microsoft.com/office/drawing/2014/chart" uri="{C3380CC4-5D6E-409C-BE32-E72D297353CC}">
              <c16:uniqueId val="{0000000B-6D46-4C40-A0AF-A4A9AE983CCC}"/>
            </c:ext>
          </c:extLst>
        </c:ser>
        <c:dLbls>
          <c:showLegendKey val="0"/>
          <c:showVal val="0"/>
          <c:showCatName val="0"/>
          <c:showSerName val="0"/>
          <c:showPercent val="0"/>
          <c:showBubbleSize val="0"/>
        </c:dLbls>
        <c:gapWidth val="10"/>
        <c:overlap val="100"/>
        <c:axId val="1434926079"/>
        <c:axId val="1709524208"/>
      </c:barChart>
      <c:catAx>
        <c:axId val="1434926079"/>
        <c:scaling>
          <c:orientation val="minMax"/>
        </c:scaling>
        <c:delete val="1"/>
        <c:axPos val="b"/>
        <c:numFmt formatCode="General" sourceLinked="1"/>
        <c:majorTickMark val="none"/>
        <c:minorTickMark val="none"/>
        <c:tickLblPos val="nextTo"/>
        <c:crossAx val="1709524208"/>
        <c:crosses val="autoZero"/>
        <c:auto val="1"/>
        <c:lblAlgn val="ctr"/>
        <c:lblOffset val="100"/>
        <c:noMultiLvlLbl val="0"/>
      </c:catAx>
      <c:valAx>
        <c:axId val="1709524208"/>
        <c:scaling>
          <c:orientation val="minMax"/>
          <c:max val="3700"/>
          <c:min val="0"/>
        </c:scaling>
        <c:delete val="0"/>
        <c:axPos val="l"/>
        <c:numFmt formatCode="#,##0_);[Red]\(#,##0\)" sourceLinked="0"/>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4349260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layout>
        <c:manualLayout>
          <c:layoutTarget val="inner"/>
          <c:xMode val="edge"/>
          <c:yMode val="edge"/>
          <c:x val="0.055"/>
          <c:y val="0.13"/>
          <c:w val="0.935"/>
          <c:h val="0.63"/>
        </c:manualLayout>
      </c:layout>
      <c:lineChart>
        <c:grouping val="standard"/>
        <c:varyColors val="0"/>
        <c:ser>
          <c:idx val="0"/>
          <c:order val="0"/>
          <c:tx>
            <c:strRef>
              <c:f>Sheet1!$C$1</c:f>
              <c:strCache>
                <c:ptCount val="1"/>
                <c:pt idx="0">
                  <c:v>5년 채권금리</c:v>
                </c:pt>
              </c:strCache>
            </c:strRef>
          </c:tx>
          <c:spPr>
            <a:ln w="19050">
              <a:solidFill>
                <a:srgbClr val="25273A"/>
              </a:solidFill>
            </a:ln>
          </c:spPr>
          <c:marker>
            <c:symbol val="none"/>
          </c:marker>
          <c:dLbls>
            <c:dLbl>
              <c:idx val="3"/>
              <c:tx>
                <c:rich>
                  <a:bodyPr/>
                  <a:lstStyle/>
                  <a:p>
                    <a:r>
                      <a:rPr sz="650">
                        <a:solidFill>
                          <a:srgbClr val="25273A"/>
                        </a:solidFill>
                        <a:latin typeface="KoPubWorld돋움체 Medium"/>
                        <a:ea typeface="KoPubWorld돋움체 Medium"/>
                        <a:cs typeface="KoPubWorld돋움체 Medium"/>
                      </a:rPr>
                      <a:t>1.7%</a:t>
                    </a:r>
                  </a:p>
                </c:rich>
              </c:tx>
              <c:dLblPos val="b"/>
              <c:showLegendKey val="0"/>
              <c:showVal val="1"/>
              <c:showCatName val="0"/>
              <c:showSerName val="0"/>
              <c:showPercent val="0"/>
              <c:showBubbleSize val="0"/>
            </c:dLbl>
            <c:dLbl>
              <c:idx val="7"/>
              <c:tx>
                <c:rich>
                  <a:bodyPr/>
                  <a:lstStyle/>
                  <a:p>
                    <a:r>
                      <a:rPr sz="650">
                        <a:solidFill>
                          <a:srgbClr val="25273A"/>
                        </a:solidFill>
                        <a:latin typeface="KoPubWorld돋움체 Medium"/>
                        <a:ea typeface="KoPubWorld돋움체 Medium"/>
                        <a:cs typeface="KoPubWorld돋움체 Medium"/>
                      </a:rPr>
                      <a:t>2.3%</a:t>
                    </a:r>
                  </a:p>
                </c:rich>
              </c:tx>
              <c:dLblPos val="b"/>
              <c:showLegendKey val="0"/>
              <c:showVal val="1"/>
              <c:showCatName val="0"/>
              <c:showSerName val="0"/>
              <c:showPercent val="0"/>
              <c:showBubbleSize val="0"/>
            </c:dLbl>
            <c:dLbl>
              <c:idx val="11"/>
              <c:tx>
                <c:rich>
                  <a:bodyPr/>
                  <a:lstStyle/>
                  <a:p>
                    <a:r>
                      <a:rPr sz="650">
                        <a:solidFill>
                          <a:srgbClr val="25273A"/>
                        </a:solidFill>
                        <a:latin typeface="KoPubWorld돋움체 Medium"/>
                        <a:ea typeface="KoPubWorld돋움체 Medium"/>
                        <a:cs typeface="KoPubWorld돋움체 Medium"/>
                      </a:rPr>
                      <a:t>2.0%</a:t>
                    </a:r>
                  </a:p>
                </c:rich>
              </c:tx>
              <c:dLblPos val="b"/>
              <c:showLegendKey val="0"/>
              <c:showVal val="1"/>
              <c:showCatName val="0"/>
              <c:showSerName val="0"/>
              <c:showPercent val="0"/>
              <c:showBubbleSize val="0"/>
            </c:dLbl>
            <c:dLbl>
              <c:idx val="15"/>
              <c:tx>
                <c:rich>
                  <a:bodyPr/>
                  <a:lstStyle/>
                  <a:p>
                    <a:r>
                      <a:rPr sz="650">
                        <a:solidFill>
                          <a:srgbClr val="25273A"/>
                        </a:solidFill>
                        <a:latin typeface="KoPubWorld돋움체 Medium"/>
                        <a:ea typeface="KoPubWorld돋움체 Medium"/>
                        <a:cs typeface="KoPubWorld돋움체 Medium"/>
                      </a:rPr>
                      <a:t>1.5%</a:t>
                    </a:r>
                  </a:p>
                </c:rich>
              </c:tx>
              <c:dLblPos val="b"/>
              <c:showLegendKey val="0"/>
              <c:showVal val="1"/>
              <c:showCatName val="0"/>
              <c:showSerName val="0"/>
              <c:showPercent val="0"/>
              <c:showBubbleSize val="0"/>
            </c:dLbl>
            <c:dLbl>
              <c:idx val="19"/>
              <c:tx>
                <c:rich>
                  <a:bodyPr/>
                  <a:lstStyle/>
                  <a:p>
                    <a:r>
                      <a:rPr sz="650">
                        <a:solidFill>
                          <a:srgbClr val="25273A"/>
                        </a:solidFill>
                        <a:latin typeface="KoPubWorld돋움체 Medium"/>
                        <a:ea typeface="KoPubWorld돋움체 Medium"/>
                        <a:cs typeface="KoPubWorld돋움체 Medium"/>
                      </a:rPr>
                      <a:t>1.3%</a:t>
                    </a:r>
                  </a:p>
                </c:rich>
              </c:tx>
              <c:dLblPos val="b"/>
              <c:showLegendKey val="0"/>
              <c:showVal val="1"/>
              <c:showCatName val="0"/>
              <c:showSerName val="0"/>
              <c:showPercent val="0"/>
              <c:showBubbleSize val="0"/>
            </c:dLbl>
            <c:dLbl>
              <c:idx val="23"/>
              <c:tx>
                <c:rich>
                  <a:bodyPr/>
                  <a:lstStyle/>
                  <a:p>
                    <a:r>
                      <a:rPr sz="650">
                        <a:solidFill>
                          <a:srgbClr val="25273A"/>
                        </a:solidFill>
                        <a:latin typeface="KoPubWorld돋움체 Medium"/>
                        <a:ea typeface="KoPubWorld돋움체 Medium"/>
                        <a:cs typeface="KoPubWorld돋움체 Medium"/>
                      </a:rPr>
                      <a:t>2.1%</a:t>
                    </a:r>
                  </a:p>
                </c:rich>
              </c:tx>
              <c:dLblPos val="b"/>
              <c:showLegendKey val="0"/>
              <c:showVal val="1"/>
              <c:showCatName val="0"/>
              <c:showSerName val="0"/>
              <c:showPercent val="0"/>
              <c:showBubbleSize val="0"/>
            </c:dLbl>
            <c:dLbl>
              <c:idx val="27"/>
              <c:tx>
                <c:rich>
                  <a:bodyPr/>
                  <a:lstStyle/>
                  <a:p>
                    <a:r>
                      <a:rPr sz="650">
                        <a:solidFill>
                          <a:srgbClr val="25273A"/>
                        </a:solidFill>
                        <a:latin typeface="KoPubWorld돋움체 Medium"/>
                        <a:ea typeface="KoPubWorld돋움체 Medium"/>
                        <a:cs typeface="KoPubWorld돋움체 Medium"/>
                      </a:rPr>
                      <a:t>3.9%</a:t>
                    </a:r>
                  </a:p>
                </c:rich>
              </c:tx>
              <c:dLblPos val="b"/>
              <c:showLegendKey val="0"/>
              <c:showVal val="1"/>
              <c:showCatName val="0"/>
              <c:showSerName val="0"/>
              <c:showPercent val="0"/>
              <c:showBubbleSize val="0"/>
            </c:dLbl>
            <c:dLbl>
              <c:idx val="31"/>
              <c:tx>
                <c:rich>
                  <a:bodyPr/>
                  <a:lstStyle/>
                  <a:p>
                    <a:r>
                      <a:rPr sz="650">
                        <a:solidFill>
                          <a:srgbClr val="25273A"/>
                        </a:solidFill>
                        <a:latin typeface="KoPubWorld돋움체 Medium"/>
                        <a:ea typeface="KoPubWorld돋움체 Medium"/>
                        <a:cs typeface="KoPubWorld돋움체 Medium"/>
                      </a:rPr>
                      <a:t>3.7%</a:t>
                    </a:r>
                  </a:p>
                </c:rich>
              </c:tx>
              <c:dLblPos val="b"/>
              <c:showLegendKey val="0"/>
              <c:showVal val="1"/>
              <c:showCatName val="0"/>
              <c:showSerName val="0"/>
              <c:showPercent val="0"/>
              <c:showBubbleSize val="0"/>
            </c:dLbl>
            <c:dLbl>
              <c:idx val="35"/>
              <c:tx>
                <c:rich>
                  <a:bodyPr/>
                  <a:lstStyle/>
                  <a:p>
                    <a:r>
                      <a:rPr sz="650">
                        <a:solidFill>
                          <a:srgbClr val="25273A"/>
                        </a:solidFill>
                        <a:latin typeface="KoPubWorld돋움체 Medium"/>
                        <a:ea typeface="KoPubWorld돋움체 Medium"/>
                        <a:cs typeface="KoPubWorld돋움체 Medium"/>
                      </a:rPr>
                      <a:t>2.8%</a:t>
                    </a:r>
                  </a:p>
                </c:rich>
              </c:tx>
              <c:dLblPos val="b"/>
              <c:showLegendKey val="0"/>
              <c:showVal val="1"/>
              <c:showCatName val="0"/>
              <c:showSerName val="0"/>
              <c:showPercent val="0"/>
              <c:showBubbleSize val="0"/>
            </c:dLbl>
            <c:dLbl>
              <c:idx val="39"/>
              <c:tx>
                <c:rich>
                  <a:bodyPr/>
                  <a:lstStyle/>
                  <a:p>
                    <a:r>
                      <a:rPr sz="650">
                        <a:solidFill>
                          <a:srgbClr val="25273A"/>
                        </a:solidFill>
                        <a:latin typeface="KoPubWorld돋움체 Medium"/>
                        <a:ea typeface="KoPubWorld돋움체 Medium"/>
                        <a:cs typeface="KoPubWorld돋움체 Medium"/>
                      </a:rPr>
                      <a:t>3.0%</a:t>
                    </a:r>
                  </a:p>
                </c:rich>
              </c:tx>
              <c:dLblPos val="b"/>
              <c:showLegendKey val="0"/>
              <c:showVal val="1"/>
              <c:showCatName val="0"/>
              <c:showSerName val="0"/>
              <c:showPercent val="0"/>
              <c:showBubbleSize val="0"/>
            </c:dLbl>
            <c:dLbl>
              <c:idx val="40"/>
              <c:tx>
                <c:rich>
                  <a:bodyPr/>
                  <a:lstStyle/>
                  <a:p>
                    <a:r>
                      <a:rPr sz="650">
                        <a:solidFill>
                          <a:srgbClr val="25273A"/>
                        </a:solidFill>
                        <a:latin typeface="KoPubWorld돋움체 Medium"/>
                        <a:ea typeface="KoPubWorld돋움체 Medium"/>
                        <a:cs typeface="KoPubWorld돋움체 Medium"/>
                      </a:rPr>
                      <a:t>3.4%</a:t>
                    </a:r>
                  </a:p>
                </c:rich>
              </c:tx>
              <c:dLblPos val="b"/>
              <c:showLegendKey val="0"/>
              <c:showVal val="1"/>
              <c:showCatName val="0"/>
              <c:showSerName val="0"/>
              <c:showPercent val="0"/>
              <c:showBubbleSize val="0"/>
            </c:dLbl>
            <c:dLbl>
              <c:idx val="42"/>
              <c:tx>
                <c:rich>
                  <a:bodyPr/>
                  <a:lstStyle/>
                  <a:p>
                    <a:r>
                      <a:rPr sz="650">
                        <a:solidFill>
                          <a:srgbClr val="25273A"/>
                        </a:solidFill>
                        <a:latin typeface="KoPubWorld돋움체 Medium"/>
                        <a:ea typeface="KoPubWorld돋움체 Medium"/>
                        <a:cs typeface="KoPubWorld돋움체 Medium"/>
                      </a:rPr>
                      <a:t>4.1%</a:t>
                    </a:r>
                  </a:p>
                </c:rich>
              </c:tx>
              <c:dLblPos val="b"/>
              <c:showLegendKey val="0"/>
              <c:showVal val="1"/>
              <c:showCatName val="0"/>
              <c:showSerName val="0"/>
              <c:showPercent val="0"/>
              <c:showBubbleSize val="0"/>
            </c:dLbl>
            <c:showLegendKey val="0"/>
            <c:showVal val="0"/>
            <c:showCatName val="0"/>
            <c:showSerName val="0"/>
            <c:showPercent val="0"/>
            <c:showBubbleSize val="0"/>
            <c:showLeaderLines val="1"/>
          </c:dLbls>
          <c:cat>
            <c:multiLvlStrRef>
              <c:f>Sheet1!$A$2:$B$53</c:f>
              <c:multiLvlStrCache>
                <c:ptCount val="52"/>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pt idx="20">
                    <c:v>Q1</c:v>
                  </c:pt>
                  <c:pt idx="21">
                    <c:v>Q2</c:v>
                  </c:pt>
                  <c:pt idx="22">
                    <c:v>Q3</c:v>
                  </c:pt>
                  <c:pt idx="23">
                    <c:v>Q4</c:v>
                  </c:pt>
                  <c:pt idx="24">
                    <c:v>Q1</c:v>
                  </c:pt>
                  <c:pt idx="25">
                    <c:v>Q2</c:v>
                  </c:pt>
                  <c:pt idx="26">
                    <c:v>Q3</c:v>
                  </c:pt>
                  <c:pt idx="27">
                    <c:v>Q4</c:v>
                  </c:pt>
                  <c:pt idx="28">
                    <c:v>Q1</c:v>
                  </c:pt>
                  <c:pt idx="29">
                    <c:v>Q2</c:v>
                  </c:pt>
                  <c:pt idx="30">
                    <c:v>Q3</c:v>
                  </c:pt>
                  <c:pt idx="31">
                    <c:v>Q4</c:v>
                  </c:pt>
                  <c:pt idx="32">
                    <c:v>Q1</c:v>
                  </c:pt>
                  <c:pt idx="33">
                    <c:v>Q2</c:v>
                  </c:pt>
                  <c:pt idx="34">
                    <c:v>Q3</c:v>
                  </c:pt>
                  <c:pt idx="35">
                    <c:v>Q4</c:v>
                  </c:pt>
                  <c:pt idx="36">
                    <c:v>Q1</c:v>
                  </c:pt>
                  <c:pt idx="37">
                    <c:v>Q2</c:v>
                  </c:pt>
                  <c:pt idx="38">
                    <c:v>Q3</c:v>
                  </c:pt>
                  <c:pt idx="39">
                    <c:v>Q4</c:v>
                  </c:pt>
                  <c:pt idx="40">
                    <c:v>Q1</c:v>
                  </c:pt>
                  <c:pt idx="41">
                    <c:v>Q2</c:v>
                  </c:pt>
                  <c:pt idx="42">
                    <c:v>Q3</c:v>
                  </c:pt>
                  <c:pt idx="43">
                    <c:v>Q4</c:v>
                  </c:pt>
                  <c:pt idx="44">
                    <c:v>Q1</c:v>
                  </c:pt>
                  <c:pt idx="45">
                    <c:v>Q2</c:v>
                  </c:pt>
                  <c:pt idx="46">
                    <c:v>Q3</c:v>
                  </c:pt>
                  <c:pt idx="47">
                    <c:v>Q4</c:v>
                  </c:pt>
                  <c:pt idx="48">
                    <c:v>Q1</c:v>
                  </c:pt>
                  <c:pt idx="49">
                    <c:v>Q2</c:v>
                  </c:pt>
                  <c:pt idx="50">
                    <c:v>Q3</c:v>
                  </c:pt>
                  <c:pt idx="51">
                    <c:v>Q4</c:v>
                  </c:pt>
                </c:lvl>
                <c:lvl>
                  <c:pt idx="0">
                    <c:v>2016</c:v>
                  </c:pt>
                  <c:pt idx="4">
                    <c:v>2017</c:v>
                  </c:pt>
                  <c:pt idx="8">
                    <c:v>2018</c:v>
                  </c:pt>
                  <c:pt idx="12">
                    <c:v>2019</c:v>
                  </c:pt>
                  <c:pt idx="16">
                    <c:v>2020</c:v>
                  </c:pt>
                  <c:pt idx="20">
                    <c:v>2021</c:v>
                  </c:pt>
                  <c:pt idx="24">
                    <c:v>2022</c:v>
                  </c:pt>
                  <c:pt idx="28">
                    <c:v>2023</c:v>
                  </c:pt>
                  <c:pt idx="32">
                    <c:v>2024</c:v>
                  </c:pt>
                  <c:pt idx="36">
                    <c:v>2025</c:v>
                  </c:pt>
                  <c:pt idx="40">
                    <c:v>2026</c:v>
                  </c:pt>
                  <c:pt idx="44">
                    <c:v>2027</c:v>
                  </c:pt>
                  <c:pt idx="48">
                    <c:v>2028</c:v>
                  </c:pt>
                </c:lvl>
              </c:multiLvlStrCache>
            </c:multiLvlStrRef>
          </c:cat>
          <c:val>
            <c:numRef>
              <c:f>Sheet1!$C$2:$C$53</c:f>
              <c:numCache>
                <c:formatCode>0.0%</c:formatCode>
                <c:ptCount val="52"/>
                <c:pt idx="0">
                  <c:v>0.0165</c:v>
                </c:pt>
                <c:pt idx="1">
                  <c:v>0.015</c:v>
                </c:pt>
                <c:pt idx="2">
                  <c:v>0.0129</c:v>
                </c:pt>
                <c:pt idx="3">
                  <c:v>0.0168</c:v>
                </c:pt>
                <c:pt idx="4">
                  <c:v>0.0185</c:v>
                </c:pt>
                <c:pt idx="5">
                  <c:v>0.0188</c:v>
                </c:pt>
                <c:pt idx="6">
                  <c:v>0.0197</c:v>
                </c:pt>
                <c:pt idx="7">
                  <c:v>0.0231</c:v>
                </c:pt>
                <c:pt idx="8">
                  <c:v>0.0247</c:v>
                </c:pt>
                <c:pt idx="9">
                  <c:v>0.0245</c:v>
                </c:pt>
                <c:pt idx="10">
                  <c:v>0.0222</c:v>
                </c:pt>
                <c:pt idx="11">
                  <c:v>0.0203</c:v>
                </c:pt>
                <c:pt idx="12">
                  <c:v>0.0185</c:v>
                </c:pt>
                <c:pt idx="13">
                  <c:v>0.0166</c:v>
                </c:pt>
                <c:pt idx="14">
                  <c:v>0.0133</c:v>
                </c:pt>
                <c:pt idx="15">
                  <c:v>0.015</c:v>
                </c:pt>
                <c:pt idx="16">
                  <c:v>0.0135</c:v>
                </c:pt>
                <c:pt idx="17">
                  <c:v>0.0118</c:v>
                </c:pt>
                <c:pt idx="18">
                  <c:v>0.0113</c:v>
                </c:pt>
                <c:pt idx="19">
                  <c:v>0.0129</c:v>
                </c:pt>
                <c:pt idx="20">
                  <c:v>0.0141</c:v>
                </c:pt>
                <c:pt idx="21">
                  <c:v>0.0163</c:v>
                </c:pt>
                <c:pt idx="22">
                  <c:v>0.017</c:v>
                </c:pt>
                <c:pt idx="23">
                  <c:v>0.021</c:v>
                </c:pt>
                <c:pt idx="24">
                  <c:v>0.0245</c:v>
                </c:pt>
                <c:pt idx="25">
                  <c:v>0.0332</c:v>
                </c:pt>
                <c:pt idx="26">
                  <c:v>0.0349</c:v>
                </c:pt>
                <c:pt idx="27">
                  <c:v>0.0392</c:v>
                </c:pt>
                <c:pt idx="28">
                  <c:v>0.0344</c:v>
                </c:pt>
                <c:pt idx="29">
                  <c:v>0.0339</c:v>
                </c:pt>
                <c:pt idx="30">
                  <c:v>0.0374</c:v>
                </c:pt>
                <c:pt idx="31">
                  <c:v>0.0374</c:v>
                </c:pt>
                <c:pt idx="32">
                  <c:v>0.0335</c:v>
                </c:pt>
                <c:pt idx="33">
                  <c:v>0.0341</c:v>
                </c:pt>
                <c:pt idx="34">
                  <c:v>0.0298</c:v>
                </c:pt>
                <c:pt idx="35">
                  <c:v>0.0283</c:v>
                </c:pt>
                <c:pt idx="36">
                  <c:v>0.0268</c:v>
                </c:pt>
                <c:pt idx="37">
                  <c:v>0.0252</c:v>
                </c:pt>
                <c:pt idx="38">
                  <c:v>0.0262</c:v>
                </c:pt>
                <c:pt idx="39">
                  <c:v>0.0303</c:v>
                </c:pt>
                <c:pt idx="40">
                  <c:v>0.0343</c:v>
                </c:pt>
                <c:pt idx="42">
                  <c:v>0.04133</c:v>
                </c:pt>
              </c:numCache>
            </c:numRef>
          </c:val>
          <c:smooth val="0"/>
        </c:ser>
        <c:ser>
          <c:idx val="1"/>
          <c:order val="1"/>
          <c:tx>
            <c:strRef>
              <c:f>Sheet1!$D$1</c:f>
              <c:strCache>
                <c:ptCount val="1"/>
                <c:pt idx="0">
                  <c:v>한국 오피스 Cap.Rate</c:v>
                </c:pt>
              </c:strCache>
            </c:strRef>
          </c:tx>
          <c:spPr>
            <a:ln w="15875">
              <a:solidFill>
                <a:srgbClr val="6499A2"/>
              </a:solidFill>
            </a:ln>
          </c:spPr>
          <c:marker>
            <c:symbol val="none"/>
          </c:marker>
          <c:cat>
            <c:multiLvlStrRef>
              <c:f>Sheet1!$A$2:$B$53</c:f>
              <c:multiLvlStrCache>
                <c:ptCount val="52"/>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pt idx="20">
                    <c:v>Q1</c:v>
                  </c:pt>
                  <c:pt idx="21">
                    <c:v>Q2</c:v>
                  </c:pt>
                  <c:pt idx="22">
                    <c:v>Q3</c:v>
                  </c:pt>
                  <c:pt idx="23">
                    <c:v>Q4</c:v>
                  </c:pt>
                  <c:pt idx="24">
                    <c:v>Q1</c:v>
                  </c:pt>
                  <c:pt idx="25">
                    <c:v>Q2</c:v>
                  </c:pt>
                  <c:pt idx="26">
                    <c:v>Q3</c:v>
                  </c:pt>
                  <c:pt idx="27">
                    <c:v>Q4</c:v>
                  </c:pt>
                  <c:pt idx="28">
                    <c:v>Q1</c:v>
                  </c:pt>
                  <c:pt idx="29">
                    <c:v>Q2</c:v>
                  </c:pt>
                  <c:pt idx="30">
                    <c:v>Q3</c:v>
                  </c:pt>
                  <c:pt idx="31">
                    <c:v>Q4</c:v>
                  </c:pt>
                  <c:pt idx="32">
                    <c:v>Q1</c:v>
                  </c:pt>
                  <c:pt idx="33">
                    <c:v>Q2</c:v>
                  </c:pt>
                  <c:pt idx="34">
                    <c:v>Q3</c:v>
                  </c:pt>
                  <c:pt idx="35">
                    <c:v>Q4</c:v>
                  </c:pt>
                  <c:pt idx="36">
                    <c:v>Q1</c:v>
                  </c:pt>
                  <c:pt idx="37">
                    <c:v>Q2</c:v>
                  </c:pt>
                  <c:pt idx="38">
                    <c:v>Q3</c:v>
                  </c:pt>
                  <c:pt idx="39">
                    <c:v>Q4</c:v>
                  </c:pt>
                  <c:pt idx="40">
                    <c:v>Q1</c:v>
                  </c:pt>
                  <c:pt idx="41">
                    <c:v>Q2</c:v>
                  </c:pt>
                  <c:pt idx="42">
                    <c:v>Q3</c:v>
                  </c:pt>
                  <c:pt idx="43">
                    <c:v>Q4</c:v>
                  </c:pt>
                  <c:pt idx="44">
                    <c:v>Q1</c:v>
                  </c:pt>
                  <c:pt idx="45">
                    <c:v>Q2</c:v>
                  </c:pt>
                  <c:pt idx="46">
                    <c:v>Q3</c:v>
                  </c:pt>
                  <c:pt idx="47">
                    <c:v>Q4</c:v>
                  </c:pt>
                  <c:pt idx="48">
                    <c:v>Q1</c:v>
                  </c:pt>
                  <c:pt idx="49">
                    <c:v>Q2</c:v>
                  </c:pt>
                  <c:pt idx="50">
                    <c:v>Q3</c:v>
                  </c:pt>
                  <c:pt idx="51">
                    <c:v>Q4</c:v>
                  </c:pt>
                </c:lvl>
                <c:lvl>
                  <c:pt idx="0">
                    <c:v>2016</c:v>
                  </c:pt>
                  <c:pt idx="4">
                    <c:v>2017</c:v>
                  </c:pt>
                  <c:pt idx="8">
                    <c:v>2018</c:v>
                  </c:pt>
                  <c:pt idx="12">
                    <c:v>2019</c:v>
                  </c:pt>
                  <c:pt idx="16">
                    <c:v>2020</c:v>
                  </c:pt>
                  <c:pt idx="20">
                    <c:v>2021</c:v>
                  </c:pt>
                  <c:pt idx="24">
                    <c:v>2022</c:v>
                  </c:pt>
                  <c:pt idx="28">
                    <c:v>2023</c:v>
                  </c:pt>
                  <c:pt idx="32">
                    <c:v>2024</c:v>
                  </c:pt>
                  <c:pt idx="36">
                    <c:v>2025</c:v>
                  </c:pt>
                  <c:pt idx="40">
                    <c:v>2026</c:v>
                  </c:pt>
                  <c:pt idx="44">
                    <c:v>2027</c:v>
                  </c:pt>
                  <c:pt idx="48">
                    <c:v>2028</c:v>
                  </c:pt>
                </c:lvl>
              </c:multiLvlStrCache>
            </c:multiLvlStrRef>
          </c:cat>
          <c:val>
            <c:numRef>
              <c:f>Sheet1!$D$2:$D$53</c:f>
              <c:numCache>
                <c:formatCode>0.0%</c:formatCode>
                <c:ptCount val="52"/>
                <c:pt idx="0">
                  <c:v>0.0469</c:v>
                </c:pt>
                <c:pt idx="1">
                  <c:v>0.0469</c:v>
                </c:pt>
                <c:pt idx="2">
                  <c:v>0.0469</c:v>
                </c:pt>
                <c:pt idx="3">
                  <c:v>0.0469</c:v>
                </c:pt>
                <c:pt idx="4">
                  <c:v>0.0469</c:v>
                </c:pt>
                <c:pt idx="5">
                  <c:v>0.0469</c:v>
                </c:pt>
                <c:pt idx="6">
                  <c:v>0.0468</c:v>
                </c:pt>
                <c:pt idx="7">
                  <c:v>0.0469</c:v>
                </c:pt>
                <c:pt idx="8">
                  <c:v>0.0469</c:v>
                </c:pt>
                <c:pt idx="9">
                  <c:v>0.0469</c:v>
                </c:pt>
                <c:pt idx="10">
                  <c:v>0.0469</c:v>
                </c:pt>
                <c:pt idx="11">
                  <c:v>0.0468</c:v>
                </c:pt>
                <c:pt idx="12">
                  <c:v>0.0458</c:v>
                </c:pt>
                <c:pt idx="13">
                  <c:v>0.0457</c:v>
                </c:pt>
                <c:pt idx="14">
                  <c:v>0.0458</c:v>
                </c:pt>
                <c:pt idx="15">
                  <c:v>0.046</c:v>
                </c:pt>
                <c:pt idx="16">
                  <c:v>0.044</c:v>
                </c:pt>
                <c:pt idx="17">
                  <c:v>0.0439</c:v>
                </c:pt>
                <c:pt idx="18">
                  <c:v>0.043</c:v>
                </c:pt>
                <c:pt idx="19">
                  <c:v>0.042</c:v>
                </c:pt>
                <c:pt idx="20">
                  <c:v>0.0407</c:v>
                </c:pt>
                <c:pt idx="21">
                  <c:v>0.0398</c:v>
                </c:pt>
                <c:pt idx="22">
                  <c:v>0.04</c:v>
                </c:pt>
                <c:pt idx="23">
                  <c:v>0.04</c:v>
                </c:pt>
                <c:pt idx="24">
                  <c:v>0.039</c:v>
                </c:pt>
                <c:pt idx="25">
                  <c:v>0.039</c:v>
                </c:pt>
                <c:pt idx="26">
                  <c:v>0.039</c:v>
                </c:pt>
                <c:pt idx="27">
                  <c:v>0.0439</c:v>
                </c:pt>
                <c:pt idx="28">
                  <c:v>0.0448</c:v>
                </c:pt>
                <c:pt idx="29">
                  <c:v>0.0448</c:v>
                </c:pt>
                <c:pt idx="30">
                  <c:v>0.0449</c:v>
                </c:pt>
                <c:pt idx="31">
                  <c:v>0.0459</c:v>
                </c:pt>
                <c:pt idx="32">
                  <c:v>0.0479</c:v>
                </c:pt>
                <c:pt idx="33">
                  <c:v>0.0479</c:v>
                </c:pt>
                <c:pt idx="34">
                  <c:v>0.0479</c:v>
                </c:pt>
                <c:pt idx="35">
                  <c:v>0.0479</c:v>
                </c:pt>
                <c:pt idx="36">
                  <c:v>0.0478</c:v>
                </c:pt>
                <c:pt idx="37">
                  <c:v>0.0479</c:v>
                </c:pt>
                <c:pt idx="38">
                  <c:v>0.0469</c:v>
                </c:pt>
                <c:pt idx="39">
                  <c:v>0.0469</c:v>
                </c:pt>
              </c:numCache>
            </c:numRef>
          </c:val>
          <c:smooth val="0"/>
        </c:ser>
        <c:ser>
          <c:idx val="2"/>
          <c:order val="2"/>
          <c:tx>
            <c:strRef>
              <c:f>Sheet1!$E$1</c:f>
              <c:strCache>
                <c:ptCount val="1"/>
                <c:pt idx="0">
                  <c:v>물류 Cap.Rate</c:v>
                </c:pt>
              </c:strCache>
            </c:strRef>
          </c:tx>
          <c:spPr>
            <a:ln>
              <a:noFill/>
            </a:ln>
          </c:spPr>
          <c:marker>
            <c:symbol val="circle"/>
            <c:size val="4"/>
            <c:spPr>
              <a:solidFill>
                <a:srgbClr val="6B2E50"/>
              </a:solidFill>
              <a:ln>
                <a:noFill/>
              </a:ln>
            </c:spPr>
          </c:marker>
          <c:cat>
            <c:multiLvlStrRef>
              <c:f>Sheet1!$A$2:$B$53</c:f>
              <c:multiLvlStrCache>
                <c:ptCount val="52"/>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pt idx="20">
                    <c:v>Q1</c:v>
                  </c:pt>
                  <c:pt idx="21">
                    <c:v>Q2</c:v>
                  </c:pt>
                  <c:pt idx="22">
                    <c:v>Q3</c:v>
                  </c:pt>
                  <c:pt idx="23">
                    <c:v>Q4</c:v>
                  </c:pt>
                  <c:pt idx="24">
                    <c:v>Q1</c:v>
                  </c:pt>
                  <c:pt idx="25">
                    <c:v>Q2</c:v>
                  </c:pt>
                  <c:pt idx="26">
                    <c:v>Q3</c:v>
                  </c:pt>
                  <c:pt idx="27">
                    <c:v>Q4</c:v>
                  </c:pt>
                  <c:pt idx="28">
                    <c:v>Q1</c:v>
                  </c:pt>
                  <c:pt idx="29">
                    <c:v>Q2</c:v>
                  </c:pt>
                  <c:pt idx="30">
                    <c:v>Q3</c:v>
                  </c:pt>
                  <c:pt idx="31">
                    <c:v>Q4</c:v>
                  </c:pt>
                  <c:pt idx="32">
                    <c:v>Q1</c:v>
                  </c:pt>
                  <c:pt idx="33">
                    <c:v>Q2</c:v>
                  </c:pt>
                  <c:pt idx="34">
                    <c:v>Q3</c:v>
                  </c:pt>
                  <c:pt idx="35">
                    <c:v>Q4</c:v>
                  </c:pt>
                  <c:pt idx="36">
                    <c:v>Q1</c:v>
                  </c:pt>
                  <c:pt idx="37">
                    <c:v>Q2</c:v>
                  </c:pt>
                  <c:pt idx="38">
                    <c:v>Q3</c:v>
                  </c:pt>
                  <c:pt idx="39">
                    <c:v>Q4</c:v>
                  </c:pt>
                  <c:pt idx="40">
                    <c:v>Q1</c:v>
                  </c:pt>
                  <c:pt idx="41">
                    <c:v>Q2</c:v>
                  </c:pt>
                  <c:pt idx="42">
                    <c:v>Q3</c:v>
                  </c:pt>
                  <c:pt idx="43">
                    <c:v>Q4</c:v>
                  </c:pt>
                  <c:pt idx="44">
                    <c:v>Q1</c:v>
                  </c:pt>
                  <c:pt idx="45">
                    <c:v>Q2</c:v>
                  </c:pt>
                  <c:pt idx="46">
                    <c:v>Q3</c:v>
                  </c:pt>
                  <c:pt idx="47">
                    <c:v>Q4</c:v>
                  </c:pt>
                  <c:pt idx="48">
                    <c:v>Q1</c:v>
                  </c:pt>
                  <c:pt idx="49">
                    <c:v>Q2</c:v>
                  </c:pt>
                  <c:pt idx="50">
                    <c:v>Q3</c:v>
                  </c:pt>
                  <c:pt idx="51">
                    <c:v>Q4</c:v>
                  </c:pt>
                </c:lvl>
                <c:lvl>
                  <c:pt idx="0">
                    <c:v>2016</c:v>
                  </c:pt>
                  <c:pt idx="4">
                    <c:v>2017</c:v>
                  </c:pt>
                  <c:pt idx="8">
                    <c:v>2018</c:v>
                  </c:pt>
                  <c:pt idx="12">
                    <c:v>2019</c:v>
                  </c:pt>
                  <c:pt idx="16">
                    <c:v>2020</c:v>
                  </c:pt>
                  <c:pt idx="20">
                    <c:v>2021</c:v>
                  </c:pt>
                  <c:pt idx="24">
                    <c:v>2022</c:v>
                  </c:pt>
                  <c:pt idx="28">
                    <c:v>2023</c:v>
                  </c:pt>
                  <c:pt idx="32">
                    <c:v>2024</c:v>
                  </c:pt>
                  <c:pt idx="36">
                    <c:v>2025</c:v>
                  </c:pt>
                  <c:pt idx="40">
                    <c:v>2026</c:v>
                  </c:pt>
                  <c:pt idx="44">
                    <c:v>2027</c:v>
                  </c:pt>
                  <c:pt idx="48">
                    <c:v>2028</c:v>
                  </c:pt>
                </c:lvl>
              </c:multiLvlStrCache>
            </c:multiLvlStrRef>
          </c:cat>
          <c:val>
            <c:numRef>
              <c:f>Sheet1!$E$2:$E$53</c:f>
              <c:numCache>
                <c:formatCode>0.0%</c:formatCode>
                <c:ptCount val="52"/>
                <c:pt idx="0">
                  <c:v>0.0761</c:v>
                </c:pt>
                <c:pt idx="1">
                  <c:v>0.0717</c:v>
                </c:pt>
                <c:pt idx="2">
                  <c:v>0.0717</c:v>
                </c:pt>
                <c:pt idx="3">
                  <c:v>0.0767</c:v>
                </c:pt>
                <c:pt idx="4">
                  <c:v>0.0767</c:v>
                </c:pt>
                <c:pt idx="5">
                  <c:v>0.0547</c:v>
                </c:pt>
                <c:pt idx="6">
                  <c:v>0.0788</c:v>
                </c:pt>
                <c:pt idx="7">
                  <c:v>0.0646</c:v>
                </c:pt>
                <c:pt idx="8">
                  <c:v>0.0633</c:v>
                </c:pt>
                <c:pt idx="9">
                  <c:v>0.0597</c:v>
                </c:pt>
                <c:pt idx="10">
                  <c:v>0.0567</c:v>
                </c:pt>
                <c:pt idx="11">
                  <c:v>0.0633</c:v>
                </c:pt>
                <c:pt idx="13">
                  <c:v>0.0588</c:v>
                </c:pt>
                <c:pt idx="14">
                  <c:v>0.0667</c:v>
                </c:pt>
                <c:pt idx="15">
                  <c:v>0.0467</c:v>
                </c:pt>
                <c:pt idx="16">
                  <c:v>0.0617</c:v>
                </c:pt>
                <c:pt idx="18">
                  <c:v>0.0485</c:v>
                </c:pt>
                <c:pt idx="19">
                  <c:v>0.0427</c:v>
                </c:pt>
                <c:pt idx="20">
                  <c:v>0.0578</c:v>
                </c:pt>
                <c:pt idx="21">
                  <c:v>0.0518</c:v>
                </c:pt>
                <c:pt idx="22">
                  <c:v>0.0553</c:v>
                </c:pt>
                <c:pt idx="23">
                  <c:v>0.0468</c:v>
                </c:pt>
                <c:pt idx="24">
                  <c:v>0.0511</c:v>
                </c:pt>
                <c:pt idx="25">
                  <c:v>0.0434</c:v>
                </c:pt>
                <c:pt idx="26">
                  <c:v>0.0472</c:v>
                </c:pt>
                <c:pt idx="27">
                  <c:v>0.0478</c:v>
                </c:pt>
                <c:pt idx="28">
                  <c:v>0.0497</c:v>
                </c:pt>
                <c:pt idx="29">
                  <c:v>0.0617</c:v>
                </c:pt>
                <c:pt idx="30">
                  <c:v>0.0587</c:v>
                </c:pt>
                <c:pt idx="31">
                  <c:v>0.0518</c:v>
                </c:pt>
                <c:pt idx="32">
                  <c:v>0.0557</c:v>
                </c:pt>
                <c:pt idx="33">
                  <c:v>0.0657</c:v>
                </c:pt>
                <c:pt idx="34">
                  <c:v>0.0617</c:v>
                </c:pt>
                <c:pt idx="35">
                  <c:v>0.0628</c:v>
                </c:pt>
                <c:pt idx="36">
                  <c:v>0.0574</c:v>
                </c:pt>
                <c:pt idx="37">
                  <c:v>0.0567</c:v>
                </c:pt>
                <c:pt idx="38">
                  <c:v>0.0526</c:v>
                </c:pt>
                <c:pt idx="39">
                  <c:v>0.0557</c:v>
                </c:pt>
                <c:pt idx="40">
                  <c:v>0.0571</c:v>
                </c:pt>
              </c:numCache>
            </c:numRef>
          </c:val>
          <c:smooth val="0"/>
        </c:ser>
        <c:ser>
          <c:idx val="3"/>
          <c:order val="3"/>
          <c:tx>
            <c:strRef>
              <c:f>Sheet1!$F$1</c:f>
              <c:strCache>
                <c:ptCount val="1"/>
                <c:pt idx="0">
                  <c:v>물류 Cap.Rate2</c:v>
                </c:pt>
              </c:strCache>
            </c:strRef>
          </c:tx>
          <c:spPr>
            <a:ln>
              <a:noFill/>
            </a:ln>
          </c:spPr>
          <c:marker>
            <c:symbol val="circle"/>
            <c:size val="4"/>
            <c:spPr>
              <a:solidFill>
                <a:srgbClr val="6B2E50"/>
              </a:solidFill>
              <a:ln>
                <a:noFill/>
              </a:ln>
            </c:spPr>
          </c:marker>
          <c:cat>
            <c:multiLvlStrRef>
              <c:f>Sheet1!$A$2:$B$53</c:f>
              <c:multiLvlStrCache>
                <c:ptCount val="52"/>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pt idx="20">
                    <c:v>Q1</c:v>
                  </c:pt>
                  <c:pt idx="21">
                    <c:v>Q2</c:v>
                  </c:pt>
                  <c:pt idx="22">
                    <c:v>Q3</c:v>
                  </c:pt>
                  <c:pt idx="23">
                    <c:v>Q4</c:v>
                  </c:pt>
                  <c:pt idx="24">
                    <c:v>Q1</c:v>
                  </c:pt>
                  <c:pt idx="25">
                    <c:v>Q2</c:v>
                  </c:pt>
                  <c:pt idx="26">
                    <c:v>Q3</c:v>
                  </c:pt>
                  <c:pt idx="27">
                    <c:v>Q4</c:v>
                  </c:pt>
                  <c:pt idx="28">
                    <c:v>Q1</c:v>
                  </c:pt>
                  <c:pt idx="29">
                    <c:v>Q2</c:v>
                  </c:pt>
                  <c:pt idx="30">
                    <c:v>Q3</c:v>
                  </c:pt>
                  <c:pt idx="31">
                    <c:v>Q4</c:v>
                  </c:pt>
                  <c:pt idx="32">
                    <c:v>Q1</c:v>
                  </c:pt>
                  <c:pt idx="33">
                    <c:v>Q2</c:v>
                  </c:pt>
                  <c:pt idx="34">
                    <c:v>Q3</c:v>
                  </c:pt>
                  <c:pt idx="35">
                    <c:v>Q4</c:v>
                  </c:pt>
                  <c:pt idx="36">
                    <c:v>Q1</c:v>
                  </c:pt>
                  <c:pt idx="37">
                    <c:v>Q2</c:v>
                  </c:pt>
                  <c:pt idx="38">
                    <c:v>Q3</c:v>
                  </c:pt>
                  <c:pt idx="39">
                    <c:v>Q4</c:v>
                  </c:pt>
                  <c:pt idx="40">
                    <c:v>Q1</c:v>
                  </c:pt>
                  <c:pt idx="41">
                    <c:v>Q2</c:v>
                  </c:pt>
                  <c:pt idx="42">
                    <c:v>Q3</c:v>
                  </c:pt>
                  <c:pt idx="43">
                    <c:v>Q4</c:v>
                  </c:pt>
                  <c:pt idx="44">
                    <c:v>Q1</c:v>
                  </c:pt>
                  <c:pt idx="45">
                    <c:v>Q2</c:v>
                  </c:pt>
                  <c:pt idx="46">
                    <c:v>Q3</c:v>
                  </c:pt>
                  <c:pt idx="47">
                    <c:v>Q4</c:v>
                  </c:pt>
                  <c:pt idx="48">
                    <c:v>Q1</c:v>
                  </c:pt>
                  <c:pt idx="49">
                    <c:v>Q2</c:v>
                  </c:pt>
                  <c:pt idx="50">
                    <c:v>Q3</c:v>
                  </c:pt>
                  <c:pt idx="51">
                    <c:v>Q4</c:v>
                  </c:pt>
                </c:lvl>
                <c:lvl>
                  <c:pt idx="0">
                    <c:v>2016</c:v>
                  </c:pt>
                  <c:pt idx="4">
                    <c:v>2017</c:v>
                  </c:pt>
                  <c:pt idx="8">
                    <c:v>2018</c:v>
                  </c:pt>
                  <c:pt idx="12">
                    <c:v>2019</c:v>
                  </c:pt>
                  <c:pt idx="16">
                    <c:v>2020</c:v>
                  </c:pt>
                  <c:pt idx="20">
                    <c:v>2021</c:v>
                  </c:pt>
                  <c:pt idx="24">
                    <c:v>2022</c:v>
                  </c:pt>
                  <c:pt idx="28">
                    <c:v>2023</c:v>
                  </c:pt>
                  <c:pt idx="32">
                    <c:v>2024</c:v>
                  </c:pt>
                  <c:pt idx="36">
                    <c:v>2025</c:v>
                  </c:pt>
                  <c:pt idx="40">
                    <c:v>2026</c:v>
                  </c:pt>
                  <c:pt idx="44">
                    <c:v>2027</c:v>
                  </c:pt>
                  <c:pt idx="48">
                    <c:v>2028</c:v>
                  </c:pt>
                </c:lvl>
              </c:multiLvlStrCache>
            </c:multiLvlStrRef>
          </c:cat>
          <c:val>
            <c:numRef>
              <c:f>Sheet1!$F$2:$F$53</c:f>
              <c:numCache>
                <c:formatCode>0.0%</c:formatCode>
                <c:ptCount val="52"/>
                <c:pt idx="0">
                  <c:v>0.0727</c:v>
                </c:pt>
                <c:pt idx="3">
                  <c:v>0.0722</c:v>
                </c:pt>
                <c:pt idx="6">
                  <c:v>0.0707</c:v>
                </c:pt>
                <c:pt idx="8">
                  <c:v>0.0597</c:v>
                </c:pt>
                <c:pt idx="11">
                  <c:v>0.0597</c:v>
                </c:pt>
                <c:pt idx="13">
                  <c:v>0.0567</c:v>
                </c:pt>
                <c:pt idx="14">
                  <c:v>0.0578</c:v>
                </c:pt>
                <c:pt idx="16">
                  <c:v>0.0588</c:v>
                </c:pt>
                <c:pt idx="18">
                  <c:v>0.0465</c:v>
                </c:pt>
                <c:pt idx="20">
                  <c:v>0.0497</c:v>
                </c:pt>
                <c:pt idx="21">
                  <c:v>0.0418</c:v>
                </c:pt>
                <c:pt idx="22">
                  <c:v>0.0468</c:v>
                </c:pt>
                <c:pt idx="23">
                  <c:v>0.0448</c:v>
                </c:pt>
                <c:pt idx="24">
                  <c:v>0.0468</c:v>
                </c:pt>
                <c:pt idx="26">
                  <c:v>0.0418</c:v>
                </c:pt>
                <c:pt idx="27">
                  <c:v>0.0389</c:v>
                </c:pt>
                <c:pt idx="29">
                  <c:v>0.0493</c:v>
                </c:pt>
                <c:pt idx="30">
                  <c:v>0.0567</c:v>
                </c:pt>
                <c:pt idx="32">
                  <c:v>0.0518</c:v>
                </c:pt>
                <c:pt idx="33">
                  <c:v>0.0588</c:v>
                </c:pt>
                <c:pt idx="34">
                  <c:v>0.0578</c:v>
                </c:pt>
                <c:pt idx="35">
                  <c:v>0.0518</c:v>
                </c:pt>
                <c:pt idx="36">
                  <c:v>0.0538</c:v>
                </c:pt>
                <c:pt idx="37">
                  <c:v>0.0545</c:v>
                </c:pt>
                <c:pt idx="39">
                  <c:v>0.0536</c:v>
                </c:pt>
              </c:numCache>
            </c:numRef>
          </c:val>
          <c:smooth val="0"/>
        </c:ser>
        <c:ser>
          <c:idx val="4"/>
          <c:order val="4"/>
          <c:tx>
            <c:strRef>
              <c:f>Sheet1!$G$1</c:f>
              <c:strCache>
                <c:ptCount val="1"/>
                <c:pt idx="0">
                  <c:v>물류 Cap.Rate3</c:v>
                </c:pt>
              </c:strCache>
            </c:strRef>
          </c:tx>
          <c:spPr>
            <a:ln>
              <a:noFill/>
            </a:ln>
          </c:spPr>
          <c:marker>
            <c:symbol val="circle"/>
            <c:size val="4"/>
            <c:spPr>
              <a:solidFill>
                <a:srgbClr val="6B2E50"/>
              </a:solidFill>
              <a:ln>
                <a:noFill/>
              </a:ln>
            </c:spPr>
          </c:marker>
          <c:cat>
            <c:multiLvlStrRef>
              <c:f>Sheet1!$A$2:$B$53</c:f>
              <c:multiLvlStrCache>
                <c:ptCount val="52"/>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pt idx="20">
                    <c:v>Q1</c:v>
                  </c:pt>
                  <c:pt idx="21">
                    <c:v>Q2</c:v>
                  </c:pt>
                  <c:pt idx="22">
                    <c:v>Q3</c:v>
                  </c:pt>
                  <c:pt idx="23">
                    <c:v>Q4</c:v>
                  </c:pt>
                  <c:pt idx="24">
                    <c:v>Q1</c:v>
                  </c:pt>
                  <c:pt idx="25">
                    <c:v>Q2</c:v>
                  </c:pt>
                  <c:pt idx="26">
                    <c:v>Q3</c:v>
                  </c:pt>
                  <c:pt idx="27">
                    <c:v>Q4</c:v>
                  </c:pt>
                  <c:pt idx="28">
                    <c:v>Q1</c:v>
                  </c:pt>
                  <c:pt idx="29">
                    <c:v>Q2</c:v>
                  </c:pt>
                  <c:pt idx="30">
                    <c:v>Q3</c:v>
                  </c:pt>
                  <c:pt idx="31">
                    <c:v>Q4</c:v>
                  </c:pt>
                  <c:pt idx="32">
                    <c:v>Q1</c:v>
                  </c:pt>
                  <c:pt idx="33">
                    <c:v>Q2</c:v>
                  </c:pt>
                  <c:pt idx="34">
                    <c:v>Q3</c:v>
                  </c:pt>
                  <c:pt idx="35">
                    <c:v>Q4</c:v>
                  </c:pt>
                  <c:pt idx="36">
                    <c:v>Q1</c:v>
                  </c:pt>
                  <c:pt idx="37">
                    <c:v>Q2</c:v>
                  </c:pt>
                  <c:pt idx="38">
                    <c:v>Q3</c:v>
                  </c:pt>
                  <c:pt idx="39">
                    <c:v>Q4</c:v>
                  </c:pt>
                  <c:pt idx="40">
                    <c:v>Q1</c:v>
                  </c:pt>
                  <c:pt idx="41">
                    <c:v>Q2</c:v>
                  </c:pt>
                  <c:pt idx="42">
                    <c:v>Q3</c:v>
                  </c:pt>
                  <c:pt idx="43">
                    <c:v>Q4</c:v>
                  </c:pt>
                  <c:pt idx="44">
                    <c:v>Q1</c:v>
                  </c:pt>
                  <c:pt idx="45">
                    <c:v>Q2</c:v>
                  </c:pt>
                  <c:pt idx="46">
                    <c:v>Q3</c:v>
                  </c:pt>
                  <c:pt idx="47">
                    <c:v>Q4</c:v>
                  </c:pt>
                  <c:pt idx="48">
                    <c:v>Q1</c:v>
                  </c:pt>
                  <c:pt idx="49">
                    <c:v>Q2</c:v>
                  </c:pt>
                  <c:pt idx="50">
                    <c:v>Q3</c:v>
                  </c:pt>
                  <c:pt idx="51">
                    <c:v>Q4</c:v>
                  </c:pt>
                </c:lvl>
                <c:lvl>
                  <c:pt idx="0">
                    <c:v>2016</c:v>
                  </c:pt>
                  <c:pt idx="4">
                    <c:v>2017</c:v>
                  </c:pt>
                  <c:pt idx="8">
                    <c:v>2018</c:v>
                  </c:pt>
                  <c:pt idx="12">
                    <c:v>2019</c:v>
                  </c:pt>
                  <c:pt idx="16">
                    <c:v>2020</c:v>
                  </c:pt>
                  <c:pt idx="20">
                    <c:v>2021</c:v>
                  </c:pt>
                  <c:pt idx="24">
                    <c:v>2022</c:v>
                  </c:pt>
                  <c:pt idx="28">
                    <c:v>2023</c:v>
                  </c:pt>
                  <c:pt idx="32">
                    <c:v>2024</c:v>
                  </c:pt>
                  <c:pt idx="36">
                    <c:v>2025</c:v>
                  </c:pt>
                  <c:pt idx="40">
                    <c:v>2026</c:v>
                  </c:pt>
                  <c:pt idx="44">
                    <c:v>2027</c:v>
                  </c:pt>
                  <c:pt idx="48">
                    <c:v>2028</c:v>
                  </c:pt>
                </c:lvl>
              </c:multiLvlStrCache>
            </c:multiLvlStrRef>
          </c:cat>
          <c:val>
            <c:numRef>
              <c:f>Sheet1!$G$2:$G$53</c:f>
              <c:numCache>
                <c:formatCode>0.0%</c:formatCode>
                <c:ptCount val="52"/>
                <c:pt idx="3">
                  <c:v>0.0603</c:v>
                </c:pt>
                <c:pt idx="6">
                  <c:v>0.0669</c:v>
                </c:pt>
                <c:pt idx="14">
                  <c:v>0.0544</c:v>
                </c:pt>
                <c:pt idx="16">
                  <c:v>0.0532</c:v>
                </c:pt>
                <c:pt idx="20">
                  <c:v>0.0428</c:v>
                </c:pt>
                <c:pt idx="21">
                  <c:v>0.0368</c:v>
                </c:pt>
                <c:pt idx="22">
                  <c:v>0.0399</c:v>
                </c:pt>
                <c:pt idx="23">
                  <c:v>0.0424</c:v>
                </c:pt>
                <c:pt idx="24">
                  <c:v>0.0368</c:v>
                </c:pt>
                <c:pt idx="26">
                  <c:v>0.0397</c:v>
                </c:pt>
                <c:pt idx="29">
                  <c:v>0.0397</c:v>
                </c:pt>
                <c:pt idx="30">
                  <c:v>0.0517</c:v>
                </c:pt>
                <c:pt idx="33">
                  <c:v>0.0547</c:v>
                </c:pt>
                <c:pt idx="34">
                  <c:v>0.0523</c:v>
                </c:pt>
                <c:pt idx="39">
                  <c:v>0.0506</c:v>
                </c:pt>
              </c:numCache>
            </c:numRef>
          </c:val>
          <c:smooth val="0"/>
        </c:ser>
        <c:ser>
          <c:idx val="5"/>
          <c:order val="5"/>
          <c:tx>
            <c:strRef>
              <c:f>Sheet1!$H$1</c:f>
              <c:strCache>
                <c:ptCount val="1"/>
                <c:pt idx="0">
                  <c:v>물류 Cap.Rate4</c:v>
                </c:pt>
              </c:strCache>
            </c:strRef>
          </c:tx>
          <c:spPr>
            <a:ln>
              <a:noFill/>
            </a:ln>
          </c:spPr>
          <c:marker>
            <c:symbol val="circle"/>
            <c:size val="4"/>
            <c:spPr>
              <a:solidFill>
                <a:srgbClr val="6B2E50"/>
              </a:solidFill>
              <a:ln>
                <a:noFill/>
              </a:ln>
            </c:spPr>
          </c:marker>
          <c:cat>
            <c:multiLvlStrRef>
              <c:f>Sheet1!$A$2:$B$53</c:f>
              <c:multiLvlStrCache>
                <c:ptCount val="52"/>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pt idx="20">
                    <c:v>Q1</c:v>
                  </c:pt>
                  <c:pt idx="21">
                    <c:v>Q2</c:v>
                  </c:pt>
                  <c:pt idx="22">
                    <c:v>Q3</c:v>
                  </c:pt>
                  <c:pt idx="23">
                    <c:v>Q4</c:v>
                  </c:pt>
                  <c:pt idx="24">
                    <c:v>Q1</c:v>
                  </c:pt>
                  <c:pt idx="25">
                    <c:v>Q2</c:v>
                  </c:pt>
                  <c:pt idx="26">
                    <c:v>Q3</c:v>
                  </c:pt>
                  <c:pt idx="27">
                    <c:v>Q4</c:v>
                  </c:pt>
                  <c:pt idx="28">
                    <c:v>Q1</c:v>
                  </c:pt>
                  <c:pt idx="29">
                    <c:v>Q2</c:v>
                  </c:pt>
                  <c:pt idx="30">
                    <c:v>Q3</c:v>
                  </c:pt>
                  <c:pt idx="31">
                    <c:v>Q4</c:v>
                  </c:pt>
                  <c:pt idx="32">
                    <c:v>Q1</c:v>
                  </c:pt>
                  <c:pt idx="33">
                    <c:v>Q2</c:v>
                  </c:pt>
                  <c:pt idx="34">
                    <c:v>Q3</c:v>
                  </c:pt>
                  <c:pt idx="35">
                    <c:v>Q4</c:v>
                  </c:pt>
                  <c:pt idx="36">
                    <c:v>Q1</c:v>
                  </c:pt>
                  <c:pt idx="37">
                    <c:v>Q2</c:v>
                  </c:pt>
                  <c:pt idx="38">
                    <c:v>Q3</c:v>
                  </c:pt>
                  <c:pt idx="39">
                    <c:v>Q4</c:v>
                  </c:pt>
                  <c:pt idx="40">
                    <c:v>Q1</c:v>
                  </c:pt>
                  <c:pt idx="41">
                    <c:v>Q2</c:v>
                  </c:pt>
                  <c:pt idx="42">
                    <c:v>Q3</c:v>
                  </c:pt>
                  <c:pt idx="43">
                    <c:v>Q4</c:v>
                  </c:pt>
                  <c:pt idx="44">
                    <c:v>Q1</c:v>
                  </c:pt>
                  <c:pt idx="45">
                    <c:v>Q2</c:v>
                  </c:pt>
                  <c:pt idx="46">
                    <c:v>Q3</c:v>
                  </c:pt>
                  <c:pt idx="47">
                    <c:v>Q4</c:v>
                  </c:pt>
                  <c:pt idx="48">
                    <c:v>Q1</c:v>
                  </c:pt>
                  <c:pt idx="49">
                    <c:v>Q2</c:v>
                  </c:pt>
                  <c:pt idx="50">
                    <c:v>Q3</c:v>
                  </c:pt>
                  <c:pt idx="51">
                    <c:v>Q4</c:v>
                  </c:pt>
                </c:lvl>
                <c:lvl>
                  <c:pt idx="0">
                    <c:v>2016</c:v>
                  </c:pt>
                  <c:pt idx="4">
                    <c:v>2017</c:v>
                  </c:pt>
                  <c:pt idx="8">
                    <c:v>2018</c:v>
                  </c:pt>
                  <c:pt idx="12">
                    <c:v>2019</c:v>
                  </c:pt>
                  <c:pt idx="16">
                    <c:v>2020</c:v>
                  </c:pt>
                  <c:pt idx="20">
                    <c:v>2021</c:v>
                  </c:pt>
                  <c:pt idx="24">
                    <c:v>2022</c:v>
                  </c:pt>
                  <c:pt idx="28">
                    <c:v>2023</c:v>
                  </c:pt>
                  <c:pt idx="32">
                    <c:v>2024</c:v>
                  </c:pt>
                  <c:pt idx="36">
                    <c:v>2025</c:v>
                  </c:pt>
                  <c:pt idx="40">
                    <c:v>2026</c:v>
                  </c:pt>
                  <c:pt idx="44">
                    <c:v>2027</c:v>
                  </c:pt>
                  <c:pt idx="48">
                    <c:v>2028</c:v>
                  </c:pt>
                </c:lvl>
              </c:multiLvlStrCache>
            </c:multiLvlStrRef>
          </c:cat>
          <c:val>
            <c:numRef>
              <c:f>Sheet1!$H$2:$H$53</c:f>
              <c:numCache>
                <c:formatCode>0.0%</c:formatCode>
                <c:ptCount val="52"/>
                <c:pt idx="22">
                  <c:v>0.0358</c:v>
                </c:pt>
                <c:pt idx="23">
                  <c:v>0.0403</c:v>
                </c:pt>
                <c:pt idx="24">
                  <c:v>0.0308</c:v>
                </c:pt>
              </c:numCache>
            </c:numRef>
          </c:val>
          <c:smooth val="0"/>
        </c:ser>
        <c:ser>
          <c:idx val="6"/>
          <c:order val="6"/>
          <c:tx>
            <c:strRef>
              <c:f>Sheet1!$I$1</c:f>
              <c:strCache>
                <c:ptCount val="1"/>
                <c:pt idx="0">
                  <c:v>물류 Cap.Rate 추세(’27~’28 연장)</c:v>
                </c:pt>
              </c:strCache>
            </c:strRef>
          </c:tx>
          <c:spPr>
            <a:ln w="15875">
              <a:solidFill>
                <a:srgbClr val="6B2E50"/>
              </a:solidFill>
              <a:prstDash val="sysDot"/>
            </a:ln>
          </c:spPr>
          <c:marker>
            <c:symbol val="none"/>
          </c:marker>
          <c:cat>
            <c:multiLvlStrRef>
              <c:f>Sheet1!$A$2:$B$53</c:f>
              <c:multiLvlStrCache>
                <c:ptCount val="52"/>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pt idx="20">
                    <c:v>Q1</c:v>
                  </c:pt>
                  <c:pt idx="21">
                    <c:v>Q2</c:v>
                  </c:pt>
                  <c:pt idx="22">
                    <c:v>Q3</c:v>
                  </c:pt>
                  <c:pt idx="23">
                    <c:v>Q4</c:v>
                  </c:pt>
                  <c:pt idx="24">
                    <c:v>Q1</c:v>
                  </c:pt>
                  <c:pt idx="25">
                    <c:v>Q2</c:v>
                  </c:pt>
                  <c:pt idx="26">
                    <c:v>Q3</c:v>
                  </c:pt>
                  <c:pt idx="27">
                    <c:v>Q4</c:v>
                  </c:pt>
                  <c:pt idx="28">
                    <c:v>Q1</c:v>
                  </c:pt>
                  <c:pt idx="29">
                    <c:v>Q2</c:v>
                  </c:pt>
                  <c:pt idx="30">
                    <c:v>Q3</c:v>
                  </c:pt>
                  <c:pt idx="31">
                    <c:v>Q4</c:v>
                  </c:pt>
                  <c:pt idx="32">
                    <c:v>Q1</c:v>
                  </c:pt>
                  <c:pt idx="33">
                    <c:v>Q2</c:v>
                  </c:pt>
                  <c:pt idx="34">
                    <c:v>Q3</c:v>
                  </c:pt>
                  <c:pt idx="35">
                    <c:v>Q4</c:v>
                  </c:pt>
                  <c:pt idx="36">
                    <c:v>Q1</c:v>
                  </c:pt>
                  <c:pt idx="37">
                    <c:v>Q2</c:v>
                  </c:pt>
                  <c:pt idx="38">
                    <c:v>Q3</c:v>
                  </c:pt>
                  <c:pt idx="39">
                    <c:v>Q4</c:v>
                  </c:pt>
                  <c:pt idx="40">
                    <c:v>Q1</c:v>
                  </c:pt>
                  <c:pt idx="41">
                    <c:v>Q2</c:v>
                  </c:pt>
                  <c:pt idx="42">
                    <c:v>Q3</c:v>
                  </c:pt>
                  <c:pt idx="43">
                    <c:v>Q4</c:v>
                  </c:pt>
                  <c:pt idx="44">
                    <c:v>Q1</c:v>
                  </c:pt>
                  <c:pt idx="45">
                    <c:v>Q2</c:v>
                  </c:pt>
                  <c:pt idx="46">
                    <c:v>Q3</c:v>
                  </c:pt>
                  <c:pt idx="47">
                    <c:v>Q4</c:v>
                  </c:pt>
                  <c:pt idx="48">
                    <c:v>Q1</c:v>
                  </c:pt>
                  <c:pt idx="49">
                    <c:v>Q2</c:v>
                  </c:pt>
                  <c:pt idx="50">
                    <c:v>Q3</c:v>
                  </c:pt>
                  <c:pt idx="51">
                    <c:v>Q4</c:v>
                  </c:pt>
                </c:lvl>
                <c:lvl>
                  <c:pt idx="0">
                    <c:v>2016</c:v>
                  </c:pt>
                  <c:pt idx="4">
                    <c:v>2017</c:v>
                  </c:pt>
                  <c:pt idx="8">
                    <c:v>2018</c:v>
                  </c:pt>
                  <c:pt idx="12">
                    <c:v>2019</c:v>
                  </c:pt>
                  <c:pt idx="16">
                    <c:v>2020</c:v>
                  </c:pt>
                  <c:pt idx="20">
                    <c:v>2021</c:v>
                  </c:pt>
                  <c:pt idx="24">
                    <c:v>2022</c:v>
                  </c:pt>
                  <c:pt idx="28">
                    <c:v>2023</c:v>
                  </c:pt>
                  <c:pt idx="32">
                    <c:v>2024</c:v>
                  </c:pt>
                  <c:pt idx="36">
                    <c:v>2025</c:v>
                  </c:pt>
                  <c:pt idx="40">
                    <c:v>2026</c:v>
                  </c:pt>
                  <c:pt idx="44">
                    <c:v>2027</c:v>
                  </c:pt>
                  <c:pt idx="48">
                    <c:v>2028</c:v>
                  </c:pt>
                </c:lvl>
              </c:multiLvlStrCache>
            </c:multiLvlStrRef>
          </c:cat>
          <c:val>
            <c:numRef>
              <c:f>Sheet1!$I$2:$I$53</c:f>
              <c:numCache>
                <c:formatCode>0.0%</c:formatCode>
                <c:ptCount val="52"/>
                <c:pt idx="0">
                  <c:v>0.06404</c:v>
                </c:pt>
                <c:pt idx="1">
                  <c:v>0.06359</c:v>
                </c:pt>
                <c:pt idx="2">
                  <c:v>0.06315</c:v>
                </c:pt>
                <c:pt idx="3">
                  <c:v>0.0627</c:v>
                </c:pt>
                <c:pt idx="4">
                  <c:v>0.06226</c:v>
                </c:pt>
                <c:pt idx="5">
                  <c:v>0.06181</c:v>
                </c:pt>
                <c:pt idx="6">
                  <c:v>0.06137</c:v>
                </c:pt>
                <c:pt idx="7">
                  <c:v>0.06093</c:v>
                </c:pt>
                <c:pt idx="8">
                  <c:v>0.06048</c:v>
                </c:pt>
                <c:pt idx="9">
                  <c:v>0.06004</c:v>
                </c:pt>
                <c:pt idx="10">
                  <c:v>0.05959</c:v>
                </c:pt>
                <c:pt idx="11">
                  <c:v>0.05915</c:v>
                </c:pt>
                <c:pt idx="12">
                  <c:v>0.0587</c:v>
                </c:pt>
                <c:pt idx="13">
                  <c:v>0.05826</c:v>
                </c:pt>
                <c:pt idx="14">
                  <c:v>0.05781</c:v>
                </c:pt>
                <c:pt idx="15">
                  <c:v>0.05737</c:v>
                </c:pt>
                <c:pt idx="16">
                  <c:v>0.05693</c:v>
                </c:pt>
                <c:pt idx="17">
                  <c:v>0.05648</c:v>
                </c:pt>
                <c:pt idx="18">
                  <c:v>0.05604</c:v>
                </c:pt>
                <c:pt idx="19">
                  <c:v>0.05559</c:v>
                </c:pt>
                <c:pt idx="20">
                  <c:v>0.05515</c:v>
                </c:pt>
                <c:pt idx="21">
                  <c:v>0.0547</c:v>
                </c:pt>
                <c:pt idx="22">
                  <c:v>0.05426</c:v>
                </c:pt>
                <c:pt idx="23">
                  <c:v>0.05382</c:v>
                </c:pt>
                <c:pt idx="24">
                  <c:v>0.05337</c:v>
                </c:pt>
                <c:pt idx="25">
                  <c:v>0.05293</c:v>
                </c:pt>
                <c:pt idx="26">
                  <c:v>0.05248</c:v>
                </c:pt>
                <c:pt idx="27">
                  <c:v>0.05204</c:v>
                </c:pt>
                <c:pt idx="28">
                  <c:v>0.05159</c:v>
                </c:pt>
                <c:pt idx="29">
                  <c:v>0.05115</c:v>
                </c:pt>
                <c:pt idx="30">
                  <c:v>0.0507</c:v>
                </c:pt>
                <c:pt idx="31">
                  <c:v>0.05026</c:v>
                </c:pt>
                <c:pt idx="32">
                  <c:v>0.04982</c:v>
                </c:pt>
                <c:pt idx="33">
                  <c:v>0.04937</c:v>
                </c:pt>
                <c:pt idx="34">
                  <c:v>0.04893</c:v>
                </c:pt>
                <c:pt idx="35">
                  <c:v>0.04848</c:v>
                </c:pt>
                <c:pt idx="36">
                  <c:v>0.04804</c:v>
                </c:pt>
                <c:pt idx="37">
                  <c:v>0.04759</c:v>
                </c:pt>
                <c:pt idx="38">
                  <c:v>0.04715</c:v>
                </c:pt>
                <c:pt idx="39">
                  <c:v>0.04671</c:v>
                </c:pt>
                <c:pt idx="40">
                  <c:v>0.04626</c:v>
                </c:pt>
                <c:pt idx="41">
                  <c:v>0.04582</c:v>
                </c:pt>
                <c:pt idx="42">
                  <c:v>0.04537</c:v>
                </c:pt>
                <c:pt idx="43">
                  <c:v>0.04493</c:v>
                </c:pt>
                <c:pt idx="44">
                  <c:v>0.04448</c:v>
                </c:pt>
                <c:pt idx="45">
                  <c:v>0.04404</c:v>
                </c:pt>
                <c:pt idx="46">
                  <c:v>0.04359</c:v>
                </c:pt>
                <c:pt idx="47">
                  <c:v>0.04315</c:v>
                </c:pt>
                <c:pt idx="48">
                  <c:v>0.04271</c:v>
                </c:pt>
                <c:pt idx="49">
                  <c:v>0.04226</c:v>
                </c:pt>
                <c:pt idx="50">
                  <c:v>0.04182</c:v>
                </c:pt>
                <c:pt idx="51">
                  <c:v>0.04137</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FBFBF"/>
            </a:solidFill>
          </a:ln>
        </c:spPr>
        <c:txPr>
          <a:bodyPr rot="0" vert="horz"/>
          <a:lstStyle/>
          <a:p>
            <a:pPr>
              <a:defRPr sz="550"/>
            </a:pPr>
          </a:p>
        </c:txPr>
        <c:crossAx val="2140495176"/>
        <c:crosses val="autoZero"/>
        <c:auto val="1"/>
        <c:lblAlgn val="ctr"/>
        <c:lblOffset val="100"/>
        <c:noMultiLvlLbl val="0"/>
      </c:catAx>
      <c:valAx>
        <c:axId val="2140495176"/>
        <c:scaling>
          <c:max val="0.09"/>
          <c:min val="0.0"/>
        </c:scaling>
        <c:delete val="0"/>
        <c:axPos val="l"/>
        <c:numFmt formatCode="0%" sourceLinked="0"/>
        <c:majorTickMark val="out"/>
        <c:minorTickMark val="none"/>
        <c:tickLblPos val="nextTo"/>
        <c:spPr>
          <a:ln>
            <a:noFill/>
          </a:ln>
        </c:spPr>
        <c:txPr>
          <a:bodyPr/>
          <a:lstStyle/>
          <a:p>
            <a:pPr>
              <a:defRPr sz="700"/>
            </a:pPr>
          </a:p>
        </c:txPr>
        <c:crossAx val="2118791784"/>
        <c:crosses val="autoZero"/>
        <c:majorUnit val="0.01"/>
      </c:valAx>
    </c:plotArea>
    <c:legend>
      <c:legendPos val="t"/>
      <c:legendEntry>
        <c:idx val="5"/>
        <c:delete val="1"/>
      </c:legendEntry>
      <c:legendEntry>
        <c:idx val="4"/>
        <c:delete val="1"/>
      </c:legendEntry>
      <c:legendEntry>
        <c:idx val="3"/>
        <c:delete val="1"/>
      </c:legendEntry>
      <c:layout/>
      <c:overlay val="0"/>
      <c:txPr>
        <a:bodyPr/>
        <a:lstStyle/>
        <a:p>
          <a:pPr>
            <a:defRPr sz="700"/>
          </a:pPr>
        </a:p>
      </c:txPr>
    </c:legend>
    <c:plotVisOnly val="1"/>
    <c:dispBlanksAs val="span"/>
    <c:showDLblsOverMax val="0"/>
  </c:chart>
  <c:txPr>
    <a:bodyPr/>
    <a:lstStyle/>
    <a:p>
      <a:pPr>
        <a:defRPr sz="700">
          <a:latin typeface="KoPubWorld돋움체 Light"/>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3"/>
            <a:ext cx="2950529" cy="499033"/>
          </a:xfrm>
          <a:prstGeom prst="rect">
            <a:avLst/>
          </a:prstGeom>
        </p:spPr>
        <p:txBody>
          <a:bodyPr vert="horz" lIns="91540" tIns="45769" rIns="91540" bIns="45769" rtlCol="0"/>
          <a:lstStyle>
            <a:lvl1pPr algn="l">
              <a:defRPr sz="1200"/>
            </a:lvl1pPr>
          </a:lstStyle>
          <a:p>
            <a:endParaRPr lang="ko-KR" altLang="en-US">
              <a:latin typeface="KoPubWorld돋움체 Bold" panose="00000800000000000000" pitchFamily="2" charset="-127"/>
              <a:ea typeface="KoPubWorld돋움체 Bold" panose="00000800000000000000" pitchFamily="2" charset="-127"/>
            </a:endParaRPr>
          </a:p>
        </p:txBody>
      </p:sp>
      <p:sp>
        <p:nvSpPr>
          <p:cNvPr id="3" name="날짜 개체 틀 2"/>
          <p:cNvSpPr>
            <a:spLocks noGrp="1"/>
          </p:cNvSpPr>
          <p:nvPr>
            <p:ph type="dt" sz="quarter" idx="1"/>
          </p:nvPr>
        </p:nvSpPr>
        <p:spPr>
          <a:xfrm>
            <a:off x="3855082" y="3"/>
            <a:ext cx="2950529" cy="499033"/>
          </a:xfrm>
          <a:prstGeom prst="rect">
            <a:avLst/>
          </a:prstGeom>
        </p:spPr>
        <p:txBody>
          <a:bodyPr vert="horz" lIns="91540" tIns="45769" rIns="91540" bIns="45769" rtlCol="0"/>
          <a:lstStyle>
            <a:lvl1pPr algn="r">
              <a:defRPr sz="1200"/>
            </a:lvl1pPr>
          </a:lstStyle>
          <a:p>
            <a:fld id="{B3B3F390-6613-4BAA-9D69-173A9EE88975}" type="datetimeFigureOut">
              <a:rPr lang="ko-KR" altLang="en-US" smtClean="0">
                <a:latin typeface="KoPubWorld돋움체 Bold" panose="00000800000000000000" pitchFamily="2" charset="-127"/>
                <a:ea typeface="KoPubWorld돋움체 Bold" panose="00000800000000000000" pitchFamily="2" charset="-127"/>
              </a:rPr>
              <a:t>2026-09-30</a:t>
            </a:fld>
            <a:endParaRPr lang="ko-KR" altLang="en-US">
              <a:latin typeface="KoPubWorld돋움체 Bold" panose="00000800000000000000" pitchFamily="2" charset="-127"/>
              <a:ea typeface="KoPubWorld돋움체 Bold" panose="00000800000000000000" pitchFamily="2" charset="-127"/>
            </a:endParaRPr>
          </a:p>
        </p:txBody>
      </p:sp>
      <p:sp>
        <p:nvSpPr>
          <p:cNvPr id="4" name="바닥글 개체 틀 3"/>
          <p:cNvSpPr>
            <a:spLocks noGrp="1"/>
          </p:cNvSpPr>
          <p:nvPr>
            <p:ph type="ftr" sz="quarter" idx="2"/>
          </p:nvPr>
        </p:nvSpPr>
        <p:spPr>
          <a:xfrm>
            <a:off x="1" y="9440309"/>
            <a:ext cx="2950529" cy="499033"/>
          </a:xfrm>
          <a:prstGeom prst="rect">
            <a:avLst/>
          </a:prstGeom>
        </p:spPr>
        <p:txBody>
          <a:bodyPr vert="horz" lIns="91540" tIns="45769" rIns="91540" bIns="45769" rtlCol="0" anchor="b"/>
          <a:lstStyle>
            <a:lvl1pPr algn="l">
              <a:defRPr sz="1200"/>
            </a:lvl1pPr>
          </a:lstStyle>
          <a:p>
            <a:endParaRPr lang="ko-KR" altLang="en-US">
              <a:latin typeface="KoPubWorld돋움체 Bold" panose="00000800000000000000" pitchFamily="2" charset="-127"/>
              <a:ea typeface="KoPubWorld돋움체 Bold" panose="00000800000000000000" pitchFamily="2" charset="-127"/>
            </a:endParaRPr>
          </a:p>
        </p:txBody>
      </p:sp>
      <p:sp>
        <p:nvSpPr>
          <p:cNvPr id="5" name="슬라이드 번호 개체 틀 4"/>
          <p:cNvSpPr>
            <a:spLocks noGrp="1"/>
          </p:cNvSpPr>
          <p:nvPr>
            <p:ph type="sldNum" sz="quarter" idx="3"/>
          </p:nvPr>
        </p:nvSpPr>
        <p:spPr>
          <a:xfrm>
            <a:off x="3855082" y="9440309"/>
            <a:ext cx="2950529" cy="499033"/>
          </a:xfrm>
          <a:prstGeom prst="rect">
            <a:avLst/>
          </a:prstGeom>
        </p:spPr>
        <p:txBody>
          <a:bodyPr vert="horz" lIns="91540" tIns="45769" rIns="91540" bIns="45769" rtlCol="0" anchor="b"/>
          <a:lstStyle>
            <a:lvl1pPr algn="r">
              <a:defRPr sz="1200"/>
            </a:lvl1pPr>
          </a:lstStyle>
          <a:p>
            <a:fld id="{8EAD6D3B-F975-4577-9BE7-7EA334E8F2CF}" type="slidenum">
              <a:rPr lang="ko-KR" altLang="en-US" smtClean="0">
                <a:latin typeface="KoPubWorld돋움체 Bold" panose="00000800000000000000" pitchFamily="2" charset="-127"/>
                <a:ea typeface="KoPubWorld돋움체 Bold" panose="00000800000000000000" pitchFamily="2" charset="-127"/>
              </a:rPr>
              <a:t>‹#›</a:t>
            </a:fld>
            <a:endParaRPr lang="ko-KR" altLang="en-US">
              <a:latin typeface="KoPubWorld돋움체 Bold" panose="00000800000000000000" pitchFamily="2" charset="-127"/>
              <a:ea typeface="KoPubWorld돋움체 Bold" panose="00000800000000000000" pitchFamily="2" charset="-127"/>
            </a:endParaRPr>
          </a:p>
        </p:txBody>
      </p:sp>
    </p:spTree>
    <p:extLst>
      <p:ext uri="{BB962C8B-B14F-4D97-AF65-F5344CB8AC3E}">
        <p14:creationId xmlns:p14="http://schemas.microsoft.com/office/powerpoint/2010/main" val="38187102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7" y="4"/>
            <a:ext cx="2949786" cy="496967"/>
          </a:xfrm>
          <a:prstGeom prst="rect">
            <a:avLst/>
          </a:prstGeom>
        </p:spPr>
        <p:txBody>
          <a:bodyPr vert="horz" lIns="91522" tIns="45761" rIns="91522" bIns="45761" rtlCol="0"/>
          <a:lstStyle>
            <a:lvl1pPr algn="l">
              <a:defRPr sz="1200">
                <a:latin typeface="KoPubWorld돋움체 Bold" panose="00000800000000000000" pitchFamily="2" charset="-127"/>
                <a:ea typeface="KoPubWorld돋움체 Bold" panose="00000800000000000000" pitchFamily="2" charset="-127"/>
              </a:defRPr>
            </a:lvl1pPr>
          </a:lstStyle>
          <a:p>
            <a:endParaRPr lang="ko-KR" altLang="en-US"/>
          </a:p>
        </p:txBody>
      </p:sp>
      <p:sp>
        <p:nvSpPr>
          <p:cNvPr id="3" name="날짜 개체 틀 2"/>
          <p:cNvSpPr>
            <a:spLocks noGrp="1"/>
          </p:cNvSpPr>
          <p:nvPr>
            <p:ph type="dt" idx="1"/>
          </p:nvPr>
        </p:nvSpPr>
        <p:spPr>
          <a:xfrm>
            <a:off x="3855846" y="4"/>
            <a:ext cx="2949786" cy="496967"/>
          </a:xfrm>
          <a:prstGeom prst="rect">
            <a:avLst/>
          </a:prstGeom>
        </p:spPr>
        <p:txBody>
          <a:bodyPr vert="horz" lIns="91522" tIns="45761" rIns="91522" bIns="45761" rtlCol="0"/>
          <a:lstStyle>
            <a:lvl1pPr algn="r">
              <a:defRPr sz="1200">
                <a:latin typeface="KoPubWorld돋움체 Bold" panose="00000800000000000000" pitchFamily="2" charset="-127"/>
                <a:ea typeface="KoPubWorld돋움체 Bold" panose="00000800000000000000" pitchFamily="2" charset="-127"/>
              </a:defRPr>
            </a:lvl1pPr>
          </a:lstStyle>
          <a:p>
            <a:fld id="{5C657A66-7FD2-4757-A30E-DD765D01DE0F}" type="datetimeFigureOut">
              <a:rPr lang="ko-KR" altLang="en-US" smtClean="0"/>
              <a:pPr/>
              <a:t>2026-09-30</a:t>
            </a:fld>
            <a:endParaRPr lang="ko-KR" altLang="en-US"/>
          </a:p>
        </p:txBody>
      </p:sp>
      <p:sp>
        <p:nvSpPr>
          <p:cNvPr id="4" name="슬라이드 이미지 개체 틀 3"/>
          <p:cNvSpPr>
            <a:spLocks noGrp="1" noRot="1" noChangeAspect="1"/>
          </p:cNvSpPr>
          <p:nvPr>
            <p:ph type="sldImg" idx="2"/>
          </p:nvPr>
        </p:nvSpPr>
        <p:spPr>
          <a:xfrm>
            <a:off x="768350" y="746125"/>
            <a:ext cx="5270500" cy="3727450"/>
          </a:xfrm>
          <a:prstGeom prst="rect">
            <a:avLst/>
          </a:prstGeom>
          <a:noFill/>
          <a:ln w="12700">
            <a:solidFill>
              <a:prstClr val="black"/>
            </a:solidFill>
          </a:ln>
        </p:spPr>
        <p:txBody>
          <a:bodyPr vert="horz" lIns="91522" tIns="45761" rIns="91522" bIns="45761" rtlCol="0" anchor="ctr"/>
          <a:lstStyle/>
          <a:p>
            <a:endParaRPr lang="ko-KR" altLang="en-US" dirty="0"/>
          </a:p>
        </p:txBody>
      </p:sp>
      <p:sp>
        <p:nvSpPr>
          <p:cNvPr id="5" name="슬라이드 노트 개체 틀 4"/>
          <p:cNvSpPr>
            <a:spLocks noGrp="1"/>
          </p:cNvSpPr>
          <p:nvPr>
            <p:ph type="body" sz="quarter" idx="3"/>
          </p:nvPr>
        </p:nvSpPr>
        <p:spPr>
          <a:xfrm>
            <a:off x="680721" y="4721191"/>
            <a:ext cx="5445760" cy="4472702"/>
          </a:xfrm>
          <a:prstGeom prst="rect">
            <a:avLst/>
          </a:prstGeom>
        </p:spPr>
        <p:txBody>
          <a:bodyPr vert="horz" lIns="91522" tIns="45761" rIns="91522" bIns="45761" rtlCol="0"/>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6" name="바닥글 개체 틀 5"/>
          <p:cNvSpPr>
            <a:spLocks noGrp="1"/>
          </p:cNvSpPr>
          <p:nvPr>
            <p:ph type="ftr" sz="quarter" idx="4"/>
          </p:nvPr>
        </p:nvSpPr>
        <p:spPr>
          <a:xfrm>
            <a:off x="7" y="9440650"/>
            <a:ext cx="2949786" cy="496967"/>
          </a:xfrm>
          <a:prstGeom prst="rect">
            <a:avLst/>
          </a:prstGeom>
        </p:spPr>
        <p:txBody>
          <a:bodyPr vert="horz" lIns="91522" tIns="45761" rIns="91522" bIns="45761" rtlCol="0" anchor="b"/>
          <a:lstStyle>
            <a:lvl1pPr algn="l">
              <a:defRPr sz="1200">
                <a:latin typeface="KoPubWorld돋움체 Bold" panose="00000800000000000000" pitchFamily="2" charset="-127"/>
                <a:ea typeface="KoPubWorld돋움체 Bold" panose="00000800000000000000" pitchFamily="2" charset="-127"/>
              </a:defRPr>
            </a:lvl1pPr>
          </a:lstStyle>
          <a:p>
            <a:endParaRPr lang="ko-KR" altLang="en-US"/>
          </a:p>
        </p:txBody>
      </p:sp>
      <p:sp>
        <p:nvSpPr>
          <p:cNvPr id="7" name="슬라이드 번호 개체 틀 6"/>
          <p:cNvSpPr>
            <a:spLocks noGrp="1"/>
          </p:cNvSpPr>
          <p:nvPr>
            <p:ph type="sldNum" sz="quarter" idx="5"/>
          </p:nvPr>
        </p:nvSpPr>
        <p:spPr>
          <a:xfrm>
            <a:off x="3855846" y="9440650"/>
            <a:ext cx="2949786" cy="496967"/>
          </a:xfrm>
          <a:prstGeom prst="rect">
            <a:avLst/>
          </a:prstGeom>
        </p:spPr>
        <p:txBody>
          <a:bodyPr vert="horz" lIns="91522" tIns="45761" rIns="91522" bIns="45761" rtlCol="0" anchor="b"/>
          <a:lstStyle>
            <a:lvl1pPr algn="r">
              <a:defRPr sz="1200">
                <a:latin typeface="KoPubWorld돋움체 Bold" panose="00000800000000000000" pitchFamily="2" charset="-127"/>
                <a:ea typeface="KoPubWorld돋움체 Bold" panose="00000800000000000000" pitchFamily="2" charset="-127"/>
              </a:defRPr>
            </a:lvl1pPr>
          </a:lstStyle>
          <a:p>
            <a:fld id="{2B8DFE68-44DA-46E6-B8A3-9F09BDCA52AB}" type="slidenum">
              <a:rPr lang="ko-KR" altLang="en-US" smtClean="0"/>
              <a:pPr/>
              <a:t>‹#›</a:t>
            </a:fld>
            <a:endParaRPr lang="ko-KR" altLang="en-US"/>
          </a:p>
        </p:txBody>
      </p:sp>
    </p:spTree>
    <p:extLst>
      <p:ext uri="{BB962C8B-B14F-4D97-AF65-F5344CB8AC3E}">
        <p14:creationId xmlns:p14="http://schemas.microsoft.com/office/powerpoint/2010/main" val="3526351421"/>
      </p:ext>
    </p:extLst>
  </p:cSld>
  <p:clrMap bg1="lt1" tx1="dk1" bg2="lt2" tx2="dk2" accent1="accent1" accent2="accent2" accent3="accent3" accent4="accent4" accent5="accent5" accent6="accent6" hlink="hlink" folHlink="folHlink"/>
  <p:notesStyle>
    <a:lvl1pPr marL="0"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1pPr>
    <a:lvl2pPr marL="497495"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2pPr>
    <a:lvl3pPr marL="994986"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3pPr>
    <a:lvl4pPr marL="1492478"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4pPr>
    <a:lvl5pPr marL="1989973"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5pPr>
    <a:lvl6pPr marL="2487464" algn="l" defTabSz="994986" rtl="0" eaLnBrk="1" latinLnBrk="1" hangingPunct="1">
      <a:defRPr sz="1305" kern="1200">
        <a:solidFill>
          <a:schemeClr val="tx1"/>
        </a:solidFill>
        <a:latin typeface="+mn-lt"/>
        <a:ea typeface="+mn-ea"/>
        <a:cs typeface="+mn-cs"/>
      </a:defRPr>
    </a:lvl6pPr>
    <a:lvl7pPr marL="2984958" algn="l" defTabSz="994986" rtl="0" eaLnBrk="1" latinLnBrk="1" hangingPunct="1">
      <a:defRPr sz="1305" kern="1200">
        <a:solidFill>
          <a:schemeClr val="tx1"/>
        </a:solidFill>
        <a:latin typeface="+mn-lt"/>
        <a:ea typeface="+mn-ea"/>
        <a:cs typeface="+mn-cs"/>
      </a:defRPr>
    </a:lvl7pPr>
    <a:lvl8pPr marL="3482451" algn="l" defTabSz="994986" rtl="0" eaLnBrk="1" latinLnBrk="1" hangingPunct="1">
      <a:defRPr sz="1305" kern="1200">
        <a:solidFill>
          <a:schemeClr val="tx1"/>
        </a:solidFill>
        <a:latin typeface="+mn-lt"/>
        <a:ea typeface="+mn-ea"/>
        <a:cs typeface="+mn-cs"/>
      </a:defRPr>
    </a:lvl8pPr>
    <a:lvl9pPr marL="3979944" algn="l" defTabSz="994986" rtl="0" eaLnBrk="1" latinLnBrk="1" hangingPunct="1">
      <a:defRPr sz="130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517A77-EB0A-59CD-3E45-75969671F87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807A19C-242D-03DC-AC7E-8D76A8F0AE1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9A3EE431-B322-B2FB-5523-724110EB6089}"/>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4294748F-CB85-EC77-4825-9169B251F532}"/>
              </a:ext>
            </a:extLst>
          </p:cNvPr>
          <p:cNvSpPr>
            <a:spLocks noGrp="1"/>
          </p:cNvSpPr>
          <p:nvPr>
            <p:ph type="sldNum" sz="quarter" idx="5"/>
          </p:nvPr>
        </p:nvSpPr>
        <p:spPr/>
        <p:txBody>
          <a:bodyPr/>
          <a:lstStyle/>
          <a:p>
            <a:fld id="{2B8DFE68-44DA-46E6-B8A3-9F09BDCA52AB}" type="slidenum">
              <a:rPr lang="ko-KR" altLang="en-US" smtClean="0"/>
              <a:pPr/>
              <a:t>0</a:t>
            </a:fld>
            <a:endParaRPr lang="ko-KR" altLang="en-US"/>
          </a:p>
        </p:txBody>
      </p:sp>
    </p:spTree>
    <p:extLst>
      <p:ext uri="{BB962C8B-B14F-4D97-AF65-F5344CB8AC3E}">
        <p14:creationId xmlns:p14="http://schemas.microsoft.com/office/powerpoint/2010/main" val="32592281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p:cNvSpPr>
            <a:spLocks noGrp="1"/>
          </p:cNvSpPr>
          <p:nvPr>
            <p:ph type="sldNum" sz="quarter" idx="10"/>
          </p:nvPr>
        </p:nvSpPr>
        <p:spPr/>
        <p:txBody>
          <a:bodyPr/>
          <a:lstStyle/>
          <a:p>
            <a:pPr marL="0" marR="0" lvl="0" indent="0" algn="r" defTabSz="457755" rtl="0" eaLnBrk="1" fontAlgn="auto" latinLnBrk="0" hangingPunct="1">
              <a:lnSpc>
                <a:spcPct val="100000"/>
              </a:lnSpc>
              <a:spcBef>
                <a:spcPts val="0"/>
              </a:spcBef>
              <a:spcAft>
                <a:spcPts val="0"/>
              </a:spcAft>
              <a:buClrTx/>
              <a:buSzTx/>
              <a:buFontTx/>
              <a:buNone/>
              <a:tabLst/>
              <a:defRPr/>
            </a:pPr>
            <a:fld id="{2B8DFE68-44DA-46E6-B8A3-9F09BDCA52AB}" type="slidenum">
              <a:rPr kumimoji="0" lang="ko-KR" altLang="en-US" sz="1200" b="0" i="0" u="none" strike="noStrike" kern="1200" cap="none" spc="0" normalizeH="0" baseline="0" noProof="0">
                <a:ln>
                  <a:noFill/>
                </a:ln>
                <a:solidFill>
                  <a:prstClr val="black"/>
                </a:solidFill>
                <a:effectLst/>
                <a:uLnTx/>
                <a:uFillTx/>
                <a:latin typeface="KoPubWorld돋움체 Bold" panose="00000800000000000000" pitchFamily="2" charset="-127"/>
                <a:ea typeface="KoPubWorld돋움체 Bold" panose="00000800000000000000" pitchFamily="2" charset="-127"/>
                <a:cs typeface="+mn-cs"/>
              </a:rPr>
              <a:pPr marL="0" marR="0" lvl="0" indent="0" algn="r" defTabSz="457755" rtl="0" eaLnBrk="1" fontAlgn="auto" latinLnBrk="0" hangingPunct="1">
                <a:lnSpc>
                  <a:spcPct val="100000"/>
                </a:lnSpc>
                <a:spcBef>
                  <a:spcPts val="0"/>
                </a:spcBef>
                <a:spcAft>
                  <a:spcPts val="0"/>
                </a:spcAft>
                <a:buClrTx/>
                <a:buSzTx/>
                <a:buFontTx/>
                <a:buNone/>
                <a:tabLst/>
                <a:defRPr/>
              </a:pPr>
              <a:t>2</a:t>
            </a:fld>
            <a:endParaRPr kumimoji="0" lang="ko-KR" altLang="en-US" sz="1200" b="0" i="0" u="none" strike="noStrike" kern="1200" cap="none" spc="0" normalizeH="0" baseline="0" noProof="0">
              <a:ln>
                <a:noFill/>
              </a:ln>
              <a:solidFill>
                <a:prstClr val="black"/>
              </a:solidFill>
              <a:effectLst/>
              <a:uLnTx/>
              <a:uFillTx/>
              <a:latin typeface="KoPubWorld돋움체 Bold" panose="00000800000000000000" pitchFamily="2" charset="-127"/>
              <a:ea typeface="KoPubWorld돋움체 Bold" panose="00000800000000000000" pitchFamily="2" charset="-127"/>
              <a:cs typeface="+mn-cs"/>
            </a:endParaRPr>
          </a:p>
        </p:txBody>
      </p:sp>
    </p:spTree>
    <p:extLst>
      <p:ext uri="{BB962C8B-B14F-4D97-AF65-F5344CB8AC3E}">
        <p14:creationId xmlns:p14="http://schemas.microsoft.com/office/powerpoint/2010/main" val="12298355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FB58F-FA30-CD0D-83A7-A3CC7982ED0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79CE320-F6F4-D054-3402-A83A2AB8AEC0}"/>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FF42AAFD-B4BD-DF84-12D3-D66ED0F3E79C}"/>
              </a:ext>
            </a:extLst>
          </p:cNvPr>
          <p:cNvSpPr>
            <a:spLocks noGrp="1"/>
          </p:cNvSpPr>
          <p:nvPr>
            <p:ph type="body" idx="1"/>
          </p:nvPr>
        </p:nvSpPr>
        <p:spPr/>
        <p:txBody>
          <a:bodyPr/>
          <a:lstStyle/>
          <a:p>
            <a:r>
              <a:rPr lang="en-US" altLang="ko-KR" dirty="0"/>
              <a:t>5</a:t>
            </a:r>
            <a:r>
              <a:rPr lang="ko-KR" altLang="en-US" dirty="0" err="1"/>
              <a:t>년차</a:t>
            </a:r>
            <a:r>
              <a:rPr lang="ko-KR" altLang="en-US" dirty="0"/>
              <a:t> 매각배당 을 원본으로 메꾸는 걸로</a:t>
            </a:r>
          </a:p>
        </p:txBody>
      </p:sp>
      <p:sp>
        <p:nvSpPr>
          <p:cNvPr id="4" name="슬라이드 번호 개체 틀 3">
            <a:extLst>
              <a:ext uri="{FF2B5EF4-FFF2-40B4-BE49-F238E27FC236}">
                <a16:creationId xmlns:a16="http://schemas.microsoft.com/office/drawing/2014/main" id="{E88F0115-A40D-D99E-20D3-38A438C86C2E}"/>
              </a:ext>
            </a:extLst>
          </p:cNvPr>
          <p:cNvSpPr>
            <a:spLocks noGrp="1"/>
          </p:cNvSpPr>
          <p:nvPr>
            <p:ph type="sldNum" sz="quarter" idx="5"/>
          </p:nvPr>
        </p:nvSpPr>
        <p:spPr/>
        <p:txBody>
          <a:bodyPr/>
          <a:lstStyle/>
          <a:p>
            <a:pPr defTabSz="441564">
              <a:defRPr/>
            </a:pPr>
            <a:fld id="{2B8DFE68-44DA-46E6-B8A3-9F09BDCA52AB}" type="slidenum">
              <a:rPr lang="ko-KR" altLang="en-US">
                <a:solidFill>
                  <a:prstClr val="black"/>
                </a:solidFill>
              </a:rPr>
              <a:pPr defTabSz="441564">
                <a:defRPr/>
              </a:pPr>
              <a:t>14</a:t>
            </a:fld>
            <a:endParaRPr lang="ko-KR" altLang="en-US">
              <a:solidFill>
                <a:prstClr val="black"/>
              </a:solidFill>
            </a:endParaRPr>
          </a:p>
        </p:txBody>
      </p:sp>
    </p:spTree>
    <p:extLst>
      <p:ext uri="{BB962C8B-B14F-4D97-AF65-F5344CB8AC3E}">
        <p14:creationId xmlns:p14="http://schemas.microsoft.com/office/powerpoint/2010/main" val="41230220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7740C-BB77-511A-E912-40D6E907EA6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9524734-E4D0-D4F7-53C7-B2DC83BA728D}"/>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67F6F6E-EFB5-6ACF-100F-47E1CD0AFF1F}"/>
              </a:ext>
            </a:extLst>
          </p:cNvPr>
          <p:cNvSpPr>
            <a:spLocks noGrp="1"/>
          </p:cNvSpPr>
          <p:nvPr>
            <p:ph type="body" idx="1"/>
          </p:nvPr>
        </p:nvSpPr>
        <p:spPr/>
        <p:txBody>
          <a:bodyPr/>
          <a:lstStyle/>
          <a:p>
            <a:r>
              <a:rPr lang="ko-KR" altLang="en-US" dirty="0" err="1"/>
              <a:t>공모예외기관</a:t>
            </a:r>
            <a:endParaRPr lang="ko-KR" altLang="en-US" dirty="0"/>
          </a:p>
        </p:txBody>
      </p:sp>
      <p:sp>
        <p:nvSpPr>
          <p:cNvPr id="4" name="슬라이드 번호 개체 틀 3">
            <a:extLst>
              <a:ext uri="{FF2B5EF4-FFF2-40B4-BE49-F238E27FC236}">
                <a16:creationId xmlns:a16="http://schemas.microsoft.com/office/drawing/2014/main" id="{C9518416-CA6A-5D83-76B2-4B83FF436139}"/>
              </a:ext>
            </a:extLst>
          </p:cNvPr>
          <p:cNvSpPr>
            <a:spLocks noGrp="1"/>
          </p:cNvSpPr>
          <p:nvPr>
            <p:ph type="sldNum" sz="quarter" idx="5"/>
          </p:nvPr>
        </p:nvSpPr>
        <p:spPr/>
        <p:txBody>
          <a:bodyPr/>
          <a:lstStyle/>
          <a:p>
            <a:fld id="{2B8DFE68-44DA-46E6-B8A3-9F09BDCA52AB}" type="slidenum">
              <a:rPr lang="ko-KR" altLang="en-US" smtClean="0"/>
              <a:pPr/>
              <a:t>15</a:t>
            </a:fld>
            <a:endParaRPr lang="ko-KR" altLang="en-US"/>
          </a:p>
        </p:txBody>
      </p:sp>
    </p:spTree>
    <p:extLst>
      <p:ext uri="{BB962C8B-B14F-4D97-AF65-F5344CB8AC3E}">
        <p14:creationId xmlns:p14="http://schemas.microsoft.com/office/powerpoint/2010/main" val="9443505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microsoft.com/office/2007/relationships/hdphoto" Target="../media/hdphoto1.wdp"/><Relationship Id="rId5" Type="http://schemas.openxmlformats.org/officeDocument/2006/relationships/image" Target="../media/image3.png"/><Relationship Id="rId6" Type="http://schemas.microsoft.com/office/2007/relationships/hdphoto" Target="../media/hdphoto2.wdp"/></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 Id="rId3" Type="http://schemas.openxmlformats.org/officeDocument/2006/relationships/image" Target="../media/image3.png"/><Relationship Id="rId4" Type="http://schemas.microsoft.com/office/2007/relationships/hdphoto" Target="../media/hdphoto2.wdp"/></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image" Target="../media/image3.png"/><Relationship Id="rId4" Type="http://schemas.microsoft.com/office/2007/relationships/hdphoto" Target="../media/hdphoto2.wdp"/></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image" Target="../media/image3.png"/><Relationship Id="rId4" Type="http://schemas.microsoft.com/office/2007/relationships/hdphoto" Target="../media/hdphoto2.wdp"/></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image" Target="../media/image3.png"/><Relationship Id="rId4" Type="http://schemas.microsoft.com/office/2007/relationships/hdphoto" Target="../media/hdphoto2.wdp"/></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image" Target="../media/image3.png"/><Relationship Id="rId4" Type="http://schemas.microsoft.com/office/2007/relationships/hdphoto" Target="../media/hdphoto2.wdp"/></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image" Target="../media/image3.png"/><Relationship Id="rId4" Type="http://schemas.microsoft.com/office/2007/relationships/hdphoto" Target="../media/hdphoto2.wdp"/></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 Id="rId3" Type="http://schemas.openxmlformats.org/officeDocument/2006/relationships/image" Target="../media/image3.png"/><Relationship Id="rId4" Type="http://schemas.microsoft.com/office/2007/relationships/hdphoto" Target="../media/hdphoto2.wdp"/></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 Id="rId3" Type="http://schemas.openxmlformats.org/officeDocument/2006/relationships/image" Target="../media/image3.png"/><Relationship Id="rId4" Type="http://schemas.microsoft.com/office/2007/relationships/hdphoto" Target="../media/hdphoto2.wdp"/></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 Id="rId3" Type="http://schemas.openxmlformats.org/officeDocument/2006/relationships/image" Target="../media/image3.png"/><Relationship Id="rId4" Type="http://schemas.microsoft.com/office/2007/relationships/hdphoto" Target="../media/hdphoto2.wdp"/></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 Id="rId3" Type="http://schemas.openxmlformats.org/officeDocument/2006/relationships/image" Target="../media/image3.png"/><Relationship Id="rId4" Type="http://schemas.microsoft.com/office/2007/relationships/hdphoto" Target="../media/hdphoto2.wdp"/></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 Id="rId3" Type="http://schemas.openxmlformats.org/officeDocument/2006/relationships/image" Target="../media/image3.png"/><Relationship Id="rId4" Type="http://schemas.microsoft.com/office/2007/relationships/hdphoto" Target="../media/hdphoto2.wdp"/></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microsoft.com/office/2007/relationships/hdphoto" Target="../media/hdphoto2.wdp"/></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microsoft.com/office/2007/relationships/hdphoto" Target="../media/hdphoto2.wdp"/></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microsoft.com/office/2007/relationships/hdphoto" Target="../media/hdphoto2.wdp"/></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microsoft.com/office/2007/relationships/hdphoto" Target="../media/hdphoto2.wdp"/></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microsoft.com/office/2007/relationships/hdphoto" Target="../media/hdphoto2.wdp"/></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microsoft.com/office/2007/relationships/hdphoto" Target="../media/hdphoto2.wdp"/></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microsoft.com/office/2007/relationships/hdphoto" Target="../media/hdphoto2.wdp"/></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microsoft.com/office/2007/relationships/hdphoto" Target="../media/hdphoto2.wdp"/></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microsoft.com/office/2007/relationships/hdphoto" Target="../media/hdphoto2.wdp"/></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microsoft.com/office/2007/relationships/hdphoto" Target="../media/hdphoto2.wdp"/></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microsoft.com/office/2007/relationships/hdphoto" Target="../media/hdphoto2.wdp"/></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9/30/2026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3488284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9/30/2026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9670376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4_사용자 지정 레이아웃">
    <p:spTree>
      <p:nvGrpSpPr>
        <p:cNvPr id="1" name=""/>
        <p:cNvGrpSpPr/>
        <p:nvPr/>
      </p:nvGrpSpPr>
      <p:grpSpPr>
        <a:xfrm>
          <a:off x="0" y="0"/>
          <a:ext cx="0" cy="0"/>
          <a:chOff x="0" y="0"/>
          <a:chExt cx="0" cy="0"/>
        </a:xfrm>
      </p:grpSpPr>
      <p:pic>
        <p:nvPicPr>
          <p:cNvPr id="3" name="그림 2"/>
          <p:cNvPicPr>
            <a:picLocks noChangeAspect="1"/>
          </p:cNvPicPr>
          <p:nvPr userDrawn="1"/>
        </p:nvPicPr>
        <p:blipFill rotWithShape="1">
          <a:blip r:embed="rId2"/>
          <a:srcRect l="18544" b="4354"/>
          <a:stretch/>
        </p:blipFill>
        <p:spPr>
          <a:xfrm>
            <a:off x="7788" y="4094632"/>
            <a:ext cx="4372862" cy="3465043"/>
          </a:xfrm>
          <a:prstGeom prst="rect">
            <a:avLst/>
          </a:prstGeom>
        </p:spPr>
      </p:pic>
      <p:cxnSp>
        <p:nvCxnSpPr>
          <p:cNvPr id="7" name="직선 연결선 6"/>
          <p:cNvCxnSpPr/>
          <p:nvPr userDrawn="1"/>
        </p:nvCxnSpPr>
        <p:spPr>
          <a:xfrm>
            <a:off x="660073" y="7173747"/>
            <a:ext cx="82532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9" name="그룹 8"/>
          <p:cNvGrpSpPr/>
          <p:nvPr userDrawn="1"/>
        </p:nvGrpSpPr>
        <p:grpSpPr>
          <a:xfrm>
            <a:off x="9276077" y="6972575"/>
            <a:ext cx="1110305" cy="316737"/>
            <a:chOff x="10506075" y="5289550"/>
            <a:chExt cx="1028701" cy="287338"/>
          </a:xfrm>
          <a:solidFill>
            <a:schemeClr val="bg1">
              <a:lumMod val="75000"/>
            </a:schemeClr>
          </a:solidFill>
        </p:grpSpPr>
        <p:sp>
          <p:nvSpPr>
            <p:cNvPr id="10" name="Freeform 5"/>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1" name="Freeform 6"/>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2" name="Freeform 7"/>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3" name="Rectangle 8"/>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4" name="Rectangle 9"/>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5" name="Freeform 10"/>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6" name="Rectangle 11"/>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7" name="Freeform 12"/>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8" name="Freeform 13"/>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9" name="Freeform 14"/>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0" name="Freeform 15"/>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1" name="Freeform 16"/>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2" name="Freeform 17"/>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3" name="Freeform 18"/>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4" name="Freeform 19"/>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5" name="Freeform 20"/>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6" name="Freeform 21"/>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7" name="Freeform 22"/>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8" name="Rectangle 23"/>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9" name="Freeform 24"/>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0" name="Freeform 25"/>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1" name="Freeform 26"/>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2" name="Freeform 27"/>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3" name="Freeform 28"/>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4" name="Freeform 29"/>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5" name="Freeform 30"/>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6" name="Freeform 31"/>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7" name="Freeform 32"/>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8" name="Freeform 33"/>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9" name="Freeform 34"/>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0" name="Freeform 35"/>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grpSp>
        <p:nvGrpSpPr>
          <p:cNvPr id="43" name="그룹 42"/>
          <p:cNvGrpSpPr/>
          <p:nvPr userDrawn="1"/>
        </p:nvGrpSpPr>
        <p:grpSpPr>
          <a:xfrm>
            <a:off x="9276077" y="6972575"/>
            <a:ext cx="1110305" cy="316737"/>
            <a:chOff x="10506075" y="5289550"/>
            <a:chExt cx="1028701" cy="287338"/>
          </a:xfrm>
          <a:solidFill>
            <a:schemeClr val="bg1">
              <a:lumMod val="75000"/>
            </a:schemeClr>
          </a:solidFill>
        </p:grpSpPr>
        <p:sp>
          <p:nvSpPr>
            <p:cNvPr id="44" name="Freeform 5"/>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5" name="Freeform 6"/>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6" name="Freeform 7"/>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7" name="Rectangle 8"/>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8" name="Rectangle 9"/>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9" name="Freeform 10"/>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0" name="Rectangle 11"/>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1" name="Freeform 12"/>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2" name="Freeform 13"/>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3" name="Freeform 14"/>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4" name="Freeform 15"/>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5" name="Freeform 16"/>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6" name="Freeform 17"/>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7" name="Freeform 18"/>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8" name="Freeform 19"/>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9" name="Freeform 20"/>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0" name="Freeform 21"/>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1" name="Freeform 22"/>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2" name="Rectangle 23"/>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3" name="Freeform 24"/>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4" name="Freeform 25"/>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5" name="Freeform 26"/>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6" name="Freeform 27"/>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7" name="Freeform 28"/>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8" name="Freeform 29"/>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9" name="Freeform 30"/>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0" name="Freeform 31"/>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1" name="Freeform 32"/>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2" name="Freeform 33"/>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3" name="Freeform 34"/>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4" name="Freeform 35"/>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cxnSp>
        <p:nvCxnSpPr>
          <p:cNvPr id="5" name="직선 연결선 4">
            <a:extLst>
              <a:ext uri="{FF2B5EF4-FFF2-40B4-BE49-F238E27FC236}">
                <a16:creationId xmlns:a16="http://schemas.microsoft.com/office/drawing/2014/main" id="{E698E318-C31C-4B7D-C179-4C56B3D6F138}"/>
              </a:ext>
            </a:extLst>
          </p:cNvPr>
          <p:cNvCxnSpPr/>
          <p:nvPr userDrawn="1"/>
        </p:nvCxnSpPr>
        <p:spPr>
          <a:xfrm>
            <a:off x="269874" y="6804025"/>
            <a:ext cx="10044000"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8770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6588" userDrawn="1">
          <p15:clr>
            <a:srgbClr val="FBAE40"/>
          </p15:clr>
        </p15:guide>
        <p15:guide id="3" pos="564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사용자 지정 레이아웃">
    <p:spTree>
      <p:nvGrpSpPr>
        <p:cNvPr id="1" name=""/>
        <p:cNvGrpSpPr/>
        <p:nvPr/>
      </p:nvGrpSpPr>
      <p:grpSpPr>
        <a:xfrm>
          <a:off x="0" y="0"/>
          <a:ext cx="0" cy="0"/>
          <a:chOff x="0" y="0"/>
          <a:chExt cx="0" cy="0"/>
        </a:xfrm>
      </p:grpSpPr>
      <p:pic>
        <p:nvPicPr>
          <p:cNvPr id="3" name="그림 2"/>
          <p:cNvPicPr>
            <a:picLocks noChangeAspect="1"/>
          </p:cNvPicPr>
          <p:nvPr userDrawn="1"/>
        </p:nvPicPr>
        <p:blipFill rotWithShape="1">
          <a:blip r:embed="rId2"/>
          <a:srcRect l="18544" b="4354"/>
          <a:stretch/>
        </p:blipFill>
        <p:spPr>
          <a:xfrm>
            <a:off x="7788" y="4094632"/>
            <a:ext cx="4372862" cy="3465043"/>
          </a:xfrm>
          <a:prstGeom prst="rect">
            <a:avLst/>
          </a:prstGeom>
        </p:spPr>
      </p:pic>
      <p:cxnSp>
        <p:nvCxnSpPr>
          <p:cNvPr id="7" name="직선 연결선 6"/>
          <p:cNvCxnSpPr/>
          <p:nvPr userDrawn="1"/>
        </p:nvCxnSpPr>
        <p:spPr>
          <a:xfrm>
            <a:off x="660073" y="7173747"/>
            <a:ext cx="82532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9" name="그룹 8"/>
          <p:cNvGrpSpPr/>
          <p:nvPr userDrawn="1"/>
        </p:nvGrpSpPr>
        <p:grpSpPr>
          <a:xfrm>
            <a:off x="9276077" y="6972575"/>
            <a:ext cx="1110305" cy="316737"/>
            <a:chOff x="10506075" y="5289550"/>
            <a:chExt cx="1028701" cy="287338"/>
          </a:xfrm>
          <a:solidFill>
            <a:schemeClr val="bg1">
              <a:lumMod val="75000"/>
            </a:schemeClr>
          </a:solidFill>
        </p:grpSpPr>
        <p:sp>
          <p:nvSpPr>
            <p:cNvPr id="10" name="Freeform 5"/>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1" name="Freeform 6"/>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2" name="Freeform 7"/>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3" name="Rectangle 8"/>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4" name="Rectangle 9"/>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5" name="Freeform 10"/>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6" name="Rectangle 11"/>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7" name="Freeform 12"/>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8" name="Freeform 13"/>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9" name="Freeform 14"/>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0" name="Freeform 15"/>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1" name="Freeform 16"/>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2" name="Freeform 17"/>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3" name="Freeform 18"/>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4" name="Freeform 19"/>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5" name="Freeform 20"/>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6" name="Freeform 21"/>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7" name="Freeform 22"/>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8" name="Rectangle 23"/>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9" name="Freeform 24"/>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0" name="Freeform 25"/>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1" name="Freeform 26"/>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2" name="Freeform 27"/>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3" name="Freeform 28"/>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4" name="Freeform 29"/>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5" name="Freeform 30"/>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6" name="Freeform 31"/>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7" name="Freeform 32"/>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8" name="Freeform 33"/>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9" name="Freeform 34"/>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0" name="Freeform 35"/>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grpSp>
        <p:nvGrpSpPr>
          <p:cNvPr id="43" name="그룹 42"/>
          <p:cNvGrpSpPr/>
          <p:nvPr userDrawn="1"/>
        </p:nvGrpSpPr>
        <p:grpSpPr>
          <a:xfrm>
            <a:off x="9276077" y="6972575"/>
            <a:ext cx="1110305" cy="316737"/>
            <a:chOff x="10506075" y="5289550"/>
            <a:chExt cx="1028701" cy="287338"/>
          </a:xfrm>
          <a:solidFill>
            <a:schemeClr val="bg1">
              <a:lumMod val="75000"/>
            </a:schemeClr>
          </a:solidFill>
        </p:grpSpPr>
        <p:sp>
          <p:nvSpPr>
            <p:cNvPr id="44" name="Freeform 5"/>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5" name="Freeform 6"/>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6" name="Freeform 7"/>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7" name="Rectangle 8"/>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8" name="Rectangle 9"/>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9" name="Freeform 10"/>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0" name="Rectangle 11"/>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1" name="Freeform 12"/>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2" name="Freeform 13"/>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3" name="Freeform 14"/>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4" name="Freeform 15"/>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5" name="Freeform 16"/>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6" name="Freeform 17"/>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7" name="Freeform 18"/>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8" name="Freeform 19"/>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9" name="Freeform 20"/>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0" name="Freeform 21"/>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1" name="Freeform 22"/>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2" name="Rectangle 23"/>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3" name="Freeform 24"/>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4" name="Freeform 25"/>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5" name="Freeform 26"/>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6" name="Freeform 27"/>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7" name="Freeform 28"/>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8" name="Freeform 29"/>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9" name="Freeform 30"/>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0" name="Freeform 31"/>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1" name="Freeform 32"/>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2" name="Freeform 33"/>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3" name="Freeform 34"/>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4" name="Freeform 35"/>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cxnSp>
        <p:nvCxnSpPr>
          <p:cNvPr id="80" name="직선 연결선 79"/>
          <p:cNvCxnSpPr/>
          <p:nvPr userDrawn="1"/>
        </p:nvCxnSpPr>
        <p:spPr>
          <a:xfrm>
            <a:off x="462200" y="7173747"/>
            <a:ext cx="850333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 name="그림 1">
            <a:extLst>
              <a:ext uri="{FF2B5EF4-FFF2-40B4-BE49-F238E27FC236}">
                <a16:creationId xmlns:a16="http://schemas.microsoft.com/office/drawing/2014/main" id="{9520C0AA-552F-A4DD-999E-0243E4E8C249}"/>
              </a:ext>
            </a:extLst>
          </p:cNvPr>
          <p:cNvPicPr>
            <a:picLocks noChangeAspect="1"/>
          </p:cNvPicPr>
          <p:nvPr userDrawn="1"/>
        </p:nvPicPr>
        <p:blipFill rotWithShape="1">
          <a:blip r:embed="rId3">
            <a:extLst>
              <a:ext uri="{BEBA8EAE-BF5A-486C-A8C5-ECC9F3942E4B}">
                <a14:imgProps xmlns:a14="http://schemas.microsoft.com/office/drawing/2010/main">
                  <a14:imgLayer r:embed="rId4">
                    <a14:imgEffect>
                      <a14:saturation sat="66000"/>
                    </a14:imgEffect>
                  </a14:imgLayer>
                </a14:imgProps>
              </a:ext>
            </a:extLst>
          </a:blip>
          <a:srcRect t="4562" r="10258"/>
          <a:stretch/>
        </p:blipFill>
        <p:spPr>
          <a:xfrm>
            <a:off x="0" y="0"/>
            <a:ext cx="10746506" cy="7559675"/>
          </a:xfrm>
          <a:prstGeom prst="rect">
            <a:avLst/>
          </a:prstGeom>
        </p:spPr>
      </p:pic>
      <p:sp>
        <p:nvSpPr>
          <p:cNvPr id="4" name="직사각형 3">
            <a:extLst>
              <a:ext uri="{FF2B5EF4-FFF2-40B4-BE49-F238E27FC236}">
                <a16:creationId xmlns:a16="http://schemas.microsoft.com/office/drawing/2014/main" id="{4E719A9A-BDF6-2C92-6A2F-31156B42C4B1}"/>
              </a:ext>
            </a:extLst>
          </p:cNvPr>
          <p:cNvSpPr/>
          <p:nvPr userDrawn="1"/>
        </p:nvSpPr>
        <p:spPr>
          <a:xfrm>
            <a:off x="0" y="0"/>
            <a:ext cx="10746505" cy="7559675"/>
          </a:xfrm>
          <a:prstGeom prst="rect">
            <a:avLst/>
          </a:prstGeom>
          <a:gradFill>
            <a:gsLst>
              <a:gs pos="0">
                <a:schemeClr val="bg1"/>
              </a:gs>
              <a:gs pos="53000">
                <a:schemeClr val="bg1"/>
              </a:gs>
              <a:gs pos="100000">
                <a:schemeClr val="bg1">
                  <a:alpha val="5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5" name="직선 연결선 4">
            <a:extLst>
              <a:ext uri="{FF2B5EF4-FFF2-40B4-BE49-F238E27FC236}">
                <a16:creationId xmlns:a16="http://schemas.microsoft.com/office/drawing/2014/main" id="{E698E318-C31C-4B7D-C179-4C56B3D6F138}"/>
              </a:ext>
            </a:extLst>
          </p:cNvPr>
          <p:cNvCxnSpPr/>
          <p:nvPr userDrawn="1"/>
        </p:nvCxnSpPr>
        <p:spPr>
          <a:xfrm>
            <a:off x="269874" y="6804025"/>
            <a:ext cx="10044000"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6" descr="CI기본형">
            <a:extLst>
              <a:ext uri="{FF2B5EF4-FFF2-40B4-BE49-F238E27FC236}">
                <a16:creationId xmlns:a16="http://schemas.microsoft.com/office/drawing/2014/main" id="{55030481-6155-9A3B-B805-FB15724CCEE6}"/>
              </a:ext>
            </a:extLst>
          </p:cNvPr>
          <p:cNvPicPr>
            <a:picLocks noChangeAspect="1" noChangeArrowheads="1"/>
          </p:cNvPicPr>
          <p:nvPr userDrawn="1"/>
        </p:nvPicPr>
        <p:blipFill>
          <a:blip r:embed="rId5" cstate="print">
            <a:extLst>
              <a:ext uri="{BEBA8EAE-BF5A-486C-A8C5-ECC9F3942E4B}">
                <a14:imgProps xmlns:a14="http://schemas.microsoft.com/office/drawing/2010/main">
                  <a14:imgLayer r:embed="rId6">
                    <a14:imgEffect>
                      <a14:saturation sat="33000"/>
                    </a14:imgEffect>
                  </a14:imgLayer>
                </a14:imgProps>
              </a:ext>
            </a:extLst>
          </a:blip>
          <a:srcRect t="14815" b="12407"/>
          <a:stretch>
            <a:fillRect/>
          </a:stretch>
        </p:blipFill>
        <p:spPr bwMode="auto">
          <a:xfrm>
            <a:off x="252807" y="6980340"/>
            <a:ext cx="1109453" cy="291885"/>
          </a:xfrm>
          <a:prstGeom prst="rect">
            <a:avLst/>
          </a:prstGeom>
          <a:noFill/>
          <a:ln w="9525">
            <a:noFill/>
            <a:miter lim="800000"/>
            <a:headEnd/>
            <a:tailEnd/>
          </a:ln>
        </p:spPr>
      </p:pic>
      <p:sp>
        <p:nvSpPr>
          <p:cNvPr id="8" name="TextBox 7">
            <a:extLst>
              <a:ext uri="{FF2B5EF4-FFF2-40B4-BE49-F238E27FC236}">
                <a16:creationId xmlns:a16="http://schemas.microsoft.com/office/drawing/2014/main" id="{10E34D32-4B6F-BEE4-CEB3-3973B4716071}"/>
              </a:ext>
            </a:extLst>
          </p:cNvPr>
          <p:cNvSpPr txBox="1"/>
          <p:nvPr userDrawn="1"/>
        </p:nvSpPr>
        <p:spPr>
          <a:xfrm>
            <a:off x="0" y="1933"/>
            <a:ext cx="6318014" cy="501925"/>
          </a:xfrm>
          <a:prstGeom prst="rect">
            <a:avLst/>
          </a:prstGeom>
          <a:noFill/>
        </p:spPr>
        <p:txBody>
          <a:bodyPr wrap="square" lIns="360000" tIns="359911" rIns="0" bIns="0" rtlCol="0">
            <a:spAutoFit/>
            <a:scene3d>
              <a:camera prst="orthographicFront"/>
              <a:lightRig rig="threePt" dir="t"/>
            </a:scene3d>
            <a:sp3d>
              <a:bevelT w="1270" h="1270"/>
            </a:sp3d>
          </a:bodyPr>
          <a:lstStyle>
            <a:defPPr>
              <a:defRPr lang="en-US"/>
            </a:defPPr>
            <a:lvl1pPr marR="0" lvl="0" indent="0" defTabSz="801361" fontAlgn="auto">
              <a:lnSpc>
                <a:spcPct val="100000"/>
              </a:lnSpc>
              <a:spcBef>
                <a:spcPts val="0"/>
              </a:spcBef>
              <a:spcAft>
                <a:spcPts val="0"/>
              </a:spcAft>
              <a:buClrTx/>
              <a:buSzTx/>
              <a:buFontTx/>
              <a:buNone/>
              <a:tabLst/>
              <a:defRPr kumimoji="0" sz="900" b="1" i="0" u="none" strike="noStrike" cap="none" spc="0" normalizeH="0" baseline="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lvl="0"/>
            <a:r>
              <a:rPr lang="en-US" altLang="ko-KR" noProof="0" dirty="0"/>
              <a:t>0. Executive Summary</a:t>
            </a:r>
            <a:endParaRPr lang="ko-KR" altLang="en-US" noProof="0" dirty="0"/>
          </a:p>
        </p:txBody>
      </p:sp>
    </p:spTree>
    <p:extLst>
      <p:ext uri="{BB962C8B-B14F-4D97-AF65-F5344CB8AC3E}">
        <p14:creationId xmlns:p14="http://schemas.microsoft.com/office/powerpoint/2010/main" val="2378378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6588">
          <p15:clr>
            <a:srgbClr val="FBAE40"/>
          </p15:clr>
        </p15:guide>
        <p15:guide id="3" pos="564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7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pic>
        <p:nvPicPr>
          <p:cNvPr id="8" name="Picture 6" descr="CI기본형"/>
          <p:cNvPicPr>
            <a:picLocks noChangeAspect="1" noChangeArrowheads="1"/>
          </p:cNvPicPr>
          <p:nvPr userDrawn="1"/>
        </p:nvPicPr>
        <p:blipFill>
          <a:blip r:embed="rId3" cstate="print">
            <a:extLst>
              <a:ext uri="{BEBA8EAE-BF5A-486C-A8C5-ECC9F3942E4B}">
                <a14:imgProps xmlns:a14="http://schemas.microsoft.com/office/drawing/2010/main">
                  <a14:imgLayer r:embed="rId4">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프로젝트 추진 배경</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 name="Rectangle 47">
            <a:extLst>
              <a:ext uri="{FF2B5EF4-FFF2-40B4-BE49-F238E27FC236}">
                <a16:creationId xmlns:a16="http://schemas.microsoft.com/office/drawing/2014/main" id="{7F3924C1-BA52-5A60-A497-910BA82F3D32}"/>
              </a:ext>
            </a:extLst>
          </p:cNvPr>
          <p:cNvSpPr>
            <a:spLocks noChangeArrowheads="1"/>
          </p:cNvSpPr>
          <p:nvPr userDrawn="1">
            <p:custDataLst>
              <p:tags r:id="rId1"/>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현대자동차 실물자산 유동화 프로젝트</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설명자료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3231388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9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pic>
        <p:nvPicPr>
          <p:cNvPr id="8" name="Picture 6" descr="CI기본형"/>
          <p:cNvPicPr>
            <a:picLocks noChangeAspect="1" noChangeArrowheads="1"/>
          </p:cNvPicPr>
          <p:nvPr userDrawn="1"/>
        </p:nvPicPr>
        <p:blipFill>
          <a:blip r:embed="rId3" cstate="print">
            <a:extLst>
              <a:ext uri="{BEBA8EAE-BF5A-486C-A8C5-ECC9F3942E4B}">
                <a14:imgProps xmlns:a14="http://schemas.microsoft.com/office/drawing/2010/main">
                  <a14:imgLayer r:embed="rId4">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개요</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 name="Rectangle 47">
            <a:extLst>
              <a:ext uri="{FF2B5EF4-FFF2-40B4-BE49-F238E27FC236}">
                <a16:creationId xmlns:a16="http://schemas.microsoft.com/office/drawing/2014/main" id="{7F3924C1-BA52-5A60-A497-910BA82F3D32}"/>
              </a:ext>
            </a:extLst>
          </p:cNvPr>
          <p:cNvSpPr>
            <a:spLocks noChangeArrowheads="1"/>
          </p:cNvSpPr>
          <p:nvPr userDrawn="1">
            <p:custDataLst>
              <p:tags r:id="rId1"/>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현대자동차 실물자산 유동화 프로젝트</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설명자료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1149377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8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pic>
        <p:nvPicPr>
          <p:cNvPr id="8" name="Picture 6" descr="CI기본형"/>
          <p:cNvPicPr>
            <a:picLocks noChangeAspect="1" noChangeArrowheads="1"/>
          </p:cNvPicPr>
          <p:nvPr userDrawn="1"/>
        </p:nvPicPr>
        <p:blipFill>
          <a:blip r:embed="rId3" cstate="print">
            <a:extLst>
              <a:ext uri="{BEBA8EAE-BF5A-486C-A8C5-ECC9F3942E4B}">
                <a14:imgProps xmlns:a14="http://schemas.microsoft.com/office/drawing/2010/main">
                  <a14:imgLayer r:embed="rId4">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개요</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 name="Rectangle 47">
            <a:extLst>
              <a:ext uri="{FF2B5EF4-FFF2-40B4-BE49-F238E27FC236}">
                <a16:creationId xmlns:a16="http://schemas.microsoft.com/office/drawing/2014/main" id="{686BE778-4C5D-D3A6-39CD-76B38E7DE5D1}"/>
              </a:ext>
            </a:extLst>
          </p:cNvPr>
          <p:cNvSpPr>
            <a:spLocks noChangeArrowheads="1"/>
          </p:cNvSpPr>
          <p:nvPr userDrawn="1">
            <p:custDataLst>
              <p:tags r:id="rId1"/>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현대자동차 실물자산 유동화 프로젝트</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설명자료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788303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흰배경">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91B4DAF-949A-54B3-FF8C-2D65B8EB4C26}"/>
              </a:ext>
            </a:extLst>
          </p:cNvPr>
          <p:cNvSpPr txBox="1"/>
          <p:nvPr userDrawn="1"/>
        </p:nvSpPr>
        <p:spPr>
          <a:xfrm>
            <a:off x="0" y="1933"/>
            <a:ext cx="6318014" cy="501925"/>
          </a:xfrm>
          <a:prstGeom prst="rect">
            <a:avLst/>
          </a:prstGeom>
          <a:noFill/>
        </p:spPr>
        <p:txBody>
          <a:bodyPr wrap="square" lIns="360000" tIns="359911" rIns="0" bIns="0" rtlCol="0">
            <a:spAutoFit/>
            <a:scene3d>
              <a:camera prst="orthographicFront"/>
              <a:lightRig rig="threePt" dir="t"/>
            </a:scene3d>
            <a:sp3d>
              <a:bevelT w="1270" h="1270"/>
            </a:sp3d>
          </a:bodyPr>
          <a:lstStyle>
            <a:defPPr>
              <a:defRPr lang="en-US"/>
            </a:defPPr>
            <a:lvl1pPr marR="0" lvl="0" indent="0" defTabSz="801361" fontAlgn="auto">
              <a:lnSpc>
                <a:spcPct val="100000"/>
              </a:lnSpc>
              <a:spcBef>
                <a:spcPts val="0"/>
              </a:spcBef>
              <a:spcAft>
                <a:spcPts val="0"/>
              </a:spcAft>
              <a:buClrTx/>
              <a:buSzTx/>
              <a:buFontTx/>
              <a:buNone/>
              <a:tabLst/>
              <a:defRPr kumimoji="0" sz="900" b="1" i="0" u="none" strike="noStrike" cap="none" spc="0" normalizeH="0" baseline="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lvl="0"/>
            <a:r>
              <a:rPr lang="en-US" altLang="ko-KR" noProof="0" dirty="0"/>
              <a:t>Investment</a:t>
            </a:r>
            <a:r>
              <a:rPr lang="ko-KR" altLang="en-US" noProof="0" dirty="0"/>
              <a:t> </a:t>
            </a:r>
            <a:r>
              <a:rPr lang="en-US" altLang="ko-KR" noProof="0" dirty="0"/>
              <a:t>Highlight  </a:t>
            </a:r>
            <a:endParaRPr lang="ko-KR" altLang="en-US" noProof="0" dirty="0"/>
          </a:p>
        </p:txBody>
      </p: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pic>
        <p:nvPicPr>
          <p:cNvPr id="8" name="Picture 6" descr="CI기본형"/>
          <p:cNvPicPr>
            <a:picLocks noChangeAspect="1" noChangeArrowheads="1"/>
          </p:cNvPicPr>
          <p:nvPr userDrawn="1"/>
        </p:nvPicPr>
        <p:blipFill>
          <a:blip r:embed="rId3" cstate="print">
            <a:extLst>
              <a:ext uri="{BEBA8EAE-BF5A-486C-A8C5-ECC9F3942E4B}">
                <a14:imgProps xmlns:a14="http://schemas.microsoft.com/office/drawing/2010/main">
                  <a14:imgLayer r:embed="rId4">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Rectangle 47">
            <a:extLst>
              <a:ext uri="{FF2B5EF4-FFF2-40B4-BE49-F238E27FC236}">
                <a16:creationId xmlns:a16="http://schemas.microsoft.com/office/drawing/2014/main" id="{F841A884-B80B-C68F-78F9-DAEDD30FAFF1}"/>
              </a:ext>
            </a:extLst>
          </p:cNvPr>
          <p:cNvSpPr>
            <a:spLocks noChangeArrowheads="1"/>
          </p:cNvSpPr>
          <p:nvPr userDrawn="1">
            <p:custDataLst>
              <p:tags r:id="rId1"/>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현대자동차 실물자산 유동화 프로젝트</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설명자료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3813760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1_흰배경">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F3FC79C2-C7C9-A33B-644E-74BFA1A46C0C}"/>
              </a:ext>
            </a:extLst>
          </p:cNvPr>
          <p:cNvSpPr/>
          <p:nvPr userDrawn="1"/>
        </p:nvSpPr>
        <p:spPr>
          <a:xfrm flipV="1">
            <a:off x="6262678" y="-2"/>
            <a:ext cx="4429135" cy="7557741"/>
          </a:xfrm>
          <a:prstGeom prst="rect">
            <a:avLst/>
          </a:prstGeom>
          <a:solidFill>
            <a:schemeClr val="bg1">
              <a:lumMod val="9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Calibri" panose="020F0502020204030204"/>
              <a:ea typeface="맑은 고딕" panose="020B0503020000020004" pitchFamily="50" charset="-127"/>
              <a:cs typeface="+mn-cs"/>
            </a:endParaRPr>
          </a:p>
        </p:txBody>
      </p:sp>
      <p:sp>
        <p:nvSpPr>
          <p:cNvPr id="4" name="TextBox 3">
            <a:extLst>
              <a:ext uri="{FF2B5EF4-FFF2-40B4-BE49-F238E27FC236}">
                <a16:creationId xmlns:a16="http://schemas.microsoft.com/office/drawing/2014/main" id="{991B4DAF-949A-54B3-FF8C-2D65B8EB4C26}"/>
              </a:ext>
            </a:extLst>
          </p:cNvPr>
          <p:cNvSpPr txBox="1"/>
          <p:nvPr userDrawn="1"/>
        </p:nvSpPr>
        <p:spPr>
          <a:xfrm>
            <a:off x="0" y="1933"/>
            <a:ext cx="6318014" cy="501925"/>
          </a:xfrm>
          <a:prstGeom prst="rect">
            <a:avLst/>
          </a:prstGeom>
          <a:noFill/>
        </p:spPr>
        <p:txBody>
          <a:bodyPr wrap="square" lIns="360000" tIns="359911" rIns="0" bIns="0" rtlCol="0">
            <a:spAutoFit/>
            <a:scene3d>
              <a:camera prst="orthographicFront"/>
              <a:lightRig rig="threePt" dir="t"/>
            </a:scene3d>
            <a:sp3d>
              <a:bevelT w="1270" h="1270"/>
            </a:sp3d>
          </a:bodyPr>
          <a:lstStyle>
            <a:defPPr>
              <a:defRPr lang="en-US"/>
            </a:defPPr>
            <a:lvl1pPr marR="0" lvl="0" indent="0" defTabSz="801361" fontAlgn="auto">
              <a:lnSpc>
                <a:spcPct val="100000"/>
              </a:lnSpc>
              <a:spcBef>
                <a:spcPts val="0"/>
              </a:spcBef>
              <a:spcAft>
                <a:spcPts val="0"/>
              </a:spcAft>
              <a:buClrTx/>
              <a:buSzTx/>
              <a:buFontTx/>
              <a:buNone/>
              <a:tabLst/>
              <a:defRPr kumimoji="0" sz="900" b="1" i="0" u="none" strike="noStrike" cap="none" spc="0" normalizeH="0" baseline="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lvl="0"/>
            <a:r>
              <a:rPr lang="en-US" altLang="ko-KR" noProof="0" dirty="0"/>
              <a:t>Investment</a:t>
            </a:r>
            <a:r>
              <a:rPr lang="ko-KR" altLang="en-US" noProof="0" dirty="0"/>
              <a:t> </a:t>
            </a:r>
            <a:r>
              <a:rPr lang="en-US" altLang="ko-KR" noProof="0" dirty="0"/>
              <a:t>Highlight  </a:t>
            </a:r>
            <a:endParaRPr lang="ko-KR" altLang="en-US" noProof="0" dirty="0"/>
          </a:p>
        </p:txBody>
      </p: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pic>
        <p:nvPicPr>
          <p:cNvPr id="8" name="Picture 6" descr="CI기본형"/>
          <p:cNvPicPr>
            <a:picLocks noChangeAspect="1" noChangeArrowheads="1"/>
          </p:cNvPicPr>
          <p:nvPr userDrawn="1"/>
        </p:nvPicPr>
        <p:blipFill>
          <a:blip r:embed="rId3" cstate="print">
            <a:extLst>
              <a:ext uri="{BEBA8EAE-BF5A-486C-A8C5-ECC9F3942E4B}">
                <a14:imgProps xmlns:a14="http://schemas.microsoft.com/office/drawing/2010/main">
                  <a14:imgLayer r:embed="rId4">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Rectangle 47">
            <a:extLst>
              <a:ext uri="{FF2B5EF4-FFF2-40B4-BE49-F238E27FC236}">
                <a16:creationId xmlns:a16="http://schemas.microsoft.com/office/drawing/2014/main" id="{F841A884-B80B-C68F-78F9-DAEDD30FAFF1}"/>
              </a:ext>
            </a:extLst>
          </p:cNvPr>
          <p:cNvSpPr>
            <a:spLocks noChangeArrowheads="1"/>
          </p:cNvSpPr>
          <p:nvPr userDrawn="1">
            <p:custDataLst>
              <p:tags r:id="rId1"/>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현대자동차 실물자산 유동화 프로젝트</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설명자료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1478594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_흰배경">
    <p:spTree>
      <p:nvGrpSpPr>
        <p:cNvPr id="1" name=""/>
        <p:cNvGrpSpPr/>
        <p:nvPr/>
      </p:nvGrpSpPr>
      <p:grpSpPr>
        <a:xfrm>
          <a:off x="0" y="0"/>
          <a:ext cx="0" cy="0"/>
          <a:chOff x="0" y="0"/>
          <a:chExt cx="0" cy="0"/>
        </a:xfrm>
      </p:grpSpPr>
      <p:pic>
        <p:nvPicPr>
          <p:cNvPr id="8" name="Picture 6" descr="CI기본형"/>
          <p:cNvPicPr>
            <a:picLocks noChangeAspect="1" noChangeArrowheads="1"/>
          </p:cNvPicPr>
          <p:nvPr userDrawn="1"/>
        </p:nvPicPr>
        <p:blipFill>
          <a:blip r:embed="rId3" cstate="print">
            <a:extLst>
              <a:ext uri="{BEBA8EAE-BF5A-486C-A8C5-ECC9F3942E4B}">
                <a14:imgProps xmlns:a14="http://schemas.microsoft.com/office/drawing/2010/main">
                  <a14:imgLayer r:embed="rId4">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
        <p:nvSpPr>
          <p:cNvPr id="5" name="직사각형 4">
            <a:extLst>
              <a:ext uri="{FF2B5EF4-FFF2-40B4-BE49-F238E27FC236}">
                <a16:creationId xmlns:a16="http://schemas.microsoft.com/office/drawing/2014/main" id="{AD812282-E6E3-7F2E-5EBB-6FB19D37455E}"/>
              </a:ext>
            </a:extLst>
          </p:cNvPr>
          <p:cNvSpPr/>
          <p:nvPr userDrawn="1"/>
        </p:nvSpPr>
        <p:spPr>
          <a:xfrm>
            <a:off x="0" y="0"/>
            <a:ext cx="3689722" cy="7559675"/>
          </a:xfrm>
          <a:prstGeom prst="rect">
            <a:avLst/>
          </a:prstGeom>
          <a:solidFill>
            <a:schemeClr val="bg1">
              <a:lumMod val="9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TextBox 3">
            <a:extLst>
              <a:ext uri="{FF2B5EF4-FFF2-40B4-BE49-F238E27FC236}">
                <a16:creationId xmlns:a16="http://schemas.microsoft.com/office/drawing/2014/main" id="{991B4DAF-949A-54B3-FF8C-2D65B8EB4C26}"/>
              </a:ext>
            </a:extLst>
          </p:cNvPr>
          <p:cNvSpPr txBox="1"/>
          <p:nvPr userDrawn="1"/>
        </p:nvSpPr>
        <p:spPr>
          <a:xfrm>
            <a:off x="0" y="1933"/>
            <a:ext cx="6318014" cy="501925"/>
          </a:xfrm>
          <a:prstGeom prst="rect">
            <a:avLst/>
          </a:prstGeom>
          <a:noFill/>
        </p:spPr>
        <p:txBody>
          <a:bodyPr wrap="square" lIns="360000" tIns="359911" rIns="0" bIns="0" rtlCol="0">
            <a:spAutoFit/>
            <a:scene3d>
              <a:camera prst="orthographicFront"/>
              <a:lightRig rig="threePt" dir="t"/>
            </a:scene3d>
            <a:sp3d>
              <a:bevelT w="1270" h="1270"/>
            </a:sp3d>
          </a:bodyPr>
          <a:lstStyle>
            <a:defPPr>
              <a:defRPr lang="en-US"/>
            </a:defPPr>
            <a:lvl1pPr marR="0" lvl="0" indent="0" defTabSz="801361" fontAlgn="auto">
              <a:lnSpc>
                <a:spcPct val="100000"/>
              </a:lnSpc>
              <a:spcBef>
                <a:spcPts val="0"/>
              </a:spcBef>
              <a:spcAft>
                <a:spcPts val="0"/>
              </a:spcAft>
              <a:buClrTx/>
              <a:buSzTx/>
              <a:buFontTx/>
              <a:buNone/>
              <a:tabLst/>
              <a:defRPr kumimoji="0" sz="900" b="1" i="0" u="none" strike="noStrike" cap="none" spc="0" normalizeH="0" baseline="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lvl="0"/>
            <a:r>
              <a:rPr lang="en-US" altLang="ko-KR" noProof="0" dirty="0"/>
              <a:t>Investment</a:t>
            </a:r>
            <a:r>
              <a:rPr lang="ko-KR" altLang="en-US" noProof="0" dirty="0"/>
              <a:t> </a:t>
            </a:r>
            <a:r>
              <a:rPr lang="en-US" altLang="ko-KR" noProof="0" dirty="0"/>
              <a:t>Highlight  </a:t>
            </a:r>
            <a:endParaRPr lang="ko-KR" altLang="en-US" noProof="0" dirty="0"/>
          </a:p>
        </p:txBody>
      </p: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Rectangle 47">
            <a:extLst>
              <a:ext uri="{FF2B5EF4-FFF2-40B4-BE49-F238E27FC236}">
                <a16:creationId xmlns:a16="http://schemas.microsoft.com/office/drawing/2014/main" id="{F841A884-B80B-C68F-78F9-DAEDD30FAFF1}"/>
              </a:ext>
            </a:extLst>
          </p:cNvPr>
          <p:cNvSpPr>
            <a:spLocks noChangeArrowheads="1"/>
          </p:cNvSpPr>
          <p:nvPr userDrawn="1">
            <p:custDataLst>
              <p:tags r:id="rId1"/>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현대자동차 실물자산 유동화 프로젝트</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설명자료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380884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_흰배경">
    <p:spTree>
      <p:nvGrpSpPr>
        <p:cNvPr id="1" name=""/>
        <p:cNvGrpSpPr/>
        <p:nvPr/>
      </p:nvGrpSpPr>
      <p:grpSpPr>
        <a:xfrm>
          <a:off x="0" y="0"/>
          <a:ext cx="0" cy="0"/>
          <a:chOff x="0" y="0"/>
          <a:chExt cx="0" cy="0"/>
        </a:xfrm>
      </p:grpSpPr>
      <p:pic>
        <p:nvPicPr>
          <p:cNvPr id="8" name="Picture 6" descr="CI기본형"/>
          <p:cNvPicPr>
            <a:picLocks noChangeAspect="1" noChangeArrowheads="1"/>
          </p:cNvPicPr>
          <p:nvPr userDrawn="1"/>
        </p:nvPicPr>
        <p:blipFill>
          <a:blip r:embed="rId3" cstate="print">
            <a:extLst>
              <a:ext uri="{BEBA8EAE-BF5A-486C-A8C5-ECC9F3942E4B}">
                <a14:imgProps xmlns:a14="http://schemas.microsoft.com/office/drawing/2010/main">
                  <a14:imgLayer r:embed="rId4">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
        <p:nvSpPr>
          <p:cNvPr id="46" name="직사각형 45">
            <a:extLst>
              <a:ext uri="{FF2B5EF4-FFF2-40B4-BE49-F238E27FC236}">
                <a16:creationId xmlns:a16="http://schemas.microsoft.com/office/drawing/2014/main" id="{01A3F993-4EC0-3F23-3315-85EC6D737462}"/>
              </a:ext>
            </a:extLst>
          </p:cNvPr>
          <p:cNvSpPr/>
          <p:nvPr userDrawn="1"/>
        </p:nvSpPr>
        <p:spPr>
          <a:xfrm>
            <a:off x="-1" y="0"/>
            <a:ext cx="5345907" cy="7559675"/>
          </a:xfrm>
          <a:prstGeom prst="rect">
            <a:avLst/>
          </a:prstGeom>
          <a:solidFill>
            <a:schemeClr val="bg1">
              <a:lumMod val="9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 name="TextBox 3">
            <a:extLst>
              <a:ext uri="{FF2B5EF4-FFF2-40B4-BE49-F238E27FC236}">
                <a16:creationId xmlns:a16="http://schemas.microsoft.com/office/drawing/2014/main" id="{991B4DAF-949A-54B3-FF8C-2D65B8EB4C26}"/>
              </a:ext>
            </a:extLst>
          </p:cNvPr>
          <p:cNvSpPr txBox="1"/>
          <p:nvPr userDrawn="1"/>
        </p:nvSpPr>
        <p:spPr>
          <a:xfrm>
            <a:off x="0" y="1933"/>
            <a:ext cx="6318014" cy="501925"/>
          </a:xfrm>
          <a:prstGeom prst="rect">
            <a:avLst/>
          </a:prstGeom>
          <a:noFill/>
        </p:spPr>
        <p:txBody>
          <a:bodyPr wrap="square" lIns="360000" tIns="359911" rIns="0" bIns="0" rtlCol="0">
            <a:spAutoFit/>
            <a:scene3d>
              <a:camera prst="orthographicFront"/>
              <a:lightRig rig="threePt" dir="t"/>
            </a:scene3d>
            <a:sp3d>
              <a:bevelT w="1270" h="1270"/>
            </a:sp3d>
          </a:bodyPr>
          <a:lstStyle>
            <a:defPPr>
              <a:defRPr lang="en-US"/>
            </a:defPPr>
            <a:lvl1pPr marR="0" lvl="0" indent="0" defTabSz="801361" fontAlgn="auto">
              <a:lnSpc>
                <a:spcPct val="100000"/>
              </a:lnSpc>
              <a:spcBef>
                <a:spcPts val="0"/>
              </a:spcBef>
              <a:spcAft>
                <a:spcPts val="0"/>
              </a:spcAft>
              <a:buClrTx/>
              <a:buSzTx/>
              <a:buFontTx/>
              <a:buNone/>
              <a:tabLst/>
              <a:defRPr kumimoji="0" sz="900" b="1" i="0" u="none" strike="noStrike" cap="none" spc="0" normalizeH="0" baseline="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lvl="0"/>
            <a:r>
              <a:rPr lang="en-US" altLang="ko-KR" noProof="0" dirty="0"/>
              <a:t>Investment</a:t>
            </a:r>
            <a:r>
              <a:rPr lang="ko-KR" altLang="en-US" noProof="0" dirty="0"/>
              <a:t> </a:t>
            </a:r>
            <a:r>
              <a:rPr lang="en-US" altLang="ko-KR" noProof="0" dirty="0"/>
              <a:t>Highlight  </a:t>
            </a:r>
            <a:endParaRPr lang="ko-KR" altLang="en-US" noProof="0" dirty="0"/>
          </a:p>
        </p:txBody>
      </p: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Rectangle 47">
            <a:extLst>
              <a:ext uri="{FF2B5EF4-FFF2-40B4-BE49-F238E27FC236}">
                <a16:creationId xmlns:a16="http://schemas.microsoft.com/office/drawing/2014/main" id="{F841A884-B80B-C68F-78F9-DAEDD30FAFF1}"/>
              </a:ext>
            </a:extLst>
          </p:cNvPr>
          <p:cNvSpPr>
            <a:spLocks noChangeArrowheads="1"/>
          </p:cNvSpPr>
          <p:nvPr userDrawn="1">
            <p:custDataLst>
              <p:tags r:id="rId1"/>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현대자동차 실물자산 유동화 프로젝트</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설명자료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1071328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 투자계획">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pic>
        <p:nvPicPr>
          <p:cNvPr id="8" name="Picture 6" descr="CI기본형"/>
          <p:cNvPicPr>
            <a:picLocks noChangeAspect="1" noChangeArrowheads="1"/>
          </p:cNvPicPr>
          <p:nvPr userDrawn="1"/>
        </p:nvPicPr>
        <p:blipFill>
          <a:blip r:embed="rId3" cstate="print">
            <a:extLst>
              <a:ext uri="{BEBA8EAE-BF5A-486C-A8C5-ECC9F3942E4B}">
                <a14:imgProps xmlns:a14="http://schemas.microsoft.com/office/drawing/2010/main">
                  <a14:imgLayer r:embed="rId4">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투자계획</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 name="Rectangle 47">
            <a:extLst>
              <a:ext uri="{FF2B5EF4-FFF2-40B4-BE49-F238E27FC236}">
                <a16:creationId xmlns:a16="http://schemas.microsoft.com/office/drawing/2014/main" id="{5D80BF7E-184B-205B-AB45-2A3F502FE30C}"/>
              </a:ext>
            </a:extLst>
          </p:cNvPr>
          <p:cNvSpPr>
            <a:spLocks noChangeArrowheads="1"/>
          </p:cNvSpPr>
          <p:nvPr userDrawn="1">
            <p:custDataLst>
              <p:tags r:id="rId1"/>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현대자동차 실물자산 유동화 프로젝트</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설명자료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1066024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3. 운영 및 Exit Plan">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499FFDB0-81BC-FBAD-E505-4640D647C843}"/>
              </a:ext>
            </a:extLst>
          </p:cNvPr>
          <p:cNvSpPr/>
          <p:nvPr userDrawn="1"/>
        </p:nvSpPr>
        <p:spPr>
          <a:xfrm>
            <a:off x="6708327" y="0"/>
            <a:ext cx="3983486" cy="7559675"/>
          </a:xfrm>
          <a:prstGeom prst="rect">
            <a:avLst/>
          </a:prstGeom>
          <a:solidFill>
            <a:schemeClr val="bg1">
              <a:lumMod val="9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pic>
        <p:nvPicPr>
          <p:cNvPr id="8" name="Picture 6" descr="CI기본형"/>
          <p:cNvPicPr>
            <a:picLocks noChangeAspect="1" noChangeArrowheads="1"/>
          </p:cNvPicPr>
          <p:nvPr userDrawn="1"/>
        </p:nvPicPr>
        <p:blipFill>
          <a:blip r:embed="rId3" cstate="print">
            <a:extLst>
              <a:ext uri="{BEBA8EAE-BF5A-486C-A8C5-ECC9F3942E4B}">
                <a14:imgProps xmlns:a14="http://schemas.microsoft.com/office/drawing/2010/main">
                  <a14:imgLayer r:embed="rId4">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III.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운영계획</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 name="Rectangle 47">
            <a:extLst>
              <a:ext uri="{FF2B5EF4-FFF2-40B4-BE49-F238E27FC236}">
                <a16:creationId xmlns:a16="http://schemas.microsoft.com/office/drawing/2014/main" id="{380462F6-3265-4BF7-1CB9-66B91B21A76A}"/>
              </a:ext>
            </a:extLst>
          </p:cNvPr>
          <p:cNvSpPr>
            <a:spLocks noChangeArrowheads="1"/>
          </p:cNvSpPr>
          <p:nvPr userDrawn="1">
            <p:custDataLst>
              <p:tags r:id="rId1"/>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현대자동차 실물자산 유동화 프로젝트</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설명자료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1685958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3. 운영 및 Exit Plan">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pic>
        <p:nvPicPr>
          <p:cNvPr id="8" name="Picture 6" descr="CI기본형"/>
          <p:cNvPicPr>
            <a:picLocks noChangeAspect="1" noChangeArrowheads="1"/>
          </p:cNvPicPr>
          <p:nvPr userDrawn="1"/>
        </p:nvPicPr>
        <p:blipFill>
          <a:blip r:embed="rId3" cstate="print">
            <a:extLst>
              <a:ext uri="{BEBA8EAE-BF5A-486C-A8C5-ECC9F3942E4B}">
                <a14:imgProps xmlns:a14="http://schemas.microsoft.com/office/drawing/2010/main">
                  <a14:imgLayer r:embed="rId4">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IV.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리스크 요인분석 및 관리방안</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 name="Rectangle 47">
            <a:extLst>
              <a:ext uri="{FF2B5EF4-FFF2-40B4-BE49-F238E27FC236}">
                <a16:creationId xmlns:a16="http://schemas.microsoft.com/office/drawing/2014/main" id="{380462F6-3265-4BF7-1CB9-66B91B21A76A}"/>
              </a:ext>
            </a:extLst>
          </p:cNvPr>
          <p:cNvSpPr>
            <a:spLocks noChangeArrowheads="1"/>
          </p:cNvSpPr>
          <p:nvPr userDrawn="1">
            <p:custDataLst>
              <p:tags r:id="rId1"/>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현대자동차 실물자산 유동화 프로젝트</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설명자료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267570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0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pic>
        <p:nvPicPr>
          <p:cNvPr id="8" name="Picture 6" descr="CI기본형"/>
          <p:cNvPicPr>
            <a:picLocks noChangeAspect="1" noChangeArrowheads="1"/>
          </p:cNvPicPr>
          <p:nvPr userDrawn="1"/>
        </p:nvPicPr>
        <p:blipFill>
          <a:blip r:embed="rId3" cstate="print">
            <a:extLst>
              <a:ext uri="{BEBA8EAE-BF5A-486C-A8C5-ECC9F3942E4B}">
                <a14:imgProps xmlns:a14="http://schemas.microsoft.com/office/drawing/2010/main">
                  <a14:imgLayer r:embed="rId4">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Appendix. </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 name="Rectangle 47">
            <a:extLst>
              <a:ext uri="{FF2B5EF4-FFF2-40B4-BE49-F238E27FC236}">
                <a16:creationId xmlns:a16="http://schemas.microsoft.com/office/drawing/2014/main" id="{CACC35F4-1F8A-8BD8-CEC0-1F0949D393CE}"/>
              </a:ext>
            </a:extLst>
          </p:cNvPr>
          <p:cNvSpPr>
            <a:spLocks noChangeArrowheads="1"/>
          </p:cNvSpPr>
          <p:nvPr userDrawn="1">
            <p:custDataLst>
              <p:tags r:id="rId1"/>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현대자동차 실물자산 유동화 프로젝트</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설명자료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2370660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4_사용자 지정 레이아웃">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33496F34-2D2E-7200-596D-F5A884BEB510}"/>
              </a:ext>
            </a:extLst>
          </p:cNvPr>
          <p:cNvSpPr/>
          <p:nvPr userDrawn="1"/>
        </p:nvSpPr>
        <p:spPr>
          <a:xfrm>
            <a:off x="6388270" y="7142318"/>
            <a:ext cx="4261488" cy="2539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7" name="직선 연결선 6"/>
          <p:cNvCxnSpPr/>
          <p:nvPr userDrawn="1"/>
        </p:nvCxnSpPr>
        <p:spPr>
          <a:xfrm>
            <a:off x="660073" y="7173747"/>
            <a:ext cx="82532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9" name="그룹 8"/>
          <p:cNvGrpSpPr/>
          <p:nvPr userDrawn="1"/>
        </p:nvGrpSpPr>
        <p:grpSpPr>
          <a:xfrm>
            <a:off x="9276077" y="6972575"/>
            <a:ext cx="1110305" cy="316737"/>
            <a:chOff x="10506075" y="5289550"/>
            <a:chExt cx="1028701" cy="287338"/>
          </a:xfrm>
          <a:solidFill>
            <a:schemeClr val="bg1">
              <a:lumMod val="75000"/>
            </a:schemeClr>
          </a:solidFill>
        </p:grpSpPr>
        <p:sp>
          <p:nvSpPr>
            <p:cNvPr id="10" name="Freeform 5"/>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1" name="Freeform 6"/>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2" name="Freeform 7"/>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3" name="Rectangle 8"/>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4" name="Rectangle 9"/>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5" name="Freeform 10"/>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6" name="Rectangle 11"/>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7" name="Freeform 12"/>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8" name="Freeform 13"/>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9" name="Freeform 14"/>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0" name="Freeform 15"/>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1" name="Freeform 16"/>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2" name="Freeform 17"/>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3" name="Freeform 18"/>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4" name="Freeform 19"/>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5" name="Freeform 20"/>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6" name="Freeform 21"/>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7" name="Freeform 22"/>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8" name="Rectangle 23"/>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9" name="Freeform 24"/>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0" name="Freeform 25"/>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1" name="Freeform 26"/>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2" name="Freeform 27"/>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3" name="Freeform 28"/>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4" name="Freeform 29"/>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5" name="Freeform 30"/>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6" name="Freeform 31"/>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7" name="Freeform 32"/>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8" name="Freeform 33"/>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9" name="Freeform 34"/>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0" name="Freeform 35"/>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grpSp>
        <p:nvGrpSpPr>
          <p:cNvPr id="43" name="그룹 42"/>
          <p:cNvGrpSpPr/>
          <p:nvPr userDrawn="1"/>
        </p:nvGrpSpPr>
        <p:grpSpPr>
          <a:xfrm>
            <a:off x="9276077" y="6972575"/>
            <a:ext cx="1110305" cy="316737"/>
            <a:chOff x="10506075" y="5289550"/>
            <a:chExt cx="1028701" cy="287338"/>
          </a:xfrm>
          <a:solidFill>
            <a:schemeClr val="bg1">
              <a:lumMod val="75000"/>
            </a:schemeClr>
          </a:solidFill>
        </p:grpSpPr>
        <p:sp>
          <p:nvSpPr>
            <p:cNvPr id="44" name="Freeform 5"/>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5" name="Freeform 6"/>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6" name="Freeform 7"/>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7" name="Rectangle 8"/>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8" name="Rectangle 9"/>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9" name="Freeform 10"/>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0" name="Rectangle 11"/>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1" name="Freeform 12"/>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2" name="Freeform 13"/>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3" name="Freeform 14"/>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4" name="Freeform 15"/>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5" name="Freeform 16"/>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6" name="Freeform 17"/>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7" name="Freeform 18"/>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8" name="Freeform 19"/>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9" name="Freeform 20"/>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0" name="Freeform 21"/>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1" name="Freeform 22"/>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2" name="Rectangle 23"/>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3" name="Freeform 24"/>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4" name="Freeform 25"/>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5" name="Freeform 26"/>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6" name="Freeform 27"/>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7" name="Freeform 28"/>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8" name="Freeform 29"/>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9" name="Freeform 30"/>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0" name="Freeform 31"/>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1" name="Freeform 32"/>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2" name="Freeform 33"/>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3" name="Freeform 34"/>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4" name="Freeform 35"/>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cxnSp>
        <p:nvCxnSpPr>
          <p:cNvPr id="80" name="직선 연결선 79"/>
          <p:cNvCxnSpPr/>
          <p:nvPr userDrawn="1"/>
        </p:nvCxnSpPr>
        <p:spPr>
          <a:xfrm>
            <a:off x="462200" y="7173747"/>
            <a:ext cx="850333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그림 4">
            <a:extLst>
              <a:ext uri="{FF2B5EF4-FFF2-40B4-BE49-F238E27FC236}">
                <a16:creationId xmlns:a16="http://schemas.microsoft.com/office/drawing/2014/main" id="{FF3DAC25-3C73-5200-93E9-4A840B104936}"/>
              </a:ext>
            </a:extLst>
          </p:cNvPr>
          <p:cNvPicPr>
            <a:picLocks noChangeAspect="1"/>
          </p:cNvPicPr>
          <p:nvPr userDrawn="1"/>
        </p:nvPicPr>
        <p:blipFill rotWithShape="1">
          <a:blip r:embed="rId2"/>
          <a:srcRect l="18544" b="4354"/>
          <a:stretch/>
        </p:blipFill>
        <p:spPr>
          <a:xfrm>
            <a:off x="7788" y="4094632"/>
            <a:ext cx="4372862" cy="3465043"/>
          </a:xfrm>
          <a:prstGeom prst="rect">
            <a:avLst/>
          </a:prstGeom>
        </p:spPr>
      </p:pic>
    </p:spTree>
    <p:extLst>
      <p:ext uri="{BB962C8B-B14F-4D97-AF65-F5344CB8AC3E}">
        <p14:creationId xmlns:p14="http://schemas.microsoft.com/office/powerpoint/2010/main" val="2101273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6588">
          <p15:clr>
            <a:srgbClr val="FBAE40"/>
          </p15:clr>
        </p15:guide>
        <p15:guide id="3" pos="5648">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7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프로젝트 추진 배경</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0AD58965-4F98-1A73-F8FC-D5222B706044}"/>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4075392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9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개요</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197B6F54-0315-951A-50F1-10ED03E2F565}"/>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674942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8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개요</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772160A2-C39D-56FE-7995-5A43B4A63388}"/>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3439009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Investment Highlights</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F4318152-D1D7-599B-1278-DD568174EB87}"/>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874294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 투자개요">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사업개요</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37432D96-AC78-AE08-F52D-853EBD0B4220}"/>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076458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2. 투자계획">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II.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추진 일정</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8A6B8528-268D-FF81-075B-13B4540033AF}"/>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2997365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3. 운영 및 Exit Plan">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III.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운영계획</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F53F51F5-2033-9B4E-E332-7A24DA56B9F9}"/>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3743995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 리스크 요인분석 및 관리방안">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Ⅳ. </a:t>
            </a:r>
            <a:r>
              <a:rPr lang="ko-KR" altLang="en-US"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리스크 요인분석 및 관리방안</a:t>
            </a:r>
            <a:endPar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pic>
        <p:nvPicPr>
          <p:cNvPr id="3" name="Picture 6" descr="CI기본형">
            <a:extLst>
              <a:ext uri="{FF2B5EF4-FFF2-40B4-BE49-F238E27FC236}">
                <a16:creationId xmlns:a16="http://schemas.microsoft.com/office/drawing/2014/main" id="{F6B38A0F-6595-3B67-99AA-2059109C8AE8}"/>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420400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4. 리스크 요인분석 및 관리방안">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Ⅳ</a:t>
            </a:r>
            <a:r>
              <a:rPr lang="en-US" altLang="ko-KR" sz="1886" b="1" kern="120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향후조치 예정사항</a:t>
            </a:r>
            <a:endPar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pic>
        <p:nvPicPr>
          <p:cNvPr id="3" name="Picture 6" descr="CI기본형">
            <a:extLst>
              <a:ext uri="{FF2B5EF4-FFF2-40B4-BE49-F238E27FC236}">
                <a16:creationId xmlns:a16="http://schemas.microsoft.com/office/drawing/2014/main" id="{518CF041-E7A6-8CE4-32F4-38B139474785}"/>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568676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0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Appendix. </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A66CB652-AC17-B956-4B4C-F16F1A40A3B5}"/>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791787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1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Appendix. </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F018D775-8D4D-2DC9-D188-3F967A8C02F0}"/>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41015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 Id="rId9" Type="http://schemas.openxmlformats.org/officeDocument/2006/relationships/slideLayout" Target="../slideLayouts/slideLayout24.xml"/><Relationship Id="rId10" Type="http://schemas.openxmlformats.org/officeDocument/2006/relationships/slideLayout" Target="../slideLayouts/slideLayout25.xml"/><Relationship Id="rId11" Type="http://schemas.openxmlformats.org/officeDocument/2006/relationships/slideLayout" Target="../slideLayouts/slideLayout26.xml"/><Relationship Id="rId12" Type="http://schemas.openxmlformats.org/officeDocument/2006/relationships/slideLayout" Target="../slideLayouts/slideLayout27.xml"/><Relationship Id="rId13" Type="http://schemas.openxmlformats.org/officeDocument/2006/relationships/theme" Target="../theme/theme2.xml"/><Relationship Id="rId14" Type="http://schemas.openxmlformats.org/officeDocument/2006/relationships/tags" Target="../tags/tag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35062" y="402484"/>
            <a:ext cx="9221689" cy="1461188"/>
          </a:xfrm>
          <a:prstGeom prst="rect">
            <a:avLst/>
          </a:prstGeom>
        </p:spPr>
        <p:txBody>
          <a:bodyPr vert="horz" lIns="91440" tIns="45720" rIns="91440" bIns="45720" rtlCol="0" anchor="ctr">
            <a:normAutofit/>
          </a:bodyPr>
          <a:lstStyle/>
          <a:p>
            <a:r>
              <a:rPr lang="ko-KR" altLang="en-US" dirty="0"/>
              <a:t>마스터 제목 스타일 편집</a:t>
            </a:r>
            <a:endParaRPr lang="en-US" dirty="0"/>
          </a:p>
        </p:txBody>
      </p:sp>
      <p:sp>
        <p:nvSpPr>
          <p:cNvPr id="3" name="Text Placeholder 2"/>
          <p:cNvSpPr>
            <a:spLocks noGrp="1"/>
          </p:cNvSpPr>
          <p:nvPr>
            <p:ph type="body" idx="1"/>
          </p:nvPr>
        </p:nvSpPr>
        <p:spPr>
          <a:xfrm>
            <a:off x="735062" y="2012414"/>
            <a:ext cx="9221689" cy="4796544"/>
          </a:xfrm>
          <a:prstGeom prst="rect">
            <a:avLst/>
          </a:prstGeom>
        </p:spPr>
        <p:txBody>
          <a:bodyPr vert="horz" lIns="91440" tIns="45720" rIns="91440" bIns="45720" rtlCol="0">
            <a:normAutofit/>
          </a:bodyPr>
          <a:lstStyle/>
          <a:p>
            <a:pPr lvl="0"/>
            <a:r>
              <a:rPr lang="ko-KR" altLang="en-US" dirty="0"/>
              <a:t>마스터 텍스트 스타일 편집</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endParaRPr lang="en-US" dirty="0"/>
          </a:p>
        </p:txBody>
      </p:sp>
      <p:sp>
        <p:nvSpPr>
          <p:cNvPr id="4" name="Date Placeholder 3"/>
          <p:cNvSpPr>
            <a:spLocks noGrp="1"/>
          </p:cNvSpPr>
          <p:nvPr>
            <p:ph type="dt" sz="half" idx="2"/>
          </p:nvPr>
        </p:nvSpPr>
        <p:spPr>
          <a:xfrm>
            <a:off x="735062" y="7006700"/>
            <a:ext cx="2405658" cy="402483"/>
          </a:xfrm>
          <a:prstGeom prst="rect">
            <a:avLst/>
          </a:prstGeom>
        </p:spPr>
        <p:txBody>
          <a:bodyPr vert="horz" lIns="91440" tIns="45720" rIns="91440" bIns="45720" rtlCol="0" anchor="ctr"/>
          <a:lstStyle>
            <a:lvl1pPr algn="l">
              <a:defRPr sz="1323">
                <a:solidFill>
                  <a:schemeClr val="tx1">
                    <a:tint val="75000"/>
                  </a:schemeClr>
                </a:solidFill>
              </a:defRPr>
            </a:lvl1pPr>
          </a:lstStyle>
          <a:p>
            <a:fld id="{C764DE79-268F-4C1A-8933-263129D2AF90}" type="datetimeFigureOut">
              <a:rPr lang="en-US" smtClean="0"/>
              <a:t>9/30/2026</a:t>
            </a:fld>
            <a:endParaRPr lang="en-US" dirty="0"/>
          </a:p>
        </p:txBody>
      </p:sp>
      <p:sp>
        <p:nvSpPr>
          <p:cNvPr id="5" name="Footer Placeholder 4"/>
          <p:cNvSpPr>
            <a:spLocks noGrp="1"/>
          </p:cNvSpPr>
          <p:nvPr>
            <p:ph type="ftr" sz="quarter" idx="3"/>
          </p:nvPr>
        </p:nvSpPr>
        <p:spPr>
          <a:xfrm>
            <a:off x="3541663" y="7006700"/>
            <a:ext cx="3608487" cy="402483"/>
          </a:xfrm>
          <a:prstGeom prst="rect">
            <a:avLst/>
          </a:prstGeom>
        </p:spPr>
        <p:txBody>
          <a:bodyPr vert="horz" lIns="91440" tIns="45720" rIns="91440" bIns="45720" rtlCol="0" anchor="ctr"/>
          <a:lstStyle>
            <a:lvl1pPr algn="ctr">
              <a:defRPr sz="1323">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7551093" y="7006700"/>
            <a:ext cx="2405658" cy="402483"/>
          </a:xfrm>
          <a:prstGeom prst="rect">
            <a:avLst/>
          </a:prstGeom>
        </p:spPr>
        <p:txBody>
          <a:bodyPr vert="horz" lIns="91440" tIns="45720" rIns="91440" bIns="45720" rtlCol="0" anchor="ctr"/>
          <a:lstStyle>
            <a:lvl1pPr algn="r">
              <a:defRPr sz="1323">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3757217390"/>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4" r:id="rId3"/>
    <p:sldLayoutId id="2147483756" r:id="rId4"/>
    <p:sldLayoutId id="2147483730" r:id="rId5"/>
    <p:sldLayoutId id="2147483754" r:id="rId6"/>
    <p:sldLayoutId id="2147483731" r:id="rId7"/>
    <p:sldLayoutId id="2147483728" r:id="rId8"/>
    <p:sldLayoutId id="2147483784" r:id="rId9"/>
    <p:sldLayoutId id="2147483785" r:id="rId10"/>
    <p:sldLayoutId id="2147483757" r:id="rId11"/>
    <p:sldLayoutId id="2147483752" r:id="rId12"/>
    <p:sldLayoutId id="2147483755" r:id="rId13"/>
    <p:sldLayoutId id="2147483786" r:id="rId14"/>
    <p:sldLayoutId id="2147483750"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007943" rtl="0" eaLnBrk="1" latinLnBrk="1" hangingPunct="1">
        <a:lnSpc>
          <a:spcPct val="90000"/>
        </a:lnSpc>
        <a:spcBef>
          <a:spcPct val="0"/>
        </a:spcBef>
        <a:buNone/>
        <a:defRPr sz="4850" kern="1200">
          <a:solidFill>
            <a:schemeClr val="tx1"/>
          </a:solidFill>
          <a:latin typeface="+mj-lt"/>
          <a:ea typeface="KoPubWorld돋움체 Bold" panose="00000800000000000000" pitchFamily="2" charset="-127"/>
          <a:cs typeface="+mj-cs"/>
        </a:defRPr>
      </a:lvl1pPr>
    </p:titleStyle>
    <p:bodyStyle>
      <a:lvl1pPr marL="251986" indent="-251986" algn="l" defTabSz="1007943" rtl="0" eaLnBrk="1" latinLnBrk="1" hangingPunct="1">
        <a:lnSpc>
          <a:spcPct val="90000"/>
        </a:lnSpc>
        <a:spcBef>
          <a:spcPts val="1102"/>
        </a:spcBef>
        <a:buFont typeface="Arial" panose="020B0604020202020204" pitchFamily="34" charset="0"/>
        <a:buChar char="•"/>
        <a:defRPr sz="3086" kern="1200">
          <a:solidFill>
            <a:schemeClr val="tx1"/>
          </a:solidFill>
          <a:latin typeface="+mn-lt"/>
          <a:ea typeface="KoPubWorld돋움체 Bold" panose="00000800000000000000" pitchFamily="2" charset="-127"/>
          <a:cs typeface="+mn-cs"/>
        </a:defRPr>
      </a:lvl1pPr>
      <a:lvl2pPr marL="755957" indent="-251986" algn="l" defTabSz="1007943" rtl="0" eaLnBrk="1" latinLnBrk="1" hangingPunct="1">
        <a:lnSpc>
          <a:spcPct val="90000"/>
        </a:lnSpc>
        <a:spcBef>
          <a:spcPts val="551"/>
        </a:spcBef>
        <a:buFont typeface="Arial" panose="020B0604020202020204" pitchFamily="34" charset="0"/>
        <a:buChar char="•"/>
        <a:defRPr sz="2646" kern="1200">
          <a:solidFill>
            <a:schemeClr val="tx1"/>
          </a:solidFill>
          <a:latin typeface="+mn-lt"/>
          <a:ea typeface="KoPubWorld돋움체 Bold" panose="00000800000000000000" pitchFamily="2" charset="-127"/>
          <a:cs typeface="+mn-cs"/>
        </a:defRPr>
      </a:lvl2pPr>
      <a:lvl3pPr marL="1259929" indent="-251986" algn="l" defTabSz="1007943" rtl="0" eaLnBrk="1" latinLnBrk="1" hangingPunct="1">
        <a:lnSpc>
          <a:spcPct val="90000"/>
        </a:lnSpc>
        <a:spcBef>
          <a:spcPts val="551"/>
        </a:spcBef>
        <a:buFont typeface="Arial" panose="020B0604020202020204" pitchFamily="34" charset="0"/>
        <a:buChar char="•"/>
        <a:defRPr sz="2205" kern="1200">
          <a:solidFill>
            <a:schemeClr val="tx1"/>
          </a:solidFill>
          <a:latin typeface="+mn-lt"/>
          <a:ea typeface="KoPubWorld돋움체 Bold" panose="00000800000000000000" pitchFamily="2" charset="-127"/>
          <a:cs typeface="+mn-cs"/>
        </a:defRPr>
      </a:lvl3pPr>
      <a:lvl4pPr marL="1763900"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4pPr>
      <a:lvl5pPr marL="2267872"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5pPr>
      <a:lvl6pPr marL="2771844"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1" hangingPunct="1">
        <a:defRPr sz="1984" kern="1200">
          <a:solidFill>
            <a:schemeClr val="tx1"/>
          </a:solidFill>
          <a:latin typeface="+mn-lt"/>
          <a:ea typeface="+mn-ea"/>
          <a:cs typeface="+mn-cs"/>
        </a:defRPr>
      </a:lvl1pPr>
      <a:lvl2pPr marL="503972" algn="l" defTabSz="1007943" rtl="0" eaLnBrk="1" latinLnBrk="1" hangingPunct="1">
        <a:defRPr sz="1984" kern="1200">
          <a:solidFill>
            <a:schemeClr val="tx1"/>
          </a:solidFill>
          <a:latin typeface="+mn-lt"/>
          <a:ea typeface="+mn-ea"/>
          <a:cs typeface="+mn-cs"/>
        </a:defRPr>
      </a:lvl2pPr>
      <a:lvl3pPr marL="1007943" algn="l" defTabSz="1007943" rtl="0" eaLnBrk="1" latinLnBrk="1" hangingPunct="1">
        <a:defRPr sz="1984" kern="1200">
          <a:solidFill>
            <a:schemeClr val="tx1"/>
          </a:solidFill>
          <a:latin typeface="+mn-lt"/>
          <a:ea typeface="+mn-ea"/>
          <a:cs typeface="+mn-cs"/>
        </a:defRPr>
      </a:lvl3pPr>
      <a:lvl4pPr marL="1511915" algn="l" defTabSz="1007943" rtl="0" eaLnBrk="1" latinLnBrk="1" hangingPunct="1">
        <a:defRPr sz="1984" kern="1200">
          <a:solidFill>
            <a:schemeClr val="tx1"/>
          </a:solidFill>
          <a:latin typeface="+mn-lt"/>
          <a:ea typeface="+mn-ea"/>
          <a:cs typeface="+mn-cs"/>
        </a:defRPr>
      </a:lvl4pPr>
      <a:lvl5pPr marL="2015886" algn="l" defTabSz="1007943" rtl="0" eaLnBrk="1" latinLnBrk="1" hangingPunct="1">
        <a:defRPr sz="1984" kern="1200">
          <a:solidFill>
            <a:schemeClr val="tx1"/>
          </a:solidFill>
          <a:latin typeface="+mn-lt"/>
          <a:ea typeface="+mn-ea"/>
          <a:cs typeface="+mn-cs"/>
        </a:defRPr>
      </a:lvl5pPr>
      <a:lvl6pPr marL="2519858" algn="l" defTabSz="1007943" rtl="0" eaLnBrk="1" latinLnBrk="1" hangingPunct="1">
        <a:defRPr sz="1984" kern="1200">
          <a:solidFill>
            <a:schemeClr val="tx1"/>
          </a:solidFill>
          <a:latin typeface="+mn-lt"/>
          <a:ea typeface="+mn-ea"/>
          <a:cs typeface="+mn-cs"/>
        </a:defRPr>
      </a:lvl6pPr>
      <a:lvl7pPr marL="3023829" algn="l" defTabSz="1007943" rtl="0" eaLnBrk="1" latinLnBrk="1" hangingPunct="1">
        <a:defRPr sz="1984" kern="1200">
          <a:solidFill>
            <a:schemeClr val="tx1"/>
          </a:solidFill>
          <a:latin typeface="+mn-lt"/>
          <a:ea typeface="+mn-ea"/>
          <a:cs typeface="+mn-cs"/>
        </a:defRPr>
      </a:lvl7pPr>
      <a:lvl8pPr marL="3527801" algn="l" defTabSz="1007943" rtl="0" eaLnBrk="1" latinLnBrk="1" hangingPunct="1">
        <a:defRPr sz="1984" kern="1200">
          <a:solidFill>
            <a:schemeClr val="tx1"/>
          </a:solidFill>
          <a:latin typeface="+mn-lt"/>
          <a:ea typeface="+mn-ea"/>
          <a:cs typeface="+mn-cs"/>
        </a:defRPr>
      </a:lvl8pPr>
      <a:lvl9pPr marL="4031772" algn="l" defTabSz="1007943" rtl="0" eaLnBrk="1" latinLnBrk="1" hangingPunct="1">
        <a:defRPr sz="1984"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70" userDrawn="1">
          <p15:clr>
            <a:srgbClr val="F26B43"/>
          </p15:clr>
        </p15:guide>
        <p15:guide id="2" pos="6565" userDrawn="1">
          <p15:clr>
            <a:srgbClr val="F26B43"/>
          </p15:clr>
        </p15:guide>
        <p15:guide id="3" pos="3368" userDrawn="1">
          <p15:clr>
            <a:srgbClr val="F26B43"/>
          </p15:clr>
        </p15:guide>
        <p15:guide id="4" orient="horz" pos="4513" userDrawn="1">
          <p15:clr>
            <a:srgbClr val="F26B43"/>
          </p15:clr>
        </p15:guide>
        <p15:guide id="5" orient="horz" pos="181" userDrawn="1">
          <p15:clr>
            <a:srgbClr val="F26B43"/>
          </p15:clr>
        </p15:guide>
        <p15:guide id="6" orient="horz" pos="1247" userDrawn="1">
          <p15:clr>
            <a:srgbClr val="F26B43"/>
          </p15:clr>
        </p15:guide>
        <p15:guide id="7" orient="horz" pos="4286" userDrawn="1">
          <p15:clr>
            <a:srgbClr val="F26B43"/>
          </p15:clr>
        </p15:guide>
        <p15:guide id="8" orient="horz" pos="117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47">
            <a:extLst>
              <a:ext uri="{FF2B5EF4-FFF2-40B4-BE49-F238E27FC236}">
                <a16:creationId xmlns:a16="http://schemas.microsoft.com/office/drawing/2014/main" id="{330C79B4-2F4A-FF14-8AC4-9B44C2C04EE9}"/>
              </a:ext>
            </a:extLst>
          </p:cNvPr>
          <p:cNvSpPr>
            <a:spLocks noChangeArrowheads="1"/>
          </p:cNvSpPr>
          <p:nvPr userDrawn="1">
            <p:custDataLst>
              <p:tags r:id="rId14"/>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안양물류센터 매입 프로젝트</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예비투자심의위원회 설명자료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3742733012"/>
      </p:ext>
    </p:extLst>
  </p:cSld>
  <p:clrMap bg1="lt1" tx1="dk1" bg2="lt2" tx2="dk2" accent1="accent1" accent2="accent2" accent3="accent3" accent4="accent4" accent5="accent5" accent6="accent6" hlink="hlink" folHlink="folHlink"/>
  <p:sldLayoutIdLst>
    <p:sldLayoutId id="2147483788" r:id="rId1"/>
    <p:sldLayoutId id="2147483789" r:id="rId2"/>
    <p:sldLayoutId id="2147483790" r:id="rId3"/>
    <p:sldLayoutId id="2147483791" r:id="rId4"/>
    <p:sldLayoutId id="2147483792" r:id="rId5"/>
    <p:sldLayoutId id="2147483793" r:id="rId6"/>
    <p:sldLayoutId id="2147483794" r:id="rId7"/>
    <p:sldLayoutId id="2147483795" r:id="rId8"/>
    <p:sldLayoutId id="2147483796" r:id="rId9"/>
    <p:sldLayoutId id="2147483797" r:id="rId10"/>
    <p:sldLayoutId id="2147483798" r:id="rId11"/>
    <p:sldLayoutId id="214748379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007943" rtl="0" eaLnBrk="1" latinLnBrk="1" hangingPunct="1">
        <a:lnSpc>
          <a:spcPct val="90000"/>
        </a:lnSpc>
        <a:spcBef>
          <a:spcPct val="0"/>
        </a:spcBef>
        <a:buNone/>
        <a:defRPr sz="4850" kern="1200">
          <a:solidFill>
            <a:schemeClr val="tx1"/>
          </a:solidFill>
          <a:latin typeface="+mj-lt"/>
          <a:ea typeface="KoPubWorld돋움체 Bold" panose="00000800000000000000" pitchFamily="2" charset="-127"/>
          <a:cs typeface="+mj-cs"/>
        </a:defRPr>
      </a:lvl1pPr>
    </p:titleStyle>
    <p:bodyStyle>
      <a:lvl1pPr marL="251986" indent="-251986" algn="l" defTabSz="1007943" rtl="0" eaLnBrk="1" latinLnBrk="1" hangingPunct="1">
        <a:lnSpc>
          <a:spcPct val="90000"/>
        </a:lnSpc>
        <a:spcBef>
          <a:spcPts val="1102"/>
        </a:spcBef>
        <a:buFont typeface="Arial" panose="020B0604020202020204" pitchFamily="34" charset="0"/>
        <a:buChar char="•"/>
        <a:defRPr sz="3086" kern="1200">
          <a:solidFill>
            <a:schemeClr val="tx1"/>
          </a:solidFill>
          <a:latin typeface="+mn-lt"/>
          <a:ea typeface="KoPubWorld돋움체 Bold" panose="00000800000000000000" pitchFamily="2" charset="-127"/>
          <a:cs typeface="+mn-cs"/>
        </a:defRPr>
      </a:lvl1pPr>
      <a:lvl2pPr marL="755957" indent="-251986" algn="l" defTabSz="1007943" rtl="0" eaLnBrk="1" latinLnBrk="1" hangingPunct="1">
        <a:lnSpc>
          <a:spcPct val="90000"/>
        </a:lnSpc>
        <a:spcBef>
          <a:spcPts val="551"/>
        </a:spcBef>
        <a:buFont typeface="Arial" panose="020B0604020202020204" pitchFamily="34" charset="0"/>
        <a:buChar char="•"/>
        <a:defRPr sz="2646" kern="1200">
          <a:solidFill>
            <a:schemeClr val="tx1"/>
          </a:solidFill>
          <a:latin typeface="+mn-lt"/>
          <a:ea typeface="KoPubWorld돋움체 Bold" panose="00000800000000000000" pitchFamily="2" charset="-127"/>
          <a:cs typeface="+mn-cs"/>
        </a:defRPr>
      </a:lvl2pPr>
      <a:lvl3pPr marL="1259929" indent="-251986" algn="l" defTabSz="1007943" rtl="0" eaLnBrk="1" latinLnBrk="1" hangingPunct="1">
        <a:lnSpc>
          <a:spcPct val="90000"/>
        </a:lnSpc>
        <a:spcBef>
          <a:spcPts val="551"/>
        </a:spcBef>
        <a:buFont typeface="Arial" panose="020B0604020202020204" pitchFamily="34" charset="0"/>
        <a:buChar char="•"/>
        <a:defRPr sz="2205" kern="1200">
          <a:solidFill>
            <a:schemeClr val="tx1"/>
          </a:solidFill>
          <a:latin typeface="+mn-lt"/>
          <a:ea typeface="KoPubWorld돋움체 Bold" panose="00000800000000000000" pitchFamily="2" charset="-127"/>
          <a:cs typeface="+mn-cs"/>
        </a:defRPr>
      </a:lvl3pPr>
      <a:lvl4pPr marL="1763900"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4pPr>
      <a:lvl5pPr marL="2267872"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5pPr>
      <a:lvl6pPr marL="2771844"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1" hangingPunct="1">
        <a:defRPr sz="1984" kern="1200">
          <a:solidFill>
            <a:schemeClr val="tx1"/>
          </a:solidFill>
          <a:latin typeface="+mn-lt"/>
          <a:ea typeface="+mn-ea"/>
          <a:cs typeface="+mn-cs"/>
        </a:defRPr>
      </a:lvl1pPr>
      <a:lvl2pPr marL="503972" algn="l" defTabSz="1007943" rtl="0" eaLnBrk="1" latinLnBrk="1" hangingPunct="1">
        <a:defRPr sz="1984" kern="1200">
          <a:solidFill>
            <a:schemeClr val="tx1"/>
          </a:solidFill>
          <a:latin typeface="+mn-lt"/>
          <a:ea typeface="+mn-ea"/>
          <a:cs typeface="+mn-cs"/>
        </a:defRPr>
      </a:lvl2pPr>
      <a:lvl3pPr marL="1007943" algn="l" defTabSz="1007943" rtl="0" eaLnBrk="1" latinLnBrk="1" hangingPunct="1">
        <a:defRPr sz="1984" kern="1200">
          <a:solidFill>
            <a:schemeClr val="tx1"/>
          </a:solidFill>
          <a:latin typeface="+mn-lt"/>
          <a:ea typeface="+mn-ea"/>
          <a:cs typeface="+mn-cs"/>
        </a:defRPr>
      </a:lvl3pPr>
      <a:lvl4pPr marL="1511915" algn="l" defTabSz="1007943" rtl="0" eaLnBrk="1" latinLnBrk="1" hangingPunct="1">
        <a:defRPr sz="1984" kern="1200">
          <a:solidFill>
            <a:schemeClr val="tx1"/>
          </a:solidFill>
          <a:latin typeface="+mn-lt"/>
          <a:ea typeface="+mn-ea"/>
          <a:cs typeface="+mn-cs"/>
        </a:defRPr>
      </a:lvl4pPr>
      <a:lvl5pPr marL="2015886" algn="l" defTabSz="1007943" rtl="0" eaLnBrk="1" latinLnBrk="1" hangingPunct="1">
        <a:defRPr sz="1984" kern="1200">
          <a:solidFill>
            <a:schemeClr val="tx1"/>
          </a:solidFill>
          <a:latin typeface="+mn-lt"/>
          <a:ea typeface="+mn-ea"/>
          <a:cs typeface="+mn-cs"/>
        </a:defRPr>
      </a:lvl5pPr>
      <a:lvl6pPr marL="2519858" algn="l" defTabSz="1007943" rtl="0" eaLnBrk="1" latinLnBrk="1" hangingPunct="1">
        <a:defRPr sz="1984" kern="1200">
          <a:solidFill>
            <a:schemeClr val="tx1"/>
          </a:solidFill>
          <a:latin typeface="+mn-lt"/>
          <a:ea typeface="+mn-ea"/>
          <a:cs typeface="+mn-cs"/>
        </a:defRPr>
      </a:lvl6pPr>
      <a:lvl7pPr marL="3023829" algn="l" defTabSz="1007943" rtl="0" eaLnBrk="1" latinLnBrk="1" hangingPunct="1">
        <a:defRPr sz="1984" kern="1200">
          <a:solidFill>
            <a:schemeClr val="tx1"/>
          </a:solidFill>
          <a:latin typeface="+mn-lt"/>
          <a:ea typeface="+mn-ea"/>
          <a:cs typeface="+mn-cs"/>
        </a:defRPr>
      </a:lvl7pPr>
      <a:lvl8pPr marL="3527801" algn="l" defTabSz="1007943" rtl="0" eaLnBrk="1" latinLnBrk="1" hangingPunct="1">
        <a:defRPr sz="1984" kern="1200">
          <a:solidFill>
            <a:schemeClr val="tx1"/>
          </a:solidFill>
          <a:latin typeface="+mn-lt"/>
          <a:ea typeface="+mn-ea"/>
          <a:cs typeface="+mn-cs"/>
        </a:defRPr>
      </a:lvl8pPr>
      <a:lvl9pPr marL="4031772" algn="l" defTabSz="1007943" rtl="0" eaLnBrk="1" latinLnBrk="1" hangingPunct="1">
        <a:defRPr sz="1984"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70">
          <p15:clr>
            <a:srgbClr val="F26B43"/>
          </p15:clr>
        </p15:guide>
        <p15:guide id="2" pos="6565">
          <p15:clr>
            <a:srgbClr val="F26B43"/>
          </p15:clr>
        </p15:guide>
        <p15:guide id="3" pos="3368">
          <p15:clr>
            <a:srgbClr val="F26B43"/>
          </p15:clr>
        </p15:guide>
        <p15:guide id="4" orient="horz" pos="4513">
          <p15:clr>
            <a:srgbClr val="F26B43"/>
          </p15:clr>
        </p15:guide>
        <p15:guide id="5" orient="horz" pos="181">
          <p15:clr>
            <a:srgbClr val="F26B43"/>
          </p15:clr>
        </p15:guide>
        <p15:guide id="6" orient="horz" pos="1247">
          <p15:clr>
            <a:srgbClr val="F26B43"/>
          </p15:clr>
        </p15:guide>
        <p15:guide id="7" orient="horz" pos="4286">
          <p15:clr>
            <a:srgbClr val="F26B43"/>
          </p15:clr>
        </p15:guide>
        <p15:guide id="8" orient="horz" pos="1179">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xml"/><Relationship Id="rId3" Type="http://schemas.openxmlformats.org/officeDocument/2006/relationships/image" Target="../media/image6.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microsoft.com/office/2007/relationships/hdphoto" Target="../media/hdphoto3.wdp"/><Relationship Id="rId4" Type="http://schemas.openxmlformats.org/officeDocument/2006/relationships/image" Target="../media/image9.png"/><Relationship Id="rId5" Type="http://schemas.openxmlformats.org/officeDocument/2006/relationships/chart" Target="../charts/char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0.jpe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3.xml"/><Relationship Id="rId3" Type="http://schemas.openxmlformats.org/officeDocument/2006/relationships/chart" Target="../charts/char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6.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5.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image" Target="../media/image22.png"/><Relationship Id="rId9" Type="http://schemas.openxmlformats.org/officeDocument/2006/relationships/image" Target="../media/image23.png"/><Relationship Id="rId10" Type="http://schemas.openxmlformats.org/officeDocument/2006/relationships/chart" Target="../charts/char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6A445-4997-AD4B-4F0E-F83AB8C07931}"/>
            </a:ext>
          </a:extLst>
        </p:cNvPr>
        <p:cNvGrpSpPr/>
        <p:nvPr/>
      </p:nvGrpSpPr>
      <p:grpSpPr>
        <a:xfrm>
          <a:off x="0" y="0"/>
          <a:ext cx="0" cy="0"/>
          <a:chOff x="0" y="0"/>
          <a:chExt cx="0" cy="0"/>
        </a:xfrm>
      </p:grpSpPr>
      <p:pic>
        <p:nvPicPr>
          <p:cNvPr id="3" name="그림 2">
            <a:extLst>
              <a:ext uri="{FF2B5EF4-FFF2-40B4-BE49-F238E27FC236}">
                <a16:creationId xmlns:a16="http://schemas.microsoft.com/office/drawing/2014/main" id="{E5BD4069-A1DC-5AA7-C341-322B7CE02DB0}"/>
              </a:ext>
            </a:extLst>
          </p:cNvPr>
          <p:cNvPicPr>
            <a:picLocks noChangeAspect="1"/>
          </p:cNvPicPr>
          <p:nvPr/>
        </p:nvPicPr>
        <p:blipFill>
          <a:blip r:embed="rId3"/>
          <a:stretch>
            <a:fillRect/>
          </a:stretch>
        </p:blipFill>
        <p:spPr>
          <a:xfrm>
            <a:off x="9068692" y="957901"/>
            <a:ext cx="1133106" cy="329076"/>
          </a:xfrm>
          <a:prstGeom prst="rect">
            <a:avLst/>
          </a:prstGeom>
        </p:spPr>
      </p:pic>
      <p:grpSp>
        <p:nvGrpSpPr>
          <p:cNvPr id="13" name="그룹 12">
            <a:extLst>
              <a:ext uri="{FF2B5EF4-FFF2-40B4-BE49-F238E27FC236}">
                <a16:creationId xmlns:a16="http://schemas.microsoft.com/office/drawing/2014/main" id="{CFB1820E-105D-C293-4060-20CB72E24CF5}"/>
              </a:ext>
            </a:extLst>
          </p:cNvPr>
          <p:cNvGrpSpPr/>
          <p:nvPr/>
        </p:nvGrpSpPr>
        <p:grpSpPr>
          <a:xfrm>
            <a:off x="-8792" y="1122040"/>
            <a:ext cx="10700605" cy="0"/>
            <a:chOff x="-8792" y="1288322"/>
            <a:chExt cx="9152793" cy="0"/>
          </a:xfrm>
        </p:grpSpPr>
        <p:cxnSp>
          <p:nvCxnSpPr>
            <p:cNvPr id="18" name="직선 연결선 17">
              <a:extLst>
                <a:ext uri="{FF2B5EF4-FFF2-40B4-BE49-F238E27FC236}">
                  <a16:creationId xmlns:a16="http://schemas.microsoft.com/office/drawing/2014/main" id="{B7C5A682-C79E-5F32-CA44-763852B1128B}"/>
                </a:ext>
              </a:extLst>
            </p:cNvPr>
            <p:cNvCxnSpPr/>
            <p:nvPr/>
          </p:nvCxnSpPr>
          <p:spPr bwMode="auto">
            <a:xfrm flipH="1">
              <a:off x="-8792" y="1288322"/>
              <a:ext cx="395655" cy="0"/>
            </a:xfrm>
            <a:prstGeom prst="line">
              <a:avLst/>
            </a:prstGeom>
            <a:ln w="57150">
              <a:solidFill>
                <a:srgbClr val="C3686C"/>
              </a:solidFill>
            </a:ln>
          </p:spPr>
          <p:style>
            <a:lnRef idx="1">
              <a:schemeClr val="accent1"/>
            </a:lnRef>
            <a:fillRef idx="0">
              <a:schemeClr val="accent1"/>
            </a:fillRef>
            <a:effectRef idx="0">
              <a:schemeClr val="accent1"/>
            </a:effectRef>
            <a:fontRef idx="minor">
              <a:schemeClr val="tx1"/>
            </a:fontRef>
          </p:style>
        </p:cxnSp>
        <p:cxnSp>
          <p:nvCxnSpPr>
            <p:cNvPr id="19" name="직선 연결선 18">
              <a:extLst>
                <a:ext uri="{FF2B5EF4-FFF2-40B4-BE49-F238E27FC236}">
                  <a16:creationId xmlns:a16="http://schemas.microsoft.com/office/drawing/2014/main" id="{9455BB99-810B-659B-6D48-071632F549E0}"/>
                </a:ext>
              </a:extLst>
            </p:cNvPr>
            <p:cNvCxnSpPr/>
            <p:nvPr/>
          </p:nvCxnSpPr>
          <p:spPr bwMode="auto">
            <a:xfrm flipH="1">
              <a:off x="8820151" y="1288322"/>
              <a:ext cx="323850" cy="0"/>
            </a:xfrm>
            <a:prstGeom prst="line">
              <a:avLst/>
            </a:prstGeom>
            <a:ln w="57150">
              <a:solidFill>
                <a:srgbClr val="C3686C"/>
              </a:solidFill>
            </a:ln>
          </p:spPr>
          <p:style>
            <a:lnRef idx="1">
              <a:schemeClr val="accent1"/>
            </a:lnRef>
            <a:fillRef idx="0">
              <a:schemeClr val="accent1"/>
            </a:fillRef>
            <a:effectRef idx="0">
              <a:schemeClr val="accent1"/>
            </a:effectRef>
            <a:fontRef idx="minor">
              <a:schemeClr val="tx1"/>
            </a:fontRef>
          </p:style>
        </p:cxnSp>
      </p:grpSp>
      <p:sp>
        <p:nvSpPr>
          <p:cNvPr id="21" name="직사각형 20">
            <a:extLst>
              <a:ext uri="{FF2B5EF4-FFF2-40B4-BE49-F238E27FC236}">
                <a16:creationId xmlns:a16="http://schemas.microsoft.com/office/drawing/2014/main" id="{D5B8E9A8-BFE9-66DD-20AB-07ED3AC71443}"/>
              </a:ext>
            </a:extLst>
          </p:cNvPr>
          <p:cNvSpPr/>
          <p:nvPr/>
        </p:nvSpPr>
        <p:spPr>
          <a:xfrm>
            <a:off x="377826" y="5039977"/>
            <a:ext cx="9709231" cy="246221"/>
          </a:xfrm>
          <a:prstGeom prst="rect">
            <a:avLst/>
          </a:prstGeom>
        </p:spPr>
        <p:txBody>
          <a:bodyPr wrap="square" lIns="72000" anchor="ctr">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1000" dirty="0">
                <a:latin typeface="KoPubWorld바탕체 Medium" panose="00000600000000000000" pitchFamily="2" charset="-127"/>
                <a:ea typeface="KoPubWorld바탕체 Medium" panose="00000600000000000000" pitchFamily="2" charset="-127"/>
                <a:cs typeface="KoPubWorld바탕체 Medium" panose="00000600000000000000" pitchFamily="2" charset="-127"/>
              </a:rPr>
              <a:t>KORAMCO REITs Management and Trust Co., Ltd. </a:t>
            </a:r>
          </a:p>
        </p:txBody>
      </p:sp>
      <p:sp>
        <p:nvSpPr>
          <p:cNvPr id="22" name="Rectangle 2">
            <a:extLst>
              <a:ext uri="{FF2B5EF4-FFF2-40B4-BE49-F238E27FC236}">
                <a16:creationId xmlns:a16="http://schemas.microsoft.com/office/drawing/2014/main" id="{D6E03260-A910-AEDE-2748-E10E3F17FCA9}"/>
              </a:ext>
            </a:extLst>
          </p:cNvPr>
          <p:cNvSpPr txBox="1">
            <a:spLocks/>
          </p:cNvSpPr>
          <p:nvPr/>
        </p:nvSpPr>
        <p:spPr bwMode="auto">
          <a:xfrm>
            <a:off x="377825" y="2238959"/>
            <a:ext cx="8460468" cy="1994383"/>
          </a:xfrm>
          <a:prstGeom prst="rect">
            <a:avLst/>
          </a:prstGeom>
          <a:noFill/>
          <a:ln w="9525" algn="ctr">
            <a:noFill/>
            <a:miter lim="800000"/>
            <a:headEnd/>
            <a:tailEnd/>
          </a:ln>
        </p:spPr>
        <p:txBody>
          <a:bodyPr lIns="72000" anchor="ctr"/>
          <a:lstStyle/>
          <a:p>
            <a:pPr indent="7520" fontAlgn="base">
              <a:lnSpc>
                <a:spcPct val="250000"/>
              </a:lnSpc>
              <a:spcBef>
                <a:spcPct val="0"/>
              </a:spcBef>
              <a:spcAft>
                <a:spcPts val="188"/>
              </a:spcAft>
              <a:tabLst>
                <a:tab pos="1631714" algn="l"/>
              </a:tabLst>
              <a:defRPr/>
            </a:pPr>
            <a:r>
              <a:rPr kumimoji="1" lang="ko-KR" altLang="en-US" sz="14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코람코라이프인프라위탁관리부동산투자회사ㅣ</a:t>
            </a:r>
            <a:r>
              <a:rPr kumimoji="1" lang="en-US" altLang="ko-KR" sz="14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KOSPI 357120</a:t>
            </a:r>
          </a:p>
          <a:p>
            <a:pPr indent="7520" fontAlgn="base">
              <a:spcBef>
                <a:spcPct val="0"/>
              </a:spcBef>
              <a:spcAft>
                <a:spcPts val="188"/>
              </a:spcAft>
              <a:tabLst>
                <a:tab pos="1631714" algn="l"/>
              </a:tabLst>
              <a:defRPr/>
            </a:pPr>
            <a:endParaRPr lang="en-US" altLang="ko-KR" sz="7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indent="7520" fontAlgn="base">
              <a:spcBef>
                <a:spcPct val="0"/>
              </a:spcBef>
              <a:spcAft>
                <a:spcPts val="188"/>
              </a:spcAft>
              <a:tabLst>
                <a:tab pos="1631714" algn="l"/>
              </a:tabLst>
              <a:defRPr/>
            </a:pPr>
            <a:r>
              <a:rPr lang="ko-KR" altLang="en-US" sz="200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코람코라이프로지스</a:t>
            </a:r>
            <a:r>
              <a:rPr lang="en-US" altLang="ko-KR"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안양물류센터</a:t>
            </a:r>
            <a:r>
              <a:rPr lang="en-US" altLang="ko-KR"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지분 투자의 건</a:t>
            </a:r>
            <a:endParaRPr lang="en-US" altLang="ko-KR"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indent="7520" fontAlgn="base">
              <a:spcBef>
                <a:spcPct val="0"/>
              </a:spcBef>
              <a:spcAft>
                <a:spcPts val="188"/>
              </a:spcAft>
              <a:tabLst>
                <a:tab pos="1631714" algn="l"/>
              </a:tabLst>
              <a:defRPr/>
            </a:pPr>
            <a:endPar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indent="7520" fontAlgn="base">
              <a:spcBef>
                <a:spcPct val="0"/>
              </a:spcBef>
              <a:spcAft>
                <a:spcPts val="188"/>
              </a:spcAft>
              <a:tabLst>
                <a:tab pos="1631714" algn="l"/>
              </a:tabLst>
              <a:defRPr/>
            </a:pPr>
            <a:r>
              <a:rPr lang="ko-KR" altLang="en-US" sz="16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자료</a:t>
            </a:r>
            <a:endParaRPr lang="ko-KR" altLang="en-US" sz="1800" dirty="0">
              <a:solidFill>
                <a:schemeClr val="tx1">
                  <a:lumMod val="75000"/>
                  <a:lumOff val="25000"/>
                </a:schemeClr>
              </a:solidFill>
              <a:latin typeface="KoPubWorld돋움체 Medium" panose="00000600000000000000" pitchFamily="2" charset="-127"/>
              <a:ea typeface="KoPubWorld돋움체 Medium" panose="00000600000000000000" pitchFamily="2" charset="-127"/>
              <a:cs typeface="Arial" charset="0"/>
            </a:endParaRPr>
          </a:p>
        </p:txBody>
      </p:sp>
      <p:sp>
        <p:nvSpPr>
          <p:cNvPr id="23" name="Rectangle 2">
            <a:extLst>
              <a:ext uri="{FF2B5EF4-FFF2-40B4-BE49-F238E27FC236}">
                <a16:creationId xmlns:a16="http://schemas.microsoft.com/office/drawing/2014/main" id="{201B8014-D1FC-8A19-53A9-201F470C2B02}"/>
              </a:ext>
            </a:extLst>
          </p:cNvPr>
          <p:cNvSpPr txBox="1">
            <a:spLocks/>
          </p:cNvSpPr>
          <p:nvPr/>
        </p:nvSpPr>
        <p:spPr bwMode="auto">
          <a:xfrm>
            <a:off x="378619" y="6467365"/>
            <a:ext cx="9936162" cy="307054"/>
          </a:xfrm>
          <a:prstGeom prst="rect">
            <a:avLst/>
          </a:prstGeom>
          <a:noFill/>
          <a:ln w="9525" algn="ctr">
            <a:noFill/>
            <a:miter lim="800000"/>
            <a:headEnd/>
            <a:tailEnd/>
          </a:ln>
        </p:spPr>
        <p:txBody>
          <a:bodyPr lIns="36000" rIns="36000" anchor="ct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a:defRPr/>
            </a:pPr>
            <a:r>
              <a:rPr kumimoji="0" lang="en-US" altLang="ko-KR"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This report is solely for the use of client personnel. No part of it may circulated, quoted, or reproduced for distribution outside the client or organization without prior written approval from KORAMCO REITs Management and Trust Co., Ltd.</a:t>
            </a:r>
            <a:endParaRPr kumimoji="0" lang="ko-KR" altLang="en-US"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4" name="직사각형 23">
            <a:extLst>
              <a:ext uri="{FF2B5EF4-FFF2-40B4-BE49-F238E27FC236}">
                <a16:creationId xmlns:a16="http://schemas.microsoft.com/office/drawing/2014/main" id="{E687DEBB-8870-0992-2220-19B0D67D478E}"/>
              </a:ext>
            </a:extLst>
          </p:cNvPr>
          <p:cNvSpPr/>
          <p:nvPr/>
        </p:nvSpPr>
        <p:spPr>
          <a:xfrm>
            <a:off x="377825" y="5400017"/>
            <a:ext cx="1184355" cy="246221"/>
          </a:xfrm>
          <a:prstGeom prst="rect">
            <a:avLst/>
          </a:prstGeom>
        </p:spPr>
        <p:txBody>
          <a:bodyPr wrap="square" lIns="72000" anchor="ctr">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900" dirty="0">
                <a:latin typeface="KoPubWorld돋움체 Bold" panose="00000800000000000000" pitchFamily="2" charset="-127"/>
                <a:ea typeface="KoPubWorld돋움체 Light" panose="00000300000000000000" pitchFamily="2" charset="-127"/>
                <a:cs typeface="KoPubWorld돋움체 Bold" panose="00000800000000000000" pitchFamily="2" charset="-127"/>
              </a:rPr>
              <a:t>October. 2026</a:t>
            </a:r>
          </a:p>
        </p:txBody>
      </p:sp>
      <p:sp>
        <p:nvSpPr>
          <p:cNvPr id="14" name="직사각형 13">
            <a:extLst>
              <a:ext uri="{FF2B5EF4-FFF2-40B4-BE49-F238E27FC236}">
                <a16:creationId xmlns:a16="http://schemas.microsoft.com/office/drawing/2014/main" id="{F1AA7FE9-4C12-D201-6B48-FC65EB59EBDA}"/>
              </a:ext>
            </a:extLst>
          </p:cNvPr>
          <p:cNvSpPr/>
          <p:nvPr/>
        </p:nvSpPr>
        <p:spPr>
          <a:xfrm>
            <a:off x="8396967" y="640804"/>
            <a:ext cx="2294846" cy="246221"/>
          </a:xfrm>
          <a:prstGeom prst="rect">
            <a:avLst/>
          </a:prstGeom>
          <a:solidFill>
            <a:srgbClr val="FF0000"/>
          </a:solidFill>
        </p:spPr>
        <p:txBody>
          <a:bodyPr wrap="square" rIns="0" anchor="ctr">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90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&lt; Strictly Confidential &gt;</a:t>
            </a:r>
          </a:p>
        </p:txBody>
      </p:sp>
      <p:sp>
        <p:nvSpPr>
          <p:cNvPr id="4" name="직사각형 3">
            <a:extLst>
              <a:ext uri="{FF2B5EF4-FFF2-40B4-BE49-F238E27FC236}">
                <a16:creationId xmlns:a16="http://schemas.microsoft.com/office/drawing/2014/main" id="{AC905E75-DCC0-450B-B1FE-FCCAD9ADC70C}"/>
              </a:ext>
            </a:extLst>
          </p:cNvPr>
          <p:cNvSpPr/>
          <p:nvPr/>
        </p:nvSpPr>
        <p:spPr>
          <a:xfrm>
            <a:off x="377827" y="338174"/>
            <a:ext cx="1184354" cy="250068"/>
          </a:xfrm>
          <a:prstGeom prst="rect">
            <a:avLst/>
          </a:prstGeom>
        </p:spPr>
        <p:txBody>
          <a:bodyPr wrap="square" lIns="72000" anchor="ctr">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별첨 </a:t>
            </a:r>
            <a:r>
              <a:rPr kumimoji="0"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p>
        </p:txBody>
      </p:sp>
    </p:spTree>
    <p:extLst>
      <p:ext uri="{BB962C8B-B14F-4D97-AF65-F5344CB8AC3E}">
        <p14:creationId xmlns:p14="http://schemas.microsoft.com/office/powerpoint/2010/main" val="40571266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32185" y="2079170"/>
            <a:ext cx="3115642" cy="262701"/>
          </a:xfrm>
          <a:prstGeom prst="rect">
            <a:avLst/>
          </a:prstGeom>
          <a:noFill/>
        </p:spPr>
        <p:txBody>
          <a:bodyPr wrap="square"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107" b="0" i="0" u="none" strike="noStrike" kern="1200" cap="none" spc="0" normalizeH="0" baseline="0" noProof="0" dirty="0">
                <a:ln>
                  <a:noFill/>
                </a:ln>
                <a:solidFill>
                  <a:srgbClr val="40404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 투자심의위원회 </a:t>
            </a:r>
            <a:r>
              <a:rPr kumimoji="0" lang="ko-KR" altLang="en-US" sz="1107" b="0" i="0" u="none" strike="noStrike" kern="1200" cap="none" spc="0" normalizeH="0" baseline="0" noProof="0" dirty="0" err="1">
                <a:ln>
                  <a:noFill/>
                </a:ln>
                <a:solidFill>
                  <a:srgbClr val="40404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심의자료</a:t>
            </a:r>
            <a:endParaRPr kumimoji="0" lang="ko-KR" altLang="en-US" sz="1107" b="0" i="0" u="none" strike="noStrike" kern="1200" cap="none" spc="0" normalizeH="0" baseline="0" noProof="0" dirty="0">
              <a:ln>
                <a:noFill/>
              </a:ln>
              <a:solidFill>
                <a:srgbClr val="40404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 name="TextBox 2"/>
          <p:cNvSpPr txBox="1"/>
          <p:nvPr/>
        </p:nvSpPr>
        <p:spPr>
          <a:xfrm>
            <a:off x="809402" y="2778552"/>
            <a:ext cx="2080546" cy="461665"/>
          </a:xfrm>
          <a:prstGeom prst="rect">
            <a:avLst/>
          </a:prstGeom>
          <a:noFill/>
        </p:spPr>
        <p:txBody>
          <a:bodyPr wrap="square" rtlCol="0" anchor="ctr">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altLang="ko-KR" sz="2400" b="0" i="0" u="none" strike="noStrike" kern="1200" cap="none" spc="100" normalizeH="0" baseline="0" noProof="0" dirty="0">
                <a:ln>
                  <a:noFill/>
                </a:ln>
                <a:solidFill>
                  <a:srgbClr val="404040"/>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Contents</a:t>
            </a:r>
            <a:endParaRPr kumimoji="0" lang="ko-KR" altLang="en-US" sz="2400" b="0" i="0" u="none" strike="noStrike" kern="1200" cap="none" spc="100" normalizeH="0" baseline="0" noProof="0" dirty="0">
              <a:ln>
                <a:noFill/>
              </a:ln>
              <a:solidFill>
                <a:srgbClr val="404040"/>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4" name="직선 연결선 3"/>
          <p:cNvCxnSpPr/>
          <p:nvPr/>
        </p:nvCxnSpPr>
        <p:spPr>
          <a:xfrm>
            <a:off x="2285566" y="2195512"/>
            <a:ext cx="7956984" cy="0"/>
          </a:xfrm>
          <a:prstGeom prst="line">
            <a:avLst/>
          </a:prstGeom>
          <a:ln>
            <a:solidFill>
              <a:srgbClr val="404040"/>
            </a:solidFill>
          </a:ln>
        </p:spPr>
        <p:style>
          <a:lnRef idx="1">
            <a:schemeClr val="accent1"/>
          </a:lnRef>
          <a:fillRef idx="0">
            <a:schemeClr val="accent1"/>
          </a:fillRef>
          <a:effectRef idx="0">
            <a:schemeClr val="accent1"/>
          </a:effectRef>
          <a:fontRef idx="minor">
            <a:schemeClr val="tx1"/>
          </a:fontRef>
        </p:style>
      </p:cxnSp>
      <p:grpSp>
        <p:nvGrpSpPr>
          <p:cNvPr id="5" name="그룹 4"/>
          <p:cNvGrpSpPr/>
          <p:nvPr/>
        </p:nvGrpSpPr>
        <p:grpSpPr>
          <a:xfrm>
            <a:off x="552349" y="2783484"/>
            <a:ext cx="257057" cy="324000"/>
            <a:chOff x="5238750" y="-523875"/>
            <a:chExt cx="409575" cy="704850"/>
          </a:xfrm>
        </p:grpSpPr>
        <p:sp>
          <p:nvSpPr>
            <p:cNvPr id="6" name="직사각형 5"/>
            <p:cNvSpPr/>
            <p:nvPr/>
          </p:nvSpPr>
          <p:spPr>
            <a:xfrm>
              <a:off x="5238750" y="-523875"/>
              <a:ext cx="45719" cy="704850"/>
            </a:xfrm>
            <a:prstGeom prst="rect">
              <a:avLst/>
            </a:prstGeom>
            <a:solidFill>
              <a:srgbClr val="B43238">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95" b="0" i="0" u="none" strike="noStrike" kern="1200" cap="none" spc="0" normalizeH="0" baseline="0" noProof="0">
                <a:ln>
                  <a:noFill/>
                </a:ln>
                <a:solidFill>
                  <a:srgbClr val="40404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 name="직사각형 6"/>
            <p:cNvSpPr/>
            <p:nvPr/>
          </p:nvSpPr>
          <p:spPr>
            <a:xfrm>
              <a:off x="5329237" y="-523875"/>
              <a:ext cx="80963" cy="704850"/>
            </a:xfrm>
            <a:prstGeom prst="rect">
              <a:avLst/>
            </a:prstGeom>
            <a:solidFill>
              <a:srgbClr val="B4323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95" b="0" i="0" u="none" strike="noStrike" kern="1200" cap="none" spc="0" normalizeH="0" baseline="0" noProof="0">
                <a:ln>
                  <a:noFill/>
                </a:ln>
                <a:solidFill>
                  <a:srgbClr val="40404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8" name="직사각형 7"/>
            <p:cNvSpPr/>
            <p:nvPr/>
          </p:nvSpPr>
          <p:spPr>
            <a:xfrm>
              <a:off x="5454968" y="-523875"/>
              <a:ext cx="193357" cy="704850"/>
            </a:xfrm>
            <a:prstGeom prst="rect">
              <a:avLst/>
            </a:prstGeom>
            <a:solidFill>
              <a:srgbClr val="B4323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95" b="0" i="0" u="none" strike="noStrike" kern="1200" cap="none" spc="0" normalizeH="0" baseline="0" noProof="0">
                <a:ln>
                  <a:noFill/>
                </a:ln>
                <a:solidFill>
                  <a:srgbClr val="40404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9" name="TextBox 8"/>
          <p:cNvSpPr txBox="1"/>
          <p:nvPr/>
        </p:nvSpPr>
        <p:spPr>
          <a:xfrm>
            <a:off x="7211958" y="3240217"/>
            <a:ext cx="3246515" cy="996427"/>
          </a:xfrm>
          <a:prstGeom prst="rect">
            <a:avLst/>
          </a:prstGeom>
          <a:noFill/>
        </p:spPr>
        <p:txBody>
          <a:bodyPr wrap="square" rtlCol="0" anchor="ctr" anchorCtr="0">
            <a:spAutoFit/>
          </a:bodyPr>
          <a:lstStyle/>
          <a:p>
            <a:pPr marL="171450" marR="0" lvl="0" indent="-171450" algn="l" defTabSz="457200" rtl="0" eaLnBrk="1" fontAlgn="auto" latinLnBrk="0" hangingPunct="1">
              <a:lnSpc>
                <a:spcPct val="150000"/>
              </a:lnSpc>
              <a:spcBef>
                <a:spcPts val="0"/>
              </a:spcBef>
              <a:spcAft>
                <a:spcPts val="0"/>
              </a:spcAft>
              <a:buClrTx/>
              <a:buSzTx/>
              <a:buFontTx/>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투자심의위원회 심의 개요</a:t>
            </a:r>
          </a:p>
          <a:p>
            <a:pPr marL="171450" marR="0" lvl="0" indent="-171450" algn="l" defTabSz="457200" rtl="0" eaLnBrk="1" fontAlgn="auto" latinLnBrk="0" hangingPunct="1">
              <a:lnSpc>
                <a:spcPct val="150000"/>
              </a:lnSpc>
              <a:spcBef>
                <a:spcPts val="0"/>
              </a:spcBef>
              <a:spcAft>
                <a:spcPts val="0"/>
              </a:spcAft>
              <a:buClrTx/>
              <a:buSzTx/>
              <a:buFontTx/>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투자심의위원회 심의 안건</a:t>
            </a:r>
          </a:p>
          <a:p>
            <a:pPr marL="171450" lvl="0" indent="-171450">
              <a:lnSpc>
                <a:spcPct val="150000"/>
              </a:lnSpc>
              <a:buFontTx/>
              <a:buChar char="-"/>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 </a:t>
            </a:r>
            <a:r>
              <a:rPr kumimoji="0" lang="ko-KR" altLang="en-US" sz="10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Ⅰ</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err="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a:t>
            </a:r>
            <a:r>
              <a:rPr lang="ko-KR" altLang="en-US"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출자의 건 </a:t>
            </a:r>
            <a:endPar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lvl="0" indent="-171450">
              <a:lnSpc>
                <a:spcPct val="150000"/>
              </a:lnSpc>
              <a:buFontTx/>
              <a:buChar char="-"/>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 </a:t>
            </a:r>
            <a:r>
              <a:rPr kumimoji="0" lang="ko-KR" altLang="en-US" sz="10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Ⅱ</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err="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a:t>
            </a:r>
            <a:r>
              <a:rPr lang="ko-KR" altLang="en-US"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매입확약서(LOC) 날인</a:t>
            </a:r>
            <a:endPar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2933014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15441"/>
            <a:ext cx="5957974" cy="532703"/>
          </a:xfrm>
          <a:prstGeom prst="rect">
            <a:avLst/>
          </a:prstGeom>
          <a:noFill/>
        </p:spPr>
        <p:txBody>
          <a:bodyPr wrap="square" lIns="25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심의안건</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및 추진일정</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 name="TextBox 2"/>
          <p:cNvSpPr txBox="1"/>
          <p:nvPr/>
        </p:nvSpPr>
        <p:spPr>
          <a:xfrm>
            <a:off x="283368" y="1040097"/>
            <a:ext cx="10175106" cy="701918"/>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marR="0" lvl="0" indent="-216000" algn="l" defTabSz="4572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ko-KR" altLang="en-US"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투자심의 안건은 KLI의 자리츠 보통주 출자 및 1·2종 우선주 매입확약서(LOC) 날인 건임</a:t>
            </a:r>
            <a:endParaRPr kumimoji="0" lang="en-US" altLang="ko-KR"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180000" marR="0" lvl="0" indent="-216000" algn="l" defTabSz="4572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ko-KR" altLang="en-US"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10/16 주주간계약 체결·매입확약서 제출 후 10/21 자리츠(KLL리츠) 보통주 주금 납입 예정</a:t>
            </a:r>
            <a:endParaRPr kumimoji="0" lang="en-US" altLang="ko-KR"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nvGrpSpPr>
          <p:cNvPr id="4" name="그룹 3"/>
          <p:cNvGrpSpPr/>
          <p:nvPr/>
        </p:nvGrpSpPr>
        <p:grpSpPr>
          <a:xfrm>
            <a:off x="458887" y="1987916"/>
            <a:ext cx="9783663" cy="247712"/>
            <a:chOff x="417444" y="1605420"/>
            <a:chExt cx="8983731" cy="247712"/>
          </a:xfrm>
        </p:grpSpPr>
        <p:sp>
          <p:nvSpPr>
            <p:cNvPr id="5" name="직사각형 4"/>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p:cNvSpPr txBox="1"/>
            <p:nvPr/>
          </p:nvSpPr>
          <p:spPr>
            <a:xfrm>
              <a:off x="417444" y="1652332"/>
              <a:ext cx="1078479"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심의안</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건 및 추진일정</a:t>
              </a:r>
            </a:p>
          </p:txBody>
        </p:sp>
      </p:grpSp>
      <p:graphicFrame>
        <p:nvGraphicFramePr>
          <p:cNvPr id="11" name="표 10"/>
          <p:cNvGraphicFramePr>
            <a:graphicFrameLocks noGrp="1"/>
          </p:cNvGraphicFramePr>
          <p:nvPr>
            <p:extLst>
              <p:ext uri="{D42A27DB-BD31-4B8C-83A1-F6EECF244321}">
                <p14:modId xmlns:p14="http://schemas.microsoft.com/office/powerpoint/2010/main" val="3723861000"/>
              </p:ext>
            </p:extLst>
          </p:nvPr>
        </p:nvGraphicFramePr>
        <p:xfrm>
          <a:off x="509644" y="2357351"/>
          <a:ext cx="9756000" cy="1249680"/>
        </p:xfrm>
        <a:graphic>
          <a:graphicData uri="http://schemas.openxmlformats.org/drawingml/2006/table">
            <a:tbl>
              <a:tblPr>
                <a:tableStyleId>{5940675A-B579-460E-94D1-54222C63F5DA}</a:tableStyleId>
              </a:tblPr>
              <a:tblGrid>
                <a:gridCol w="1368000">
                  <a:extLst>
                    <a:ext uri="{9D8B030D-6E8A-4147-A177-3AD203B41FA5}">
                      <a16:colId xmlns:a16="http://schemas.microsoft.com/office/drawing/2014/main" val="20000"/>
                    </a:ext>
                  </a:extLst>
                </a:gridCol>
                <a:gridCol w="2136114">
                  <a:extLst>
                    <a:ext uri="{9D8B030D-6E8A-4147-A177-3AD203B41FA5}">
                      <a16:colId xmlns:a16="http://schemas.microsoft.com/office/drawing/2014/main" val="20001"/>
                    </a:ext>
                  </a:extLst>
                </a:gridCol>
                <a:gridCol w="6251886">
                  <a:extLst>
                    <a:ext uri="{9D8B030D-6E8A-4147-A177-3AD203B41FA5}">
                      <a16:colId xmlns:a16="http://schemas.microsoft.com/office/drawing/2014/main" val="4219783623"/>
                    </a:ext>
                  </a:extLst>
                </a:gridCol>
              </a:tblGrid>
              <a:tr h="237744">
                <a:tc>
                  <a:txBody>
                    <a:bodyPr anchor="ct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nchor="ctr"/>
                    <a:lstStyle/>
                    <a:p>
                      <a:pPr algn="ctr" latinLnBrk="1">
                        <a:buNone/>
                      </a:pPr>
                      <a:r>
                        <a:rPr lang="ko-KR" altLang="en-US" sz="100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안건명</a:t>
                      </a:r>
                      <a:endPar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nchor="ct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주요내용</a:t>
                      </a:r>
                    </a:p>
                  </a:txBody>
                  <a:tcPr anchor="ctr">
                    <a:lnL w="317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8"/>
                  </a:ext>
                </a:extLst>
              </a:tr>
              <a:tr h="502920">
                <a:tc>
                  <a:txBody>
                    <a:bodyPr anchor="ctr"/>
                    <a:lstStyle/>
                    <a:p>
                      <a:pPr algn="ctr" latinLnBrk="1">
                        <a:buNone/>
                      </a:pP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안건 Ⅰ</a:t>
                      </a:r>
                      <a:endParaRPr lang="ko-KR" altLang="en-US" sz="11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algn="ctr" latinLnBrk="1">
                        <a:lnSpc>
                          <a:spcPct val="120000"/>
                        </a:lnSpc>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주주간계약서 체결의 건</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20000"/>
                        </a:lnSpc>
                        <a:buNone/>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출자</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nchor="ctr"/>
                    <a:lstStyle/>
                    <a:p>
                      <a:pPr marL="171450" marR="0" lvl="0" indent="-171450"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 및 보통주 148억·제2-1종 160억원 출자</a:t>
                      </a:r>
                      <a:endPar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marR="0" lvl="0" indent="-171450"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이사 2인·대표이사 지명, 의결권 지분 71.4% (납입 10/21)</a:t>
                      </a:r>
                      <a:endPar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0"/>
                  </a:ext>
                </a:extLst>
              </a:tr>
              <a:tr h="502920">
                <a:tc>
                  <a:txBody>
                    <a:bodyPr anchor="ctr"/>
                    <a:lstStyle/>
                    <a:p>
                      <a:pPr algn="ctr" latinLnBrk="1">
                        <a:buNone/>
                      </a:pP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안건 Ⅱ</a:t>
                      </a:r>
                      <a:endParaRPr lang="ko-KR" altLang="en-US" sz="11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chemeClr val="bg1">
                        <a:lumMod val="95000"/>
                      </a:schemeClr>
                    </a:solidFill>
                  </a:tcPr>
                </a:tc>
                <a:tc>
                  <a:txBody>
                    <a:bodyPr anchor="ctr"/>
                    <a:lstStyle/>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매입확약서</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(LOC)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날인의 건 </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tcPr>
                </a:tc>
                <a:tc>
                  <a:txBody>
                    <a:bodyPr anchor="ctr"/>
                    <a:lstStyle/>
                    <a:p>
                      <a:pPr marL="171450" indent="-171450" algn="l" latinLnBrk="1">
                        <a:lnSpc>
                          <a:spcPct val="150000"/>
                        </a:lnSpc>
                        <a:buFont typeface="Arial" panose="020B0604020202020204" pitchFamily="34" charset="0"/>
                        <a:buNone/>
                      </a:pPr>
                      <a:r>
                        <a:rPr lang="en-US" altLang="ko-KR" sz="1100" b="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제1종 240억(24개월)·제2종 340억(12개월) 매입확약서 제출</a:t>
                      </a:r>
                      <a:endParaRPr lang="en-US" altLang="ko-KR" sz="1100" b="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l" latinLnBrk="1">
                        <a:lnSpc>
                          <a:spcPct val="150000"/>
                        </a:lnSpc>
                        <a:buFont typeface="Arial" panose="020B0604020202020204" pitchFamily="34" charset="0"/>
                        <a:buNone/>
                      </a:pPr>
                      <a:r>
                        <a:rPr lang="en-US" altLang="ko-KR" sz="1100" b="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미이행 시 1종 연 5.0%, 2종 연 3.0% + 위약벌 20%</a:t>
                      </a:r>
                      <a:endParaRPr lang="en-US" altLang="ko-KR" sz="1100" b="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cxnSp>
        <p:nvCxnSpPr>
          <p:cNvPr id="37" name="꺾인 연결선 22">
            <a:extLst>
              <a:ext uri="{FF2B5EF4-FFF2-40B4-BE49-F238E27FC236}">
                <a16:creationId xmlns:a16="http://schemas.microsoft.com/office/drawing/2014/main" id="{0DB8BE85-BA40-2273-2D22-D6062390D50C}"/>
              </a:ext>
            </a:extLst>
          </p:cNvPr>
          <p:cNvCxnSpPr>
            <a:cxnSpLocks/>
            <a:stCxn id="128" idx="0"/>
            <a:endCxn id="107" idx="0"/>
          </p:cNvCxnSpPr>
          <p:nvPr/>
        </p:nvCxnSpPr>
        <p:spPr>
          <a:xfrm rot="5400000" flipH="1" flipV="1">
            <a:off x="5225871" y="3778929"/>
            <a:ext cx="12700" cy="2414585"/>
          </a:xfrm>
          <a:prstGeom prst="bentConnector3">
            <a:avLst>
              <a:gd name="adj1" fmla="val 1800000"/>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F6741AF1-BAD2-5C01-53D6-56C22C06D785}"/>
              </a:ext>
            </a:extLst>
          </p:cNvPr>
          <p:cNvSpPr txBox="1"/>
          <p:nvPr/>
        </p:nvSpPr>
        <p:spPr>
          <a:xfrm>
            <a:off x="4789082" y="4680021"/>
            <a:ext cx="713905" cy="230832"/>
          </a:xfrm>
          <a:prstGeom prst="rect">
            <a:avLst/>
          </a:prstGeom>
          <a:solidFill>
            <a:schemeClr val="bg1"/>
          </a:solidFill>
          <a:ln>
            <a:noFill/>
          </a:ln>
        </p:spPr>
        <p:txBody>
          <a:bodyPr wrap="none" lIns="36000" rIns="3600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err="1">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실사기간</a:t>
            </a: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4</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a:t>
            </a:r>
          </a:p>
        </p:txBody>
      </p:sp>
      <p:sp>
        <p:nvSpPr>
          <p:cNvPr id="41" name="직사각형 40">
            <a:extLst>
              <a:ext uri="{FF2B5EF4-FFF2-40B4-BE49-F238E27FC236}">
                <a16:creationId xmlns:a16="http://schemas.microsoft.com/office/drawing/2014/main" id="{FBF764AD-9F4D-007E-53D4-B86677FB241D}"/>
              </a:ext>
            </a:extLst>
          </p:cNvPr>
          <p:cNvSpPr/>
          <p:nvPr/>
        </p:nvSpPr>
        <p:spPr>
          <a:xfrm>
            <a:off x="521371" y="4255705"/>
            <a:ext cx="9793286" cy="2440456"/>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nvGrpSpPr>
          <p:cNvPr id="42" name="그룹 41">
            <a:extLst>
              <a:ext uri="{FF2B5EF4-FFF2-40B4-BE49-F238E27FC236}">
                <a16:creationId xmlns:a16="http://schemas.microsoft.com/office/drawing/2014/main" id="{27CDB938-FE60-2B09-8A37-524FC46A4095}"/>
              </a:ext>
            </a:extLst>
          </p:cNvPr>
          <p:cNvGrpSpPr/>
          <p:nvPr/>
        </p:nvGrpSpPr>
        <p:grpSpPr>
          <a:xfrm>
            <a:off x="611892" y="4169801"/>
            <a:ext cx="1939955" cy="246221"/>
            <a:chOff x="455544" y="-592941"/>
            <a:chExt cx="1939955" cy="246221"/>
          </a:xfrm>
        </p:grpSpPr>
        <p:sp>
          <p:nvSpPr>
            <p:cNvPr id="46" name="TextBox 45">
              <a:extLst>
                <a:ext uri="{FF2B5EF4-FFF2-40B4-BE49-F238E27FC236}">
                  <a16:creationId xmlns:a16="http://schemas.microsoft.com/office/drawing/2014/main" id="{E1FAB967-07D7-8FD3-425E-0D3109939F03}"/>
                </a:ext>
              </a:extLst>
            </p:cNvPr>
            <p:cNvSpPr txBox="1"/>
            <p:nvPr/>
          </p:nvSpPr>
          <p:spPr>
            <a:xfrm>
              <a:off x="455544" y="-592941"/>
              <a:ext cx="1939955" cy="246221"/>
            </a:xfrm>
            <a:prstGeom prst="rect">
              <a:avLst/>
            </a:prstGeom>
            <a:solidFill>
              <a:schemeClr val="bg1"/>
            </a:solidFill>
          </p:spPr>
          <p:txBody>
            <a:bodyPr wrap="none"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진행경과 및 향후 사업 예상일정</a:t>
              </a:r>
              <a:r>
                <a:rPr kumimoji="0" lang="en-US" altLang="ko-KR"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9" name="직사각형 48">
              <a:extLst>
                <a:ext uri="{FF2B5EF4-FFF2-40B4-BE49-F238E27FC236}">
                  <a16:creationId xmlns:a16="http://schemas.microsoft.com/office/drawing/2014/main" id="{E86436BC-529B-CDEB-D50C-452D2F00AD91}"/>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50" name="오른쪽 화살표 16">
            <a:extLst>
              <a:ext uri="{FF2B5EF4-FFF2-40B4-BE49-F238E27FC236}">
                <a16:creationId xmlns:a16="http://schemas.microsoft.com/office/drawing/2014/main" id="{77E91E03-98F2-450B-77A1-43629DA4947B}"/>
              </a:ext>
            </a:extLst>
          </p:cNvPr>
          <p:cNvSpPr/>
          <p:nvPr/>
        </p:nvSpPr>
        <p:spPr>
          <a:xfrm>
            <a:off x="845406" y="5241095"/>
            <a:ext cx="9420238" cy="468154"/>
          </a:xfrm>
          <a:prstGeom prst="rightArrow">
            <a:avLst>
              <a:gd name="adj1" fmla="val 70576"/>
              <a:gd name="adj2"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51" name="오른쪽 화살표 17">
            <a:extLst>
              <a:ext uri="{FF2B5EF4-FFF2-40B4-BE49-F238E27FC236}">
                <a16:creationId xmlns:a16="http://schemas.microsoft.com/office/drawing/2014/main" id="{CD838F5B-8BA9-2276-8BBF-715F081CA06D}"/>
              </a:ext>
            </a:extLst>
          </p:cNvPr>
          <p:cNvSpPr/>
          <p:nvPr/>
        </p:nvSpPr>
        <p:spPr>
          <a:xfrm>
            <a:off x="7172456" y="5241095"/>
            <a:ext cx="3093188" cy="468154"/>
          </a:xfrm>
          <a:prstGeom prst="rightArrow">
            <a:avLst>
              <a:gd name="adj1" fmla="val 70576"/>
              <a:gd name="adj2" fmla="val 50000"/>
            </a:avLst>
          </a:prstGeom>
          <a:solidFill>
            <a:srgbClr val="345B86">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53" name="TextBox 52">
            <a:extLst>
              <a:ext uri="{FF2B5EF4-FFF2-40B4-BE49-F238E27FC236}">
                <a16:creationId xmlns:a16="http://schemas.microsoft.com/office/drawing/2014/main" id="{D970675F-0876-D174-6135-52B374A54357}"/>
              </a:ext>
            </a:extLst>
          </p:cNvPr>
          <p:cNvSpPr txBox="1"/>
          <p:nvPr/>
        </p:nvSpPr>
        <p:spPr>
          <a:xfrm>
            <a:off x="2352916" y="4986221"/>
            <a:ext cx="822566" cy="230832"/>
          </a:xfrm>
          <a:prstGeom prst="rect">
            <a:avLst/>
          </a:prstGeom>
          <a:solidFill>
            <a:schemeClr val="bg1"/>
          </a:solid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일</a:t>
            </a:r>
          </a:p>
        </p:txBody>
      </p:sp>
      <p:sp>
        <p:nvSpPr>
          <p:cNvPr id="68" name="타원 67">
            <a:extLst>
              <a:ext uri="{FF2B5EF4-FFF2-40B4-BE49-F238E27FC236}">
                <a16:creationId xmlns:a16="http://schemas.microsoft.com/office/drawing/2014/main" id="{70D1D696-6606-5D96-F8CA-FCD3F6A9FB36}"/>
              </a:ext>
            </a:extLst>
          </p:cNvPr>
          <p:cNvSpPr/>
          <p:nvPr/>
        </p:nvSpPr>
        <p:spPr>
          <a:xfrm>
            <a:off x="2641486"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69" name="TextBox 68">
            <a:extLst>
              <a:ext uri="{FF2B5EF4-FFF2-40B4-BE49-F238E27FC236}">
                <a16:creationId xmlns:a16="http://schemas.microsoft.com/office/drawing/2014/main" id="{7D2E9ED6-7362-DE30-0B31-C1578C9866B8}"/>
              </a:ext>
            </a:extLst>
          </p:cNvPr>
          <p:cNvSpPr txBox="1"/>
          <p:nvPr/>
        </p:nvSpPr>
        <p:spPr>
          <a:xfrm>
            <a:off x="2245982" y="5738449"/>
            <a:ext cx="1400757" cy="415498"/>
          </a:xfrm>
          <a:prstGeom prst="rect">
            <a:avLst/>
          </a:prstGeom>
          <a:noFill/>
        </p:spPr>
        <p:txBody>
          <a:bodyPr wrap="square" lIns="0" tIns="0" rIns="0" bIns="0"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예비투자심의위원회</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양해각서 체결의 건</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실사기관 선정의 건</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71" name="TextBox 70">
            <a:extLst>
              <a:ext uri="{FF2B5EF4-FFF2-40B4-BE49-F238E27FC236}">
                <a16:creationId xmlns:a16="http://schemas.microsoft.com/office/drawing/2014/main" id="{115C11F2-9E38-B74F-254D-622DC354C0D0}"/>
              </a:ext>
            </a:extLst>
          </p:cNvPr>
          <p:cNvSpPr txBox="1"/>
          <p:nvPr/>
        </p:nvSpPr>
        <p:spPr>
          <a:xfrm>
            <a:off x="8858900" y="5765897"/>
            <a:ext cx="672932" cy="203362"/>
          </a:xfrm>
          <a:prstGeom prst="rect">
            <a:avLst/>
          </a:prstGeom>
          <a:noFill/>
        </p:spPr>
        <p:txBody>
          <a:bodyPr wrap="none" t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거래종결</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72" name="TextBox 71">
            <a:extLst>
              <a:ext uri="{FF2B5EF4-FFF2-40B4-BE49-F238E27FC236}">
                <a16:creationId xmlns:a16="http://schemas.microsoft.com/office/drawing/2014/main" id="{5802985F-42AB-2FCB-80B6-76F06B19D051}"/>
              </a:ext>
            </a:extLst>
          </p:cNvPr>
          <p:cNvSpPr txBox="1"/>
          <p:nvPr/>
        </p:nvSpPr>
        <p:spPr>
          <a:xfrm>
            <a:off x="8825409"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22</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일</a:t>
            </a:r>
          </a:p>
        </p:txBody>
      </p:sp>
      <p:sp>
        <p:nvSpPr>
          <p:cNvPr id="73" name="타원 72">
            <a:extLst>
              <a:ext uri="{FF2B5EF4-FFF2-40B4-BE49-F238E27FC236}">
                <a16:creationId xmlns:a16="http://schemas.microsoft.com/office/drawing/2014/main" id="{432A4B53-2301-9464-B196-EC65F5A61494}"/>
              </a:ext>
            </a:extLst>
          </p:cNvPr>
          <p:cNvSpPr/>
          <p:nvPr/>
        </p:nvSpPr>
        <p:spPr>
          <a:xfrm>
            <a:off x="9054277"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80" name="TextBox 79">
            <a:extLst>
              <a:ext uri="{FF2B5EF4-FFF2-40B4-BE49-F238E27FC236}">
                <a16:creationId xmlns:a16="http://schemas.microsoft.com/office/drawing/2014/main" id="{6DFFD4EE-87BB-0698-6FED-0AACAF2F6A79}"/>
              </a:ext>
            </a:extLst>
          </p:cNvPr>
          <p:cNvSpPr txBox="1"/>
          <p:nvPr/>
        </p:nvSpPr>
        <p:spPr>
          <a:xfrm>
            <a:off x="497196" y="5736740"/>
            <a:ext cx="672932" cy="347353"/>
          </a:xfrm>
          <a:prstGeom prst="rect">
            <a:avLst/>
          </a:prstGeom>
          <a:noFill/>
        </p:spPr>
        <p:txBody>
          <a:bodyPr wrap="none" t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입찰참여</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81" name="TextBox 80">
            <a:extLst>
              <a:ext uri="{FF2B5EF4-FFF2-40B4-BE49-F238E27FC236}">
                <a16:creationId xmlns:a16="http://schemas.microsoft.com/office/drawing/2014/main" id="{D1397358-E35E-A927-FB9E-0BD060B3B4A0}"/>
              </a:ext>
            </a:extLst>
          </p:cNvPr>
          <p:cNvSpPr txBox="1"/>
          <p:nvPr/>
        </p:nvSpPr>
        <p:spPr>
          <a:xfrm>
            <a:off x="463705"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일</a:t>
            </a:r>
          </a:p>
        </p:txBody>
      </p:sp>
      <p:sp>
        <p:nvSpPr>
          <p:cNvPr id="84" name="타원 83">
            <a:extLst>
              <a:ext uri="{FF2B5EF4-FFF2-40B4-BE49-F238E27FC236}">
                <a16:creationId xmlns:a16="http://schemas.microsoft.com/office/drawing/2014/main" id="{AD94EA02-D19C-8C10-B6A4-826DD48CB6FC}"/>
              </a:ext>
            </a:extLst>
          </p:cNvPr>
          <p:cNvSpPr/>
          <p:nvPr/>
        </p:nvSpPr>
        <p:spPr>
          <a:xfrm>
            <a:off x="692573"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nvGrpSpPr>
          <p:cNvPr id="147" name="그룹 146">
            <a:extLst>
              <a:ext uri="{FF2B5EF4-FFF2-40B4-BE49-F238E27FC236}">
                <a16:creationId xmlns:a16="http://schemas.microsoft.com/office/drawing/2014/main" id="{D82D1F4D-AC1D-336B-F40F-C3F225004812}"/>
              </a:ext>
            </a:extLst>
          </p:cNvPr>
          <p:cNvGrpSpPr/>
          <p:nvPr/>
        </p:nvGrpSpPr>
        <p:grpSpPr>
          <a:xfrm>
            <a:off x="1183060" y="4992572"/>
            <a:ext cx="925254" cy="889018"/>
            <a:chOff x="1777019" y="4986221"/>
            <a:chExt cx="925254" cy="889018"/>
          </a:xfrm>
        </p:grpSpPr>
        <p:sp>
          <p:nvSpPr>
            <p:cNvPr id="95" name="TextBox 94">
              <a:extLst>
                <a:ext uri="{FF2B5EF4-FFF2-40B4-BE49-F238E27FC236}">
                  <a16:creationId xmlns:a16="http://schemas.microsoft.com/office/drawing/2014/main" id="{F6431406-7568-7589-EB39-B69A904D4348}"/>
                </a:ext>
              </a:extLst>
            </p:cNvPr>
            <p:cNvSpPr txBox="1"/>
            <p:nvPr/>
          </p:nvSpPr>
          <p:spPr>
            <a:xfrm>
              <a:off x="1777019" y="5736740"/>
              <a:ext cx="925254" cy="138499"/>
            </a:xfrm>
            <a:prstGeom prst="rect">
              <a:avLst/>
            </a:prstGeom>
            <a:noFill/>
          </p:spPr>
          <p:txBody>
            <a:bodyPr wrap="non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우선협상자 통지</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96" name="TextBox 95">
              <a:extLst>
                <a:ext uri="{FF2B5EF4-FFF2-40B4-BE49-F238E27FC236}">
                  <a16:creationId xmlns:a16="http://schemas.microsoft.com/office/drawing/2014/main" id="{AD0C1413-248E-C2E6-DD04-800B8BC8E6E1}"/>
                </a:ext>
              </a:extLst>
            </p:cNvPr>
            <p:cNvSpPr txBox="1"/>
            <p:nvPr/>
          </p:nvSpPr>
          <p:spPr>
            <a:xfrm>
              <a:off x="1869687"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8월 18일</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97" name="타원 96">
              <a:extLst>
                <a:ext uri="{FF2B5EF4-FFF2-40B4-BE49-F238E27FC236}">
                  <a16:creationId xmlns:a16="http://schemas.microsoft.com/office/drawing/2014/main" id="{856E6372-F09C-2050-1115-6439A40C5986}"/>
                </a:ext>
              </a:extLst>
            </p:cNvPr>
            <p:cNvSpPr/>
            <p:nvPr/>
          </p:nvSpPr>
          <p:spPr>
            <a:xfrm>
              <a:off x="2098555"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sp>
        <p:nvSpPr>
          <p:cNvPr id="106" name="TextBox 105">
            <a:extLst>
              <a:ext uri="{FF2B5EF4-FFF2-40B4-BE49-F238E27FC236}">
                <a16:creationId xmlns:a16="http://schemas.microsoft.com/office/drawing/2014/main" id="{F2ACFEBC-6570-5CB2-BCC3-51851881A24B}"/>
              </a:ext>
            </a:extLst>
          </p:cNvPr>
          <p:cNvSpPr txBox="1"/>
          <p:nvPr/>
        </p:nvSpPr>
        <p:spPr>
          <a:xfrm>
            <a:off x="6096697" y="5765897"/>
            <a:ext cx="672932" cy="203362"/>
          </a:xfrm>
          <a:prstGeom prst="rect">
            <a:avLst/>
          </a:prstGeom>
          <a:noFill/>
        </p:spPr>
        <p:txBody>
          <a:bodyPr wrap="none" t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영업인가 접수</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 대출심의 완료</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7" name="TextBox 106">
            <a:extLst>
              <a:ext uri="{FF2B5EF4-FFF2-40B4-BE49-F238E27FC236}">
                <a16:creationId xmlns:a16="http://schemas.microsoft.com/office/drawing/2014/main" id="{A9303C4E-5718-6FBB-625F-B6A060B01B66}"/>
              </a:ext>
            </a:extLst>
          </p:cNvPr>
          <p:cNvSpPr txBox="1"/>
          <p:nvPr/>
        </p:nvSpPr>
        <p:spPr>
          <a:xfrm>
            <a:off x="6063206"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9월 23일</a:t>
            </a:r>
          </a:p>
        </p:txBody>
      </p:sp>
      <p:sp>
        <p:nvSpPr>
          <p:cNvPr id="108" name="타원 107">
            <a:extLst>
              <a:ext uri="{FF2B5EF4-FFF2-40B4-BE49-F238E27FC236}">
                <a16:creationId xmlns:a16="http://schemas.microsoft.com/office/drawing/2014/main" id="{59A4AA78-428E-DDCC-B56C-2DACCA88C748}"/>
              </a:ext>
            </a:extLst>
          </p:cNvPr>
          <p:cNvSpPr/>
          <p:nvPr/>
        </p:nvSpPr>
        <p:spPr>
          <a:xfrm>
            <a:off x="6292074"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338554"/>
          </a:xfrm>
          <a:prstGeom prst="rect">
            <a:avLst/>
          </a:prstGeom>
          <a:noFill/>
        </p:spPr>
        <p:txBody>
          <a:bodyPr wrap="square" rtlCol="0" anchor="ctr">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 설립자본금 3억원 출자 및 발기설립 완료(9/11)</a:t>
            </a:r>
            <a:endPar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사업일정은 협의에 따라 변동될 수 있음. (KLI 추진일정 기준, 2026-10-01 갱신)</a:t>
            </a:r>
          </a:p>
        </p:txBody>
      </p:sp>
      <p:sp>
        <p:nvSpPr>
          <p:cNvPr id="117" name="TextBox 116">
            <a:extLst>
              <a:ext uri="{FF2B5EF4-FFF2-40B4-BE49-F238E27FC236}">
                <a16:creationId xmlns:a16="http://schemas.microsoft.com/office/drawing/2014/main" id="{91A8CA2F-12BF-26F2-3FD2-6FF1D0B79A7F}"/>
              </a:ext>
            </a:extLst>
          </p:cNvPr>
          <p:cNvSpPr txBox="1"/>
          <p:nvPr/>
        </p:nvSpPr>
        <p:spPr>
          <a:xfrm>
            <a:off x="9610895" y="5743842"/>
            <a:ext cx="672932" cy="203362"/>
          </a:xfrm>
          <a:prstGeom prst="rect">
            <a:avLst/>
          </a:prstGeom>
          <a:noFill/>
        </p:spPr>
        <p:txBody>
          <a:bodyPr wrap="none" t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독점적 협상기간</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만료일</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18" name="TextBox 117">
            <a:extLst>
              <a:ext uri="{FF2B5EF4-FFF2-40B4-BE49-F238E27FC236}">
                <a16:creationId xmlns:a16="http://schemas.microsoft.com/office/drawing/2014/main" id="{03DE435F-1FA6-57EA-F3C7-96C660A9F6F9}"/>
              </a:ext>
            </a:extLst>
          </p:cNvPr>
          <p:cNvSpPr txBox="1"/>
          <p:nvPr/>
        </p:nvSpPr>
        <p:spPr>
          <a:xfrm>
            <a:off x="9577404"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10월 28일</a:t>
            </a:r>
          </a:p>
        </p:txBody>
      </p:sp>
      <p:sp>
        <p:nvSpPr>
          <p:cNvPr id="119" name="타원 118">
            <a:extLst>
              <a:ext uri="{FF2B5EF4-FFF2-40B4-BE49-F238E27FC236}">
                <a16:creationId xmlns:a16="http://schemas.microsoft.com/office/drawing/2014/main" id="{438AADBD-DB37-CD70-39AF-101D0F9E270E}"/>
              </a:ext>
            </a:extLst>
          </p:cNvPr>
          <p:cNvSpPr/>
          <p:nvPr/>
        </p:nvSpPr>
        <p:spPr>
          <a:xfrm>
            <a:off x="9806272"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127" name="TextBox 126">
            <a:extLst>
              <a:ext uri="{FF2B5EF4-FFF2-40B4-BE49-F238E27FC236}">
                <a16:creationId xmlns:a16="http://schemas.microsoft.com/office/drawing/2014/main" id="{C14872E0-8C10-B7A7-708E-8488ACE5348B}"/>
              </a:ext>
            </a:extLst>
          </p:cNvPr>
          <p:cNvSpPr txBox="1"/>
          <p:nvPr/>
        </p:nvSpPr>
        <p:spPr>
          <a:xfrm>
            <a:off x="3685903" y="5765897"/>
            <a:ext cx="908761" cy="203362"/>
          </a:xfrm>
          <a:prstGeom prst="rect">
            <a:avLst/>
          </a:prstGeom>
          <a:noFill/>
        </p:spPr>
        <p:txBody>
          <a:bodyPr wrap="none" t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양해각서 체결</a:t>
            </a:r>
          </a:p>
        </p:txBody>
      </p:sp>
      <p:sp>
        <p:nvSpPr>
          <p:cNvPr id="128" name="TextBox 127">
            <a:extLst>
              <a:ext uri="{FF2B5EF4-FFF2-40B4-BE49-F238E27FC236}">
                <a16:creationId xmlns:a16="http://schemas.microsoft.com/office/drawing/2014/main" id="{A54E3A0F-3C25-CB6F-412C-53299D74FC9F}"/>
              </a:ext>
            </a:extLst>
          </p:cNvPr>
          <p:cNvSpPr txBox="1"/>
          <p:nvPr/>
        </p:nvSpPr>
        <p:spPr>
          <a:xfrm>
            <a:off x="3648621"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8월 27일</a:t>
            </a:r>
          </a:p>
        </p:txBody>
      </p:sp>
      <p:sp>
        <p:nvSpPr>
          <p:cNvPr id="129" name="타원 128">
            <a:extLst>
              <a:ext uri="{FF2B5EF4-FFF2-40B4-BE49-F238E27FC236}">
                <a16:creationId xmlns:a16="http://schemas.microsoft.com/office/drawing/2014/main" id="{8B34E54B-59F8-FB4D-CEC4-4B5848F7C560}"/>
              </a:ext>
            </a:extLst>
          </p:cNvPr>
          <p:cNvSpPr/>
          <p:nvPr/>
        </p:nvSpPr>
        <p:spPr>
          <a:xfrm>
            <a:off x="3877489"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99" name="TextBox 98">
            <a:extLst>
              <a:ext uri="{FF2B5EF4-FFF2-40B4-BE49-F238E27FC236}">
                <a16:creationId xmlns:a16="http://schemas.microsoft.com/office/drawing/2014/main" id="{53B93C17-3FD3-D6EE-FDDB-04EDF93F10E3}"/>
              </a:ext>
            </a:extLst>
          </p:cNvPr>
          <p:cNvSpPr txBox="1"/>
          <p:nvPr/>
        </p:nvSpPr>
        <p:spPr>
          <a:xfrm>
            <a:off x="6946251"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10월 7일</a:t>
            </a:r>
          </a:p>
        </p:txBody>
      </p:sp>
      <p:sp>
        <p:nvSpPr>
          <p:cNvPr id="100" name="타원 99">
            <a:extLst>
              <a:ext uri="{FF2B5EF4-FFF2-40B4-BE49-F238E27FC236}">
                <a16:creationId xmlns:a16="http://schemas.microsoft.com/office/drawing/2014/main" id="{9AE1258E-3BEF-8BEC-2A4C-5E2DF185077B}"/>
              </a:ext>
            </a:extLst>
          </p:cNvPr>
          <p:cNvSpPr/>
          <p:nvPr/>
        </p:nvSpPr>
        <p:spPr>
          <a:xfrm>
            <a:off x="7175119"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nvGrpSpPr>
          <p:cNvPr id="16" name="그룹 15">
            <a:extLst>
              <a:ext uri="{FF2B5EF4-FFF2-40B4-BE49-F238E27FC236}">
                <a16:creationId xmlns:a16="http://schemas.microsoft.com/office/drawing/2014/main" id="{77391365-80BF-7F00-621D-CA55310CCAC4}"/>
              </a:ext>
            </a:extLst>
          </p:cNvPr>
          <p:cNvGrpSpPr/>
          <p:nvPr/>
        </p:nvGrpSpPr>
        <p:grpSpPr>
          <a:xfrm>
            <a:off x="6054076" y="4327490"/>
            <a:ext cx="1668094" cy="892507"/>
            <a:chOff x="147739" y="4679937"/>
            <a:chExt cx="1668094" cy="892507"/>
          </a:xfrm>
          <a:effectLst>
            <a:outerShdw blurRad="50800" dist="38100" dir="2700000" algn="tl" rotWithShape="0">
              <a:prstClr val="black">
                <a:alpha val="40000"/>
              </a:prstClr>
            </a:outerShdw>
          </a:effectLst>
        </p:grpSpPr>
        <p:cxnSp>
          <p:nvCxnSpPr>
            <p:cNvPr id="35" name="직선 화살표 연결선 34">
              <a:extLst>
                <a:ext uri="{FF2B5EF4-FFF2-40B4-BE49-F238E27FC236}">
                  <a16:creationId xmlns:a16="http://schemas.microsoft.com/office/drawing/2014/main" id="{463ED6E2-9651-4166-80F6-1E19766039E0}"/>
                </a:ext>
              </a:extLst>
            </p:cNvPr>
            <p:cNvCxnSpPr>
              <a:cxnSpLocks/>
            </p:cNvCxnSpPr>
            <p:nvPr/>
          </p:nvCxnSpPr>
          <p:spPr>
            <a:xfrm>
              <a:off x="1382831" y="4679937"/>
              <a:ext cx="0" cy="892507"/>
            </a:xfrm>
            <a:prstGeom prst="straightConnector1">
              <a:avLst/>
            </a:prstGeom>
            <a:ln>
              <a:solidFill>
                <a:schemeClr val="tx1">
                  <a:lumMod val="50000"/>
                  <a:lumOff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36" name="직사각형 35">
              <a:extLst>
                <a:ext uri="{FF2B5EF4-FFF2-40B4-BE49-F238E27FC236}">
                  <a16:creationId xmlns:a16="http://schemas.microsoft.com/office/drawing/2014/main" id="{759A2804-C822-6514-AB52-33AEADC618F7}"/>
                </a:ext>
              </a:extLst>
            </p:cNvPr>
            <p:cNvSpPr/>
            <p:nvPr/>
          </p:nvSpPr>
          <p:spPr>
            <a:xfrm>
              <a:off x="147739" y="4679937"/>
              <a:ext cx="1668094" cy="296662"/>
            </a:xfrm>
            <a:prstGeom prst="rect">
              <a:avLst/>
            </a:prstGeom>
            <a:solidFill>
              <a:srgbClr val="74808A">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당 투자심의위원회 [10/7]</a:t>
              </a:r>
              <a:endParaRPr kumimoji="0" lang="ko-KR" altLang="en-US" sz="1000" b="0" i="0" u="none" strike="noStrike" kern="1200" cap="none" spc="0" normalizeH="0" baseline="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sp>
        <p:nvSpPr>
          <p:cNvPr id="19" name="TextBox 18">
            <a:extLst>
              <a:ext uri="{FF2B5EF4-FFF2-40B4-BE49-F238E27FC236}">
                <a16:creationId xmlns:a16="http://schemas.microsoft.com/office/drawing/2014/main" id="{39A7B024-B9AB-71BD-BEAA-BE016B6C55ED}"/>
              </a:ext>
            </a:extLst>
          </p:cNvPr>
          <p:cNvSpPr txBox="1"/>
          <p:nvPr/>
        </p:nvSpPr>
        <p:spPr>
          <a:xfrm>
            <a:off x="7614158" y="5764444"/>
            <a:ext cx="1296144" cy="203362"/>
          </a:xfrm>
          <a:prstGeom prst="rect">
            <a:avLst/>
          </a:prstGeom>
          <a:noFill/>
        </p:spPr>
        <p:txBody>
          <a:bodyPr wrap="none" tIns="0" bIns="0" rtlCol="0" anchor="ctr">
            <a:noAutofit/>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영업인가 10/12</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9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매매계약 10/15</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대출약정서 체결</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0" name="TextBox 19">
            <a:extLst>
              <a:ext uri="{FF2B5EF4-FFF2-40B4-BE49-F238E27FC236}">
                <a16:creationId xmlns:a16="http://schemas.microsoft.com/office/drawing/2014/main" id="{1F472091-6262-E5A6-705F-906C7932A00C}"/>
              </a:ext>
            </a:extLst>
          </p:cNvPr>
          <p:cNvSpPr txBox="1"/>
          <p:nvPr/>
        </p:nvSpPr>
        <p:spPr>
          <a:xfrm>
            <a:off x="7758174"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10월 16일</a:t>
            </a:r>
          </a:p>
        </p:txBody>
      </p:sp>
      <p:sp>
        <p:nvSpPr>
          <p:cNvPr id="21" name="타원 20">
            <a:extLst>
              <a:ext uri="{FF2B5EF4-FFF2-40B4-BE49-F238E27FC236}">
                <a16:creationId xmlns:a16="http://schemas.microsoft.com/office/drawing/2014/main" id="{9CF824AA-60CE-FFD4-2C83-4B2C908A4346}"/>
              </a:ext>
            </a:extLst>
          </p:cNvPr>
          <p:cNvSpPr/>
          <p:nvPr/>
        </p:nvSpPr>
        <p:spPr>
          <a:xfrm>
            <a:off x="7987042"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nvGrpSpPr>
          <p:cNvPr id="30" name="그룹 29">
            <a:extLst>
              <a:ext uri="{FF2B5EF4-FFF2-40B4-BE49-F238E27FC236}">
                <a16:creationId xmlns:a16="http://schemas.microsoft.com/office/drawing/2014/main" id="{F52D1B80-0EC2-08C8-9469-555B869581D3}"/>
              </a:ext>
            </a:extLst>
          </p:cNvPr>
          <p:cNvGrpSpPr/>
          <p:nvPr/>
        </p:nvGrpSpPr>
        <p:grpSpPr>
          <a:xfrm>
            <a:off x="4589822" y="4986221"/>
            <a:ext cx="739915" cy="983038"/>
            <a:chOff x="4705046" y="4986221"/>
            <a:chExt cx="739915" cy="983038"/>
          </a:xfrm>
        </p:grpSpPr>
        <p:sp>
          <p:nvSpPr>
            <p:cNvPr id="26" name="TextBox 25">
              <a:extLst>
                <a:ext uri="{FF2B5EF4-FFF2-40B4-BE49-F238E27FC236}">
                  <a16:creationId xmlns:a16="http://schemas.microsoft.com/office/drawing/2014/main" id="{BC2AC806-326D-4F36-2226-BBD166E7B1DB}"/>
                </a:ext>
              </a:extLst>
            </p:cNvPr>
            <p:cNvSpPr txBox="1"/>
            <p:nvPr/>
          </p:nvSpPr>
          <p:spPr>
            <a:xfrm>
              <a:off x="4738537" y="5765897"/>
              <a:ext cx="672932" cy="203362"/>
            </a:xfrm>
            <a:prstGeom prst="rect">
              <a:avLst/>
            </a:prstGeom>
            <a:noFill/>
          </p:spPr>
          <p:txBody>
            <a:bodyPr wrap="none" t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발기설립 완료</a:t>
              </a:r>
            </a:p>
          </p:txBody>
        </p:sp>
        <p:sp>
          <p:nvSpPr>
            <p:cNvPr id="27" name="TextBox 26">
              <a:extLst>
                <a:ext uri="{FF2B5EF4-FFF2-40B4-BE49-F238E27FC236}">
                  <a16:creationId xmlns:a16="http://schemas.microsoft.com/office/drawing/2014/main" id="{C859A1E0-2E46-A9D7-5879-E87608313D74}"/>
                </a:ext>
              </a:extLst>
            </p:cNvPr>
            <p:cNvSpPr txBox="1"/>
            <p:nvPr/>
          </p:nvSpPr>
          <p:spPr>
            <a:xfrm>
              <a:off x="4705046"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9월 11일</a:t>
              </a:r>
            </a:p>
          </p:txBody>
        </p:sp>
        <p:sp>
          <p:nvSpPr>
            <p:cNvPr id="28" name="타원 27">
              <a:extLst>
                <a:ext uri="{FF2B5EF4-FFF2-40B4-BE49-F238E27FC236}">
                  <a16:creationId xmlns:a16="http://schemas.microsoft.com/office/drawing/2014/main" id="{EB389287-1073-4887-0213-7ACEF76434D8}"/>
                </a:ext>
              </a:extLst>
            </p:cNvPr>
            <p:cNvSpPr/>
            <p:nvPr/>
          </p:nvSpPr>
          <p:spPr>
            <a:xfrm>
              <a:off x="4933914"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spTree>
    <p:extLst>
      <p:ext uri="{BB962C8B-B14F-4D97-AF65-F5344CB8AC3E}">
        <p14:creationId xmlns:p14="http://schemas.microsoft.com/office/powerpoint/2010/main" val="1046229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1E241363-A27F-F3D9-54EB-21A376A61587}"/>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8E3FF44D-2075-DBA0-A24B-82D552383385}"/>
                </a:ext>
              </a:extLst>
            </p:cNvPr>
            <p:cNvSpPr txBox="1"/>
            <p:nvPr/>
          </p:nvSpPr>
          <p:spPr>
            <a:xfrm>
              <a:off x="417444" y="1652332"/>
              <a:ext cx="809115"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 조건</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정관</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aphicFrame>
        <p:nvGraphicFramePr>
          <p:cNvPr id="8" name="표 7">
            <a:extLst>
              <a:ext uri="{FF2B5EF4-FFF2-40B4-BE49-F238E27FC236}">
                <a16:creationId xmlns:a16="http://schemas.microsoft.com/office/drawing/2014/main" id="{18FFC239-92F5-C10F-9B49-13C21052D9B1}"/>
              </a:ext>
            </a:extLst>
          </p:cNvPr>
          <p:cNvGraphicFramePr>
            <a:graphicFrameLocks noGrp="1"/>
          </p:cNvGraphicFramePr>
          <p:nvPr>
            <p:extLst>
              <p:ext uri="{D42A27DB-BD31-4B8C-83A1-F6EECF244321}">
                <p14:modId xmlns:p14="http://schemas.microsoft.com/office/powerpoint/2010/main" val="2042980506"/>
              </p:ext>
            </p:extLst>
          </p:nvPr>
        </p:nvGraphicFramePr>
        <p:xfrm>
          <a:off x="521371" y="1450179"/>
          <a:ext cx="9756000" cy="4901184"/>
        </p:xfrm>
        <a:graphic>
          <a:graphicData uri="http://schemas.openxmlformats.org/drawingml/2006/table">
            <a:tbl>
              <a:tblPr>
                <a:tableStyleId>{5940675A-B579-460E-94D1-54222C63F5DA}</a:tableStyleId>
              </a:tblPr>
              <a:tblGrid>
                <a:gridCol w="1404000">
                  <a:extLst>
                    <a:ext uri="{9D8B030D-6E8A-4147-A177-3AD203B41FA5}">
                      <a16:colId xmlns:a16="http://schemas.microsoft.com/office/drawing/2014/main" val="20000"/>
                    </a:ext>
                  </a:extLst>
                </a:gridCol>
                <a:gridCol w="8352000">
                  <a:extLst>
                    <a:ext uri="{9D8B030D-6E8A-4147-A177-3AD203B41FA5}">
                      <a16:colId xmlns:a16="http://schemas.microsoft.com/office/drawing/2014/main" val="20001"/>
                    </a:ext>
                  </a:extLst>
                </a:gridCol>
              </a:tblGrid>
              <a:tr h="274320">
                <a:tc>
                  <a:txBody>
                    <a:bodyPr anchor="ct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nchor="ct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주요내용</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8"/>
                  </a:ext>
                </a:extLst>
              </a:tr>
              <a:tr h="420624">
                <a:tc>
                  <a:txBody>
                    <a:bodyPr anchor="ct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상호·목적</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주식회사 코람코라이프로지스위탁관리부동산투자회사(KLL REIT)</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부동산 취득·관리·임대·처분 등 부투법상 자산 투자·운용 (제1·2조)</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90771424"/>
                  </a:ext>
                </a:extLst>
              </a:tr>
              <a:tr h="420624">
                <a:tc>
                  <a:txBody>
                    <a:bodyPr anchor="ct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존립기간·상장</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marL="171450" marR="0" lvl="0" indent="-171450"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영속형 (제5조) / 상장요건 충족 시 지체 없이 상장 (제13조)</a:t>
                      </a:r>
                      <a:endPar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256978887"/>
                  </a:ext>
                </a:extLst>
              </a:tr>
              <a:tr h="420624">
                <a:tc>
                  <a:txBody>
                    <a:bodyPr anchor="ct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발행주식</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액면가 1,000원, 발행예정주식 10억주 (제7·8조)</a:t>
                      </a:r>
                      <a:endPar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 제1-1·1-2·2-1·2-2·3종 종류주식 (종류별 5천만주 한도, 제10·11조①)</a:t>
                      </a:r>
                      <a:endPar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0"/>
                  </a:ext>
                </a:extLst>
              </a:tr>
              <a:tr h="420624">
                <a:tc>
                  <a:txBody>
                    <a:bodyPr anchor="ct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의결권</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보통주·제1-1종·제2-1종 의결권 있음 / 제1-2종·제2-2종·제3종 무의결권</a:t>
                      </a:r>
                      <a:endPar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무의결권 종류주식 합계는 발행주식총수의 1/4 이내 (제11조①⑤)</a:t>
                      </a:r>
                      <a:endPar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080296744"/>
                  </a:ext>
                </a:extLst>
              </a:tr>
              <a:tr h="420624">
                <a:tc>
                  <a:txBody>
                    <a:bodyPr anchor="ct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배당률</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제1종 연 7.0%·제2종 연 7.5% 누적배당(발행가액 기준), 제3종 누적배당 없음</a:t>
                      </a:r>
                      <a:endPar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 확정배당 연 7.5% (납입일·소유권취득일 중 늦은 날부터 1년) (제11조②)</a:t>
                      </a:r>
                      <a:endPar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950743684"/>
                  </a:ext>
                </a:extLst>
              </a:tr>
              <a:tr h="420624">
                <a:tc>
                  <a:txBody>
                    <a:bodyPr anchor="ct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평상시 배당순서</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① 1종 누적미배당 → ② 1종 당기 → ③ 2종 누적미배당 → ④ 2종 당기</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⑤⑥ 보통주 확정배당(미배당분 포함) → ⑦ 잔여 이익 보통주 (제11조②)</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274252813"/>
                  </a:ext>
                </a:extLst>
              </a:tr>
              <a:tr h="420624">
                <a:tc>
                  <a:txBody>
                    <a:bodyPr anchor="ctr"/>
                    <a:lstStyle/>
                    <a:p>
                      <a:pPr algn="ctr" fontAlgn="ctr">
                        <a:lnSpc>
                          <a:spcPct val="100000"/>
                        </a:lnSpc>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매각 결산기 배당</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제2항 ①~⑥ 배당 → 1종 원본 → 2종 원본 → 3종 원본 → 보통주 원본</a:t>
                      </a:r>
                      <a:endPar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잔여 이익 20% 제2종, 80% 보통주 (제11조③)</a:t>
                      </a:r>
                      <a:endPar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752610538"/>
                  </a:ext>
                </a:extLst>
              </a:tr>
              <a:tr h="420624">
                <a:tc>
                  <a:txBody>
                    <a:bodyPr anchor="ctr"/>
                    <a:lstStyle/>
                    <a:p>
                      <a:pPr algn="ctr" fontAlgn="ctr">
                        <a:lnSpc>
                          <a:spcPct val="100000"/>
                        </a:lnSpc>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청산 시 분배</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marL="171450" marR="0" lvl="0" indent="-171450" algn="l" defTabSz="1007943"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해산 결산기 미배당액 → 1종 원본 → 2종 원본 → 3종 원본 → 보통주 원본</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marR="0" lvl="0" indent="-171450" algn="l" defTabSz="1007943"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잔여재산 20% 제2종, 80% 보통주 (제11조④)</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36000" marB="3600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989736213"/>
                  </a:ext>
                </a:extLst>
              </a:tr>
              <a:tr h="420624">
                <a:tc>
                  <a:txBody>
                    <a:bodyPr anchor="ctr"/>
                    <a:lstStyle/>
                    <a:p>
                      <a:pPr algn="ctr" fontAlgn="ctr">
                        <a:lnSpc>
                          <a:spcPct val="100000"/>
                        </a:lnSpc>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신주발행</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marL="171450" marR="0" lvl="0" indent="-171450" algn="l" defTabSz="1007943"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이사회 결의로 발행, 영업인가 전 제3자 배정 불가</a:t>
                      </a:r>
                      <a:endPar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marR="0" lvl="0" indent="-171450" algn="l" defTabSz="1007943"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인가 후 3년 내 신주발행계획·매매대금 지급 목적 등은 제3자 배정 허용 (제14조)</a:t>
                      </a:r>
                      <a:endPar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965621151"/>
                  </a:ext>
                </a:extLst>
              </a:tr>
              <a:tr h="420624">
                <a:tc>
                  <a:txBody>
                    <a:bodyPr anchor="ct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주식 양도</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제3자에게 양도 시 이사회 승인 필요 (제19조)</a:t>
                      </a:r>
                      <a:endParaRPr lang="ko-KR" altLang="en-US"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848910890"/>
                  </a:ext>
                </a:extLst>
              </a:tr>
              <a:tr h="420624">
                <a:tc>
                  <a:txBody>
                    <a:bodyPr anchor="ct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주주총회 결의</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보통결의: 총자산 30% 초과 자산 취득·처분, 차입·사채발행계획, 자산관리·보관계약 등</a:t>
                      </a:r>
                      <a:endPar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특별결의: 정관 변경 등 (제26·27조)</a:t>
                      </a:r>
                      <a:endPar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33839977"/>
                  </a:ext>
                </a:extLst>
              </a:tr>
            </a:tbl>
          </a:graphicData>
        </a:graphic>
      </p:graphicFrame>
      <p:sp>
        <p:nvSpPr>
          <p:cNvPr id="9" name="TextBox 8">
            <a:extLst>
              <a:ext uri="{FF2B5EF4-FFF2-40B4-BE49-F238E27FC236}">
                <a16:creationId xmlns:a16="http://schemas.microsoft.com/office/drawing/2014/main" id="{A3B9ACBE-427B-39AA-38ED-6BA26327F072}"/>
              </a:ext>
            </a:extLst>
          </p:cNvPr>
          <p:cNvSpPr txBox="1"/>
          <p:nvPr/>
        </p:nvSpPr>
        <p:spPr>
          <a:xfrm>
            <a:off x="0" y="215441"/>
            <a:ext cx="7542150" cy="532703"/>
          </a:xfrm>
          <a:prstGeom prst="rect">
            <a:avLst/>
          </a:prstGeom>
          <a:noFill/>
        </p:spPr>
        <p:txBody>
          <a:bodyPr wrap="square" lIns="25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Ⅰ.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주주간계약서 체결의 건</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0" name="TextBox 9"/>
          <p:cNvSpPr txBox="1"/>
          <p:nvPr/>
        </p:nvSpPr>
        <p:spPr>
          <a:xfrm>
            <a:off x="521371" y="6420000"/>
            <a:ext cx="9756000" cy="330000"/>
          </a:xfrm>
          <a:prstGeom prst="rect">
            <a:avLst/>
          </a:prstGeom>
          <a:noFill/>
        </p:spPr>
        <p:txBody>
          <a:bodyPr wrap="square" lIns="0" rIns="0" tIns="0" bIns="0" anchor="ctr">
            <a:spAutoFit/>
          </a:bodyPr>
          <a:lstStyle/>
          <a:p>
            <a:pPr algn="l"/>
            <a:r>
              <a:rPr sz="800">
                <a:solidFill>
                  <a:srgbClr val="404040"/>
                </a:solidFill>
                <a:latin typeface="KoPubWorld돋움체 Light"/>
                <a:ea typeface="KoPubWorld돋움체 Light"/>
                <a:cs typeface="KoPubWorld돋움체 Light"/>
              </a:rPr>
              <a:t>※ 출처: KLL리츠 정관(BKL 25359401.v8). 제3종 유상감자 미이행 시 가산배당(연 6%→8%)·매각청구 및 배당순서(1종 배당→2종 배당→1종 원본→2종 원본→3종 배당) 반영을 위한 정관 개정 예정(협의 중)</a:t>
            </a:r>
          </a:p>
        </p:txBody>
      </p:sp>
    </p:spTree>
    <p:extLst>
      <p:ext uri="{BB962C8B-B14F-4D97-AF65-F5344CB8AC3E}">
        <p14:creationId xmlns:p14="http://schemas.microsoft.com/office/powerpoint/2010/main" val="1669781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A75D0-F579-D4DA-04F3-D21D9C3A96DB}"/>
            </a:ext>
          </a:extLst>
        </p:cNvPr>
        <p:cNvGrpSpPr/>
        <p:nvPr/>
      </p:nvGrpSpPr>
      <p:grpSpPr>
        <a:xfrm>
          <a:off x="0" y="0"/>
          <a:ext cx="0" cy="0"/>
          <a:chOff x="0" y="0"/>
          <a:chExt cx="0" cy="0"/>
        </a:xfrm>
      </p:grpSpPr>
      <p:grpSp>
        <p:nvGrpSpPr>
          <p:cNvPr id="2" name="그룹 1">
            <a:extLst>
              <a:ext uri="{FF2B5EF4-FFF2-40B4-BE49-F238E27FC236}">
                <a16:creationId xmlns:a16="http://schemas.microsoft.com/office/drawing/2014/main" id="{F5BE94F7-DC7C-5A5C-62C5-E3E7B2BBC0E9}"/>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88284D85-B17B-6B2C-3B06-B4A1B5761E5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17785B6A-E978-1D7C-6FBD-A3D24898B993}"/>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F6FD42C1-2FBD-44CB-76FF-1A90DBAF7948}"/>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29456504-0C2A-AA1B-CBF8-B82C5B9311A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789F9709-9071-18AA-C891-CC296143D89D}"/>
                </a:ext>
              </a:extLst>
            </p:cNvPr>
            <p:cNvSpPr txBox="1"/>
            <p:nvPr/>
          </p:nvSpPr>
          <p:spPr>
            <a:xfrm>
              <a:off x="417444" y="1652332"/>
              <a:ext cx="1255111"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 조건</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주주간계약서</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aphicFrame>
        <p:nvGraphicFramePr>
          <p:cNvPr id="8" name="표 7">
            <a:extLst>
              <a:ext uri="{FF2B5EF4-FFF2-40B4-BE49-F238E27FC236}">
                <a16:creationId xmlns:a16="http://schemas.microsoft.com/office/drawing/2014/main" id="{14ECF9DC-E80D-94CB-CA2B-8F3FF4CC2771}"/>
              </a:ext>
            </a:extLst>
          </p:cNvPr>
          <p:cNvGraphicFramePr>
            <a:graphicFrameLocks noGrp="1"/>
          </p:cNvGraphicFramePr>
          <p:nvPr/>
        </p:nvGraphicFramePr>
        <p:xfrm>
          <a:off x="521371" y="1450179"/>
          <a:ext cx="9756000" cy="4901184"/>
        </p:xfrm>
        <a:graphic>
          <a:graphicData uri="http://schemas.openxmlformats.org/drawingml/2006/table">
            <a:tbl>
              <a:tblPr>
                <a:tableStyleId>{5940675A-B579-460E-94D1-54222C63F5DA}</a:tableStyleId>
              </a:tblPr>
              <a:tblGrid>
                <a:gridCol w="1404000">
                  <a:extLst>
                    <a:ext uri="{9D8B030D-6E8A-4147-A177-3AD203B41FA5}">
                      <a16:colId xmlns:a16="http://schemas.microsoft.com/office/drawing/2014/main" val="20000"/>
                    </a:ext>
                  </a:extLst>
                </a:gridCol>
                <a:gridCol w="8352000">
                  <a:extLst>
                    <a:ext uri="{9D8B030D-6E8A-4147-A177-3AD203B41FA5}">
                      <a16:colId xmlns:a16="http://schemas.microsoft.com/office/drawing/2014/main" val="20001"/>
                    </a:ext>
                  </a:extLst>
                </a:gridCol>
              </a:tblGrid>
              <a:tr h="274320">
                <a:tc>
                  <a:txBody>
                    <a:bodyPr anchor="ct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nchor="ct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주요내용</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8"/>
                  </a:ext>
                </a:extLst>
              </a:tr>
              <a:tr h="420624">
                <a:tc>
                  <a:txBody>
                    <a:bodyPr anchor="ct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당사자</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KLI(보통주·제2종), 이지스리츠3호·키움캐피탈·애큐온캐피탈·엠지캐피탈(제1-1종), 기계설비건설공제조합·</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삼성증권·이지스K리츠(제2종), 엘에프(제3종), 대상회사 (별첨1)</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90771424"/>
                  </a:ext>
                </a:extLst>
              </a:tr>
              <a:tr h="420624">
                <a:tc>
                  <a:txBody>
                    <a:bodyPr anchor="ct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출자 구조</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marL="171450" marR="0" lvl="0" indent="-171450"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총 988억원: 보통주 148억원(@5,000원, KLI) / 제1-1종 240억원 / 제2종 500억원(KLI 160억원 포함)</a:t>
                      </a:r>
                      <a:endPar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marR="0" lvl="0" indent="-171450"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제3종 100억원(엘에프) — 종류주식 발행가 @25,000원 (제2.1조)</a:t>
                      </a:r>
                      <a:endPar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256978887"/>
                  </a:ext>
                </a:extLst>
              </a:tr>
              <a:tr h="420624">
                <a:tc>
                  <a:txBody>
                    <a:bodyPr anchor="ct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주금 납입</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거래종결일 2영업일 전까지 이사회가 정한 납입예정일에 회사 지정 계좌로 납입</a:t>
                      </a:r>
                      <a:endPar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(14:00 납입 노력, 15:00까지 완료) — 기준 일정 10/21 납입 (제2.1·2.2조)</a:t>
                      </a:r>
                      <a:endPar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0"/>
                  </a:ext>
                </a:extLst>
              </a:tr>
              <a:tr h="420624">
                <a:tc>
                  <a:txBody>
                    <a:bodyPr anchor="ct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발기주식 감자</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유상증자 완료 후 KLI 발기설립 보통주 300,000주(3억원) 100% 유상감자 (제2.3조)</a:t>
                      </a:r>
                      <a:endPar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080296744"/>
                  </a:ext>
                </a:extLst>
              </a:tr>
              <a:tr h="420624">
                <a:tc>
                  <a:txBody>
                    <a:bodyPr anchor="ct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배당</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제1종 연 7.0%·제2종 연 7.5% 누적배당, 제3종 누적배당 미적용 (제1.3조)</a:t>
                      </a:r>
                      <a:endPar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 초기 1년 연 7.5% 배당 협조 — 배당 재원·결의가 없는 경우 지급·보전 의무 없음</a:t>
                      </a:r>
                      <a:endPar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950743684"/>
                  </a:ext>
                </a:extLst>
              </a:tr>
              <a:tr h="420624">
                <a:tc>
                  <a:txBody>
                    <a:bodyPr anchor="ct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제1종 매입확약</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KLI가 발행일부터 24개월 응당일까지 제1종 전부를 발행가액(25,000원/주)으로 매입</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미이행 시 미매입잔액에 연 5.0% 지연손해금, 매입의무 존속 (제3조, 매입확약서)</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274252813"/>
                  </a:ext>
                </a:extLst>
              </a:tr>
              <a:tr h="420624">
                <a:tc>
                  <a:txBody>
                    <a:bodyPr anchor="ctr"/>
                    <a:lstStyle/>
                    <a:p>
                      <a:pPr algn="ctr" fontAlgn="ctr">
                        <a:lnSpc>
                          <a:spcPct val="100000"/>
                        </a:lnSpc>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제2종 매입확약</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KLI가 발행일부터 12개월 응당일까지 제2종 전부(KLI 보유분 제외)를 발행가액으로 매입</a:t>
                      </a:r>
                      <a:endPar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미이행 시 연 3.0% 지연이자 + 미매입잔액 20% 위약벌, 매입의무 존속 (제4조, 매입확약서)</a:t>
                      </a:r>
                      <a:endPar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752610538"/>
                  </a:ext>
                </a:extLst>
              </a:tr>
              <a:tr h="420624">
                <a:tc>
                  <a:txBody>
                    <a:bodyPr anchor="ctr"/>
                    <a:lstStyle/>
                    <a:p>
                      <a:pPr algn="ctr" fontAlgn="ctr">
                        <a:lnSpc>
                          <a:spcPct val="100000"/>
                        </a:lnSpc>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매도확약</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marL="171450" marR="0" lvl="0" indent="-171450" algn="l" defTabSz="1007943"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종류주주는 체결일(셀다운 양수인은 양도 완결 전)에 KLI 앞 매도확약서 제출</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marR="0" lvl="0" indent="-171450" algn="l" defTabSz="1007943"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 요청일부터 10일 내 동일 조건 매도, 미이행 시 1종 연 5.0% / 2종 연 3.0%+위약벌 20% (제3.5·4.5조)</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36000" marB="3600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989736213"/>
                  </a:ext>
                </a:extLst>
              </a:tr>
              <a:tr h="420624">
                <a:tc>
                  <a:txBody>
                    <a:bodyPr anchor="ctr"/>
                    <a:lstStyle/>
                    <a:p>
                      <a:pPr algn="ctr" fontAlgn="ctr">
                        <a:lnSpc>
                          <a:spcPct val="100000"/>
                        </a:lnSpc>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제3종 유상감자</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marL="171450" marR="0" lvl="0" indent="-171450" algn="l" defTabSz="1007943"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발행일부터 24개월(법정절차 지연 시 +[3]개월) 내 엘에프에 발행가액으로 감자</a:t>
                      </a:r>
                      <a:endPar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marR="0" lvl="0" indent="-171450" algn="l" defTabSz="1007943"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미완료 시 엘에프 감자요청 → 회사는 리파이낸싱 등으로 감자재원 조달 (제5조)</a:t>
                      </a:r>
                      <a:endPar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965621151"/>
                  </a:ext>
                </a:extLst>
              </a:tr>
              <a:tr h="420624">
                <a:tc>
                  <a:txBody>
                    <a:bodyPr anchor="ct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지배구조</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이사 3인 중 2인 및 대표이사 KLI 지명, 감사 1인 주주총회 선임 (제6조)</a:t>
                      </a:r>
                      <a:endParaRPr lang="ko-KR" altLang="en-US"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848910890"/>
                  </a:ext>
                </a:extLst>
              </a:tr>
              <a:tr h="420624">
                <a:tc>
                  <a:txBody>
                    <a:bodyPr anchor="ct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양도 제한</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원칙: 다른 주주 전원 서면동의 / KLI 매입거래 양도는 동의 불요 (제7.1·7.5조)</a:t>
                      </a:r>
                      <a:endPar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셀다운: 매도확약서 제출 + KLI 사전동의(우리투자증권·삼성증권 최초 셀다운은 면제) (제7.6조)</a:t>
                      </a:r>
                      <a:endPar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33839977"/>
                  </a:ext>
                </a:extLst>
              </a:tr>
            </a:tbl>
          </a:graphicData>
        </a:graphic>
      </p:graphicFrame>
      <p:sp>
        <p:nvSpPr>
          <p:cNvPr id="11" name="TextBox 10">
            <a:extLst>
              <a:ext uri="{FF2B5EF4-FFF2-40B4-BE49-F238E27FC236}">
                <a16:creationId xmlns:a16="http://schemas.microsoft.com/office/drawing/2014/main" id="{8B490DBD-E858-1D4A-BB4C-B02B20C06271}"/>
              </a:ext>
            </a:extLst>
          </p:cNvPr>
          <p:cNvSpPr txBox="1"/>
          <p:nvPr/>
        </p:nvSpPr>
        <p:spPr>
          <a:xfrm>
            <a:off x="0" y="215441"/>
            <a:ext cx="7542150" cy="532703"/>
          </a:xfrm>
          <a:prstGeom prst="rect">
            <a:avLst/>
          </a:prstGeom>
          <a:noFill/>
        </p:spPr>
        <p:txBody>
          <a:bodyPr wrap="square" lIns="25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Ⅰ.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주주간계약서 체결의 건</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2" name="TextBox 11"/>
          <p:cNvSpPr txBox="1"/>
          <p:nvPr/>
        </p:nvSpPr>
        <p:spPr>
          <a:xfrm>
            <a:off x="521371" y="6420000"/>
            <a:ext cx="9756000" cy="330000"/>
          </a:xfrm>
          <a:prstGeom prst="rect">
            <a:avLst/>
          </a:prstGeom>
          <a:noFill/>
        </p:spPr>
        <p:txBody>
          <a:bodyPr wrap="square" lIns="0" rIns="0" tIns="0" bIns="0" anchor="ctr">
            <a:spAutoFit/>
          </a:bodyPr>
          <a:lstStyle/>
          <a:p>
            <a:pPr algn="l"/>
            <a:r>
              <a:rPr sz="800">
                <a:solidFill>
                  <a:srgbClr val="404040"/>
                </a:solidFill>
                <a:latin typeface="KoPubWorld돋움체 Light"/>
                <a:ea typeface="KoPubWorld돋움체 Light"/>
                <a:cs typeface="KoPubWorld돋움체 Light"/>
              </a:rPr>
              <a:t>※ 출처: 주주간계약서 BKL v23 final(2026-09-30), KLI 매입확약서(제1종 투자자용 v1 / 제2종 BKL v1_4), 매도확약서(투자자용 v1). 체결 예정일 2026-10-16. 제2종 KLI 인수분 160억원은 지분구성표 기준(계약서 표는 [*])</a:t>
            </a:r>
          </a:p>
        </p:txBody>
      </p:sp>
    </p:spTree>
    <p:extLst>
      <p:ext uri="{BB962C8B-B14F-4D97-AF65-F5344CB8AC3E}">
        <p14:creationId xmlns:p14="http://schemas.microsoft.com/office/powerpoint/2010/main" val="1023253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09BBC-E1D0-3228-1D0F-766169BEEC4A}"/>
            </a:ext>
          </a:extLst>
        </p:cNvPr>
        <p:cNvGrpSpPr/>
        <p:nvPr/>
      </p:nvGrpSpPr>
      <p:grpSpPr>
        <a:xfrm>
          <a:off x="0" y="0"/>
          <a:ext cx="0" cy="0"/>
          <a:chOff x="0" y="0"/>
          <a:chExt cx="0" cy="0"/>
        </a:xfrm>
      </p:grpSpPr>
      <p:grpSp>
        <p:nvGrpSpPr>
          <p:cNvPr id="2" name="그룹 1">
            <a:extLst>
              <a:ext uri="{FF2B5EF4-FFF2-40B4-BE49-F238E27FC236}">
                <a16:creationId xmlns:a16="http://schemas.microsoft.com/office/drawing/2014/main" id="{1CFB0891-6D31-3531-A675-FC2A281E6E46}"/>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67BD8046-9BB6-073E-B92E-C18ED133818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5D3B173E-0E5F-DAD9-617E-DA9E69D6DD9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E4DD24E9-E6EA-34A6-7594-90C6D869775B}"/>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1337356D-17F7-3AD0-BD57-F89797BC2E45}"/>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A83E573D-5A36-34AA-0B0D-32BACAD5F451}"/>
                </a:ext>
              </a:extLst>
            </p:cNvPr>
            <p:cNvSpPr txBox="1"/>
            <p:nvPr/>
          </p:nvSpPr>
          <p:spPr>
            <a:xfrm>
              <a:off x="417444" y="1652332"/>
              <a:ext cx="1152076"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 조건</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지분 구성표</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13" name="TextBox 12">
            <a:extLst>
              <a:ext uri="{FF2B5EF4-FFF2-40B4-BE49-F238E27FC236}">
                <a16:creationId xmlns:a16="http://schemas.microsoft.com/office/drawing/2014/main" id="{A464B78F-A814-9690-7358-EB656EADD342}"/>
              </a:ext>
            </a:extLst>
          </p:cNvPr>
          <p:cNvSpPr txBox="1"/>
          <p:nvPr/>
        </p:nvSpPr>
        <p:spPr>
          <a:xfrm>
            <a:off x="0" y="215441"/>
            <a:ext cx="7542150" cy="532703"/>
          </a:xfrm>
          <a:prstGeom prst="rect">
            <a:avLst/>
          </a:prstGeom>
          <a:noFill/>
        </p:spPr>
        <p:txBody>
          <a:bodyPr wrap="square" lIns="25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Ⅰ.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주주간계약서 체결의 건</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4" name="Table 13"/>
          <p:cNvGraphicFramePr>
            <a:graphicFrameLocks noGrp="1"/>
          </p:cNvGraphicFramePr>
          <p:nvPr/>
        </p:nvGraphicFramePr>
        <p:xfrm>
          <a:off x="521371" y="1450179"/>
          <a:ext cx="9756000" cy="3291840"/>
        </p:xfrm>
        <a:graphic>
          <a:graphicData uri="http://schemas.openxmlformats.org/drawingml/2006/table">
            <a:tbl>
              <a:tblPr>
                <a:tableStyleId>{5940675A-B579-460E-94D1-54222C63F5DA}</a:tableStyleId>
              </a:tblPr>
              <a:tblGrid>
                <a:gridCol w="1350000"/>
                <a:gridCol w="2050000"/>
                <a:gridCol w="620000"/>
                <a:gridCol w="1000000"/>
                <a:gridCol w="880000"/>
                <a:gridCol w="1050000"/>
                <a:gridCol w="800000"/>
                <a:gridCol w="1156000"/>
                <a:gridCol w="850000"/>
              </a:tblGrid>
              <a:tr h="274320">
                <a:tc>
                  <a:txBody>
                    <a:bodyPr anchor="ctr"/>
                    <a:lstStyle/>
                    <a:p>
                      <a:pPr algn="ctr"/>
                      <a:r>
                        <a:rPr sz="1000">
                          <a:solidFill>
                            <a:srgbClr val="000000"/>
                          </a:solidFill>
                          <a:latin typeface="KoPubWorld돋움체 Bold"/>
                          <a:ea typeface="KoPubWorld돋움체 Bold"/>
                          <a:cs typeface="KoPubWorld돋움체 Bold"/>
                        </a:rPr>
                        <a:t>종류</a:t>
                      </a:r>
                    </a:p>
                  </a:txBody>
                  <a:tcPr anchor="ctr" marL="9525" marR="9525" marT="9525" marB="0">
                    <a:lnL w="9525" cap="flat" cmpd="sng" algn="ctr">
                      <a:no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nchor="ctr"/>
                    <a:lstStyle/>
                    <a:p>
                      <a:pPr algn="ctr"/>
                      <a:r>
                        <a:rPr sz="1000">
                          <a:solidFill>
                            <a:srgbClr val="000000"/>
                          </a:solidFill>
                          <a:latin typeface="KoPubWorld돋움체 Bold"/>
                          <a:ea typeface="KoPubWorld돋움체 Bold"/>
                          <a:cs typeface="KoPubWorld돋움체 Bold"/>
                        </a:rPr>
                        <a:t>주주명</a:t>
                      </a:r>
                    </a:p>
                  </a:txBody>
                  <a:tcPr anchor="ctr" marL="9525" marR="9525" marT="9525" marB="0">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nchor="ctr"/>
                    <a:lstStyle/>
                    <a:p>
                      <a:pPr algn="ctr"/>
                      <a:r>
                        <a:rPr sz="1000">
                          <a:solidFill>
                            <a:srgbClr val="000000"/>
                          </a:solidFill>
                          <a:latin typeface="KoPubWorld돋움체 Bold"/>
                          <a:ea typeface="KoPubWorld돋움체 Bold"/>
                          <a:cs typeface="KoPubWorld돋움체 Bold"/>
                        </a:rPr>
                        <a:t>의결권</a:t>
                      </a:r>
                    </a:p>
                  </a:txBody>
                  <a:tcPr anchor="ctr" marL="9525" marR="9525" marT="9525" marB="0">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nchor="ctr"/>
                    <a:lstStyle/>
                    <a:p>
                      <a:pPr algn="ctr"/>
                      <a:r>
                        <a:rPr sz="1000">
                          <a:solidFill>
                            <a:srgbClr val="000000"/>
                          </a:solidFill>
                          <a:latin typeface="KoPubWorld돋움체 Bold"/>
                          <a:ea typeface="KoPubWorld돋움체 Bold"/>
                          <a:cs typeface="KoPubWorld돋움체 Bold"/>
                        </a:rPr>
                        <a:t>투자금(백만원)</a:t>
                      </a:r>
                    </a:p>
                  </a:txBody>
                  <a:tcPr anchor="ctr" marL="9525" marR="9525" marT="9525" marB="0">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nchor="ctr"/>
                    <a:lstStyle/>
                    <a:p>
                      <a:pPr algn="ctr"/>
                      <a:r>
                        <a:rPr sz="1000">
                          <a:solidFill>
                            <a:srgbClr val="000000"/>
                          </a:solidFill>
                          <a:latin typeface="KoPubWorld돋움체 Bold"/>
                          <a:ea typeface="KoPubWorld돋움체 Bold"/>
                          <a:cs typeface="KoPubWorld돋움체 Bold"/>
                        </a:rPr>
                        <a:t>발행가(원)</a:t>
                      </a:r>
                    </a:p>
                  </a:txBody>
                  <a:tcPr anchor="ctr" marL="9525" marR="9525" marT="9525" marB="0">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nchor="ctr"/>
                    <a:lstStyle/>
                    <a:p>
                      <a:pPr algn="ctr"/>
                      <a:r>
                        <a:rPr sz="1000">
                          <a:solidFill>
                            <a:srgbClr val="000000"/>
                          </a:solidFill>
                          <a:latin typeface="KoPubWorld돋움체 Bold"/>
                          <a:ea typeface="KoPubWorld돋움체 Bold"/>
                          <a:cs typeface="KoPubWorld돋움체 Bold"/>
                        </a:rPr>
                        <a:t>주식수(주)</a:t>
                      </a:r>
                    </a:p>
                  </a:txBody>
                  <a:tcPr anchor="ctr" marL="9525" marR="9525" marT="9525" marB="0">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nchor="ctr"/>
                    <a:lstStyle/>
                    <a:p>
                      <a:pPr algn="ctr"/>
                      <a:r>
                        <a:rPr sz="1000">
                          <a:solidFill>
                            <a:srgbClr val="000000"/>
                          </a:solidFill>
                          <a:latin typeface="KoPubWorld돋움체 Bold"/>
                          <a:ea typeface="KoPubWorld돋움체 Bold"/>
                          <a:cs typeface="KoPubWorld돋움체 Bold"/>
                        </a:rPr>
                        <a:t>지분율</a:t>
                      </a:r>
                    </a:p>
                  </a:txBody>
                  <a:tcPr anchor="ctr" marL="9525" marR="9525" marT="9525" marB="0">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nchor="ctr"/>
                    <a:lstStyle/>
                    <a:p>
                      <a:pPr algn="ctr"/>
                      <a:r>
                        <a:rPr sz="1000">
                          <a:solidFill>
                            <a:srgbClr val="000000"/>
                          </a:solidFill>
                          <a:latin typeface="KoPubWorld돋움체 Bold"/>
                          <a:ea typeface="KoPubWorld돋움체 Bold"/>
                          <a:cs typeface="KoPubWorld돋움체 Bold"/>
                        </a:rPr>
                        <a:t>의결권 주식수</a:t>
                      </a:r>
                    </a:p>
                  </a:txBody>
                  <a:tcPr anchor="ctr" marL="9525" marR="9525" marT="9525" marB="0">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nchor="ctr"/>
                    <a:lstStyle/>
                    <a:p>
                      <a:pPr algn="ctr"/>
                      <a:r>
                        <a:rPr sz="1000">
                          <a:solidFill>
                            <a:srgbClr val="000000"/>
                          </a:solidFill>
                          <a:latin typeface="KoPubWorld돋움체 Bold"/>
                          <a:ea typeface="KoPubWorld돋움체 Bold"/>
                          <a:cs typeface="KoPubWorld돋움체 Bold"/>
                        </a:rPr>
                        <a:t>의결권 지분율</a:t>
                      </a:r>
                    </a:p>
                  </a:txBody>
                  <a:tcPr anchor="ctr" marL="9525" marR="9525" marT="9525" marB="0">
                    <a:lnL w="3175" cap="flat" cmpd="sng" algn="ctr">
                      <a:solidFill>
                        <a:srgbClr val="BFBFBF"/>
                      </a:solidFill>
                      <a:prstDash val="solid"/>
                    </a:lnL>
                    <a:lnR w="3175" cap="flat" cmpd="sng" algn="ctr">
                      <a:no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r>
              <a:tr h="274320">
                <a:tc rowSpan="4">
                  <a:txBody>
                    <a:bodyPr anchor="ctr"/>
                    <a:lstStyle/>
                    <a:p>
                      <a:pPr algn="ctr"/>
                      <a:r>
                        <a:rPr sz="1000">
                          <a:solidFill>
                            <a:srgbClr val="000000"/>
                          </a:solidFill>
                          <a:latin typeface="KoPubWorld돋움체 Medium"/>
                          <a:ea typeface="KoPubWorld돋움체 Medium"/>
                          <a:cs typeface="KoPubWorld돋움체 Medium"/>
                        </a:rPr>
                        <a:t>제1-1종 종류주식</a:t>
                      </a:r>
                    </a:p>
                  </a:txBody>
                  <a:tcPr anchor="ctr" marL="9525" marR="9525" marT="9525" marB="0">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l"/>
                      <a:r>
                        <a:rPr sz="1000">
                          <a:solidFill>
                            <a:srgbClr val="000000"/>
                          </a:solidFill>
                          <a:latin typeface="KoPubWorld돋움체 Light"/>
                          <a:ea typeface="KoPubWorld돋움체 Light"/>
                          <a:cs typeface="KoPubWorld돋움체 Light"/>
                        </a:rPr>
                        <a:t>이지스자산운용(3호펀드)</a:t>
                      </a:r>
                    </a:p>
                  </a:txBody>
                  <a:tcPr anchor="ctr" marL="72000"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O</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10,000</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25,000</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400,000</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6.3%</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400,000</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7.9%</a:t>
                      </a:r>
                    </a:p>
                  </a:txBody>
                  <a:tcPr anchor="ctr" marL="9525" marR="9525" marT="9525" marB="0">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tr>
              <a:tr h="274320">
                <a:tc vMerge="1">
                  <a:txBody>
                    <a:bodyPr anchor="ctr"/>
                    <a:lstStyle/>
                    <a:p/>
                  </a:txBody>
                  <a:tcPr anchor="ctr" marL="9525" marR="9525" marT="9525" marB="0">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l"/>
                      <a:r>
                        <a:rPr sz="1000">
                          <a:solidFill>
                            <a:srgbClr val="000000"/>
                          </a:solidFill>
                          <a:latin typeface="KoPubWorld돋움체 Light"/>
                          <a:ea typeface="KoPubWorld돋움체 Light"/>
                          <a:cs typeface="KoPubWorld돋움체 Light"/>
                        </a:rPr>
                        <a:t>키움캐피탈</a:t>
                      </a:r>
                    </a:p>
                  </a:txBody>
                  <a:tcPr anchor="ctr" marL="72000"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O</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6,000</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25,000</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240,000</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3.8%</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240,000</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4.8%</a:t>
                      </a:r>
                    </a:p>
                  </a:txBody>
                  <a:tcPr anchor="ctr" marL="9525" marR="9525" marT="9525" marB="0">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tr>
              <a:tr h="274320">
                <a:tc vMerge="1">
                  <a:txBody>
                    <a:bodyPr anchor="ctr"/>
                    <a:lstStyle/>
                    <a:p/>
                  </a:txBody>
                  <a:tcPr anchor="ctr" marL="9525" marR="9525" marT="9525" marB="0">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l"/>
                      <a:r>
                        <a:rPr sz="1000">
                          <a:solidFill>
                            <a:srgbClr val="000000"/>
                          </a:solidFill>
                          <a:latin typeface="KoPubWorld돋움체 Light"/>
                          <a:ea typeface="KoPubWorld돋움체 Light"/>
                          <a:cs typeface="KoPubWorld돋움체 Light"/>
                        </a:rPr>
                        <a:t>애큐온캐피탈</a:t>
                      </a:r>
                    </a:p>
                  </a:txBody>
                  <a:tcPr anchor="ctr" marL="72000"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O</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5,000</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25,000</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200,000</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3.1%</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200,000</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4.0%</a:t>
                      </a:r>
                    </a:p>
                  </a:txBody>
                  <a:tcPr anchor="ctr" marL="9525" marR="9525" marT="9525" marB="0">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tr>
              <a:tr h="274320">
                <a:tc vMerge="1">
                  <a:txBody>
                    <a:bodyPr anchor="ctr"/>
                    <a:lstStyle/>
                    <a:p/>
                  </a:txBody>
                  <a:tcPr anchor="ctr" marL="9525" marR="9525" marT="9525" marB="0">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l"/>
                      <a:r>
                        <a:rPr sz="1000">
                          <a:solidFill>
                            <a:srgbClr val="000000"/>
                          </a:solidFill>
                          <a:latin typeface="KoPubWorld돋움체 Light"/>
                          <a:ea typeface="KoPubWorld돋움체 Light"/>
                          <a:cs typeface="KoPubWorld돋움체 Light"/>
                        </a:rPr>
                        <a:t>MG캐피탈</a:t>
                      </a:r>
                    </a:p>
                  </a:txBody>
                  <a:tcPr anchor="ctr" marL="72000"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O</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3,000</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25,000</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120,000</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1.9%</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120,000</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2.4%</a:t>
                      </a:r>
                    </a:p>
                  </a:txBody>
                  <a:tcPr anchor="ctr" marL="9525" marR="9525" marT="9525" marB="0">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tr>
              <a:tr h="274320">
                <a:tc rowSpan="2">
                  <a:txBody>
                    <a:bodyPr anchor="ctr"/>
                    <a:lstStyle/>
                    <a:p>
                      <a:pPr algn="ctr"/>
                      <a:r>
                        <a:rPr sz="1000">
                          <a:solidFill>
                            <a:srgbClr val="000000"/>
                          </a:solidFill>
                          <a:latin typeface="KoPubWorld돋움체 Medium"/>
                          <a:ea typeface="KoPubWorld돋움체 Medium"/>
                          <a:cs typeface="KoPubWorld돋움체 Medium"/>
                        </a:rPr>
                        <a:t>제2-1종 종류주식</a:t>
                      </a:r>
                    </a:p>
                  </a:txBody>
                  <a:tcPr anchor="ctr" marL="9525" marR="9525" marT="9525" marB="0">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l"/>
                      <a:r>
                        <a:rPr sz="1000">
                          <a:solidFill>
                            <a:srgbClr val="000000"/>
                          </a:solidFill>
                          <a:latin typeface="KoPubWorld돋움체 Medium"/>
                          <a:ea typeface="KoPubWorld돋움체 Medium"/>
                          <a:cs typeface="KoPubWorld돋움체 Medium"/>
                        </a:rPr>
                        <a:t>코람코라이프인프라리츠</a:t>
                      </a:r>
                    </a:p>
                  </a:txBody>
                  <a:tcPr anchor="ctr" marL="72000"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O</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16,000</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25,000</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640,000</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10.1%</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640,000</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Medium"/>
                          <a:ea typeface="KoPubWorld돋움체 Medium"/>
                          <a:cs typeface="KoPubWorld돋움체 Medium"/>
                        </a:rPr>
                        <a:t>12.7%</a:t>
                      </a:r>
                    </a:p>
                  </a:txBody>
                  <a:tcPr anchor="ctr" marL="9525" marR="9525" marT="9525" marB="0">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tr>
              <a:tr h="274320">
                <a:tc vMerge="1">
                  <a:txBody>
                    <a:bodyPr anchor="ctr"/>
                    <a:lstStyle/>
                    <a:p/>
                  </a:txBody>
                  <a:tcPr anchor="ctr" marL="9525" marR="9525" marT="9525" marB="0">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l"/>
                      <a:r>
                        <a:rPr sz="1000">
                          <a:solidFill>
                            <a:srgbClr val="000000"/>
                          </a:solidFill>
                          <a:latin typeface="KoPubWorld돋움체 Light"/>
                          <a:ea typeface="KoPubWorld돋움체 Light"/>
                          <a:cs typeface="KoPubWorld돋움체 Light"/>
                        </a:rPr>
                        <a:t>삼성증권</a:t>
                      </a:r>
                    </a:p>
                  </a:txBody>
                  <a:tcPr anchor="ctr" marL="72000"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O</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12,000</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25,000</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480,000</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7.6%</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480,000</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9.5%</a:t>
                      </a:r>
                    </a:p>
                  </a:txBody>
                  <a:tcPr anchor="ctr" marL="9525" marR="9525" marT="9525" marB="0">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tr>
              <a:tr h="274320">
                <a:tc rowSpan="2">
                  <a:txBody>
                    <a:bodyPr anchor="ctr"/>
                    <a:lstStyle/>
                    <a:p>
                      <a:pPr algn="ctr"/>
                      <a:r>
                        <a:rPr sz="1000">
                          <a:solidFill>
                            <a:srgbClr val="000000"/>
                          </a:solidFill>
                          <a:latin typeface="KoPubWorld돋움체 Medium"/>
                          <a:ea typeface="KoPubWorld돋움체 Medium"/>
                          <a:cs typeface="KoPubWorld돋움체 Medium"/>
                        </a:rPr>
                        <a:t>제2-2종 종류주식</a:t>
                      </a:r>
                    </a:p>
                    <a:p>
                      <a:pPr algn="ctr"/>
                      <a:r>
                        <a:rPr sz="1000">
                          <a:solidFill>
                            <a:srgbClr val="000000"/>
                          </a:solidFill>
                          <a:latin typeface="KoPubWorld돋움체 Medium"/>
                          <a:ea typeface="KoPubWorld돋움체 Medium"/>
                          <a:cs typeface="KoPubWorld돋움체 Medium"/>
                        </a:rPr>
                        <a:t>(무의결)</a:t>
                      </a:r>
                    </a:p>
                  </a:txBody>
                  <a:tcPr anchor="ctr" marL="9525" marR="9525" marT="9525" marB="0">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l"/>
                      <a:r>
                        <a:rPr sz="1000">
                          <a:solidFill>
                            <a:srgbClr val="000000"/>
                          </a:solidFill>
                          <a:latin typeface="KoPubWorld돋움체 Light"/>
                          <a:ea typeface="KoPubWorld돋움체 Light"/>
                          <a:cs typeface="KoPubWorld돋움체 Light"/>
                        </a:rPr>
                        <a:t>이지스자산운용(K리츠펀드)</a:t>
                      </a:r>
                    </a:p>
                  </a:txBody>
                  <a:tcPr anchor="ctr" marL="72000"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10,000</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25,000</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400,000</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6.3%</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a:t>
                      </a:r>
                    </a:p>
                  </a:txBody>
                  <a:tcPr anchor="ctr" marL="9525" marR="9525" marT="9525" marB="0">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tr>
              <a:tr h="274320">
                <a:tc vMerge="1">
                  <a:txBody>
                    <a:bodyPr anchor="ctr"/>
                    <a:lstStyle/>
                    <a:p/>
                  </a:txBody>
                  <a:tcPr anchor="ctr" marL="9525" marR="9525" marT="9525" marB="0">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l"/>
                      <a:r>
                        <a:rPr sz="1000">
                          <a:solidFill>
                            <a:srgbClr val="000000"/>
                          </a:solidFill>
                          <a:latin typeface="KoPubWorld돋움체 Light"/>
                          <a:ea typeface="KoPubWorld돋움체 Light"/>
                          <a:cs typeface="KoPubWorld돋움체 Light"/>
                        </a:rPr>
                        <a:t>기계설비건설공제조합</a:t>
                      </a:r>
                    </a:p>
                  </a:txBody>
                  <a:tcPr anchor="ctr" marL="72000"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12,000</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25,000</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480,000</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7.6%</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a:t>
                      </a:r>
                    </a:p>
                  </a:txBody>
                  <a:tcPr anchor="ctr" marL="9525" marR="9525" marT="9525" marB="0">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tr>
              <a:tr h="274320">
                <a:tc>
                  <a:txBody>
                    <a:bodyPr anchor="ctr"/>
                    <a:lstStyle/>
                    <a:p>
                      <a:pPr algn="ctr"/>
                      <a:r>
                        <a:rPr sz="1000">
                          <a:solidFill>
                            <a:srgbClr val="000000"/>
                          </a:solidFill>
                          <a:latin typeface="KoPubWorld돋움체 Medium"/>
                          <a:ea typeface="KoPubWorld돋움체 Medium"/>
                          <a:cs typeface="KoPubWorld돋움체 Medium"/>
                        </a:rPr>
                        <a:t>제3종 종류주식</a:t>
                      </a:r>
                    </a:p>
                    <a:p>
                      <a:pPr algn="ctr"/>
                      <a:r>
                        <a:rPr sz="1000">
                          <a:solidFill>
                            <a:srgbClr val="000000"/>
                          </a:solidFill>
                          <a:latin typeface="KoPubWorld돋움체 Medium"/>
                          <a:ea typeface="KoPubWorld돋움체 Medium"/>
                          <a:cs typeface="KoPubWorld돋움체 Medium"/>
                        </a:rPr>
                        <a:t>(무의결)</a:t>
                      </a:r>
                    </a:p>
                  </a:txBody>
                  <a:tcPr anchor="ctr" marL="9525" marR="9525" marT="9525" marB="0">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l"/>
                      <a:r>
                        <a:rPr sz="1000">
                          <a:solidFill>
                            <a:srgbClr val="000000"/>
                          </a:solidFill>
                          <a:latin typeface="KoPubWorld돋움체 Light"/>
                          <a:ea typeface="KoPubWorld돋움체 Light"/>
                          <a:cs typeface="KoPubWorld돋움체 Light"/>
                        </a:rPr>
                        <a:t>매도인(코크렙안양PFV)</a:t>
                      </a:r>
                    </a:p>
                  </a:txBody>
                  <a:tcPr anchor="ctr" marL="72000"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10,000</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23,000</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434,783</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6.8%</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a:t>
                      </a:r>
                    </a:p>
                  </a:txBody>
                  <a:tcPr anchor="ctr" marL="9525" marR="9525" marT="9525" marB="0">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tr>
              <a:tr h="274320">
                <a:tc>
                  <a:txBody>
                    <a:bodyPr anchor="ctr"/>
                    <a:lstStyle/>
                    <a:p>
                      <a:pPr algn="ctr"/>
                      <a:r>
                        <a:rPr sz="1000">
                          <a:solidFill>
                            <a:srgbClr val="000000"/>
                          </a:solidFill>
                          <a:latin typeface="KoPubWorld돋움체 Medium"/>
                          <a:ea typeface="KoPubWorld돋움체 Medium"/>
                          <a:cs typeface="KoPubWorld돋움체 Medium"/>
                        </a:rPr>
                        <a:t>보통주식</a:t>
                      </a:r>
                    </a:p>
                  </a:txBody>
                  <a:tcPr anchor="ctr" marL="9525" marR="9525" marT="9525" marB="0">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l"/>
                      <a:r>
                        <a:rPr sz="1000">
                          <a:solidFill>
                            <a:srgbClr val="000000"/>
                          </a:solidFill>
                          <a:latin typeface="KoPubWorld돋움체 Medium"/>
                          <a:ea typeface="KoPubWorld돋움체 Medium"/>
                          <a:cs typeface="KoPubWorld돋움체 Medium"/>
                        </a:rPr>
                        <a:t>코람코라이프인프라리츠</a:t>
                      </a:r>
                    </a:p>
                  </a:txBody>
                  <a:tcPr anchor="ctr" marL="72000"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O</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14,800</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5,000</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2,960,000</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46.6%</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2,960,000</a:t>
                      </a:r>
                    </a:p>
                  </a:txBody>
                  <a:tcPr anchor="ctr" marL="9525" marR="9525" marT="9525" marB="0">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Medium"/>
                          <a:ea typeface="KoPubWorld돋움체 Medium"/>
                          <a:cs typeface="KoPubWorld돋움체 Medium"/>
                        </a:rPr>
                        <a:t>58.7%</a:t>
                      </a:r>
                    </a:p>
                  </a:txBody>
                  <a:tcPr anchor="ctr" marL="9525" marR="9525" marT="9525" marB="0">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tr>
              <a:tr h="274320">
                <a:tc gridSpan="3">
                  <a:txBody>
                    <a:bodyPr anchor="ctr"/>
                    <a:lstStyle/>
                    <a:p>
                      <a:pPr algn="ctr"/>
                      <a:r>
                        <a:rPr sz="1000">
                          <a:solidFill>
                            <a:srgbClr val="000000"/>
                          </a:solidFill>
                          <a:latin typeface="KoPubWorld돋움체 Bold"/>
                          <a:ea typeface="KoPubWorld돋움체 Bold"/>
                          <a:cs typeface="KoPubWorld돋움체 Bold"/>
                        </a:rPr>
                        <a:t>합계</a:t>
                      </a:r>
                    </a:p>
                  </a:txBody>
                  <a:tcPr anchor="ctr" marL="9525" marR="9525" marT="9525" marB="0">
                    <a:lnL w="9525" cap="flat" cmpd="sng" algn="ctr">
                      <a:no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hMerge="1">
                  <a:txBody>
                    <a:bodyPr anchor="ctr"/>
                    <a:lstStyle/>
                    <a:p>
                      <a:pPr algn="l"/>
                      <a:r>
                        <a:rPr sz="1000">
                          <a:solidFill>
                            <a:srgbClr val="000000"/>
                          </a:solidFill>
                          <a:latin typeface="KoPubWorld돋움체 Medium"/>
                          <a:ea typeface="KoPubWorld돋움체 Medium"/>
                          <a:cs typeface="KoPubWorld돋움체 Medium"/>
                        </a:rPr>
                        <a:t/>
                      </a:r>
                    </a:p>
                  </a:txBody>
                  <a:tcPr anchor="ctr" marL="72000" marR="9525" marT="9525" marB="0">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noFill/>
                  </a:tcPr>
                </a:tc>
                <a:tc hMerge="1">
                  <a:txBody>
                    <a:bodyPr anchor="ctr"/>
                    <a:lstStyle/>
                    <a:p>
                      <a:pPr algn="l"/>
                      <a:r>
                        <a:rPr sz="1000">
                          <a:solidFill>
                            <a:srgbClr val="000000"/>
                          </a:solidFill>
                          <a:latin typeface="KoPubWorld돋움체 Medium"/>
                          <a:ea typeface="KoPubWorld돋움체 Medium"/>
                          <a:cs typeface="KoPubWorld돋움체 Medium"/>
                        </a:rPr>
                        <a:t/>
                      </a:r>
                    </a:p>
                  </a:txBody>
                  <a:tcPr anchor="ctr" marL="72000" marR="9525" marT="9525" marB="0">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noFill/>
                  </a:tcPr>
                </a:tc>
                <a:tc>
                  <a:txBody>
                    <a:bodyPr anchor="ctr"/>
                    <a:lstStyle/>
                    <a:p>
                      <a:pPr algn="l"/>
                      <a:r>
                        <a:rPr sz="1000">
                          <a:solidFill>
                            <a:srgbClr val="000000"/>
                          </a:solidFill>
                          <a:latin typeface="KoPubWorld돋움체 Medium"/>
                          <a:ea typeface="KoPubWorld돋움체 Medium"/>
                          <a:cs typeface="KoPubWorld돋움체 Medium"/>
                        </a:rPr>
                        <a:t>98,800</a:t>
                      </a:r>
                    </a:p>
                  </a:txBody>
                  <a:tcPr anchor="ctr" marL="72000" marR="9525" marT="9525" marB="0">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noFill/>
                  </a:tcPr>
                </a:tc>
                <a:tc>
                  <a:txBody>
                    <a:bodyPr anchor="ctr"/>
                    <a:lstStyle/>
                    <a:p>
                      <a:pPr algn="l"/>
                      <a:r>
                        <a:rPr sz="1000">
                          <a:solidFill>
                            <a:srgbClr val="000000"/>
                          </a:solidFill>
                          <a:latin typeface="KoPubWorld돋움체 Medium"/>
                          <a:ea typeface="KoPubWorld돋움체 Medium"/>
                          <a:cs typeface="KoPubWorld돋움체 Medium"/>
                        </a:rPr>
                        <a:t/>
                      </a:r>
                    </a:p>
                  </a:txBody>
                  <a:tcPr anchor="ctr" marL="72000" marR="9525" marT="9525" marB="0">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noFill/>
                  </a:tcPr>
                </a:tc>
                <a:tc>
                  <a:txBody>
                    <a:bodyPr anchor="ctr"/>
                    <a:lstStyle/>
                    <a:p>
                      <a:pPr algn="l"/>
                      <a:r>
                        <a:rPr sz="1000">
                          <a:solidFill>
                            <a:srgbClr val="000000"/>
                          </a:solidFill>
                          <a:latin typeface="KoPubWorld돋움체 Medium"/>
                          <a:ea typeface="KoPubWorld돋움체 Medium"/>
                          <a:cs typeface="KoPubWorld돋움체 Medium"/>
                        </a:rPr>
                        <a:t>6,354,783</a:t>
                      </a:r>
                    </a:p>
                  </a:txBody>
                  <a:tcPr anchor="ctr" marL="72000" marR="9525" marT="9525" marB="0">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noFill/>
                  </a:tcPr>
                </a:tc>
                <a:tc>
                  <a:txBody>
                    <a:bodyPr anchor="ctr"/>
                    <a:lstStyle/>
                    <a:p>
                      <a:pPr algn="l"/>
                      <a:r>
                        <a:rPr sz="1000">
                          <a:solidFill>
                            <a:srgbClr val="000000"/>
                          </a:solidFill>
                          <a:latin typeface="KoPubWorld돋움체 Medium"/>
                          <a:ea typeface="KoPubWorld돋움체 Medium"/>
                          <a:cs typeface="KoPubWorld돋움체 Medium"/>
                        </a:rPr>
                        <a:t>100.0%</a:t>
                      </a:r>
                    </a:p>
                  </a:txBody>
                  <a:tcPr anchor="ctr" marL="72000" marR="9525" marT="9525" marB="0">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noFill/>
                  </a:tcPr>
                </a:tc>
                <a:tc>
                  <a:txBody>
                    <a:bodyPr anchor="ctr"/>
                    <a:lstStyle/>
                    <a:p>
                      <a:pPr algn="l"/>
                      <a:r>
                        <a:rPr sz="1000">
                          <a:solidFill>
                            <a:srgbClr val="000000"/>
                          </a:solidFill>
                          <a:latin typeface="KoPubWorld돋움체 Medium"/>
                          <a:ea typeface="KoPubWorld돋움체 Medium"/>
                          <a:cs typeface="KoPubWorld돋움체 Medium"/>
                        </a:rPr>
                        <a:t>5,040,000</a:t>
                      </a:r>
                    </a:p>
                  </a:txBody>
                  <a:tcPr anchor="ctr" marL="72000" marR="9525" marT="9525" marB="0">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noFill/>
                  </a:tcPr>
                </a:tc>
                <a:tc>
                  <a:txBody>
                    <a:bodyPr anchor="ctr"/>
                    <a:lstStyle/>
                    <a:p>
                      <a:pPr algn="l"/>
                      <a:r>
                        <a:rPr sz="1000">
                          <a:solidFill>
                            <a:srgbClr val="000000"/>
                          </a:solidFill>
                          <a:latin typeface="KoPubWorld돋움체 Medium"/>
                          <a:ea typeface="KoPubWorld돋움체 Medium"/>
                          <a:cs typeface="KoPubWorld돋움체 Medium"/>
                        </a:rPr>
                        <a:t>100.0%</a:t>
                      </a:r>
                    </a:p>
                  </a:txBody>
                  <a:tcPr anchor="ctr" marL="72000" marR="9525" marT="9525" marB="0">
                    <a:lnL w="3175" cap="flat" cmpd="sng" algn="ctr">
                      <a:solidFill>
                        <a:srgbClr val="BFBFBF"/>
                      </a:solidFill>
                      <a:prstDash val="solid"/>
                    </a:lnL>
                    <a:lnR w="3175" cap="flat" cmpd="sng" algn="ctr">
                      <a:noFill/>
                      <a:prstDash val="solid"/>
                    </a:lnR>
                    <a:lnT w="6350" cap="flat" cmpd="sng" algn="ctr">
                      <a:solidFill>
                        <a:srgbClr val="000000"/>
                      </a:solidFill>
                      <a:prstDash val="solid"/>
                    </a:lnT>
                    <a:lnB w="3175" cap="flat" cmpd="sng" algn="ctr">
                      <a:solidFill>
                        <a:srgbClr val="BFBFBF"/>
                      </a:solidFill>
                      <a:prstDash val="solid"/>
                    </a:lnB>
                    <a:noFill/>
                  </a:tcPr>
                </a:tc>
              </a:tr>
            </a:tbl>
          </a:graphicData>
        </a:graphic>
      </p:graphicFrame>
      <p:sp>
        <p:nvSpPr>
          <p:cNvPr id="15" name="TextBox 14"/>
          <p:cNvSpPr txBox="1"/>
          <p:nvPr/>
        </p:nvSpPr>
        <p:spPr>
          <a:xfrm>
            <a:off x="521371" y="4862019"/>
            <a:ext cx="9756000" cy="560000"/>
          </a:xfrm>
          <a:prstGeom prst="rect">
            <a:avLst/>
          </a:prstGeom>
          <a:noFill/>
        </p:spPr>
        <p:txBody>
          <a:bodyPr wrap="square" lIns="0" rIns="0" tIns="0" bIns="0" anchor="ctr">
            <a:spAutoFit/>
          </a:bodyPr>
          <a:lstStyle/>
          <a:p>
            <a:pPr algn="l"/>
            <a:r>
              <a:rPr sz="800">
                <a:solidFill>
                  <a:srgbClr val="404040"/>
                </a:solidFill>
                <a:latin typeface="KoPubWorld돋움체 Light"/>
                <a:ea typeface="KoPubWorld돋움체 Light"/>
                <a:cs typeface="KoPubWorld돋움체 Light"/>
              </a:rPr>
              <a:t>* 불균등발행가 / 유상증자 방식. 액면가 1,000원, 보통주 5,000원·우선주 25,000원·제3종 23,000원(상증세법 순자산가치 기준 검토가액)</a:t>
            </a:r>
          </a:p>
          <a:p>
            <a:pPr algn="l"/>
            <a:r>
              <a:rPr sz="800">
                <a:solidFill>
                  <a:srgbClr val="404040"/>
                </a:solidFill>
                <a:latin typeface="KoPubWorld돋움체 Light"/>
                <a:ea typeface="KoPubWorld돋움체 Light"/>
                <a:cs typeface="KoPubWorld돋움체 Light"/>
              </a:rPr>
              <a:t>* KLI 의결권 지분 71.4% (보통주 58.7% + 제2-1종 12.7%), 무의결권 주식 비율 20.7% (상법 제344조의3 25% 한도 이내)</a:t>
            </a:r>
          </a:p>
          <a:p>
            <a:pPr algn="l"/>
            <a:r>
              <a:rPr sz="800">
                <a:solidFill>
                  <a:srgbClr val="404040"/>
                </a:solidFill>
                <a:latin typeface="KoPubWorld돋움체 Light"/>
                <a:ea typeface="KoPubWorld돋움체 Light"/>
                <a:cs typeface="KoPubWorld돋움체 Light"/>
              </a:rPr>
              <a:t>* 주주간계약 v23 final 표는 기계설비건설공제조합을 제2-1종, 삼성증권을 제2-2종으로, 제3종 주주를 엘에프(25,000원·400,000주)로 기재 — 확정 시 정합 필요</a:t>
            </a:r>
          </a:p>
        </p:txBody>
      </p:sp>
    </p:spTree>
    <p:extLst>
      <p:ext uri="{BB962C8B-B14F-4D97-AF65-F5344CB8AC3E}">
        <p14:creationId xmlns:p14="http://schemas.microsoft.com/office/powerpoint/2010/main" val="2549921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1E241363-A27F-F3D9-54EB-21A376A61587}"/>
              </a:ext>
            </a:extLst>
          </p:cNvPr>
          <p:cNvGrpSpPr/>
          <p:nvPr/>
        </p:nvGrpSpPr>
        <p:grpSpPr>
          <a:xfrm>
            <a:off x="458887" y="1079500"/>
            <a:ext cx="9783663" cy="247712"/>
            <a:chOff x="417444" y="1605420"/>
            <a:chExt cx="8983731" cy="247712"/>
          </a:xfrm>
        </p:grpSpPr>
        <p:sp>
          <p:nvSpPr>
            <p:cNvPr id="8"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0"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1"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2"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3" name="TextBox 6">
              <a:extLst>
                <a:ext uri="{FF2B5EF4-FFF2-40B4-BE49-F238E27FC236}">
                  <a16:creationId xmlns:a16="http://schemas.microsoft.com/office/drawing/2014/main" id="{8E3FF44D-2075-DBA0-A24B-82D552383385}"/>
                </a:ext>
              </a:extLst>
            </p:cNvPr>
            <p:cNvSpPr txBox="1"/>
            <p:nvPr/>
          </p:nvSpPr>
          <p:spPr>
            <a:xfrm>
              <a:off x="417444" y="1652332"/>
              <a:ext cx="1234504"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매입확약서 주요 내용</a:t>
              </a:r>
            </a:p>
          </p:txBody>
        </p:sp>
      </p:grpSp>
      <p:sp>
        <p:nvSpPr>
          <p:cNvPr id="9" name="TextBox 8">
            <a:extLst>
              <a:ext uri="{FF2B5EF4-FFF2-40B4-BE49-F238E27FC236}">
                <a16:creationId xmlns:a16="http://schemas.microsoft.com/office/drawing/2014/main" id="{A3B9ACBE-427B-39AA-38ED-6BA26327F072}"/>
              </a:ext>
            </a:extLst>
          </p:cNvPr>
          <p:cNvSpPr txBox="1"/>
          <p:nvPr/>
        </p:nvSpPr>
        <p:spPr>
          <a:xfrm>
            <a:off x="0" y="215441"/>
            <a:ext cx="7542150" cy="532703"/>
          </a:xfrm>
          <a:prstGeom prst="rect">
            <a:avLst/>
          </a:prstGeom>
          <a:noFill/>
        </p:spPr>
        <p:txBody>
          <a:bodyPr wrap="square" lIns="25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en-US" altLang="ko-KR" sz="1100" b="1"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Ⅱ. 코람코라이프인프라리츠 매입확약서(LOC) 날인의 건</a:t>
            </a:r>
          </a:p>
        </p:txBody>
      </p:sp>
      <p:sp>
        <p:nvSpPr>
          <p:cNvPr id="16" name="직사각형 15">
            <a:extLst>
              <a:ext uri="{FF2B5EF4-FFF2-40B4-BE49-F238E27FC236}">
                <a16:creationId xmlns:a16="http://schemas.microsoft.com/office/drawing/2014/main" id="{9AEB9E82-1F69-27E9-4807-9F9CB7F99528}"/>
              </a:ext>
            </a:extLst>
          </p:cNvPr>
          <p:cNvSpPr/>
          <p:nvPr/>
        </p:nvSpPr>
        <p:spPr>
          <a:xfrm>
            <a:off x="283368" y="6813698"/>
            <a:ext cx="6029240"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출처: 코람코 제1종·제2종 우선주 매입확약 공문(안)(투자자용) / 주주간계약서 v22 제3.5조·제4.5조. 발행회사명·주식수·문서번호는 확정 후 기재.</a:t>
            </a:r>
          </a:p>
        </p:txBody>
      </p:sp>
      <p:graphicFrame>
        <p:nvGraphicFramePr>
          <p:cNvPr id="17" name="신규표"/>
          <p:cNvGraphicFramePr>
            <a:graphicFrameLocks noGrp="1"/>
          </p:cNvGraphicFramePr>
          <p:nvPr/>
        </p:nvGraphicFramePr>
        <p:xfrm>
          <a:off x="457200" y="1453896"/>
          <a:ext cx="9875520" cy="2139696"/>
        </p:xfrm>
        <a:graphic>
          <a:graphicData uri="http://schemas.openxmlformats.org/drawingml/2006/table">
            <a:tbl>
              <a:tblPr>
                <a:tableStyleId>{5940675A-B579-460E-94D1-54222C63F5DA}</a:tableStyleId>
              </a:tblPr>
              <a:tblGrid>
                <a:gridCol w="201168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274320">
                <a:tc>
                  <a:txBody>
                    <a:bodyPr anchor="ct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nchor="ct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제1종 종류주식</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nchor="ct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제2종 종류주식</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10896">
                <a:tc>
                  <a:txBody>
                    <a:bodyPr anchor="ct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확약 주체</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nchor="ct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㈜코람코라이프인프라위탁관리부동산투자회사</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nchor="ctr"/>
                    <a:lstStyle/>
                    <a:p>
                      <a:pPr marL="171450" indent="-171450" algn="l" defTabSz="1007943" rtl="0" eaLnBrk="1" fontAlgn="ctr" latinLnBrk="1" hangingPunct="1">
                        <a:lnSpc>
                          <a:spcPct val="100000"/>
                        </a:lnSpc>
                        <a:buFont typeface="Arial" panose="020B0604020202020204" pitchFamily="34" charset="0"/>
                        <a:buNone/>
                      </a:pP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310896">
                <a:tc>
                  <a:txBody>
                    <a:bodyPr anchor="ct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발행회사 / 기초자산</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nchor="ct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코람코라이프로지스</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위탁관리부동산투자회사</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자리츠</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안양물류센터 (관양동 934 외 2필지)</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nchor="ctr"/>
                    <a:lstStyle/>
                    <a:p>
                      <a:pPr marL="171450" indent="-171450" algn="l" defTabSz="1007943" rtl="0" eaLnBrk="1" fontAlgn="ctr" latinLnBrk="1" hangingPunct="1">
                        <a:lnSpc>
                          <a:spcPct val="100000"/>
                        </a:lnSpc>
                        <a:buFont typeface="Arial" panose="020B0604020202020204" pitchFamily="34" charset="0"/>
                        <a:buNone/>
                      </a:pP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310896">
                <a:tc>
                  <a:txBody>
                    <a:bodyPr anchor="ct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우선배당률</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 7.0%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nchor="ct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 7.5%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310896">
                <a:tc>
                  <a:txBody>
                    <a:bodyPr anchor="ct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매입기한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발행일로부터 24개월이 되는 달의 응당일</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nchor="ct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발행일로부터 12개월이 되는 달의 응당일</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310896">
                <a:tc>
                  <a:txBody>
                    <a:bodyPr anchor="ct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매입금액</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1주당 발행가액 25,000원 × 매입대상 주식수 (240억원 예정)</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nchor="ct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1주당 발행가액 25,000원 × 매입대상 주식수 (500억원 예정)</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310896">
                <a:tc>
                  <a:txBody>
                    <a:bodyPr anchor="ct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제출 시점</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체결일 (기준 일정 2026-10-13)</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nchor="ct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(좌 동)</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grpSp>
        <p:nvGrpSpPr>
          <p:cNvPr id="14" name="그룹 1">
            <a:extLst>
              <a:ext uri="{FF2B5EF4-FFF2-40B4-BE49-F238E27FC236}">
                <a16:creationId xmlns:a16="http://schemas.microsoft.com/office/drawing/2014/main" id="{1E241363-A27F-F3D9-54EB-21A376A61587}"/>
              </a:ext>
            </a:extLst>
          </p:cNvPr>
          <p:cNvGrpSpPr/>
          <p:nvPr/>
        </p:nvGrpSpPr>
        <p:grpSpPr>
          <a:xfrm>
            <a:off x="458887" y="3739896"/>
            <a:ext cx="9783663" cy="247712"/>
            <a:chOff x="417444" y="1605420"/>
            <a:chExt cx="8983731" cy="247712"/>
          </a:xfrm>
        </p:grpSpPr>
        <p:sp>
          <p:nvSpPr>
            <p:cNvPr id="3"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8E3FF44D-2075-DBA0-A24B-82D552383385}"/>
                </a:ext>
              </a:extLst>
            </p:cNvPr>
            <p:cNvSpPr txBox="1"/>
            <p:nvPr/>
          </p:nvSpPr>
          <p:spPr>
            <a:xfrm>
              <a:off x="417444" y="1652332"/>
              <a:ext cx="1234504"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매입확약서 · 매도확약서 대응 조건</a:t>
              </a:r>
            </a:p>
          </p:txBody>
        </p:sp>
      </p:grpSp>
      <p:graphicFrame>
        <p:nvGraphicFramePr>
          <p:cNvPr id="18" name="신규표"/>
          <p:cNvGraphicFramePr>
            <a:graphicFrameLocks noGrp="1"/>
          </p:cNvGraphicFramePr>
          <p:nvPr/>
        </p:nvGraphicFramePr>
        <p:xfrm>
          <a:off x="457200" y="4114800"/>
          <a:ext cx="9875520" cy="2651760"/>
        </p:xfrm>
        <a:graphic>
          <a:graphicData uri="http://schemas.openxmlformats.org/drawingml/2006/table">
            <a:tbl>
              <a:tblPr>
                <a:tableStyleId>{5940675A-B579-460E-94D1-54222C63F5DA}</a:tableStyleId>
              </a:tblPr>
              <a:tblGrid>
                <a:gridCol w="137160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274320">
                <a:tc>
                  <a:txBody>
                    <a:bodyPr anchor="ct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nchor="ct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매입확약서 (KLI리츠 → 종류주주)</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nchor="ct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매도확약서 (종류주주 → KLI리츠)</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475488">
                <a:tc>
                  <a:txBody>
                    <a:bodyPr anchor="ct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제출 의무</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체결일에 KLI리츠가 각 종류주주에게 제출 (제3.5조·제4.5조)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nchor="ct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같은 날 각 종류주주가 KLI리츠에 제출. 셀다운 양수인은 거래 완결 전 제출</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nchor="ct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핵심 내용</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매입기한 내 대상주식 전부를 발행가액(25,000원/주)으로 매입 확약</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nchor="ct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KLI리츠의 매도 요청일로부터 [*]일 내 동일 조건으로 매도 확약</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nchor="ct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선행조건</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① 영업인가 취득·소유권 확보 ② 종류주주의 완전한 소유권 ③ 부담 </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부존재</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④ 매도확약서 제출</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nchor="ct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매입확약서와 동일 — 매도확약서 제출이 매입확약 효력 발생 조건</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nchor="ct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불이행 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미매입잔액에 연 5.0% 지연손해금, 초과 손해 별도 배상, 매입의무 존속</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nchor="ct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미매도잔액에 연 5.0% 지연이자 포함 모든 손해 배상</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475488">
                <a:tc>
                  <a:txBody>
                    <a:bodyPr anchor="ct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배당금 정산</a:t>
                      </a:r>
                    </a:p>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효력</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매입일 전일까지 종류주주, 매입일부터 KLI리츠 귀속 (5영업일 내 정산)</a:t>
                      </a:r>
                    </a:p>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 매입 목적 외 사용 불가, 주주간계약과 상충 시 주주간계약 우선</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nchor="ct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(좌 동)</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86970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EF541-9CAD-9E39-2BC0-8C81A7D80F2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73297C3-8452-4F54-AF3F-85EC2BAE7F7A}"/>
              </a:ext>
            </a:extLst>
          </p:cNvPr>
          <p:cNvSpPr txBox="1"/>
          <p:nvPr/>
        </p:nvSpPr>
        <p:spPr>
          <a:xfrm>
            <a:off x="432185" y="2079170"/>
            <a:ext cx="3115642" cy="262701"/>
          </a:xfrm>
          <a:prstGeom prst="rect">
            <a:avLst/>
          </a:prstGeom>
          <a:noFill/>
        </p:spPr>
        <p:txBody>
          <a:bodyPr wrap="square"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107" b="0" i="0" u="none" strike="noStrike" kern="1200" cap="none" spc="0" normalizeH="0" baseline="0" noProof="0" dirty="0">
                <a:ln>
                  <a:noFill/>
                </a:ln>
                <a:solidFill>
                  <a:srgbClr val="40404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 투자심의위원회 </a:t>
            </a:r>
            <a:r>
              <a:rPr kumimoji="0" lang="ko-KR" altLang="en-US" sz="1107" b="0" i="0" u="none" strike="noStrike" kern="1200" cap="none" spc="0" normalizeH="0" baseline="0" noProof="0" dirty="0" err="1">
                <a:ln>
                  <a:noFill/>
                </a:ln>
                <a:solidFill>
                  <a:srgbClr val="40404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심의자료</a:t>
            </a:r>
            <a:endParaRPr kumimoji="0" lang="ko-KR" altLang="en-US" sz="1107" b="0" i="0" u="none" strike="noStrike" kern="1200" cap="none" spc="0" normalizeH="0" baseline="0" noProof="0" dirty="0">
              <a:ln>
                <a:noFill/>
              </a:ln>
              <a:solidFill>
                <a:srgbClr val="40404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 name="TextBox 2">
            <a:extLst>
              <a:ext uri="{FF2B5EF4-FFF2-40B4-BE49-F238E27FC236}">
                <a16:creationId xmlns:a16="http://schemas.microsoft.com/office/drawing/2014/main" id="{80B51CBF-09D6-B3F3-E2CE-CDE17FBD7488}"/>
              </a:ext>
            </a:extLst>
          </p:cNvPr>
          <p:cNvSpPr txBox="1"/>
          <p:nvPr/>
        </p:nvSpPr>
        <p:spPr>
          <a:xfrm>
            <a:off x="809402" y="2778552"/>
            <a:ext cx="2080546" cy="461665"/>
          </a:xfrm>
          <a:prstGeom prst="rect">
            <a:avLst/>
          </a:prstGeom>
          <a:noFill/>
        </p:spPr>
        <p:txBody>
          <a:bodyPr wrap="square" rtlCol="0" anchor="ctr">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altLang="ko-KR" sz="2400" b="0" i="0" u="none" strike="noStrike" kern="1200" cap="none" spc="100" normalizeH="0" baseline="0" noProof="0" dirty="0">
                <a:ln>
                  <a:noFill/>
                </a:ln>
                <a:solidFill>
                  <a:srgbClr val="404040"/>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Contents</a:t>
            </a:r>
            <a:endParaRPr kumimoji="0" lang="ko-KR" altLang="en-US" sz="2400" b="0" i="0" u="none" strike="noStrike" kern="1200" cap="none" spc="100" normalizeH="0" baseline="0" noProof="0" dirty="0">
              <a:ln>
                <a:noFill/>
              </a:ln>
              <a:solidFill>
                <a:srgbClr val="404040"/>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4" name="직선 연결선 3">
            <a:extLst>
              <a:ext uri="{FF2B5EF4-FFF2-40B4-BE49-F238E27FC236}">
                <a16:creationId xmlns:a16="http://schemas.microsoft.com/office/drawing/2014/main" id="{4DE900A9-8A0E-F64A-5B71-F415F8068706}"/>
              </a:ext>
            </a:extLst>
          </p:cNvPr>
          <p:cNvCxnSpPr/>
          <p:nvPr/>
        </p:nvCxnSpPr>
        <p:spPr>
          <a:xfrm>
            <a:off x="2285566" y="2195512"/>
            <a:ext cx="7956984" cy="0"/>
          </a:xfrm>
          <a:prstGeom prst="line">
            <a:avLst/>
          </a:prstGeom>
          <a:ln>
            <a:solidFill>
              <a:srgbClr val="404040"/>
            </a:solidFill>
          </a:ln>
        </p:spPr>
        <p:style>
          <a:lnRef idx="1">
            <a:schemeClr val="accent1"/>
          </a:lnRef>
          <a:fillRef idx="0">
            <a:schemeClr val="accent1"/>
          </a:fillRef>
          <a:effectRef idx="0">
            <a:schemeClr val="accent1"/>
          </a:effectRef>
          <a:fontRef idx="minor">
            <a:schemeClr val="tx1"/>
          </a:fontRef>
        </p:style>
      </p:cxnSp>
      <p:grpSp>
        <p:nvGrpSpPr>
          <p:cNvPr id="5" name="그룹 4">
            <a:extLst>
              <a:ext uri="{FF2B5EF4-FFF2-40B4-BE49-F238E27FC236}">
                <a16:creationId xmlns:a16="http://schemas.microsoft.com/office/drawing/2014/main" id="{3D6384B6-0D6C-CD05-DCB1-54DF8D2D8C5D}"/>
              </a:ext>
            </a:extLst>
          </p:cNvPr>
          <p:cNvGrpSpPr/>
          <p:nvPr/>
        </p:nvGrpSpPr>
        <p:grpSpPr>
          <a:xfrm>
            <a:off x="552349" y="2783484"/>
            <a:ext cx="257057" cy="324000"/>
            <a:chOff x="5238750" y="-523875"/>
            <a:chExt cx="409575" cy="704850"/>
          </a:xfrm>
        </p:grpSpPr>
        <p:sp>
          <p:nvSpPr>
            <p:cNvPr id="6" name="직사각형 5">
              <a:extLst>
                <a:ext uri="{FF2B5EF4-FFF2-40B4-BE49-F238E27FC236}">
                  <a16:creationId xmlns:a16="http://schemas.microsoft.com/office/drawing/2014/main" id="{7AB1B6D9-87D7-2EE1-8883-D2A1CAE3D91A}"/>
                </a:ext>
              </a:extLst>
            </p:cNvPr>
            <p:cNvSpPr/>
            <p:nvPr/>
          </p:nvSpPr>
          <p:spPr>
            <a:xfrm>
              <a:off x="5238750" y="-523875"/>
              <a:ext cx="45719" cy="704850"/>
            </a:xfrm>
            <a:prstGeom prst="rect">
              <a:avLst/>
            </a:prstGeom>
            <a:solidFill>
              <a:srgbClr val="B43238">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95" b="0" i="0" u="none" strike="noStrike" kern="1200" cap="none" spc="0" normalizeH="0" baseline="0" noProof="0">
                <a:ln>
                  <a:noFill/>
                </a:ln>
                <a:solidFill>
                  <a:srgbClr val="40404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 name="직사각형 6">
              <a:extLst>
                <a:ext uri="{FF2B5EF4-FFF2-40B4-BE49-F238E27FC236}">
                  <a16:creationId xmlns:a16="http://schemas.microsoft.com/office/drawing/2014/main" id="{0ABF3BA4-E276-94FB-EFD3-43AE03F83B7F}"/>
                </a:ext>
              </a:extLst>
            </p:cNvPr>
            <p:cNvSpPr/>
            <p:nvPr/>
          </p:nvSpPr>
          <p:spPr>
            <a:xfrm>
              <a:off x="5329237" y="-523875"/>
              <a:ext cx="80963" cy="704850"/>
            </a:xfrm>
            <a:prstGeom prst="rect">
              <a:avLst/>
            </a:prstGeom>
            <a:solidFill>
              <a:srgbClr val="B4323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95" b="0" i="0" u="none" strike="noStrike" kern="1200" cap="none" spc="0" normalizeH="0" baseline="0" noProof="0">
                <a:ln>
                  <a:noFill/>
                </a:ln>
                <a:solidFill>
                  <a:srgbClr val="40404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8" name="직사각형 7">
              <a:extLst>
                <a:ext uri="{FF2B5EF4-FFF2-40B4-BE49-F238E27FC236}">
                  <a16:creationId xmlns:a16="http://schemas.microsoft.com/office/drawing/2014/main" id="{E02F4918-AFFB-D4C7-CF87-F4C8B0E03C04}"/>
                </a:ext>
              </a:extLst>
            </p:cNvPr>
            <p:cNvSpPr/>
            <p:nvPr/>
          </p:nvSpPr>
          <p:spPr>
            <a:xfrm>
              <a:off x="5454968" y="-523875"/>
              <a:ext cx="193357" cy="704850"/>
            </a:xfrm>
            <a:prstGeom prst="rect">
              <a:avLst/>
            </a:prstGeom>
            <a:solidFill>
              <a:srgbClr val="B4323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95" b="0" i="0" u="none" strike="noStrike" kern="1200" cap="none" spc="0" normalizeH="0" baseline="0" noProof="0">
                <a:ln>
                  <a:noFill/>
                </a:ln>
                <a:solidFill>
                  <a:srgbClr val="40404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11" name="TextBox 10">
            <a:extLst>
              <a:ext uri="{FF2B5EF4-FFF2-40B4-BE49-F238E27FC236}">
                <a16:creationId xmlns:a16="http://schemas.microsoft.com/office/drawing/2014/main" id="{4313207D-1708-4E52-AA1D-91043124E31D}"/>
              </a:ext>
            </a:extLst>
          </p:cNvPr>
          <p:cNvSpPr txBox="1"/>
          <p:nvPr/>
        </p:nvSpPr>
        <p:spPr>
          <a:xfrm>
            <a:off x="7499250" y="3052715"/>
            <a:ext cx="2743300" cy="623248"/>
          </a:xfrm>
          <a:prstGeom prst="rect">
            <a:avLst/>
          </a:prstGeom>
          <a:noFill/>
        </p:spPr>
        <p:txBody>
          <a:bodyPr wrap="square" rtlCol="0" anchor="ctr" anchorCtr="0">
            <a:spAutoFit/>
          </a:bodyPr>
          <a:lstStyle/>
          <a:p>
            <a:pPr>
              <a:lnSpc>
                <a:spcPct val="150000"/>
              </a:lnSpc>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Investment Highlight</a:t>
            </a:r>
          </a:p>
          <a:p>
            <a:pPr>
              <a:lnSpc>
                <a:spcPct val="150000"/>
              </a:lnSpc>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Ⅰ. </a:t>
            </a:r>
            <a:r>
              <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투자계획</a:t>
            </a:r>
            <a:endPar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Tree>
    <p:extLst>
      <p:ext uri="{BB962C8B-B14F-4D97-AF65-F5344CB8AC3E}">
        <p14:creationId xmlns:p14="http://schemas.microsoft.com/office/powerpoint/2010/main" val="1017361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그룹 7">
            <a:extLst>
              <a:ext uri="{FF2B5EF4-FFF2-40B4-BE49-F238E27FC236}">
                <a16:creationId xmlns:a16="http://schemas.microsoft.com/office/drawing/2014/main" id="{D6224CAD-D28F-BE27-F165-6CD86EA56940}"/>
              </a:ext>
            </a:extLst>
          </p:cNvPr>
          <p:cNvGrpSpPr/>
          <p:nvPr/>
        </p:nvGrpSpPr>
        <p:grpSpPr>
          <a:xfrm>
            <a:off x="458887" y="1987916"/>
            <a:ext cx="9783663" cy="247712"/>
            <a:chOff x="417444" y="1605420"/>
            <a:chExt cx="8983731" cy="247712"/>
          </a:xfrm>
        </p:grpSpPr>
        <p:sp>
          <p:nvSpPr>
            <p:cNvPr id="9" name="직사각형 8">
              <a:extLst>
                <a:ext uri="{FF2B5EF4-FFF2-40B4-BE49-F238E27FC236}">
                  <a16:creationId xmlns:a16="http://schemas.microsoft.com/office/drawing/2014/main" id="{5341F24A-71DD-0139-FD87-D65CF8D53B38}"/>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0" name="직선 연결선 9">
              <a:extLst>
                <a:ext uri="{FF2B5EF4-FFF2-40B4-BE49-F238E27FC236}">
                  <a16:creationId xmlns:a16="http://schemas.microsoft.com/office/drawing/2014/main" id="{359F2E0C-3611-A623-1A40-C82DB5174F7A}"/>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1" name="자유형 29">
              <a:extLst>
                <a:ext uri="{FF2B5EF4-FFF2-40B4-BE49-F238E27FC236}">
                  <a16:creationId xmlns:a16="http://schemas.microsoft.com/office/drawing/2014/main" id="{73E1A8E8-1F33-EF5F-683F-CF9857C70469}"/>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2" name="자유형 30">
              <a:extLst>
                <a:ext uri="{FF2B5EF4-FFF2-40B4-BE49-F238E27FC236}">
                  <a16:creationId xmlns:a16="http://schemas.microsoft.com/office/drawing/2014/main" id="{1D167F19-83BF-A644-42C2-D898EA395C1A}"/>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3" name="TextBox 12">
              <a:extLst>
                <a:ext uri="{FF2B5EF4-FFF2-40B4-BE49-F238E27FC236}">
                  <a16:creationId xmlns:a16="http://schemas.microsoft.com/office/drawing/2014/main" id="{DE111CCA-4BA7-0201-7A2B-E01EAB2D61BE}"/>
                </a:ext>
              </a:extLst>
            </p:cNvPr>
            <p:cNvSpPr txBox="1"/>
            <p:nvPr/>
          </p:nvSpPr>
          <p:spPr>
            <a:xfrm>
              <a:off x="417444" y="1652332"/>
              <a:ext cx="529446"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 개요</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21" name="TextBox 20">
            <a:extLst>
              <a:ext uri="{FF2B5EF4-FFF2-40B4-BE49-F238E27FC236}">
                <a16:creationId xmlns:a16="http://schemas.microsoft.com/office/drawing/2014/main" id="{8B2C2B16-126A-5C9B-F2C6-1D6B8C65F2C0}"/>
              </a:ext>
            </a:extLst>
          </p:cNvPr>
          <p:cNvSpPr txBox="1"/>
          <p:nvPr/>
        </p:nvSpPr>
        <p:spPr>
          <a:xfrm>
            <a:off x="283368" y="6813808"/>
            <a:ext cx="10519226" cy="338554"/>
          </a:xfrm>
          <a:prstGeom prst="rect">
            <a:avLst/>
          </a:prstGeom>
          <a:noFill/>
        </p:spPr>
        <p:txBody>
          <a:bodyPr wrap="none" rtlCol="0" anchor="ctr">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해당 리츠의 영업인가 상 사업계획 기준으로 주주총회 보통결의에 따라 사업계획 연장될 수 있음</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Equity IRR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수익률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120</a:t>
            </a: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운용 후 매각</a:t>
            </a:r>
            <a:r>
              <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가정</a:t>
            </a:r>
            <a:endPar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228600" indent="-228600">
              <a:buFontTx/>
              <a:buAutoNum type="arabicParenR"/>
              <a:defRPr/>
            </a:pPr>
            <a:r>
              <a:rPr lang="ko-KR" altLang="en-US" sz="800" dirty="0" err="1">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감사팀</a:t>
            </a:r>
            <a:r>
              <a:rPr lang="ko-KR" altLang="en-US"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검토의견에 따라 </a:t>
            </a:r>
            <a:r>
              <a:rPr lang="ko-KR" altLang="en-US" sz="800" dirty="0" err="1">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모리츠</a:t>
            </a:r>
            <a:r>
              <a:rPr lang="ko-KR" altLang="en-US"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주주의 이익을 극대화할 선관주의 의무</a:t>
            </a:r>
            <a:r>
              <a:rPr lang="en-US" altLang="ko-KR"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a:t>
            </a:r>
            <a:r>
              <a:rPr lang="ko-KR" altLang="en-US"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 투자자 입장에서 당사가 </a:t>
            </a:r>
            <a:r>
              <a:rPr lang="ko-KR" altLang="en-US" sz="800" dirty="0" err="1">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모자리츠</a:t>
            </a:r>
            <a:r>
              <a:rPr lang="ko-KR" altLang="en-US"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운용보수를 수취하게 되는 경우 실질수익률 저하될 수 있음</a:t>
            </a:r>
            <a:r>
              <a:rPr lang="en-US" altLang="ko-KR"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로써 </a:t>
            </a:r>
            <a:r>
              <a:rPr lang="ko-KR" altLang="en-US" sz="800" dirty="0" err="1">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모리츠의</a:t>
            </a:r>
            <a:r>
              <a:rPr lang="ko-KR" altLang="en-US"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출자금액만큼의 운용보수는 청구하지 않는 것으로 계획</a:t>
            </a:r>
            <a:endParaRPr lang="en-US" altLang="ko-KR"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3" name="TextBox 22">
            <a:extLst>
              <a:ext uri="{FF2B5EF4-FFF2-40B4-BE49-F238E27FC236}">
                <a16:creationId xmlns:a16="http://schemas.microsoft.com/office/drawing/2014/main" id="{17F4B00E-860B-49FB-0560-B2E712A3D601}"/>
              </a:ext>
            </a:extLst>
          </p:cNvPr>
          <p:cNvSpPr txBox="1"/>
          <p:nvPr/>
        </p:nvSpPr>
        <p:spPr>
          <a:xfrm>
            <a:off x="283368" y="1040097"/>
            <a:ext cx="10152063" cy="705766"/>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lvl="0" indent="-216000">
              <a:defRPr/>
            </a:pPr>
            <a:r>
              <a:rPr lang="ko-KR" altLang="en-US" sz="1600" dirty="0">
                <a:solidFill>
                  <a:prstClr val="black"/>
                </a:solidFill>
              </a:rPr>
              <a:t>본건은 </a:t>
            </a:r>
            <a:r>
              <a:rPr lang="ko-KR" altLang="en-US" sz="1600" dirty="0" err="1">
                <a:solidFill>
                  <a:prstClr val="black"/>
                </a:solidFill>
              </a:rPr>
              <a:t>코람코라이프인프라리츠가</a:t>
            </a:r>
            <a:r>
              <a:rPr lang="ko-KR" altLang="en-US" sz="1600" dirty="0">
                <a:solidFill>
                  <a:prstClr val="black"/>
                </a:solidFill>
              </a:rPr>
              <a:t> </a:t>
            </a:r>
            <a:r>
              <a:rPr lang="ko-KR" altLang="en-US" sz="1600" dirty="0" err="1">
                <a:solidFill>
                  <a:prstClr val="black"/>
                </a:solidFill>
              </a:rPr>
              <a:t>보통주</a:t>
            </a:r>
            <a:r>
              <a:rPr lang="ko-KR" altLang="en-US" sz="1600" dirty="0">
                <a:solidFill>
                  <a:prstClr val="black"/>
                </a:solidFill>
              </a:rPr>
              <a:t> 출자를 통해 </a:t>
            </a:r>
            <a:r>
              <a:rPr lang="ko-KR" altLang="en-US" sz="1600" dirty="0" err="1">
                <a:solidFill>
                  <a:prstClr val="black"/>
                </a:solidFill>
              </a:rPr>
              <a:t>자리츠</a:t>
            </a:r>
            <a:r>
              <a:rPr lang="ko-KR" altLang="en-US" sz="1600" dirty="0">
                <a:solidFill>
                  <a:prstClr val="black"/>
                </a:solidFill>
              </a:rPr>
              <a:t> 설립 후 단계적으로 지분을 확대하는 건임 </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lvl="0" indent="179388">
              <a:buNone/>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총 투자금액은 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880</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억원이며 보통주는 설립시점 납임</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2</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 및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우선주는 각각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12</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개월</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,24</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개월 경과 후 매입하는 구조</a:t>
            </a:r>
            <a:endParaRPr kumimoji="0" lang="ko-KR" altLang="en-US" sz="12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4" name="TextBox 23">
            <a:extLst>
              <a:ext uri="{FF2B5EF4-FFF2-40B4-BE49-F238E27FC236}">
                <a16:creationId xmlns:a16="http://schemas.microsoft.com/office/drawing/2014/main" id="{F76162D3-E41A-0DCD-9CE5-F0E0D0914654}"/>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1.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투자개요</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3" name="표 2">
            <a:extLst>
              <a:ext uri="{FF2B5EF4-FFF2-40B4-BE49-F238E27FC236}">
                <a16:creationId xmlns:a16="http://schemas.microsoft.com/office/drawing/2014/main" id="{E6226EFA-2903-5478-9457-3F91F8A4DB91}"/>
              </a:ext>
            </a:extLst>
          </p:cNvPr>
          <p:cNvGraphicFramePr>
            <a:graphicFrameLocks noGrp="1"/>
          </p:cNvGraphicFramePr>
          <p:nvPr>
            <p:extLst>
              <p:ext uri="{D42A27DB-BD31-4B8C-83A1-F6EECF244321}">
                <p14:modId xmlns:p14="http://schemas.microsoft.com/office/powerpoint/2010/main" val="271997679"/>
              </p:ext>
            </p:extLst>
          </p:nvPr>
        </p:nvGraphicFramePr>
        <p:xfrm>
          <a:off x="520700" y="2357348"/>
          <a:ext cx="9722196" cy="4332605"/>
        </p:xfrm>
        <a:graphic>
          <a:graphicData uri="http://schemas.openxmlformats.org/drawingml/2006/table">
            <a:tbl>
              <a:tblPr>
                <a:tableStyleId>{5940675A-B579-460E-94D1-54222C63F5DA}</a:tableStyleId>
              </a:tblPr>
              <a:tblGrid>
                <a:gridCol w="1267526">
                  <a:extLst>
                    <a:ext uri="{9D8B030D-6E8A-4147-A177-3AD203B41FA5}">
                      <a16:colId xmlns:a16="http://schemas.microsoft.com/office/drawing/2014/main" val="20000"/>
                    </a:ext>
                  </a:extLst>
                </a:gridCol>
                <a:gridCol w="3702490">
                  <a:extLst>
                    <a:ext uri="{9D8B030D-6E8A-4147-A177-3AD203B41FA5}">
                      <a16:colId xmlns:a16="http://schemas.microsoft.com/office/drawing/2014/main" val="20001"/>
                    </a:ext>
                  </a:extLst>
                </a:gridCol>
                <a:gridCol w="1620180">
                  <a:extLst>
                    <a:ext uri="{9D8B030D-6E8A-4147-A177-3AD203B41FA5}">
                      <a16:colId xmlns:a16="http://schemas.microsoft.com/office/drawing/2014/main" val="2852905440"/>
                    </a:ext>
                  </a:extLst>
                </a:gridCol>
                <a:gridCol w="3132000">
                  <a:extLst>
                    <a:ext uri="{9D8B030D-6E8A-4147-A177-3AD203B41FA5}">
                      <a16:colId xmlns:a16="http://schemas.microsoft.com/office/drawing/2014/main" val="3409433172"/>
                    </a:ext>
                  </a:extLst>
                </a:gridCol>
              </a:tblGrid>
              <a:tr h="282931">
                <a:tc>
                  <a:txBody>
                    <a:bodyPr anchor="ct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gridSpan="3">
                  <a:txBody>
                    <a:bodyPr anchor="ct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nchor="ctr"/>
                    <a:lstStyle/>
                    <a:p>
                      <a:pPr latinLnBrk="1"/>
                      <a:endParaRPr lang="ko-KR" altLang="en-US"/>
                    </a:p>
                  </a:txBody>
                  <a:tcPr anchor="ctr"/>
                </a:tc>
                <a:tc hMerge="1">
                  <a:txBody>
                    <a:bodyPr anchor="ctr"/>
                    <a:lstStyle/>
                    <a:p>
                      <a:pPr latinLnBrk="1"/>
                      <a:endParaRPr lang="ko-KR" altLang="en-US"/>
                    </a:p>
                  </a:txBody>
                  <a:tcPr anchor="ctr"/>
                </a:tc>
                <a:extLst>
                  <a:ext uri="{0D108BD9-81ED-4DB2-BD59-A6C34878D82A}">
                    <a16:rowId xmlns:a16="http://schemas.microsoft.com/office/drawing/2014/main" val="10008"/>
                  </a:ext>
                </a:extLst>
              </a:tr>
              <a:tr h="273647">
                <a:tc>
                  <a:txBody>
                    <a:bodyPr anchor="ctr"/>
                    <a:lstStyle/>
                    <a:p>
                      <a:pPr algn="ctr" latinLnBrk="1"/>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리츠명</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nchor="ctr"/>
                    <a:lstStyle/>
                    <a:p>
                      <a:pP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주식회사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코람코라이프인프라위탁관리부동산투자회사</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nchor="ctr"/>
                    <a:lstStyle/>
                    <a:p>
                      <a:pPr latinLnBrk="1"/>
                      <a:endParaRPr lang="ko-KR" altLang="en-US"/>
                    </a:p>
                  </a:txBody>
                  <a:tcPr anchor="ctr"/>
                </a:tc>
                <a:tc hMerge="1">
                  <a:txBody>
                    <a:bodyPr anchor="ctr"/>
                    <a:lstStyle/>
                    <a:p>
                      <a:pPr latinLnBrk="1"/>
                      <a:endParaRPr lang="ko-KR" altLang="en-US"/>
                    </a:p>
                  </a:txBody>
                  <a:tcPr anchor="ctr"/>
                </a:tc>
                <a:extLst>
                  <a:ext uri="{0D108BD9-81ED-4DB2-BD59-A6C34878D82A}">
                    <a16:rowId xmlns:a16="http://schemas.microsoft.com/office/drawing/2014/main" val="10000"/>
                  </a:ext>
                </a:extLst>
              </a:tr>
              <a:tr h="273647">
                <a:tc>
                  <a:txBody>
                    <a:bodyPr anchor="ct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상품 유형</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nchor="ctr"/>
                    <a:lstStyle/>
                    <a:p>
                      <a:pP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위탁관리부동산투자회사</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공모형</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aseline="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영속형</a:t>
                      </a:r>
                      <a:r>
                        <a:rPr lang="ko-KR" altLang="en-US"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리츠</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nchor="ctr"/>
                    <a:lstStyle/>
                    <a:p>
                      <a:pPr latinLnBrk="1"/>
                      <a:endParaRPr lang="ko-KR" altLang="en-US"/>
                    </a:p>
                  </a:txBody>
                  <a:tcPr anchor="ctr"/>
                </a:tc>
                <a:tc hMerge="1">
                  <a:txBody>
                    <a:bodyPr anchor="ctr"/>
                    <a:lstStyle/>
                    <a:p>
                      <a:pPr latinLnBrk="1"/>
                      <a:endParaRPr lang="ko-KR" altLang="en-US"/>
                    </a:p>
                  </a:txBody>
                  <a:tcPr anchor="ctr"/>
                </a:tc>
                <a:extLst>
                  <a:ext uri="{0D108BD9-81ED-4DB2-BD59-A6C34878D82A}">
                    <a16:rowId xmlns:a16="http://schemas.microsoft.com/office/drawing/2014/main" val="10001"/>
                  </a:ext>
                </a:extLst>
              </a:tr>
              <a:tr h="273647">
                <a:tc>
                  <a:txBody>
                    <a:bodyPr anchor="ct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시가 총액</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latinLnBrk="1"/>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4,103억원 (97,335,354주 × @4,215원, ’26.9월말 종가)</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nchor="ct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자본 총계</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marL="0" marR="0" lvl="0" indent="0" algn="l" defTabSz="1007943" rtl="0" eaLnBrk="1" fontAlgn="auto" latinLnBrk="1" hangingPunct="1">
                        <a:lnSpc>
                          <a:spcPct val="100000"/>
                        </a:lnSpc>
                        <a:spcBef>
                          <a:spcPts val="0"/>
                        </a:spcBef>
                        <a:spcAft>
                          <a:spcPts val="0"/>
                        </a:spcAft>
                        <a:buClrTx/>
                        <a:buSzTx/>
                        <a:buFontTx/>
                        <a:buNone/>
                        <a:tabLst/>
                        <a:defRPr/>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4,720억원 (제12기 결산 기준)</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774628645"/>
                  </a:ext>
                </a:extLst>
              </a:tr>
              <a:tr h="273647">
                <a:tc>
                  <a:txBody>
                    <a:bodyPr anchor="ct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본건 투자 금액</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nchor="ctr"/>
                    <a:lstStyle/>
                    <a:p>
                      <a:pPr latinLnBrk="1"/>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[888]</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 </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매입금액</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:888</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nchor="ctr"/>
                    <a:lstStyle/>
                    <a:p>
                      <a:pPr latinLnBrk="1"/>
                      <a:endParaRPr lang="ko-KR" altLang="en-US"/>
                    </a:p>
                  </a:txBody>
                  <a:tcPr anchor="ctr"/>
                </a:tc>
                <a:tc hMerge="1">
                  <a:txBody>
                    <a:bodyPr anchor="ctr"/>
                    <a:lstStyle/>
                    <a:p>
                      <a:pPr latinLnBrk="1"/>
                      <a:endParaRPr lang="ko-KR" altLang="en-US"/>
                    </a:p>
                  </a:txBody>
                  <a:tcPr anchor="ctr"/>
                </a:tc>
                <a:extLst>
                  <a:ext uri="{0D108BD9-81ED-4DB2-BD59-A6C34878D82A}">
                    <a16:rowId xmlns:a16="http://schemas.microsoft.com/office/drawing/2014/main" val="10003"/>
                  </a:ext>
                </a:extLst>
              </a:tr>
              <a:tr h="273647">
                <a:tc>
                  <a:txBody>
                    <a:bodyPr anchor="ct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이익 배당</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nchor="ctr"/>
                    <a:lstStyle/>
                    <a:p>
                      <a:pPr latinLnBrk="1"/>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6</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단위 배당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결산기</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5</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11</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nchor="ctr"/>
                    <a:lstStyle/>
                    <a:p>
                      <a:pPr latinLnBrk="1"/>
                      <a:endParaRPr lang="ko-KR" altLang="en-US"/>
                    </a:p>
                  </a:txBody>
                  <a:tcPr anchor="ctr"/>
                </a:tc>
                <a:tc hMerge="1">
                  <a:txBody>
                    <a:bodyPr anchor="ctr"/>
                    <a:lstStyle/>
                    <a:p>
                      <a:pPr latinLnBrk="1"/>
                      <a:endParaRPr lang="ko-KR" altLang="en-US"/>
                    </a:p>
                  </a:txBody>
                  <a:tcPr anchor="ctr"/>
                </a:tc>
                <a:extLst>
                  <a:ext uri="{0D108BD9-81ED-4DB2-BD59-A6C34878D82A}">
                    <a16:rowId xmlns:a16="http://schemas.microsoft.com/office/drawing/2014/main" val="4270103635"/>
                  </a:ext>
                </a:extLst>
              </a:tr>
              <a:tr h="257691">
                <a:tc>
                  <a:txBody>
                    <a:bodyPr anchor="ctr"/>
                    <a:lstStyle/>
                    <a:p>
                      <a:pPr algn="ctr" latinLnBrk="1"/>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지분 보유기간</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nchor="ctr"/>
                    <a:lstStyle/>
                    <a:p>
                      <a:pPr latinLnBrk="1"/>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’26</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년 </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’36</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년 </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r>
                        <a:rPr lang="en-US" altLang="ko-KR"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nchor="ctr"/>
                    <a:lstStyle/>
                    <a:p>
                      <a:pPr latinLnBrk="1"/>
                      <a:endParaRPr lang="ko-KR" altLang="en-US"/>
                    </a:p>
                  </a:txBody>
                  <a:tcPr anchor="ctr"/>
                </a:tc>
                <a:tc hMerge="1">
                  <a:txBody>
                    <a:bodyPr anchor="ctr"/>
                    <a:lstStyle/>
                    <a:p>
                      <a:pPr latinLnBrk="1"/>
                      <a:endParaRPr lang="ko-KR" altLang="en-US"/>
                    </a:p>
                  </a:txBody>
                  <a:tcPr anchor="ctr"/>
                </a:tc>
                <a:extLst>
                  <a:ext uri="{0D108BD9-81ED-4DB2-BD59-A6C34878D82A}">
                    <a16:rowId xmlns:a16="http://schemas.microsoft.com/office/drawing/2014/main" val="10004"/>
                  </a:ext>
                </a:extLst>
              </a:tr>
              <a:tr h="681898">
                <a:tc>
                  <a:txBody>
                    <a:bodyPr anchor="ct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 보수 및</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운용 수수료</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nchor="ctr"/>
                    <a:lstStyle/>
                    <a:p>
                      <a:pPr latinLnBrk="1"/>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nchor="ctr"/>
                    <a:lstStyle/>
                    <a:p>
                      <a:pPr latinLnBrk="1"/>
                      <a:endParaRPr lang="ko-KR" altLang="en-US"/>
                    </a:p>
                  </a:txBody>
                  <a:tcPr anchor="ctr"/>
                </a:tc>
                <a:tc hMerge="1">
                  <a:txBody>
                    <a:bodyPr anchor="ctr"/>
                    <a:lstStyle/>
                    <a:p>
                      <a:pPr latinLnBrk="1"/>
                      <a:endParaRPr lang="ko-KR" altLang="en-US"/>
                    </a:p>
                  </a:txBody>
                  <a:tcPr anchor="ctr"/>
                </a:tc>
                <a:extLst>
                  <a:ext uri="{0D108BD9-81ED-4DB2-BD59-A6C34878D82A}">
                    <a16:rowId xmlns:a16="http://schemas.microsoft.com/office/drawing/2014/main" val="10005"/>
                  </a:ext>
                </a:extLst>
              </a:tr>
              <a:tr h="853037">
                <a:tc>
                  <a:txBody>
                    <a:bodyPr anchor="ct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성과 보수</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nchor="ctr"/>
                    <a:lstStyle/>
                    <a:p>
                      <a:pPr latinLnBrk="1"/>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nchor="ctr"/>
                    <a:lstStyle/>
                    <a:p>
                      <a:pPr latinLnBrk="1"/>
                      <a:endParaRPr lang="ko-KR" altLang="en-US"/>
                    </a:p>
                  </a:txBody>
                  <a:tcPr anchor="ctr"/>
                </a:tc>
                <a:tc hMerge="1">
                  <a:txBody>
                    <a:bodyPr anchor="ctr"/>
                    <a:lstStyle/>
                    <a:p>
                      <a:pPr latinLnBrk="1"/>
                      <a:endParaRPr lang="ko-KR" altLang="en-US"/>
                    </a:p>
                  </a:txBody>
                  <a:tcPr anchor="ctr"/>
                </a:tc>
                <a:extLst>
                  <a:ext uri="{0D108BD9-81ED-4DB2-BD59-A6C34878D82A}">
                    <a16:rowId xmlns:a16="http://schemas.microsoft.com/office/drawing/2014/main" val="10006"/>
                  </a:ext>
                </a:extLst>
              </a:tr>
              <a:tr h="888813">
                <a:tc>
                  <a:txBody>
                    <a:bodyPr anchor="ct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예상수익률</a:t>
                      </a:r>
                      <a:endParaRPr lang="ko-KR" altLang="en-US" sz="1000" baseline="30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gridSpan="3">
                  <a:txBody>
                    <a:bodyPr anchor="ctr"/>
                    <a:lstStyle/>
                    <a:p>
                      <a:pPr latinLnBrk="1"/>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hMerge="1">
                  <a:txBody>
                    <a:bodyPr anchor="ctr"/>
                    <a:lstStyle/>
                    <a:p>
                      <a:pPr latinLnBrk="1"/>
                      <a:endParaRPr lang="ko-KR" altLang="en-US"/>
                    </a:p>
                  </a:txBody>
                  <a:tcPr anchor="ctr"/>
                </a:tc>
                <a:tc hMerge="1">
                  <a:txBody>
                    <a:bodyPr anchor="ctr"/>
                    <a:lstStyle/>
                    <a:p>
                      <a:pPr latinLnBrk="1"/>
                      <a:endParaRPr lang="ko-KR" altLang="en-US"/>
                    </a:p>
                  </a:txBody>
                  <a:tcPr anchor="ctr"/>
                </a:tc>
                <a:extLst>
                  <a:ext uri="{0D108BD9-81ED-4DB2-BD59-A6C34878D82A}">
                    <a16:rowId xmlns:a16="http://schemas.microsoft.com/office/drawing/2014/main" val="1444480993"/>
                  </a:ext>
                </a:extLst>
              </a:tr>
            </a:tbl>
          </a:graphicData>
        </a:graphic>
      </p:graphicFrame>
      <p:graphicFrame>
        <p:nvGraphicFramePr>
          <p:cNvPr id="4" name="표 3">
            <a:extLst>
              <a:ext uri="{FF2B5EF4-FFF2-40B4-BE49-F238E27FC236}">
                <a16:creationId xmlns:a16="http://schemas.microsoft.com/office/drawing/2014/main" id="{85E5F59D-F2A2-2836-D6CD-26715BFA68C1}"/>
              </a:ext>
            </a:extLst>
          </p:cNvPr>
          <p:cNvGraphicFramePr>
            <a:graphicFrameLocks noGrp="1"/>
          </p:cNvGraphicFramePr>
          <p:nvPr>
            <p:extLst>
              <p:ext uri="{D42A27DB-BD31-4B8C-83A1-F6EECF244321}">
                <p14:modId xmlns:p14="http://schemas.microsoft.com/office/powerpoint/2010/main" val="4286592701"/>
              </p:ext>
            </p:extLst>
          </p:nvPr>
        </p:nvGraphicFramePr>
        <p:xfrm>
          <a:off x="1889522" y="4283893"/>
          <a:ext cx="8208913" cy="648000"/>
        </p:xfrm>
        <a:graphic>
          <a:graphicData uri="http://schemas.openxmlformats.org/drawingml/2006/table">
            <a:tbl>
              <a:tblPr>
                <a:tableStyleId>{5940675A-B579-460E-94D1-54222C63F5DA}</a:tableStyleId>
              </a:tblPr>
              <a:tblGrid>
                <a:gridCol w="1086373">
                  <a:extLst>
                    <a:ext uri="{9D8B030D-6E8A-4147-A177-3AD203B41FA5}">
                      <a16:colId xmlns:a16="http://schemas.microsoft.com/office/drawing/2014/main" val="20000"/>
                    </a:ext>
                  </a:extLst>
                </a:gridCol>
                <a:gridCol w="1799901">
                  <a:extLst>
                    <a:ext uri="{9D8B030D-6E8A-4147-A177-3AD203B41FA5}">
                      <a16:colId xmlns:a16="http://schemas.microsoft.com/office/drawing/2014/main" val="20001"/>
                    </a:ext>
                  </a:extLst>
                </a:gridCol>
                <a:gridCol w="1774213">
                  <a:extLst>
                    <a:ext uri="{9D8B030D-6E8A-4147-A177-3AD203B41FA5}">
                      <a16:colId xmlns:a16="http://schemas.microsoft.com/office/drawing/2014/main" val="20002"/>
                    </a:ext>
                  </a:extLst>
                </a:gridCol>
                <a:gridCol w="1774213">
                  <a:extLst>
                    <a:ext uri="{9D8B030D-6E8A-4147-A177-3AD203B41FA5}">
                      <a16:colId xmlns:a16="http://schemas.microsoft.com/office/drawing/2014/main" val="20003"/>
                    </a:ext>
                  </a:extLst>
                </a:gridCol>
                <a:gridCol w="1774213">
                  <a:extLst>
                    <a:ext uri="{9D8B030D-6E8A-4147-A177-3AD203B41FA5}">
                      <a16:colId xmlns:a16="http://schemas.microsoft.com/office/drawing/2014/main" val="20004"/>
                    </a:ext>
                  </a:extLst>
                </a:gridCol>
              </a:tblGrid>
              <a:tr h="216000">
                <a:tc>
                  <a:txBody>
                    <a:bodyPr anchor="ct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nchor="ct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 보수</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nchor="ct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자산관리 수수료</a:t>
                      </a:r>
                      <a:r>
                        <a:rPr lang="en-US" altLang="ko-KR" sz="900" b="0" baseline="30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altLang="en-US" sz="900" b="0" baseline="30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nchor="ct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자산보관 수수료</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nchor="ct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일반사무수탁 수수료</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16000">
                <a:tc>
                  <a:txBody>
                    <a:bodyPr anchor="ct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 조건</a:t>
                      </a:r>
                      <a:r>
                        <a:rPr lang="en-US" altLang="ko-KR" sz="900" b="0" baseline="30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endParaRPr lang="ko-KR" altLang="en-US" sz="900" b="0" baseline="30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nchor="ctr"/>
                    <a:lstStyle/>
                    <a:p>
                      <a:pPr algn="ctr" latinLnBrk="1"/>
                      <a:r>
                        <a:rPr lang="en-US" altLang="ko-KR" sz="900" b="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597</a:t>
                      </a:r>
                      <a:r>
                        <a:rPr lang="ko-KR" altLang="en-US" sz="900" b="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nchor="ctr"/>
                    <a:lstStyle/>
                    <a:p>
                      <a:pPr algn="ctr" latinLnBrk="1"/>
                      <a:r>
                        <a:rPr lang="en-US" altLang="ko-KR" sz="900" b="0" dirty="0">
                          <a:solidFill>
                            <a:srgbClr val="FF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solidFill>
                          <a:srgbClr val="FF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nchor="ctr"/>
                    <a:lstStyle/>
                    <a:p>
                      <a:pPr algn="ctr" latinLnBrk="1"/>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nchor="ctr"/>
                    <a:lstStyle/>
                    <a:p>
                      <a:pPr algn="ctr" latinLnBrk="1"/>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776422"/>
                  </a:ext>
                </a:extLst>
              </a:tr>
              <a:tr h="216000">
                <a:tc>
                  <a:txBody>
                    <a:bodyPr anchor="ct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비고</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nchor="ct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매입가의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0.50%</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nchor="ct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총</a:t>
                      </a:r>
                      <a:r>
                        <a:rPr lang="ko-KR" altLang="en-US" sz="9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자산가액의</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연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0.223%</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nchor="ctr"/>
                    <a:lstStyle/>
                    <a:p>
                      <a:pPr algn="ctr" latinLnBrk="1"/>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nchor="ctr"/>
                    <a:lstStyle/>
                    <a:p>
                      <a:pPr algn="ctr" latinLnBrk="1"/>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5" name="표 4">
            <a:extLst>
              <a:ext uri="{FF2B5EF4-FFF2-40B4-BE49-F238E27FC236}">
                <a16:creationId xmlns:a16="http://schemas.microsoft.com/office/drawing/2014/main" id="{0CE7B849-FC94-B8F1-0E4D-D9C39CB64C65}"/>
              </a:ext>
            </a:extLst>
          </p:cNvPr>
          <p:cNvGraphicFramePr>
            <a:graphicFrameLocks noGrp="1"/>
          </p:cNvGraphicFramePr>
          <p:nvPr>
            <p:extLst>
              <p:ext uri="{D42A27DB-BD31-4B8C-83A1-F6EECF244321}">
                <p14:modId xmlns:p14="http://schemas.microsoft.com/office/powerpoint/2010/main" val="950469418"/>
              </p:ext>
            </p:extLst>
          </p:nvPr>
        </p:nvGraphicFramePr>
        <p:xfrm>
          <a:off x="1889522" y="5039977"/>
          <a:ext cx="8208912" cy="648000"/>
        </p:xfrm>
        <a:graphic>
          <a:graphicData uri="http://schemas.openxmlformats.org/drawingml/2006/table">
            <a:tbl>
              <a:tblPr>
                <a:tableStyleId>{5940675A-B579-460E-94D1-54222C63F5DA}</a:tableStyleId>
              </a:tblPr>
              <a:tblGrid>
                <a:gridCol w="1095149">
                  <a:extLst>
                    <a:ext uri="{9D8B030D-6E8A-4147-A177-3AD203B41FA5}">
                      <a16:colId xmlns:a16="http://schemas.microsoft.com/office/drawing/2014/main" val="20000"/>
                    </a:ext>
                  </a:extLst>
                </a:gridCol>
                <a:gridCol w="1785678">
                  <a:extLst>
                    <a:ext uri="{9D8B030D-6E8A-4147-A177-3AD203B41FA5}">
                      <a16:colId xmlns:a16="http://schemas.microsoft.com/office/drawing/2014/main" val="20001"/>
                    </a:ext>
                  </a:extLst>
                </a:gridCol>
                <a:gridCol w="5328085">
                  <a:extLst>
                    <a:ext uri="{9D8B030D-6E8A-4147-A177-3AD203B41FA5}">
                      <a16:colId xmlns:a16="http://schemas.microsoft.com/office/drawing/2014/main" val="20002"/>
                    </a:ext>
                  </a:extLst>
                </a:gridCol>
              </a:tblGrid>
              <a:tr h="216000">
                <a:tc>
                  <a:txBody>
                    <a:bodyPr anchor="ct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nchor="ct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내 용</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nchor="ct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비고</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16000">
                <a:tc>
                  <a:txBody>
                    <a:bodyPr anchor="ct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운용 성과보수</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nchor="ct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목표수익률 초과 분의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nchor="ct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목표수익률</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473824572"/>
                  </a:ext>
                </a:extLst>
              </a:tr>
              <a:tr h="216000">
                <a:tc>
                  <a:txBody>
                    <a:bodyPr anchor="ct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 성과보수</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nchor="ct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 차익의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nchor="ct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매각차익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 매각가액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9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총 자산취득비용 </a:t>
                      </a:r>
                      <a:r>
                        <a:rPr lang="en-US" altLang="ko-KR" sz="9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b="0" baseline="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매각비용</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020372274"/>
                  </a:ext>
                </a:extLst>
              </a:tr>
            </a:tbl>
          </a:graphicData>
        </a:graphic>
      </p:graphicFrame>
      <p:graphicFrame>
        <p:nvGraphicFramePr>
          <p:cNvPr id="6" name="표 5">
            <a:extLst>
              <a:ext uri="{FF2B5EF4-FFF2-40B4-BE49-F238E27FC236}">
                <a16:creationId xmlns:a16="http://schemas.microsoft.com/office/drawing/2014/main" id="{5C801088-F6B2-96DB-0F2C-744BBF6306AC}"/>
              </a:ext>
            </a:extLst>
          </p:cNvPr>
          <p:cNvGraphicFramePr>
            <a:graphicFrameLocks noGrp="1"/>
          </p:cNvGraphicFramePr>
          <p:nvPr>
            <p:extLst>
              <p:ext uri="{D42A27DB-BD31-4B8C-83A1-F6EECF244321}">
                <p14:modId xmlns:p14="http://schemas.microsoft.com/office/powerpoint/2010/main" val="2368745758"/>
              </p:ext>
            </p:extLst>
          </p:nvPr>
        </p:nvGraphicFramePr>
        <p:xfrm>
          <a:off x="1889525" y="5885621"/>
          <a:ext cx="8208908" cy="738532"/>
        </p:xfrm>
        <a:graphic>
          <a:graphicData uri="http://schemas.openxmlformats.org/drawingml/2006/table">
            <a:tbl>
              <a:tblPr>
                <a:tableStyleId>{5940675A-B579-460E-94D1-54222C63F5DA}</a:tableStyleId>
              </a:tblPr>
              <a:tblGrid>
                <a:gridCol w="1942565">
                  <a:extLst>
                    <a:ext uri="{9D8B030D-6E8A-4147-A177-3AD203B41FA5}">
                      <a16:colId xmlns:a16="http://schemas.microsoft.com/office/drawing/2014/main" val="20000"/>
                    </a:ext>
                  </a:extLst>
                </a:gridCol>
                <a:gridCol w="2088781">
                  <a:extLst>
                    <a:ext uri="{9D8B030D-6E8A-4147-A177-3AD203B41FA5}">
                      <a16:colId xmlns:a16="http://schemas.microsoft.com/office/drawing/2014/main" val="2416294628"/>
                    </a:ext>
                  </a:extLst>
                </a:gridCol>
                <a:gridCol w="2088781">
                  <a:extLst>
                    <a:ext uri="{9D8B030D-6E8A-4147-A177-3AD203B41FA5}">
                      <a16:colId xmlns:a16="http://schemas.microsoft.com/office/drawing/2014/main" val="1731281613"/>
                    </a:ext>
                  </a:extLst>
                </a:gridCol>
                <a:gridCol w="2088781">
                  <a:extLst>
                    <a:ext uri="{9D8B030D-6E8A-4147-A177-3AD203B41FA5}">
                      <a16:colId xmlns:a16="http://schemas.microsoft.com/office/drawing/2014/main" val="20002"/>
                    </a:ext>
                  </a:extLst>
                </a:gridCol>
              </a:tblGrid>
              <a:tr h="135308">
                <a:tc>
                  <a:txBody>
                    <a:bodyPr anchor="ct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nchor="ct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연평균 </a:t>
                      </a:r>
                      <a:r>
                        <a:rPr lang="en-US" altLang="ko-KR" sz="9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CoC</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매각차익</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제외</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nchor="ct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연평균 </a:t>
                      </a:r>
                      <a:r>
                        <a:rPr lang="en-US" altLang="ko-KR" sz="9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CoC</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매각차익</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포함</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nchor="ct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Equity</a:t>
                      </a:r>
                      <a:r>
                        <a:rPr lang="en-US" altLang="ko-KR" sz="9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IRR</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150343">
                <a:tc>
                  <a:txBody>
                    <a:bodyPr anchor="ctr"/>
                    <a:lstStyle/>
                    <a:p>
                      <a:pPr algn="ctr" latinLnBrk="1"/>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nchor="ct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6.94%</a:t>
                      </a:r>
                      <a:endPar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nchor="ct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6.83%</a:t>
                      </a:r>
                      <a:endPar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nchor="ct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6.88%</a:t>
                      </a:r>
                      <a:endPar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04"/>
                  </a:ext>
                </a:extLst>
              </a:tr>
              <a:tr h="150343">
                <a:tc>
                  <a:txBody>
                    <a:bodyPr anchor="ctr"/>
                    <a:lstStyle/>
                    <a:p>
                      <a:pPr algn="ctr" latinLnBrk="1"/>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nchor="ct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7.43%</a:t>
                      </a:r>
                      <a:endPar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nchor="ct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10.00%</a:t>
                      </a:r>
                      <a:endPar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nchor="ct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9.28%</a:t>
                      </a:r>
                      <a:endPar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362952105"/>
                  </a:ext>
                </a:extLst>
              </a:tr>
              <a:tr h="150343">
                <a:tc>
                  <a:txBody>
                    <a:bodyPr anchor="ctr"/>
                    <a:lstStyle/>
                    <a:p>
                      <a:pPr algn="ctr" latinLnBrk="1"/>
                      <a:r>
                        <a:rPr lang="ko-KR" altLang="en-US" sz="9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nchor="ct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0.75%</a:t>
                      </a:r>
                      <a:endPar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nchor="ct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33.49%</a:t>
                      </a:r>
                      <a:endPar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nchor="ct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16.44%</a:t>
                      </a:r>
                      <a:endPar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817749718"/>
                  </a:ext>
                </a:extLst>
              </a:tr>
              <a:tr h="150343">
                <a:tc>
                  <a:txBody>
                    <a:bodyPr anchor="ctr"/>
                    <a:lstStyle/>
                    <a:p>
                      <a:pPr algn="ctr" latinLnBrk="1"/>
                      <a:r>
                        <a:rPr lang="en-US" altLang="ko-KR" sz="9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KLI </a:t>
                      </a:r>
                      <a:r>
                        <a:rPr lang="ko-KR" altLang="en-US" sz="9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수익률</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nchor="ctr"/>
                    <a:lstStyle/>
                    <a:p>
                      <a:pPr algn="ctr" rtl="0" fontAlgn="ctr"/>
                      <a:r>
                        <a:rPr lang="en-US" altLang="ko-KR" sz="9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5.40%</a:t>
                      </a:r>
                      <a:endParaRPr lang="en-US" altLang="ko-KR" sz="9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nchor="ctr"/>
                    <a:lstStyle/>
                    <a:p>
                      <a:pPr algn="ctr" rtl="0" fontAlgn="ctr"/>
                      <a:r>
                        <a:rPr lang="en-US" altLang="ko-KR" sz="9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12.09%</a:t>
                      </a:r>
                      <a:endParaRPr lang="en-US" altLang="ko-KR" sz="9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nchor="ctr"/>
                    <a:lstStyle/>
                    <a:p>
                      <a:pPr algn="ctr" rtl="0" fontAlgn="ctr"/>
                      <a:r>
                        <a:rPr lang="en-US" altLang="ko-KR" sz="9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10.98%</a:t>
                      </a:r>
                      <a:endParaRPr lang="en-US" altLang="ko-KR" sz="9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137358915"/>
                  </a:ext>
                </a:extLst>
              </a:tr>
            </a:tbl>
          </a:graphicData>
        </a:graphic>
      </p:graphicFrame>
      <p:sp>
        <p:nvSpPr>
          <p:cNvPr id="25" name="TextBox 24"/>
          <p:cNvSpPr txBox="1"/>
          <p:nvPr/>
        </p:nvSpPr>
        <p:spPr>
          <a:xfrm>
            <a:off x="1889525" y="5700000"/>
            <a:ext cx="8208908" cy="175000"/>
          </a:xfrm>
          <a:prstGeom prst="rect">
            <a:avLst/>
          </a:prstGeom>
          <a:noFill/>
        </p:spPr>
        <p:txBody>
          <a:bodyPr wrap="square" lIns="0" rIns="0" tIns="0" bIns="0" anchor="ctr">
            <a:spAutoFit/>
          </a:bodyPr>
          <a:lstStyle/>
          <a:p>
            <a:pPr algn="r"/>
            <a:r>
              <a:rPr sz="700">
                <a:solidFill>
                  <a:srgbClr val="404040"/>
                </a:solidFill>
                <a:latin typeface="KoPubWorld돋움체 Light"/>
                <a:ea typeface="KoPubWorld돋움체 Light"/>
                <a:cs typeface="KoPubWorld돋움체 Light"/>
              </a:rPr>
              <a:t>※ 기준 재무모델 v02 Sell-down 탭 (보통주 ’26.10 출자, 2종 ’27.10·1종 ’28.10 매입, ’36.10 매각) / CoC(매각차익 포함) = (운영배당+매각차익배분)÷투자원금÷보유기간</a:t>
            </a:r>
          </a:p>
        </p:txBody>
      </p:sp>
    </p:spTree>
    <p:extLst>
      <p:ext uri="{BB962C8B-B14F-4D97-AF65-F5344CB8AC3E}">
        <p14:creationId xmlns:p14="http://schemas.microsoft.com/office/powerpoint/2010/main" val="604685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8710D79F-1DFE-3711-E114-9BB6236F4D45}"/>
              </a:ext>
            </a:extLst>
          </p:cNvPr>
          <p:cNvGrpSpPr/>
          <p:nvPr/>
        </p:nvGrpSpPr>
        <p:grpSpPr>
          <a:xfrm>
            <a:off x="458887" y="1987916"/>
            <a:ext cx="9783663" cy="247712"/>
            <a:chOff x="458887" y="1987916"/>
            <a:chExt cx="9783663" cy="247712"/>
          </a:xfrm>
        </p:grpSpPr>
        <p:sp>
          <p:nvSpPr>
            <p:cNvPr id="3" name="직사각형 2">
              <a:extLst>
                <a:ext uri="{FF2B5EF4-FFF2-40B4-BE49-F238E27FC236}">
                  <a16:creationId xmlns:a16="http://schemas.microsoft.com/office/drawing/2014/main" id="{9F9F1197-6B9C-DE15-B608-A7F1EE8C836D}"/>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66AB2FC4-5DA1-5E1D-248D-BF71E40C1FC9}"/>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B9057F91-B77A-1F13-8D61-D7DEF6412E9D}"/>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CFCEC238-7597-1594-8B01-1AC358553DB9}"/>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1EB0E527-D8B1-B7E0-A22B-34ADB2C9CA51}"/>
                </a:ext>
              </a:extLst>
            </p:cNvPr>
            <p:cNvSpPr txBox="1"/>
            <p:nvPr/>
          </p:nvSpPr>
          <p:spPr>
            <a:xfrm>
              <a:off x="458887" y="2034828"/>
              <a:ext cx="576589"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 개요</a:t>
              </a:r>
            </a:p>
          </p:txBody>
        </p:sp>
      </p:grpSp>
      <p:sp>
        <p:nvSpPr>
          <p:cNvPr id="9" name="TextBox 8">
            <a:extLst>
              <a:ext uri="{FF2B5EF4-FFF2-40B4-BE49-F238E27FC236}">
                <a16:creationId xmlns:a16="http://schemas.microsoft.com/office/drawing/2014/main" id="{B707D792-D26B-63A4-3478-B5A8418AC5A0}"/>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1.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투자개요</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1" name="TextBox 10">
            <a:extLst>
              <a:ext uri="{FF2B5EF4-FFF2-40B4-BE49-F238E27FC236}">
                <a16:creationId xmlns:a16="http://schemas.microsoft.com/office/drawing/2014/main" id="{C741D48F-5506-BBFD-9928-90C393054E31}"/>
              </a:ext>
            </a:extLst>
          </p:cNvPr>
          <p:cNvSpPr txBox="1"/>
          <p:nvPr/>
        </p:nvSpPr>
        <p:spPr>
          <a:xfrm>
            <a:off x="283369" y="1040097"/>
            <a:ext cx="9995086" cy="705766"/>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marR="0" lvl="0" indent="-216000" algn="l" defTabSz="4572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ko-KR" altLang="en-US" sz="16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코람코라이프인프라리츠는</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6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상장리츠로써</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금번 투자 시 별도 유상증자 없이 </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년의 기간에 걸쳐 단계적으로 매입할 예정</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432000" marR="0" lvl="0" indent="-1800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a:t>
            </a:r>
            <a:r>
              <a:rPr kumimoji="0" lang="en-US" altLang="ko-KR"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a:t>
            </a: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종우선주의 경우 </a:t>
            </a:r>
            <a:r>
              <a:rPr kumimoji="0" lang="ko-KR" altLang="en-US" sz="1200" b="0" i="0" u="none" strike="noStrike" kern="1200" cap="none" spc="0" normalizeH="0" baseline="0" noProof="0" dirty="0" err="1">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위약벌조항에</a:t>
            </a: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따라 최우선적으로 매입을 검토 중에 있으며</a:t>
            </a:r>
            <a:r>
              <a:rPr kumimoji="0" lang="en-US" altLang="ko-KR"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a:t>
            </a:r>
            <a:r>
              <a:rPr kumimoji="0" lang="en-US" altLang="ko-KR"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종의 경우 대출조건에 일환으로써 만기 매입 예정임</a:t>
            </a:r>
            <a:r>
              <a:rPr kumimoji="0" lang="en-US" altLang="ko-KR"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3" name="표 12">
            <a:extLst>
              <a:ext uri="{FF2B5EF4-FFF2-40B4-BE49-F238E27FC236}">
                <a16:creationId xmlns:a16="http://schemas.microsoft.com/office/drawing/2014/main" id="{663AC26E-92D5-7028-7DEE-0D1BA8FCE6B1}"/>
              </a:ext>
            </a:extLst>
          </p:cNvPr>
          <p:cNvGraphicFramePr>
            <a:graphicFrameLocks noGrp="1"/>
          </p:cNvGraphicFramePr>
          <p:nvPr/>
        </p:nvGraphicFramePr>
        <p:xfrm>
          <a:off x="5717670" y="2879737"/>
          <a:ext cx="4346697" cy="1498800"/>
        </p:xfrm>
        <a:graphic>
          <a:graphicData uri="http://schemas.openxmlformats.org/drawingml/2006/table">
            <a:tbl>
              <a:tblPr firstRow="1" bandRow="1">
                <a:effectLst/>
                <a:tableStyleId>{5C22544A-7EE6-4342-B048-85BDC9FD1C3A}</a:tableStyleId>
              </a:tblPr>
              <a:tblGrid>
                <a:gridCol w="1148485">
                  <a:extLst>
                    <a:ext uri="{9D8B030D-6E8A-4147-A177-3AD203B41FA5}">
                      <a16:colId xmlns:a16="http://schemas.microsoft.com/office/drawing/2014/main" val="3425775602"/>
                    </a:ext>
                  </a:extLst>
                </a:gridCol>
                <a:gridCol w="3198212">
                  <a:extLst>
                    <a:ext uri="{9D8B030D-6E8A-4147-A177-3AD203B41FA5}">
                      <a16:colId xmlns:a16="http://schemas.microsoft.com/office/drawing/2014/main" val="2553458198"/>
                    </a:ext>
                  </a:extLst>
                </a:gridCol>
              </a:tblGrid>
              <a:tr h="144565">
                <a:tc>
                  <a:txBody>
                    <a:bodyPr anchor="ct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nchor="ct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45505686"/>
                  </a:ext>
                </a:extLst>
              </a:tr>
              <a:tr h="144565">
                <a:tc>
                  <a:txBody>
                    <a:bodyPr anchor="ct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매입확약제공자</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nchor="ct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75460510"/>
                  </a:ext>
                </a:extLst>
              </a:tr>
              <a:tr h="144565">
                <a:tc>
                  <a:txBody>
                    <a:bodyPr anchor="ct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매입대상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nchor="ct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 제</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종류주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240</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 일체</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63832476"/>
                  </a:ext>
                </a:extLst>
              </a:tr>
              <a:tr h="144565">
                <a:tc>
                  <a:txBody>
                    <a:bodyPr anchor="ct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nchor="ct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투자원금 원본가액</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4469369"/>
                  </a:ext>
                </a:extLst>
              </a:tr>
              <a:tr h="144565">
                <a:tc>
                  <a:txBody>
                    <a:bodyPr anchor="ct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매입기한</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nchor="ct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주금납입일로부터</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 경과하는 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06147141"/>
                  </a:ext>
                </a:extLst>
              </a:tr>
              <a:tr h="144565">
                <a:tc>
                  <a:txBody>
                    <a:bodyPr anchor="ct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미이행</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시 </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손해배상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nchor="ct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미매입된</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매입금액 및 연 </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지연손해금 지급</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16535888"/>
                  </a:ext>
                </a:extLst>
              </a:tr>
            </a:tbl>
          </a:graphicData>
        </a:graphic>
      </p:graphicFrame>
      <p:grpSp>
        <p:nvGrpSpPr>
          <p:cNvPr id="14" name="그룹 13">
            <a:extLst>
              <a:ext uri="{FF2B5EF4-FFF2-40B4-BE49-F238E27FC236}">
                <a16:creationId xmlns:a16="http://schemas.microsoft.com/office/drawing/2014/main" id="{CEAFDD10-9BDD-7FF1-F501-CEA4C2C74830}"/>
              </a:ext>
            </a:extLst>
          </p:cNvPr>
          <p:cNvGrpSpPr/>
          <p:nvPr/>
        </p:nvGrpSpPr>
        <p:grpSpPr>
          <a:xfrm>
            <a:off x="5640041" y="2360542"/>
            <a:ext cx="2989921" cy="246221"/>
            <a:chOff x="455544" y="-592941"/>
            <a:chExt cx="2989921" cy="246221"/>
          </a:xfrm>
        </p:grpSpPr>
        <p:sp>
          <p:nvSpPr>
            <p:cNvPr id="15" name="TextBox 14">
              <a:extLst>
                <a:ext uri="{FF2B5EF4-FFF2-40B4-BE49-F238E27FC236}">
                  <a16:creationId xmlns:a16="http://schemas.microsoft.com/office/drawing/2014/main" id="{5B98351F-449F-99ED-36BA-424CAEECE8C3}"/>
                </a:ext>
              </a:extLst>
            </p:cNvPr>
            <p:cNvSpPr txBox="1"/>
            <p:nvPr/>
          </p:nvSpPr>
          <p:spPr>
            <a:xfrm>
              <a:off x="455544" y="-592941"/>
              <a:ext cx="2989921" cy="246221"/>
            </a:xfrm>
            <a:prstGeom prst="rect">
              <a:avLst/>
            </a:prstGeom>
            <a:solidFill>
              <a:schemeClr val="bg1"/>
            </a:solidFill>
          </p:spPr>
          <p:txBody>
            <a:bodyPr wrap="none"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제</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우리투자증권</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인수확약 조건 주요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Term</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6" name="직사각형 15">
              <a:extLst>
                <a:ext uri="{FF2B5EF4-FFF2-40B4-BE49-F238E27FC236}">
                  <a16:creationId xmlns:a16="http://schemas.microsoft.com/office/drawing/2014/main" id="{F27BD71E-22B1-FA8C-F3E8-70CA77E48472}"/>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17" name="그룹 16">
            <a:extLst>
              <a:ext uri="{FF2B5EF4-FFF2-40B4-BE49-F238E27FC236}">
                <a16:creationId xmlns:a16="http://schemas.microsoft.com/office/drawing/2014/main" id="{2B9D6588-2180-EE76-1609-1E47D3BE6033}"/>
              </a:ext>
            </a:extLst>
          </p:cNvPr>
          <p:cNvGrpSpPr/>
          <p:nvPr/>
        </p:nvGrpSpPr>
        <p:grpSpPr>
          <a:xfrm>
            <a:off x="557374" y="2360542"/>
            <a:ext cx="2765501" cy="246221"/>
            <a:chOff x="455544" y="-592941"/>
            <a:chExt cx="2765501" cy="246221"/>
          </a:xfrm>
        </p:grpSpPr>
        <p:sp>
          <p:nvSpPr>
            <p:cNvPr id="18" name="TextBox 17">
              <a:extLst>
                <a:ext uri="{FF2B5EF4-FFF2-40B4-BE49-F238E27FC236}">
                  <a16:creationId xmlns:a16="http://schemas.microsoft.com/office/drawing/2014/main" id="{7E0FA595-91F8-972E-E877-0D763902D604}"/>
                </a:ext>
              </a:extLst>
            </p:cNvPr>
            <p:cNvSpPr txBox="1"/>
            <p:nvPr/>
          </p:nvSpPr>
          <p:spPr>
            <a:xfrm>
              <a:off x="455544" y="-592941"/>
              <a:ext cx="2765501" cy="246221"/>
            </a:xfrm>
            <a:prstGeom prst="rect">
              <a:avLst/>
            </a:prstGeom>
            <a:solidFill>
              <a:schemeClr val="bg1"/>
            </a:solidFill>
          </p:spPr>
          <p:txBody>
            <a:bodyPr wrap="none"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제</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삼성증권</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인수 확약조건 주요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Term</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9" name="직사각형 18">
              <a:extLst>
                <a:ext uri="{FF2B5EF4-FFF2-40B4-BE49-F238E27FC236}">
                  <a16:creationId xmlns:a16="http://schemas.microsoft.com/office/drawing/2014/main" id="{B6F94CD6-1001-A814-337F-8349EBEC4E8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22" name="표 21">
            <a:extLst>
              <a:ext uri="{FF2B5EF4-FFF2-40B4-BE49-F238E27FC236}">
                <a16:creationId xmlns:a16="http://schemas.microsoft.com/office/drawing/2014/main" id="{BCB5504A-BFC3-0B11-B9FA-CAFE8C3AD361}"/>
              </a:ext>
            </a:extLst>
          </p:cNvPr>
          <p:cNvGraphicFramePr>
            <a:graphicFrameLocks noGrp="1"/>
          </p:cNvGraphicFramePr>
          <p:nvPr/>
        </p:nvGraphicFramePr>
        <p:xfrm>
          <a:off x="692378" y="2879737"/>
          <a:ext cx="4346697" cy="1498800"/>
        </p:xfrm>
        <a:graphic>
          <a:graphicData uri="http://schemas.openxmlformats.org/drawingml/2006/table">
            <a:tbl>
              <a:tblPr firstRow="1" bandRow="1">
                <a:effectLst/>
                <a:tableStyleId>{5C22544A-7EE6-4342-B048-85BDC9FD1C3A}</a:tableStyleId>
              </a:tblPr>
              <a:tblGrid>
                <a:gridCol w="1148485">
                  <a:extLst>
                    <a:ext uri="{9D8B030D-6E8A-4147-A177-3AD203B41FA5}">
                      <a16:colId xmlns:a16="http://schemas.microsoft.com/office/drawing/2014/main" val="3425775602"/>
                    </a:ext>
                  </a:extLst>
                </a:gridCol>
                <a:gridCol w="3198212">
                  <a:extLst>
                    <a:ext uri="{9D8B030D-6E8A-4147-A177-3AD203B41FA5}">
                      <a16:colId xmlns:a16="http://schemas.microsoft.com/office/drawing/2014/main" val="2553458198"/>
                    </a:ext>
                  </a:extLst>
                </a:gridCol>
              </a:tblGrid>
              <a:tr h="144565">
                <a:tc>
                  <a:txBody>
                    <a:bodyPr anchor="ct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nchor="ct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45505686"/>
                  </a:ext>
                </a:extLst>
              </a:tr>
              <a:tr h="144565">
                <a:tc>
                  <a:txBody>
                    <a:bodyPr anchor="ct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매입확약제공자</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nchor="ct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75460510"/>
                  </a:ext>
                </a:extLst>
              </a:tr>
              <a:tr h="144565">
                <a:tc>
                  <a:txBody>
                    <a:bodyPr anchor="ct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매입대상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nchor="ct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 제</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종류주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500</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 일체</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63832476"/>
                  </a:ext>
                </a:extLst>
              </a:tr>
              <a:tr h="144565">
                <a:tc>
                  <a:txBody>
                    <a:bodyPr anchor="ct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매입가격</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nchor="ct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투자원금 원본가액</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4469369"/>
                  </a:ext>
                </a:extLst>
              </a:tr>
              <a:tr h="144565">
                <a:tc>
                  <a:txBody>
                    <a:bodyPr anchor="ct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매입기한</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nchor="ct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주금납입일로부터</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 경과하는 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06147141"/>
                  </a:ext>
                </a:extLst>
              </a:tr>
              <a:tr h="144565">
                <a:tc>
                  <a:txBody>
                    <a:bodyPr anchor="ct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미이행</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시 </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손해배상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nchor="ct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미매입된</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매입금액의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20% </a:t>
                      </a:r>
                      <a:r>
                        <a:rPr lang="ko-KR" altLang="en-US" sz="1000" dirty="0" err="1">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위약벌</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지급</a:t>
                      </a:r>
                      <a:endPar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지연이자 </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가산하여 지급</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16535888"/>
                  </a:ext>
                </a:extLst>
              </a:tr>
            </a:tbl>
          </a:graphicData>
        </a:graphic>
      </p:graphicFrame>
      <p:sp>
        <p:nvSpPr>
          <p:cNvPr id="24" name="직사각형 23">
            <a:extLst>
              <a:ext uri="{FF2B5EF4-FFF2-40B4-BE49-F238E27FC236}">
                <a16:creationId xmlns:a16="http://schemas.microsoft.com/office/drawing/2014/main" id="{39375B3A-4B50-1CFE-13A4-C4563B344B14}"/>
              </a:ext>
            </a:extLst>
          </p:cNvPr>
          <p:cNvSpPr/>
          <p:nvPr/>
        </p:nvSpPr>
        <p:spPr>
          <a:xfrm>
            <a:off x="413358" y="4643933"/>
            <a:ext cx="1335915" cy="246221"/>
          </a:xfrm>
          <a:prstGeom prst="rect">
            <a:avLst/>
          </a:prstGeom>
        </p:spPr>
        <p:txBody>
          <a:bodyPr wrap="square" anchor="ctr" anchorCtr="0">
            <a:spAutoFit/>
          </a:bodyPr>
          <a:lstStyle/>
          <a:p>
            <a:pPr marL="0" marR="0" lvl="0" indent="0" algn="l" defTabSz="457200" rtl="0" eaLnBrk="1" fontAlgn="auto" latinLnBrk="0" hangingPunct="1">
              <a:lnSpc>
                <a:spcPct val="100000"/>
              </a:lnSpc>
              <a:spcBef>
                <a:spcPts val="200"/>
              </a:spcBef>
              <a:spcAft>
                <a:spcPts val="0"/>
              </a:spcAft>
              <a:buClrTx/>
              <a:buSzTx/>
              <a:buFontTx/>
              <a:buNone/>
              <a:tabLst/>
              <a:defRPr/>
            </a:pPr>
            <a:r>
              <a:rPr kumimoji="0" lang="en-US" altLang="ko-KR" sz="1000" b="0" i="0" u="none" strike="noStrike" kern="1200" cap="none" spc="0" normalizeH="0" baseline="0" noProof="0" dirty="0">
                <a:ln>
                  <a:noFill/>
                </a:ln>
                <a:solidFill>
                  <a:srgbClr val="524C46"/>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매입계획 </a:t>
            </a:r>
            <a:r>
              <a:rPr kumimoji="0" lang="en-US" altLang="ko-KR" sz="1000" b="0" i="0" u="none" strike="noStrike" kern="1200" cap="none" spc="0" normalizeH="0" baseline="0" noProof="0" dirty="0">
                <a:ln>
                  <a:noFill/>
                </a:ln>
                <a:solidFill>
                  <a:srgbClr val="524C46"/>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1000" b="0" i="0" u="none" strike="noStrike" kern="1200" cap="none" spc="0" normalizeH="0" baseline="0" noProof="0" dirty="0">
                <a:ln>
                  <a:noFill/>
                </a:ln>
                <a:solidFill>
                  <a:srgbClr val="524C46"/>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kumimoji="0" lang="en-US" altLang="ko-KR" sz="1000" b="0" i="0" u="none" strike="noStrike" kern="1200" cap="none" spc="0" normalizeH="0" baseline="0" noProof="0" dirty="0">
              <a:ln>
                <a:noFill/>
              </a:ln>
              <a:solidFill>
                <a:srgbClr val="524C46"/>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cxnSp>
        <p:nvCxnSpPr>
          <p:cNvPr id="29" name="꺾인 연결선 22">
            <a:extLst>
              <a:ext uri="{FF2B5EF4-FFF2-40B4-BE49-F238E27FC236}">
                <a16:creationId xmlns:a16="http://schemas.microsoft.com/office/drawing/2014/main" id="{B17FAA87-E4F0-AC5B-5462-C0D75E72B7A7}"/>
              </a:ext>
            </a:extLst>
          </p:cNvPr>
          <p:cNvCxnSpPr>
            <a:cxnSpLocks/>
            <a:stCxn id="39" idx="0"/>
            <a:endCxn id="47" idx="0"/>
          </p:cNvCxnSpPr>
          <p:nvPr/>
        </p:nvCxnSpPr>
        <p:spPr>
          <a:xfrm rot="5400000" flipH="1" flipV="1">
            <a:off x="3778313" y="2782623"/>
            <a:ext cx="12700" cy="5003063"/>
          </a:xfrm>
          <a:prstGeom prst="bentConnector3">
            <a:avLst>
              <a:gd name="adj1" fmla="val 1800000"/>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0" name="오른쪽 화살표 16">
            <a:extLst>
              <a:ext uri="{FF2B5EF4-FFF2-40B4-BE49-F238E27FC236}">
                <a16:creationId xmlns:a16="http://schemas.microsoft.com/office/drawing/2014/main" id="{3EC6B9EB-7CF1-F248-D505-C75223D19A64}"/>
              </a:ext>
            </a:extLst>
          </p:cNvPr>
          <p:cNvSpPr/>
          <p:nvPr/>
        </p:nvSpPr>
        <p:spPr>
          <a:xfrm>
            <a:off x="845406" y="5708496"/>
            <a:ext cx="9420238" cy="335006"/>
          </a:xfrm>
          <a:prstGeom prst="rightArrow">
            <a:avLst>
              <a:gd name="adj1" fmla="val 70576"/>
              <a:gd name="adj2"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31" name="오른쪽 화살표 17">
            <a:extLst>
              <a:ext uri="{FF2B5EF4-FFF2-40B4-BE49-F238E27FC236}">
                <a16:creationId xmlns:a16="http://schemas.microsoft.com/office/drawing/2014/main" id="{7B7F04C5-2DD1-20BC-73EB-A2F1A4968C5D}"/>
              </a:ext>
            </a:extLst>
          </p:cNvPr>
          <p:cNvSpPr/>
          <p:nvPr/>
        </p:nvSpPr>
        <p:spPr>
          <a:xfrm>
            <a:off x="2734914" y="5708496"/>
            <a:ext cx="7022339" cy="335006"/>
          </a:xfrm>
          <a:prstGeom prst="rightArrow">
            <a:avLst>
              <a:gd name="adj1" fmla="val 70576"/>
              <a:gd name="adj2" fmla="val 50000"/>
            </a:avLst>
          </a:prstGeom>
          <a:solidFill>
            <a:srgbClr val="345B86">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nvGrpSpPr>
          <p:cNvPr id="69" name="그룹 68">
            <a:extLst>
              <a:ext uri="{FF2B5EF4-FFF2-40B4-BE49-F238E27FC236}">
                <a16:creationId xmlns:a16="http://schemas.microsoft.com/office/drawing/2014/main" id="{F055F699-05AE-B60B-0424-FAB3D9F757D8}"/>
              </a:ext>
            </a:extLst>
          </p:cNvPr>
          <p:cNvGrpSpPr/>
          <p:nvPr/>
        </p:nvGrpSpPr>
        <p:grpSpPr>
          <a:xfrm>
            <a:off x="854318" y="5284154"/>
            <a:ext cx="844928" cy="1212330"/>
            <a:chOff x="411198" y="4871763"/>
            <a:chExt cx="844928" cy="1212330"/>
          </a:xfrm>
        </p:grpSpPr>
        <p:sp>
          <p:nvSpPr>
            <p:cNvPr id="38" name="TextBox 37">
              <a:extLst>
                <a:ext uri="{FF2B5EF4-FFF2-40B4-BE49-F238E27FC236}">
                  <a16:creationId xmlns:a16="http://schemas.microsoft.com/office/drawing/2014/main" id="{E62EED4E-4D9A-C69C-18ED-3A597DAAAF42}"/>
                </a:ext>
              </a:extLst>
            </p:cNvPr>
            <p:cNvSpPr txBox="1"/>
            <p:nvPr/>
          </p:nvSpPr>
          <p:spPr>
            <a:xfrm>
              <a:off x="497196" y="5736740"/>
              <a:ext cx="672932" cy="347353"/>
            </a:xfrm>
            <a:prstGeom prst="rect">
              <a:avLst/>
            </a:prstGeom>
            <a:noFill/>
          </p:spPr>
          <p:txBody>
            <a:bodyPr wrap="none" t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 및 </a:t>
              </a:r>
              <a:r>
                <a:rPr kumimoji="0" lang="ko-KR" altLang="en-US" sz="9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주금납입</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 포함</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39" name="TextBox 38">
              <a:extLst>
                <a:ext uri="{FF2B5EF4-FFF2-40B4-BE49-F238E27FC236}">
                  <a16:creationId xmlns:a16="http://schemas.microsoft.com/office/drawing/2014/main" id="{440FD118-02C8-BD7B-B2B3-71783B3D1C79}"/>
                </a:ext>
              </a:extLst>
            </p:cNvPr>
            <p:cNvSpPr txBox="1"/>
            <p:nvPr/>
          </p:nvSpPr>
          <p:spPr>
            <a:xfrm>
              <a:off x="411198" y="4871763"/>
              <a:ext cx="844928" cy="3693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`26 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endPar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셋째 주 </a:t>
              </a:r>
            </a:p>
          </p:txBody>
        </p:sp>
        <p:sp>
          <p:nvSpPr>
            <p:cNvPr id="40" name="타원 39">
              <a:extLst>
                <a:ext uri="{FF2B5EF4-FFF2-40B4-BE49-F238E27FC236}">
                  <a16:creationId xmlns:a16="http://schemas.microsoft.com/office/drawing/2014/main" id="{80A38858-C832-8535-7A91-C26E11F86EA7}"/>
                </a:ext>
              </a:extLst>
            </p:cNvPr>
            <p:cNvSpPr/>
            <p:nvPr/>
          </p:nvSpPr>
          <p:spPr>
            <a:xfrm>
              <a:off x="692573"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41" name="그룹 40">
            <a:extLst>
              <a:ext uri="{FF2B5EF4-FFF2-40B4-BE49-F238E27FC236}">
                <a16:creationId xmlns:a16="http://schemas.microsoft.com/office/drawing/2014/main" id="{93E2AA4A-354C-EA6A-2B0F-C2659FC5A4D4}"/>
              </a:ext>
            </a:extLst>
          </p:cNvPr>
          <p:cNvGrpSpPr/>
          <p:nvPr/>
        </p:nvGrpSpPr>
        <p:grpSpPr>
          <a:xfrm>
            <a:off x="2304241" y="5395858"/>
            <a:ext cx="790456" cy="889018"/>
            <a:chOff x="1844417" y="4986221"/>
            <a:chExt cx="790456" cy="889018"/>
          </a:xfrm>
        </p:grpSpPr>
        <p:sp>
          <p:nvSpPr>
            <p:cNvPr id="42" name="TextBox 41">
              <a:extLst>
                <a:ext uri="{FF2B5EF4-FFF2-40B4-BE49-F238E27FC236}">
                  <a16:creationId xmlns:a16="http://schemas.microsoft.com/office/drawing/2014/main" id="{2EC67BCE-9AD4-4152-F674-48C2712AAA2C}"/>
                </a:ext>
              </a:extLst>
            </p:cNvPr>
            <p:cNvSpPr txBox="1"/>
            <p:nvPr/>
          </p:nvSpPr>
          <p:spPr>
            <a:xfrm>
              <a:off x="1945336" y="5736740"/>
              <a:ext cx="588623" cy="138499"/>
            </a:xfrm>
            <a:prstGeom prst="rect">
              <a:avLst/>
            </a:prstGeom>
            <a:noFill/>
          </p:spPr>
          <p:txBody>
            <a:bodyPr wrap="non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거래종결</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3" name="TextBox 42">
              <a:extLst>
                <a:ext uri="{FF2B5EF4-FFF2-40B4-BE49-F238E27FC236}">
                  <a16:creationId xmlns:a16="http://schemas.microsoft.com/office/drawing/2014/main" id="{4E81CE71-95B9-15E3-7A58-0826B05DFA57}"/>
                </a:ext>
              </a:extLst>
            </p:cNvPr>
            <p:cNvSpPr txBox="1"/>
            <p:nvPr/>
          </p:nvSpPr>
          <p:spPr>
            <a:xfrm>
              <a:off x="1844417" y="4986221"/>
              <a:ext cx="790456"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`26. 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월말</a:t>
              </a:r>
            </a:p>
          </p:txBody>
        </p:sp>
        <p:sp>
          <p:nvSpPr>
            <p:cNvPr id="44" name="타원 43">
              <a:extLst>
                <a:ext uri="{FF2B5EF4-FFF2-40B4-BE49-F238E27FC236}">
                  <a16:creationId xmlns:a16="http://schemas.microsoft.com/office/drawing/2014/main" id="{18741EEC-9D11-0624-9120-5AA89EC51D67}"/>
                </a:ext>
              </a:extLst>
            </p:cNvPr>
            <p:cNvSpPr/>
            <p:nvPr/>
          </p:nvSpPr>
          <p:spPr>
            <a:xfrm>
              <a:off x="2098555"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45" name="그룹 44">
            <a:extLst>
              <a:ext uri="{FF2B5EF4-FFF2-40B4-BE49-F238E27FC236}">
                <a16:creationId xmlns:a16="http://schemas.microsoft.com/office/drawing/2014/main" id="{8889064D-0CD1-C994-DB3F-EAE9499CE278}"/>
              </a:ext>
            </a:extLst>
          </p:cNvPr>
          <p:cNvGrpSpPr/>
          <p:nvPr/>
        </p:nvGrpSpPr>
        <p:grpSpPr>
          <a:xfrm>
            <a:off x="5909887" y="5284154"/>
            <a:ext cx="739915" cy="1097496"/>
            <a:chOff x="5430324" y="4871763"/>
            <a:chExt cx="739915" cy="1097496"/>
          </a:xfrm>
        </p:grpSpPr>
        <p:sp>
          <p:nvSpPr>
            <p:cNvPr id="46" name="TextBox 45">
              <a:extLst>
                <a:ext uri="{FF2B5EF4-FFF2-40B4-BE49-F238E27FC236}">
                  <a16:creationId xmlns:a16="http://schemas.microsoft.com/office/drawing/2014/main" id="{3BF6B47B-4AD8-A17E-2E6B-C9E16502B08C}"/>
                </a:ext>
              </a:extLst>
            </p:cNvPr>
            <p:cNvSpPr txBox="1"/>
            <p:nvPr/>
          </p:nvSpPr>
          <p:spPr>
            <a:xfrm>
              <a:off x="5463815" y="5765897"/>
              <a:ext cx="672932" cy="203362"/>
            </a:xfrm>
            <a:prstGeom prst="rect">
              <a:avLst/>
            </a:prstGeom>
            <a:noFill/>
          </p:spPr>
          <p:txBody>
            <a:bodyPr wrap="none" t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 매입기한</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47" name="TextBox 46">
              <a:extLst>
                <a:ext uri="{FF2B5EF4-FFF2-40B4-BE49-F238E27FC236}">
                  <a16:creationId xmlns:a16="http://schemas.microsoft.com/office/drawing/2014/main" id="{7E1D810D-D49F-1B60-F86C-2D5A1CD966C2}"/>
                </a:ext>
              </a:extLst>
            </p:cNvPr>
            <p:cNvSpPr txBox="1"/>
            <p:nvPr/>
          </p:nvSpPr>
          <p:spPr>
            <a:xfrm>
              <a:off x="5430324" y="4871763"/>
              <a:ext cx="739915" cy="3693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`27.10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a:t>
              </a:r>
              <a:endPar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셋째 주</a:t>
              </a:r>
            </a:p>
          </p:txBody>
        </p:sp>
        <p:sp>
          <p:nvSpPr>
            <p:cNvPr id="48" name="타원 47">
              <a:extLst>
                <a:ext uri="{FF2B5EF4-FFF2-40B4-BE49-F238E27FC236}">
                  <a16:creationId xmlns:a16="http://schemas.microsoft.com/office/drawing/2014/main" id="{A3EE31AB-1152-0C52-20B1-38E51D37F734}"/>
                </a:ext>
              </a:extLst>
            </p:cNvPr>
            <p:cNvSpPr/>
            <p:nvPr/>
          </p:nvSpPr>
          <p:spPr>
            <a:xfrm>
              <a:off x="5659192" y="531981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74" name="그룹 73">
            <a:extLst>
              <a:ext uri="{FF2B5EF4-FFF2-40B4-BE49-F238E27FC236}">
                <a16:creationId xmlns:a16="http://schemas.microsoft.com/office/drawing/2014/main" id="{685B99F5-7924-57C2-F0DF-1A21044AC2F0}"/>
              </a:ext>
            </a:extLst>
          </p:cNvPr>
          <p:cNvGrpSpPr/>
          <p:nvPr/>
        </p:nvGrpSpPr>
        <p:grpSpPr>
          <a:xfrm>
            <a:off x="8019981" y="5284154"/>
            <a:ext cx="739915" cy="1097496"/>
            <a:chOff x="5430324" y="4871763"/>
            <a:chExt cx="739915" cy="1097496"/>
          </a:xfrm>
        </p:grpSpPr>
        <p:sp>
          <p:nvSpPr>
            <p:cNvPr id="75" name="TextBox 74">
              <a:extLst>
                <a:ext uri="{FF2B5EF4-FFF2-40B4-BE49-F238E27FC236}">
                  <a16:creationId xmlns:a16="http://schemas.microsoft.com/office/drawing/2014/main" id="{0D863438-3346-DE22-D11C-F1CC2C446B5A}"/>
                </a:ext>
              </a:extLst>
            </p:cNvPr>
            <p:cNvSpPr txBox="1"/>
            <p:nvPr/>
          </p:nvSpPr>
          <p:spPr>
            <a:xfrm>
              <a:off x="5463815" y="5765897"/>
              <a:ext cx="672932" cy="203362"/>
            </a:xfrm>
            <a:prstGeom prst="rect">
              <a:avLst/>
            </a:prstGeom>
            <a:noFill/>
          </p:spPr>
          <p:txBody>
            <a:bodyPr wrap="none" t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 매입기한</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76" name="TextBox 75">
              <a:extLst>
                <a:ext uri="{FF2B5EF4-FFF2-40B4-BE49-F238E27FC236}">
                  <a16:creationId xmlns:a16="http://schemas.microsoft.com/office/drawing/2014/main" id="{A60FBA31-D2EC-8EBB-E0E4-92FF3EF5DF4E}"/>
                </a:ext>
              </a:extLst>
            </p:cNvPr>
            <p:cNvSpPr txBox="1"/>
            <p:nvPr/>
          </p:nvSpPr>
          <p:spPr>
            <a:xfrm>
              <a:off x="5430324" y="4871763"/>
              <a:ext cx="739915" cy="3693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`28.10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a:t>
              </a:r>
              <a:endPar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셋째 주</a:t>
              </a:r>
            </a:p>
          </p:txBody>
        </p:sp>
        <p:sp>
          <p:nvSpPr>
            <p:cNvPr id="77" name="타원 76">
              <a:extLst>
                <a:ext uri="{FF2B5EF4-FFF2-40B4-BE49-F238E27FC236}">
                  <a16:creationId xmlns:a16="http://schemas.microsoft.com/office/drawing/2014/main" id="{4050615A-8BDA-6570-7A7D-5BEA4EC60E3B}"/>
                </a:ext>
              </a:extLst>
            </p:cNvPr>
            <p:cNvSpPr/>
            <p:nvPr/>
          </p:nvSpPr>
          <p:spPr>
            <a:xfrm>
              <a:off x="5659192" y="531981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82" name="그룹 81">
            <a:extLst>
              <a:ext uri="{FF2B5EF4-FFF2-40B4-BE49-F238E27FC236}">
                <a16:creationId xmlns:a16="http://schemas.microsoft.com/office/drawing/2014/main" id="{ED3445BA-68C9-7568-5C27-6EFB9E1ADB5C}"/>
              </a:ext>
            </a:extLst>
          </p:cNvPr>
          <p:cNvGrpSpPr/>
          <p:nvPr/>
        </p:nvGrpSpPr>
        <p:grpSpPr>
          <a:xfrm>
            <a:off x="4493690" y="5386333"/>
            <a:ext cx="1127232" cy="1057178"/>
            <a:chOff x="1676035" y="4986221"/>
            <a:chExt cx="1127232" cy="1057178"/>
          </a:xfrm>
        </p:grpSpPr>
        <p:sp>
          <p:nvSpPr>
            <p:cNvPr id="83" name="TextBox 82">
              <a:extLst>
                <a:ext uri="{FF2B5EF4-FFF2-40B4-BE49-F238E27FC236}">
                  <a16:creationId xmlns:a16="http://schemas.microsoft.com/office/drawing/2014/main" id="{DC8F65CE-EE54-0A83-BB41-11246F53CD23}"/>
                </a:ext>
              </a:extLst>
            </p:cNvPr>
            <p:cNvSpPr txBox="1"/>
            <p:nvPr/>
          </p:nvSpPr>
          <p:spPr>
            <a:xfrm>
              <a:off x="1676035" y="5766400"/>
              <a:ext cx="1127232" cy="276999"/>
            </a:xfrm>
            <a:prstGeom prst="rect">
              <a:avLst/>
            </a:prstGeom>
            <a:noFill/>
          </p:spPr>
          <p:txBody>
            <a:bodyPr wrap="non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주유소 등 </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담보대출 </a:t>
              </a:r>
              <a:r>
                <a:rPr kumimoji="0" lang="ko-KR" altLang="en-US" sz="9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리파이낸싱</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84" name="TextBox 83">
              <a:extLst>
                <a:ext uri="{FF2B5EF4-FFF2-40B4-BE49-F238E27FC236}">
                  <a16:creationId xmlns:a16="http://schemas.microsoft.com/office/drawing/2014/main" id="{1B24C348-E128-CF33-3934-7099DF2CC781}"/>
                </a:ext>
              </a:extLst>
            </p:cNvPr>
            <p:cNvSpPr txBox="1"/>
            <p:nvPr/>
          </p:nvSpPr>
          <p:spPr>
            <a:xfrm>
              <a:off x="1869687"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`27.05.</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85" name="타원 84">
              <a:extLst>
                <a:ext uri="{FF2B5EF4-FFF2-40B4-BE49-F238E27FC236}">
                  <a16:creationId xmlns:a16="http://schemas.microsoft.com/office/drawing/2014/main" id="{6D15E745-3F23-AC90-B6A4-77DEED68D704}"/>
                </a:ext>
              </a:extLst>
            </p:cNvPr>
            <p:cNvSpPr/>
            <p:nvPr/>
          </p:nvSpPr>
          <p:spPr>
            <a:xfrm>
              <a:off x="2098555" y="5326163"/>
              <a:ext cx="282179" cy="282179"/>
            </a:xfrm>
            <a:prstGeom prst="ellipse">
              <a:avLst/>
            </a:prstGeom>
            <a:solidFill>
              <a:schemeClr val="bg1"/>
            </a:solidFill>
            <a:ln w="12700">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99" name="그룹 98">
            <a:extLst>
              <a:ext uri="{FF2B5EF4-FFF2-40B4-BE49-F238E27FC236}">
                <a16:creationId xmlns:a16="http://schemas.microsoft.com/office/drawing/2014/main" id="{0F19D81C-526B-4BD3-4ACF-FC8952EC3AEB}"/>
              </a:ext>
            </a:extLst>
          </p:cNvPr>
          <p:cNvGrpSpPr/>
          <p:nvPr/>
        </p:nvGrpSpPr>
        <p:grpSpPr>
          <a:xfrm>
            <a:off x="3427419" y="5386333"/>
            <a:ext cx="824265" cy="1057178"/>
            <a:chOff x="1827518" y="4986221"/>
            <a:chExt cx="824265" cy="1057178"/>
          </a:xfrm>
        </p:grpSpPr>
        <p:sp>
          <p:nvSpPr>
            <p:cNvPr id="100" name="TextBox 99">
              <a:extLst>
                <a:ext uri="{FF2B5EF4-FFF2-40B4-BE49-F238E27FC236}">
                  <a16:creationId xmlns:a16="http://schemas.microsoft.com/office/drawing/2014/main" id="{66631373-944B-1308-3BBC-61BD46EE9427}"/>
                </a:ext>
              </a:extLst>
            </p:cNvPr>
            <p:cNvSpPr txBox="1"/>
            <p:nvPr/>
          </p:nvSpPr>
          <p:spPr>
            <a:xfrm>
              <a:off x="1827518" y="5766400"/>
              <a:ext cx="824265" cy="276999"/>
            </a:xfrm>
            <a:prstGeom prst="rect">
              <a:avLst/>
            </a:prstGeom>
            <a:noFill/>
          </p:spPr>
          <p:txBody>
            <a:bodyPr wrap="non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회사채 등</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자금조달 모색</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1" name="TextBox 100">
              <a:extLst>
                <a:ext uri="{FF2B5EF4-FFF2-40B4-BE49-F238E27FC236}">
                  <a16:creationId xmlns:a16="http://schemas.microsoft.com/office/drawing/2014/main" id="{2C3C6DEC-E822-9470-9787-78AF4D82AA8E}"/>
                </a:ext>
              </a:extLst>
            </p:cNvPr>
            <p:cNvSpPr txBox="1"/>
            <p:nvPr/>
          </p:nvSpPr>
          <p:spPr>
            <a:xfrm>
              <a:off x="1869687"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`27.01.</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2" name="타원 101">
              <a:extLst>
                <a:ext uri="{FF2B5EF4-FFF2-40B4-BE49-F238E27FC236}">
                  <a16:creationId xmlns:a16="http://schemas.microsoft.com/office/drawing/2014/main" id="{22FDA33C-288F-6586-50B3-F80C28CDE16D}"/>
                </a:ext>
              </a:extLst>
            </p:cNvPr>
            <p:cNvSpPr/>
            <p:nvPr/>
          </p:nvSpPr>
          <p:spPr>
            <a:xfrm>
              <a:off x="2098555" y="5326163"/>
              <a:ext cx="282179" cy="282179"/>
            </a:xfrm>
            <a:prstGeom prst="ellipse">
              <a:avLst/>
            </a:prstGeom>
            <a:solidFill>
              <a:schemeClr val="bg1"/>
            </a:solidFill>
            <a:ln w="12700">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sp>
        <p:nvSpPr>
          <p:cNvPr id="104" name="TextBox 103">
            <a:extLst>
              <a:ext uri="{FF2B5EF4-FFF2-40B4-BE49-F238E27FC236}">
                <a16:creationId xmlns:a16="http://schemas.microsoft.com/office/drawing/2014/main" id="{8100D9DB-0BCC-47BD-EC38-6A2FAF42852C}"/>
              </a:ext>
            </a:extLst>
          </p:cNvPr>
          <p:cNvSpPr txBox="1"/>
          <p:nvPr/>
        </p:nvSpPr>
        <p:spPr>
          <a:xfrm>
            <a:off x="3075805" y="4953393"/>
            <a:ext cx="1250911" cy="230832"/>
          </a:xfrm>
          <a:prstGeom prst="rect">
            <a:avLst/>
          </a:prstGeom>
          <a:solidFill>
            <a:schemeClr val="bg1"/>
          </a:solidFill>
          <a:ln>
            <a:noFill/>
          </a:ln>
        </p:spPr>
        <p:txBody>
          <a:bodyPr wrap="none" lIns="36000" rIns="3600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 매입기한 </a:t>
            </a: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1</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a:t>
            </a:r>
          </a:p>
        </p:txBody>
      </p:sp>
      <p:cxnSp>
        <p:nvCxnSpPr>
          <p:cNvPr id="105" name="꺾인 연결선 22">
            <a:extLst>
              <a:ext uri="{FF2B5EF4-FFF2-40B4-BE49-F238E27FC236}">
                <a16:creationId xmlns:a16="http://schemas.microsoft.com/office/drawing/2014/main" id="{B30C659F-1F44-9554-B0A4-D85E3AA03258}"/>
              </a:ext>
            </a:extLst>
          </p:cNvPr>
          <p:cNvCxnSpPr>
            <a:cxnSpLocks/>
            <a:stCxn id="39" idx="0"/>
            <a:endCxn id="76" idx="0"/>
          </p:cNvCxnSpPr>
          <p:nvPr/>
        </p:nvCxnSpPr>
        <p:spPr>
          <a:xfrm rot="5400000" flipH="1" flipV="1">
            <a:off x="4833360" y="1727576"/>
            <a:ext cx="12700" cy="7113157"/>
          </a:xfrm>
          <a:prstGeom prst="bentConnector3">
            <a:avLst>
              <a:gd name="adj1" fmla="val 3450000"/>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9" name="TextBox 108">
            <a:extLst>
              <a:ext uri="{FF2B5EF4-FFF2-40B4-BE49-F238E27FC236}">
                <a16:creationId xmlns:a16="http://schemas.microsoft.com/office/drawing/2014/main" id="{90D31D96-4DB8-5D15-B74D-B10525E3930B}"/>
              </a:ext>
            </a:extLst>
          </p:cNvPr>
          <p:cNvSpPr txBox="1"/>
          <p:nvPr/>
        </p:nvSpPr>
        <p:spPr>
          <a:xfrm>
            <a:off x="4431843" y="4744397"/>
            <a:ext cx="1250911" cy="230832"/>
          </a:xfrm>
          <a:prstGeom prst="rect">
            <a:avLst/>
          </a:prstGeom>
          <a:solidFill>
            <a:schemeClr val="bg1"/>
          </a:solidFill>
          <a:ln>
            <a:noFill/>
          </a:ln>
        </p:spPr>
        <p:txBody>
          <a:bodyPr wrap="none" lIns="36000" rIns="3600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 매입기한 </a:t>
            </a: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2</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a:t>
            </a:r>
          </a:p>
        </p:txBody>
      </p:sp>
    </p:spTree>
    <p:extLst>
      <p:ext uri="{BB962C8B-B14F-4D97-AF65-F5344CB8AC3E}">
        <p14:creationId xmlns:p14="http://schemas.microsoft.com/office/powerpoint/2010/main" val="363096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BA1276-71EB-6C07-9215-246822076F07}"/>
            </a:ext>
          </a:extLst>
        </p:cNvPr>
        <p:cNvGrpSpPr/>
        <p:nvPr/>
      </p:nvGrpSpPr>
      <p:grpSpPr>
        <a:xfrm>
          <a:off x="0" y="0"/>
          <a:ext cx="0" cy="0"/>
          <a:chOff x="0" y="0"/>
          <a:chExt cx="0" cy="0"/>
        </a:xfrm>
      </p:grpSpPr>
      <p:grpSp>
        <p:nvGrpSpPr>
          <p:cNvPr id="8" name="그룹 7">
            <a:extLst>
              <a:ext uri="{FF2B5EF4-FFF2-40B4-BE49-F238E27FC236}">
                <a16:creationId xmlns:a16="http://schemas.microsoft.com/office/drawing/2014/main" id="{7D201A29-E534-7D8C-9198-1415ABD6B343}"/>
              </a:ext>
            </a:extLst>
          </p:cNvPr>
          <p:cNvGrpSpPr/>
          <p:nvPr/>
        </p:nvGrpSpPr>
        <p:grpSpPr>
          <a:xfrm>
            <a:off x="458887" y="1987916"/>
            <a:ext cx="9783663" cy="247712"/>
            <a:chOff x="417444" y="1605420"/>
            <a:chExt cx="8983731" cy="247712"/>
          </a:xfrm>
        </p:grpSpPr>
        <p:sp>
          <p:nvSpPr>
            <p:cNvPr id="9" name="직사각형 8">
              <a:extLst>
                <a:ext uri="{FF2B5EF4-FFF2-40B4-BE49-F238E27FC236}">
                  <a16:creationId xmlns:a16="http://schemas.microsoft.com/office/drawing/2014/main" id="{39EB9806-8AED-CC36-FC7C-B7EE69618CDA}"/>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0" name="직선 연결선 9">
              <a:extLst>
                <a:ext uri="{FF2B5EF4-FFF2-40B4-BE49-F238E27FC236}">
                  <a16:creationId xmlns:a16="http://schemas.microsoft.com/office/drawing/2014/main" id="{72031407-F316-7B1C-8CF7-65EB0978B22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1" name="자유형 29">
              <a:extLst>
                <a:ext uri="{FF2B5EF4-FFF2-40B4-BE49-F238E27FC236}">
                  <a16:creationId xmlns:a16="http://schemas.microsoft.com/office/drawing/2014/main" id="{1729F649-3CD0-F48C-1341-0876E92A77AD}"/>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2" name="자유형 30">
              <a:extLst>
                <a:ext uri="{FF2B5EF4-FFF2-40B4-BE49-F238E27FC236}">
                  <a16:creationId xmlns:a16="http://schemas.microsoft.com/office/drawing/2014/main" id="{D958B363-151A-0398-CABD-AE308FCF6C1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3" name="TextBox 12">
              <a:extLst>
                <a:ext uri="{FF2B5EF4-FFF2-40B4-BE49-F238E27FC236}">
                  <a16:creationId xmlns:a16="http://schemas.microsoft.com/office/drawing/2014/main" id="{6A203237-5759-02AD-9ABD-6A8961055BBC}"/>
                </a:ext>
              </a:extLst>
            </p:cNvPr>
            <p:cNvSpPr txBox="1"/>
            <p:nvPr/>
          </p:nvSpPr>
          <p:spPr>
            <a:xfrm>
              <a:off x="417444" y="1652332"/>
              <a:ext cx="529446"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 배경</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4" name="사각형: 둥근 모서리 3">
            <a:extLst>
              <a:ext uri="{FF2B5EF4-FFF2-40B4-BE49-F238E27FC236}">
                <a16:creationId xmlns:a16="http://schemas.microsoft.com/office/drawing/2014/main" id="{A403522E-4305-09CE-4825-D894F2AD5ED4}"/>
              </a:ext>
            </a:extLst>
          </p:cNvPr>
          <p:cNvSpPr/>
          <p:nvPr/>
        </p:nvSpPr>
        <p:spPr>
          <a:xfrm>
            <a:off x="444184" y="2554628"/>
            <a:ext cx="2453450" cy="182858"/>
          </a:xfrm>
          <a:prstGeom prst="round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`26~`28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Last-mile</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 공급량</a:t>
            </a:r>
          </a:p>
        </p:txBody>
      </p:sp>
      <p:graphicFrame>
        <p:nvGraphicFramePr>
          <p:cNvPr id="14" name="차트 13">
            <a:extLst>
              <a:ext uri="{FF2B5EF4-FFF2-40B4-BE49-F238E27FC236}">
                <a16:creationId xmlns:a16="http://schemas.microsoft.com/office/drawing/2014/main" id="{CF97BC2A-9E15-FF0E-E2AE-F65CB3003D15}"/>
              </a:ext>
            </a:extLst>
          </p:cNvPr>
          <p:cNvGraphicFramePr/>
          <p:nvPr>
            <p:extLst>
              <p:ext uri="{D42A27DB-BD31-4B8C-83A1-F6EECF244321}">
                <p14:modId xmlns:p14="http://schemas.microsoft.com/office/powerpoint/2010/main" val="749380130"/>
              </p:ext>
            </p:extLst>
          </p:nvPr>
        </p:nvGraphicFramePr>
        <p:xfrm>
          <a:off x="734111" y="4980470"/>
          <a:ext cx="4543070" cy="1669128"/>
        </p:xfrm>
        <a:graphic>
          <a:graphicData uri="http://schemas.openxmlformats.org/drawingml/2006/chart">
            <c:chart xmlns:c="http://schemas.openxmlformats.org/drawingml/2006/chart" xmlns:r="http://schemas.openxmlformats.org/officeDocument/2006/relationships" r:id="rId2"/>
          </a:graphicData>
        </a:graphic>
      </p:graphicFrame>
      <p:grpSp>
        <p:nvGrpSpPr>
          <p:cNvPr id="15" name="그룹 14">
            <a:extLst>
              <a:ext uri="{FF2B5EF4-FFF2-40B4-BE49-F238E27FC236}">
                <a16:creationId xmlns:a16="http://schemas.microsoft.com/office/drawing/2014/main" id="{69D746D3-10CA-082A-B8E4-3A101D51AE46}"/>
              </a:ext>
            </a:extLst>
          </p:cNvPr>
          <p:cNvGrpSpPr/>
          <p:nvPr/>
        </p:nvGrpSpPr>
        <p:grpSpPr>
          <a:xfrm>
            <a:off x="580166" y="4729630"/>
            <a:ext cx="2688557" cy="216268"/>
            <a:chOff x="455544" y="-592941"/>
            <a:chExt cx="2688557" cy="246221"/>
          </a:xfrm>
        </p:grpSpPr>
        <p:sp>
          <p:nvSpPr>
            <p:cNvPr id="56" name="TextBox 55">
              <a:extLst>
                <a:ext uri="{FF2B5EF4-FFF2-40B4-BE49-F238E27FC236}">
                  <a16:creationId xmlns:a16="http://schemas.microsoft.com/office/drawing/2014/main" id="{17A1A002-A1A6-58D3-7097-F00A0490694A}"/>
                </a:ext>
              </a:extLst>
            </p:cNvPr>
            <p:cNvSpPr txBox="1"/>
            <p:nvPr/>
          </p:nvSpPr>
          <p:spPr>
            <a:xfrm>
              <a:off x="455544" y="-592941"/>
              <a:ext cx="2688557" cy="246221"/>
            </a:xfrm>
            <a:prstGeom prst="rect">
              <a:avLst/>
            </a:prstGeom>
            <a:solidFill>
              <a:schemeClr val="bg1"/>
            </a:solidFill>
          </p:spPr>
          <p:txBody>
            <a:bodyPr wrap="none"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Last-mile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 신규 공급량 추이</a:t>
              </a:r>
              <a:r>
                <a:rPr kumimoji="0" lang="en-US" altLang="ko-KR"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57" name="직사각형 56">
              <a:extLst>
                <a:ext uri="{FF2B5EF4-FFF2-40B4-BE49-F238E27FC236}">
                  <a16:creationId xmlns:a16="http://schemas.microsoft.com/office/drawing/2014/main" id="{015BF8F3-BE06-6431-3E06-CE95161E2496}"/>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pic>
        <p:nvPicPr>
          <p:cNvPr id="16" name="그림 15">
            <a:extLst>
              <a:ext uri="{FF2B5EF4-FFF2-40B4-BE49-F238E27FC236}">
                <a16:creationId xmlns:a16="http://schemas.microsoft.com/office/drawing/2014/main" id="{DE6EF900-900E-DCB9-1A69-2922CAA14FEB}"/>
              </a:ext>
            </a:extLst>
          </p:cNvPr>
          <p:cNvPicPr>
            <a:picLocks noChangeAspect="1"/>
          </p:cNvPicPr>
          <p:nvPr/>
        </p:nvPicPr>
        <p:blipFill>
          <a:blip r:embed="rId3"/>
          <a:stretch>
            <a:fillRect/>
          </a:stretch>
        </p:blipFill>
        <p:spPr>
          <a:xfrm>
            <a:off x="759523" y="2894201"/>
            <a:ext cx="4423096" cy="1679120"/>
          </a:xfrm>
          <a:prstGeom prst="rect">
            <a:avLst/>
          </a:prstGeom>
        </p:spPr>
      </p:pic>
      <p:sp>
        <p:nvSpPr>
          <p:cNvPr id="17" name="직사각형 16">
            <a:extLst>
              <a:ext uri="{FF2B5EF4-FFF2-40B4-BE49-F238E27FC236}">
                <a16:creationId xmlns:a16="http://schemas.microsoft.com/office/drawing/2014/main" id="{8EF1FBEF-EF69-30DE-8B42-457136007188}"/>
              </a:ext>
            </a:extLst>
          </p:cNvPr>
          <p:cNvSpPr/>
          <p:nvPr/>
        </p:nvSpPr>
        <p:spPr>
          <a:xfrm>
            <a:off x="759523" y="2880486"/>
            <a:ext cx="4423096" cy="1677613"/>
          </a:xfrm>
          <a:prstGeom prst="rect">
            <a:avLst/>
          </a:prstGeom>
          <a:solidFill>
            <a:schemeClr val="bg1">
              <a:alpha val="30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nvGrpSpPr>
          <p:cNvPr id="18" name="그룹 17">
            <a:extLst>
              <a:ext uri="{FF2B5EF4-FFF2-40B4-BE49-F238E27FC236}">
                <a16:creationId xmlns:a16="http://schemas.microsoft.com/office/drawing/2014/main" id="{0239643C-23D3-EDAB-BAFC-5FFFCA03B1D5}"/>
              </a:ext>
            </a:extLst>
          </p:cNvPr>
          <p:cNvGrpSpPr/>
          <p:nvPr/>
        </p:nvGrpSpPr>
        <p:grpSpPr>
          <a:xfrm>
            <a:off x="1224807" y="2949130"/>
            <a:ext cx="3010458" cy="1539381"/>
            <a:chOff x="1224807" y="2436617"/>
            <a:chExt cx="3010458" cy="1752584"/>
          </a:xfrm>
        </p:grpSpPr>
        <p:sp>
          <p:nvSpPr>
            <p:cNvPr id="39" name="TextBox 38">
              <a:extLst>
                <a:ext uri="{FF2B5EF4-FFF2-40B4-BE49-F238E27FC236}">
                  <a16:creationId xmlns:a16="http://schemas.microsoft.com/office/drawing/2014/main" id="{17EE2569-8239-A146-2D11-0281641E126C}"/>
                </a:ext>
              </a:extLst>
            </p:cNvPr>
            <p:cNvSpPr txBox="1"/>
            <p:nvPr/>
          </p:nvSpPr>
          <p:spPr>
            <a:xfrm>
              <a:off x="2184679" y="2732862"/>
              <a:ext cx="546117" cy="233014"/>
            </a:xfrm>
            <a:prstGeom prst="rect">
              <a:avLst/>
            </a:prstGeom>
            <a:noFill/>
          </p:spPr>
          <p:txBody>
            <a:bodyPr wrap="square" lIns="0" tIns="46800" rIns="0" bIns="46800" rtlCol="0" anchor="ctr">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900" dirty="0"/>
                <a:t>고양시</a:t>
              </a:r>
            </a:p>
          </p:txBody>
        </p:sp>
        <p:sp>
          <p:nvSpPr>
            <p:cNvPr id="41" name="TextBox 40">
              <a:extLst>
                <a:ext uri="{FF2B5EF4-FFF2-40B4-BE49-F238E27FC236}">
                  <a16:creationId xmlns:a16="http://schemas.microsoft.com/office/drawing/2014/main" id="{6D4EB324-B285-D8CF-70C8-5C40E5964949}"/>
                </a:ext>
              </a:extLst>
            </p:cNvPr>
            <p:cNvSpPr txBox="1"/>
            <p:nvPr/>
          </p:nvSpPr>
          <p:spPr>
            <a:xfrm>
              <a:off x="1224807" y="2626673"/>
              <a:ext cx="546117" cy="233014"/>
            </a:xfrm>
            <a:prstGeom prst="rect">
              <a:avLst/>
            </a:prstGeom>
            <a:noFill/>
          </p:spPr>
          <p:txBody>
            <a:bodyPr wrap="square" lIns="0" tIns="46800" rIns="0" bIns="46800" rtlCol="0" anchor="ctr">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900" dirty="0"/>
                <a:t>김포시</a:t>
              </a:r>
            </a:p>
          </p:txBody>
        </p:sp>
        <p:sp>
          <p:nvSpPr>
            <p:cNvPr id="42" name="TextBox 41">
              <a:extLst>
                <a:ext uri="{FF2B5EF4-FFF2-40B4-BE49-F238E27FC236}">
                  <a16:creationId xmlns:a16="http://schemas.microsoft.com/office/drawing/2014/main" id="{8BB7B60B-DFDC-DF1F-E6F0-3E9B29803637}"/>
                </a:ext>
              </a:extLst>
            </p:cNvPr>
            <p:cNvSpPr txBox="1"/>
            <p:nvPr/>
          </p:nvSpPr>
          <p:spPr>
            <a:xfrm>
              <a:off x="3165140" y="3933104"/>
              <a:ext cx="546117" cy="256097"/>
            </a:xfrm>
            <a:prstGeom prst="rect">
              <a:avLst/>
            </a:prstGeom>
            <a:noFill/>
          </p:spPr>
          <p:txBody>
            <a:bodyPr wrap="square" lIns="0" tIns="46800" rIns="0" bIns="46800" rtlCol="0" anchor="ctr">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성남시</a:t>
              </a:r>
            </a:p>
          </p:txBody>
        </p:sp>
        <p:sp>
          <p:nvSpPr>
            <p:cNvPr id="43" name="TextBox 42">
              <a:extLst>
                <a:ext uri="{FF2B5EF4-FFF2-40B4-BE49-F238E27FC236}">
                  <a16:creationId xmlns:a16="http://schemas.microsoft.com/office/drawing/2014/main" id="{087166FA-A7FA-37B7-E1BF-FEA929E2CB70}"/>
                </a:ext>
              </a:extLst>
            </p:cNvPr>
            <p:cNvSpPr txBox="1"/>
            <p:nvPr/>
          </p:nvSpPr>
          <p:spPr>
            <a:xfrm>
              <a:off x="1978050" y="3442315"/>
              <a:ext cx="546117" cy="233014"/>
            </a:xfrm>
            <a:prstGeom prst="rect">
              <a:avLst/>
            </a:prstGeom>
            <a:noFill/>
          </p:spPr>
          <p:txBody>
            <a:bodyPr wrap="square" lIns="0" tIns="46800" rIns="0" bIns="46800" rtlCol="0" anchor="ctr">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900" dirty="0"/>
                <a:t>부천시</a:t>
              </a:r>
            </a:p>
          </p:txBody>
        </p:sp>
        <p:sp>
          <p:nvSpPr>
            <p:cNvPr id="44" name="TextBox 43">
              <a:extLst>
                <a:ext uri="{FF2B5EF4-FFF2-40B4-BE49-F238E27FC236}">
                  <a16:creationId xmlns:a16="http://schemas.microsoft.com/office/drawing/2014/main" id="{4D896F40-D963-D4BE-E786-63D001451689}"/>
                </a:ext>
              </a:extLst>
            </p:cNvPr>
            <p:cNvSpPr txBox="1"/>
            <p:nvPr/>
          </p:nvSpPr>
          <p:spPr>
            <a:xfrm>
              <a:off x="2786965" y="3762188"/>
              <a:ext cx="546117" cy="233014"/>
            </a:xfrm>
            <a:prstGeom prst="rect">
              <a:avLst/>
            </a:prstGeom>
            <a:noFill/>
          </p:spPr>
          <p:txBody>
            <a:bodyPr wrap="square" lIns="0" tIns="46800" rIns="0" bIns="46800" rtlCol="0" anchor="ctr">
              <a:spAutoFit/>
            </a:bodyPr>
            <a:lstStyle>
              <a:defPPr>
                <a:defRPr lang="en-US"/>
              </a:defPPr>
              <a:lvl1pPr algn="ctr">
                <a:defRPr sz="1000" spc="-30">
                  <a:effectLst>
                    <a:glow rad="50800">
                      <a:prstClr val="white"/>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r>
                <a:rPr lang="ko-KR" altLang="en-US" dirty="0"/>
                <a:t>과천</a:t>
              </a:r>
            </a:p>
          </p:txBody>
        </p:sp>
        <p:sp>
          <p:nvSpPr>
            <p:cNvPr id="45" name="TextBox 44">
              <a:extLst>
                <a:ext uri="{FF2B5EF4-FFF2-40B4-BE49-F238E27FC236}">
                  <a16:creationId xmlns:a16="http://schemas.microsoft.com/office/drawing/2014/main" id="{73E53072-435F-2EA4-06FD-B6CE61C08466}"/>
                </a:ext>
              </a:extLst>
            </p:cNvPr>
            <p:cNvSpPr txBox="1"/>
            <p:nvPr/>
          </p:nvSpPr>
          <p:spPr>
            <a:xfrm>
              <a:off x="2484856" y="3882746"/>
              <a:ext cx="546117" cy="256097"/>
            </a:xfrm>
            <a:prstGeom prst="rect">
              <a:avLst/>
            </a:prstGeom>
            <a:noFill/>
          </p:spPr>
          <p:txBody>
            <a:bodyPr wrap="square" lIns="0" tIns="46800" rIns="0" bIns="46800" rtlCol="0" anchor="ctr">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안양시</a:t>
              </a:r>
            </a:p>
          </p:txBody>
        </p:sp>
        <p:sp>
          <p:nvSpPr>
            <p:cNvPr id="46" name="TextBox 45">
              <a:extLst>
                <a:ext uri="{FF2B5EF4-FFF2-40B4-BE49-F238E27FC236}">
                  <a16:creationId xmlns:a16="http://schemas.microsoft.com/office/drawing/2014/main" id="{94815F1F-1F0E-CD9B-602B-92BCAD78AC8D}"/>
                </a:ext>
              </a:extLst>
            </p:cNvPr>
            <p:cNvSpPr txBox="1"/>
            <p:nvPr/>
          </p:nvSpPr>
          <p:spPr>
            <a:xfrm>
              <a:off x="3566453" y="2763058"/>
              <a:ext cx="546117" cy="233014"/>
            </a:xfrm>
            <a:prstGeom prst="rect">
              <a:avLst/>
            </a:prstGeom>
            <a:noFill/>
          </p:spPr>
          <p:txBody>
            <a:bodyPr wrap="square" lIns="0" tIns="46800" rIns="0" bIns="46800" rtlCol="0" anchor="ctr">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900" dirty="0"/>
                <a:t>남양주시</a:t>
              </a:r>
            </a:p>
          </p:txBody>
        </p:sp>
        <p:sp>
          <p:nvSpPr>
            <p:cNvPr id="47" name="TextBox 46">
              <a:extLst>
                <a:ext uri="{FF2B5EF4-FFF2-40B4-BE49-F238E27FC236}">
                  <a16:creationId xmlns:a16="http://schemas.microsoft.com/office/drawing/2014/main" id="{B726F422-BC79-C75D-E998-8D9EB01E65F3}"/>
                </a:ext>
              </a:extLst>
            </p:cNvPr>
            <p:cNvSpPr txBox="1"/>
            <p:nvPr/>
          </p:nvSpPr>
          <p:spPr>
            <a:xfrm>
              <a:off x="1397210" y="3669482"/>
              <a:ext cx="546117" cy="233014"/>
            </a:xfrm>
            <a:prstGeom prst="rect">
              <a:avLst/>
            </a:prstGeom>
            <a:noFill/>
          </p:spPr>
          <p:txBody>
            <a:bodyPr wrap="square" lIns="0" tIns="46800" rIns="0" bIns="46800" rtlCol="0" anchor="ctr">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900" dirty="0"/>
                <a:t>인천광역시</a:t>
              </a:r>
            </a:p>
          </p:txBody>
        </p:sp>
        <p:sp>
          <p:nvSpPr>
            <p:cNvPr id="48" name="TextBox 47">
              <a:extLst>
                <a:ext uri="{FF2B5EF4-FFF2-40B4-BE49-F238E27FC236}">
                  <a16:creationId xmlns:a16="http://schemas.microsoft.com/office/drawing/2014/main" id="{91CC9A10-35DF-CC11-5064-FD9019856FE4}"/>
                </a:ext>
              </a:extLst>
            </p:cNvPr>
            <p:cNvSpPr txBox="1"/>
            <p:nvPr/>
          </p:nvSpPr>
          <p:spPr>
            <a:xfrm>
              <a:off x="1893655" y="3272924"/>
              <a:ext cx="546117" cy="248402"/>
            </a:xfrm>
            <a:prstGeom prst="rect">
              <a:avLst/>
            </a:prstGeom>
            <a:noFill/>
          </p:spPr>
          <p:txBody>
            <a:bodyPr wrap="square" lIns="0" tIns="46800" rIns="0" bIns="46800" rtlCol="0" anchor="ctr">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71,964m</a:t>
              </a:r>
              <a:r>
                <a:rPr lang="en-US" altLang="ko-KR" sz="10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0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9" name="TextBox 48">
              <a:extLst>
                <a:ext uri="{FF2B5EF4-FFF2-40B4-BE49-F238E27FC236}">
                  <a16:creationId xmlns:a16="http://schemas.microsoft.com/office/drawing/2014/main" id="{EE4B064C-6D8C-61FC-85DB-C7A136D4541F}"/>
                </a:ext>
              </a:extLst>
            </p:cNvPr>
            <p:cNvSpPr txBox="1"/>
            <p:nvPr/>
          </p:nvSpPr>
          <p:spPr>
            <a:xfrm>
              <a:off x="1265337" y="2436617"/>
              <a:ext cx="546117" cy="263791"/>
            </a:xfrm>
            <a:prstGeom prst="rect">
              <a:avLst/>
            </a:prstGeom>
            <a:noFill/>
          </p:spPr>
          <p:txBody>
            <a:bodyPr wrap="square" lIns="0" tIns="46800" rIns="0" bIns="46800" rtlCol="0" anchor="ctr">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rgbClr val="C00000"/>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rgbClr val="C00000"/>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rgbClr val="C00000"/>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0" name="TextBox 49">
              <a:extLst>
                <a:ext uri="{FF2B5EF4-FFF2-40B4-BE49-F238E27FC236}">
                  <a16:creationId xmlns:a16="http://schemas.microsoft.com/office/drawing/2014/main" id="{620C481A-89A8-F36A-04E2-79D5AA702215}"/>
                </a:ext>
              </a:extLst>
            </p:cNvPr>
            <p:cNvSpPr txBox="1"/>
            <p:nvPr/>
          </p:nvSpPr>
          <p:spPr>
            <a:xfrm>
              <a:off x="2491920" y="3732749"/>
              <a:ext cx="546117" cy="263791"/>
            </a:xfrm>
            <a:prstGeom prst="rect">
              <a:avLst/>
            </a:prstGeom>
            <a:noFill/>
          </p:spPr>
          <p:txBody>
            <a:bodyPr wrap="square" lIns="0" tIns="46800" rIns="0" bIns="46800" rtlCol="0" anchor="ctr">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rgbClr val="C00000"/>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rgbClr val="C00000"/>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rgbClr val="C00000"/>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1" name="TextBox 50">
              <a:extLst>
                <a:ext uri="{FF2B5EF4-FFF2-40B4-BE49-F238E27FC236}">
                  <a16:creationId xmlns:a16="http://schemas.microsoft.com/office/drawing/2014/main" id="{2C61840D-C95B-DB13-4E98-B8EC247AF9BC}"/>
                </a:ext>
              </a:extLst>
            </p:cNvPr>
            <p:cNvSpPr txBox="1"/>
            <p:nvPr/>
          </p:nvSpPr>
          <p:spPr>
            <a:xfrm>
              <a:off x="2819212" y="3579514"/>
              <a:ext cx="546117" cy="263791"/>
            </a:xfrm>
            <a:prstGeom prst="rect">
              <a:avLst/>
            </a:prstGeom>
            <a:noFill/>
          </p:spPr>
          <p:txBody>
            <a:bodyPr wrap="square" lIns="0" tIns="46800" rIns="0" bIns="46800" rtlCol="0" anchor="ctr">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rgbClr val="C00000"/>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rgbClr val="C00000"/>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rgbClr val="C00000"/>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2" name="TextBox 51">
              <a:extLst>
                <a:ext uri="{FF2B5EF4-FFF2-40B4-BE49-F238E27FC236}">
                  <a16:creationId xmlns:a16="http://schemas.microsoft.com/office/drawing/2014/main" id="{BC5663D1-6215-AA32-35DB-F6E68DE2C9EC}"/>
                </a:ext>
              </a:extLst>
            </p:cNvPr>
            <p:cNvSpPr txBox="1"/>
            <p:nvPr/>
          </p:nvSpPr>
          <p:spPr>
            <a:xfrm>
              <a:off x="3228482" y="3778539"/>
              <a:ext cx="546117" cy="263791"/>
            </a:xfrm>
            <a:prstGeom prst="rect">
              <a:avLst/>
            </a:prstGeom>
            <a:noFill/>
          </p:spPr>
          <p:txBody>
            <a:bodyPr wrap="square" lIns="0" tIns="46800" rIns="0" bIns="46800" rtlCol="0" anchor="ctr">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rgbClr val="C00000"/>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rgbClr val="C00000"/>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rgbClr val="C00000"/>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3" name="TextBox 52">
              <a:extLst>
                <a:ext uri="{FF2B5EF4-FFF2-40B4-BE49-F238E27FC236}">
                  <a16:creationId xmlns:a16="http://schemas.microsoft.com/office/drawing/2014/main" id="{7E0EB682-9B70-3BFD-73B2-9D9F3F2DEE82}"/>
                </a:ext>
              </a:extLst>
            </p:cNvPr>
            <p:cNvSpPr txBox="1"/>
            <p:nvPr/>
          </p:nvSpPr>
          <p:spPr>
            <a:xfrm>
              <a:off x="3482058" y="2613183"/>
              <a:ext cx="753207" cy="256097"/>
            </a:xfrm>
            <a:prstGeom prst="rect">
              <a:avLst/>
            </a:prstGeom>
            <a:noFill/>
          </p:spPr>
          <p:txBody>
            <a:bodyPr wrap="square" lIns="0" tIns="46800" rIns="0" bIns="46800" rtlCol="0" anchor="ctr">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185,559m</a:t>
              </a:r>
              <a:r>
                <a:rPr lang="en-US" altLang="ko-KR" sz="10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0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4" name="TextBox 53">
              <a:extLst>
                <a:ext uri="{FF2B5EF4-FFF2-40B4-BE49-F238E27FC236}">
                  <a16:creationId xmlns:a16="http://schemas.microsoft.com/office/drawing/2014/main" id="{CBA2258C-A045-23D9-7F7F-668263BA02CB}"/>
                </a:ext>
              </a:extLst>
            </p:cNvPr>
            <p:cNvSpPr txBox="1"/>
            <p:nvPr/>
          </p:nvSpPr>
          <p:spPr>
            <a:xfrm>
              <a:off x="2251108" y="2549693"/>
              <a:ext cx="546117" cy="263791"/>
            </a:xfrm>
            <a:prstGeom prst="rect">
              <a:avLst/>
            </a:prstGeom>
            <a:noFill/>
          </p:spPr>
          <p:txBody>
            <a:bodyPr wrap="square" lIns="0" tIns="46800" rIns="0" bIns="46800" rtlCol="0" anchor="ctr">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rgbClr val="C00000"/>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rgbClr val="C00000"/>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rgbClr val="C00000"/>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5" name="TextBox 54">
              <a:extLst>
                <a:ext uri="{FF2B5EF4-FFF2-40B4-BE49-F238E27FC236}">
                  <a16:creationId xmlns:a16="http://schemas.microsoft.com/office/drawing/2014/main" id="{D7697A10-4671-B9F0-2D14-67986E31AA5C}"/>
                </a:ext>
              </a:extLst>
            </p:cNvPr>
            <p:cNvSpPr txBox="1"/>
            <p:nvPr/>
          </p:nvSpPr>
          <p:spPr>
            <a:xfrm>
              <a:off x="1315478" y="3499371"/>
              <a:ext cx="690825" cy="256097"/>
            </a:xfrm>
            <a:prstGeom prst="rect">
              <a:avLst/>
            </a:prstGeom>
            <a:noFill/>
          </p:spPr>
          <p:txBody>
            <a:bodyPr wrap="square" lIns="0" tIns="46800" rIns="0" bIns="46800" rtlCol="0" anchor="ctr">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134,977m</a:t>
              </a:r>
              <a:r>
                <a:rPr lang="en-US" altLang="ko-KR" sz="10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0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34" name="TextBox 33">
            <a:extLst>
              <a:ext uri="{FF2B5EF4-FFF2-40B4-BE49-F238E27FC236}">
                <a16:creationId xmlns:a16="http://schemas.microsoft.com/office/drawing/2014/main" id="{9D6B7BE8-1152-BA87-B04C-8329725AFB28}"/>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투자전략</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61" name="Table 6">
            <a:extLst>
              <a:ext uri="{FF2B5EF4-FFF2-40B4-BE49-F238E27FC236}">
                <a16:creationId xmlns:a16="http://schemas.microsoft.com/office/drawing/2014/main" id="{79410521-E69B-A6ED-13A8-A0F75FDE28C6}"/>
              </a:ext>
            </a:extLst>
          </p:cNvPr>
          <p:cNvGraphicFramePr>
            <a:graphicFrameLocks noGrp="1"/>
          </p:cNvGraphicFramePr>
          <p:nvPr>
            <p:extLst>
              <p:ext uri="{D42A27DB-BD31-4B8C-83A1-F6EECF244321}">
                <p14:modId xmlns:p14="http://schemas.microsoft.com/office/powerpoint/2010/main" val="842058939"/>
              </p:ext>
            </p:extLst>
          </p:nvPr>
        </p:nvGraphicFramePr>
        <p:xfrm>
          <a:off x="5386893" y="5328008"/>
          <a:ext cx="4999571" cy="1404153"/>
        </p:xfrm>
        <a:graphic>
          <a:graphicData uri="http://schemas.openxmlformats.org/drawingml/2006/table">
            <a:tbl>
              <a:tblPr>
                <a:tableStyleId>{5C22544A-7EE6-4342-B048-85BDC9FD1C3A}</a:tableStyleId>
              </a:tblPr>
              <a:tblGrid>
                <a:gridCol w="810289">
                  <a:extLst>
                    <a:ext uri="{9D8B030D-6E8A-4147-A177-3AD203B41FA5}">
                      <a16:colId xmlns:a16="http://schemas.microsoft.com/office/drawing/2014/main" val="646663967"/>
                    </a:ext>
                  </a:extLst>
                </a:gridCol>
                <a:gridCol w="878308">
                  <a:extLst>
                    <a:ext uri="{9D8B030D-6E8A-4147-A177-3AD203B41FA5}">
                      <a16:colId xmlns:a16="http://schemas.microsoft.com/office/drawing/2014/main" val="767592186"/>
                    </a:ext>
                  </a:extLst>
                </a:gridCol>
                <a:gridCol w="878308">
                  <a:extLst>
                    <a:ext uri="{9D8B030D-6E8A-4147-A177-3AD203B41FA5}">
                      <a16:colId xmlns:a16="http://schemas.microsoft.com/office/drawing/2014/main" val="288594886"/>
                    </a:ext>
                  </a:extLst>
                </a:gridCol>
                <a:gridCol w="878308">
                  <a:extLst>
                    <a:ext uri="{9D8B030D-6E8A-4147-A177-3AD203B41FA5}">
                      <a16:colId xmlns:a16="http://schemas.microsoft.com/office/drawing/2014/main" val="3166528932"/>
                    </a:ext>
                  </a:extLst>
                </a:gridCol>
                <a:gridCol w="878308">
                  <a:extLst>
                    <a:ext uri="{9D8B030D-6E8A-4147-A177-3AD203B41FA5}">
                      <a16:colId xmlns:a16="http://schemas.microsoft.com/office/drawing/2014/main" val="1127324243"/>
                    </a:ext>
                  </a:extLst>
                </a:gridCol>
                <a:gridCol w="676050">
                  <a:extLst>
                    <a:ext uri="{9D8B030D-6E8A-4147-A177-3AD203B41FA5}">
                      <a16:colId xmlns:a16="http://schemas.microsoft.com/office/drawing/2014/main" val="2691302053"/>
                    </a:ext>
                  </a:extLst>
                </a:gridCol>
              </a:tblGrid>
              <a:tr h="156017">
                <a:tc>
                  <a:txBody>
                    <a:bodyPr anchor="ct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nchor="ctr"/>
                    <a:lstStyle/>
                    <a:p>
                      <a:pPr algn="ctr" latinLnBrk="0">
                        <a:lnSpc>
                          <a:spcPct val="80000"/>
                        </a:lnSpc>
                        <a:spcBef>
                          <a:spcPts val="200"/>
                        </a:spcBef>
                        <a:spcAft>
                          <a:spcPts val="200"/>
                        </a:spcAft>
                        <a:buNone/>
                      </a:pPr>
                      <a:r>
                        <a:rPr lang="ko-KR" altLang="en-US" sz="1000" b="0" baseline="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본 건</a:t>
                      </a:r>
                      <a:endParaRPr lang="en-US" altLang="ko-KR" sz="1000" b="0" baseline="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1F3864"/>
                    </a:solidFill>
                  </a:tcPr>
                </a:tc>
                <a:tc>
                  <a:txBody>
                    <a:bodyPr anchor="ctr"/>
                    <a:lstStyle/>
                    <a:p>
                      <a:pPr algn="ctr" latinLnBrk="0">
                        <a:lnSpc>
                          <a:spcPct val="80000"/>
                        </a:lnSpc>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장지동복합물류</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nchor="ctr"/>
                    <a:lstStyle/>
                    <a:p>
                      <a:pPr algn="ctr" latinLnBrk="0">
                        <a:lnSpc>
                          <a:spcPct val="80000"/>
                        </a:lnSpc>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 </a:t>
                      </a:r>
                      <a:r>
                        <a:rPr lang="ko-KR" altLang="en-US"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삼정동</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nchor="ctr"/>
                    <a:lstStyle/>
                    <a:p>
                      <a:pPr algn="ctr" latinLnBrk="0">
                        <a:lnSpc>
                          <a:spcPct val="80000"/>
                        </a:lnSpc>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 </a:t>
                      </a:r>
                      <a:r>
                        <a:rPr lang="ko-KR" altLang="en-US"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삼송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nchor="ctr"/>
                    <a:lstStyle/>
                    <a:p>
                      <a:pPr algn="ctr" latinLnBrk="0">
                        <a:lnSpc>
                          <a:spcPct val="80000"/>
                        </a:lnSpc>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인구</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extLst>
                  <a:ext uri="{0D108BD9-81ED-4DB2-BD59-A6C34878D82A}">
                    <a16:rowId xmlns:a16="http://schemas.microsoft.com/office/drawing/2014/main" val="1336961030"/>
                  </a:ext>
                </a:extLst>
              </a:tr>
              <a:tr h="156017">
                <a:tc>
                  <a:txBody>
                    <a:bodyPr anchor="ctr"/>
                    <a:lstStyle/>
                    <a:p>
                      <a:pPr algn="ctr"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임차인</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nchor="ct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nchor="ct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nchor="ct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endPar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nchor="ct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nchor="ct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5777446"/>
                  </a:ext>
                </a:extLst>
              </a:tr>
              <a:tr h="156017">
                <a:tc>
                  <a:txBody>
                    <a:bodyPr anchor="ctr"/>
                    <a:lstStyle/>
                    <a:p>
                      <a:pPr algn="ctr"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반포</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IC)</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nchor="ct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17km(35</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nchor="ct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13km(30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nchor="ct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nchor="ct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nchor="ct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ko-KR" sz="1000" kern="1200" spc="-20" baseline="0" dirty="0">
                          <a:solidFill>
                            <a:schemeClr val="dk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9.38</a:t>
                      </a:r>
                      <a:r>
                        <a:rPr lang="ko-KR" altLang="en-US" sz="1000" kern="1200" spc="-20" baseline="0" dirty="0">
                          <a:solidFill>
                            <a:schemeClr val="dk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156017">
                <a:tc>
                  <a:txBody>
                    <a:bodyPr anchor="ctr"/>
                    <a:lstStyle/>
                    <a:p>
                      <a:pPr algn="ctr"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광명</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광명</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IC)</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nchor="ct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13km(27</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nchor="ct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27km(40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nchor="ct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11km(20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nchor="ct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23km(35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nchor="ct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0.28</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3076531"/>
                  </a:ext>
                </a:extLst>
              </a:tr>
              <a:tr h="156017">
                <a:tc>
                  <a:txBody>
                    <a:bodyPr anchor="ctr"/>
                    <a:lstStyle/>
                    <a:p>
                      <a:pPr algn="ctr"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수원</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월암</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IC)</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nchor="ct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15km(29</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nchor="ct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23km(30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nchor="ct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27km(35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nchor="ct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42km(50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nchor="ct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36495"/>
                  </a:ext>
                </a:extLst>
              </a:tr>
              <a:tr h="156017">
                <a:tc>
                  <a:txBody>
                    <a:bodyPr anchor="ctr"/>
                    <a:lstStyle/>
                    <a:p>
                      <a:pPr algn="ctr"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성남</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판교</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JC)</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nchor="ct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14km(22</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nchor="ct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12km(20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nchor="ct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nchor="ct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44km(50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nchor="ct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0.92</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3327233"/>
                  </a:ext>
                </a:extLst>
              </a:tr>
              <a:tr h="156017">
                <a:tc>
                  <a:txBody>
                    <a:bodyPr anchor="ctr"/>
                    <a:lstStyle/>
                    <a:p>
                      <a:pPr algn="ctr"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하남</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하남</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IC)</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nchor="ct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36km(34</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nchor="ct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13km(20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nchor="ct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50km(60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nchor="ct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nchor="ct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0.33</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7926817"/>
                  </a:ext>
                </a:extLst>
              </a:tr>
              <a:tr h="156017">
                <a:tc>
                  <a:txBody>
                    <a:bodyPr anchor="ct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 임대료</a:t>
                      </a: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nchor="ct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nchor="ctr"/>
                    <a:lstStyle/>
                    <a:p>
                      <a:pPr algn="ctr" rtl="0" fontAlgn="ctr">
                        <a:buNone/>
                      </a:pPr>
                      <a:r>
                        <a:rPr lang="en-US" alt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a:t>
                      </a: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nchor="ct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nchor="ctr"/>
                    <a:lstStyle/>
                    <a:p>
                      <a:pPr algn="ctr" rtl="0" fontAlgn="ctr">
                        <a:buNone/>
                      </a:pPr>
                      <a:r>
                        <a:rPr lang="en-US" alt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@54</a:t>
                      </a: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nchor="ct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55650322"/>
                  </a:ext>
                </a:extLst>
              </a:tr>
              <a:tr h="156017">
                <a:tc>
                  <a:txBody>
                    <a:bodyPr anchor="ct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공실률</a:t>
                      </a:r>
                      <a:endPar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nchor="ct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0.7%</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nchor="ctr"/>
                    <a:lstStyle/>
                    <a:p>
                      <a:pPr algn="ctr" rtl="0" fontAlgn="ctr">
                        <a:buNone/>
                      </a:pPr>
                      <a:r>
                        <a:rPr lang="en-US" alt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a:t>
                      </a:r>
                      <a:endPar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nchor="ct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미만</a:t>
                      </a:r>
                      <a:endPar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nchor="ctr"/>
                    <a:lstStyle/>
                    <a:p>
                      <a:pPr algn="ctr" rtl="0" fontAlgn="ctr">
                        <a:buNone/>
                      </a:pPr>
                      <a:r>
                        <a:rPr lang="en-US" alt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a:t>
                      </a:r>
                      <a:endPar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nchor="ct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66791133"/>
                  </a:ext>
                </a:extLst>
              </a:tr>
            </a:tbl>
          </a:graphicData>
        </a:graphic>
      </p:graphicFrame>
      <p:sp>
        <p:nvSpPr>
          <p:cNvPr id="65" name="TextBox 64">
            <a:extLst>
              <a:ext uri="{FF2B5EF4-FFF2-40B4-BE49-F238E27FC236}">
                <a16:creationId xmlns:a16="http://schemas.microsoft.com/office/drawing/2014/main" id="{88BAEC8E-DB7F-AD1A-476E-8C697EF366DA}"/>
              </a:ext>
            </a:extLst>
          </p:cNvPr>
          <p:cNvSpPr txBox="1"/>
          <p:nvPr/>
        </p:nvSpPr>
        <p:spPr>
          <a:xfrm>
            <a:off x="305346" y="6804173"/>
            <a:ext cx="5081548" cy="369332"/>
          </a:xfrm>
          <a:prstGeom prst="rect">
            <a:avLst/>
          </a:prstGeom>
          <a:noFill/>
        </p:spPr>
        <p:txBody>
          <a:bodyPr wrap="square" rtlCol="0" anchor="ctr">
            <a:spAutoFit/>
          </a:bodyPr>
          <a:lstStyle/>
          <a:p>
            <a:r>
              <a:rPr lang="en-US" altLang="ko-KR" sz="900" dirty="0">
                <a:latin typeface="KoPubWorld돋움체 Light" panose="00000300000000000000" pitchFamily="2" charset="-127"/>
                <a:ea typeface="KoPubWorld돋움체 Light" panose="00000300000000000000" pitchFamily="2" charset="-127"/>
              </a:rPr>
              <a:t>* 주 임차인(77.2%) 인 쿠팡에 한하며, 시설 전체 평균 Effective Rent는 약 58천원/평 수준</a:t>
            </a:r>
          </a:p>
          <a:p>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Effective Rent : </a:t>
            </a:r>
            <a:r>
              <a:rPr lang="ko-KR" altLang="en-US" sz="900" dirty="0">
                <a:latin typeface="KoPubWorld돋움체 Light" panose="00000300000000000000" pitchFamily="2" charset="-127"/>
                <a:ea typeface="KoPubWorld돋움체 Light" panose="00000300000000000000" pitchFamily="2" charset="-127"/>
              </a:rPr>
              <a:t>명목임대료</a:t>
            </a:r>
            <a:r>
              <a:rPr lang="en-US" altLang="ko-KR" sz="900" dirty="0">
                <a:latin typeface="KoPubWorld돋움체 Light" panose="00000300000000000000" pitchFamily="2" charset="-127"/>
                <a:ea typeface="KoPubWorld돋움체 Light" panose="00000300000000000000" pitchFamily="2" charset="-127"/>
              </a:rPr>
              <a:t>(1-</a:t>
            </a:r>
            <a:r>
              <a:rPr lang="ko-KR" altLang="en-US" sz="900" dirty="0" err="1">
                <a:latin typeface="KoPubWorld돋움체 Light" panose="00000300000000000000" pitchFamily="2" charset="-127"/>
                <a:ea typeface="KoPubWorld돋움체 Light" panose="00000300000000000000" pitchFamily="2" charset="-127"/>
              </a:rPr>
              <a:t>렌트프리</a:t>
            </a:r>
            <a:r>
              <a:rPr lang="en-US" altLang="ko-KR" sz="900" dirty="0">
                <a:latin typeface="KoPubWorld돋움체 Light" panose="00000300000000000000" pitchFamily="2" charset="-127"/>
                <a:ea typeface="KoPubWorld돋움체 Light" panose="00000300000000000000" pitchFamily="2" charset="-127"/>
              </a:rPr>
              <a:t>)/12 + </a:t>
            </a:r>
            <a:r>
              <a:rPr lang="ko-KR" altLang="en-US" sz="900" dirty="0">
                <a:latin typeface="KoPubWorld돋움체 Light" panose="00000300000000000000" pitchFamily="2" charset="-127"/>
                <a:ea typeface="KoPubWorld돋움체 Light" panose="00000300000000000000" pitchFamily="2" charset="-127"/>
              </a:rPr>
              <a:t>명목관리비로 산정하였으며 보증금 이자는 고려하지 않음 </a:t>
            </a:r>
          </a:p>
        </p:txBody>
      </p:sp>
      <p:pic>
        <p:nvPicPr>
          <p:cNvPr id="92" name="그림 91">
            <a:extLst>
              <a:ext uri="{FF2B5EF4-FFF2-40B4-BE49-F238E27FC236}">
                <a16:creationId xmlns:a16="http://schemas.microsoft.com/office/drawing/2014/main" id="{69CB26DB-4D12-83DF-068C-8174A8106129}"/>
              </a:ext>
            </a:extLst>
          </p:cNvPr>
          <p:cNvPicPr>
            <a:picLocks noChangeAspect="1"/>
          </p:cNvPicPr>
          <p:nvPr/>
        </p:nvPicPr>
        <p:blipFill>
          <a:blip r:embed="rId4"/>
          <a:stretch>
            <a:fillRect/>
          </a:stretch>
        </p:blipFill>
        <p:spPr>
          <a:xfrm>
            <a:off x="6246006" y="2283137"/>
            <a:ext cx="3233171" cy="2901248"/>
          </a:xfrm>
          <a:prstGeom prst="rect">
            <a:avLst/>
          </a:prstGeom>
        </p:spPr>
      </p:pic>
      <p:sp>
        <p:nvSpPr>
          <p:cNvPr id="94" name="TextBox 93">
            <a:extLst>
              <a:ext uri="{FF2B5EF4-FFF2-40B4-BE49-F238E27FC236}">
                <a16:creationId xmlns:a16="http://schemas.microsoft.com/office/drawing/2014/main" id="{25480CCD-B463-C6EA-194C-D1A231281A72}"/>
              </a:ext>
            </a:extLst>
          </p:cNvPr>
          <p:cNvSpPr txBox="1"/>
          <p:nvPr/>
        </p:nvSpPr>
        <p:spPr>
          <a:xfrm>
            <a:off x="283369" y="1040097"/>
            <a:ext cx="9995086" cy="705766"/>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marR="0" lvl="0" indent="-216000" algn="l" defTabSz="4572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본 건 자산은 서울 서초</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관악구역에 </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30</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분내로 접근 가능한 </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Core </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자산으로서 안정적 임대수요를 갖추고 있음  </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432000" marR="0" lvl="0" indent="-1800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ko-KR" altLang="en-US" sz="12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향후 수도권 근접 </a:t>
            </a:r>
            <a:r>
              <a:rPr lang="en-US" altLang="ko-KR" sz="12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Last-Mile </a:t>
            </a:r>
            <a:r>
              <a:rPr lang="ko-KR" altLang="en-US" sz="12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물류센터 신규공급이 제한될 예정으로 입지적 희소성 및 자산가치의 장기적 상승이 기대됨</a:t>
            </a:r>
            <a:endPar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521152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3686C-9454-9159-13A7-BB02103C0D0A}"/>
            </a:ext>
          </a:extLst>
        </p:cNvPr>
        <p:cNvGrpSpPr/>
        <p:nvPr/>
      </p:nvGrpSpPr>
      <p:grpSpPr>
        <a:xfrm>
          <a:off x="0" y="0"/>
          <a:ext cx="0" cy="0"/>
          <a:chOff x="0" y="0"/>
          <a:chExt cx="0" cy="0"/>
        </a:xfrm>
      </p:grpSpPr>
      <p:grpSp>
        <p:nvGrpSpPr>
          <p:cNvPr id="8" name="그룹 7">
            <a:extLst>
              <a:ext uri="{FF2B5EF4-FFF2-40B4-BE49-F238E27FC236}">
                <a16:creationId xmlns:a16="http://schemas.microsoft.com/office/drawing/2014/main" id="{2F9FB2AB-2AC9-97A2-DF9F-35000B963094}"/>
              </a:ext>
            </a:extLst>
          </p:cNvPr>
          <p:cNvGrpSpPr/>
          <p:nvPr/>
        </p:nvGrpSpPr>
        <p:grpSpPr>
          <a:xfrm>
            <a:off x="458887" y="1987916"/>
            <a:ext cx="9783663" cy="247712"/>
            <a:chOff x="417444" y="1605420"/>
            <a:chExt cx="8983731" cy="247712"/>
          </a:xfrm>
        </p:grpSpPr>
        <p:sp>
          <p:nvSpPr>
            <p:cNvPr id="9" name="직사각형 8">
              <a:extLst>
                <a:ext uri="{FF2B5EF4-FFF2-40B4-BE49-F238E27FC236}">
                  <a16:creationId xmlns:a16="http://schemas.microsoft.com/office/drawing/2014/main" id="{4D63B03B-2B66-44CB-8D29-0EDFD9AD7BFA}"/>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0" name="직선 연결선 9">
              <a:extLst>
                <a:ext uri="{FF2B5EF4-FFF2-40B4-BE49-F238E27FC236}">
                  <a16:creationId xmlns:a16="http://schemas.microsoft.com/office/drawing/2014/main" id="{E8E01B99-436E-9812-8797-B35F89BB1887}"/>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1" name="자유형 29">
              <a:extLst>
                <a:ext uri="{FF2B5EF4-FFF2-40B4-BE49-F238E27FC236}">
                  <a16:creationId xmlns:a16="http://schemas.microsoft.com/office/drawing/2014/main" id="{67F78556-115F-5D23-35A2-21DC10A140C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2" name="자유형 30">
              <a:extLst>
                <a:ext uri="{FF2B5EF4-FFF2-40B4-BE49-F238E27FC236}">
                  <a16:creationId xmlns:a16="http://schemas.microsoft.com/office/drawing/2014/main" id="{25C061CB-3953-8442-6FC2-F99B38BE2366}"/>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3" name="TextBox 12">
              <a:extLst>
                <a:ext uri="{FF2B5EF4-FFF2-40B4-BE49-F238E27FC236}">
                  <a16:creationId xmlns:a16="http://schemas.microsoft.com/office/drawing/2014/main" id="{7EFFC548-651A-F92B-955A-BA98AF081E7A}"/>
                </a:ext>
              </a:extLst>
            </p:cNvPr>
            <p:cNvSpPr txBox="1"/>
            <p:nvPr/>
          </p:nvSpPr>
          <p:spPr>
            <a:xfrm>
              <a:off x="417444" y="1652332"/>
              <a:ext cx="495591"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투자전략</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21" name="TextBox 20">
            <a:extLst>
              <a:ext uri="{FF2B5EF4-FFF2-40B4-BE49-F238E27FC236}">
                <a16:creationId xmlns:a16="http://schemas.microsoft.com/office/drawing/2014/main" id="{337F5084-E627-7010-1047-B720357309B1}"/>
              </a:ext>
            </a:extLst>
          </p:cNvPr>
          <p:cNvSpPr txBox="1"/>
          <p:nvPr/>
        </p:nvSpPr>
        <p:spPr>
          <a:xfrm>
            <a:off x="283368" y="6813808"/>
            <a:ext cx="306494" cy="215444"/>
          </a:xfrm>
          <a:prstGeom prst="rect">
            <a:avLst/>
          </a:prstGeom>
          <a:noFill/>
        </p:spPr>
        <p:txBody>
          <a:bodyPr wrap="none" rtlCol="0" anchor="ctr">
            <a:spAutoFit/>
          </a:bodyPr>
          <a:lstStyle/>
          <a:p>
            <a:pPr marR="0" lvl="0" algn="l" defTabSz="457200" rtl="0" eaLnBrk="1" fontAlgn="auto" latinLnBrk="0" hangingPunct="1">
              <a:lnSpc>
                <a:spcPct val="100000"/>
              </a:lnSpc>
              <a:spcBef>
                <a:spcPts val="0"/>
              </a:spcBef>
              <a:spcAft>
                <a:spcPts val="0"/>
              </a:spcAft>
              <a:buClrTx/>
              <a:buSzTx/>
              <a:tabLst/>
              <a:defRPr/>
            </a:pPr>
            <a:r>
              <a:rPr lang="en-US" altLang="ko-KR"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23" name="TextBox 22">
            <a:extLst>
              <a:ext uri="{FF2B5EF4-FFF2-40B4-BE49-F238E27FC236}">
                <a16:creationId xmlns:a16="http://schemas.microsoft.com/office/drawing/2014/main" id="{EF65395B-ED52-90CA-A301-E87A91B80D4C}"/>
              </a:ext>
            </a:extLst>
          </p:cNvPr>
          <p:cNvSpPr txBox="1"/>
          <p:nvPr/>
        </p:nvSpPr>
        <p:spPr>
          <a:xfrm>
            <a:off x="283368" y="1040097"/>
            <a:ext cx="10152063" cy="705766"/>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lvl="0" indent="-216000">
              <a:defRPr/>
            </a:pPr>
            <a:r>
              <a:rPr lang="ko-KR" altLang="en-US" sz="1600" dirty="0" err="1">
                <a:solidFill>
                  <a:prstClr val="black"/>
                </a:solidFill>
              </a:rPr>
              <a:t>모리츠는</a:t>
            </a:r>
            <a:r>
              <a:rPr lang="ko-KR" altLang="en-US" sz="1600" dirty="0">
                <a:solidFill>
                  <a:prstClr val="black"/>
                </a:solidFill>
              </a:rPr>
              <a:t> 보유 자산가치의 활용을 위하여 유휴 </a:t>
            </a:r>
            <a:r>
              <a:rPr lang="en-US" altLang="ko-KR" sz="1600" dirty="0">
                <a:solidFill>
                  <a:prstClr val="black"/>
                </a:solidFill>
              </a:rPr>
              <a:t>LTV</a:t>
            </a:r>
            <a:r>
              <a:rPr lang="ko-KR" altLang="en-US" sz="1600" dirty="0">
                <a:solidFill>
                  <a:prstClr val="black"/>
                </a:solidFill>
              </a:rPr>
              <a:t>를 활용하여 </a:t>
            </a:r>
            <a:r>
              <a:rPr lang="en-US" altLang="ko-KR" sz="1600" dirty="0">
                <a:solidFill>
                  <a:prstClr val="black"/>
                </a:solidFill>
              </a:rPr>
              <a:t>Spread Margin</a:t>
            </a:r>
            <a:r>
              <a:rPr lang="ko-KR" altLang="en-US" sz="1600" dirty="0">
                <a:solidFill>
                  <a:prstClr val="black"/>
                </a:solidFill>
              </a:rPr>
              <a:t>이 기대되는 안정적 자산에 투자 </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lvl="0" indent="179388">
              <a:buNone/>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건 물류센터는 안정적 임차수요가 존재하여 조달금리 대비 안정적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Spread Margin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수취가 예상되며</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금리 인하 시 수익률 인상효과가 극대화 될 것으로 기대 </a:t>
            </a:r>
            <a:endParaRPr kumimoji="0" lang="ko-KR" altLang="en-US" sz="12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4" name="TextBox 23">
            <a:extLst>
              <a:ext uri="{FF2B5EF4-FFF2-40B4-BE49-F238E27FC236}">
                <a16:creationId xmlns:a16="http://schemas.microsoft.com/office/drawing/2014/main" id="{51C1933B-8C2B-C118-9777-7CD376A8D605}"/>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투자전략</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8" name="그림 37">
            <a:extLst>
              <a:ext uri="{FF2B5EF4-FFF2-40B4-BE49-F238E27FC236}">
                <a16:creationId xmlns:a16="http://schemas.microsoft.com/office/drawing/2014/main" id="{698A88DB-1CEB-CDD8-BC94-1BBF90E4B2BF}"/>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rcRect b="7994"/>
          <a:stretch>
            <a:fillRect/>
          </a:stretch>
        </p:blipFill>
        <p:spPr>
          <a:xfrm>
            <a:off x="633620" y="2447958"/>
            <a:ext cx="4070597" cy="4140191"/>
          </a:xfrm>
          <a:prstGeom prst="rect">
            <a:avLst/>
          </a:prstGeom>
          <a:ln>
            <a:solidFill>
              <a:schemeClr val="tx1">
                <a:lumMod val="50000"/>
                <a:lumOff val="50000"/>
              </a:schemeClr>
            </a:solidFill>
          </a:ln>
        </p:spPr>
      </p:pic>
      <p:sp>
        <p:nvSpPr>
          <p:cNvPr id="40" name="직사각형 39">
            <a:extLst>
              <a:ext uri="{FF2B5EF4-FFF2-40B4-BE49-F238E27FC236}">
                <a16:creationId xmlns:a16="http://schemas.microsoft.com/office/drawing/2014/main" id="{E3088366-BFD4-0903-5D7A-633261471088}"/>
              </a:ext>
            </a:extLst>
          </p:cNvPr>
          <p:cNvSpPr/>
          <p:nvPr/>
        </p:nvSpPr>
        <p:spPr>
          <a:xfrm>
            <a:off x="1378118" y="3279452"/>
            <a:ext cx="223372" cy="138508"/>
          </a:xfrm>
          <a:prstGeom prst="rect">
            <a:avLst/>
          </a:prstGeom>
          <a:solidFill>
            <a:srgbClr val="F5F5F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8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52%</a:t>
            </a:r>
            <a:endParaRPr lang="ko-KR" altLang="en-US" sz="8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pic>
        <p:nvPicPr>
          <p:cNvPr id="61" name="그림 60">
            <a:extLst>
              <a:ext uri="{FF2B5EF4-FFF2-40B4-BE49-F238E27FC236}">
                <a16:creationId xmlns:a16="http://schemas.microsoft.com/office/drawing/2014/main" id="{6193CC39-F998-2C8B-9367-79139695FED0}"/>
              </a:ext>
            </a:extLst>
          </p:cNvPr>
          <p:cNvPicPr>
            <a:picLocks noChangeAspect="1"/>
          </p:cNvPicPr>
          <p:nvPr/>
        </p:nvPicPr>
        <p:blipFill>
          <a:blip r:embed="rId4"/>
          <a:srcRect l="22705" t="3194" r="3088" b="52001"/>
          <a:stretch>
            <a:fillRect/>
          </a:stretch>
        </p:blipFill>
        <p:spPr>
          <a:xfrm>
            <a:off x="1557843" y="2591705"/>
            <a:ext cx="3020633" cy="2016224"/>
          </a:xfrm>
          <a:prstGeom prst="rect">
            <a:avLst/>
          </a:prstGeom>
          <a:ln w="19050">
            <a:solidFill>
              <a:srgbClr val="FF0000"/>
            </a:solidFill>
          </a:ln>
          <a:effectLst>
            <a:outerShdw blurRad="63500" sx="102000" sy="102000" algn="ctr" rotWithShape="0">
              <a:prstClr val="black">
                <a:alpha val="40000"/>
              </a:prstClr>
            </a:outerShdw>
          </a:effectLst>
        </p:spPr>
      </p:pic>
      <p:sp>
        <p:nvSpPr>
          <p:cNvPr id="5" name="사각형: 둥근 모서리 4">
            <a:extLst>
              <a:ext uri="{FF2B5EF4-FFF2-40B4-BE49-F238E27FC236}">
                <a16:creationId xmlns:a16="http://schemas.microsoft.com/office/drawing/2014/main" id="{5DC653EB-7EED-07D1-2195-9CB3DB53C293}"/>
              </a:ext>
            </a:extLst>
          </p:cNvPr>
          <p:cNvSpPr/>
          <p:nvPr/>
        </p:nvSpPr>
        <p:spPr>
          <a:xfrm>
            <a:off x="5273898" y="2554628"/>
            <a:ext cx="1692188" cy="182858"/>
          </a:xfrm>
          <a:prstGeom prst="round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단계별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DPS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확대전략</a:t>
            </a:r>
            <a:endPar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4" name="그룹 3">
            <a:extLst>
              <a:ext uri="{FF2B5EF4-FFF2-40B4-BE49-F238E27FC236}">
                <a16:creationId xmlns:a16="http://schemas.microsoft.com/office/drawing/2014/main" id="{66D00051-DFC9-4460-060C-75902C274FA9}"/>
              </a:ext>
            </a:extLst>
          </p:cNvPr>
          <p:cNvGrpSpPr/>
          <p:nvPr/>
        </p:nvGrpSpPr>
        <p:grpSpPr>
          <a:xfrm>
            <a:off x="4758201" y="2927231"/>
            <a:ext cx="5607325" cy="3722367"/>
            <a:chOff x="5741950" y="2927231"/>
            <a:chExt cx="4623576" cy="3722367"/>
          </a:xfrm>
        </p:grpSpPr>
        <p:graphicFrame>
          <p:nvGraphicFramePr>
            <p:cNvPr id="6" name="차트 5">
              <a:extLst>
                <a:ext uri="{FF2B5EF4-FFF2-40B4-BE49-F238E27FC236}">
                  <a16:creationId xmlns:a16="http://schemas.microsoft.com/office/drawing/2014/main" id="{B1349D45-AFC2-E885-3AE6-A434495843D7}"/>
                </a:ext>
              </a:extLst>
            </p:cNvPr>
            <p:cNvGraphicFramePr/>
            <p:nvPr>
              <p:extLst>
                <p:ext uri="{D42A27DB-BD31-4B8C-83A1-F6EECF244321}">
                  <p14:modId xmlns:p14="http://schemas.microsoft.com/office/powerpoint/2010/main" val="2854866564"/>
                </p:ext>
              </p:extLst>
            </p:nvPr>
          </p:nvGraphicFramePr>
          <p:xfrm>
            <a:off x="5741950" y="4087587"/>
            <a:ext cx="4387312" cy="2402735"/>
          </p:xfrm>
          <a:graphic>
            <a:graphicData uri="http://schemas.openxmlformats.org/drawingml/2006/chart">
              <c:chart xmlns:c="http://schemas.openxmlformats.org/drawingml/2006/chart" xmlns:r="http://schemas.openxmlformats.org/officeDocument/2006/relationships" r:id="rId5"/>
            </a:graphicData>
          </a:graphic>
        </p:graphicFrame>
        <p:grpSp>
          <p:nvGrpSpPr>
            <p:cNvPr id="2" name="그룹 1">
              <a:extLst>
                <a:ext uri="{FF2B5EF4-FFF2-40B4-BE49-F238E27FC236}">
                  <a16:creationId xmlns:a16="http://schemas.microsoft.com/office/drawing/2014/main" id="{2DE09C5E-74F3-B409-87B8-B6A4B98EA778}"/>
                </a:ext>
              </a:extLst>
            </p:cNvPr>
            <p:cNvGrpSpPr/>
            <p:nvPr/>
          </p:nvGrpSpPr>
          <p:grpSpPr>
            <a:xfrm>
              <a:off x="6173080" y="2927231"/>
              <a:ext cx="4192446" cy="3722367"/>
              <a:chOff x="6173080" y="2927231"/>
              <a:chExt cx="4192446" cy="3722367"/>
            </a:xfrm>
          </p:grpSpPr>
          <p:sp>
            <p:nvSpPr>
              <p:cNvPr id="3" name="직사각형 2">
                <a:extLst>
                  <a:ext uri="{FF2B5EF4-FFF2-40B4-BE49-F238E27FC236}">
                    <a16:creationId xmlns:a16="http://schemas.microsoft.com/office/drawing/2014/main" id="{95AD49D5-3C73-9E1A-1DB5-A74EBE2ED1D8}"/>
                  </a:ext>
                </a:extLst>
              </p:cNvPr>
              <p:cNvSpPr/>
              <p:nvPr/>
            </p:nvSpPr>
            <p:spPr>
              <a:xfrm>
                <a:off x="8460082" y="3402289"/>
                <a:ext cx="1602751" cy="3247309"/>
              </a:xfrm>
              <a:prstGeom prst="rect">
                <a:avLst/>
              </a:prstGeom>
              <a:solidFill>
                <a:schemeClr val="accent2">
                  <a:lumMod val="20000"/>
                  <a:lumOff val="80000"/>
                  <a:alpha val="6078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 name="그룹 6">
                <a:extLst>
                  <a:ext uri="{FF2B5EF4-FFF2-40B4-BE49-F238E27FC236}">
                    <a16:creationId xmlns:a16="http://schemas.microsoft.com/office/drawing/2014/main" id="{CBE53288-CFA1-0524-7E79-883C37292912}"/>
                  </a:ext>
                </a:extLst>
              </p:cNvPr>
              <p:cNvGrpSpPr/>
              <p:nvPr/>
            </p:nvGrpSpPr>
            <p:grpSpPr>
              <a:xfrm>
                <a:off x="6173080" y="4856300"/>
                <a:ext cx="3930211" cy="229785"/>
                <a:chOff x="5849962" y="3563813"/>
                <a:chExt cx="4211011" cy="261610"/>
              </a:xfrm>
            </p:grpSpPr>
            <p:sp>
              <p:nvSpPr>
                <p:cNvPr id="59" name="TextBox 58">
                  <a:extLst>
                    <a:ext uri="{FF2B5EF4-FFF2-40B4-BE49-F238E27FC236}">
                      <a16:creationId xmlns:a16="http://schemas.microsoft.com/office/drawing/2014/main" id="{0A418404-5388-E534-FFEB-67C422796755}"/>
                    </a:ext>
                  </a:extLst>
                </p:cNvPr>
                <p:cNvSpPr txBox="1"/>
                <p:nvPr/>
              </p:nvSpPr>
              <p:spPr>
                <a:xfrm>
                  <a:off x="5849962" y="3563813"/>
                  <a:ext cx="900100" cy="261610"/>
                </a:xfrm>
                <a:prstGeom prst="rect">
                  <a:avLst/>
                </a:prstGeom>
                <a:noFill/>
              </p:spPr>
              <p:txBody>
                <a:bodyPr wrap="square" rtlCol="0" anchor="ctr">
                  <a:spAutoFit/>
                </a:bodyPr>
                <a:lstStyle/>
                <a:p>
                  <a:pPr algn="ct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327</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a:t>
                  </a:r>
                </a:p>
              </p:txBody>
            </p:sp>
            <p:sp>
              <p:nvSpPr>
                <p:cNvPr id="60" name="TextBox 59">
                  <a:extLst>
                    <a:ext uri="{FF2B5EF4-FFF2-40B4-BE49-F238E27FC236}">
                      <a16:creationId xmlns:a16="http://schemas.microsoft.com/office/drawing/2014/main" id="{52CD815C-78A9-10B1-E8AD-F692C82D7889}"/>
                    </a:ext>
                  </a:extLst>
                </p:cNvPr>
                <p:cNvSpPr txBox="1"/>
                <p:nvPr/>
              </p:nvSpPr>
              <p:spPr>
                <a:xfrm>
                  <a:off x="7485556" y="3563813"/>
                  <a:ext cx="900100" cy="261610"/>
                </a:xfrm>
                <a:prstGeom prst="rect">
                  <a:avLst/>
                </a:prstGeom>
                <a:noFill/>
              </p:spPr>
              <p:txBody>
                <a:bodyPr wrap="square" rtlCol="0" anchor="ctr">
                  <a:spAutoFit/>
                </a:bodyPr>
                <a:lstStyle/>
                <a:p>
                  <a:pPr algn="ct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327</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a:t>
                  </a:r>
                </a:p>
              </p:txBody>
            </p:sp>
            <p:sp>
              <p:nvSpPr>
                <p:cNvPr id="62" name="TextBox 61">
                  <a:extLst>
                    <a:ext uri="{FF2B5EF4-FFF2-40B4-BE49-F238E27FC236}">
                      <a16:creationId xmlns:a16="http://schemas.microsoft.com/office/drawing/2014/main" id="{1939BE6F-6F5B-F810-0609-F1A074240B25}"/>
                    </a:ext>
                  </a:extLst>
                </p:cNvPr>
                <p:cNvSpPr txBox="1"/>
                <p:nvPr/>
              </p:nvSpPr>
              <p:spPr>
                <a:xfrm>
                  <a:off x="8357359" y="3563813"/>
                  <a:ext cx="900100" cy="261610"/>
                </a:xfrm>
                <a:prstGeom prst="rect">
                  <a:avLst/>
                </a:prstGeom>
                <a:noFill/>
              </p:spPr>
              <p:txBody>
                <a:bodyPr wrap="square" rtlCol="0" anchor="ctr">
                  <a:spAutoFit/>
                </a:bodyPr>
                <a:lstStyle/>
                <a:p>
                  <a:pPr algn="ct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327</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a:t>
                  </a:r>
                </a:p>
              </p:txBody>
            </p:sp>
            <p:sp>
              <p:nvSpPr>
                <p:cNvPr id="63" name="TextBox 62">
                  <a:extLst>
                    <a:ext uri="{FF2B5EF4-FFF2-40B4-BE49-F238E27FC236}">
                      <a16:creationId xmlns:a16="http://schemas.microsoft.com/office/drawing/2014/main" id="{B1FD7A22-704A-73B0-C47B-821CFF9811BC}"/>
                    </a:ext>
                  </a:extLst>
                </p:cNvPr>
                <p:cNvSpPr txBox="1"/>
                <p:nvPr/>
              </p:nvSpPr>
              <p:spPr>
                <a:xfrm>
                  <a:off x="9160873" y="3563813"/>
                  <a:ext cx="900100" cy="261610"/>
                </a:xfrm>
                <a:prstGeom prst="rect">
                  <a:avLst/>
                </a:prstGeom>
                <a:noFill/>
              </p:spPr>
              <p:txBody>
                <a:bodyPr wrap="square" rtlCol="0" anchor="ctr">
                  <a:spAutoFit/>
                </a:bodyPr>
                <a:lstStyle/>
                <a:p>
                  <a:pPr algn="ct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327</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a:t>
                  </a:r>
                </a:p>
              </p:txBody>
            </p:sp>
            <p:sp>
              <p:nvSpPr>
                <p:cNvPr id="64" name="TextBox 63">
                  <a:extLst>
                    <a:ext uri="{FF2B5EF4-FFF2-40B4-BE49-F238E27FC236}">
                      <a16:creationId xmlns:a16="http://schemas.microsoft.com/office/drawing/2014/main" id="{FF45988C-C135-7AF0-88DF-D6CB3121271E}"/>
                    </a:ext>
                  </a:extLst>
                </p:cNvPr>
                <p:cNvSpPr txBox="1"/>
                <p:nvPr/>
              </p:nvSpPr>
              <p:spPr>
                <a:xfrm>
                  <a:off x="6682042" y="3563813"/>
                  <a:ext cx="900100" cy="261610"/>
                </a:xfrm>
                <a:prstGeom prst="rect">
                  <a:avLst/>
                </a:prstGeom>
                <a:noFill/>
              </p:spPr>
              <p:txBody>
                <a:bodyPr wrap="square" rtlCol="0" anchor="ctr">
                  <a:spAutoFit/>
                </a:bodyPr>
                <a:lstStyle/>
                <a:p>
                  <a:pPr algn="ct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327</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a:t>
                  </a:r>
                </a:p>
              </p:txBody>
            </p:sp>
          </p:grpSp>
          <p:sp>
            <p:nvSpPr>
              <p:cNvPr id="19" name="TextBox 18">
                <a:extLst>
                  <a:ext uri="{FF2B5EF4-FFF2-40B4-BE49-F238E27FC236}">
                    <a16:creationId xmlns:a16="http://schemas.microsoft.com/office/drawing/2014/main" id="{3826D72A-9262-5582-D27B-7FF31A16878E}"/>
                  </a:ext>
                </a:extLst>
              </p:cNvPr>
              <p:cNvSpPr txBox="1"/>
              <p:nvPr/>
            </p:nvSpPr>
            <p:spPr>
              <a:xfrm>
                <a:off x="6385918" y="3368301"/>
                <a:ext cx="1944764" cy="351436"/>
              </a:xfrm>
              <a:prstGeom prst="rect">
                <a:avLst/>
              </a:prstGeom>
              <a:noFill/>
            </p:spPr>
            <p:txBody>
              <a:bodyPr wrap="none" rtlCol="0" anchor="ctr">
                <a:spAutoFit/>
              </a:bodyPr>
              <a:lstStyle/>
              <a:p>
                <a:pPr algn="ct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&lt; KLI</a:t>
                </a: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Spread Margin </a:t>
                </a: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활용 </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&gt;</a:t>
                </a:r>
              </a:p>
              <a:p>
                <a:pPr algn="ctr"/>
                <a:r>
                  <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지분수익률</a:t>
                </a:r>
                <a:r>
                  <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조달이자율</a:t>
                </a:r>
                <a:r>
                  <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0" name="TextBox 19">
                <a:extLst>
                  <a:ext uri="{FF2B5EF4-FFF2-40B4-BE49-F238E27FC236}">
                    <a16:creationId xmlns:a16="http://schemas.microsoft.com/office/drawing/2014/main" id="{D4D688A0-B50D-6968-2792-1EE4C8A075C9}"/>
                  </a:ext>
                </a:extLst>
              </p:cNvPr>
              <p:cNvSpPr txBox="1"/>
              <p:nvPr/>
            </p:nvSpPr>
            <p:spPr>
              <a:xfrm>
                <a:off x="8269841" y="2927231"/>
                <a:ext cx="1983236" cy="351436"/>
              </a:xfrm>
              <a:prstGeom prst="rect">
                <a:avLst/>
              </a:prstGeom>
              <a:noFill/>
            </p:spPr>
            <p:txBody>
              <a:bodyPr wrap="none" rtlCol="0" anchor="ctr">
                <a:spAutoFit/>
              </a:bodyPr>
              <a:lstStyle/>
              <a:p>
                <a:pPr algn="ct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&lt; </a:t>
                </a: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물류子리츠 레버리지 활용 </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&gt;</a:t>
                </a:r>
              </a:p>
              <a:p>
                <a:pPr algn="ctr"/>
                <a:r>
                  <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담보대출 </a:t>
                </a:r>
                <a:r>
                  <a:rPr lang="ko-KR" altLang="en-US" sz="1000" dirty="0" err="1">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리파이낸싱</a:t>
                </a: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금리 절감 시</a:t>
                </a:r>
                <a:r>
                  <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2" name="자유형: 도형 21">
                <a:extLst>
                  <a:ext uri="{FF2B5EF4-FFF2-40B4-BE49-F238E27FC236}">
                    <a16:creationId xmlns:a16="http://schemas.microsoft.com/office/drawing/2014/main" id="{83237FB9-3F96-CB2E-5B48-22BD381E12E8}"/>
                  </a:ext>
                </a:extLst>
              </p:cNvPr>
              <p:cNvSpPr/>
              <p:nvPr/>
            </p:nvSpPr>
            <p:spPr>
              <a:xfrm>
                <a:off x="6283199" y="4250169"/>
                <a:ext cx="1157812" cy="459341"/>
              </a:xfrm>
              <a:custGeom>
                <a:avLst/>
                <a:gdLst>
                  <a:gd name="csX0" fmla="*/ 0 w 1157812"/>
                  <a:gd name="csY0" fmla="*/ 0 h 522959"/>
                  <a:gd name="csX1" fmla="*/ 1157812 w 1157812"/>
                  <a:gd name="csY1" fmla="*/ 0 h 522959"/>
                  <a:gd name="csX2" fmla="*/ 1157812 w 1157812"/>
                  <a:gd name="csY2" fmla="*/ 366934 h 522959"/>
                  <a:gd name="csX3" fmla="*/ 989239 w 1157812"/>
                  <a:gd name="csY3" fmla="*/ 366934 h 522959"/>
                  <a:gd name="csX4" fmla="*/ 937090 w 1157812"/>
                  <a:gd name="csY4" fmla="*/ 522959 h 522959"/>
                  <a:gd name="csX5" fmla="*/ 884942 w 1157812"/>
                  <a:gd name="csY5" fmla="*/ 366934 h 522959"/>
                  <a:gd name="csX6" fmla="*/ 0 w 1157812"/>
                  <a:gd name="csY6" fmla="*/ 366934 h 52295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57812" h="522959">
                    <a:moveTo>
                      <a:pt x="0" y="0"/>
                    </a:moveTo>
                    <a:lnTo>
                      <a:pt x="1157812" y="0"/>
                    </a:lnTo>
                    <a:lnTo>
                      <a:pt x="1157812" y="366934"/>
                    </a:lnTo>
                    <a:lnTo>
                      <a:pt x="989239" y="366934"/>
                    </a:lnTo>
                    <a:lnTo>
                      <a:pt x="937090" y="522959"/>
                    </a:lnTo>
                    <a:lnTo>
                      <a:pt x="884942" y="366934"/>
                    </a:lnTo>
                    <a:lnTo>
                      <a:pt x="0" y="366934"/>
                    </a:lnTo>
                    <a:close/>
                  </a:path>
                </a:pathLst>
              </a:custGeom>
              <a:solidFill>
                <a:schemeClr val="accent4">
                  <a:lumMod val="20000"/>
                  <a:lumOff val="80000"/>
                </a:schemeClr>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단계</a:t>
                </a:r>
                <a:r>
                  <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지분확보</a:t>
                </a:r>
                <a:endPar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DPS Up</a:t>
                </a:r>
              </a:p>
              <a:p>
                <a:pPr algn="ctr"/>
                <a:endPar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5" name="자유형: 도형 24">
                <a:extLst>
                  <a:ext uri="{FF2B5EF4-FFF2-40B4-BE49-F238E27FC236}">
                    <a16:creationId xmlns:a16="http://schemas.microsoft.com/office/drawing/2014/main" id="{D9E01715-95FF-FD4F-E70B-C9D11E1480F9}"/>
                  </a:ext>
                </a:extLst>
              </p:cNvPr>
              <p:cNvSpPr/>
              <p:nvPr/>
            </p:nvSpPr>
            <p:spPr>
              <a:xfrm>
                <a:off x="7307043" y="4129429"/>
                <a:ext cx="1157812" cy="459341"/>
              </a:xfrm>
              <a:custGeom>
                <a:avLst/>
                <a:gdLst>
                  <a:gd name="csX0" fmla="*/ 0 w 1157812"/>
                  <a:gd name="csY0" fmla="*/ 0 h 522959"/>
                  <a:gd name="csX1" fmla="*/ 1157812 w 1157812"/>
                  <a:gd name="csY1" fmla="*/ 0 h 522959"/>
                  <a:gd name="csX2" fmla="*/ 1157812 w 1157812"/>
                  <a:gd name="csY2" fmla="*/ 366934 h 522959"/>
                  <a:gd name="csX3" fmla="*/ 989239 w 1157812"/>
                  <a:gd name="csY3" fmla="*/ 366934 h 522959"/>
                  <a:gd name="csX4" fmla="*/ 937090 w 1157812"/>
                  <a:gd name="csY4" fmla="*/ 522959 h 522959"/>
                  <a:gd name="csX5" fmla="*/ 884942 w 1157812"/>
                  <a:gd name="csY5" fmla="*/ 366934 h 522959"/>
                  <a:gd name="csX6" fmla="*/ 0 w 1157812"/>
                  <a:gd name="csY6" fmla="*/ 366934 h 52295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57812" h="522959">
                    <a:moveTo>
                      <a:pt x="0" y="0"/>
                    </a:moveTo>
                    <a:lnTo>
                      <a:pt x="1157812" y="0"/>
                    </a:lnTo>
                    <a:lnTo>
                      <a:pt x="1157812" y="366934"/>
                    </a:lnTo>
                    <a:lnTo>
                      <a:pt x="989239" y="366934"/>
                    </a:lnTo>
                    <a:lnTo>
                      <a:pt x="937090" y="522959"/>
                    </a:lnTo>
                    <a:lnTo>
                      <a:pt x="884942" y="366934"/>
                    </a:lnTo>
                    <a:lnTo>
                      <a:pt x="0" y="366934"/>
                    </a:lnTo>
                    <a:close/>
                  </a:path>
                </a:pathLst>
              </a:custGeom>
              <a:solidFill>
                <a:schemeClr val="accent4">
                  <a:lumMod val="20000"/>
                  <a:lumOff val="80000"/>
                </a:schemeClr>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단계</a:t>
                </a:r>
                <a:r>
                  <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지분확보</a:t>
                </a:r>
                <a:endPar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DPS Up</a:t>
                </a:r>
                <a:endPar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endPar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26" name="그룹 25">
                <a:extLst>
                  <a:ext uri="{FF2B5EF4-FFF2-40B4-BE49-F238E27FC236}">
                    <a16:creationId xmlns:a16="http://schemas.microsoft.com/office/drawing/2014/main" id="{942957ED-653D-B337-8F74-B9722F4ACE68}"/>
                  </a:ext>
                </a:extLst>
              </p:cNvPr>
              <p:cNvGrpSpPr/>
              <p:nvPr/>
            </p:nvGrpSpPr>
            <p:grpSpPr>
              <a:xfrm>
                <a:off x="8629856" y="3963964"/>
                <a:ext cx="1735670" cy="609357"/>
                <a:chOff x="8971864" y="3196450"/>
                <a:chExt cx="1909237" cy="839441"/>
              </a:xfrm>
              <a:solidFill>
                <a:schemeClr val="accent4">
                  <a:lumMod val="60000"/>
                  <a:lumOff val="40000"/>
                </a:schemeClr>
              </a:solidFill>
              <a:effectLst>
                <a:outerShdw blurRad="50800" dist="38100" dir="2700000" algn="tl" rotWithShape="0">
                  <a:prstClr val="black">
                    <a:alpha val="40000"/>
                  </a:prstClr>
                </a:outerShdw>
              </a:effectLst>
            </p:grpSpPr>
            <p:sp>
              <p:nvSpPr>
                <p:cNvPr id="36" name="직사각형 35">
                  <a:extLst>
                    <a:ext uri="{FF2B5EF4-FFF2-40B4-BE49-F238E27FC236}">
                      <a16:creationId xmlns:a16="http://schemas.microsoft.com/office/drawing/2014/main" id="{41ADC5EE-AF78-9213-06DE-C9E7D06A8A37}"/>
                    </a:ext>
                  </a:extLst>
                </p:cNvPr>
                <p:cNvSpPr/>
                <p:nvPr/>
              </p:nvSpPr>
              <p:spPr>
                <a:xfrm>
                  <a:off x="8971864" y="3196450"/>
                  <a:ext cx="1909237" cy="583388"/>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1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물류子리츠 레버리지 활용한 스프레드마진 확대</a:t>
                  </a:r>
                  <a:endParaRPr lang="en-US" altLang="ko-KR" sz="11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7" name="이등변 삼각형 36">
                  <a:extLst>
                    <a:ext uri="{FF2B5EF4-FFF2-40B4-BE49-F238E27FC236}">
                      <a16:creationId xmlns:a16="http://schemas.microsoft.com/office/drawing/2014/main" id="{343BEEBA-9E26-AE86-DADB-4B575A147CA3}"/>
                    </a:ext>
                  </a:extLst>
                </p:cNvPr>
                <p:cNvSpPr/>
                <p:nvPr/>
              </p:nvSpPr>
              <p:spPr>
                <a:xfrm rot="10800000">
                  <a:off x="9185690" y="3774281"/>
                  <a:ext cx="112147" cy="261610"/>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27" name="그룹 26">
                <a:extLst>
                  <a:ext uri="{FF2B5EF4-FFF2-40B4-BE49-F238E27FC236}">
                    <a16:creationId xmlns:a16="http://schemas.microsoft.com/office/drawing/2014/main" id="{5A93457D-0A72-A60F-91D3-5C1B8F2B3A9E}"/>
                  </a:ext>
                </a:extLst>
              </p:cNvPr>
              <p:cNvGrpSpPr/>
              <p:nvPr/>
            </p:nvGrpSpPr>
            <p:grpSpPr>
              <a:xfrm>
                <a:off x="6270459" y="3622296"/>
                <a:ext cx="3792373" cy="220507"/>
                <a:chOff x="6283198" y="3270279"/>
                <a:chExt cx="1222948" cy="450278"/>
              </a:xfrm>
            </p:grpSpPr>
            <p:cxnSp>
              <p:nvCxnSpPr>
                <p:cNvPr id="32" name="직선 연결선 31">
                  <a:extLst>
                    <a:ext uri="{FF2B5EF4-FFF2-40B4-BE49-F238E27FC236}">
                      <a16:creationId xmlns:a16="http://schemas.microsoft.com/office/drawing/2014/main" id="{102849B6-67AA-F808-1ABA-84E48A330F05}"/>
                    </a:ext>
                  </a:extLst>
                </p:cNvPr>
                <p:cNvCxnSpPr>
                  <a:cxnSpLocks/>
                </p:cNvCxnSpPr>
                <p:nvPr/>
              </p:nvCxnSpPr>
              <p:spPr>
                <a:xfrm>
                  <a:off x="6283198" y="3270279"/>
                  <a:ext cx="0" cy="45027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직선 연결선 32">
                  <a:extLst>
                    <a:ext uri="{FF2B5EF4-FFF2-40B4-BE49-F238E27FC236}">
                      <a16:creationId xmlns:a16="http://schemas.microsoft.com/office/drawing/2014/main" id="{55171544-155B-AA52-48EE-F942860C84D5}"/>
                    </a:ext>
                  </a:extLst>
                </p:cNvPr>
                <p:cNvCxnSpPr>
                  <a:cxnSpLocks/>
                </p:cNvCxnSpPr>
                <p:nvPr/>
              </p:nvCxnSpPr>
              <p:spPr>
                <a:xfrm>
                  <a:off x="7506146" y="3270279"/>
                  <a:ext cx="0" cy="45027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직선 화살표 연결선 34">
                  <a:extLst>
                    <a:ext uri="{FF2B5EF4-FFF2-40B4-BE49-F238E27FC236}">
                      <a16:creationId xmlns:a16="http://schemas.microsoft.com/office/drawing/2014/main" id="{4A1CAEF8-8480-AF2C-2A30-21192242488D}"/>
                    </a:ext>
                  </a:extLst>
                </p:cNvPr>
                <p:cNvCxnSpPr>
                  <a:cxnSpLocks/>
                </p:cNvCxnSpPr>
                <p:nvPr/>
              </p:nvCxnSpPr>
              <p:spPr>
                <a:xfrm>
                  <a:off x="6283198" y="3495418"/>
                  <a:ext cx="1222948" cy="0"/>
                </a:xfrm>
                <a:prstGeom prst="straightConnector1">
                  <a:avLst/>
                </a:prstGeom>
                <a:ln w="12700">
                  <a:solidFill>
                    <a:schemeClr val="tx1">
                      <a:lumMod val="50000"/>
                      <a:lumOff val="50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28" name="그룹 27">
                <a:extLst>
                  <a:ext uri="{FF2B5EF4-FFF2-40B4-BE49-F238E27FC236}">
                    <a16:creationId xmlns:a16="http://schemas.microsoft.com/office/drawing/2014/main" id="{BF451C2D-99A4-FDB9-AD74-EA70C5A24846}"/>
                  </a:ext>
                </a:extLst>
              </p:cNvPr>
              <p:cNvGrpSpPr/>
              <p:nvPr/>
            </p:nvGrpSpPr>
            <p:grpSpPr>
              <a:xfrm>
                <a:off x="8455225" y="3296882"/>
                <a:ext cx="1594869" cy="220507"/>
                <a:chOff x="6283198" y="3270279"/>
                <a:chExt cx="1222948" cy="450278"/>
              </a:xfrm>
            </p:grpSpPr>
            <p:cxnSp>
              <p:nvCxnSpPr>
                <p:cNvPr id="29" name="직선 연결선 28">
                  <a:extLst>
                    <a:ext uri="{FF2B5EF4-FFF2-40B4-BE49-F238E27FC236}">
                      <a16:creationId xmlns:a16="http://schemas.microsoft.com/office/drawing/2014/main" id="{768D7CED-B49B-7015-11F3-E3FD25309AC7}"/>
                    </a:ext>
                  </a:extLst>
                </p:cNvPr>
                <p:cNvCxnSpPr>
                  <a:cxnSpLocks/>
                </p:cNvCxnSpPr>
                <p:nvPr/>
              </p:nvCxnSpPr>
              <p:spPr>
                <a:xfrm>
                  <a:off x="6283198" y="3270279"/>
                  <a:ext cx="0" cy="45027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직선 연결선 29">
                  <a:extLst>
                    <a:ext uri="{FF2B5EF4-FFF2-40B4-BE49-F238E27FC236}">
                      <a16:creationId xmlns:a16="http://schemas.microsoft.com/office/drawing/2014/main" id="{F72673F5-2F40-186B-7298-E0DB9E43F2A1}"/>
                    </a:ext>
                  </a:extLst>
                </p:cNvPr>
                <p:cNvCxnSpPr>
                  <a:cxnSpLocks/>
                </p:cNvCxnSpPr>
                <p:nvPr/>
              </p:nvCxnSpPr>
              <p:spPr>
                <a:xfrm>
                  <a:off x="7506146" y="3270279"/>
                  <a:ext cx="0" cy="45027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직선 화살표 연결선 30">
                  <a:extLst>
                    <a:ext uri="{FF2B5EF4-FFF2-40B4-BE49-F238E27FC236}">
                      <a16:creationId xmlns:a16="http://schemas.microsoft.com/office/drawing/2014/main" id="{973C8B53-53F4-8B42-65F8-29C9F05607E0}"/>
                    </a:ext>
                  </a:extLst>
                </p:cNvPr>
                <p:cNvCxnSpPr>
                  <a:cxnSpLocks/>
                </p:cNvCxnSpPr>
                <p:nvPr/>
              </p:nvCxnSpPr>
              <p:spPr>
                <a:xfrm>
                  <a:off x="6283198" y="3495418"/>
                  <a:ext cx="1222948" cy="0"/>
                </a:xfrm>
                <a:prstGeom prst="straightConnector1">
                  <a:avLst/>
                </a:prstGeom>
                <a:ln>
                  <a:solidFill>
                    <a:schemeClr val="tx1">
                      <a:lumMod val="50000"/>
                      <a:lumOff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grpSp>
    </p:spTree>
    <p:extLst>
      <p:ext uri="{BB962C8B-B14F-4D97-AF65-F5344CB8AC3E}">
        <p14:creationId xmlns:p14="http://schemas.microsoft.com/office/powerpoint/2010/main" val="3647079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75A3E-85FC-ACF6-C616-592FCEAE1267}"/>
            </a:ext>
          </a:extLst>
        </p:cNvPr>
        <p:cNvGrpSpPr/>
        <p:nvPr/>
      </p:nvGrpSpPr>
      <p:grpSpPr>
        <a:xfrm>
          <a:off x="0" y="0"/>
          <a:ext cx="0" cy="0"/>
          <a:chOff x="0" y="0"/>
          <a:chExt cx="0" cy="0"/>
        </a:xfrm>
      </p:grpSpPr>
      <p:grpSp>
        <p:nvGrpSpPr>
          <p:cNvPr id="8" name="그룹 7">
            <a:extLst>
              <a:ext uri="{FF2B5EF4-FFF2-40B4-BE49-F238E27FC236}">
                <a16:creationId xmlns:a16="http://schemas.microsoft.com/office/drawing/2014/main" id="{9B63053B-1734-77C5-E4B8-9E8A4B6C79A2}"/>
              </a:ext>
            </a:extLst>
          </p:cNvPr>
          <p:cNvGrpSpPr/>
          <p:nvPr/>
        </p:nvGrpSpPr>
        <p:grpSpPr>
          <a:xfrm>
            <a:off x="2502082" y="2956898"/>
            <a:ext cx="519881" cy="1260136"/>
            <a:chOff x="-751295" y="2303673"/>
            <a:chExt cx="519881" cy="1735477"/>
          </a:xfrm>
        </p:grpSpPr>
        <p:grpSp>
          <p:nvGrpSpPr>
            <p:cNvPr id="9" name="그룹 8">
              <a:extLst>
                <a:ext uri="{FF2B5EF4-FFF2-40B4-BE49-F238E27FC236}">
                  <a16:creationId xmlns:a16="http://schemas.microsoft.com/office/drawing/2014/main" id="{D279615E-5E54-425A-7A61-E65548867E02}"/>
                </a:ext>
              </a:extLst>
            </p:cNvPr>
            <p:cNvGrpSpPr/>
            <p:nvPr/>
          </p:nvGrpSpPr>
          <p:grpSpPr>
            <a:xfrm>
              <a:off x="-535811" y="2303673"/>
              <a:ext cx="92967" cy="1735477"/>
              <a:chOff x="1091841" y="2251677"/>
              <a:chExt cx="92967" cy="744273"/>
            </a:xfrm>
          </p:grpSpPr>
          <p:cxnSp>
            <p:nvCxnSpPr>
              <p:cNvPr id="11" name="직선 연결선 10">
                <a:extLst>
                  <a:ext uri="{FF2B5EF4-FFF2-40B4-BE49-F238E27FC236}">
                    <a16:creationId xmlns:a16="http://schemas.microsoft.com/office/drawing/2014/main" id="{2E9708DA-000C-174C-117E-D9A2D5E3DC2A}"/>
                  </a:ext>
                </a:extLst>
              </p:cNvPr>
              <p:cNvCxnSpPr>
                <a:cxnSpLocks/>
              </p:cNvCxnSpPr>
              <p:nvPr/>
            </p:nvCxnSpPr>
            <p:spPr>
              <a:xfrm>
                <a:off x="1138325" y="2251677"/>
                <a:ext cx="0" cy="74427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2" name="직선 연결선 11">
                <a:extLst>
                  <a:ext uri="{FF2B5EF4-FFF2-40B4-BE49-F238E27FC236}">
                    <a16:creationId xmlns:a16="http://schemas.microsoft.com/office/drawing/2014/main" id="{8E8A39C3-3DEE-66BD-38EA-6C6C72D055A0}"/>
                  </a:ext>
                </a:extLst>
              </p:cNvPr>
              <p:cNvCxnSpPr/>
              <p:nvPr/>
            </p:nvCxnSpPr>
            <p:spPr>
              <a:xfrm>
                <a:off x="1091841" y="2251677"/>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3" name="직선 연결선 12">
                <a:extLst>
                  <a:ext uri="{FF2B5EF4-FFF2-40B4-BE49-F238E27FC236}">
                    <a16:creationId xmlns:a16="http://schemas.microsoft.com/office/drawing/2014/main" id="{961A9A11-D61F-44C9-8890-9980E39EF86C}"/>
                  </a:ext>
                </a:extLst>
              </p:cNvPr>
              <p:cNvCxnSpPr/>
              <p:nvPr/>
            </p:nvCxnSpPr>
            <p:spPr>
              <a:xfrm>
                <a:off x="1091841" y="2995950"/>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D708F15A-C93C-26D5-982A-A62720067A50}"/>
                </a:ext>
              </a:extLst>
            </p:cNvPr>
            <p:cNvSpPr txBox="1"/>
            <p:nvPr/>
          </p:nvSpPr>
          <p:spPr>
            <a:xfrm>
              <a:off x="-751295" y="2987439"/>
              <a:ext cx="519881" cy="381487"/>
            </a:xfrm>
            <a:prstGeom prst="rect">
              <a:avLst/>
            </a:prstGeom>
            <a:solidFill>
              <a:srgbClr val="F8F8F8"/>
            </a:solid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 48.9%</a:t>
              </a:r>
            </a:p>
          </p:txBody>
        </p:sp>
      </p:grpSp>
      <p:grpSp>
        <p:nvGrpSpPr>
          <p:cNvPr id="15" name="그룹 14">
            <a:extLst>
              <a:ext uri="{FF2B5EF4-FFF2-40B4-BE49-F238E27FC236}">
                <a16:creationId xmlns:a16="http://schemas.microsoft.com/office/drawing/2014/main" id="{81F77C1C-1CA7-1AD1-72DF-E27EBB40841A}"/>
              </a:ext>
            </a:extLst>
          </p:cNvPr>
          <p:cNvGrpSpPr/>
          <p:nvPr/>
        </p:nvGrpSpPr>
        <p:grpSpPr>
          <a:xfrm>
            <a:off x="2504354" y="2267668"/>
            <a:ext cx="1129710" cy="1949361"/>
            <a:chOff x="-1089539" y="2126544"/>
            <a:chExt cx="1129710" cy="1912606"/>
          </a:xfrm>
        </p:grpSpPr>
        <p:grpSp>
          <p:nvGrpSpPr>
            <p:cNvPr id="16" name="그룹 15">
              <a:extLst>
                <a:ext uri="{FF2B5EF4-FFF2-40B4-BE49-F238E27FC236}">
                  <a16:creationId xmlns:a16="http://schemas.microsoft.com/office/drawing/2014/main" id="{64AA808D-EB50-AF05-91E4-0BDF9D8A3B57}"/>
                </a:ext>
              </a:extLst>
            </p:cNvPr>
            <p:cNvGrpSpPr/>
            <p:nvPr/>
          </p:nvGrpSpPr>
          <p:grpSpPr>
            <a:xfrm>
              <a:off x="-535811" y="2303673"/>
              <a:ext cx="92967" cy="1735477"/>
              <a:chOff x="1091841" y="2251677"/>
              <a:chExt cx="92967" cy="744273"/>
            </a:xfrm>
          </p:grpSpPr>
          <p:cxnSp>
            <p:nvCxnSpPr>
              <p:cNvPr id="24" name="직선 연결선 23">
                <a:extLst>
                  <a:ext uri="{FF2B5EF4-FFF2-40B4-BE49-F238E27FC236}">
                    <a16:creationId xmlns:a16="http://schemas.microsoft.com/office/drawing/2014/main" id="{0FB5E395-33C7-0067-3CB9-C64FBF093F66}"/>
                  </a:ext>
                </a:extLst>
              </p:cNvPr>
              <p:cNvCxnSpPr>
                <a:cxnSpLocks/>
              </p:cNvCxnSpPr>
              <p:nvPr/>
            </p:nvCxnSpPr>
            <p:spPr>
              <a:xfrm>
                <a:off x="1138325" y="2251677"/>
                <a:ext cx="0" cy="74427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5" name="직선 연결선 24">
                <a:extLst>
                  <a:ext uri="{FF2B5EF4-FFF2-40B4-BE49-F238E27FC236}">
                    <a16:creationId xmlns:a16="http://schemas.microsoft.com/office/drawing/2014/main" id="{E7103829-98EF-D508-4CA2-8249BC94A595}"/>
                  </a:ext>
                </a:extLst>
              </p:cNvPr>
              <p:cNvCxnSpPr/>
              <p:nvPr/>
            </p:nvCxnSpPr>
            <p:spPr>
              <a:xfrm>
                <a:off x="1091841" y="2251677"/>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6" name="직선 연결선 25">
                <a:extLst>
                  <a:ext uri="{FF2B5EF4-FFF2-40B4-BE49-F238E27FC236}">
                    <a16:creationId xmlns:a16="http://schemas.microsoft.com/office/drawing/2014/main" id="{AE62444D-6C3F-9FAD-3A23-BC383A211EAE}"/>
                  </a:ext>
                </a:extLst>
              </p:cNvPr>
              <p:cNvCxnSpPr/>
              <p:nvPr/>
            </p:nvCxnSpPr>
            <p:spPr>
              <a:xfrm>
                <a:off x="1091841" y="2995950"/>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7" name="직선 연결선 26">
                <a:extLst>
                  <a:ext uri="{FF2B5EF4-FFF2-40B4-BE49-F238E27FC236}">
                    <a16:creationId xmlns:a16="http://schemas.microsoft.com/office/drawing/2014/main" id="{91789EB3-28AF-AF5D-72EA-C0F902A739D3}"/>
                  </a:ext>
                </a:extLst>
              </p:cNvPr>
              <p:cNvCxnSpPr/>
              <p:nvPr/>
            </p:nvCxnSpPr>
            <p:spPr>
              <a:xfrm>
                <a:off x="1091841" y="2351284"/>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17" name="TextBox 16">
              <a:extLst>
                <a:ext uri="{FF2B5EF4-FFF2-40B4-BE49-F238E27FC236}">
                  <a16:creationId xmlns:a16="http://schemas.microsoft.com/office/drawing/2014/main" id="{AE3B2454-58BD-DFC5-6BBA-8941152B3386}"/>
                </a:ext>
              </a:extLst>
            </p:cNvPr>
            <p:cNvSpPr txBox="1"/>
            <p:nvPr/>
          </p:nvSpPr>
          <p:spPr>
            <a:xfrm>
              <a:off x="-1089539" y="2126544"/>
              <a:ext cx="1129710" cy="138826"/>
            </a:xfrm>
            <a:prstGeom prst="rect">
              <a:avLst/>
            </a:prstGeom>
            <a:solidFill>
              <a:schemeClr val="bg1"/>
            </a:solid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 </a:t>
              </a:r>
              <a:r>
                <a:rPr kumimoji="1"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최대 </a:t>
              </a:r>
              <a:r>
                <a:rPr kumimoji="1"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LTV</a:t>
              </a:r>
              <a:r>
                <a:rPr kumimoji="1"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한도</a:t>
              </a:r>
              <a:endParaRPr kumimoji="1"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grpSp>
        <p:nvGrpSpPr>
          <p:cNvPr id="28" name="그룹 27">
            <a:extLst>
              <a:ext uri="{FF2B5EF4-FFF2-40B4-BE49-F238E27FC236}">
                <a16:creationId xmlns:a16="http://schemas.microsoft.com/office/drawing/2014/main" id="{AF059E30-2892-8424-8394-CB0492F53A49}"/>
              </a:ext>
            </a:extLst>
          </p:cNvPr>
          <p:cNvGrpSpPr/>
          <p:nvPr/>
        </p:nvGrpSpPr>
        <p:grpSpPr>
          <a:xfrm>
            <a:off x="2226778" y="2531792"/>
            <a:ext cx="1461493" cy="405453"/>
            <a:chOff x="2354463" y="2531792"/>
            <a:chExt cx="1461493" cy="405453"/>
          </a:xfrm>
        </p:grpSpPr>
        <p:sp>
          <p:nvSpPr>
            <p:cNvPr id="29" name="직사각형 28">
              <a:extLst>
                <a:ext uri="{FF2B5EF4-FFF2-40B4-BE49-F238E27FC236}">
                  <a16:creationId xmlns:a16="http://schemas.microsoft.com/office/drawing/2014/main" id="{C5ED29F9-4680-B454-7DC8-BE9E8592A439}"/>
                </a:ext>
              </a:extLst>
            </p:cNvPr>
            <p:cNvSpPr/>
            <p:nvPr/>
          </p:nvSpPr>
          <p:spPr>
            <a:xfrm>
              <a:off x="2354463" y="2696662"/>
              <a:ext cx="1125038" cy="240583"/>
            </a:xfrm>
            <a:prstGeom prst="rect">
              <a:avLst/>
            </a:prstGeom>
            <a:gradFill>
              <a:gsLst>
                <a:gs pos="0">
                  <a:schemeClr val="bg1"/>
                </a:gs>
                <a:gs pos="72000">
                  <a:schemeClr val="accent2">
                    <a:lumMod val="40000"/>
                    <a:lumOff val="60000"/>
                  </a:schemeClr>
                </a:gs>
                <a:gs pos="100000">
                  <a:schemeClr val="accent2">
                    <a:lumMod val="60000"/>
                    <a:lumOff val="40000"/>
                  </a:schemeClr>
                </a:gs>
              </a:gsLst>
              <a:lin ang="10800000" scaled="0"/>
            </a:gradFill>
            <a:ln w="3175" cap="flat" cmpd="sng" algn="ctr">
              <a:noFill/>
              <a:prstDash val="solid"/>
              <a:miter lim="800000"/>
            </a:ln>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30" name="그룹 29">
              <a:extLst>
                <a:ext uri="{FF2B5EF4-FFF2-40B4-BE49-F238E27FC236}">
                  <a16:creationId xmlns:a16="http://schemas.microsoft.com/office/drawing/2014/main" id="{744D1A71-DFE6-1A86-CFCD-2C4C7BE63D93}"/>
                </a:ext>
              </a:extLst>
            </p:cNvPr>
            <p:cNvGrpSpPr/>
            <p:nvPr/>
          </p:nvGrpSpPr>
          <p:grpSpPr>
            <a:xfrm>
              <a:off x="3277347" y="2531792"/>
              <a:ext cx="538609" cy="405452"/>
              <a:chOff x="4231041" y="2531791"/>
              <a:chExt cx="538609" cy="405452"/>
            </a:xfrm>
          </p:grpSpPr>
          <p:sp>
            <p:nvSpPr>
              <p:cNvPr id="31" name="화살표: 아래쪽 30">
                <a:extLst>
                  <a:ext uri="{FF2B5EF4-FFF2-40B4-BE49-F238E27FC236}">
                    <a16:creationId xmlns:a16="http://schemas.microsoft.com/office/drawing/2014/main" id="{62150880-5DAA-9FC6-C030-FF370CAB4B38}"/>
                  </a:ext>
                </a:extLst>
              </p:cNvPr>
              <p:cNvSpPr/>
              <p:nvPr/>
            </p:nvSpPr>
            <p:spPr>
              <a:xfrm rot="10800000">
                <a:off x="4269603" y="2696664"/>
                <a:ext cx="396042" cy="240579"/>
              </a:xfrm>
              <a:prstGeom prst="downArrow">
                <a:avLst/>
              </a:prstGeom>
              <a:gradFill>
                <a:gsLst>
                  <a:gs pos="0">
                    <a:schemeClr val="bg1">
                      <a:lumMod val="95000"/>
                    </a:schemeClr>
                  </a:gs>
                  <a:gs pos="72000">
                    <a:schemeClr val="bg1">
                      <a:lumMod val="75000"/>
                    </a:schemeClr>
                  </a:gs>
                  <a:gs pos="100000">
                    <a:schemeClr val="tx1">
                      <a:lumMod val="50000"/>
                      <a:lumOff val="5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Calibri" panose="020F0502020204030204"/>
                  <a:ea typeface="맑은 고딕" panose="020B0503020000020004" pitchFamily="50" charset="-127"/>
                  <a:cs typeface="+mn-cs"/>
                </a:endParaRPr>
              </a:p>
            </p:txBody>
          </p:sp>
          <p:sp>
            <p:nvSpPr>
              <p:cNvPr id="32" name="TextBox 31">
                <a:extLst>
                  <a:ext uri="{FF2B5EF4-FFF2-40B4-BE49-F238E27FC236}">
                    <a16:creationId xmlns:a16="http://schemas.microsoft.com/office/drawing/2014/main" id="{FE31D60E-828B-D810-6C55-C9AAEFFBEABA}"/>
                  </a:ext>
                </a:extLst>
              </p:cNvPr>
              <p:cNvSpPr txBox="1"/>
              <p:nvPr/>
            </p:nvSpPr>
            <p:spPr>
              <a:xfrm>
                <a:off x="4231041" y="2531791"/>
                <a:ext cx="538609" cy="163415"/>
              </a:xfrm>
              <a:prstGeom prst="rect">
                <a:avLst/>
              </a:prstGeom>
              <a:solidFill>
                <a:schemeClr val="bg1"/>
              </a:solidFill>
            </p:spPr>
            <p:txBody>
              <a:bodyPr wrap="none" lIns="0" tIns="0" rIns="0" bIns="0" rtlCol="0" anchor="ctr">
                <a:no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 2.5%</a:t>
                </a:r>
              </a:p>
            </p:txBody>
          </p:sp>
        </p:grpSp>
      </p:grpSp>
      <p:cxnSp>
        <p:nvCxnSpPr>
          <p:cNvPr id="33" name="직선 연결선 32">
            <a:extLst>
              <a:ext uri="{FF2B5EF4-FFF2-40B4-BE49-F238E27FC236}">
                <a16:creationId xmlns:a16="http://schemas.microsoft.com/office/drawing/2014/main" id="{CA0513A3-9951-13A8-8DD7-B16811E07CFD}"/>
              </a:ext>
            </a:extLst>
          </p:cNvPr>
          <p:cNvCxnSpPr>
            <a:cxnSpLocks/>
          </p:cNvCxnSpPr>
          <p:nvPr/>
        </p:nvCxnSpPr>
        <p:spPr>
          <a:xfrm>
            <a:off x="595886" y="5219997"/>
            <a:ext cx="1843909" cy="0"/>
          </a:xfrm>
          <a:prstGeom prst="line">
            <a:avLst/>
          </a:prstGeom>
          <a:noFill/>
          <a:ln w="6350" cap="flat" cmpd="sng" algn="ctr">
            <a:solidFill>
              <a:srgbClr val="B2B2B2"/>
            </a:solidFill>
            <a:prstDash val="solid"/>
            <a:miter lim="800000"/>
          </a:ln>
          <a:effectLst/>
        </p:spPr>
      </p:cxnSp>
      <p:sp>
        <p:nvSpPr>
          <p:cNvPr id="34" name="직사각형 33">
            <a:extLst>
              <a:ext uri="{FF2B5EF4-FFF2-40B4-BE49-F238E27FC236}">
                <a16:creationId xmlns:a16="http://schemas.microsoft.com/office/drawing/2014/main" id="{E374C57A-4F79-69EA-EFF8-4D6A72F50897}"/>
              </a:ext>
            </a:extLst>
          </p:cNvPr>
          <p:cNvSpPr/>
          <p:nvPr/>
        </p:nvSpPr>
        <p:spPr>
          <a:xfrm>
            <a:off x="1541446" y="2962498"/>
            <a:ext cx="963539" cy="1260138"/>
          </a:xfrm>
          <a:prstGeom prst="rect">
            <a:avLst/>
          </a:prstGeom>
          <a:solidFill>
            <a:schemeClr val="bg1"/>
          </a:solidFill>
          <a:ln w="3175" cap="flat" cmpd="sng" algn="ctr">
            <a:solidFill>
              <a:sysClr val="windowText" lastClr="000000">
                <a:lumMod val="50000"/>
                <a:lumOff val="50000"/>
              </a:sysClr>
            </a:solidFill>
            <a:prstDash val="solid"/>
            <a:miter lim="800000"/>
          </a:ln>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Loan</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8,204</a:t>
            </a:r>
            <a:r>
              <a:rPr kumimoji="0" lang="ko-KR" altLang="en-US"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5" name="직사각형 34">
            <a:extLst>
              <a:ext uri="{FF2B5EF4-FFF2-40B4-BE49-F238E27FC236}">
                <a16:creationId xmlns:a16="http://schemas.microsoft.com/office/drawing/2014/main" id="{DE6F51FB-2D04-BAE5-3F9F-5EBE1F33ACBD}"/>
              </a:ext>
            </a:extLst>
          </p:cNvPr>
          <p:cNvSpPr/>
          <p:nvPr/>
        </p:nvSpPr>
        <p:spPr>
          <a:xfrm>
            <a:off x="1538543" y="4734936"/>
            <a:ext cx="963539" cy="425485"/>
          </a:xfrm>
          <a:prstGeom prst="rect">
            <a:avLst/>
          </a:prstGeom>
          <a:solidFill>
            <a:schemeClr val="bg1"/>
          </a:solidFill>
          <a:ln w="3175" cap="flat" cmpd="sng" algn="ctr">
            <a:solidFill>
              <a:sysClr val="windowText" lastClr="000000">
                <a:lumMod val="50000"/>
                <a:lumOff val="50000"/>
              </a:sysClr>
            </a:solidFill>
            <a:prstDash val="solid"/>
            <a:miter lim="800000"/>
          </a:ln>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5,090</a:t>
            </a:r>
            <a:r>
              <a:rPr kumimoji="0" lang="ko-KR" altLang="en-US"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6" name="직사각형 35">
            <a:extLst>
              <a:ext uri="{FF2B5EF4-FFF2-40B4-BE49-F238E27FC236}">
                <a16:creationId xmlns:a16="http://schemas.microsoft.com/office/drawing/2014/main" id="{397E6E58-30FE-4D84-10B9-2F25E4B189B0}"/>
              </a:ext>
            </a:extLst>
          </p:cNvPr>
          <p:cNvSpPr/>
          <p:nvPr/>
        </p:nvSpPr>
        <p:spPr>
          <a:xfrm>
            <a:off x="1538542" y="4247890"/>
            <a:ext cx="963539" cy="137480"/>
          </a:xfrm>
          <a:prstGeom prst="rect">
            <a:avLst/>
          </a:prstGeom>
          <a:solidFill>
            <a:schemeClr val="bg1"/>
          </a:solidFill>
          <a:ln w="3175" cap="flat" cmpd="sng" algn="ctr">
            <a:solidFill>
              <a:sysClr val="windowText" lastClr="000000">
                <a:lumMod val="50000"/>
                <a:lumOff val="50000"/>
              </a:sysClr>
            </a:solidFill>
            <a:prstDash val="solid"/>
            <a:miter lim="800000"/>
          </a:ln>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 </a:t>
            </a:r>
            <a:r>
              <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805</a:t>
            </a:r>
            <a:r>
              <a:rPr kumimoji="0" lang="ko-KR" altLang="en-US"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7" name="직사각형 36">
            <a:extLst>
              <a:ext uri="{FF2B5EF4-FFF2-40B4-BE49-F238E27FC236}">
                <a16:creationId xmlns:a16="http://schemas.microsoft.com/office/drawing/2014/main" id="{B4FCB7EC-9BE2-B6FE-E27B-668B9369DEE8}"/>
              </a:ext>
            </a:extLst>
          </p:cNvPr>
          <p:cNvSpPr/>
          <p:nvPr/>
        </p:nvSpPr>
        <p:spPr>
          <a:xfrm>
            <a:off x="595888" y="3196404"/>
            <a:ext cx="900084" cy="1964017"/>
          </a:xfrm>
          <a:prstGeom prst="rect">
            <a:avLst/>
          </a:prstGeom>
          <a:solidFill>
            <a:schemeClr val="accent4">
              <a:lumMod val="20000"/>
              <a:lumOff val="80000"/>
            </a:schemeClr>
          </a:solidFill>
          <a:ln w="3175" cap="flat" cmpd="sng" algn="ctr">
            <a:solidFill>
              <a:sysClr val="windowText" lastClr="000000">
                <a:lumMod val="50000"/>
                <a:lumOff val="50000"/>
              </a:sysClr>
            </a:solidFill>
            <a:prstDash val="solid"/>
            <a:miter lim="800000"/>
          </a:ln>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부동산 등 </a:t>
            </a:r>
            <a:endParaRPr kumimoji="0" lang="en-US" altLang="ko-KR"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감정가액</a:t>
            </a:r>
            <a:endParaRPr kumimoji="0" lang="en-US" altLang="ko-KR"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85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kumimoji="0" lang="ko-KR" altLang="en-US" sz="85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조 </a:t>
            </a:r>
            <a:r>
              <a:rPr kumimoji="0" lang="en-US" altLang="ko-KR" sz="85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6,193</a:t>
            </a:r>
            <a:r>
              <a:rPr kumimoji="0" lang="ko-KR" altLang="en-US" sz="85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85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8" name="직사각형 37">
            <a:extLst>
              <a:ext uri="{FF2B5EF4-FFF2-40B4-BE49-F238E27FC236}">
                <a16:creationId xmlns:a16="http://schemas.microsoft.com/office/drawing/2014/main" id="{8B7DBB23-3456-F0AC-0D6A-7627241BFC98}"/>
              </a:ext>
            </a:extLst>
          </p:cNvPr>
          <p:cNvSpPr/>
          <p:nvPr/>
        </p:nvSpPr>
        <p:spPr>
          <a:xfrm>
            <a:off x="1538542" y="2696666"/>
            <a:ext cx="963539" cy="240579"/>
          </a:xfrm>
          <a:prstGeom prst="rect">
            <a:avLst/>
          </a:prstGeom>
          <a:pattFill prst="dkUpDiag">
            <a:fgClr>
              <a:schemeClr val="accent2">
                <a:lumMod val="20000"/>
                <a:lumOff val="80000"/>
              </a:schemeClr>
            </a:fgClr>
            <a:bgClr>
              <a:schemeClr val="bg1"/>
            </a:bgClr>
          </a:pattFill>
          <a:ln w="3175" cap="flat" cmpd="sng" algn="ctr">
            <a:solidFill>
              <a:sysClr val="windowText" lastClr="000000">
                <a:lumMod val="50000"/>
                <a:lumOff val="50000"/>
              </a:sysClr>
            </a:solidFill>
            <a:prstDash val="solid"/>
            <a:miter lim="800000"/>
          </a:ln>
          <a:effectLst>
            <a:outerShdw blurRad="50800" dist="38100" dir="2700000" algn="tl" rotWithShape="0">
              <a:prstClr val="black">
                <a:alpha val="40000"/>
              </a:prstClr>
            </a:outerShdw>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Loan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a:t>
            </a:r>
            <a:r>
              <a:rPr kumimoji="0" lang="ko-KR" altLang="en-US" sz="900" b="0" i="0" u="none" strike="noStrike" kern="0" cap="none" spc="0" normalizeH="0" baseline="0" noProof="0" dirty="0">
                <a:ln>
                  <a:noFill/>
                </a:ln>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9" name="직사각형 38">
            <a:extLst>
              <a:ext uri="{FF2B5EF4-FFF2-40B4-BE49-F238E27FC236}">
                <a16:creationId xmlns:a16="http://schemas.microsoft.com/office/drawing/2014/main" id="{EB017010-27D4-3A9F-81E6-B0F70AFF8A4A}"/>
              </a:ext>
            </a:extLst>
          </p:cNvPr>
          <p:cNvSpPr/>
          <p:nvPr/>
        </p:nvSpPr>
        <p:spPr>
          <a:xfrm>
            <a:off x="595886" y="2696666"/>
            <a:ext cx="901253" cy="240579"/>
          </a:xfrm>
          <a:prstGeom prst="rect">
            <a:avLst/>
          </a:prstGeom>
          <a:pattFill prst="dkUpDiag">
            <a:fgClr>
              <a:schemeClr val="accent2">
                <a:lumMod val="20000"/>
                <a:lumOff val="80000"/>
              </a:schemeClr>
            </a:fgClr>
            <a:bgClr>
              <a:schemeClr val="bg1"/>
            </a:bgClr>
          </a:pattFill>
          <a:ln w="12700" cap="flat" cmpd="sng" algn="ctr">
            <a:solidFill>
              <a:srgbClr val="FF0000"/>
            </a:solidFill>
            <a:prstDash val="solid"/>
            <a:miter lim="800000"/>
          </a:ln>
          <a:effectLst>
            <a:outerShdw blurRad="50800" dist="38100" dir="2700000" algn="tl" rotWithShape="0">
              <a:prstClr val="black">
                <a:alpha val="40000"/>
              </a:prstClr>
            </a:outerShdw>
          </a:effectLst>
        </p:spPr>
        <p:txBody>
          <a:bodyPr lIns="36000" tIns="0" rIns="36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신규투자</a:t>
            </a:r>
            <a:endParaRPr kumimoji="0" lang="en-US" altLang="ko-KR" sz="900" b="0" i="0" u="none" strike="noStrike" kern="0" cap="none" spc="0" normalizeH="0" baseline="0" noProof="0" dirty="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kern="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a:t>
            </a:r>
            <a:r>
              <a:rPr lang="ko-KR" altLang="en-US" sz="900" kern="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40" name="그룹 39">
            <a:extLst>
              <a:ext uri="{FF2B5EF4-FFF2-40B4-BE49-F238E27FC236}">
                <a16:creationId xmlns:a16="http://schemas.microsoft.com/office/drawing/2014/main" id="{10F379A3-5897-A617-6574-7E24CD4AFE74}"/>
              </a:ext>
            </a:extLst>
          </p:cNvPr>
          <p:cNvGrpSpPr/>
          <p:nvPr/>
        </p:nvGrpSpPr>
        <p:grpSpPr>
          <a:xfrm>
            <a:off x="2717566" y="2696668"/>
            <a:ext cx="92965" cy="240577"/>
            <a:chOff x="1091841" y="2251677"/>
            <a:chExt cx="92967" cy="744273"/>
          </a:xfrm>
        </p:grpSpPr>
        <p:cxnSp>
          <p:nvCxnSpPr>
            <p:cNvPr id="41" name="직선 연결선 40">
              <a:extLst>
                <a:ext uri="{FF2B5EF4-FFF2-40B4-BE49-F238E27FC236}">
                  <a16:creationId xmlns:a16="http://schemas.microsoft.com/office/drawing/2014/main" id="{CA2E1BCF-E5F5-CAAB-F78F-564ACD24DA6B}"/>
                </a:ext>
              </a:extLst>
            </p:cNvPr>
            <p:cNvCxnSpPr>
              <a:cxnSpLocks/>
            </p:cNvCxnSpPr>
            <p:nvPr/>
          </p:nvCxnSpPr>
          <p:spPr>
            <a:xfrm>
              <a:off x="1138325" y="2251677"/>
              <a:ext cx="0" cy="74427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42" name="직선 연결선 41">
              <a:extLst>
                <a:ext uri="{FF2B5EF4-FFF2-40B4-BE49-F238E27FC236}">
                  <a16:creationId xmlns:a16="http://schemas.microsoft.com/office/drawing/2014/main" id="{13797773-4925-678D-08A0-BB8A6F9D43B1}"/>
                </a:ext>
              </a:extLst>
            </p:cNvPr>
            <p:cNvCxnSpPr/>
            <p:nvPr/>
          </p:nvCxnSpPr>
          <p:spPr>
            <a:xfrm>
              <a:off x="1091841" y="2251677"/>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43" name="직선 연결선 42">
              <a:extLst>
                <a:ext uri="{FF2B5EF4-FFF2-40B4-BE49-F238E27FC236}">
                  <a16:creationId xmlns:a16="http://schemas.microsoft.com/office/drawing/2014/main" id="{C1ABF942-F1A4-4052-8AAB-0B6F01318059}"/>
                </a:ext>
              </a:extLst>
            </p:cNvPr>
            <p:cNvCxnSpPr/>
            <p:nvPr/>
          </p:nvCxnSpPr>
          <p:spPr>
            <a:xfrm>
              <a:off x="1091841" y="2995950"/>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46" name="TextBox 45">
            <a:extLst>
              <a:ext uri="{FF2B5EF4-FFF2-40B4-BE49-F238E27FC236}">
                <a16:creationId xmlns:a16="http://schemas.microsoft.com/office/drawing/2014/main" id="{ACE17AB8-76B7-53AF-E1CA-775FFCA92CF6}"/>
              </a:ext>
            </a:extLst>
          </p:cNvPr>
          <p:cNvSpPr txBox="1"/>
          <p:nvPr/>
        </p:nvSpPr>
        <p:spPr>
          <a:xfrm>
            <a:off x="595885" y="5256001"/>
            <a:ext cx="1843909" cy="300082"/>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ko-KR" altLang="en-US"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총 자산가치 </a:t>
            </a:r>
            <a:r>
              <a:rPr kumimoji="0" lang="en-US" altLang="ko-KR"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kumimoji="0" lang="ko-KR" altLang="en-US"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조 </a:t>
            </a:r>
            <a:r>
              <a:rPr kumimoji="0" lang="en-US" altLang="ko-KR"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6,789</a:t>
            </a:r>
            <a:r>
              <a:rPr kumimoji="0" lang="ko-KR" altLang="en-US"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altLang="ko-KR" sz="900" kern="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(’26.09</a:t>
            </a:r>
            <a:r>
              <a:rPr lang="ko-KR" altLang="en-US" sz="900" kern="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말 기준</a:t>
            </a:r>
            <a:r>
              <a:rPr lang="en-US" altLang="ko-KR" sz="900" kern="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kumimoji="0" lang="en-US" altLang="ko-KR" sz="90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7" name="직사각형 46">
            <a:extLst>
              <a:ext uri="{FF2B5EF4-FFF2-40B4-BE49-F238E27FC236}">
                <a16:creationId xmlns:a16="http://schemas.microsoft.com/office/drawing/2014/main" id="{A0773A8D-62D4-5D12-06DD-9CF1283D56BA}"/>
              </a:ext>
            </a:extLst>
          </p:cNvPr>
          <p:cNvSpPr/>
          <p:nvPr/>
        </p:nvSpPr>
        <p:spPr>
          <a:xfrm>
            <a:off x="1538541" y="4410707"/>
            <a:ext cx="963539" cy="306382"/>
          </a:xfrm>
          <a:prstGeom prst="rect">
            <a:avLst/>
          </a:prstGeom>
          <a:solidFill>
            <a:schemeClr val="bg1"/>
          </a:solidFill>
          <a:ln w="3175" cap="flat" cmpd="sng" algn="ctr">
            <a:solidFill>
              <a:sysClr val="windowText" lastClr="000000">
                <a:lumMod val="50000"/>
                <a:lumOff val="50000"/>
              </a:sysClr>
            </a:solidFill>
            <a:prstDash val="solid"/>
            <a:miter lim="800000"/>
          </a:ln>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8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r>
              <a:rPr kumimoji="0" lang="ko-KR" altLang="en-US" sz="8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평가이익</a:t>
            </a:r>
            <a:r>
              <a:rPr kumimoji="0" lang="en-US" altLang="ko-KR" sz="8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2,690</a:t>
            </a:r>
            <a:r>
              <a:rPr kumimoji="0" lang="ko-KR" altLang="en-US"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48" name="표 47">
            <a:extLst>
              <a:ext uri="{FF2B5EF4-FFF2-40B4-BE49-F238E27FC236}">
                <a16:creationId xmlns:a16="http://schemas.microsoft.com/office/drawing/2014/main" id="{41BCC721-823B-2F1C-A7FA-F332C68CDA0F}"/>
              </a:ext>
            </a:extLst>
          </p:cNvPr>
          <p:cNvGraphicFramePr>
            <a:graphicFrameLocks noGrp="1"/>
          </p:cNvGraphicFramePr>
          <p:nvPr/>
        </p:nvGraphicFramePr>
        <p:xfrm>
          <a:off x="212909" y="5612958"/>
          <a:ext cx="3138908" cy="777240"/>
        </p:xfrm>
        <a:graphic>
          <a:graphicData uri="http://schemas.openxmlformats.org/drawingml/2006/table">
            <a:tbl>
              <a:tblPr>
                <a:tableStyleId>{5940675A-B579-460E-94D1-54222C63F5DA}</a:tableStyleId>
              </a:tblPr>
              <a:tblGrid>
                <a:gridCol w="645082">
                  <a:extLst>
                    <a:ext uri="{9D8B030D-6E8A-4147-A177-3AD203B41FA5}">
                      <a16:colId xmlns:a16="http://schemas.microsoft.com/office/drawing/2014/main" val="20000"/>
                    </a:ext>
                  </a:extLst>
                </a:gridCol>
                <a:gridCol w="1073576">
                  <a:extLst>
                    <a:ext uri="{9D8B030D-6E8A-4147-A177-3AD203B41FA5}">
                      <a16:colId xmlns:a16="http://schemas.microsoft.com/office/drawing/2014/main" val="1420972515"/>
                    </a:ext>
                  </a:extLst>
                </a:gridCol>
                <a:gridCol w="785579">
                  <a:extLst>
                    <a:ext uri="{9D8B030D-6E8A-4147-A177-3AD203B41FA5}">
                      <a16:colId xmlns:a16="http://schemas.microsoft.com/office/drawing/2014/main" val="2224299482"/>
                    </a:ext>
                  </a:extLst>
                </a:gridCol>
                <a:gridCol w="634671">
                  <a:extLst>
                    <a:ext uri="{9D8B030D-6E8A-4147-A177-3AD203B41FA5}">
                      <a16:colId xmlns:a16="http://schemas.microsoft.com/office/drawing/2014/main" val="1829693737"/>
                    </a:ext>
                  </a:extLst>
                </a:gridCol>
              </a:tblGrid>
              <a:tr h="259080">
                <a:tc>
                  <a:txBody>
                    <a:bodyPr anchor="ct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9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nchor="ctr"/>
                    <a:lstStyle/>
                    <a:p>
                      <a:pPr algn="ctr" latinLnBrk="1"/>
                      <a:r>
                        <a:rPr lang="ko-KR" altLang="en-US" sz="9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자산가치</a:t>
                      </a:r>
                      <a:r>
                        <a:rPr lang="en-US" altLang="ko-KR" sz="9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900" b="1"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nchor="ctr"/>
                    <a:lstStyle/>
                    <a:p>
                      <a:pPr algn="ctr" latinLnBrk="1"/>
                      <a:r>
                        <a:rPr lang="ko-KR" altLang="en-US" sz="9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부채규모</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nchor="ctr"/>
                    <a:lstStyle/>
                    <a:p>
                      <a:pPr algn="ctr" latinLnBrk="1"/>
                      <a:r>
                        <a:rPr lang="en-US" altLang="ko-KR" sz="9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LTV</a:t>
                      </a:r>
                      <a:endParaRPr lang="ko-KR" altLang="en-US" sz="9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59080">
                <a:tc>
                  <a:txBody>
                    <a:bodyPr anchor="ct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현재</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rgbClr val="F2F2F2"/>
                    </a:solidFill>
                  </a:tcPr>
                </a:tc>
                <a:tc>
                  <a:txBody>
                    <a:bodyPr anchor="ctr"/>
                    <a:lstStyle/>
                    <a:p>
                      <a:pPr marL="0" marR="0" lvl="0" indent="0" algn="r" defTabSz="1007943"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조 </a:t>
                      </a: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6,789</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bg1"/>
                    </a:solidFill>
                  </a:tcPr>
                </a:tc>
                <a:tc>
                  <a:txBody>
                    <a:bodyPr anchor="ctr"/>
                    <a:lstStyle/>
                    <a:p>
                      <a:pPr marL="0" marR="0" lvl="0" indent="0" algn="r" defTabSz="1007943"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8,204</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bg1"/>
                    </a:solidFill>
                  </a:tcPr>
                </a:tc>
                <a:tc>
                  <a:txBody>
                    <a:bodyPr anchor="ctr"/>
                    <a:lstStyle/>
                    <a:p>
                      <a:pPr marL="0" marR="0" lvl="0" indent="0" algn="r" defTabSz="1007943"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48.9%</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bg1"/>
                    </a:solidFill>
                  </a:tcPr>
                </a:tc>
                <a:extLst>
                  <a:ext uri="{0D108BD9-81ED-4DB2-BD59-A6C34878D82A}">
                    <a16:rowId xmlns:a16="http://schemas.microsoft.com/office/drawing/2014/main" val="1274426981"/>
                  </a:ext>
                </a:extLst>
              </a:tr>
              <a:tr h="259080">
                <a:tc>
                  <a:txBody>
                    <a:bodyPr anchor="ct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투자후</a:t>
                      </a:r>
                      <a:endPar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19050" cap="flat" cmpd="sng" algn="ctr">
                      <a:solidFill>
                        <a:srgbClr val="C00000"/>
                      </a:solidFill>
                      <a:prstDash val="solid"/>
                      <a:round/>
                      <a:headEnd type="none" w="med" len="med"/>
                      <a:tailEnd type="none" w="med" len="med"/>
                    </a:lnL>
                    <a:lnR w="3175" cap="flat" cmpd="sng" algn="ctr">
                      <a:solidFill>
                        <a:schemeClr val="tx1"/>
                      </a:solidFill>
                      <a:prstDash val="solid"/>
                      <a:round/>
                      <a:headEnd type="none" w="med" len="med"/>
                      <a:tailEnd type="none" w="med" len="med"/>
                    </a:lnR>
                    <a:lnT w="19050" cap="flat" cmpd="sng" algn="ctr">
                      <a:solidFill>
                        <a:srgbClr val="C00000"/>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accent1">
                        <a:lumMod val="40000"/>
                        <a:lumOff val="60000"/>
                      </a:schemeClr>
                    </a:solidFill>
                  </a:tcPr>
                </a:tc>
                <a:tc>
                  <a:txBody>
                    <a:bodyPr anchor="ctr"/>
                    <a:lstStyle/>
                    <a:p>
                      <a:pPr marL="0" marR="0" lvl="0" indent="0" algn="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kumimoji="0" lang="ko-KR" altLang="en-US"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조 </a:t>
                      </a:r>
                      <a:r>
                        <a:rPr kumimoji="0" lang="en-US" altLang="ko-KR"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7,677</a:t>
                      </a:r>
                      <a:r>
                        <a:rPr kumimoji="0" lang="ko-KR" altLang="en-US"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9050" cap="flat" cmpd="sng" algn="ctr">
                      <a:solidFill>
                        <a:srgbClr val="C00000"/>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accent1">
                        <a:lumMod val="40000"/>
                        <a:lumOff val="60000"/>
                      </a:schemeClr>
                    </a:solidFill>
                  </a:tcPr>
                </a:tc>
                <a:tc>
                  <a:txBody>
                    <a:bodyPr anchor="ctr"/>
                    <a:lstStyle/>
                    <a:p>
                      <a:pPr marL="0" marR="0" lvl="0" indent="0" algn="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9,092</a:t>
                      </a:r>
                      <a:r>
                        <a:rPr kumimoji="0" lang="ko-KR" altLang="en-US"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9050" cap="flat" cmpd="sng" algn="ctr">
                      <a:solidFill>
                        <a:srgbClr val="C00000"/>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accent1">
                        <a:lumMod val="40000"/>
                        <a:lumOff val="60000"/>
                      </a:schemeClr>
                    </a:solidFill>
                  </a:tcPr>
                </a:tc>
                <a:tc>
                  <a:txBody>
                    <a:bodyPr anchor="ctr"/>
                    <a:lstStyle/>
                    <a:p>
                      <a:pPr marL="0" marR="0" lvl="0" indent="0" algn="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51.4%</a:t>
                      </a: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9050" cap="flat" cmpd="sng" algn="ctr">
                      <a:solidFill>
                        <a:srgbClr val="C00000"/>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2141600960"/>
                  </a:ext>
                </a:extLst>
              </a:tr>
            </a:tbl>
          </a:graphicData>
        </a:graphic>
      </p:graphicFrame>
      <p:sp>
        <p:nvSpPr>
          <p:cNvPr id="49" name="TextBox 48">
            <a:extLst>
              <a:ext uri="{FF2B5EF4-FFF2-40B4-BE49-F238E27FC236}">
                <a16:creationId xmlns:a16="http://schemas.microsoft.com/office/drawing/2014/main" id="{8F11CC3A-3079-1BD9-DA0F-F1A832D4002E}"/>
              </a:ext>
            </a:extLst>
          </p:cNvPr>
          <p:cNvSpPr txBox="1"/>
          <p:nvPr/>
        </p:nvSpPr>
        <p:spPr>
          <a:xfrm>
            <a:off x="197334" y="6408129"/>
            <a:ext cx="3651570" cy="707886"/>
          </a:xfrm>
          <a:prstGeom prst="rect">
            <a:avLst/>
          </a:prstGeom>
          <a:noFill/>
        </p:spPr>
        <p:txBody>
          <a:bodyPr wrap="square" rtlCol="0" anchor="ctr">
            <a:spAutoFit/>
          </a:bodyPr>
          <a:lstStyle/>
          <a:p>
            <a:pPr marR="0" lvl="0" algn="l" defTabSz="457200" rtl="0" eaLnBrk="1" fontAlgn="auto" latinLnBrk="0" hangingPunct="1">
              <a:lnSpc>
                <a:spcPct val="100000"/>
              </a:lnSpc>
              <a:spcBef>
                <a:spcPts val="0"/>
              </a:spcBef>
              <a:spcAft>
                <a:spcPts val="0"/>
              </a:spcAft>
              <a:buClrTx/>
              <a:buSzTx/>
              <a:tabLst/>
              <a:defRPr/>
            </a:pP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부동산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경일감정평가법인 담보감정평가</a:t>
            </a:r>
            <a:r>
              <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(’25.05) </a:t>
            </a: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반영</a:t>
            </a:r>
            <a:endPar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R="0" lvl="0" algn="l" defTabSz="457200" rtl="0" eaLnBrk="1" fontAlgn="auto" latinLnBrk="0" hangingPunct="1">
              <a:lnSpc>
                <a:spcPct val="100000"/>
              </a:lnSpc>
              <a:spcBef>
                <a:spcPts val="0"/>
              </a:spcBef>
              <a:spcAft>
                <a:spcPts val="0"/>
              </a:spcAft>
              <a:buClrTx/>
              <a:buSzTx/>
              <a:tabLst/>
              <a:defRPr/>
            </a:pP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보유지분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NICE</a:t>
            </a:r>
            <a:r>
              <a:rPr lang="ko-KR" altLang="en-US" sz="800" dirty="0" err="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피앤아이</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공정가치평가</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(’26.05)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반영</a:t>
            </a:r>
            <a:endPar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R="0" lvl="0" algn="l" defTabSz="457200" rtl="0" eaLnBrk="1" fontAlgn="auto" latinLnBrk="0" hangingPunct="1">
              <a:lnSpc>
                <a:spcPct val="100000"/>
              </a:lnSpc>
              <a:spcBef>
                <a:spcPts val="0"/>
              </a:spcBef>
              <a:spcAft>
                <a:spcPts val="0"/>
              </a:spcAft>
              <a:buClrTx/>
              <a:buSzTx/>
              <a:tabLst/>
              <a:defRPr/>
            </a:pP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현금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보유 현금 및 현금성자산 잔액 반영</a:t>
            </a:r>
            <a:endPar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R="0" lvl="0" algn="l" defTabSz="457200" rtl="0" eaLnBrk="1" fontAlgn="auto" latinLnBrk="0" hangingPunct="1">
              <a:lnSpc>
                <a:spcPct val="100000"/>
              </a:lnSpc>
              <a:spcBef>
                <a:spcPts val="0"/>
              </a:spcBef>
              <a:spcAft>
                <a:spcPts val="0"/>
              </a:spcAft>
              <a:buClrTx/>
              <a:buSzTx/>
              <a:tabLst/>
              <a:defRPr/>
            </a:pPr>
            <a:r>
              <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p>
            <a:pPr marL="228600" marR="0" lvl="0" indent="-228600" algn="l" defTabSz="457200" rtl="0" eaLnBrk="1" fontAlgn="auto" latinLnBrk="0" hangingPunct="1">
              <a:lnSpc>
                <a:spcPct val="100000"/>
              </a:lnSpc>
              <a:spcBef>
                <a:spcPts val="0"/>
              </a:spcBef>
              <a:spcAft>
                <a:spcPts val="0"/>
              </a:spcAft>
              <a:buClrTx/>
              <a:buSzTx/>
              <a:buAutoNum type="arabicParenR"/>
              <a:tabLst/>
              <a:defRPr/>
            </a:pPr>
            <a:endPar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63" name="그룹 62">
            <a:extLst>
              <a:ext uri="{FF2B5EF4-FFF2-40B4-BE49-F238E27FC236}">
                <a16:creationId xmlns:a16="http://schemas.microsoft.com/office/drawing/2014/main" id="{D46CFE6E-CA58-F564-A0A1-60BCC7BF830D}"/>
              </a:ext>
            </a:extLst>
          </p:cNvPr>
          <p:cNvGrpSpPr/>
          <p:nvPr/>
        </p:nvGrpSpPr>
        <p:grpSpPr>
          <a:xfrm>
            <a:off x="5557966" y="3893715"/>
            <a:ext cx="1584171" cy="2802445"/>
            <a:chOff x="4454724" y="3648260"/>
            <a:chExt cx="1323230" cy="1659622"/>
          </a:xfrm>
        </p:grpSpPr>
        <p:sp>
          <p:nvSpPr>
            <p:cNvPr id="57" name="직사각형 56">
              <a:extLst>
                <a:ext uri="{FF2B5EF4-FFF2-40B4-BE49-F238E27FC236}">
                  <a16:creationId xmlns:a16="http://schemas.microsoft.com/office/drawing/2014/main" id="{BE1B7C5D-323D-74B0-2F42-F9FD07BE7956}"/>
                </a:ext>
              </a:extLst>
            </p:cNvPr>
            <p:cNvSpPr/>
            <p:nvPr/>
          </p:nvSpPr>
          <p:spPr>
            <a:xfrm>
              <a:off x="4454724" y="3648260"/>
              <a:ext cx="1323230" cy="1659622"/>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61" name="그림 60">
              <a:extLst>
                <a:ext uri="{FF2B5EF4-FFF2-40B4-BE49-F238E27FC236}">
                  <a16:creationId xmlns:a16="http://schemas.microsoft.com/office/drawing/2014/main" id="{39E395A4-35B5-951A-B7ED-2732B1992C1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36428" y="3705210"/>
              <a:ext cx="1186375" cy="667336"/>
            </a:xfrm>
            <a:prstGeom prst="rect">
              <a:avLst/>
            </a:prstGeom>
          </p:spPr>
        </p:pic>
      </p:grpSp>
      <p:sp>
        <p:nvSpPr>
          <p:cNvPr id="64" name="TextBox 63">
            <a:extLst>
              <a:ext uri="{FF2B5EF4-FFF2-40B4-BE49-F238E27FC236}">
                <a16:creationId xmlns:a16="http://schemas.microsoft.com/office/drawing/2014/main" id="{152A55F9-473C-0D8E-3548-1283FC1A19D1}"/>
              </a:ext>
            </a:extLst>
          </p:cNvPr>
          <p:cNvSpPr txBox="1"/>
          <p:nvPr/>
        </p:nvSpPr>
        <p:spPr>
          <a:xfrm>
            <a:off x="5542800" y="3487844"/>
            <a:ext cx="1584169" cy="438582"/>
          </a:xfrm>
          <a:prstGeom prst="rect">
            <a:avLst/>
          </a:prstGeom>
          <a:noFill/>
        </p:spPr>
        <p:txBody>
          <a:bodyPr wrap="square" rtlCol="0" anchor="ctr">
            <a:spAutoFit/>
          </a:bodyPr>
          <a:lstStyle/>
          <a:p>
            <a:r>
              <a:rPr lang="ko-KR" altLang="en-US" sz="9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배당수익률</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6.3%</a:t>
            </a:r>
          </a:p>
          <a:p>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실물</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 </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개</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graphicFrame>
        <p:nvGraphicFramePr>
          <p:cNvPr id="66" name="표 65">
            <a:extLst>
              <a:ext uri="{FF2B5EF4-FFF2-40B4-BE49-F238E27FC236}">
                <a16:creationId xmlns:a16="http://schemas.microsoft.com/office/drawing/2014/main" id="{B23ABA8A-2951-8341-33F8-5AE1565D31B4}"/>
              </a:ext>
            </a:extLst>
          </p:cNvPr>
          <p:cNvGraphicFramePr>
            <a:graphicFrameLocks noGrp="1"/>
          </p:cNvGraphicFramePr>
          <p:nvPr/>
        </p:nvGraphicFramePr>
        <p:xfrm>
          <a:off x="5644321" y="5143703"/>
          <a:ext cx="1450618" cy="1409488"/>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nchor="ct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nchor="ct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38732575"/>
                  </a:ext>
                </a:extLst>
              </a:tr>
              <a:tr h="176186">
                <a:tc>
                  <a:txBody>
                    <a:bodyPr anchor="ct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섹터</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Logistics</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nchor="ct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3,476</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067187409"/>
                  </a:ext>
                </a:extLst>
              </a:tr>
              <a:tr h="176186">
                <a:tc>
                  <a:txBody>
                    <a:bodyPr anchor="ct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감정가액</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3,521</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19968398"/>
                  </a:ext>
                </a:extLst>
              </a:tr>
              <a:tr h="176186">
                <a:tc>
                  <a:txBody>
                    <a:bodyPr anchor="ct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비중</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25.7%</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5657658"/>
                  </a:ext>
                </a:extLst>
              </a:tr>
              <a:tr h="176186">
                <a:tc>
                  <a:txBody>
                    <a:bodyPr anchor="ct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LTV</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205</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27697566"/>
                  </a:ext>
                </a:extLst>
              </a:tr>
              <a:tr h="176186">
                <a:tc>
                  <a:txBody>
                    <a:bodyPr anchor="ctr"/>
                    <a:lstStyle/>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NOI yield</a:t>
                      </a:r>
                      <a:endParaRPr lang="ko-KR"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algn="ctr" fontAlgn="ctr">
                        <a:buNone/>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5.7%</a:t>
                      </a:r>
                      <a:endParaRPr 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97442114"/>
                  </a:ext>
                </a:extLst>
              </a:tr>
              <a:tr h="176186">
                <a:tc>
                  <a:txBody>
                    <a:bodyPr anchor="ct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배당기여도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44.5%</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78713805"/>
                  </a:ext>
                </a:extLst>
              </a:tr>
            </a:tbl>
          </a:graphicData>
        </a:graphic>
      </p:graphicFrame>
      <p:sp>
        <p:nvSpPr>
          <p:cNvPr id="68" name="직사각형 67">
            <a:extLst>
              <a:ext uri="{FF2B5EF4-FFF2-40B4-BE49-F238E27FC236}">
                <a16:creationId xmlns:a16="http://schemas.microsoft.com/office/drawing/2014/main" id="{4A5C4048-11D8-C9DB-7354-6BDA4EB2D364}"/>
              </a:ext>
            </a:extLst>
          </p:cNvPr>
          <p:cNvSpPr/>
          <p:nvPr/>
        </p:nvSpPr>
        <p:spPr>
          <a:xfrm>
            <a:off x="3812900" y="3893716"/>
            <a:ext cx="1584171" cy="280244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0" name="TextBox 69">
            <a:extLst>
              <a:ext uri="{FF2B5EF4-FFF2-40B4-BE49-F238E27FC236}">
                <a16:creationId xmlns:a16="http://schemas.microsoft.com/office/drawing/2014/main" id="{7B6A6713-495B-2217-73B7-77B63BCB1F10}"/>
              </a:ext>
            </a:extLst>
          </p:cNvPr>
          <p:cNvSpPr txBox="1"/>
          <p:nvPr/>
        </p:nvSpPr>
        <p:spPr>
          <a:xfrm>
            <a:off x="3797734" y="3487844"/>
            <a:ext cx="1584169" cy="438582"/>
          </a:xfrm>
          <a:prstGeom prst="rect">
            <a:avLst/>
          </a:prstGeom>
          <a:noFill/>
        </p:spPr>
        <p:txBody>
          <a:bodyPr wrap="square" rtlCol="0" anchor="ctr">
            <a:spAutoFit/>
          </a:bodyPr>
          <a:lstStyle/>
          <a:p>
            <a:r>
              <a:rPr lang="ko-KR" altLang="en-US" sz="9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배당수익률</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5.4%</a:t>
            </a:r>
          </a:p>
          <a:p>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실물</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주유소 등 </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140</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개</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graphicFrame>
        <p:nvGraphicFramePr>
          <p:cNvPr id="71" name="표 70">
            <a:extLst>
              <a:ext uri="{FF2B5EF4-FFF2-40B4-BE49-F238E27FC236}">
                <a16:creationId xmlns:a16="http://schemas.microsoft.com/office/drawing/2014/main" id="{147F82C0-6B2B-A9A6-A0DB-E96CD8B36553}"/>
              </a:ext>
            </a:extLst>
          </p:cNvPr>
          <p:cNvGraphicFramePr>
            <a:graphicFrameLocks noGrp="1"/>
          </p:cNvGraphicFramePr>
          <p:nvPr/>
        </p:nvGraphicFramePr>
        <p:xfrm>
          <a:off x="3910716" y="5143703"/>
          <a:ext cx="1450618" cy="1409488"/>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nchor="ct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nchor="ct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38732575"/>
                  </a:ext>
                </a:extLst>
              </a:tr>
              <a:tr h="176186">
                <a:tc>
                  <a:txBody>
                    <a:bodyPr anchor="ct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섹터</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Energy+</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nchor="ct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7,640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94062689"/>
                  </a:ext>
                </a:extLst>
              </a:tr>
              <a:tr h="176186">
                <a:tc>
                  <a:txBody>
                    <a:bodyPr anchor="ct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감정가액</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조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307</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19968398"/>
                  </a:ext>
                </a:extLst>
              </a:tr>
              <a:tr h="176186">
                <a:tc>
                  <a:txBody>
                    <a:bodyPr anchor="ct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비중</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56.6%</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84252371"/>
                  </a:ext>
                </a:extLst>
              </a:tr>
              <a:tr h="176186">
                <a:tc>
                  <a:txBody>
                    <a:bodyPr anchor="ct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LTV</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27697566"/>
                  </a:ext>
                </a:extLst>
              </a:tr>
              <a:tr h="176186">
                <a:tc>
                  <a:txBody>
                    <a:bodyPr anchor="ctr"/>
                    <a:lstStyle/>
                    <a:p>
                      <a:pPr algn="ctr" fontAlgn="ctr">
                        <a:buNone/>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NOI yield</a:t>
                      </a:r>
                      <a:endParaRPr 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algn="ctr" fontAlgn="ctr">
                        <a:buNone/>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4.3%</a:t>
                      </a:r>
                      <a:endParaRPr 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21530005"/>
                  </a:ext>
                </a:extLst>
              </a:tr>
              <a:tr h="176186">
                <a:tc>
                  <a:txBody>
                    <a:bodyPr anchor="ct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배당기여도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10.9%</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993554"/>
                  </a:ext>
                </a:extLst>
              </a:tr>
            </a:tbl>
          </a:graphicData>
        </a:graphic>
      </p:graphicFrame>
      <p:sp>
        <p:nvSpPr>
          <p:cNvPr id="73" name="직사각형 72">
            <a:extLst>
              <a:ext uri="{FF2B5EF4-FFF2-40B4-BE49-F238E27FC236}">
                <a16:creationId xmlns:a16="http://schemas.microsoft.com/office/drawing/2014/main" id="{D513EFFB-C67F-8F50-07EC-43DDBD21E050}"/>
              </a:ext>
            </a:extLst>
          </p:cNvPr>
          <p:cNvSpPr/>
          <p:nvPr/>
        </p:nvSpPr>
        <p:spPr>
          <a:xfrm>
            <a:off x="7269284" y="3893716"/>
            <a:ext cx="1584171" cy="280244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5" name="TextBox 74">
            <a:extLst>
              <a:ext uri="{FF2B5EF4-FFF2-40B4-BE49-F238E27FC236}">
                <a16:creationId xmlns:a16="http://schemas.microsoft.com/office/drawing/2014/main" id="{5AC6B3E0-3A48-7D1B-6784-D87ACCDBEFA7}"/>
              </a:ext>
            </a:extLst>
          </p:cNvPr>
          <p:cNvSpPr txBox="1"/>
          <p:nvPr/>
        </p:nvSpPr>
        <p:spPr>
          <a:xfrm>
            <a:off x="7254118" y="3487844"/>
            <a:ext cx="1584169" cy="438582"/>
          </a:xfrm>
          <a:prstGeom prst="rect">
            <a:avLst/>
          </a:prstGeom>
          <a:noFill/>
        </p:spPr>
        <p:txBody>
          <a:bodyPr wrap="square" rtlCol="0" anchor="ctr">
            <a:spAutoFit/>
          </a:bodyPr>
          <a:lstStyle/>
          <a:p>
            <a:r>
              <a:rPr lang="ko-KR" altLang="en-US" sz="9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배당수익률</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7.8%</a:t>
            </a:r>
          </a:p>
          <a:p>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지분증권</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우선주 </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개</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graphicFrame>
        <p:nvGraphicFramePr>
          <p:cNvPr id="76" name="표 75">
            <a:extLst>
              <a:ext uri="{FF2B5EF4-FFF2-40B4-BE49-F238E27FC236}">
                <a16:creationId xmlns:a16="http://schemas.microsoft.com/office/drawing/2014/main" id="{F4DB2166-E861-F34B-ACE5-99C31F853963}"/>
              </a:ext>
            </a:extLst>
          </p:cNvPr>
          <p:cNvGraphicFramePr>
            <a:graphicFrameLocks noGrp="1"/>
          </p:cNvGraphicFramePr>
          <p:nvPr/>
        </p:nvGraphicFramePr>
        <p:xfrm>
          <a:off x="7351955" y="5143703"/>
          <a:ext cx="1450618" cy="1409488"/>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nchor="ct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nchor="ct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38732575"/>
                  </a:ext>
                </a:extLst>
              </a:tr>
              <a:tr h="176186">
                <a:tc>
                  <a:txBody>
                    <a:bodyPr anchor="ct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섹터</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Equity</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nchor="ct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1,849</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98231724"/>
                  </a:ext>
                </a:extLst>
              </a:tr>
              <a:tr h="176186">
                <a:tc>
                  <a:txBody>
                    <a:bodyPr anchor="ct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감정가액</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1,849</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19968398"/>
                  </a:ext>
                </a:extLst>
              </a:tr>
              <a:tr h="176186">
                <a:tc>
                  <a:txBody>
                    <a:bodyPr anchor="ct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비중</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13.7%</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79115573"/>
                  </a:ext>
                </a:extLst>
              </a:tr>
              <a:tr h="176186">
                <a:tc>
                  <a:txBody>
                    <a:bodyPr anchor="ct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LTV</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205</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27697566"/>
                  </a:ext>
                </a:extLst>
              </a:tr>
              <a:tr h="176186">
                <a:tc>
                  <a:txBody>
                    <a:bodyPr anchor="ctr"/>
                    <a:lstStyle/>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NOI yield</a:t>
                      </a:r>
                      <a:endParaRPr lang="ko-KR"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algn="ctr" fontAlgn="ctr">
                        <a:buNone/>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a:t>
                      </a:r>
                      <a:endParaRPr 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81260679"/>
                  </a:ext>
                </a:extLst>
              </a:tr>
              <a:tr h="176186">
                <a:tc>
                  <a:txBody>
                    <a:bodyPr anchor="ct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배당기여도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34.0%</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44292517"/>
                  </a:ext>
                </a:extLst>
              </a:tr>
            </a:tbl>
          </a:graphicData>
        </a:graphic>
      </p:graphicFrame>
      <p:sp>
        <p:nvSpPr>
          <p:cNvPr id="79" name="직사각형 78">
            <a:extLst>
              <a:ext uri="{FF2B5EF4-FFF2-40B4-BE49-F238E27FC236}">
                <a16:creationId xmlns:a16="http://schemas.microsoft.com/office/drawing/2014/main" id="{E8848C6A-B31D-B07B-6A0B-F2F1B3F9FD89}"/>
              </a:ext>
            </a:extLst>
          </p:cNvPr>
          <p:cNvSpPr/>
          <p:nvPr/>
        </p:nvSpPr>
        <p:spPr>
          <a:xfrm>
            <a:off x="8961472" y="3893716"/>
            <a:ext cx="1584171" cy="280244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1" name="TextBox 80">
            <a:extLst>
              <a:ext uri="{FF2B5EF4-FFF2-40B4-BE49-F238E27FC236}">
                <a16:creationId xmlns:a16="http://schemas.microsoft.com/office/drawing/2014/main" id="{9B9BB9B4-A8A9-CF0A-F499-8EEE0599E898}"/>
              </a:ext>
            </a:extLst>
          </p:cNvPr>
          <p:cNvSpPr txBox="1"/>
          <p:nvPr/>
        </p:nvSpPr>
        <p:spPr>
          <a:xfrm>
            <a:off x="8946306" y="3487844"/>
            <a:ext cx="1584169" cy="438582"/>
          </a:xfrm>
          <a:prstGeom prst="rect">
            <a:avLst/>
          </a:prstGeom>
          <a:noFill/>
        </p:spPr>
        <p:txBody>
          <a:bodyPr wrap="square" rtlCol="0" anchor="ctr">
            <a:spAutoFit/>
          </a:bodyPr>
          <a:lstStyle/>
          <a:p>
            <a:r>
              <a:rPr lang="ko-KR" altLang="en-US" sz="9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배당수익률</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13.7%</a:t>
            </a:r>
          </a:p>
          <a:p>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실물</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호텔 </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개</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graphicFrame>
        <p:nvGraphicFramePr>
          <p:cNvPr id="82" name="표 81">
            <a:extLst>
              <a:ext uri="{FF2B5EF4-FFF2-40B4-BE49-F238E27FC236}">
                <a16:creationId xmlns:a16="http://schemas.microsoft.com/office/drawing/2014/main" id="{A7C81002-929E-E161-7BCC-2EEC47CBC281}"/>
              </a:ext>
            </a:extLst>
          </p:cNvPr>
          <p:cNvGraphicFramePr>
            <a:graphicFrameLocks noGrp="1"/>
          </p:cNvGraphicFramePr>
          <p:nvPr/>
        </p:nvGraphicFramePr>
        <p:xfrm>
          <a:off x="9044143" y="5143703"/>
          <a:ext cx="1450618" cy="1409488"/>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nchor="ct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nchor="ct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38732575"/>
                  </a:ext>
                </a:extLst>
              </a:tr>
              <a:tr h="176186">
                <a:tc>
                  <a:txBody>
                    <a:bodyPr anchor="ct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섹터</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Hotel</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nchor="ct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537</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70089254"/>
                  </a:ext>
                </a:extLst>
              </a:tr>
              <a:tr h="176186">
                <a:tc>
                  <a:txBody>
                    <a:bodyPr anchor="ct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감정가액</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516</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19968398"/>
                  </a:ext>
                </a:extLst>
              </a:tr>
              <a:tr h="176186">
                <a:tc>
                  <a:txBody>
                    <a:bodyPr anchor="ct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비중</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79115573"/>
                  </a:ext>
                </a:extLst>
              </a:tr>
              <a:tr h="176186">
                <a:tc>
                  <a:txBody>
                    <a:bodyPr anchor="ct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LTV</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205</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27697566"/>
                  </a:ext>
                </a:extLst>
              </a:tr>
              <a:tr h="176186">
                <a:tc>
                  <a:txBody>
                    <a:bodyPr anchor="ctr"/>
                    <a:lstStyle/>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NOI yield</a:t>
                      </a:r>
                      <a:endParaRPr lang="ko-KR"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algn="ctr" fontAlgn="ctr">
                        <a:buNone/>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8.0%</a:t>
                      </a:r>
                      <a:endParaRPr 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27803996"/>
                  </a:ext>
                </a:extLst>
              </a:tr>
              <a:tr h="176186">
                <a:tc>
                  <a:txBody>
                    <a:bodyPr anchor="ct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배당기여도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10.6%</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54121328"/>
                  </a:ext>
                </a:extLst>
              </a:tr>
            </a:tbl>
          </a:graphicData>
        </a:graphic>
      </p:graphicFrame>
      <p:grpSp>
        <p:nvGrpSpPr>
          <p:cNvPr id="2" name="그룹 1">
            <a:extLst>
              <a:ext uri="{FF2B5EF4-FFF2-40B4-BE49-F238E27FC236}">
                <a16:creationId xmlns:a16="http://schemas.microsoft.com/office/drawing/2014/main" id="{3964ACBF-7378-5EA4-E25D-FBC040E88415}"/>
              </a:ext>
            </a:extLst>
          </p:cNvPr>
          <p:cNvGrpSpPr/>
          <p:nvPr/>
        </p:nvGrpSpPr>
        <p:grpSpPr>
          <a:xfrm>
            <a:off x="4397814" y="2227704"/>
            <a:ext cx="1812188" cy="532992"/>
            <a:chOff x="7013913" y="2204738"/>
            <a:chExt cx="1899081" cy="558549"/>
          </a:xfrm>
        </p:grpSpPr>
        <p:sp>
          <p:nvSpPr>
            <p:cNvPr id="3" name="직사각형 2">
              <a:extLst>
                <a:ext uri="{FF2B5EF4-FFF2-40B4-BE49-F238E27FC236}">
                  <a16:creationId xmlns:a16="http://schemas.microsoft.com/office/drawing/2014/main" id="{270D2CF1-0920-C8A2-5655-D9D54DE8C1F4}"/>
                </a:ext>
              </a:extLst>
            </p:cNvPr>
            <p:cNvSpPr/>
            <p:nvPr/>
          </p:nvSpPr>
          <p:spPr>
            <a:xfrm>
              <a:off x="7013913" y="2204738"/>
              <a:ext cx="1899081" cy="55854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5" name="그림 4">
              <a:extLst>
                <a:ext uri="{FF2B5EF4-FFF2-40B4-BE49-F238E27FC236}">
                  <a16:creationId xmlns:a16="http://schemas.microsoft.com/office/drawing/2014/main" id="{FECD334B-30B2-6113-4226-C306340A3B0A}"/>
                </a:ext>
              </a:extLst>
            </p:cNvPr>
            <p:cNvPicPr>
              <a:picLocks noChangeAspect="1"/>
            </p:cNvPicPr>
            <p:nvPr/>
          </p:nvPicPr>
          <p:blipFill>
            <a:blip r:embed="rId3"/>
            <a:stretch>
              <a:fillRect/>
            </a:stretch>
          </p:blipFill>
          <p:spPr>
            <a:xfrm>
              <a:off x="7177386" y="2261063"/>
              <a:ext cx="1597573" cy="452371"/>
            </a:xfrm>
            <a:prstGeom prst="rect">
              <a:avLst/>
            </a:prstGeom>
          </p:spPr>
        </p:pic>
      </p:grpSp>
      <p:sp>
        <p:nvSpPr>
          <p:cNvPr id="7" name="직사각형 6">
            <a:extLst>
              <a:ext uri="{FF2B5EF4-FFF2-40B4-BE49-F238E27FC236}">
                <a16:creationId xmlns:a16="http://schemas.microsoft.com/office/drawing/2014/main" id="{432BC0B3-5F73-38F0-D5FE-459A65B39E06}"/>
              </a:ext>
            </a:extLst>
          </p:cNvPr>
          <p:cNvSpPr/>
          <p:nvPr/>
        </p:nvSpPr>
        <p:spPr>
          <a:xfrm>
            <a:off x="595888" y="2962499"/>
            <a:ext cx="900084" cy="215974"/>
          </a:xfrm>
          <a:prstGeom prst="rect">
            <a:avLst/>
          </a:prstGeom>
          <a:solidFill>
            <a:schemeClr val="accent4">
              <a:lumMod val="20000"/>
              <a:lumOff val="80000"/>
            </a:schemeClr>
          </a:solidFill>
          <a:ln w="3175" cap="flat" cmpd="sng" algn="ctr">
            <a:solidFill>
              <a:sysClr val="windowText" lastClr="000000">
                <a:lumMod val="50000"/>
                <a:lumOff val="50000"/>
              </a:sysClr>
            </a:solidFill>
            <a:prstDash val="solid"/>
            <a:miter lim="800000"/>
          </a:ln>
          <a:effectLst/>
        </p:spPr>
        <p:txBody>
          <a:bodyPr lIns="108000" tIns="0" rIns="108000" bIns="0" rtlCol="0" anchor="ctr"/>
          <a:lstStyle/>
          <a:p>
            <a:pPr algn="ctr">
              <a:defRPr/>
            </a:pPr>
            <a:r>
              <a:rPr kumimoji="0" lang="ko-KR" altLang="en-US"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현금</a:t>
            </a:r>
            <a:r>
              <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900" kern="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596</a:t>
            </a:r>
            <a:r>
              <a:rPr lang="ko-KR" altLang="en-US" sz="900" kern="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ko-KR" altLang="en-US"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endParaRPr kumimoji="0" lang="en-US" altLang="ko-KR" sz="85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cxnSp>
        <p:nvCxnSpPr>
          <p:cNvPr id="20" name="연결선: 꺾임 19">
            <a:extLst>
              <a:ext uri="{FF2B5EF4-FFF2-40B4-BE49-F238E27FC236}">
                <a16:creationId xmlns:a16="http://schemas.microsoft.com/office/drawing/2014/main" id="{A19411DC-7319-1BBE-1418-4A17C59587B5}"/>
              </a:ext>
            </a:extLst>
          </p:cNvPr>
          <p:cNvCxnSpPr>
            <a:stCxn id="3" idx="2"/>
            <a:endCxn id="70" idx="0"/>
          </p:cNvCxnSpPr>
          <p:nvPr/>
        </p:nvCxnSpPr>
        <p:spPr>
          <a:xfrm rot="5400000">
            <a:off x="4583290" y="2767226"/>
            <a:ext cx="727148" cy="714089"/>
          </a:xfrm>
          <a:prstGeom prst="bent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2" name="연결선: 꺾임 21">
            <a:extLst>
              <a:ext uri="{FF2B5EF4-FFF2-40B4-BE49-F238E27FC236}">
                <a16:creationId xmlns:a16="http://schemas.microsoft.com/office/drawing/2014/main" id="{50D78131-329C-E726-36AF-1BDDE5EAA891}"/>
              </a:ext>
            </a:extLst>
          </p:cNvPr>
          <p:cNvCxnSpPr>
            <a:stCxn id="3" idx="2"/>
            <a:endCxn id="64" idx="0"/>
          </p:cNvCxnSpPr>
          <p:nvPr/>
        </p:nvCxnSpPr>
        <p:spPr>
          <a:xfrm rot="16200000" flipH="1">
            <a:off x="5455822" y="2608781"/>
            <a:ext cx="727148" cy="1030977"/>
          </a:xfrm>
          <a:prstGeom prst="bent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5" name="연결선: 꺾임 44">
            <a:extLst>
              <a:ext uri="{FF2B5EF4-FFF2-40B4-BE49-F238E27FC236}">
                <a16:creationId xmlns:a16="http://schemas.microsoft.com/office/drawing/2014/main" id="{9FC9BE6B-9554-2290-2FAB-80F511E2C781}"/>
              </a:ext>
            </a:extLst>
          </p:cNvPr>
          <p:cNvCxnSpPr>
            <a:stCxn id="3" idx="2"/>
            <a:endCxn id="75" idx="0"/>
          </p:cNvCxnSpPr>
          <p:nvPr/>
        </p:nvCxnSpPr>
        <p:spPr>
          <a:xfrm rot="16200000" flipH="1">
            <a:off x="6311481" y="1753122"/>
            <a:ext cx="727148" cy="2742295"/>
          </a:xfrm>
          <a:prstGeom prst="bent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1" name="연결선: 꺾임 50">
            <a:extLst>
              <a:ext uri="{FF2B5EF4-FFF2-40B4-BE49-F238E27FC236}">
                <a16:creationId xmlns:a16="http://schemas.microsoft.com/office/drawing/2014/main" id="{315D4024-EEF6-9C8E-15A0-2012C93A093D}"/>
              </a:ext>
            </a:extLst>
          </p:cNvPr>
          <p:cNvCxnSpPr>
            <a:stCxn id="3" idx="2"/>
            <a:endCxn id="81" idx="0"/>
          </p:cNvCxnSpPr>
          <p:nvPr/>
        </p:nvCxnSpPr>
        <p:spPr>
          <a:xfrm rot="16200000" flipH="1">
            <a:off x="7157575" y="907028"/>
            <a:ext cx="727148" cy="4434483"/>
          </a:xfrm>
          <a:prstGeom prst="bent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0B592422-CA64-8E0D-6F16-B06116EA4017}"/>
              </a:ext>
            </a:extLst>
          </p:cNvPr>
          <p:cNvSpPr txBox="1"/>
          <p:nvPr/>
        </p:nvSpPr>
        <p:spPr>
          <a:xfrm>
            <a:off x="6318021" y="2267669"/>
            <a:ext cx="1584169" cy="438582"/>
          </a:xfrm>
          <a:prstGeom prst="rect">
            <a:avLst/>
          </a:prstGeom>
          <a:noFill/>
        </p:spPr>
        <p:txBody>
          <a:bodyPr wrap="square" rtlCol="0" anchor="ctr">
            <a:spAutoFit/>
          </a:bodyPr>
          <a:lstStyle/>
          <a:p>
            <a:r>
              <a:rPr lang="ko-KR" altLang="en-US" sz="9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배당수익률</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6.3%</a:t>
            </a:r>
          </a:p>
          <a:p>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NOI Yield 5.0%</a:t>
            </a:r>
          </a:p>
        </p:txBody>
      </p:sp>
      <p:pic>
        <p:nvPicPr>
          <p:cNvPr id="55" name="그림 54">
            <a:extLst>
              <a:ext uri="{FF2B5EF4-FFF2-40B4-BE49-F238E27FC236}">
                <a16:creationId xmlns:a16="http://schemas.microsoft.com/office/drawing/2014/main" id="{FE08E2CB-3C47-150E-2A7D-3FDFB1453D2C}"/>
              </a:ext>
            </a:extLst>
          </p:cNvPr>
          <p:cNvPicPr>
            <a:picLocks noChangeAspect="1"/>
          </p:cNvPicPr>
          <p:nvPr/>
        </p:nvPicPr>
        <p:blipFill>
          <a:blip r:embed="rId4"/>
          <a:stretch>
            <a:fillRect/>
          </a:stretch>
        </p:blipFill>
        <p:spPr>
          <a:xfrm>
            <a:off x="3900499" y="3995861"/>
            <a:ext cx="1460272" cy="1116408"/>
          </a:xfrm>
          <a:prstGeom prst="rect">
            <a:avLst/>
          </a:prstGeom>
        </p:spPr>
      </p:pic>
      <p:pic>
        <p:nvPicPr>
          <p:cNvPr id="58" name="그림 57">
            <a:extLst>
              <a:ext uri="{FF2B5EF4-FFF2-40B4-BE49-F238E27FC236}">
                <a16:creationId xmlns:a16="http://schemas.microsoft.com/office/drawing/2014/main" id="{36D42D0E-5E2C-B048-5B15-E99A9191CD5D}"/>
              </a:ext>
            </a:extLst>
          </p:cNvPr>
          <p:cNvPicPr>
            <a:picLocks noChangeAspect="1"/>
          </p:cNvPicPr>
          <p:nvPr/>
        </p:nvPicPr>
        <p:blipFill>
          <a:blip r:embed="rId5"/>
          <a:stretch>
            <a:fillRect/>
          </a:stretch>
        </p:blipFill>
        <p:spPr>
          <a:xfrm>
            <a:off x="9306346" y="3989881"/>
            <a:ext cx="936385" cy="1122388"/>
          </a:xfrm>
          <a:prstGeom prst="rect">
            <a:avLst/>
          </a:prstGeom>
        </p:spPr>
      </p:pic>
      <p:pic>
        <p:nvPicPr>
          <p:cNvPr id="88" name="그림 87">
            <a:extLst>
              <a:ext uri="{FF2B5EF4-FFF2-40B4-BE49-F238E27FC236}">
                <a16:creationId xmlns:a16="http://schemas.microsoft.com/office/drawing/2014/main" id="{F7F33B2E-DC81-2A4D-F41C-1889E14D678A}"/>
              </a:ext>
            </a:extLst>
          </p:cNvPr>
          <p:cNvPicPr>
            <a:picLocks noChangeAspect="1"/>
          </p:cNvPicPr>
          <p:nvPr/>
        </p:nvPicPr>
        <p:blipFill>
          <a:blip r:embed="rId6"/>
          <a:stretch>
            <a:fillRect/>
          </a:stretch>
        </p:blipFill>
        <p:spPr>
          <a:xfrm>
            <a:off x="7351955" y="3989882"/>
            <a:ext cx="1090295" cy="1086828"/>
          </a:xfrm>
          <a:prstGeom prst="rect">
            <a:avLst/>
          </a:prstGeom>
        </p:spPr>
      </p:pic>
      <p:pic>
        <p:nvPicPr>
          <p:cNvPr id="65" name="그림 64">
            <a:extLst>
              <a:ext uri="{FF2B5EF4-FFF2-40B4-BE49-F238E27FC236}">
                <a16:creationId xmlns:a16="http://schemas.microsoft.com/office/drawing/2014/main" id="{031D39ED-8B52-C52A-668E-01B70344BBE2}"/>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802995" y="4803210"/>
            <a:ext cx="991177" cy="236767"/>
          </a:xfrm>
          <a:prstGeom prst="rect">
            <a:avLst/>
          </a:prstGeom>
          <a:extLst>
            <a:ext uri="{909E8E84-426E-40DD-AFC4-6F175D3DCCD1}">
              <a14:hiddenFill xmlns:a14="http://schemas.microsoft.com/office/drawing/2010/main">
                <a:solidFill>
                  <a:srgbClr val="FFFFFF"/>
                </a:solidFill>
              </a14:hiddenFill>
            </a:ext>
          </a:extLst>
        </p:spPr>
      </p:pic>
      <p:grpSp>
        <p:nvGrpSpPr>
          <p:cNvPr id="6" name="그룹 5">
            <a:extLst>
              <a:ext uri="{FF2B5EF4-FFF2-40B4-BE49-F238E27FC236}">
                <a16:creationId xmlns:a16="http://schemas.microsoft.com/office/drawing/2014/main" id="{7BF4082B-CF47-5014-06F1-2322F7A1DC00}"/>
              </a:ext>
            </a:extLst>
          </p:cNvPr>
          <p:cNvGrpSpPr/>
          <p:nvPr/>
        </p:nvGrpSpPr>
        <p:grpSpPr>
          <a:xfrm>
            <a:off x="458887" y="1987916"/>
            <a:ext cx="9783663" cy="247712"/>
            <a:chOff x="417444" y="1605420"/>
            <a:chExt cx="8983731" cy="247712"/>
          </a:xfrm>
        </p:grpSpPr>
        <p:sp>
          <p:nvSpPr>
            <p:cNvPr id="18" name="직사각형 17">
              <a:extLst>
                <a:ext uri="{FF2B5EF4-FFF2-40B4-BE49-F238E27FC236}">
                  <a16:creationId xmlns:a16="http://schemas.microsoft.com/office/drawing/2014/main" id="{AD891C13-E209-80E9-AEF8-05E42B0AEEDD}"/>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9" name="직선 연결선 18">
              <a:extLst>
                <a:ext uri="{FF2B5EF4-FFF2-40B4-BE49-F238E27FC236}">
                  <a16:creationId xmlns:a16="http://schemas.microsoft.com/office/drawing/2014/main" id="{FE636F42-B46C-D6A0-771B-3DAEA76FA707}"/>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1" name="자유형 29">
              <a:extLst>
                <a:ext uri="{FF2B5EF4-FFF2-40B4-BE49-F238E27FC236}">
                  <a16:creationId xmlns:a16="http://schemas.microsoft.com/office/drawing/2014/main" id="{585E230F-D277-34B6-7A4A-27F568F60DE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3" name="자유형 30">
              <a:extLst>
                <a:ext uri="{FF2B5EF4-FFF2-40B4-BE49-F238E27FC236}">
                  <a16:creationId xmlns:a16="http://schemas.microsoft.com/office/drawing/2014/main" id="{02A6C60F-29CB-6300-ADEE-538BE2C0D357}"/>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0" name="TextBox 49">
              <a:extLst>
                <a:ext uri="{FF2B5EF4-FFF2-40B4-BE49-F238E27FC236}">
                  <a16:creationId xmlns:a16="http://schemas.microsoft.com/office/drawing/2014/main" id="{672934A9-8503-17E2-44F3-B606B72BC228}"/>
                </a:ext>
              </a:extLst>
            </p:cNvPr>
            <p:cNvSpPr txBox="1"/>
            <p:nvPr/>
          </p:nvSpPr>
          <p:spPr>
            <a:xfrm>
              <a:off x="417444" y="1652332"/>
              <a:ext cx="1455295"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err="1">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모리츠</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투자 및 자산구성 현황</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54" name="TextBox 53">
            <a:extLst>
              <a:ext uri="{FF2B5EF4-FFF2-40B4-BE49-F238E27FC236}">
                <a16:creationId xmlns:a16="http://schemas.microsoft.com/office/drawing/2014/main" id="{4966143C-CB9D-763B-3258-29B706731722}"/>
              </a:ext>
            </a:extLst>
          </p:cNvPr>
          <p:cNvSpPr txBox="1"/>
          <p:nvPr/>
        </p:nvSpPr>
        <p:spPr>
          <a:xfrm>
            <a:off x="283368" y="1040097"/>
            <a:ext cx="10152063" cy="705766"/>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lvl="0" indent="-216000">
              <a:defRPr/>
            </a:pP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는 약 </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1.68</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조 가치의 포트폴리오를 운용 중이며 유휴 </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를 활용하여 약 </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개년 간 단계적으로 신구 투자 계획</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lvl="0" indent="179388">
              <a:buNone/>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건 투자 포함 시 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1.77</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조 가치규모</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담보 감정가 기준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LTV</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는 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51.4%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수준으로 유휴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LTV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중 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2.5%</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를 활용 예정임</a:t>
            </a:r>
            <a:endParaRPr kumimoji="0" lang="ko-KR" altLang="en-US" sz="12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59" name="TextBox 58">
            <a:extLst>
              <a:ext uri="{FF2B5EF4-FFF2-40B4-BE49-F238E27FC236}">
                <a16:creationId xmlns:a16="http://schemas.microsoft.com/office/drawing/2014/main" id="{FBA7AD80-603D-A6B7-98BA-140F072A01A2}"/>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투자전략</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2590608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extBox 41">
            <a:extLst>
              <a:ext uri="{FF2B5EF4-FFF2-40B4-BE49-F238E27FC236}">
                <a16:creationId xmlns:a16="http://schemas.microsoft.com/office/drawing/2014/main" id="{11EEAA4D-1808-24E8-07F1-A16CE23DA6CD}"/>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투자효과</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1" name="차트 10">
            <a:extLst>
              <a:ext uri="{FF2B5EF4-FFF2-40B4-BE49-F238E27FC236}">
                <a16:creationId xmlns:a16="http://schemas.microsoft.com/office/drawing/2014/main" id="{BC1D164A-4FA5-DF24-CFE8-F8BC0C94DDFD}"/>
              </a:ext>
            </a:extLst>
          </p:cNvPr>
          <p:cNvGraphicFramePr/>
          <p:nvPr>
            <p:extLst>
              <p:ext uri="{D42A27DB-BD31-4B8C-83A1-F6EECF244321}">
                <p14:modId xmlns:p14="http://schemas.microsoft.com/office/powerpoint/2010/main" val="3118560959"/>
              </p:ext>
            </p:extLst>
          </p:nvPr>
        </p:nvGraphicFramePr>
        <p:xfrm>
          <a:off x="5009179" y="1968620"/>
          <a:ext cx="5682633" cy="2014923"/>
        </p:xfrm>
        <a:graphic>
          <a:graphicData uri="http://schemas.openxmlformats.org/drawingml/2006/chart">
            <c:chart xmlns:c="http://schemas.openxmlformats.org/drawingml/2006/chart" xmlns:r="http://schemas.openxmlformats.org/officeDocument/2006/relationships" r:id="rId2"/>
          </a:graphicData>
        </a:graphic>
      </p:graphicFrame>
      <p:grpSp>
        <p:nvGrpSpPr>
          <p:cNvPr id="3" name="그룹 2">
            <a:extLst>
              <a:ext uri="{FF2B5EF4-FFF2-40B4-BE49-F238E27FC236}">
                <a16:creationId xmlns:a16="http://schemas.microsoft.com/office/drawing/2014/main" id="{9F9D805D-BF4F-7542-7E38-9EFEB963B13A}"/>
              </a:ext>
            </a:extLst>
          </p:cNvPr>
          <p:cNvGrpSpPr/>
          <p:nvPr/>
        </p:nvGrpSpPr>
        <p:grpSpPr>
          <a:xfrm>
            <a:off x="5417914" y="3957970"/>
            <a:ext cx="4752528" cy="537184"/>
            <a:chOff x="5417914" y="5508029"/>
            <a:chExt cx="4752528" cy="537184"/>
          </a:xfrm>
        </p:grpSpPr>
        <p:sp>
          <p:nvSpPr>
            <p:cNvPr id="4" name="화살표: 오른쪽 3">
              <a:extLst>
                <a:ext uri="{FF2B5EF4-FFF2-40B4-BE49-F238E27FC236}">
                  <a16:creationId xmlns:a16="http://schemas.microsoft.com/office/drawing/2014/main" id="{43B1DF8A-4AFC-FA05-403B-2E2F290569C1}"/>
                </a:ext>
              </a:extLst>
            </p:cNvPr>
            <p:cNvSpPr/>
            <p:nvPr/>
          </p:nvSpPr>
          <p:spPr>
            <a:xfrm>
              <a:off x="6534038" y="5508029"/>
              <a:ext cx="3636404" cy="140370"/>
            </a:xfrm>
            <a:prstGeom prst="rightArrow">
              <a:avLst>
                <a:gd name="adj1" fmla="val 100000"/>
                <a:gd name="adj2" fmla="val 50000"/>
              </a:avLst>
            </a:prstGeom>
            <a:solidFill>
              <a:srgbClr val="FBE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화살표: 오른쪽 4">
              <a:extLst>
                <a:ext uri="{FF2B5EF4-FFF2-40B4-BE49-F238E27FC236}">
                  <a16:creationId xmlns:a16="http://schemas.microsoft.com/office/drawing/2014/main" id="{829AF3FC-BCA3-2DA1-FF70-73027FD625B5}"/>
                </a:ext>
              </a:extLst>
            </p:cNvPr>
            <p:cNvSpPr/>
            <p:nvPr/>
          </p:nvSpPr>
          <p:spPr>
            <a:xfrm>
              <a:off x="5957974" y="5699175"/>
              <a:ext cx="4212468" cy="140370"/>
            </a:xfrm>
            <a:prstGeom prst="rightArrow">
              <a:avLst>
                <a:gd name="adj1" fmla="val 100000"/>
                <a:gd name="adj2" fmla="val 50000"/>
              </a:avLst>
            </a:prstGeom>
            <a:solidFill>
              <a:srgbClr val="F8CB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화살표: 오른쪽 5">
              <a:extLst>
                <a:ext uri="{FF2B5EF4-FFF2-40B4-BE49-F238E27FC236}">
                  <a16:creationId xmlns:a16="http://schemas.microsoft.com/office/drawing/2014/main" id="{C287A563-08BE-2634-1A43-89185A9156E4}"/>
                </a:ext>
              </a:extLst>
            </p:cNvPr>
            <p:cNvSpPr/>
            <p:nvPr/>
          </p:nvSpPr>
          <p:spPr>
            <a:xfrm>
              <a:off x="5417914" y="5904843"/>
              <a:ext cx="4752528" cy="140370"/>
            </a:xfrm>
            <a:prstGeom prst="rightArrow">
              <a:avLst>
                <a:gd name="adj1" fmla="val 100000"/>
                <a:gd name="adj2" fmla="val 50000"/>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화살표: 오른쪽 6">
              <a:extLst>
                <a:ext uri="{FF2B5EF4-FFF2-40B4-BE49-F238E27FC236}">
                  <a16:creationId xmlns:a16="http://schemas.microsoft.com/office/drawing/2014/main" id="{1E41B99F-FE47-A29B-1A78-DA10BB19F81E}"/>
                </a:ext>
              </a:extLst>
            </p:cNvPr>
            <p:cNvSpPr/>
            <p:nvPr/>
          </p:nvSpPr>
          <p:spPr>
            <a:xfrm>
              <a:off x="5417914" y="5765883"/>
              <a:ext cx="4212468" cy="73662"/>
            </a:xfrm>
            <a:prstGeom prst="rightArrow">
              <a:avLst>
                <a:gd name="adj1" fmla="val 100000"/>
                <a:gd name="adj2" fmla="val 50000"/>
              </a:avLst>
            </a:prstGeom>
            <a:solidFill>
              <a:srgbClr val="F8CB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aphicFrame>
        <p:nvGraphicFramePr>
          <p:cNvPr id="12" name="표 11">
            <a:extLst>
              <a:ext uri="{FF2B5EF4-FFF2-40B4-BE49-F238E27FC236}">
                <a16:creationId xmlns:a16="http://schemas.microsoft.com/office/drawing/2014/main" id="{1AB945BC-ACD2-08F8-CA20-DDDBD2BD07BE}"/>
              </a:ext>
            </a:extLst>
          </p:cNvPr>
          <p:cNvGraphicFramePr>
            <a:graphicFrameLocks noGrp="1"/>
          </p:cNvGraphicFramePr>
          <p:nvPr>
            <p:extLst>
              <p:ext uri="{D42A27DB-BD31-4B8C-83A1-F6EECF244321}">
                <p14:modId xmlns:p14="http://schemas.microsoft.com/office/powerpoint/2010/main" val="1626968460"/>
              </p:ext>
            </p:extLst>
          </p:nvPr>
        </p:nvGraphicFramePr>
        <p:xfrm>
          <a:off x="4646463" y="3756356"/>
          <a:ext cx="5586362" cy="1131454"/>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1062829811"/>
                    </a:ext>
                  </a:extLst>
                </a:gridCol>
                <a:gridCol w="568571">
                  <a:extLst>
                    <a:ext uri="{9D8B030D-6E8A-4147-A177-3AD203B41FA5}">
                      <a16:colId xmlns:a16="http://schemas.microsoft.com/office/drawing/2014/main" val="1061362965"/>
                    </a:ext>
                  </a:extLst>
                </a:gridCol>
                <a:gridCol w="551007">
                  <a:extLst>
                    <a:ext uri="{9D8B030D-6E8A-4147-A177-3AD203B41FA5}">
                      <a16:colId xmlns:a16="http://schemas.microsoft.com/office/drawing/2014/main" val="3617187186"/>
                    </a:ext>
                  </a:extLst>
                </a:gridCol>
                <a:gridCol w="462252">
                  <a:extLst>
                    <a:ext uri="{9D8B030D-6E8A-4147-A177-3AD203B41FA5}">
                      <a16:colId xmlns:a16="http://schemas.microsoft.com/office/drawing/2014/main" val="4093198474"/>
                    </a:ext>
                  </a:extLst>
                </a:gridCol>
                <a:gridCol w="462252">
                  <a:extLst>
                    <a:ext uri="{9D8B030D-6E8A-4147-A177-3AD203B41FA5}">
                      <a16:colId xmlns:a16="http://schemas.microsoft.com/office/drawing/2014/main" val="3255307381"/>
                    </a:ext>
                  </a:extLst>
                </a:gridCol>
                <a:gridCol w="462252">
                  <a:extLst>
                    <a:ext uri="{9D8B030D-6E8A-4147-A177-3AD203B41FA5}">
                      <a16:colId xmlns:a16="http://schemas.microsoft.com/office/drawing/2014/main" val="94420624"/>
                    </a:ext>
                  </a:extLst>
                </a:gridCol>
                <a:gridCol w="462252">
                  <a:extLst>
                    <a:ext uri="{9D8B030D-6E8A-4147-A177-3AD203B41FA5}">
                      <a16:colId xmlns:a16="http://schemas.microsoft.com/office/drawing/2014/main" val="3541631959"/>
                    </a:ext>
                  </a:extLst>
                </a:gridCol>
                <a:gridCol w="462252">
                  <a:extLst>
                    <a:ext uri="{9D8B030D-6E8A-4147-A177-3AD203B41FA5}">
                      <a16:colId xmlns:a16="http://schemas.microsoft.com/office/drawing/2014/main" val="544633973"/>
                    </a:ext>
                  </a:extLst>
                </a:gridCol>
                <a:gridCol w="462252">
                  <a:extLst>
                    <a:ext uri="{9D8B030D-6E8A-4147-A177-3AD203B41FA5}">
                      <a16:colId xmlns:a16="http://schemas.microsoft.com/office/drawing/2014/main" val="536529741"/>
                    </a:ext>
                  </a:extLst>
                </a:gridCol>
                <a:gridCol w="486636">
                  <a:extLst>
                    <a:ext uri="{9D8B030D-6E8A-4147-A177-3AD203B41FA5}">
                      <a16:colId xmlns:a16="http://schemas.microsoft.com/office/drawing/2014/main" val="3381518015"/>
                    </a:ext>
                  </a:extLst>
                </a:gridCol>
                <a:gridCol w="486636">
                  <a:extLst>
                    <a:ext uri="{9D8B030D-6E8A-4147-A177-3AD203B41FA5}">
                      <a16:colId xmlns:a16="http://schemas.microsoft.com/office/drawing/2014/main" val="899365463"/>
                    </a:ext>
                  </a:extLst>
                </a:gridCol>
              </a:tblGrid>
              <a:tr h="178954">
                <a:tc>
                  <a:txBody>
                    <a:bodyPr anchor="ctr"/>
                    <a:lstStyle/>
                    <a:p>
                      <a:pPr algn="ctr">
                        <a:lnSpc>
                          <a:spcPct val="100000"/>
                        </a:lnSpc>
                      </a:pPr>
                      <a:r>
                        <a:rPr lang="ko-KR" altLang="en-US" sz="1000" b="0" kern="0" baseline="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0" marT="0" marB="0" anchor="ctr">
                    <a:lnL w="6350"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algn="ctr">
                        <a:lnSpc>
                          <a:spcPct val="100000"/>
                        </a:lnSpc>
                      </a:pPr>
                      <a:r>
                        <a:rPr lang="en-US" altLang="ko-KR"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3Y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4Y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5Y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6Y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7Y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8Y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9Y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10Y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28504334"/>
                  </a:ext>
                </a:extLst>
              </a:tr>
              <a:tr h="188902">
                <a:tc>
                  <a:txBody>
                    <a:bodyPr anchor="ctr"/>
                    <a:lstStyle/>
                    <a:p>
                      <a:pPr marL="254000" marR="61595" indent="-254000" algn="ctr" latinLnBrk="0">
                        <a:lnSpc>
                          <a:spcPts val="1600"/>
                        </a:lnSpc>
                        <a:buNone/>
                      </a:pPr>
                      <a:r>
                        <a:rPr lang="ko-KR" altLang="en-US"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a:t>
                      </a:r>
                      <a:r>
                        <a:rPr lang="en-US" altLang="ko-KR"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a:t>
                      </a:r>
                      <a:endParaRPr lang="ko-KR"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6350"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a:txBody>
                    <a:bodyPr anchor="ct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a:txBody>
                    <a:bodyPr anchor="ct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gridSpan="8">
                  <a:txBody>
                    <a:bodyPr anchor="ctr"/>
                    <a:lstStyle/>
                    <a:p>
                      <a:pPr algn="l"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nchor="ct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nchor="ct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nchor="ct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nchor="ct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nchor="ct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nchor="ct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nchor="ct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extLst>
                  <a:ext uri="{0D108BD9-81ED-4DB2-BD59-A6C34878D82A}">
                    <a16:rowId xmlns:a16="http://schemas.microsoft.com/office/drawing/2014/main" val="4112795985"/>
                  </a:ext>
                </a:extLst>
              </a:tr>
              <a:tr h="188902">
                <a:tc>
                  <a:txBody>
                    <a:bodyPr anchor="ctr"/>
                    <a:lstStyle/>
                    <a:p>
                      <a:pPr marL="254000" marR="61595" indent="-254000" algn="ctr" latinLnBrk="0">
                        <a:lnSpc>
                          <a:spcPts val="1600"/>
                        </a:lnSpc>
                        <a:buNone/>
                      </a:pPr>
                      <a:r>
                        <a:rPr lang="ko-KR" altLang="en-US"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a:t>
                      </a:r>
                      <a:r>
                        <a:rPr lang="en-US" altLang="ko-KR"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a:t>
                      </a:r>
                      <a:endParaRPr lang="ko-KR"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6350"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a:txBody>
                    <a:bodyPr anchor="ctr"/>
                    <a:lstStyle/>
                    <a:p>
                      <a:pPr algn="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160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a:txBody>
                    <a:bodyPr anchor="ctr"/>
                    <a:lstStyle/>
                    <a:p>
                      <a:pPr algn="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500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gridSpan="8">
                  <a:txBody>
                    <a:bodyPr anchor="ctr"/>
                    <a:lstStyle/>
                    <a:p>
                      <a:pPr algn="l"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500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nchor="ct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nchor="ct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nchor="ct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nchor="ct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nchor="ct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nchor="ct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nchor="ct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extLst>
                  <a:ext uri="{0D108BD9-81ED-4DB2-BD59-A6C34878D82A}">
                    <a16:rowId xmlns:a16="http://schemas.microsoft.com/office/drawing/2014/main" val="739995126"/>
                  </a:ext>
                </a:extLst>
              </a:tr>
              <a:tr h="188902">
                <a:tc>
                  <a:txBody>
                    <a:bodyPr anchor="ctr"/>
                    <a:lstStyle/>
                    <a:p>
                      <a:pPr marL="254000" marR="61595" indent="-254000" algn="ctr" latinLnBrk="0">
                        <a:lnSpc>
                          <a:spcPts val="1600"/>
                        </a:lnSpc>
                        <a:buNone/>
                      </a:pPr>
                      <a:r>
                        <a:rPr lang="ko-KR" altLang="en-US" sz="1000" kern="0" baseline="0"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a:t>
                      </a:r>
                      <a:endParaRPr lang="ko-KR"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6350"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nchor="ctr"/>
                    <a:lstStyle/>
                    <a:p>
                      <a:pPr algn="r" rtl="0" fontAlgn="ctr">
                        <a:buNone/>
                      </a:pPr>
                      <a:r>
                        <a:rPr lang="en-US" alt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rPr>
                        <a:t>148</a:t>
                      </a:r>
                      <a:r>
                        <a:rPr lang="ko-KR" altLang="en-US" sz="1000" b="0" i="0" u="none" strike="noStrike" dirty="0">
                          <a:solidFill>
                            <a:schemeClr val="bg1"/>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nchor="ctr"/>
                    <a:lstStyle/>
                    <a:p>
                      <a:pPr algn="r" rtl="0" fontAlgn="ctr">
                        <a:buNone/>
                      </a:pPr>
                      <a:r>
                        <a:rPr lang="en-US" alt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rPr>
                        <a:t>148</a:t>
                      </a:r>
                      <a:r>
                        <a:rPr lang="ko-KR" altLang="en-US" sz="1000" b="0" i="0" u="none" strike="noStrike" dirty="0">
                          <a:solidFill>
                            <a:schemeClr val="bg1"/>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gridSpan="8">
                  <a:txBody>
                    <a:bodyPr anchor="ctr"/>
                    <a:lstStyle/>
                    <a:p>
                      <a:pPr algn="l" rtl="0" fontAlgn="ctr">
                        <a:buNone/>
                      </a:pPr>
                      <a:r>
                        <a:rPr lang="en-US" alt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rPr>
                        <a:t>148</a:t>
                      </a:r>
                      <a:r>
                        <a:rPr lang="ko-KR" altLang="en-US" sz="1000" b="0" i="0" u="none" strike="noStrike" dirty="0">
                          <a:solidFill>
                            <a:schemeClr val="bg1"/>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nchor="ct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nchor="ct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nchor="ct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nchor="ct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nchor="ct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nchor="ct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nchor="ct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780081421"/>
                  </a:ext>
                </a:extLst>
              </a:tr>
              <a:tr h="188902">
                <a:tc>
                  <a:txBody>
                    <a:bodyPr anchor="ctr"/>
                    <a:lstStyle/>
                    <a:p>
                      <a:pPr marL="254000" marR="61595" indent="-254000" algn="ctr" latinLnBrk="0">
                        <a:lnSpc>
                          <a:spcPts val="1600"/>
                        </a:lnSpc>
                        <a:buNone/>
                      </a:pPr>
                      <a:r>
                        <a:rPr lang="ko-KR" altLang="en-US"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합계</a:t>
                      </a:r>
                      <a:endParaRPr lang="ko-KR"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6350"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nchor="ctr"/>
                    <a:lstStyle/>
                    <a:p>
                      <a:pPr algn="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308</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nchor="ctr"/>
                    <a:lstStyle/>
                    <a:p>
                      <a:pPr algn="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648</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gridSpan="8">
                  <a:txBody>
                    <a:bodyPr anchor="ctr"/>
                    <a:lstStyle/>
                    <a:p>
                      <a:pPr algn="l"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888</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nchor="ct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nchor="ct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nchor="ct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nchor="ct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nchor="ct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nchor="ct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nchor="ct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692663786"/>
                  </a:ext>
                </a:extLst>
              </a:tr>
              <a:tr h="188902">
                <a:tc>
                  <a:txBody>
                    <a:bodyPr anchor="ctr"/>
                    <a:lstStyle/>
                    <a:p>
                      <a:pPr marL="254000" marR="61595" indent="-254000" algn="ctr" latinLnBrk="0">
                        <a:lnSpc>
                          <a:spcPts val="1600"/>
                        </a:lnSpc>
                        <a:buNone/>
                      </a:pPr>
                      <a:r>
                        <a:rPr lang="ko-KR" altLang="en-US" sz="1000" kern="0" baseline="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전체수익률</a:t>
                      </a:r>
                      <a:endParaRPr lang="ko-KR" sz="1000" kern="0" baseline="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6350"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nchor="ct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7.5%</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nchor="ct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5.8%</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nchor="ct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6.1%</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nchor="ct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5.5%</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nchor="ct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5.2%</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nchor="ct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6.4%</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nchor="ct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6.9%</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nchor="ct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6.2%</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nchor="ct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6.0%</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nchor="ct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72.4%</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3510776341"/>
                  </a:ext>
                </a:extLst>
              </a:tr>
            </a:tbl>
          </a:graphicData>
        </a:graphic>
      </p:graphicFrame>
      <p:grpSp>
        <p:nvGrpSpPr>
          <p:cNvPr id="92" name="그룹 91">
            <a:extLst>
              <a:ext uri="{FF2B5EF4-FFF2-40B4-BE49-F238E27FC236}">
                <a16:creationId xmlns:a16="http://schemas.microsoft.com/office/drawing/2014/main" id="{75BDC7EA-711A-E24F-C884-D99D04FC0417}"/>
              </a:ext>
            </a:extLst>
          </p:cNvPr>
          <p:cNvGrpSpPr/>
          <p:nvPr/>
        </p:nvGrpSpPr>
        <p:grpSpPr>
          <a:xfrm>
            <a:off x="5074444" y="4948749"/>
            <a:ext cx="5212546" cy="2071094"/>
            <a:chOff x="5074444" y="4684530"/>
            <a:chExt cx="5212546" cy="2071094"/>
          </a:xfrm>
        </p:grpSpPr>
        <p:sp>
          <p:nvSpPr>
            <p:cNvPr id="90" name="자유형: 도형 89">
              <a:extLst>
                <a:ext uri="{FF2B5EF4-FFF2-40B4-BE49-F238E27FC236}">
                  <a16:creationId xmlns:a16="http://schemas.microsoft.com/office/drawing/2014/main" id="{FC9D1EE9-4FB6-D4E6-2C97-FCE8267BE624}"/>
                </a:ext>
              </a:extLst>
            </p:cNvPr>
            <p:cNvSpPr/>
            <p:nvPr/>
          </p:nvSpPr>
          <p:spPr>
            <a:xfrm>
              <a:off x="5074444" y="4684530"/>
              <a:ext cx="5193506" cy="348884"/>
            </a:xfrm>
            <a:custGeom>
              <a:avLst/>
              <a:gdLst>
                <a:gd name="csX0" fmla="*/ 280987 w 5193506"/>
                <a:gd name="csY0" fmla="*/ 0 h 211931"/>
                <a:gd name="csX1" fmla="*/ 0 w 5193506"/>
                <a:gd name="csY1" fmla="*/ 211931 h 211931"/>
                <a:gd name="csX2" fmla="*/ 5193506 w 5193506"/>
                <a:gd name="csY2" fmla="*/ 209550 h 211931"/>
                <a:gd name="csX3" fmla="*/ 2745581 w 5193506"/>
                <a:gd name="csY3" fmla="*/ 0 h 211931"/>
                <a:gd name="csX4" fmla="*/ 280987 w 5193506"/>
                <a:gd name="csY4" fmla="*/ 0 h 211931"/>
              </a:gdLst>
              <a:ahLst/>
              <a:cxnLst>
                <a:cxn ang="0">
                  <a:pos x="csX0" y="csY0"/>
                </a:cxn>
                <a:cxn ang="0">
                  <a:pos x="csX1" y="csY1"/>
                </a:cxn>
                <a:cxn ang="0">
                  <a:pos x="csX2" y="csY2"/>
                </a:cxn>
                <a:cxn ang="0">
                  <a:pos x="csX3" y="csY3"/>
                </a:cxn>
                <a:cxn ang="0">
                  <a:pos x="csX4" y="csY4"/>
                </a:cxn>
              </a:cxnLst>
              <a:rect l="l" t="t" r="r" b="b"/>
              <a:pathLst>
                <a:path w="5193506" h="211931">
                  <a:moveTo>
                    <a:pt x="280987" y="0"/>
                  </a:moveTo>
                  <a:lnTo>
                    <a:pt x="0" y="211931"/>
                  </a:lnTo>
                  <a:lnTo>
                    <a:pt x="5193506" y="209550"/>
                  </a:lnTo>
                  <a:lnTo>
                    <a:pt x="2745581" y="0"/>
                  </a:lnTo>
                  <a:lnTo>
                    <a:pt x="280987" y="0"/>
                  </a:lnTo>
                  <a:close/>
                </a:path>
              </a:pathLst>
            </a:custGeom>
            <a:gradFill>
              <a:gsLst>
                <a:gs pos="0">
                  <a:schemeClr val="tx1">
                    <a:lumMod val="50000"/>
                    <a:lumOff val="50000"/>
                  </a:schemeClr>
                </a:gs>
                <a:gs pos="100000">
                  <a:srgbClr val="F2F2F2"/>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1" name="직사각형 90">
              <a:extLst>
                <a:ext uri="{FF2B5EF4-FFF2-40B4-BE49-F238E27FC236}">
                  <a16:creationId xmlns:a16="http://schemas.microsoft.com/office/drawing/2014/main" id="{8CB2D7E2-E481-640F-F8E8-65E104988906}"/>
                </a:ext>
              </a:extLst>
            </p:cNvPr>
            <p:cNvSpPr/>
            <p:nvPr/>
          </p:nvSpPr>
          <p:spPr>
            <a:xfrm>
              <a:off x="5075120" y="5033413"/>
              <a:ext cx="5211870" cy="1722211"/>
            </a:xfrm>
            <a:prstGeom prst="rect">
              <a:avLst/>
            </a:prstGeom>
            <a:solidFill>
              <a:schemeClr val="bg1">
                <a:lumMod val="95000"/>
              </a:schemeClr>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sp>
        <p:nvSpPr>
          <p:cNvPr id="2" name="자유형: 도형 1">
            <a:extLst>
              <a:ext uri="{FF2B5EF4-FFF2-40B4-BE49-F238E27FC236}">
                <a16:creationId xmlns:a16="http://schemas.microsoft.com/office/drawing/2014/main" id="{73CD9F1F-9D96-0FA6-25AF-B6F82480BC8E}"/>
              </a:ext>
            </a:extLst>
          </p:cNvPr>
          <p:cNvSpPr/>
          <p:nvPr/>
        </p:nvSpPr>
        <p:spPr>
          <a:xfrm>
            <a:off x="2655143" y="2600014"/>
            <a:ext cx="237573" cy="1111006"/>
          </a:xfrm>
          <a:custGeom>
            <a:avLst/>
            <a:gdLst>
              <a:gd name="csX0" fmla="*/ 251460 w 251460"/>
              <a:gd name="csY0" fmla="*/ 0 h 1021080"/>
              <a:gd name="csX1" fmla="*/ 251460 w 251460"/>
              <a:gd name="csY1" fmla="*/ 830580 h 1021080"/>
              <a:gd name="csX2" fmla="*/ 0 w 251460"/>
              <a:gd name="csY2" fmla="*/ 1021080 h 1021080"/>
              <a:gd name="csX3" fmla="*/ 0 w 251460"/>
              <a:gd name="csY3" fmla="*/ 784860 h 1021080"/>
              <a:gd name="csX4" fmla="*/ 251460 w 251460"/>
              <a:gd name="csY4" fmla="*/ 0 h 1021080"/>
            </a:gdLst>
            <a:ahLst/>
            <a:cxnLst>
              <a:cxn ang="0">
                <a:pos x="csX0" y="csY0"/>
              </a:cxn>
              <a:cxn ang="0">
                <a:pos x="csX1" y="csY1"/>
              </a:cxn>
              <a:cxn ang="0">
                <a:pos x="csX2" y="csY2"/>
              </a:cxn>
              <a:cxn ang="0">
                <a:pos x="csX3" y="csY3"/>
              </a:cxn>
              <a:cxn ang="0">
                <a:pos x="csX4" y="csY4"/>
              </a:cxn>
            </a:cxnLst>
            <a:rect l="l" t="t" r="r" b="b"/>
            <a:pathLst>
              <a:path w="251460" h="1021080">
                <a:moveTo>
                  <a:pt x="251460" y="0"/>
                </a:moveTo>
                <a:lnTo>
                  <a:pt x="251460" y="830580"/>
                </a:lnTo>
                <a:lnTo>
                  <a:pt x="0" y="1021080"/>
                </a:lnTo>
                <a:lnTo>
                  <a:pt x="0" y="784860"/>
                </a:lnTo>
                <a:lnTo>
                  <a:pt x="251460" y="0"/>
                </a:lnTo>
                <a:close/>
              </a:path>
            </a:pathLst>
          </a:custGeom>
          <a:gradFill>
            <a:gsLst>
              <a:gs pos="0">
                <a:schemeClr val="bg1"/>
              </a:gs>
              <a:gs pos="99000">
                <a:schemeClr val="bg1">
                  <a:lumMod val="8500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TextBox 12">
            <a:extLst>
              <a:ext uri="{FF2B5EF4-FFF2-40B4-BE49-F238E27FC236}">
                <a16:creationId xmlns:a16="http://schemas.microsoft.com/office/drawing/2014/main" id="{87C5F2EE-AC0D-149C-0358-5C739834414D}"/>
              </a:ext>
            </a:extLst>
          </p:cNvPr>
          <p:cNvSpPr txBox="1"/>
          <p:nvPr/>
        </p:nvSpPr>
        <p:spPr>
          <a:xfrm>
            <a:off x="9462463" y="2158029"/>
            <a:ext cx="612807"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rtl="0" eaLnBrk="1" fontAlgn="auto" latinLnBrk="0" hangingPunct="1">
              <a:lnSpc>
                <a:spcPct val="150000"/>
              </a:lnSpc>
              <a:spcBef>
                <a:spcPts val="0"/>
              </a:spcBef>
              <a:spcAft>
                <a:spcPts val="0"/>
              </a:spcAft>
              <a:buClrTx/>
              <a:buSzTx/>
              <a:buFont typeface="Wingdings" panose="05000000000000000000" pitchFamily="2" charset="2"/>
              <a:buNone/>
              <a:tabLst/>
              <a:defRPr/>
            </a:pPr>
            <a:r>
              <a:rPr lang="en-US" altLang="ko-KR" sz="1100" kern="0" dirty="0">
                <a:solidFill>
                  <a:srgbClr val="C00000"/>
                </a:solidFill>
              </a:rPr>
              <a:t>318.0</a:t>
            </a:r>
            <a:r>
              <a:rPr lang="en-US" altLang="ko-KR" sz="1100" kern="0" dirty="0">
                <a:solidFill>
                  <a:srgbClr val="C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kumimoji="0" lang="en-US" altLang="ko-KR" sz="1100" i="0" u="none" strike="noStrike" kern="0" cap="none" spc="0" normalizeH="0" baseline="0" noProof="0" dirty="0">
              <a:ln>
                <a:noFill/>
              </a:ln>
              <a:solidFill>
                <a:srgbClr val="C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4" name="TextBox 13">
            <a:extLst>
              <a:ext uri="{FF2B5EF4-FFF2-40B4-BE49-F238E27FC236}">
                <a16:creationId xmlns:a16="http://schemas.microsoft.com/office/drawing/2014/main" id="{EDB403B2-5FBC-4F03-CDBA-524906F02FC8}"/>
              </a:ext>
            </a:extLst>
          </p:cNvPr>
          <p:cNvSpPr txBox="1"/>
          <p:nvPr/>
        </p:nvSpPr>
        <p:spPr>
          <a:xfrm>
            <a:off x="9961546" y="2687549"/>
            <a:ext cx="612807"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rtl="0" eaLnBrk="1" fontAlgn="auto" latinLnBrk="0" hangingPunct="1">
              <a:lnSpc>
                <a:spcPct val="150000"/>
              </a:lnSpc>
              <a:spcBef>
                <a:spcPts val="0"/>
              </a:spcBef>
              <a:spcAft>
                <a:spcPts val="0"/>
              </a:spcAft>
              <a:buClrTx/>
              <a:buSzTx/>
              <a:buFont typeface="Wingdings" panose="05000000000000000000" pitchFamily="2" charset="2"/>
              <a:buNone/>
              <a:tabLst/>
              <a:defRPr/>
            </a:pPr>
            <a:r>
              <a:rPr lang="en-US" altLang="ko-KR" sz="1100" kern="0" dirty="0">
                <a:solidFill>
                  <a:schemeClr val="accent4">
                    <a:lumMod val="75000"/>
                  </a:schemeClr>
                </a:solidFill>
              </a:rPr>
              <a:t>72.4%</a:t>
            </a:r>
            <a:endParaRPr kumimoji="0" lang="en-US" altLang="ko-KR" sz="1100" i="0" u="none" strike="noStrike" kern="0" cap="none" spc="0" normalizeH="0" baseline="0" noProof="0" dirty="0">
              <a:ln>
                <a:noFill/>
              </a:ln>
              <a:solidFill>
                <a:schemeClr val="accent4">
                  <a:lumMod val="75000"/>
                </a:schemeClr>
              </a:solidFill>
              <a:effectLst/>
              <a:uLnTx/>
              <a:uFillTx/>
            </a:endParaRPr>
          </a:p>
        </p:txBody>
      </p:sp>
      <p:sp>
        <p:nvSpPr>
          <p:cNvPr id="15" name="직사각형 14">
            <a:extLst>
              <a:ext uri="{FF2B5EF4-FFF2-40B4-BE49-F238E27FC236}">
                <a16:creationId xmlns:a16="http://schemas.microsoft.com/office/drawing/2014/main" id="{910B5DB4-E3ED-8CA5-383F-8B7EBD1F6345}"/>
              </a:ext>
            </a:extLst>
          </p:cNvPr>
          <p:cNvSpPr/>
          <p:nvPr/>
        </p:nvSpPr>
        <p:spPr>
          <a:xfrm rot="19756475">
            <a:off x="9645450" y="2528350"/>
            <a:ext cx="542294" cy="7027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직사각형 15">
            <a:extLst>
              <a:ext uri="{FF2B5EF4-FFF2-40B4-BE49-F238E27FC236}">
                <a16:creationId xmlns:a16="http://schemas.microsoft.com/office/drawing/2014/main" id="{A7E0B39A-3645-F874-7954-AAD34D6306F0}"/>
              </a:ext>
            </a:extLst>
          </p:cNvPr>
          <p:cNvSpPr/>
          <p:nvPr/>
        </p:nvSpPr>
        <p:spPr>
          <a:xfrm rot="5400000">
            <a:off x="9450681" y="3125937"/>
            <a:ext cx="466820" cy="7027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58" name="그룹 57">
            <a:extLst>
              <a:ext uri="{FF2B5EF4-FFF2-40B4-BE49-F238E27FC236}">
                <a16:creationId xmlns:a16="http://schemas.microsoft.com/office/drawing/2014/main" id="{127D42E8-E42D-F3B2-C952-E7A1FB54B5DA}"/>
              </a:ext>
            </a:extLst>
          </p:cNvPr>
          <p:cNvGrpSpPr/>
          <p:nvPr/>
        </p:nvGrpSpPr>
        <p:grpSpPr>
          <a:xfrm>
            <a:off x="632881" y="3408589"/>
            <a:ext cx="2027932" cy="2315464"/>
            <a:chOff x="557374" y="3465659"/>
            <a:chExt cx="2271211" cy="2315464"/>
          </a:xfrm>
        </p:grpSpPr>
        <p:grpSp>
          <p:nvGrpSpPr>
            <p:cNvPr id="57" name="그룹 56">
              <a:extLst>
                <a:ext uri="{FF2B5EF4-FFF2-40B4-BE49-F238E27FC236}">
                  <a16:creationId xmlns:a16="http://schemas.microsoft.com/office/drawing/2014/main" id="{C7112543-0621-FB52-F755-4FCE5FD6B73E}"/>
                </a:ext>
              </a:extLst>
            </p:cNvPr>
            <p:cNvGrpSpPr/>
            <p:nvPr/>
          </p:nvGrpSpPr>
          <p:grpSpPr>
            <a:xfrm>
              <a:off x="557374" y="3465659"/>
              <a:ext cx="2264861" cy="2315464"/>
              <a:chOff x="557374" y="3465659"/>
              <a:chExt cx="2264861" cy="2315464"/>
            </a:xfrm>
          </p:grpSpPr>
          <p:grpSp>
            <p:nvGrpSpPr>
              <p:cNvPr id="17" name="그룹 16">
                <a:extLst>
                  <a:ext uri="{FF2B5EF4-FFF2-40B4-BE49-F238E27FC236}">
                    <a16:creationId xmlns:a16="http://schemas.microsoft.com/office/drawing/2014/main" id="{CB3BCFD4-4D92-B20D-160C-22FA40AB4E1C}"/>
                  </a:ext>
                </a:extLst>
              </p:cNvPr>
              <p:cNvGrpSpPr/>
              <p:nvPr/>
            </p:nvGrpSpPr>
            <p:grpSpPr>
              <a:xfrm>
                <a:off x="557374" y="3465659"/>
                <a:ext cx="2264861" cy="2032025"/>
                <a:chOff x="612316" y="3023991"/>
                <a:chExt cx="2264861" cy="1157769"/>
              </a:xfrm>
            </p:grpSpPr>
            <p:sp>
              <p:nvSpPr>
                <p:cNvPr id="18" name="직사각형 17">
                  <a:extLst>
                    <a:ext uri="{FF2B5EF4-FFF2-40B4-BE49-F238E27FC236}">
                      <a16:creationId xmlns:a16="http://schemas.microsoft.com/office/drawing/2014/main" id="{ED6F96F7-830C-B413-CE76-5EAFFFA5864C}"/>
                    </a:ext>
                  </a:extLst>
                </p:cNvPr>
                <p:cNvSpPr/>
                <p:nvPr/>
              </p:nvSpPr>
              <p:spPr>
                <a:xfrm>
                  <a:off x="1809458" y="3416465"/>
                  <a:ext cx="1067719" cy="765295"/>
                </a:xfrm>
                <a:prstGeom prst="rect">
                  <a:avLst/>
                </a:prstGeom>
                <a:pattFill prst="wdDnDiag">
                  <a:fgClr>
                    <a:schemeClr val="bg1">
                      <a:lumMod val="95000"/>
                    </a:schemeClr>
                  </a:fgClr>
                  <a:bgClr>
                    <a:schemeClr val="bg1"/>
                  </a:bgClr>
                </a:pattFill>
                <a:ln w="9525">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9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 내 조달계획</a:t>
                  </a:r>
                  <a:endParaRPr lang="en-US" altLang="ko-KR" sz="9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회수원본</a:t>
                  </a:r>
                  <a:r>
                    <a:rPr kumimoji="0" lang="en-US" altLang="ko-KR"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578</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9" name="직사각형 18">
                  <a:extLst>
                    <a:ext uri="{FF2B5EF4-FFF2-40B4-BE49-F238E27FC236}">
                      <a16:creationId xmlns:a16="http://schemas.microsoft.com/office/drawing/2014/main" id="{DBA7DDB1-C83C-FAA8-1597-156E8038DF94}"/>
                    </a:ext>
                  </a:extLst>
                </p:cNvPr>
                <p:cNvSpPr/>
                <p:nvPr/>
              </p:nvSpPr>
              <p:spPr>
                <a:xfrm>
                  <a:off x="612316" y="3993692"/>
                  <a:ext cx="1098977" cy="188068"/>
                </a:xfrm>
                <a:prstGeom prst="rect">
                  <a:avLst/>
                </a:prstGeom>
                <a:solidFill>
                  <a:srgbClr val="843C0C"/>
                </a:solidFill>
                <a:ln w="9525" cap="flat" cmpd="sng" algn="ctr">
                  <a:solidFill>
                    <a:schemeClr val="bg1">
                      <a:lumMod val="75000"/>
                    </a:schemeClr>
                  </a:solidFill>
                  <a:prstDash val="solid"/>
                  <a:miter lim="800000"/>
                </a:ln>
                <a:effectLst/>
              </p:spPr>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err="1">
                      <a:ln>
                        <a:noFill/>
                      </a:ln>
                      <a:solidFill>
                        <a:schemeClr val="bg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kumimoji="0" lang="ko-KR" altLang="en-US" sz="900" b="0" i="0" u="none" strike="noStrike" kern="0" cap="none" spc="0" normalizeH="0" baseline="0" noProof="0" dirty="0">
                      <a:ln>
                        <a:noFill/>
                      </a:ln>
                      <a:solidFill>
                        <a:schemeClr val="bg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en-US" altLang="ko-KR" sz="900" b="0" i="0" u="none" strike="noStrike" kern="0" cap="none" spc="0" normalizeH="0" baseline="0" noProof="0" dirty="0">
                      <a:ln>
                        <a:noFill/>
                      </a:ln>
                      <a:solidFill>
                        <a:schemeClr val="bg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a:t>
                  </a:r>
                  <a:r>
                    <a:rPr kumimoji="0" lang="ko-KR" altLang="en-US" sz="900" b="0" i="0" u="none" strike="noStrike" kern="0" cap="none" spc="0" normalizeH="0" baseline="0" noProof="0" dirty="0">
                      <a:ln>
                        <a:noFill/>
                      </a:ln>
                      <a:solidFill>
                        <a:schemeClr val="bg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solidFill>
                      <a:schemeClr val="bg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0" name="직사각형 19">
                  <a:extLst>
                    <a:ext uri="{FF2B5EF4-FFF2-40B4-BE49-F238E27FC236}">
                      <a16:creationId xmlns:a16="http://schemas.microsoft.com/office/drawing/2014/main" id="{B44F98B1-DDAA-98A1-7F23-7B6B9CB109EB}"/>
                    </a:ext>
                  </a:extLst>
                </p:cNvPr>
                <p:cNvSpPr/>
                <p:nvPr/>
              </p:nvSpPr>
              <p:spPr>
                <a:xfrm>
                  <a:off x="1809458" y="3023991"/>
                  <a:ext cx="1067719" cy="171028"/>
                </a:xfrm>
                <a:prstGeom prst="rect">
                  <a:avLst/>
                </a:prstGeom>
                <a:solidFill>
                  <a:schemeClr val="accent1">
                    <a:lumMod val="20000"/>
                    <a:lumOff val="80000"/>
                  </a:schemeClr>
                </a:solidFill>
                <a:ln w="9525" cap="flat" cmpd="sng" algn="ctr">
                  <a:solidFill>
                    <a:schemeClr val="bg1">
                      <a:lumMod val="75000"/>
                    </a:schemeClr>
                  </a:solidFill>
                  <a:prstDash val="solid"/>
                  <a:miter lim="800000"/>
                </a:ln>
                <a:effectLst/>
              </p:spPr>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사모사채 </a:t>
                  </a:r>
                  <a:r>
                    <a:rPr kumimoji="0" lang="en-US" altLang="ko-KR" sz="900" b="0" i="0" u="none" strike="noStrike" kern="0" cap="none" spc="0" normalizeH="0" baseline="0" noProof="0" dirty="0">
                      <a:ln>
                        <a:noFill/>
                      </a:ln>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140</a:t>
                  </a:r>
                  <a:r>
                    <a:rPr kumimoji="0" lang="ko-KR" altLang="en-US" sz="900" b="0" i="0" u="none" strike="noStrike" kern="0" cap="none" spc="0" normalizeH="0" baseline="0" noProof="0" dirty="0">
                      <a:ln>
                        <a:noFill/>
                      </a:ln>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1" name="직사각형 20">
                  <a:extLst>
                    <a:ext uri="{FF2B5EF4-FFF2-40B4-BE49-F238E27FC236}">
                      <a16:creationId xmlns:a16="http://schemas.microsoft.com/office/drawing/2014/main" id="{8565F68D-6E95-640F-8F60-6093365D56EC}"/>
                    </a:ext>
                  </a:extLst>
                </p:cNvPr>
                <p:cNvSpPr/>
                <p:nvPr/>
              </p:nvSpPr>
              <p:spPr>
                <a:xfrm>
                  <a:off x="612316" y="3024291"/>
                  <a:ext cx="1098977" cy="268278"/>
                </a:xfrm>
                <a:prstGeom prst="rect">
                  <a:avLst/>
                </a:prstGeom>
                <a:solidFill>
                  <a:schemeClr val="accent2">
                    <a:lumMod val="20000"/>
                    <a:lumOff val="80000"/>
                  </a:schemeClr>
                </a:solidFill>
                <a:ln w="9525">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kumimoji="0" lang="ko-KR" altLang="en-US"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kumimoji="0" lang="en-US" altLang="ko-KR"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2" name="직사각형 21">
                  <a:extLst>
                    <a:ext uri="{FF2B5EF4-FFF2-40B4-BE49-F238E27FC236}">
                      <a16:creationId xmlns:a16="http://schemas.microsoft.com/office/drawing/2014/main" id="{BF5A07F1-C55A-2AEA-95C2-9EB59015D66E}"/>
                    </a:ext>
                  </a:extLst>
                </p:cNvPr>
                <p:cNvSpPr/>
                <p:nvPr/>
              </p:nvSpPr>
              <p:spPr>
                <a:xfrm>
                  <a:off x="612316" y="3311785"/>
                  <a:ext cx="1098977" cy="670733"/>
                </a:xfrm>
                <a:prstGeom prst="rect">
                  <a:avLst/>
                </a:prstGeom>
                <a:solidFill>
                  <a:schemeClr val="accent2">
                    <a:lumMod val="40000"/>
                    <a:lumOff val="60000"/>
                  </a:schemeClr>
                </a:solidFill>
                <a:ln w="9525">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endParaRPr kumimoji="0" lang="en-US" altLang="ko-KR"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3" name="직사각형 22">
                  <a:extLst>
                    <a:ext uri="{FF2B5EF4-FFF2-40B4-BE49-F238E27FC236}">
                      <a16:creationId xmlns:a16="http://schemas.microsoft.com/office/drawing/2014/main" id="{B4716FB5-6E72-7154-AC73-320E1C9B8194}"/>
                    </a:ext>
                  </a:extLst>
                </p:cNvPr>
                <p:cNvSpPr/>
                <p:nvPr/>
              </p:nvSpPr>
              <p:spPr>
                <a:xfrm>
                  <a:off x="1809458" y="3213213"/>
                  <a:ext cx="1067719" cy="185058"/>
                </a:xfrm>
                <a:prstGeom prst="rect">
                  <a:avLst/>
                </a:prstGeom>
                <a:solidFill>
                  <a:schemeClr val="accent1">
                    <a:lumMod val="40000"/>
                    <a:lumOff val="60000"/>
                  </a:schemeClr>
                </a:solidFill>
                <a:ln w="9525">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9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전환사채</a:t>
                  </a:r>
                  <a:r>
                    <a:rPr lang="en-US" altLang="ko-KR" sz="9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170</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24" name="TextBox 23">
                <a:extLst>
                  <a:ext uri="{FF2B5EF4-FFF2-40B4-BE49-F238E27FC236}">
                    <a16:creationId xmlns:a16="http://schemas.microsoft.com/office/drawing/2014/main" id="{61431656-C523-2807-69A2-A671FA490EA1}"/>
                  </a:ext>
                </a:extLst>
              </p:cNvPr>
              <p:cNvSpPr txBox="1"/>
              <p:nvPr/>
            </p:nvSpPr>
            <p:spPr>
              <a:xfrm>
                <a:off x="1130913" y="5558946"/>
                <a:ext cx="1120942" cy="222177"/>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rtl="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ko-KR" altLang="en-US"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총 투자비 </a:t>
                </a:r>
                <a:r>
                  <a:rPr kumimoji="0" lang="en-US" altLang="ko-KR"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888</a:t>
                </a:r>
                <a:r>
                  <a:rPr kumimoji="0" lang="ko-KR" altLang="en-US"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25" name="그룹 24">
              <a:extLst>
                <a:ext uri="{FF2B5EF4-FFF2-40B4-BE49-F238E27FC236}">
                  <a16:creationId xmlns:a16="http://schemas.microsoft.com/office/drawing/2014/main" id="{9BA7052E-8375-ED45-1348-1D3587192DF2}"/>
                </a:ext>
              </a:extLst>
            </p:cNvPr>
            <p:cNvGrpSpPr/>
            <p:nvPr/>
          </p:nvGrpSpPr>
          <p:grpSpPr>
            <a:xfrm>
              <a:off x="563724" y="3479663"/>
              <a:ext cx="2264861" cy="2079284"/>
              <a:chOff x="944811" y="3367156"/>
              <a:chExt cx="2264861" cy="916321"/>
            </a:xfrm>
          </p:grpSpPr>
          <p:cxnSp>
            <p:nvCxnSpPr>
              <p:cNvPr id="26" name="직선 연결선 25">
                <a:extLst>
                  <a:ext uri="{FF2B5EF4-FFF2-40B4-BE49-F238E27FC236}">
                    <a16:creationId xmlns:a16="http://schemas.microsoft.com/office/drawing/2014/main" id="{B752AE65-27C1-16E7-C243-4A96BA7704B9}"/>
                  </a:ext>
                </a:extLst>
              </p:cNvPr>
              <p:cNvCxnSpPr/>
              <p:nvPr/>
            </p:nvCxnSpPr>
            <p:spPr>
              <a:xfrm>
                <a:off x="944811" y="4283477"/>
                <a:ext cx="2264861"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7" name="직선 연결선 26">
                <a:extLst>
                  <a:ext uri="{FF2B5EF4-FFF2-40B4-BE49-F238E27FC236}">
                    <a16:creationId xmlns:a16="http://schemas.microsoft.com/office/drawing/2014/main" id="{0D594C46-5956-E214-9713-62603FEC76C9}"/>
                  </a:ext>
                </a:extLst>
              </p:cNvPr>
              <p:cNvCxnSpPr>
                <a:cxnSpLocks/>
              </p:cNvCxnSpPr>
              <p:nvPr/>
            </p:nvCxnSpPr>
            <p:spPr>
              <a:xfrm flipV="1">
                <a:off x="2083831" y="3367156"/>
                <a:ext cx="0" cy="916321"/>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graphicFrame>
        <p:nvGraphicFramePr>
          <p:cNvPr id="28" name="표 27">
            <a:extLst>
              <a:ext uri="{FF2B5EF4-FFF2-40B4-BE49-F238E27FC236}">
                <a16:creationId xmlns:a16="http://schemas.microsoft.com/office/drawing/2014/main" id="{5E15F942-7210-4655-E38D-69593456A6C7}"/>
              </a:ext>
            </a:extLst>
          </p:cNvPr>
          <p:cNvGraphicFramePr>
            <a:graphicFrameLocks noGrp="1"/>
          </p:cNvGraphicFramePr>
          <p:nvPr>
            <p:extLst>
              <p:ext uri="{D42A27DB-BD31-4B8C-83A1-F6EECF244321}">
                <p14:modId xmlns:p14="http://schemas.microsoft.com/office/powerpoint/2010/main" val="2930907524"/>
              </p:ext>
            </p:extLst>
          </p:nvPr>
        </p:nvGraphicFramePr>
        <p:xfrm>
          <a:off x="2887176" y="3808672"/>
          <a:ext cx="1450618" cy="880930"/>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nchor="ct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전환사채</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40000"/>
                        <a:lumOff val="60000"/>
                      </a:schemeClr>
                    </a:solidFill>
                  </a:tcPr>
                </a:tc>
                <a:tc>
                  <a:txBody>
                    <a:bodyPr anchor="ct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238732575"/>
                  </a:ext>
                </a:extLst>
              </a:tr>
              <a:tr h="176186">
                <a:tc>
                  <a:txBody>
                    <a:bodyPr anchor="ct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물량</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nchor="ct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19968398"/>
                  </a:ext>
                </a:extLst>
              </a:tr>
              <a:tr h="176186">
                <a:tc>
                  <a:txBody>
                    <a:bodyPr anchor="ct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Coupon</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806573407"/>
                  </a:ext>
                </a:extLst>
              </a:tr>
              <a:tr h="176186">
                <a:tc>
                  <a:txBody>
                    <a:bodyPr anchor="ct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YTM(P)</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5.95%</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38216911"/>
                  </a:ext>
                </a:extLst>
              </a:tr>
            </a:tbl>
          </a:graphicData>
        </a:graphic>
      </p:graphicFrame>
      <p:graphicFrame>
        <p:nvGraphicFramePr>
          <p:cNvPr id="29" name="표 28">
            <a:extLst>
              <a:ext uri="{FF2B5EF4-FFF2-40B4-BE49-F238E27FC236}">
                <a16:creationId xmlns:a16="http://schemas.microsoft.com/office/drawing/2014/main" id="{875D94BE-ACFF-BE85-5A11-2BA9A1DA1006}"/>
              </a:ext>
            </a:extLst>
          </p:cNvPr>
          <p:cNvGraphicFramePr>
            <a:graphicFrameLocks noGrp="1"/>
          </p:cNvGraphicFramePr>
          <p:nvPr/>
        </p:nvGraphicFramePr>
        <p:xfrm>
          <a:off x="563722" y="6043956"/>
          <a:ext cx="3807296" cy="504000"/>
        </p:xfrm>
        <a:graphic>
          <a:graphicData uri="http://schemas.openxmlformats.org/drawingml/2006/table">
            <a:tbl>
              <a:tblPr>
                <a:tableStyleId>{5C22544A-7EE6-4342-B048-85BDC9FD1C3A}</a:tableStyleId>
              </a:tblPr>
              <a:tblGrid>
                <a:gridCol w="951824">
                  <a:extLst>
                    <a:ext uri="{9D8B030D-6E8A-4147-A177-3AD203B41FA5}">
                      <a16:colId xmlns:a16="http://schemas.microsoft.com/office/drawing/2014/main" val="1234754593"/>
                    </a:ext>
                  </a:extLst>
                </a:gridCol>
                <a:gridCol w="951824">
                  <a:extLst>
                    <a:ext uri="{9D8B030D-6E8A-4147-A177-3AD203B41FA5}">
                      <a16:colId xmlns:a16="http://schemas.microsoft.com/office/drawing/2014/main" val="620841542"/>
                    </a:ext>
                  </a:extLst>
                </a:gridCol>
                <a:gridCol w="951824">
                  <a:extLst>
                    <a:ext uri="{9D8B030D-6E8A-4147-A177-3AD203B41FA5}">
                      <a16:colId xmlns:a16="http://schemas.microsoft.com/office/drawing/2014/main" val="1274709765"/>
                    </a:ext>
                  </a:extLst>
                </a:gridCol>
                <a:gridCol w="951824">
                  <a:extLst>
                    <a:ext uri="{9D8B030D-6E8A-4147-A177-3AD203B41FA5}">
                      <a16:colId xmlns:a16="http://schemas.microsoft.com/office/drawing/2014/main" val="1921278914"/>
                    </a:ext>
                  </a:extLst>
                </a:gridCol>
              </a:tblGrid>
              <a:tr h="252000">
                <a:tc>
                  <a:txBody>
                    <a:bodyPr anchor="ctr"/>
                    <a:lstStyle/>
                    <a:p>
                      <a:pPr algn="ctr" fontAlgn="ctr">
                        <a:buNone/>
                      </a:pPr>
                      <a:r>
                        <a:rPr lang="ko-KR" altLang="en-US"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nchor="ctr"/>
                    <a:lstStyle/>
                    <a:p>
                      <a:pPr algn="ctr" fontAlgn="ctr">
                        <a:buNone/>
                      </a:pPr>
                      <a:r>
                        <a:rPr lang="ko-KR" altLang="en-US"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nchor="ctr"/>
                    <a:lstStyle/>
                    <a:p>
                      <a:pPr algn="ctr" fontAlgn="ctr">
                        <a:buNone/>
                      </a:pPr>
                      <a:r>
                        <a:rPr lang="en-US" alt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CoC(C.G</a:t>
                      </a:r>
                      <a:r>
                        <a:rPr lang="ko-KR" altLang="en-US"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제외</a:t>
                      </a:r>
                      <a:r>
                        <a:rPr lang="en-US" alt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nchor="ctr"/>
                    <a:lstStyle/>
                    <a:p>
                      <a:pPr algn="ctr" fontAlgn="ctr">
                        <a:buNone/>
                      </a:pPr>
                      <a:r>
                        <a:rPr lang="en-US" alt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a:t>
                      </a:r>
                      <a:r>
                        <a:rPr lang="ko-KR" altLang="en-US"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포함</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65051867"/>
                  </a:ext>
                </a:extLst>
              </a:tr>
              <a:tr h="252000">
                <a:tc>
                  <a:txBody>
                    <a:bodyPr anchor="ctr"/>
                    <a:lstStyle/>
                    <a:p>
                      <a:pPr algn="ctr" fontAlgn="ctr">
                        <a:buNone/>
                      </a:pPr>
                      <a:r>
                        <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총 투자금액</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95000"/>
                      </a:schemeClr>
                    </a:solidFill>
                  </a:tcPr>
                </a:tc>
                <a:tc>
                  <a:txBody>
                    <a:bodyPr anchor="ctr"/>
                    <a:lstStyle/>
                    <a:p>
                      <a:pPr algn="ctr" fontAlgn="ctr">
                        <a:buNone/>
                      </a:pPr>
                      <a:r>
                        <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a:t>
                      </a:r>
                      <a:r>
                        <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nchor="ctr"/>
                    <a:lstStyle/>
                    <a:p>
                      <a:pPr algn="ctr" fontAlgn="ctr">
                        <a:buNone/>
                      </a:pPr>
                      <a:r>
                        <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nchor="ctr"/>
                    <a:lstStyle/>
                    <a:p>
                      <a:pPr algn="ctr" fontAlgn="ctr">
                        <a:buNone/>
                      </a:pPr>
                      <a:r>
                        <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11.0%</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36492576"/>
                  </a:ext>
                </a:extLst>
              </a:tr>
            </a:tbl>
          </a:graphicData>
        </a:graphic>
      </p:graphicFrame>
      <p:graphicFrame>
        <p:nvGraphicFramePr>
          <p:cNvPr id="30" name="표 29">
            <a:extLst>
              <a:ext uri="{FF2B5EF4-FFF2-40B4-BE49-F238E27FC236}">
                <a16:creationId xmlns:a16="http://schemas.microsoft.com/office/drawing/2014/main" id="{9889D3EF-6641-86A0-7307-9D1BFB91F9CB}"/>
              </a:ext>
            </a:extLst>
          </p:cNvPr>
          <p:cNvGraphicFramePr>
            <a:graphicFrameLocks noGrp="1"/>
          </p:cNvGraphicFramePr>
          <p:nvPr>
            <p:extLst>
              <p:ext uri="{D42A27DB-BD31-4B8C-83A1-F6EECF244321}">
                <p14:modId xmlns:p14="http://schemas.microsoft.com/office/powerpoint/2010/main" val="1805577765"/>
              </p:ext>
            </p:extLst>
          </p:nvPr>
        </p:nvGraphicFramePr>
        <p:xfrm>
          <a:off x="2885259" y="2743592"/>
          <a:ext cx="1450618" cy="704744"/>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nchor="ct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사모사채</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nchor="ct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238732575"/>
                  </a:ext>
                </a:extLst>
              </a:tr>
              <a:tr h="176186">
                <a:tc>
                  <a:txBody>
                    <a:bodyPr anchor="ct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물량</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nchor="ct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04013980"/>
                  </a:ext>
                </a:extLst>
              </a:tr>
              <a:tr h="176186">
                <a:tc>
                  <a:txBody>
                    <a:bodyPr anchor="ct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이자율</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806573407"/>
                  </a:ext>
                </a:extLst>
              </a:tr>
            </a:tbl>
          </a:graphicData>
        </a:graphic>
      </p:graphicFrame>
      <p:graphicFrame>
        <p:nvGraphicFramePr>
          <p:cNvPr id="34" name="표 33">
            <a:extLst>
              <a:ext uri="{FF2B5EF4-FFF2-40B4-BE49-F238E27FC236}">
                <a16:creationId xmlns:a16="http://schemas.microsoft.com/office/drawing/2014/main" id="{EBBCA2B8-D593-A45E-8365-8E02EC21C0BB}"/>
              </a:ext>
            </a:extLst>
          </p:cNvPr>
          <p:cNvGraphicFramePr>
            <a:graphicFrameLocks noGrp="1"/>
          </p:cNvGraphicFramePr>
          <p:nvPr>
            <p:extLst>
              <p:ext uri="{D42A27DB-BD31-4B8C-83A1-F6EECF244321}">
                <p14:modId xmlns:p14="http://schemas.microsoft.com/office/powerpoint/2010/main" val="110044217"/>
              </p:ext>
            </p:extLst>
          </p:nvPr>
        </p:nvGraphicFramePr>
        <p:xfrm>
          <a:off x="2887176" y="5010073"/>
          <a:ext cx="1450618" cy="528558"/>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nchor="ct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조달계획</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nchor="ct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38732575"/>
                  </a:ext>
                </a:extLst>
              </a:tr>
              <a:tr h="176186">
                <a:tc>
                  <a:txBody>
                    <a:bodyPr anchor="ct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우선주원본</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373</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nchor="ct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매각원본</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205</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19968398"/>
                  </a:ext>
                </a:extLst>
              </a:tr>
            </a:tbl>
          </a:graphicData>
        </a:graphic>
      </p:graphicFrame>
      <p:sp>
        <p:nvSpPr>
          <p:cNvPr id="35" name="직사각형 34">
            <a:extLst>
              <a:ext uri="{FF2B5EF4-FFF2-40B4-BE49-F238E27FC236}">
                <a16:creationId xmlns:a16="http://schemas.microsoft.com/office/drawing/2014/main" id="{5D27D581-CB3A-06C6-0AC1-2791A273C43C}"/>
              </a:ext>
            </a:extLst>
          </p:cNvPr>
          <p:cNvSpPr/>
          <p:nvPr/>
        </p:nvSpPr>
        <p:spPr>
          <a:xfrm>
            <a:off x="5358479" y="3740546"/>
            <a:ext cx="2520000" cy="1208202"/>
          </a:xfrm>
          <a:prstGeom prst="rect">
            <a:avLst/>
          </a:prstGeom>
          <a:noFill/>
          <a:ln w="28575">
            <a:solidFill>
              <a:schemeClr val="tx1">
                <a:lumMod val="50000"/>
                <a:lumOff val="50000"/>
              </a:schemeClr>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45" name="차트 44">
            <a:extLst>
              <a:ext uri="{FF2B5EF4-FFF2-40B4-BE49-F238E27FC236}">
                <a16:creationId xmlns:a16="http://schemas.microsoft.com/office/drawing/2014/main" id="{220EE368-A5BE-AB00-BAE6-411227D180B6}"/>
              </a:ext>
            </a:extLst>
          </p:cNvPr>
          <p:cNvGraphicFramePr/>
          <p:nvPr>
            <p:extLst>
              <p:ext uri="{D42A27DB-BD31-4B8C-83A1-F6EECF244321}">
                <p14:modId xmlns:p14="http://schemas.microsoft.com/office/powerpoint/2010/main" val="3725663090"/>
              </p:ext>
            </p:extLst>
          </p:nvPr>
        </p:nvGraphicFramePr>
        <p:xfrm>
          <a:off x="4613081" y="5458554"/>
          <a:ext cx="5702294" cy="1969078"/>
        </p:xfrm>
        <a:graphic>
          <a:graphicData uri="http://schemas.openxmlformats.org/drawingml/2006/chart">
            <c:chart xmlns:c="http://schemas.openxmlformats.org/drawingml/2006/chart" xmlns:r="http://schemas.openxmlformats.org/officeDocument/2006/relationships" r:id="rId3"/>
          </a:graphicData>
        </a:graphic>
      </p:graphicFrame>
      <p:grpSp>
        <p:nvGrpSpPr>
          <p:cNvPr id="46" name="그룹 45">
            <a:extLst>
              <a:ext uri="{FF2B5EF4-FFF2-40B4-BE49-F238E27FC236}">
                <a16:creationId xmlns:a16="http://schemas.microsoft.com/office/drawing/2014/main" id="{48A2DCAF-2FDE-ED96-60AF-D4236D84E208}"/>
              </a:ext>
            </a:extLst>
          </p:cNvPr>
          <p:cNvGrpSpPr/>
          <p:nvPr/>
        </p:nvGrpSpPr>
        <p:grpSpPr>
          <a:xfrm>
            <a:off x="5166332" y="5223868"/>
            <a:ext cx="5122754" cy="123111"/>
            <a:chOff x="4471624" y="6645058"/>
            <a:chExt cx="5558410" cy="123111"/>
          </a:xfrm>
        </p:grpSpPr>
        <p:sp>
          <p:nvSpPr>
            <p:cNvPr id="47" name="TextBox 46">
              <a:extLst>
                <a:ext uri="{FF2B5EF4-FFF2-40B4-BE49-F238E27FC236}">
                  <a16:creationId xmlns:a16="http://schemas.microsoft.com/office/drawing/2014/main" id="{73CDF6B3-0C6F-799C-34E6-3A1C071ECB09}"/>
                </a:ext>
              </a:extLst>
            </p:cNvPr>
            <p:cNvSpPr txBox="1"/>
            <p:nvPr/>
          </p:nvSpPr>
          <p:spPr>
            <a:xfrm>
              <a:off x="5036088"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27.05)</a:t>
              </a:r>
            </a:p>
          </p:txBody>
        </p:sp>
        <p:sp>
          <p:nvSpPr>
            <p:cNvPr id="48" name="TextBox 47">
              <a:extLst>
                <a:ext uri="{FF2B5EF4-FFF2-40B4-BE49-F238E27FC236}">
                  <a16:creationId xmlns:a16="http://schemas.microsoft.com/office/drawing/2014/main" id="{A7B26F46-1835-EE77-05FB-332D0784B550}"/>
                </a:ext>
              </a:extLst>
            </p:cNvPr>
            <p:cNvSpPr txBox="1"/>
            <p:nvPr/>
          </p:nvSpPr>
          <p:spPr>
            <a:xfrm>
              <a:off x="5600552"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a:t>
              </a:r>
            </a:p>
          </p:txBody>
        </p:sp>
        <p:sp>
          <p:nvSpPr>
            <p:cNvPr id="49" name="TextBox 48">
              <a:extLst>
                <a:ext uri="{FF2B5EF4-FFF2-40B4-BE49-F238E27FC236}">
                  <a16:creationId xmlns:a16="http://schemas.microsoft.com/office/drawing/2014/main" id="{1CDD8088-CEA4-E167-1C4C-E14C45E8DAA8}"/>
                </a:ext>
              </a:extLst>
            </p:cNvPr>
            <p:cNvSpPr txBox="1"/>
            <p:nvPr/>
          </p:nvSpPr>
          <p:spPr>
            <a:xfrm>
              <a:off x="6165016"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28.05)</a:t>
              </a:r>
            </a:p>
          </p:txBody>
        </p:sp>
        <p:sp>
          <p:nvSpPr>
            <p:cNvPr id="50" name="TextBox 49">
              <a:extLst>
                <a:ext uri="{FF2B5EF4-FFF2-40B4-BE49-F238E27FC236}">
                  <a16:creationId xmlns:a16="http://schemas.microsoft.com/office/drawing/2014/main" id="{F68922CB-8FA8-EB20-095F-63117205B6EC}"/>
                </a:ext>
              </a:extLst>
            </p:cNvPr>
            <p:cNvSpPr txBox="1"/>
            <p:nvPr/>
          </p:nvSpPr>
          <p:spPr>
            <a:xfrm>
              <a:off x="6729480"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28.11)</a:t>
              </a:r>
            </a:p>
          </p:txBody>
        </p:sp>
        <p:sp>
          <p:nvSpPr>
            <p:cNvPr id="51" name="TextBox 50">
              <a:extLst>
                <a:ext uri="{FF2B5EF4-FFF2-40B4-BE49-F238E27FC236}">
                  <a16:creationId xmlns:a16="http://schemas.microsoft.com/office/drawing/2014/main" id="{C994DC00-132B-EA12-F59C-59CA5C71BC43}"/>
                </a:ext>
              </a:extLst>
            </p:cNvPr>
            <p:cNvSpPr txBox="1"/>
            <p:nvPr/>
          </p:nvSpPr>
          <p:spPr>
            <a:xfrm>
              <a:off x="7293944"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29.05)</a:t>
              </a:r>
            </a:p>
          </p:txBody>
        </p:sp>
        <p:sp>
          <p:nvSpPr>
            <p:cNvPr id="52" name="TextBox 51">
              <a:extLst>
                <a:ext uri="{FF2B5EF4-FFF2-40B4-BE49-F238E27FC236}">
                  <a16:creationId xmlns:a16="http://schemas.microsoft.com/office/drawing/2014/main" id="{7BDEACA7-FAC3-E684-40E4-3F3B945EAC66}"/>
                </a:ext>
              </a:extLst>
            </p:cNvPr>
            <p:cNvSpPr txBox="1"/>
            <p:nvPr/>
          </p:nvSpPr>
          <p:spPr>
            <a:xfrm>
              <a:off x="7858408"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29.11)</a:t>
              </a:r>
            </a:p>
          </p:txBody>
        </p:sp>
        <p:sp>
          <p:nvSpPr>
            <p:cNvPr id="53" name="TextBox 52">
              <a:extLst>
                <a:ext uri="{FF2B5EF4-FFF2-40B4-BE49-F238E27FC236}">
                  <a16:creationId xmlns:a16="http://schemas.microsoft.com/office/drawing/2014/main" id="{07DFB728-78F1-069F-EADF-28E0D58E7097}"/>
                </a:ext>
              </a:extLst>
            </p:cNvPr>
            <p:cNvSpPr txBox="1"/>
            <p:nvPr/>
          </p:nvSpPr>
          <p:spPr>
            <a:xfrm>
              <a:off x="8422872"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30.05)</a:t>
              </a:r>
            </a:p>
          </p:txBody>
        </p:sp>
        <p:sp>
          <p:nvSpPr>
            <p:cNvPr id="54" name="TextBox 53">
              <a:extLst>
                <a:ext uri="{FF2B5EF4-FFF2-40B4-BE49-F238E27FC236}">
                  <a16:creationId xmlns:a16="http://schemas.microsoft.com/office/drawing/2014/main" id="{E785B94A-87BD-ACBC-6C82-E33E6628A3B6}"/>
                </a:ext>
              </a:extLst>
            </p:cNvPr>
            <p:cNvSpPr txBox="1"/>
            <p:nvPr/>
          </p:nvSpPr>
          <p:spPr>
            <a:xfrm>
              <a:off x="8987336"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30.11)</a:t>
              </a:r>
            </a:p>
          </p:txBody>
        </p:sp>
        <p:sp>
          <p:nvSpPr>
            <p:cNvPr id="55" name="TextBox 54">
              <a:extLst>
                <a:ext uri="{FF2B5EF4-FFF2-40B4-BE49-F238E27FC236}">
                  <a16:creationId xmlns:a16="http://schemas.microsoft.com/office/drawing/2014/main" id="{F722AEF6-BFCA-12F7-1819-EC68AF1D9ED3}"/>
                </a:ext>
              </a:extLst>
            </p:cNvPr>
            <p:cNvSpPr txBox="1"/>
            <p:nvPr/>
          </p:nvSpPr>
          <p:spPr>
            <a:xfrm>
              <a:off x="9551796"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31.05)</a:t>
              </a:r>
            </a:p>
          </p:txBody>
        </p:sp>
        <p:sp>
          <p:nvSpPr>
            <p:cNvPr id="56" name="TextBox 55">
              <a:extLst>
                <a:ext uri="{FF2B5EF4-FFF2-40B4-BE49-F238E27FC236}">
                  <a16:creationId xmlns:a16="http://schemas.microsoft.com/office/drawing/2014/main" id="{1098F35C-2CE5-722C-9664-BEF0C729A123}"/>
                </a:ext>
              </a:extLst>
            </p:cNvPr>
            <p:cNvSpPr txBox="1"/>
            <p:nvPr/>
          </p:nvSpPr>
          <p:spPr>
            <a:xfrm>
              <a:off x="4471624"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26.11)</a:t>
              </a:r>
            </a:p>
          </p:txBody>
        </p:sp>
      </p:grpSp>
      <p:grpSp>
        <p:nvGrpSpPr>
          <p:cNvPr id="89" name="그룹 88">
            <a:extLst>
              <a:ext uri="{FF2B5EF4-FFF2-40B4-BE49-F238E27FC236}">
                <a16:creationId xmlns:a16="http://schemas.microsoft.com/office/drawing/2014/main" id="{D4EB81F6-1721-5783-6835-194AC8DA66DF}"/>
              </a:ext>
            </a:extLst>
          </p:cNvPr>
          <p:cNvGrpSpPr/>
          <p:nvPr/>
        </p:nvGrpSpPr>
        <p:grpSpPr>
          <a:xfrm>
            <a:off x="5166332" y="5075981"/>
            <a:ext cx="5122754" cy="153888"/>
            <a:chOff x="5166332" y="5106046"/>
            <a:chExt cx="5122754" cy="153888"/>
          </a:xfrm>
        </p:grpSpPr>
        <p:sp>
          <p:nvSpPr>
            <p:cNvPr id="70" name="TextBox 69">
              <a:extLst>
                <a:ext uri="{FF2B5EF4-FFF2-40B4-BE49-F238E27FC236}">
                  <a16:creationId xmlns:a16="http://schemas.microsoft.com/office/drawing/2014/main" id="{8DA7CCEA-910C-67E5-8B95-AD6045F9B2FC}"/>
                </a:ext>
              </a:extLst>
            </p:cNvPr>
            <p:cNvSpPr txBox="1"/>
            <p:nvPr/>
          </p:nvSpPr>
          <p:spPr>
            <a:xfrm>
              <a:off x="5686555"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FY14</a:t>
              </a:r>
            </a:p>
          </p:txBody>
        </p:sp>
        <p:sp>
          <p:nvSpPr>
            <p:cNvPr id="72" name="TextBox 71">
              <a:extLst>
                <a:ext uri="{FF2B5EF4-FFF2-40B4-BE49-F238E27FC236}">
                  <a16:creationId xmlns:a16="http://schemas.microsoft.com/office/drawing/2014/main" id="{AF3A853F-837F-0758-E210-31FD956965ED}"/>
                </a:ext>
              </a:extLst>
            </p:cNvPr>
            <p:cNvSpPr txBox="1"/>
            <p:nvPr/>
          </p:nvSpPr>
          <p:spPr>
            <a:xfrm>
              <a:off x="6206777" y="5106046"/>
              <a:ext cx="440755" cy="153888"/>
            </a:xfrm>
            <a:prstGeom prst="rect">
              <a:avLst/>
            </a:prstGeom>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FY15</a:t>
              </a:r>
            </a:p>
          </p:txBody>
        </p:sp>
        <p:sp>
          <p:nvSpPr>
            <p:cNvPr id="74" name="TextBox 73">
              <a:extLst>
                <a:ext uri="{FF2B5EF4-FFF2-40B4-BE49-F238E27FC236}">
                  <a16:creationId xmlns:a16="http://schemas.microsoft.com/office/drawing/2014/main" id="{F594A6F6-D565-11FA-81AD-C1B8AE17D2A8}"/>
                </a:ext>
              </a:extLst>
            </p:cNvPr>
            <p:cNvSpPr txBox="1"/>
            <p:nvPr/>
          </p:nvSpPr>
          <p:spPr>
            <a:xfrm>
              <a:off x="6727000"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FY16</a:t>
              </a:r>
            </a:p>
          </p:txBody>
        </p:sp>
        <p:sp>
          <p:nvSpPr>
            <p:cNvPr id="76" name="TextBox 75">
              <a:extLst>
                <a:ext uri="{FF2B5EF4-FFF2-40B4-BE49-F238E27FC236}">
                  <a16:creationId xmlns:a16="http://schemas.microsoft.com/office/drawing/2014/main" id="{FD28038E-75B2-317C-1E19-073D34C66A27}"/>
                </a:ext>
              </a:extLst>
            </p:cNvPr>
            <p:cNvSpPr txBox="1"/>
            <p:nvPr/>
          </p:nvSpPr>
          <p:spPr>
            <a:xfrm>
              <a:off x="7247222"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FY17</a:t>
              </a:r>
            </a:p>
          </p:txBody>
        </p:sp>
        <p:sp>
          <p:nvSpPr>
            <p:cNvPr id="78" name="TextBox 77">
              <a:extLst>
                <a:ext uri="{FF2B5EF4-FFF2-40B4-BE49-F238E27FC236}">
                  <a16:creationId xmlns:a16="http://schemas.microsoft.com/office/drawing/2014/main" id="{6F0F33CE-F3D9-D957-406C-F4DD819A61C9}"/>
                </a:ext>
              </a:extLst>
            </p:cNvPr>
            <p:cNvSpPr txBox="1"/>
            <p:nvPr/>
          </p:nvSpPr>
          <p:spPr>
            <a:xfrm>
              <a:off x="7767445"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FY18</a:t>
              </a:r>
            </a:p>
          </p:txBody>
        </p:sp>
        <p:sp>
          <p:nvSpPr>
            <p:cNvPr id="80" name="TextBox 79">
              <a:extLst>
                <a:ext uri="{FF2B5EF4-FFF2-40B4-BE49-F238E27FC236}">
                  <a16:creationId xmlns:a16="http://schemas.microsoft.com/office/drawing/2014/main" id="{DF51BE9E-5D3F-478A-9819-A6CEC201BB63}"/>
                </a:ext>
              </a:extLst>
            </p:cNvPr>
            <p:cNvSpPr txBox="1"/>
            <p:nvPr/>
          </p:nvSpPr>
          <p:spPr>
            <a:xfrm>
              <a:off x="8287667"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FY19</a:t>
              </a:r>
            </a:p>
          </p:txBody>
        </p:sp>
        <p:sp>
          <p:nvSpPr>
            <p:cNvPr id="82" name="TextBox 81">
              <a:extLst>
                <a:ext uri="{FF2B5EF4-FFF2-40B4-BE49-F238E27FC236}">
                  <a16:creationId xmlns:a16="http://schemas.microsoft.com/office/drawing/2014/main" id="{C84098D6-0F77-D646-B207-BB7C04BAE0A8}"/>
                </a:ext>
              </a:extLst>
            </p:cNvPr>
            <p:cNvSpPr txBox="1"/>
            <p:nvPr/>
          </p:nvSpPr>
          <p:spPr>
            <a:xfrm>
              <a:off x="8807890"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FY20</a:t>
              </a:r>
            </a:p>
          </p:txBody>
        </p:sp>
        <p:sp>
          <p:nvSpPr>
            <p:cNvPr id="84" name="TextBox 83">
              <a:extLst>
                <a:ext uri="{FF2B5EF4-FFF2-40B4-BE49-F238E27FC236}">
                  <a16:creationId xmlns:a16="http://schemas.microsoft.com/office/drawing/2014/main" id="{DE5A4BA4-1754-4A40-6B03-696D12166A7D}"/>
                </a:ext>
              </a:extLst>
            </p:cNvPr>
            <p:cNvSpPr txBox="1"/>
            <p:nvPr/>
          </p:nvSpPr>
          <p:spPr>
            <a:xfrm>
              <a:off x="9328112"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FY21</a:t>
              </a:r>
            </a:p>
          </p:txBody>
        </p:sp>
        <p:sp>
          <p:nvSpPr>
            <p:cNvPr id="86" name="TextBox 85">
              <a:extLst>
                <a:ext uri="{FF2B5EF4-FFF2-40B4-BE49-F238E27FC236}">
                  <a16:creationId xmlns:a16="http://schemas.microsoft.com/office/drawing/2014/main" id="{72B56555-DE5D-2D0B-9424-C892BD6BAA96}"/>
                </a:ext>
              </a:extLst>
            </p:cNvPr>
            <p:cNvSpPr txBox="1"/>
            <p:nvPr/>
          </p:nvSpPr>
          <p:spPr>
            <a:xfrm>
              <a:off x="9848331"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FY22</a:t>
              </a:r>
            </a:p>
          </p:txBody>
        </p:sp>
        <p:sp>
          <p:nvSpPr>
            <p:cNvPr id="88" name="TextBox 87">
              <a:extLst>
                <a:ext uri="{FF2B5EF4-FFF2-40B4-BE49-F238E27FC236}">
                  <a16:creationId xmlns:a16="http://schemas.microsoft.com/office/drawing/2014/main" id="{70E8AD82-7E9D-66CA-E484-28F9E106202B}"/>
                </a:ext>
              </a:extLst>
            </p:cNvPr>
            <p:cNvSpPr txBox="1"/>
            <p:nvPr/>
          </p:nvSpPr>
          <p:spPr>
            <a:xfrm>
              <a:off x="5166332" y="5106046"/>
              <a:ext cx="440755" cy="153888"/>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FY13</a:t>
              </a:r>
            </a:p>
          </p:txBody>
        </p:sp>
      </p:grpSp>
      <p:grpSp>
        <p:nvGrpSpPr>
          <p:cNvPr id="99" name="그룹 98">
            <a:extLst>
              <a:ext uri="{FF2B5EF4-FFF2-40B4-BE49-F238E27FC236}">
                <a16:creationId xmlns:a16="http://schemas.microsoft.com/office/drawing/2014/main" id="{F4A69EE1-08F3-423C-B934-E22FD1A72DB0}"/>
              </a:ext>
            </a:extLst>
          </p:cNvPr>
          <p:cNvGrpSpPr/>
          <p:nvPr/>
        </p:nvGrpSpPr>
        <p:grpSpPr>
          <a:xfrm>
            <a:off x="4651841" y="3189360"/>
            <a:ext cx="5663534" cy="169277"/>
            <a:chOff x="4651841" y="2925141"/>
            <a:chExt cx="5663534" cy="169277"/>
          </a:xfrm>
        </p:grpSpPr>
        <p:cxnSp>
          <p:nvCxnSpPr>
            <p:cNvPr id="96" name="직선 연결선 95">
              <a:extLst>
                <a:ext uri="{FF2B5EF4-FFF2-40B4-BE49-F238E27FC236}">
                  <a16:creationId xmlns:a16="http://schemas.microsoft.com/office/drawing/2014/main" id="{56F6D79C-A93F-6F1E-19A7-048B18EF5415}"/>
                </a:ext>
              </a:extLst>
            </p:cNvPr>
            <p:cNvCxnSpPr>
              <a:cxnSpLocks/>
            </p:cNvCxnSpPr>
            <p:nvPr/>
          </p:nvCxnSpPr>
          <p:spPr>
            <a:xfrm>
              <a:off x="5386709" y="3004229"/>
              <a:ext cx="4928666" cy="0"/>
            </a:xfrm>
            <a:prstGeom prst="line">
              <a:avLst/>
            </a:prstGeom>
            <a:ln w="15875">
              <a:solidFill>
                <a:schemeClr val="accent4">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98" name="TextBox 97">
              <a:extLst>
                <a:ext uri="{FF2B5EF4-FFF2-40B4-BE49-F238E27FC236}">
                  <a16:creationId xmlns:a16="http://schemas.microsoft.com/office/drawing/2014/main" id="{98765C7F-F02E-5B07-91B8-EF142EA6DDC1}"/>
                </a:ext>
              </a:extLst>
            </p:cNvPr>
            <p:cNvSpPr txBox="1"/>
            <p:nvPr/>
          </p:nvSpPr>
          <p:spPr>
            <a:xfrm>
              <a:off x="4651841" y="2925141"/>
              <a:ext cx="711403" cy="169277"/>
            </a:xfrm>
            <a:prstGeom prst="rect">
              <a:avLst/>
            </a:prstGeom>
            <a:solidFill>
              <a:schemeClr val="accent4">
                <a:lumMod val="40000"/>
                <a:lumOff val="60000"/>
              </a:schemeClr>
            </a:solid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rtl="0" eaLnBrk="1" fontAlgn="auto" latinLnBrk="0" hangingPunct="1">
                <a:spcBef>
                  <a:spcPts val="0"/>
                </a:spcBef>
                <a:spcAft>
                  <a:spcPts val="0"/>
                </a:spcAft>
                <a:buClrTx/>
                <a:buSzTx/>
                <a:buFont typeface="Wingdings" panose="05000000000000000000" pitchFamily="2" charset="2"/>
                <a:buNone/>
                <a:tabLst/>
                <a:defRPr/>
              </a:pPr>
              <a:r>
                <a:rPr lang="en-US" altLang="ko-KR" sz="1100" kern="0" dirty="0">
                  <a:solidFill>
                    <a:srgbClr val="C00000"/>
                  </a:solidFill>
                </a:rPr>
                <a:t>CoC 6.2%</a:t>
              </a:r>
              <a:endParaRPr kumimoji="0" lang="en-US" altLang="ko-KR" sz="1100" i="0" u="none" strike="noStrike" kern="0" cap="none" spc="0" normalizeH="0" baseline="0" noProof="0" dirty="0">
                <a:ln>
                  <a:noFill/>
                </a:ln>
                <a:solidFill>
                  <a:srgbClr val="C00000"/>
                </a:solidFill>
                <a:effectLst/>
                <a:uLnTx/>
                <a:uFillTx/>
              </a:endParaRPr>
            </a:p>
          </p:txBody>
        </p:sp>
      </p:grpSp>
      <p:grpSp>
        <p:nvGrpSpPr>
          <p:cNvPr id="108" name="그룹 107">
            <a:extLst>
              <a:ext uri="{FF2B5EF4-FFF2-40B4-BE49-F238E27FC236}">
                <a16:creationId xmlns:a16="http://schemas.microsoft.com/office/drawing/2014/main" id="{E912B092-0C8A-24E2-8005-A68B52EFA6B7}"/>
              </a:ext>
            </a:extLst>
          </p:cNvPr>
          <p:cNvGrpSpPr/>
          <p:nvPr/>
        </p:nvGrpSpPr>
        <p:grpSpPr>
          <a:xfrm>
            <a:off x="5166332" y="5386854"/>
            <a:ext cx="5010020" cy="108012"/>
            <a:chOff x="5166332" y="5348182"/>
            <a:chExt cx="5010020" cy="108012"/>
          </a:xfrm>
        </p:grpSpPr>
        <p:cxnSp>
          <p:nvCxnSpPr>
            <p:cNvPr id="94" name="직선 연결선 93">
              <a:extLst>
                <a:ext uri="{FF2B5EF4-FFF2-40B4-BE49-F238E27FC236}">
                  <a16:creationId xmlns:a16="http://schemas.microsoft.com/office/drawing/2014/main" id="{383DA8AC-EFBC-A324-9823-0BC02CC79A84}"/>
                </a:ext>
              </a:extLst>
            </p:cNvPr>
            <p:cNvCxnSpPr/>
            <p:nvPr/>
          </p:nvCxnSpPr>
          <p:spPr>
            <a:xfrm>
              <a:off x="5166332" y="5400017"/>
              <a:ext cx="500411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0" name="직선 연결선 99">
              <a:extLst>
                <a:ext uri="{FF2B5EF4-FFF2-40B4-BE49-F238E27FC236}">
                  <a16:creationId xmlns:a16="http://schemas.microsoft.com/office/drawing/2014/main" id="{B94EED31-5A9D-B664-C7F0-69607DAA05A5}"/>
                </a:ext>
              </a:extLst>
            </p:cNvPr>
            <p:cNvCxnSpPr>
              <a:cxnSpLocks/>
            </p:cNvCxnSpPr>
            <p:nvPr/>
          </p:nvCxnSpPr>
          <p:spPr>
            <a:xfrm>
              <a:off x="5166332" y="5348182"/>
              <a:ext cx="0" cy="10801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3" name="직선 연결선 102">
              <a:extLst>
                <a:ext uri="{FF2B5EF4-FFF2-40B4-BE49-F238E27FC236}">
                  <a16:creationId xmlns:a16="http://schemas.microsoft.com/office/drawing/2014/main" id="{9A836CDF-569B-4674-59BE-D6967E08E5B3}"/>
                </a:ext>
              </a:extLst>
            </p:cNvPr>
            <p:cNvCxnSpPr>
              <a:cxnSpLocks/>
            </p:cNvCxnSpPr>
            <p:nvPr/>
          </p:nvCxnSpPr>
          <p:spPr>
            <a:xfrm>
              <a:off x="6168336" y="5348182"/>
              <a:ext cx="0" cy="10801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4" name="직선 연결선 103">
              <a:extLst>
                <a:ext uri="{FF2B5EF4-FFF2-40B4-BE49-F238E27FC236}">
                  <a16:creationId xmlns:a16="http://schemas.microsoft.com/office/drawing/2014/main" id="{EB2E3A13-023D-2F56-C8D0-36179B6AF27F}"/>
                </a:ext>
              </a:extLst>
            </p:cNvPr>
            <p:cNvCxnSpPr>
              <a:cxnSpLocks/>
            </p:cNvCxnSpPr>
            <p:nvPr/>
          </p:nvCxnSpPr>
          <p:spPr>
            <a:xfrm>
              <a:off x="10176352" y="5348182"/>
              <a:ext cx="0" cy="10801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5" name="직선 연결선 104">
              <a:extLst>
                <a:ext uri="{FF2B5EF4-FFF2-40B4-BE49-F238E27FC236}">
                  <a16:creationId xmlns:a16="http://schemas.microsoft.com/office/drawing/2014/main" id="{13C8F479-46E7-F134-D285-2CCC4CF372DF}"/>
                </a:ext>
              </a:extLst>
            </p:cNvPr>
            <p:cNvCxnSpPr>
              <a:cxnSpLocks/>
            </p:cNvCxnSpPr>
            <p:nvPr/>
          </p:nvCxnSpPr>
          <p:spPr>
            <a:xfrm>
              <a:off x="9174348" y="5348182"/>
              <a:ext cx="0" cy="10801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6" name="직선 연결선 105">
              <a:extLst>
                <a:ext uri="{FF2B5EF4-FFF2-40B4-BE49-F238E27FC236}">
                  <a16:creationId xmlns:a16="http://schemas.microsoft.com/office/drawing/2014/main" id="{77B7AD69-F668-5D6D-FE31-E9CCE7FA6CB9}"/>
                </a:ext>
              </a:extLst>
            </p:cNvPr>
            <p:cNvCxnSpPr>
              <a:cxnSpLocks/>
            </p:cNvCxnSpPr>
            <p:nvPr/>
          </p:nvCxnSpPr>
          <p:spPr>
            <a:xfrm>
              <a:off x="8172344" y="5348182"/>
              <a:ext cx="0" cy="10801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7" name="직선 연결선 106">
              <a:extLst>
                <a:ext uri="{FF2B5EF4-FFF2-40B4-BE49-F238E27FC236}">
                  <a16:creationId xmlns:a16="http://schemas.microsoft.com/office/drawing/2014/main" id="{232D7B84-5904-3A3E-4B1C-1593DAF922D7}"/>
                </a:ext>
              </a:extLst>
            </p:cNvPr>
            <p:cNvCxnSpPr>
              <a:cxnSpLocks/>
            </p:cNvCxnSpPr>
            <p:nvPr/>
          </p:nvCxnSpPr>
          <p:spPr>
            <a:xfrm>
              <a:off x="7170340" y="5348182"/>
              <a:ext cx="0" cy="10801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10" name="그룹 9">
            <a:extLst>
              <a:ext uri="{FF2B5EF4-FFF2-40B4-BE49-F238E27FC236}">
                <a16:creationId xmlns:a16="http://schemas.microsoft.com/office/drawing/2014/main" id="{88AB08F2-9D51-EED2-F308-68A204FA8824}"/>
              </a:ext>
            </a:extLst>
          </p:cNvPr>
          <p:cNvGrpSpPr/>
          <p:nvPr/>
        </p:nvGrpSpPr>
        <p:grpSpPr>
          <a:xfrm>
            <a:off x="458887" y="1979637"/>
            <a:ext cx="9783663" cy="247712"/>
            <a:chOff x="417444" y="1605420"/>
            <a:chExt cx="8983731" cy="247712"/>
          </a:xfrm>
        </p:grpSpPr>
        <p:sp>
          <p:nvSpPr>
            <p:cNvPr id="31" name="직사각형 30">
              <a:extLst>
                <a:ext uri="{FF2B5EF4-FFF2-40B4-BE49-F238E27FC236}">
                  <a16:creationId xmlns:a16="http://schemas.microsoft.com/office/drawing/2014/main" id="{0358B15F-B154-0C41-B644-3DA500B2EDB4}"/>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32" name="직선 연결선 31">
              <a:extLst>
                <a:ext uri="{FF2B5EF4-FFF2-40B4-BE49-F238E27FC236}">
                  <a16:creationId xmlns:a16="http://schemas.microsoft.com/office/drawing/2014/main" id="{7185617C-0B3B-A3C1-22A1-A6ACC64DF9F0}"/>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33" name="자유형 29">
              <a:extLst>
                <a:ext uri="{FF2B5EF4-FFF2-40B4-BE49-F238E27FC236}">
                  <a16:creationId xmlns:a16="http://schemas.microsoft.com/office/drawing/2014/main" id="{89C0D163-B64F-6550-EA17-EBCA9C56F42E}"/>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36" name="자유형 30">
              <a:extLst>
                <a:ext uri="{FF2B5EF4-FFF2-40B4-BE49-F238E27FC236}">
                  <a16:creationId xmlns:a16="http://schemas.microsoft.com/office/drawing/2014/main" id="{4CE7F9ED-5376-152B-6FE0-A6A13F2C109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38" name="TextBox 37">
              <a:extLst>
                <a:ext uri="{FF2B5EF4-FFF2-40B4-BE49-F238E27FC236}">
                  <a16:creationId xmlns:a16="http://schemas.microsoft.com/office/drawing/2014/main" id="{39D776C5-843E-53A9-374F-E9AB714E9DE1}"/>
                </a:ext>
              </a:extLst>
            </p:cNvPr>
            <p:cNvSpPr txBox="1"/>
            <p:nvPr/>
          </p:nvSpPr>
          <p:spPr>
            <a:xfrm>
              <a:off x="417444" y="1652332"/>
              <a:ext cx="1577466"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투자계획 및 재원조달 계획</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44" name="TextBox 43">
            <a:extLst>
              <a:ext uri="{FF2B5EF4-FFF2-40B4-BE49-F238E27FC236}">
                <a16:creationId xmlns:a16="http://schemas.microsoft.com/office/drawing/2014/main" id="{FF262C19-59F2-15CF-B175-73E0FB2BBA8D}"/>
              </a:ext>
            </a:extLst>
          </p:cNvPr>
          <p:cNvSpPr txBox="1"/>
          <p:nvPr/>
        </p:nvSpPr>
        <p:spPr>
          <a:xfrm>
            <a:off x="283368" y="1040097"/>
            <a:ext cx="10152063" cy="705766"/>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lvl="0" indent="-216000">
              <a:defRPr/>
            </a:pP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약 </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개년 간 단계적으로 전환사채</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사모사채 및 </a:t>
            </a:r>
            <a:r>
              <a:rPr lang="ko-KR" altLang="en-US" sz="1600" dirty="0">
                <a:solidFill>
                  <a:prstClr val="black"/>
                </a:solidFill>
              </a:rPr>
              <a:t>회수 </a:t>
            </a:r>
            <a:r>
              <a:rPr lang="en-US" altLang="ko-KR" sz="1600" dirty="0">
                <a:solidFill>
                  <a:prstClr val="black"/>
                </a:solidFill>
              </a:rPr>
              <a:t>Equity </a:t>
            </a:r>
            <a:r>
              <a:rPr lang="ko-KR" altLang="en-US" sz="1600" dirty="0">
                <a:solidFill>
                  <a:prstClr val="black"/>
                </a:solidFill>
              </a:rPr>
              <a:t>원본</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을 통해 재원조달 예정이며 회사채 발행은 완료된 상태</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lvl="0" indent="179388">
              <a:buNone/>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건 투자의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10</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개년 누적 수익률은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CoC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6.2%, IRR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11.0%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수준이며 본 건 투자로 </a:t>
            </a:r>
            <a:r>
              <a:rPr lang="ko-KR" altLang="en-US" sz="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모리츠의</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배당수익률이 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+10bp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상승할 것으로 기대됨</a:t>
            </a:r>
            <a:endParaRPr kumimoji="0" lang="ko-KR" altLang="en-US" sz="12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Tree>
    <p:extLst>
      <p:ext uri="{BB962C8B-B14F-4D97-AF65-F5344CB8AC3E}">
        <p14:creationId xmlns:p14="http://schemas.microsoft.com/office/powerpoint/2010/main" val="3047414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06694-E844-0A45-1B62-1E8CED637A79}"/>
            </a:ext>
          </a:extLst>
        </p:cNvPr>
        <p:cNvGrpSpPr/>
        <p:nvPr/>
      </p:nvGrpSpPr>
      <p:grpSpPr>
        <a:xfrm>
          <a:off x="0" y="0"/>
          <a:ext cx="0" cy="0"/>
          <a:chOff x="0" y="0"/>
          <a:chExt cx="0" cy="0"/>
        </a:xfrm>
      </p:grpSpPr>
      <p:graphicFrame>
        <p:nvGraphicFramePr>
          <p:cNvPr id="171" name="표 170">
            <a:extLst>
              <a:ext uri="{FF2B5EF4-FFF2-40B4-BE49-F238E27FC236}">
                <a16:creationId xmlns:a16="http://schemas.microsoft.com/office/drawing/2014/main" id="{BB3E544C-E206-A242-DC61-4F6F00B00A65}"/>
              </a:ext>
            </a:extLst>
          </p:cNvPr>
          <p:cNvGraphicFramePr>
            <a:graphicFrameLocks noGrp="1"/>
          </p:cNvGraphicFramePr>
          <p:nvPr>
            <p:extLst>
              <p:ext uri="{D42A27DB-BD31-4B8C-83A1-F6EECF244321}">
                <p14:modId xmlns:p14="http://schemas.microsoft.com/office/powerpoint/2010/main" val="2257734187"/>
              </p:ext>
            </p:extLst>
          </p:nvPr>
        </p:nvGraphicFramePr>
        <p:xfrm>
          <a:off x="4173358" y="2546173"/>
          <a:ext cx="6030613" cy="1866900"/>
        </p:xfrm>
        <a:graphic>
          <a:graphicData uri="http://schemas.openxmlformats.org/drawingml/2006/table">
            <a:tbl>
              <a:tblPr firstRow="1" bandRow="1">
                <a:tableStyleId>{5940675A-B579-460E-94D1-54222C63F5DA}</a:tableStyleId>
              </a:tblPr>
              <a:tblGrid>
                <a:gridCol w="1305619">
                  <a:extLst>
                    <a:ext uri="{9D8B030D-6E8A-4147-A177-3AD203B41FA5}">
                      <a16:colId xmlns:a16="http://schemas.microsoft.com/office/drawing/2014/main" val="20001"/>
                    </a:ext>
                  </a:extLst>
                </a:gridCol>
                <a:gridCol w="643684">
                  <a:extLst>
                    <a:ext uri="{9D8B030D-6E8A-4147-A177-3AD203B41FA5}">
                      <a16:colId xmlns:a16="http://schemas.microsoft.com/office/drawing/2014/main" val="1811899878"/>
                    </a:ext>
                  </a:extLst>
                </a:gridCol>
                <a:gridCol w="816262">
                  <a:extLst>
                    <a:ext uri="{9D8B030D-6E8A-4147-A177-3AD203B41FA5}">
                      <a16:colId xmlns:a16="http://schemas.microsoft.com/office/drawing/2014/main" val="3634522071"/>
                    </a:ext>
                  </a:extLst>
                </a:gridCol>
                <a:gridCol w="816262">
                  <a:extLst>
                    <a:ext uri="{9D8B030D-6E8A-4147-A177-3AD203B41FA5}">
                      <a16:colId xmlns:a16="http://schemas.microsoft.com/office/drawing/2014/main" val="1295834120"/>
                    </a:ext>
                  </a:extLst>
                </a:gridCol>
                <a:gridCol w="816262">
                  <a:extLst>
                    <a:ext uri="{9D8B030D-6E8A-4147-A177-3AD203B41FA5}">
                      <a16:colId xmlns:a16="http://schemas.microsoft.com/office/drawing/2014/main" val="3602166017"/>
                    </a:ext>
                  </a:extLst>
                </a:gridCol>
                <a:gridCol w="816262">
                  <a:extLst>
                    <a:ext uri="{9D8B030D-6E8A-4147-A177-3AD203B41FA5}">
                      <a16:colId xmlns:a16="http://schemas.microsoft.com/office/drawing/2014/main" val="3052098930"/>
                    </a:ext>
                  </a:extLst>
                </a:gridCol>
                <a:gridCol w="816262">
                  <a:extLst>
                    <a:ext uri="{9D8B030D-6E8A-4147-A177-3AD203B41FA5}">
                      <a16:colId xmlns:a16="http://schemas.microsoft.com/office/drawing/2014/main" val="2320362625"/>
                    </a:ext>
                  </a:extLst>
                </a:gridCol>
              </a:tblGrid>
              <a:tr h="135518">
                <a:tc>
                  <a:txBody>
                    <a:bodyPr anchor="ctr"/>
                    <a:lstStyle/>
                    <a:p>
                      <a:pPr algn="ctr"/>
                      <a:r>
                        <a:rPr sz="1000">
                          <a:solidFill>
                            <a:srgbClr val="000000"/>
                          </a:solidFill>
                          <a:latin typeface="KoPubWorld돋움체 Bold"/>
                          <a:ea typeface="KoPubWorld돋움체 Bold"/>
                          <a:cs typeface="KoPubWorld돋움체 Bold"/>
                        </a:rPr>
                        <a:t>내용</a:t>
                      </a:r>
                    </a:p>
                  </a:txBody>
                  <a:tcPr marL="9525" marR="9525" marT="9525" marB="0" anchor="ctr">
                    <a:lnL w="9525" cap="flat" cmpd="sng" algn="ctr">
                      <a:no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nchor="ctr"/>
                    <a:lstStyle/>
                    <a:p>
                      <a:pPr algn="ctr"/>
                      <a:r>
                        <a:rPr sz="1000">
                          <a:solidFill>
                            <a:srgbClr val="000000"/>
                          </a:solidFill>
                          <a:latin typeface="KoPubWorld돋움체 Bold"/>
                          <a:ea typeface="KoPubWorld돋움체 Bold"/>
                          <a:cs typeface="KoPubWorld돋움체 Bold"/>
                        </a:rPr>
                        <a:t>자산수</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nchor="ctr"/>
                    <a:lstStyle/>
                    <a:p>
                      <a:pPr algn="ctr"/>
                      <a:r>
                        <a:rPr sz="1000">
                          <a:solidFill>
                            <a:srgbClr val="000000"/>
                          </a:solidFill>
                          <a:latin typeface="KoPubWorld돋움체 Bold"/>
                          <a:ea typeface="KoPubWorld돋움체 Bold"/>
                          <a:cs typeface="KoPubWorld돋움체 Bold"/>
                        </a:rPr>
                        <a:t>장부가(A)</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nchor="ctr"/>
                    <a:lstStyle/>
                    <a:p>
                      <a:pPr algn="ctr"/>
                      <a:r>
                        <a:rPr sz="1000">
                          <a:solidFill>
                            <a:srgbClr val="000000"/>
                          </a:solidFill>
                          <a:latin typeface="KoPubWorld돋움체 Bold"/>
                          <a:ea typeface="KoPubWorld돋움체 Bold"/>
                          <a:cs typeface="KoPubWorld돋움체 Bold"/>
                        </a:rPr>
                        <a:t>감정가</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nchor="ctr"/>
                    <a:lstStyle/>
                    <a:p>
                      <a:pPr algn="ctr"/>
                      <a:r>
                        <a:rPr sz="1000">
                          <a:solidFill>
                            <a:srgbClr val="000000"/>
                          </a:solidFill>
                          <a:latin typeface="KoPubWorld돋움체 Bold"/>
                          <a:ea typeface="KoPubWorld돋움체 Bold"/>
                          <a:cs typeface="KoPubWorld돋움체 Bold"/>
                        </a:rPr>
                        <a:t>매각가(B)</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nchor="ctr"/>
                    <a:lstStyle/>
                    <a:p>
                      <a:pPr algn="ctr"/>
                      <a:r>
                        <a:rPr sz="1000">
                          <a:solidFill>
                            <a:srgbClr val="000000"/>
                          </a:solidFill>
                          <a:latin typeface="KoPubWorld돋움체 Bold"/>
                          <a:ea typeface="KoPubWorld돋움체 Bold"/>
                          <a:cs typeface="KoPubWorld돋움체 Bold"/>
                        </a:rPr>
                        <a:t>회수원본</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nchor="ctr"/>
                    <a:lstStyle/>
                    <a:p>
                      <a:pPr algn="ctr"/>
                      <a:r>
                        <a:rPr sz="1000">
                          <a:solidFill>
                            <a:srgbClr val="000000"/>
                          </a:solidFill>
                          <a:latin typeface="KoPubWorld돋움체 Bold"/>
                          <a:ea typeface="KoPubWorld돋움체 Bold"/>
                          <a:cs typeface="KoPubWorld돋움체 Bold"/>
                        </a:rPr>
                        <a:t>비고(B/A)</a:t>
                      </a:r>
                    </a:p>
                  </a:txBody>
                  <a:tcPr marL="9525" marR="9525" marT="9525" marB="0" anchor="ctr">
                    <a:lnL w="3175" cap="flat" cmpd="sng" algn="ctr">
                      <a:solidFill>
                        <a:srgbClr val="BFBFBF"/>
                      </a:solidFill>
                      <a:prstDash val="solid"/>
                    </a:lnL>
                    <a:lnR w="3175" cap="flat" cmpd="sng" algn="ctr">
                      <a:no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extLst>
                  <a:ext uri="{0D108BD9-81ED-4DB2-BD59-A6C34878D82A}">
                    <a16:rowId xmlns:a16="http://schemas.microsoft.com/office/drawing/2014/main" val="10000"/>
                  </a:ext>
                </a:extLst>
              </a:tr>
              <a:tr h="169397">
                <a:tc>
                  <a:txBody>
                    <a:bodyPr anchor="ctr"/>
                    <a:lstStyle/>
                    <a:p>
                      <a:pPr algn="ctr"/>
                      <a:r>
                        <a:rPr sz="1000">
                          <a:solidFill>
                            <a:srgbClr val="000000"/>
                          </a:solidFill>
                          <a:latin typeface="KoPubWorld돋움체 Medium"/>
                          <a:ea typeface="KoPubWorld돋움체 Medium"/>
                          <a:cs typeface="KoPubWorld돋움체 Medium"/>
                        </a:rPr>
                        <a:t>`21년도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ctr"/>
                      <a:r>
                        <a:rPr sz="1000">
                          <a:solidFill>
                            <a:srgbClr val="000000"/>
                          </a:solidFill>
                          <a:latin typeface="KoPubWorld돋움체 Light"/>
                          <a:ea typeface="KoPubWorld돋움체 Light"/>
                          <a:cs typeface="KoPubWorld돋움체 Light"/>
                        </a:rPr>
                        <a:t>17</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1,024억원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1,130억원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1,227억원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278억원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　</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073421764"/>
                  </a:ext>
                </a:extLst>
              </a:tr>
              <a:tr h="169397">
                <a:tc>
                  <a:txBody>
                    <a:bodyPr anchor="ctr"/>
                    <a:lstStyle/>
                    <a:p>
                      <a:pPr algn="ctr"/>
                      <a:r>
                        <a:rPr sz="1000">
                          <a:solidFill>
                            <a:srgbClr val="000000"/>
                          </a:solidFill>
                          <a:latin typeface="KoPubWorld돋움체 Medium"/>
                          <a:ea typeface="KoPubWorld돋움체 Medium"/>
                          <a:cs typeface="KoPubWorld돋움체 Medium"/>
                        </a:rPr>
                        <a:t>`22년도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ctr"/>
                      <a:r>
                        <a:rPr sz="1000">
                          <a:solidFill>
                            <a:srgbClr val="000000"/>
                          </a:solidFill>
                          <a:latin typeface="KoPubWorld돋움체 Light"/>
                          <a:ea typeface="KoPubWorld돋움체 Light"/>
                          <a:cs typeface="KoPubWorld돋움체 Light"/>
                        </a:rPr>
                        <a:t>4</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227억원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250억원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254억원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80억원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　</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898513852"/>
                  </a:ext>
                </a:extLst>
              </a:tr>
              <a:tr h="169397">
                <a:tc>
                  <a:txBody>
                    <a:bodyPr anchor="ctr"/>
                    <a:lstStyle/>
                    <a:p>
                      <a:pPr algn="ctr"/>
                      <a:r>
                        <a:rPr sz="1000">
                          <a:solidFill>
                            <a:srgbClr val="000000"/>
                          </a:solidFill>
                          <a:latin typeface="KoPubWorld돋움체 Medium"/>
                          <a:ea typeface="KoPubWorld돋움체 Medium"/>
                          <a:cs typeface="KoPubWorld돋움체 Medium"/>
                        </a:rPr>
                        <a:t>`23년도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ctr"/>
                      <a:r>
                        <a:rPr sz="1000">
                          <a:solidFill>
                            <a:srgbClr val="000000"/>
                          </a:solidFill>
                          <a:latin typeface="KoPubWorld돋움체 Light"/>
                          <a:ea typeface="KoPubWorld돋움체 Light"/>
                          <a:cs typeface="KoPubWorld돋움체 Light"/>
                        </a:rPr>
                        <a:t>3</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275억원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304억원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326억원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74억원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　</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778755670"/>
                  </a:ext>
                </a:extLst>
              </a:tr>
              <a:tr h="169397">
                <a:tc>
                  <a:txBody>
                    <a:bodyPr anchor="ctr"/>
                    <a:lstStyle/>
                    <a:p>
                      <a:pPr algn="ctr"/>
                      <a:r>
                        <a:rPr sz="1000">
                          <a:solidFill>
                            <a:srgbClr val="000000"/>
                          </a:solidFill>
                          <a:latin typeface="KoPubWorld돋움체 Medium"/>
                          <a:ea typeface="KoPubWorld돋움체 Medium"/>
                          <a:cs typeface="KoPubWorld돋움체 Medium"/>
                        </a:rPr>
                        <a:t>`24년도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ctr"/>
                      <a:r>
                        <a:rPr sz="1000">
                          <a:solidFill>
                            <a:srgbClr val="000000"/>
                          </a:solidFill>
                          <a:latin typeface="KoPubWorld돋움체 Light"/>
                          <a:ea typeface="KoPubWorld돋움체 Light"/>
                          <a:cs typeface="KoPubWorld돋움체 Light"/>
                        </a:rPr>
                        <a:t>7</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437억원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481억원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579억원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107억원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　</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201309678"/>
                  </a:ext>
                </a:extLst>
              </a:tr>
              <a:tr h="169397">
                <a:tc>
                  <a:txBody>
                    <a:bodyPr anchor="ctr"/>
                    <a:lstStyle/>
                    <a:p>
                      <a:pPr algn="ctr"/>
                      <a:r>
                        <a:rPr sz="1000">
                          <a:solidFill>
                            <a:srgbClr val="000000"/>
                          </a:solidFill>
                          <a:latin typeface="KoPubWorld돋움체 Medium"/>
                          <a:ea typeface="KoPubWorld돋움체 Medium"/>
                          <a:cs typeface="KoPubWorld돋움체 Medium"/>
                        </a:rPr>
                        <a:t>`25년도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ctr"/>
                      <a:r>
                        <a:rPr sz="1000">
                          <a:solidFill>
                            <a:srgbClr val="000000"/>
                          </a:solidFill>
                          <a:latin typeface="KoPubWorld돋움체 Light"/>
                          <a:ea typeface="KoPubWorld돋움체 Light"/>
                          <a:cs typeface="KoPubWorld돋움체 Light"/>
                        </a:rPr>
                        <a:t>6</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246억원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298억원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314억원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87억원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　</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74876725"/>
                  </a:ext>
                </a:extLst>
              </a:tr>
              <a:tr h="169397">
                <a:tc>
                  <a:txBody>
                    <a:bodyPr anchor="ctr"/>
                    <a:lstStyle/>
                    <a:p>
                      <a:pPr algn="ctr"/>
                      <a:r>
                        <a:rPr sz="1000">
                          <a:solidFill>
                            <a:srgbClr val="000000"/>
                          </a:solidFill>
                          <a:latin typeface="KoPubWorld돋움체 Medium"/>
                          <a:ea typeface="KoPubWorld돋움체 Medium"/>
                          <a:cs typeface="KoPubWorld돋움체 Medium"/>
                        </a:rPr>
                        <a:t>`26년도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ctr"/>
                      <a:r>
                        <a:rPr sz="1000">
                          <a:solidFill>
                            <a:srgbClr val="000000"/>
                          </a:solidFill>
                          <a:latin typeface="KoPubWorld돋움체 Light"/>
                          <a:ea typeface="KoPubWorld돋움체 Light"/>
                          <a:cs typeface="KoPubWorld돋움체 Light"/>
                        </a:rPr>
                        <a:t>12</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550억원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734억원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592억원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151억원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　</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4039548024"/>
                  </a:ext>
                </a:extLst>
              </a:tr>
              <a:tr h="169397">
                <a:tc>
                  <a:txBody>
                    <a:bodyPr anchor="ctr"/>
                    <a:lstStyle/>
                    <a:p>
                      <a:pPr algn="ctr"/>
                      <a:r>
                        <a:rPr sz="1000">
                          <a:solidFill>
                            <a:srgbClr val="000000"/>
                          </a:solidFill>
                          <a:latin typeface="KoPubWorld돋움체 Medium"/>
                          <a:ea typeface="KoPubWorld돋움체 Medium"/>
                          <a:cs typeface="KoPubWorld돋움체 Medium"/>
                        </a:rPr>
                        <a:t>합 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ctr"/>
                      <a:r>
                        <a:rPr sz="1000">
                          <a:solidFill>
                            <a:srgbClr val="000000"/>
                          </a:solidFill>
                          <a:latin typeface="KoPubWorld돋움체 Medium"/>
                          <a:ea typeface="KoPubWorld돋움체 Medium"/>
                          <a:cs typeface="KoPubWorld돋움체 Medium"/>
                        </a:rPr>
                        <a:t>49</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Medium"/>
                          <a:ea typeface="KoPubWorld돋움체 Medium"/>
                          <a:cs typeface="KoPubWorld돋움체 Medium"/>
                        </a:rPr>
                        <a:t>2,759억원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Medium"/>
                          <a:ea typeface="KoPubWorld돋움체 Medium"/>
                          <a:cs typeface="KoPubWorld돋움체 Medium"/>
                        </a:rPr>
                        <a:t>3,197억원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Medium"/>
                          <a:ea typeface="KoPubWorld돋움체 Medium"/>
                          <a:cs typeface="KoPubWorld돋움체 Medium"/>
                        </a:rPr>
                        <a:t>3,292억원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Medium"/>
                          <a:ea typeface="KoPubWorld돋움체 Medium"/>
                          <a:cs typeface="KoPubWorld돋움체 Medium"/>
                        </a:rPr>
                        <a:t>777억원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Medium"/>
                          <a:ea typeface="KoPubWorld돋움체 Medium"/>
                          <a:cs typeface="KoPubWorld돋움체 Medium"/>
                        </a:rPr>
                        <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2551182561"/>
                  </a:ext>
                </a:extLst>
              </a:tr>
              <a:tr h="169397">
                <a:tc>
                  <a:txBody>
                    <a:bodyPr anchor="ctr"/>
                    <a:lstStyle/>
                    <a:p>
                      <a:pPr algn="ctr"/>
                      <a:r>
                        <a:rPr sz="1000">
                          <a:solidFill>
                            <a:srgbClr val="000000"/>
                          </a:solidFill>
                          <a:latin typeface="KoPubWorld돋움체 Medium"/>
                          <a:ea typeface="KoPubWorld돋움체 Medium"/>
                          <a:cs typeface="KoPubWorld돋움체 Medium"/>
                        </a:rPr>
                        <a:t>`27년도~`28년도 </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ctr"/>
                      <a:r>
                        <a:rPr sz="1000">
                          <a:solidFill>
                            <a:srgbClr val="000000"/>
                          </a:solidFill>
                          <a:latin typeface="KoPubWorld돋움체 Light"/>
                          <a:ea typeface="KoPubWorld돋움체 Light"/>
                          <a:cs typeface="KoPubWorld돋움체 Light"/>
                        </a:rPr>
                        <a:t>15</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697억원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952억원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205억원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36% 매각 시</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514370672"/>
                  </a:ext>
                </a:extLst>
              </a:tr>
              <a:tr h="169397">
                <a:tc>
                  <a:txBody>
                    <a:bodyPr anchor="ctr"/>
                    <a:lstStyle/>
                    <a:p>
                      <a:pPr algn="ctr"/>
                      <a:r>
                        <a:rPr sz="1000">
                          <a:solidFill>
                            <a:srgbClr val="000000"/>
                          </a:solidFill>
                          <a:latin typeface="KoPubWorld돋움체 Medium"/>
                          <a:ea typeface="KoPubWorld돋움체 Medium"/>
                          <a:cs typeface="KoPubWorld돋움체 Medium"/>
                        </a:rPr>
                        <a:t>임차인 매각요청 자산</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ctr"/>
                      <a:r>
                        <a:rPr sz="1000">
                          <a:solidFill>
                            <a:srgbClr val="000000"/>
                          </a:solidFill>
                          <a:latin typeface="KoPubWorld돋움체 Light"/>
                          <a:ea typeface="KoPubWorld돋움체 Light"/>
                          <a:cs typeface="KoPubWorld돋움체 Light"/>
                        </a:rPr>
                        <a:t>42</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1,936억원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2,645억원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564억원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2366350424"/>
                  </a:ext>
                </a:extLst>
              </a:tr>
            </a:tbl>
          </a:graphicData>
        </a:graphic>
      </p:graphicFrame>
      <p:sp>
        <p:nvSpPr>
          <p:cNvPr id="25" name="TextBox 24">
            <a:extLst>
              <a:ext uri="{FF2B5EF4-FFF2-40B4-BE49-F238E27FC236}">
                <a16:creationId xmlns:a16="http://schemas.microsoft.com/office/drawing/2014/main" id="{9446D086-6714-AA6A-DAEC-1E0909AC181C}"/>
              </a:ext>
            </a:extLst>
          </p:cNvPr>
          <p:cNvSpPr txBox="1"/>
          <p:nvPr/>
        </p:nvSpPr>
        <p:spPr>
          <a:xfrm>
            <a:off x="283368" y="1040097"/>
            <a:ext cx="9995086" cy="705766"/>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marR="0" lvl="0" indent="-216000" algn="l" defTabSz="4572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lang="ko-KR" altLang="en-US" sz="1600" dirty="0">
                <a:solidFill>
                  <a:prstClr val="black"/>
                </a:solidFill>
              </a:rPr>
              <a:t>본 건 투자자금 중 약 </a:t>
            </a:r>
            <a:r>
              <a:rPr lang="en-US" altLang="ko-KR" sz="1600" dirty="0">
                <a:solidFill>
                  <a:prstClr val="black"/>
                </a:solidFill>
              </a:rPr>
              <a:t>578</a:t>
            </a:r>
            <a:r>
              <a:rPr lang="ko-KR" altLang="en-US" sz="1600" dirty="0">
                <a:solidFill>
                  <a:prstClr val="black"/>
                </a:solidFill>
              </a:rPr>
              <a:t>억원은 보유 투자지분</a:t>
            </a:r>
            <a:r>
              <a:rPr lang="en-US" altLang="ko-KR" sz="1600" dirty="0">
                <a:solidFill>
                  <a:prstClr val="black"/>
                </a:solidFill>
              </a:rPr>
              <a:t>(DF</a:t>
            </a:r>
            <a:r>
              <a:rPr lang="ko-KR" altLang="en-US" sz="1600" dirty="0">
                <a:solidFill>
                  <a:prstClr val="black"/>
                </a:solidFill>
              </a:rPr>
              <a:t>타워 우선주</a:t>
            </a:r>
            <a:r>
              <a:rPr lang="en-US" altLang="ko-KR" sz="1600" dirty="0">
                <a:solidFill>
                  <a:prstClr val="black"/>
                </a:solidFill>
              </a:rPr>
              <a:t>)</a:t>
            </a:r>
            <a:r>
              <a:rPr lang="ko-KR" altLang="en-US" sz="1600" dirty="0">
                <a:solidFill>
                  <a:prstClr val="black"/>
                </a:solidFill>
              </a:rPr>
              <a:t>에 대한 원본회수 및 주유소 매각 원본으로 조달 예정</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432000" marR="0" lvl="0" indent="-1800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ko-KR" altLang="en-US" sz="12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코람코더원강남제</a:t>
            </a:r>
            <a:r>
              <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kumimoji="0" lang="ko-KR" altLang="en-US" sz="12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호리츠의</a:t>
            </a:r>
            <a:r>
              <a:rPr kumimoji="0" lang="ko-KR" altLang="en-US"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사업계획 만료</a:t>
            </a:r>
            <a:r>
              <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(’27.05)</a:t>
            </a:r>
            <a:r>
              <a:rPr kumimoji="0" lang="ko-KR" altLang="en-US"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로 우선주 약 </a:t>
            </a:r>
            <a:r>
              <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373</a:t>
            </a:r>
            <a:r>
              <a:rPr kumimoji="0" lang="ko-KR" altLang="en-US"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억원에 대해 회수</a:t>
            </a:r>
            <a:r>
              <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 요청된 주유소 자산 중 원본 약 </a:t>
            </a:r>
            <a:r>
              <a:rPr lang="en-US" altLang="ko-KR" sz="12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205</a:t>
            </a:r>
            <a:r>
              <a:rPr lang="ko-KR" altLang="en-US" sz="12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 회수로 조달  </a:t>
            </a:r>
            <a:endPar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3" name="그룹 2">
            <a:extLst>
              <a:ext uri="{FF2B5EF4-FFF2-40B4-BE49-F238E27FC236}">
                <a16:creationId xmlns:a16="http://schemas.microsoft.com/office/drawing/2014/main" id="{D8DCF405-B8F1-0988-0FB5-43C46E58EBE9}"/>
              </a:ext>
            </a:extLst>
          </p:cNvPr>
          <p:cNvGrpSpPr/>
          <p:nvPr/>
        </p:nvGrpSpPr>
        <p:grpSpPr>
          <a:xfrm>
            <a:off x="458887" y="1987916"/>
            <a:ext cx="9783663" cy="247712"/>
            <a:chOff x="458887" y="1987916"/>
            <a:chExt cx="9783663" cy="247712"/>
          </a:xfrm>
        </p:grpSpPr>
        <p:sp>
          <p:nvSpPr>
            <p:cNvPr id="5" name="직사각형 4">
              <a:extLst>
                <a:ext uri="{FF2B5EF4-FFF2-40B4-BE49-F238E27FC236}">
                  <a16:creationId xmlns:a16="http://schemas.microsoft.com/office/drawing/2014/main" id="{06D4D147-A49A-2B59-321C-489887ADDD23}"/>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BD5F9174-70E9-B456-E6AC-E77828E641B7}"/>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159">
              <a:extLst>
                <a:ext uri="{FF2B5EF4-FFF2-40B4-BE49-F238E27FC236}">
                  <a16:creationId xmlns:a16="http://schemas.microsoft.com/office/drawing/2014/main" id="{69E44512-F1A1-9EA6-B4B3-ACBDACE09A64}"/>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160">
              <a:extLst>
                <a:ext uri="{FF2B5EF4-FFF2-40B4-BE49-F238E27FC236}">
                  <a16:creationId xmlns:a16="http://schemas.microsoft.com/office/drawing/2014/main" id="{564429AC-4941-5659-F7A2-069366DB9EA9}"/>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47240FE8-C1CC-3501-4102-FE9C5C0862F7}"/>
                </a:ext>
              </a:extLst>
            </p:cNvPr>
            <p:cNvSpPr txBox="1"/>
            <p:nvPr/>
          </p:nvSpPr>
          <p:spPr>
            <a:xfrm>
              <a:off x="458887" y="2034828"/>
              <a:ext cx="1717927" cy="153888"/>
            </a:xfrm>
            <a:prstGeom prst="rect">
              <a:avLst/>
            </a:prstGeom>
            <a:noFill/>
          </p:spPr>
          <p:txBody>
            <a:bodyPr wrap="none" lIns="90000" tIns="0" rIns="0" bIns="0" rtlCol="0" anchor="ctr">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투자계획 및 재원조달 계획</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(2/2)</a:t>
              </a:r>
              <a:endPar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4" name="TextBox 3">
            <a:extLst>
              <a:ext uri="{FF2B5EF4-FFF2-40B4-BE49-F238E27FC236}">
                <a16:creationId xmlns:a16="http://schemas.microsoft.com/office/drawing/2014/main" id="{E9457F5A-5564-2515-192B-D7058921E546}"/>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투자효과</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4" name="표 13">
            <a:extLst>
              <a:ext uri="{FF2B5EF4-FFF2-40B4-BE49-F238E27FC236}">
                <a16:creationId xmlns:a16="http://schemas.microsoft.com/office/drawing/2014/main" id="{BB7C945E-AB23-C8E7-9AD7-5AA488C09687}"/>
              </a:ext>
            </a:extLst>
          </p:cNvPr>
          <p:cNvGraphicFramePr>
            <a:graphicFrameLocks noGrp="1"/>
          </p:cNvGraphicFramePr>
          <p:nvPr>
            <p:extLst>
              <p:ext uri="{D42A27DB-BD31-4B8C-83A1-F6EECF244321}">
                <p14:modId xmlns:p14="http://schemas.microsoft.com/office/powerpoint/2010/main" val="3281534993"/>
              </p:ext>
            </p:extLst>
          </p:nvPr>
        </p:nvGraphicFramePr>
        <p:xfrm>
          <a:off x="458887" y="5804437"/>
          <a:ext cx="9749172" cy="819716"/>
        </p:xfrm>
        <a:graphic>
          <a:graphicData uri="http://schemas.openxmlformats.org/drawingml/2006/table">
            <a:tbl>
              <a:tblPr>
                <a:tableStyleId>{5C22544A-7EE6-4342-B048-85BDC9FD1C3A}</a:tableStyleId>
              </a:tblPr>
              <a:tblGrid>
                <a:gridCol w="1600297">
                  <a:extLst>
                    <a:ext uri="{9D8B030D-6E8A-4147-A177-3AD203B41FA5}">
                      <a16:colId xmlns:a16="http://schemas.microsoft.com/office/drawing/2014/main" val="3529049996"/>
                    </a:ext>
                  </a:extLst>
                </a:gridCol>
                <a:gridCol w="929495">
                  <a:extLst>
                    <a:ext uri="{9D8B030D-6E8A-4147-A177-3AD203B41FA5}">
                      <a16:colId xmlns:a16="http://schemas.microsoft.com/office/drawing/2014/main" val="2351432306"/>
                    </a:ext>
                  </a:extLst>
                </a:gridCol>
                <a:gridCol w="794132">
                  <a:extLst>
                    <a:ext uri="{9D8B030D-6E8A-4147-A177-3AD203B41FA5}">
                      <a16:colId xmlns:a16="http://schemas.microsoft.com/office/drawing/2014/main" val="2878194831"/>
                    </a:ext>
                  </a:extLst>
                </a:gridCol>
                <a:gridCol w="794132">
                  <a:extLst>
                    <a:ext uri="{9D8B030D-6E8A-4147-A177-3AD203B41FA5}">
                      <a16:colId xmlns:a16="http://schemas.microsoft.com/office/drawing/2014/main" val="1049825522"/>
                    </a:ext>
                  </a:extLst>
                </a:gridCol>
                <a:gridCol w="794132">
                  <a:extLst>
                    <a:ext uri="{9D8B030D-6E8A-4147-A177-3AD203B41FA5}">
                      <a16:colId xmlns:a16="http://schemas.microsoft.com/office/drawing/2014/main" val="1841492734"/>
                    </a:ext>
                  </a:extLst>
                </a:gridCol>
                <a:gridCol w="794132">
                  <a:extLst>
                    <a:ext uri="{9D8B030D-6E8A-4147-A177-3AD203B41FA5}">
                      <a16:colId xmlns:a16="http://schemas.microsoft.com/office/drawing/2014/main" val="1609912402"/>
                    </a:ext>
                  </a:extLst>
                </a:gridCol>
                <a:gridCol w="794132">
                  <a:extLst>
                    <a:ext uri="{9D8B030D-6E8A-4147-A177-3AD203B41FA5}">
                      <a16:colId xmlns:a16="http://schemas.microsoft.com/office/drawing/2014/main" val="1838646714"/>
                    </a:ext>
                  </a:extLst>
                </a:gridCol>
                <a:gridCol w="649744">
                  <a:extLst>
                    <a:ext uri="{9D8B030D-6E8A-4147-A177-3AD203B41FA5}">
                      <a16:colId xmlns:a16="http://schemas.microsoft.com/office/drawing/2014/main" val="1720080032"/>
                    </a:ext>
                  </a:extLst>
                </a:gridCol>
                <a:gridCol w="649744">
                  <a:extLst>
                    <a:ext uri="{9D8B030D-6E8A-4147-A177-3AD203B41FA5}">
                      <a16:colId xmlns:a16="http://schemas.microsoft.com/office/drawing/2014/main" val="1690139599"/>
                    </a:ext>
                  </a:extLst>
                </a:gridCol>
                <a:gridCol w="649744">
                  <a:extLst>
                    <a:ext uri="{9D8B030D-6E8A-4147-A177-3AD203B41FA5}">
                      <a16:colId xmlns:a16="http://schemas.microsoft.com/office/drawing/2014/main" val="2601004436"/>
                    </a:ext>
                  </a:extLst>
                </a:gridCol>
                <a:gridCol w="649744">
                  <a:extLst>
                    <a:ext uri="{9D8B030D-6E8A-4147-A177-3AD203B41FA5}">
                      <a16:colId xmlns:a16="http://schemas.microsoft.com/office/drawing/2014/main" val="2400228930"/>
                    </a:ext>
                  </a:extLst>
                </a:gridCol>
                <a:gridCol w="649744">
                  <a:extLst>
                    <a:ext uri="{9D8B030D-6E8A-4147-A177-3AD203B41FA5}">
                      <a16:colId xmlns:a16="http://schemas.microsoft.com/office/drawing/2014/main" val="4260174469"/>
                    </a:ext>
                  </a:extLst>
                </a:gridCol>
              </a:tblGrid>
              <a:tr h="204929">
                <a:tc>
                  <a:txBody>
                    <a:bodyPr anchor="ctr"/>
                    <a:lstStyle/>
                    <a:p>
                      <a:pPr algn="ctr"/>
                      <a:r>
                        <a:rPr sz="1000">
                          <a:solidFill>
                            <a:srgbClr val="000000"/>
                          </a:solidFill>
                          <a:latin typeface="KoPubWorld돋움체 Bold"/>
                          <a:ea typeface="KoPubWorld돋움체 Bold"/>
                          <a:cs typeface="KoPubWorld돋움체 Bold"/>
                        </a:rPr>
                        <a:t>매각 달성률</a:t>
                      </a:r>
                    </a:p>
                  </a:txBody>
                  <a:tcPr marL="9525" marR="9525" marT="9525" marB="0" anchor="ctr">
                    <a:lnL w="9525" cap="flat" cmpd="sng" algn="ctr">
                      <a:no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nchor="ctr"/>
                    <a:lstStyle/>
                    <a:p>
                      <a:pPr algn="ctr"/>
                      <a:r>
                        <a:rPr sz="1000">
                          <a:solidFill>
                            <a:srgbClr val="000000"/>
                          </a:solidFill>
                          <a:latin typeface="KoPubWorld돋움체 Bold"/>
                          <a:ea typeface="KoPubWorld돋움체 Bold"/>
                          <a:cs typeface="KoPubWorld돋움체 Bold"/>
                        </a:rPr>
                        <a:t>36%</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nchor="ctr"/>
                    <a:lstStyle/>
                    <a:p>
                      <a:pPr algn="ctr"/>
                      <a:r>
                        <a:rPr sz="1000">
                          <a:solidFill>
                            <a:srgbClr val="000000"/>
                          </a:solidFill>
                          <a:latin typeface="KoPubWorld돋움체 Bold"/>
                          <a:ea typeface="KoPubWorld돋움체 Bold"/>
                          <a:cs typeface="KoPubWorld돋움체 Bold"/>
                        </a:rPr>
                        <a:t>10%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nchor="ctr"/>
                    <a:lstStyle/>
                    <a:p>
                      <a:pPr algn="ctr"/>
                      <a:r>
                        <a:rPr sz="1000">
                          <a:solidFill>
                            <a:srgbClr val="000000"/>
                          </a:solidFill>
                          <a:latin typeface="KoPubWorld돋움체 Bold"/>
                          <a:ea typeface="KoPubWorld돋움체 Bold"/>
                          <a:cs typeface="KoPubWorld돋움체 Bold"/>
                        </a:rPr>
                        <a:t>20%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nchor="ctr"/>
                    <a:lstStyle/>
                    <a:p>
                      <a:pPr algn="ctr"/>
                      <a:r>
                        <a:rPr sz="1000">
                          <a:solidFill>
                            <a:srgbClr val="000000"/>
                          </a:solidFill>
                          <a:latin typeface="KoPubWorld돋움체 Bold"/>
                          <a:ea typeface="KoPubWorld돋움체 Bold"/>
                          <a:cs typeface="KoPubWorld돋움체 Bold"/>
                        </a:rPr>
                        <a:t>30%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nchor="ctr"/>
                    <a:lstStyle/>
                    <a:p>
                      <a:pPr algn="ctr"/>
                      <a:r>
                        <a:rPr sz="1000">
                          <a:solidFill>
                            <a:srgbClr val="000000"/>
                          </a:solidFill>
                          <a:latin typeface="KoPubWorld돋움체 Bold"/>
                          <a:ea typeface="KoPubWorld돋움체 Bold"/>
                          <a:cs typeface="KoPubWorld돋움체 Bold"/>
                        </a:rPr>
                        <a:t>40%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nchor="ctr"/>
                    <a:lstStyle/>
                    <a:p>
                      <a:pPr algn="ctr"/>
                      <a:r>
                        <a:rPr sz="1000">
                          <a:solidFill>
                            <a:srgbClr val="000000"/>
                          </a:solidFill>
                          <a:latin typeface="KoPubWorld돋움체 Bold"/>
                          <a:ea typeface="KoPubWorld돋움체 Bold"/>
                          <a:cs typeface="KoPubWorld돋움체 Bold"/>
                        </a:rPr>
                        <a:t>50%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nchor="ctr"/>
                    <a:lstStyle/>
                    <a:p>
                      <a:pPr algn="ctr"/>
                      <a:r>
                        <a:rPr sz="1000">
                          <a:solidFill>
                            <a:srgbClr val="000000"/>
                          </a:solidFill>
                          <a:latin typeface="KoPubWorld돋움체 Bold"/>
                          <a:ea typeface="KoPubWorld돋움체 Bold"/>
                          <a:cs typeface="KoPubWorld돋움체 Bold"/>
                        </a:rPr>
                        <a:t>60%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nchor="ctr"/>
                    <a:lstStyle/>
                    <a:p>
                      <a:pPr algn="ctr"/>
                      <a:r>
                        <a:rPr sz="1000">
                          <a:solidFill>
                            <a:srgbClr val="000000"/>
                          </a:solidFill>
                          <a:latin typeface="KoPubWorld돋움체 Bold"/>
                          <a:ea typeface="KoPubWorld돋움체 Bold"/>
                          <a:cs typeface="KoPubWorld돋움체 Bold"/>
                        </a:rPr>
                        <a:t>70%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nchor="ctr"/>
                    <a:lstStyle/>
                    <a:p>
                      <a:pPr algn="ctr"/>
                      <a:r>
                        <a:rPr sz="1000">
                          <a:solidFill>
                            <a:srgbClr val="000000"/>
                          </a:solidFill>
                          <a:latin typeface="KoPubWorld돋움체 Bold"/>
                          <a:ea typeface="KoPubWorld돋움체 Bold"/>
                          <a:cs typeface="KoPubWorld돋움체 Bold"/>
                        </a:rPr>
                        <a:t>80%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nchor="ctr"/>
                    <a:lstStyle/>
                    <a:p>
                      <a:pPr algn="ctr"/>
                      <a:r>
                        <a:rPr sz="1000">
                          <a:solidFill>
                            <a:srgbClr val="000000"/>
                          </a:solidFill>
                          <a:latin typeface="KoPubWorld돋움체 Bold"/>
                          <a:ea typeface="KoPubWorld돋움체 Bold"/>
                          <a:cs typeface="KoPubWorld돋움체 Bold"/>
                        </a:rPr>
                        <a:t>90%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nchor="ctr"/>
                    <a:lstStyle/>
                    <a:p>
                      <a:pPr algn="ctr"/>
                      <a:r>
                        <a:rPr sz="1000">
                          <a:solidFill>
                            <a:srgbClr val="000000"/>
                          </a:solidFill>
                          <a:latin typeface="KoPubWorld돋움체 Bold"/>
                          <a:ea typeface="KoPubWorld돋움체 Bold"/>
                          <a:cs typeface="KoPubWorld돋움체 Bold"/>
                        </a:rPr>
                        <a:t>100%</a:t>
                      </a:r>
                    </a:p>
                  </a:txBody>
                  <a:tcPr marL="9525" marR="9525" marT="9525" marB="0" anchor="ctr">
                    <a:lnL w="3175" cap="flat" cmpd="sng" algn="ctr">
                      <a:solidFill>
                        <a:srgbClr val="BFBFBF"/>
                      </a:solidFill>
                      <a:prstDash val="solid"/>
                    </a:lnL>
                    <a:lnR w="3175" cap="flat" cmpd="sng" algn="ctr">
                      <a:no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extLst>
                  <a:ext uri="{0D108BD9-81ED-4DB2-BD59-A6C34878D82A}">
                    <a16:rowId xmlns:a16="http://schemas.microsoft.com/office/drawing/2014/main" val="1104098933"/>
                  </a:ext>
                </a:extLst>
              </a:tr>
              <a:tr h="204929">
                <a:tc>
                  <a:txBody>
                    <a:bodyPr anchor="ctr"/>
                    <a:lstStyle/>
                    <a:p>
                      <a:pPr algn="ctr"/>
                      <a:r>
                        <a:rPr sz="1000">
                          <a:solidFill>
                            <a:srgbClr val="000000"/>
                          </a:solidFill>
                          <a:latin typeface="KoPubWorld돋움체 Medium"/>
                          <a:ea typeface="KoPubWorld돋움체 Medium"/>
                          <a:cs typeface="KoPubWorld돋움체 Medium"/>
                        </a:rPr>
                        <a:t>DF타워 우선주 원본</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ctr"/>
                      <a:r>
                        <a:rPr sz="1000">
                          <a:solidFill>
                            <a:srgbClr val="000000"/>
                          </a:solidFill>
                          <a:latin typeface="KoPubWorld돋움체 Medium"/>
                          <a:ea typeface="KoPubWorld돋움체 Medium"/>
                          <a:cs typeface="KoPubWorld돋움체 Medium"/>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231175609"/>
                  </a:ext>
                </a:extLst>
              </a:tr>
              <a:tr h="204929">
                <a:tc>
                  <a:txBody>
                    <a:bodyPr anchor="ctr"/>
                    <a:lstStyle/>
                    <a:p>
                      <a:pPr algn="ctr"/>
                      <a:r>
                        <a:rPr sz="1000">
                          <a:solidFill>
                            <a:srgbClr val="000000"/>
                          </a:solidFill>
                          <a:latin typeface="KoPubWorld돋움체 Medium"/>
                          <a:ea typeface="KoPubWorld돋움체 Medium"/>
                          <a:cs typeface="KoPubWorld돋움체 Medium"/>
                        </a:rPr>
                        <a:t>주유소 회수 원본</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ctr"/>
                      <a:r>
                        <a:rPr sz="1000">
                          <a:solidFill>
                            <a:srgbClr val="000000"/>
                          </a:solidFill>
                          <a:latin typeface="KoPubWorld돋움체 Medium"/>
                          <a:ea typeface="KoPubWorld돋움체 Medium"/>
                          <a:cs typeface="KoPubWorld돋움체 Medium"/>
                        </a:rPr>
                        <a:t>205억원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56억원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113억원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169억원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226억원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282억원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339억원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395억원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451억원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508억원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564억원</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546236798"/>
                  </a:ext>
                </a:extLst>
              </a:tr>
              <a:tr h="204929">
                <a:tc>
                  <a:txBody>
                    <a:bodyPr anchor="ctr"/>
                    <a:lstStyle/>
                    <a:p>
                      <a:pPr algn="ctr"/>
                      <a:r>
                        <a:rPr sz="1000">
                          <a:solidFill>
                            <a:srgbClr val="000000"/>
                          </a:solidFill>
                          <a:latin typeface="KoPubWorld돋움체 Medium"/>
                          <a:ea typeface="KoPubWorld돋움체 Medium"/>
                          <a:cs typeface="KoPubWorld돋움체 Medium"/>
                        </a:rPr>
                        <a:t>재투자 재원(합계)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ctr"/>
                      <a:r>
                        <a:rPr sz="1000">
                          <a:solidFill>
                            <a:srgbClr val="000000"/>
                          </a:solidFill>
                          <a:latin typeface="KoPubWorld돋움체 Medium"/>
                          <a:ea typeface="KoPubWorld돋움체 Medium"/>
                          <a:cs typeface="KoPubWorld돋움체 Medium"/>
                        </a:rPr>
                        <a:t>578억원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429억원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486억원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542억원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599억원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655억원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712억원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768억원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824억원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881억원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1000">
                          <a:solidFill>
                            <a:srgbClr val="000000"/>
                          </a:solidFill>
                          <a:latin typeface="KoPubWorld돋움체 Light"/>
                          <a:ea typeface="KoPubWorld돋움체 Light"/>
                          <a:cs typeface="KoPubWorld돋움체 Light"/>
                        </a:rPr>
                        <a:t>937억원</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4078480158"/>
                  </a:ext>
                </a:extLst>
              </a:tr>
            </a:tbl>
          </a:graphicData>
        </a:graphic>
      </p:graphicFrame>
      <p:graphicFrame>
        <p:nvGraphicFramePr>
          <p:cNvPr id="16" name="표 15">
            <a:extLst>
              <a:ext uri="{FF2B5EF4-FFF2-40B4-BE49-F238E27FC236}">
                <a16:creationId xmlns:a16="http://schemas.microsoft.com/office/drawing/2014/main" id="{C1524171-667C-F12C-D5D4-DBD5F17275A1}"/>
              </a:ext>
            </a:extLst>
          </p:cNvPr>
          <p:cNvGraphicFramePr>
            <a:graphicFrameLocks noGrp="1"/>
          </p:cNvGraphicFramePr>
          <p:nvPr>
            <p:extLst>
              <p:ext uri="{D42A27DB-BD31-4B8C-83A1-F6EECF244321}">
                <p14:modId xmlns:p14="http://schemas.microsoft.com/office/powerpoint/2010/main" val="3859059987"/>
              </p:ext>
            </p:extLst>
          </p:nvPr>
        </p:nvGraphicFramePr>
        <p:xfrm>
          <a:off x="487841" y="2450932"/>
          <a:ext cx="2806869" cy="2873114"/>
        </p:xfrm>
        <a:graphic>
          <a:graphicData uri="http://schemas.openxmlformats.org/drawingml/2006/table">
            <a:tbl>
              <a:tblPr>
                <a:tableStyleId>{5C22544A-7EE6-4342-B048-85BDC9FD1C3A}</a:tableStyleId>
              </a:tblPr>
              <a:tblGrid>
                <a:gridCol w="971804">
                  <a:extLst>
                    <a:ext uri="{9D8B030D-6E8A-4147-A177-3AD203B41FA5}">
                      <a16:colId xmlns:a16="http://schemas.microsoft.com/office/drawing/2014/main" val="3917235798"/>
                    </a:ext>
                  </a:extLst>
                </a:gridCol>
                <a:gridCol w="1835065">
                  <a:extLst>
                    <a:ext uri="{9D8B030D-6E8A-4147-A177-3AD203B41FA5}">
                      <a16:colId xmlns:a16="http://schemas.microsoft.com/office/drawing/2014/main" val="3969814081"/>
                    </a:ext>
                  </a:extLst>
                </a:gridCol>
              </a:tblGrid>
              <a:tr h="400810">
                <a:tc>
                  <a:txBody>
                    <a:bodyPr anchor="ctr"/>
                    <a:lstStyle/>
                    <a:p>
                      <a:pPr algn="ctr"/>
                      <a:r>
                        <a:rPr sz="1000">
                          <a:solidFill>
                            <a:srgbClr val="000000"/>
                          </a:solidFill>
                          <a:latin typeface="KoPubWorld돋움체 Bold"/>
                          <a:ea typeface="KoPubWorld돋움체 Bold"/>
                          <a:cs typeface="KoPubWorld돋움체 Bold"/>
                        </a:rPr>
                        <a:t>구분</a:t>
                      </a:r>
                    </a:p>
                  </a:txBody>
                  <a:tcPr marL="9525" marR="9525" marT="9525" marB="0" anchor="ctr">
                    <a:lnL w="9525" cap="flat" cmpd="sng" algn="ctr">
                      <a:no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nchor="ctr"/>
                    <a:lstStyle/>
                    <a:p>
                      <a:pPr algn="ctr"/>
                      <a:r>
                        <a:rPr sz="1000">
                          <a:solidFill>
                            <a:srgbClr val="000000"/>
                          </a:solidFill>
                          <a:latin typeface="KoPubWorld돋움체 Bold"/>
                          <a:ea typeface="KoPubWorld돋움체 Bold"/>
                          <a:cs typeface="KoPubWorld돋움체 Bold"/>
                        </a:rPr>
                        <a:t>코람코더원강남1호 우선주</a:t>
                      </a:r>
                    </a:p>
                    <a:p>
                      <a:pPr algn="ctr"/>
                      <a:r>
                        <a:rPr sz="1000">
                          <a:solidFill>
                            <a:srgbClr val="000000"/>
                          </a:solidFill>
                          <a:latin typeface="KoPubWorld돋움체 Bold"/>
                          <a:ea typeface="KoPubWorld돋움체 Bold"/>
                          <a:cs typeface="KoPubWorld돋움체 Bold"/>
                        </a:rPr>
                        <a:t>(DF타워)</a:t>
                      </a:r>
                    </a:p>
                  </a:txBody>
                  <a:tcPr marL="9525" marR="9525" marT="9525" marB="0" anchor="ctr">
                    <a:lnL w="3175" cap="flat" cmpd="sng" algn="ctr">
                      <a:solidFill>
                        <a:srgbClr val="BFBFBF"/>
                      </a:solidFill>
                      <a:prstDash val="solid"/>
                    </a:lnL>
                    <a:lnR w="3175" cap="flat" cmpd="sng" algn="ctr">
                      <a:no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extLst>
                  <a:ext uri="{0D108BD9-81ED-4DB2-BD59-A6C34878D82A}">
                    <a16:rowId xmlns:a16="http://schemas.microsoft.com/office/drawing/2014/main" val="2421743362"/>
                  </a:ext>
                </a:extLst>
              </a:tr>
              <a:tr h="1223626">
                <a:tc>
                  <a:txBody>
                    <a:bodyPr anchor="ctr"/>
                    <a:lstStyle/>
                    <a:p>
                      <a:pPr algn="ctr"/>
                      <a:r>
                        <a:rPr sz="1000">
                          <a:solidFill>
                            <a:srgbClr val="000000"/>
                          </a:solidFill>
                          <a:latin typeface="KoPubWorld돋움체 Medium"/>
                          <a:ea typeface="KoPubWorld돋움체 Medium"/>
                          <a:cs typeface="KoPubWorld돋움체 Medium"/>
                        </a:rPr>
                        <a:t>사진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ctr"/>
                      <a:r>
                        <a:rPr sz="1000">
                          <a:solidFill>
                            <a:srgbClr val="000000"/>
                          </a:solidFill>
                          <a:latin typeface="KoPubWorld돋움체 Light"/>
                          <a:ea typeface="KoPubWorld돋움체 Light"/>
                          <a:cs typeface="KoPubWorld돋움체 Light"/>
                        </a:rPr>
                        <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2361888091"/>
                  </a:ext>
                </a:extLst>
              </a:tr>
              <a:tr h="138742">
                <a:tc>
                  <a:txBody>
                    <a:bodyPr anchor="ctr"/>
                    <a:lstStyle/>
                    <a:p>
                      <a:pPr algn="ctr"/>
                      <a:r>
                        <a:rPr sz="1000">
                          <a:solidFill>
                            <a:srgbClr val="000000"/>
                          </a:solidFill>
                          <a:latin typeface="KoPubWorld돋움체 Medium"/>
                          <a:ea typeface="KoPubWorld돋움체 Medium"/>
                          <a:cs typeface="KoPubWorld돋움체 Medium"/>
                        </a:rPr>
                        <a:t>소재지</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ctr"/>
                      <a:r>
                        <a:rPr sz="1000">
                          <a:solidFill>
                            <a:srgbClr val="000000"/>
                          </a:solidFill>
                          <a:latin typeface="KoPubWorld돋움체 Light"/>
                          <a:ea typeface="KoPubWorld돋움체 Light"/>
                          <a:cs typeface="KoPubWorld돋움체 Light"/>
                        </a:rPr>
                        <a:t>서초구 강남대로 369</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806366030"/>
                  </a:ext>
                </a:extLst>
              </a:tr>
              <a:tr h="138742">
                <a:tc>
                  <a:txBody>
                    <a:bodyPr anchor="ctr"/>
                    <a:lstStyle/>
                    <a:p>
                      <a:pPr algn="ctr"/>
                      <a:r>
                        <a:rPr sz="1000">
                          <a:solidFill>
                            <a:srgbClr val="000000"/>
                          </a:solidFill>
                          <a:latin typeface="KoPubWorld돋움체 Medium"/>
                          <a:ea typeface="KoPubWorld돋움체 Medium"/>
                          <a:cs typeface="KoPubWorld돋움체 Medium"/>
                        </a:rPr>
                        <a:t>대지면적</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ctr"/>
                      <a:r>
                        <a:rPr sz="1000">
                          <a:solidFill>
                            <a:srgbClr val="000000"/>
                          </a:solidFill>
                          <a:latin typeface="KoPubWorld돋움체 Light"/>
                          <a:ea typeface="KoPubWorld돋움체 Light"/>
                          <a:cs typeface="KoPubWorld돋움체 Light"/>
                        </a:rPr>
                        <a:t>1,777.40㎡(538평)</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2800812181"/>
                  </a:ext>
                </a:extLst>
              </a:tr>
              <a:tr h="138742">
                <a:tc>
                  <a:txBody>
                    <a:bodyPr anchor="ctr"/>
                    <a:lstStyle/>
                    <a:p>
                      <a:pPr algn="ctr"/>
                      <a:r>
                        <a:rPr sz="1000">
                          <a:solidFill>
                            <a:srgbClr val="000000"/>
                          </a:solidFill>
                          <a:latin typeface="KoPubWorld돋움체 Medium"/>
                          <a:ea typeface="KoPubWorld돋움체 Medium"/>
                          <a:cs typeface="KoPubWorld돋움체 Medium"/>
                        </a:rPr>
                        <a:t>연면적</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ctr"/>
                      <a:r>
                        <a:rPr sz="1000">
                          <a:solidFill>
                            <a:srgbClr val="000000"/>
                          </a:solidFill>
                          <a:latin typeface="KoPubWorld돋움체 Light"/>
                          <a:ea typeface="KoPubWorld돋움체 Light"/>
                          <a:cs typeface="KoPubWorld돋움체 Light"/>
                        </a:rPr>
                        <a:t>29,916.06㎡(9,050평)</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519960407"/>
                  </a:ext>
                </a:extLst>
              </a:tr>
              <a:tr h="138742">
                <a:tc>
                  <a:txBody>
                    <a:bodyPr anchor="ctr"/>
                    <a:lstStyle/>
                    <a:p>
                      <a:pPr algn="ctr"/>
                      <a:r>
                        <a:rPr sz="1000">
                          <a:solidFill>
                            <a:srgbClr val="000000"/>
                          </a:solidFill>
                          <a:latin typeface="KoPubWorld돋움체 Medium"/>
                          <a:ea typeface="KoPubWorld돋움체 Medium"/>
                          <a:cs typeface="KoPubWorld돋움체 Medium"/>
                        </a:rPr>
                        <a:t>주요 임차인</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ctr"/>
                      <a:r>
                        <a:rPr sz="1000">
                          <a:solidFill>
                            <a:srgbClr val="000000"/>
                          </a:solidFill>
                          <a:latin typeface="KoPubWorld돋움체 Light"/>
                          <a:ea typeface="KoPubWorld돋움체 Light"/>
                          <a:cs typeface="KoPubWorld돋움체 Light"/>
                        </a:rPr>
                        <a:t>두나무(89%)</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2949403113"/>
                  </a:ext>
                </a:extLst>
              </a:tr>
              <a:tr h="138742">
                <a:tc>
                  <a:txBody>
                    <a:bodyPr anchor="ctr"/>
                    <a:lstStyle/>
                    <a:p>
                      <a:pPr algn="ctr"/>
                      <a:r>
                        <a:rPr sz="1000">
                          <a:solidFill>
                            <a:srgbClr val="000000"/>
                          </a:solidFill>
                          <a:latin typeface="KoPubWorld돋움체 Medium"/>
                          <a:ea typeface="KoPubWorld돋움체 Medium"/>
                          <a:cs typeface="KoPubWorld돋움체 Medium"/>
                        </a:rPr>
                        <a:t>WALE</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ctr"/>
                      <a:r>
                        <a:rPr sz="1000">
                          <a:solidFill>
                            <a:srgbClr val="000000"/>
                          </a:solidFill>
                          <a:latin typeface="KoPubWorld돋움체 Light"/>
                          <a:ea typeface="KoPubWorld돋움체 Light"/>
                          <a:cs typeface="KoPubWorld돋움체 Light"/>
                        </a:rPr>
                        <a:t>3.5년</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85031305"/>
                  </a:ext>
                </a:extLst>
              </a:tr>
              <a:tr h="138742">
                <a:tc>
                  <a:txBody>
                    <a:bodyPr anchor="ctr"/>
                    <a:lstStyle/>
                    <a:p>
                      <a:pPr algn="ctr"/>
                      <a:r>
                        <a:rPr sz="1000">
                          <a:solidFill>
                            <a:srgbClr val="000000"/>
                          </a:solidFill>
                          <a:latin typeface="KoPubWorld돋움체 Medium"/>
                          <a:ea typeface="KoPubWorld돋움체 Medium"/>
                          <a:cs typeface="KoPubWorld돋움체 Medium"/>
                        </a:rPr>
                        <a:t>공실률</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ctr"/>
                      <a:r>
                        <a:rPr sz="1000">
                          <a:solidFill>
                            <a:srgbClr val="000000"/>
                          </a:solidFill>
                          <a:latin typeface="KoPubWorld돋움체 Light"/>
                          <a:ea typeface="KoPubWorld돋움체 Light"/>
                          <a:cs typeface="KoPubWorld돋움체 Light"/>
                        </a:rPr>
                        <a:t>0%</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96372306"/>
                  </a:ext>
                </a:extLst>
              </a:tr>
              <a:tr h="138742">
                <a:tc>
                  <a:txBody>
                    <a:bodyPr anchor="ctr"/>
                    <a:lstStyle/>
                    <a:p>
                      <a:pPr algn="ctr"/>
                      <a:r>
                        <a:rPr sz="1000">
                          <a:solidFill>
                            <a:srgbClr val="000000"/>
                          </a:solidFill>
                          <a:latin typeface="KoPubWorld돋움체 Medium"/>
                          <a:ea typeface="KoPubWorld돋움체 Medium"/>
                          <a:cs typeface="KoPubWorld돋움체 Medium"/>
                        </a:rPr>
                        <a:t>만기</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ctr"/>
                      <a:r>
                        <a:rPr sz="1000">
                          <a:solidFill>
                            <a:srgbClr val="000000"/>
                          </a:solidFill>
                          <a:latin typeface="KoPubWorld돋움체 Light"/>
                          <a:ea typeface="KoPubWorld돋움체 Light"/>
                          <a:cs typeface="KoPubWorld돋움체 Light"/>
                        </a:rPr>
                        <a:t>’27.05</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4088463193"/>
                  </a:ext>
                </a:extLst>
              </a:tr>
              <a:tr h="138742">
                <a:tc>
                  <a:txBody>
                    <a:bodyPr anchor="ctr"/>
                    <a:lstStyle/>
                    <a:p>
                      <a:pPr algn="ctr"/>
                      <a:r>
                        <a:rPr sz="1000">
                          <a:solidFill>
                            <a:srgbClr val="000000"/>
                          </a:solidFill>
                          <a:latin typeface="KoPubWorld돋움체 Medium"/>
                          <a:ea typeface="KoPubWorld돋움체 Medium"/>
                          <a:cs typeface="KoPubWorld돋움체 Medium"/>
                        </a:rPr>
                        <a:t>투자금액</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986638306"/>
                  </a:ext>
                </a:extLst>
              </a:tr>
              <a:tr h="138742">
                <a:tc>
                  <a:txBody>
                    <a:bodyPr anchor="ctr"/>
                    <a:lstStyle/>
                    <a:p>
                      <a:pPr algn="ctr"/>
                      <a:r>
                        <a:rPr sz="1000">
                          <a:solidFill>
                            <a:srgbClr val="000000"/>
                          </a:solidFill>
                          <a:latin typeface="KoPubWorld돋움체 Medium"/>
                          <a:ea typeface="KoPubWorld돋움체 Medium"/>
                          <a:cs typeface="KoPubWorld돋움체 Medium"/>
                        </a:rPr>
                        <a:t>평가금액</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ctr"/>
                      <a:r>
                        <a:rPr sz="1000">
                          <a:solidFill>
                            <a:srgbClr val="000000"/>
                          </a:solidFill>
                          <a:latin typeface="KoPubWorld돋움체 Light"/>
                          <a:ea typeface="KoPubWorld돋움체 Light"/>
                          <a:cs typeface="KoPubWorld돋움체 Light"/>
                        </a:rPr>
                        <a:t>392억원 (’25.11말,NICE P&amp;I)</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952570276"/>
                  </a:ext>
                </a:extLst>
              </a:tr>
            </a:tbl>
          </a:graphicData>
        </a:graphic>
      </p:graphicFrame>
      <p:pic>
        <p:nvPicPr>
          <p:cNvPr id="17" name="그림 16" descr="이미지: df타워 전경">
            <a:extLst>
              <a:ext uri="{FF2B5EF4-FFF2-40B4-BE49-F238E27FC236}">
                <a16:creationId xmlns:a16="http://schemas.microsoft.com/office/drawing/2014/main" id="{16F2EFDD-817A-BA68-1381-E011F1DFAA5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61638" y="2867554"/>
            <a:ext cx="1303862" cy="1149871"/>
          </a:xfrm>
          <a:prstGeom prst="rect">
            <a:avLst/>
          </a:prstGeom>
          <a:noFill/>
          <a:ln>
            <a:noFill/>
          </a:ln>
        </p:spPr>
      </p:pic>
      <p:sp>
        <p:nvSpPr>
          <p:cNvPr id="144" name="사각형: 둥근 모서리 143">
            <a:extLst>
              <a:ext uri="{FF2B5EF4-FFF2-40B4-BE49-F238E27FC236}">
                <a16:creationId xmlns:a16="http://schemas.microsoft.com/office/drawing/2014/main" id="{0EF32AE6-4F4A-6FF1-BD35-B35F5302E00D}"/>
              </a:ext>
            </a:extLst>
          </p:cNvPr>
          <p:cNvSpPr/>
          <p:nvPr/>
        </p:nvSpPr>
        <p:spPr>
          <a:xfrm>
            <a:off x="4157774" y="2231665"/>
            <a:ext cx="1692188" cy="182858"/>
          </a:xfrm>
          <a:prstGeom prst="round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매각요청 자산</a:t>
            </a:r>
            <a:endPar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72" name="TextBox 171">
            <a:extLst>
              <a:ext uri="{FF2B5EF4-FFF2-40B4-BE49-F238E27FC236}">
                <a16:creationId xmlns:a16="http://schemas.microsoft.com/office/drawing/2014/main" id="{3C4DCE3E-6F59-66A9-7BF8-61C3ED03218C}"/>
              </a:ext>
            </a:extLst>
          </p:cNvPr>
          <p:cNvSpPr txBox="1"/>
          <p:nvPr/>
        </p:nvSpPr>
        <p:spPr>
          <a:xfrm>
            <a:off x="8962382" y="2324869"/>
            <a:ext cx="1241589" cy="230832"/>
          </a:xfrm>
          <a:prstGeom prst="rect">
            <a:avLst/>
          </a:prstGeom>
          <a:noFill/>
        </p:spPr>
        <p:txBody>
          <a:bodyPr wrap="square" rtlCol="0" anchor="ctr">
            <a:spAutoFit/>
          </a:bodyPr>
          <a:lstStyle>
            <a:defPPr>
              <a:defRPr lang="ko-KR"/>
            </a:defPPr>
            <a:lvl1pPr>
              <a:defRPr>
                <a:solidFill>
                  <a:schemeClr val="tx1">
                    <a:lumMod val="50000"/>
                    <a:lumOff val="50000"/>
                  </a:schemeClr>
                </a:solidFill>
                <a:latin typeface="Franklin Gothic Heavy" panose="020B0903020102020204" pitchFamily="34" charset="0"/>
                <a:ea typeface="KoPub돋움체 Medium" panose="02020603020101020101" pitchFamily="18" charset="-127"/>
              </a:defRPr>
            </a:lvl1pPr>
          </a:lstStyle>
          <a:p>
            <a:pPr marR="0" lvl="0" algn="r" defTabSz="914400" rtl="0" eaLnBrk="1" fontAlgn="auto" latinLnBrk="1" hangingPunct="1">
              <a:lnSpc>
                <a:spcPct val="100000"/>
              </a:lnSpc>
              <a:spcBef>
                <a:spcPts val="0"/>
              </a:spcBef>
              <a:spcAft>
                <a:spcPts val="0"/>
              </a:spcAft>
              <a:buClrTx/>
              <a:buSzTx/>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cxnSp>
        <p:nvCxnSpPr>
          <p:cNvPr id="147" name="직선 연결선 146">
            <a:extLst>
              <a:ext uri="{FF2B5EF4-FFF2-40B4-BE49-F238E27FC236}">
                <a16:creationId xmlns:a16="http://schemas.microsoft.com/office/drawing/2014/main" id="{8769C521-CC3E-D9FC-68A7-6B290AFA0FA3}"/>
              </a:ext>
            </a:extLst>
          </p:cNvPr>
          <p:cNvCxnSpPr/>
          <p:nvPr/>
        </p:nvCxnSpPr>
        <p:spPr>
          <a:xfrm>
            <a:off x="4237552" y="4907824"/>
            <a:ext cx="4643499" cy="0"/>
          </a:xfrm>
          <a:prstGeom prst="line">
            <a:avLst/>
          </a:prstGeom>
          <a:ln>
            <a:solidFill>
              <a:schemeClr val="bg2">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8" name="직선 연결선 147">
            <a:extLst>
              <a:ext uri="{FF2B5EF4-FFF2-40B4-BE49-F238E27FC236}">
                <a16:creationId xmlns:a16="http://schemas.microsoft.com/office/drawing/2014/main" id="{B39CCABF-192D-7750-BD43-2F34B0751001}"/>
              </a:ext>
            </a:extLst>
          </p:cNvPr>
          <p:cNvCxnSpPr/>
          <p:nvPr/>
        </p:nvCxnSpPr>
        <p:spPr>
          <a:xfrm>
            <a:off x="4237552" y="4499917"/>
            <a:ext cx="4643499" cy="0"/>
          </a:xfrm>
          <a:prstGeom prst="line">
            <a:avLst/>
          </a:prstGeom>
          <a:ln>
            <a:solidFill>
              <a:schemeClr val="bg2">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149" name="직사각형 148">
            <a:extLst>
              <a:ext uri="{FF2B5EF4-FFF2-40B4-BE49-F238E27FC236}">
                <a16:creationId xmlns:a16="http://schemas.microsoft.com/office/drawing/2014/main" id="{B09BD3FB-2BF0-E224-A3A1-122BDE4D0367}"/>
              </a:ext>
            </a:extLst>
          </p:cNvPr>
          <p:cNvSpPr/>
          <p:nvPr/>
        </p:nvSpPr>
        <p:spPr>
          <a:xfrm>
            <a:off x="4491789" y="4540750"/>
            <a:ext cx="582552" cy="797193"/>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278</a:t>
            </a: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(17</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0" name="TextBox 149">
            <a:extLst>
              <a:ext uri="{FF2B5EF4-FFF2-40B4-BE49-F238E27FC236}">
                <a16:creationId xmlns:a16="http://schemas.microsoft.com/office/drawing/2014/main" id="{1AB43087-7B02-4A88-5E6F-2708A42BBB29}"/>
              </a:ext>
            </a:extLst>
          </p:cNvPr>
          <p:cNvSpPr txBox="1"/>
          <p:nvPr/>
        </p:nvSpPr>
        <p:spPr>
          <a:xfrm>
            <a:off x="4424050" y="5403433"/>
            <a:ext cx="718031" cy="115618"/>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2021</a:t>
            </a:r>
          </a:p>
        </p:txBody>
      </p:sp>
      <p:sp>
        <p:nvSpPr>
          <p:cNvPr id="151" name="직사각형 150">
            <a:extLst>
              <a:ext uri="{FF2B5EF4-FFF2-40B4-BE49-F238E27FC236}">
                <a16:creationId xmlns:a16="http://schemas.microsoft.com/office/drawing/2014/main" id="{E48CCFEB-1904-EC98-74E8-AEC7CDEB192A}"/>
              </a:ext>
            </a:extLst>
          </p:cNvPr>
          <p:cNvSpPr/>
          <p:nvPr/>
        </p:nvSpPr>
        <p:spPr>
          <a:xfrm>
            <a:off x="5207165" y="5017523"/>
            <a:ext cx="582552" cy="32042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80</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(4</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2" name="TextBox 151">
            <a:extLst>
              <a:ext uri="{FF2B5EF4-FFF2-40B4-BE49-F238E27FC236}">
                <a16:creationId xmlns:a16="http://schemas.microsoft.com/office/drawing/2014/main" id="{0F5BC19A-E39B-2DDB-CAEA-C2607AC61EDB}"/>
              </a:ext>
            </a:extLst>
          </p:cNvPr>
          <p:cNvSpPr txBox="1"/>
          <p:nvPr/>
        </p:nvSpPr>
        <p:spPr>
          <a:xfrm>
            <a:off x="5139426" y="5403433"/>
            <a:ext cx="718031" cy="115618"/>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2022</a:t>
            </a:r>
          </a:p>
        </p:txBody>
      </p:sp>
      <p:sp>
        <p:nvSpPr>
          <p:cNvPr id="153" name="직사각형 152">
            <a:extLst>
              <a:ext uri="{FF2B5EF4-FFF2-40B4-BE49-F238E27FC236}">
                <a16:creationId xmlns:a16="http://schemas.microsoft.com/office/drawing/2014/main" id="{6E0386E1-2852-54A3-34EC-0DC75608CF49}"/>
              </a:ext>
            </a:extLst>
          </p:cNvPr>
          <p:cNvSpPr/>
          <p:nvPr/>
        </p:nvSpPr>
        <p:spPr>
          <a:xfrm>
            <a:off x="5922541" y="5017522"/>
            <a:ext cx="582552" cy="32042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spc="-30" dirty="0">
                <a:solidFill>
                  <a:prstClr val="white"/>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74</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4" name="TextBox 153">
            <a:extLst>
              <a:ext uri="{FF2B5EF4-FFF2-40B4-BE49-F238E27FC236}">
                <a16:creationId xmlns:a16="http://schemas.microsoft.com/office/drawing/2014/main" id="{A2588E0E-6870-D9A4-BD75-3EEB8A38F7C2}"/>
              </a:ext>
            </a:extLst>
          </p:cNvPr>
          <p:cNvSpPr txBox="1"/>
          <p:nvPr/>
        </p:nvSpPr>
        <p:spPr>
          <a:xfrm>
            <a:off x="5854802" y="5403433"/>
            <a:ext cx="718031" cy="115618"/>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2023</a:t>
            </a:r>
          </a:p>
        </p:txBody>
      </p:sp>
      <p:sp>
        <p:nvSpPr>
          <p:cNvPr id="155" name="직사각형 154">
            <a:extLst>
              <a:ext uri="{FF2B5EF4-FFF2-40B4-BE49-F238E27FC236}">
                <a16:creationId xmlns:a16="http://schemas.microsoft.com/office/drawing/2014/main" id="{1D43DE81-4026-205F-E73B-79F8B859F5A1}"/>
              </a:ext>
            </a:extLst>
          </p:cNvPr>
          <p:cNvSpPr/>
          <p:nvPr/>
        </p:nvSpPr>
        <p:spPr>
          <a:xfrm>
            <a:off x="6637916" y="4938554"/>
            <a:ext cx="582552" cy="39938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107</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(7</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6" name="TextBox 155">
            <a:extLst>
              <a:ext uri="{FF2B5EF4-FFF2-40B4-BE49-F238E27FC236}">
                <a16:creationId xmlns:a16="http://schemas.microsoft.com/office/drawing/2014/main" id="{F80C1110-E53E-F935-665E-53B3FA6CB5C2}"/>
              </a:ext>
            </a:extLst>
          </p:cNvPr>
          <p:cNvSpPr txBox="1"/>
          <p:nvPr/>
        </p:nvSpPr>
        <p:spPr>
          <a:xfrm>
            <a:off x="6570178" y="5403433"/>
            <a:ext cx="718031" cy="115618"/>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2024</a:t>
            </a:r>
          </a:p>
        </p:txBody>
      </p:sp>
      <p:sp>
        <p:nvSpPr>
          <p:cNvPr id="157" name="직사각형 156">
            <a:extLst>
              <a:ext uri="{FF2B5EF4-FFF2-40B4-BE49-F238E27FC236}">
                <a16:creationId xmlns:a16="http://schemas.microsoft.com/office/drawing/2014/main" id="{E1C6EC5B-C39A-4693-ECB5-43175D39F189}"/>
              </a:ext>
            </a:extLst>
          </p:cNvPr>
          <p:cNvSpPr/>
          <p:nvPr/>
        </p:nvSpPr>
        <p:spPr>
          <a:xfrm>
            <a:off x="7299582" y="5017522"/>
            <a:ext cx="582552" cy="320420"/>
          </a:xfrm>
          <a:prstGeom prst="rect">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87</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(6</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8" name="TextBox 157">
            <a:extLst>
              <a:ext uri="{FF2B5EF4-FFF2-40B4-BE49-F238E27FC236}">
                <a16:creationId xmlns:a16="http://schemas.microsoft.com/office/drawing/2014/main" id="{130BD6B2-E415-5F23-C88A-C23E32832EC3}"/>
              </a:ext>
            </a:extLst>
          </p:cNvPr>
          <p:cNvSpPr txBox="1"/>
          <p:nvPr/>
        </p:nvSpPr>
        <p:spPr>
          <a:xfrm>
            <a:off x="7231843" y="5403433"/>
            <a:ext cx="718031" cy="115618"/>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2025</a:t>
            </a:r>
          </a:p>
        </p:txBody>
      </p:sp>
      <p:sp>
        <p:nvSpPr>
          <p:cNvPr id="159" name="직사각형 158">
            <a:extLst>
              <a:ext uri="{FF2B5EF4-FFF2-40B4-BE49-F238E27FC236}">
                <a16:creationId xmlns:a16="http://schemas.microsoft.com/office/drawing/2014/main" id="{579A9A48-B95A-6CB2-A184-1CA851795880}"/>
              </a:ext>
            </a:extLst>
          </p:cNvPr>
          <p:cNvSpPr/>
          <p:nvPr/>
        </p:nvSpPr>
        <p:spPr>
          <a:xfrm>
            <a:off x="8014958" y="4922137"/>
            <a:ext cx="582552" cy="415806"/>
          </a:xfrm>
          <a:prstGeom prst="rect">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151</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(12</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60" name="TextBox 159">
            <a:extLst>
              <a:ext uri="{FF2B5EF4-FFF2-40B4-BE49-F238E27FC236}">
                <a16:creationId xmlns:a16="http://schemas.microsoft.com/office/drawing/2014/main" id="{E6F9581D-87E0-EF02-D328-BDDB0120F6D5}"/>
              </a:ext>
            </a:extLst>
          </p:cNvPr>
          <p:cNvSpPr txBox="1"/>
          <p:nvPr/>
        </p:nvSpPr>
        <p:spPr>
          <a:xfrm>
            <a:off x="7947219" y="5403433"/>
            <a:ext cx="718031" cy="127180"/>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2026</a:t>
            </a:r>
          </a:p>
        </p:txBody>
      </p:sp>
      <p:sp>
        <p:nvSpPr>
          <p:cNvPr id="166" name="직사각형 165">
            <a:extLst>
              <a:ext uri="{FF2B5EF4-FFF2-40B4-BE49-F238E27FC236}">
                <a16:creationId xmlns:a16="http://schemas.microsoft.com/office/drawing/2014/main" id="{80A2A4E2-9A0A-BC3C-E879-466780D56A54}"/>
              </a:ext>
            </a:extLst>
          </p:cNvPr>
          <p:cNvSpPr/>
          <p:nvPr/>
        </p:nvSpPr>
        <p:spPr>
          <a:xfrm>
            <a:off x="8766286" y="4524073"/>
            <a:ext cx="860952" cy="1019960"/>
          </a:xfrm>
          <a:prstGeom prst="rect">
            <a:avLst/>
          </a:prstGeom>
          <a:noFill/>
          <a:ln w="28575">
            <a:solidFill>
              <a:srgbClr val="C00000"/>
            </a:solidFill>
            <a:prstDash val="sysDash"/>
            <a:extLst>
              <a:ext uri="{C807C97D-BFC1-408E-A445-0C87EB9F89A2}">
                <ask:lineSketchStyleProps xmlns:ask="http://schemas.microsoft.com/office/drawing/2018/sketchyshapes" sd="1219033472">
                  <a:custGeom>
                    <a:avLst/>
                    <a:gdLst>
                      <a:gd name="connsiteX0" fmla="*/ 0 w 1343710"/>
                      <a:gd name="connsiteY0" fmla="*/ 0 h 991552"/>
                      <a:gd name="connsiteX1" fmla="*/ 434466 w 1343710"/>
                      <a:gd name="connsiteY1" fmla="*/ 0 h 991552"/>
                      <a:gd name="connsiteX2" fmla="*/ 842058 w 1343710"/>
                      <a:gd name="connsiteY2" fmla="*/ 0 h 991552"/>
                      <a:gd name="connsiteX3" fmla="*/ 1343710 w 1343710"/>
                      <a:gd name="connsiteY3" fmla="*/ 0 h 991552"/>
                      <a:gd name="connsiteX4" fmla="*/ 1343710 w 1343710"/>
                      <a:gd name="connsiteY4" fmla="*/ 485860 h 991552"/>
                      <a:gd name="connsiteX5" fmla="*/ 1343710 w 1343710"/>
                      <a:gd name="connsiteY5" fmla="*/ 991552 h 991552"/>
                      <a:gd name="connsiteX6" fmla="*/ 922681 w 1343710"/>
                      <a:gd name="connsiteY6" fmla="*/ 991552 h 991552"/>
                      <a:gd name="connsiteX7" fmla="*/ 501652 w 1343710"/>
                      <a:gd name="connsiteY7" fmla="*/ 991552 h 991552"/>
                      <a:gd name="connsiteX8" fmla="*/ 0 w 1343710"/>
                      <a:gd name="connsiteY8" fmla="*/ 991552 h 991552"/>
                      <a:gd name="connsiteX9" fmla="*/ 0 w 1343710"/>
                      <a:gd name="connsiteY9" fmla="*/ 525523 h 991552"/>
                      <a:gd name="connsiteX10" fmla="*/ 0 w 1343710"/>
                      <a:gd name="connsiteY10" fmla="*/ 0 h 991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43710" h="991552" extrusionOk="0">
                        <a:moveTo>
                          <a:pt x="0" y="0"/>
                        </a:moveTo>
                        <a:cubicBezTo>
                          <a:pt x="213401" y="-18320"/>
                          <a:pt x="251872" y="16927"/>
                          <a:pt x="434466" y="0"/>
                        </a:cubicBezTo>
                        <a:cubicBezTo>
                          <a:pt x="617060" y="-16927"/>
                          <a:pt x="737171" y="15607"/>
                          <a:pt x="842058" y="0"/>
                        </a:cubicBezTo>
                        <a:cubicBezTo>
                          <a:pt x="946945" y="-15607"/>
                          <a:pt x="1107365" y="20478"/>
                          <a:pt x="1343710" y="0"/>
                        </a:cubicBezTo>
                        <a:cubicBezTo>
                          <a:pt x="1381686" y="199782"/>
                          <a:pt x="1321648" y="288460"/>
                          <a:pt x="1343710" y="485860"/>
                        </a:cubicBezTo>
                        <a:cubicBezTo>
                          <a:pt x="1365772" y="683260"/>
                          <a:pt x="1309601" y="809412"/>
                          <a:pt x="1343710" y="991552"/>
                        </a:cubicBezTo>
                        <a:cubicBezTo>
                          <a:pt x="1250420" y="1015778"/>
                          <a:pt x="1068813" y="973608"/>
                          <a:pt x="922681" y="991552"/>
                        </a:cubicBezTo>
                        <a:cubicBezTo>
                          <a:pt x="776549" y="1009496"/>
                          <a:pt x="695297" y="989603"/>
                          <a:pt x="501652" y="991552"/>
                        </a:cubicBezTo>
                        <a:cubicBezTo>
                          <a:pt x="308007" y="993501"/>
                          <a:pt x="149015" y="984688"/>
                          <a:pt x="0" y="991552"/>
                        </a:cubicBezTo>
                        <a:cubicBezTo>
                          <a:pt x="-26908" y="782999"/>
                          <a:pt x="4059" y="694924"/>
                          <a:pt x="0" y="525523"/>
                        </a:cubicBezTo>
                        <a:cubicBezTo>
                          <a:pt x="-4059" y="356122"/>
                          <a:pt x="26005" y="145195"/>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67" name="TextBox 166">
            <a:extLst>
              <a:ext uri="{FF2B5EF4-FFF2-40B4-BE49-F238E27FC236}">
                <a16:creationId xmlns:a16="http://schemas.microsoft.com/office/drawing/2014/main" id="{EF486BC3-F9B8-94D0-E69E-FF3E1A58E01B}"/>
              </a:ext>
            </a:extLst>
          </p:cNvPr>
          <p:cNvSpPr txBox="1"/>
          <p:nvPr/>
        </p:nvSpPr>
        <p:spPr>
          <a:xfrm>
            <a:off x="7614919" y="4480764"/>
            <a:ext cx="1121268" cy="415498"/>
          </a:xfrm>
          <a:prstGeom prst="rect">
            <a:avLst/>
          </a:prstGeom>
          <a:noFill/>
        </p:spPr>
        <p:txBody>
          <a:bodyPr wrap="square" anchor="ctr">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050" b="0" i="0"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50" dirty="0">
                <a:solidFill>
                  <a:srgbClr val="C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개년 간 </a:t>
            </a:r>
            <a:endParaRPr lang="en-US" altLang="ko-KR" sz="1050" dirty="0">
              <a:solidFill>
                <a:srgbClr val="C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50" b="0" i="0"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약 </a:t>
            </a:r>
            <a:r>
              <a:rPr kumimoji="0" lang="en-US" altLang="ko-KR" sz="1050" b="0" i="0"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30% </a:t>
            </a:r>
            <a:r>
              <a:rPr lang="ko-KR" altLang="en-US" sz="1050" dirty="0">
                <a:solidFill>
                  <a:srgbClr val="C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a:t>
            </a:r>
            <a:endParaRPr kumimoji="0" lang="ko-KR" altLang="en-US" sz="1050" b="0" i="0"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cxnSp>
        <p:nvCxnSpPr>
          <p:cNvPr id="169" name="직선 연결선 168">
            <a:extLst>
              <a:ext uri="{FF2B5EF4-FFF2-40B4-BE49-F238E27FC236}">
                <a16:creationId xmlns:a16="http://schemas.microsoft.com/office/drawing/2014/main" id="{027611C2-D4D3-0A4F-478F-F70145B50BAA}"/>
              </a:ext>
            </a:extLst>
          </p:cNvPr>
          <p:cNvCxnSpPr>
            <a:cxnSpLocks/>
          </p:cNvCxnSpPr>
          <p:nvPr/>
        </p:nvCxnSpPr>
        <p:spPr>
          <a:xfrm>
            <a:off x="4237552" y="5337746"/>
            <a:ext cx="5898886" cy="0"/>
          </a:xfrm>
          <a:prstGeom prst="line">
            <a:avLst/>
          </a:prstGeom>
          <a:ln>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175" name="직사각형 174">
            <a:extLst>
              <a:ext uri="{FF2B5EF4-FFF2-40B4-BE49-F238E27FC236}">
                <a16:creationId xmlns:a16="http://schemas.microsoft.com/office/drawing/2014/main" id="{0EB75D71-7427-CFAB-A861-51C223F43694}"/>
              </a:ext>
            </a:extLst>
          </p:cNvPr>
          <p:cNvSpPr/>
          <p:nvPr/>
        </p:nvSpPr>
        <p:spPr>
          <a:xfrm>
            <a:off x="8905814" y="4692593"/>
            <a:ext cx="582552" cy="65591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205</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(30%</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달성</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77" name="TextBox 176">
            <a:extLst>
              <a:ext uri="{FF2B5EF4-FFF2-40B4-BE49-F238E27FC236}">
                <a16:creationId xmlns:a16="http://schemas.microsoft.com/office/drawing/2014/main" id="{858E23E8-76FB-0A4D-009F-B8E2E791AD74}"/>
              </a:ext>
            </a:extLst>
          </p:cNvPr>
          <p:cNvSpPr txBox="1"/>
          <p:nvPr/>
        </p:nvSpPr>
        <p:spPr>
          <a:xfrm>
            <a:off x="8840294" y="5403433"/>
            <a:ext cx="718031" cy="127180"/>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2027~2028</a:t>
            </a:r>
          </a:p>
        </p:txBody>
      </p:sp>
    </p:spTree>
    <p:extLst>
      <p:ext uri="{BB962C8B-B14F-4D97-AF65-F5344CB8AC3E}">
        <p14:creationId xmlns:p14="http://schemas.microsoft.com/office/powerpoint/2010/main" val="2758723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DCDB8-55E6-50D1-24AC-C250B774CEED}"/>
            </a:ext>
          </a:extLst>
        </p:cNvPr>
        <p:cNvGrpSpPr/>
        <p:nvPr/>
      </p:nvGrpSpPr>
      <p:grpSpPr>
        <a:xfrm>
          <a:off x="0" y="0"/>
          <a:ext cx="0" cy="0"/>
          <a:chOff x="0" y="0"/>
          <a:chExt cx="0" cy="0"/>
        </a:xfrm>
      </p:grpSpPr>
      <p:grpSp>
        <p:nvGrpSpPr>
          <p:cNvPr id="5" name="그룹 4">
            <a:extLst>
              <a:ext uri="{FF2B5EF4-FFF2-40B4-BE49-F238E27FC236}">
                <a16:creationId xmlns:a16="http://schemas.microsoft.com/office/drawing/2014/main" id="{F54B2B5B-0A0B-EAB2-3671-F612A3F6E296}"/>
              </a:ext>
            </a:extLst>
          </p:cNvPr>
          <p:cNvGrpSpPr/>
          <p:nvPr/>
        </p:nvGrpSpPr>
        <p:grpSpPr>
          <a:xfrm>
            <a:off x="458887" y="1987916"/>
            <a:ext cx="9783663" cy="247712"/>
            <a:chOff x="458887" y="1987916"/>
            <a:chExt cx="9783663" cy="247712"/>
          </a:xfrm>
        </p:grpSpPr>
        <p:sp>
          <p:nvSpPr>
            <p:cNvPr id="6" name="직사각형 5">
              <a:extLst>
                <a:ext uri="{FF2B5EF4-FFF2-40B4-BE49-F238E27FC236}">
                  <a16:creationId xmlns:a16="http://schemas.microsoft.com/office/drawing/2014/main" id="{15D7A1D7-5A97-F2E0-A675-EE01891DB865}"/>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9" name="직선 연결선 8">
              <a:extLst>
                <a:ext uri="{FF2B5EF4-FFF2-40B4-BE49-F238E27FC236}">
                  <a16:creationId xmlns:a16="http://schemas.microsoft.com/office/drawing/2014/main" id="{24FB6A19-E6B3-1AE6-8063-693BC6881E78}"/>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0" name="자유형 159">
              <a:extLst>
                <a:ext uri="{FF2B5EF4-FFF2-40B4-BE49-F238E27FC236}">
                  <a16:creationId xmlns:a16="http://schemas.microsoft.com/office/drawing/2014/main" id="{CF35D65F-CDDF-22A8-BBCE-CFCCD2921329}"/>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1" name="자유형 160">
              <a:extLst>
                <a:ext uri="{FF2B5EF4-FFF2-40B4-BE49-F238E27FC236}">
                  <a16:creationId xmlns:a16="http://schemas.microsoft.com/office/drawing/2014/main" id="{E3299770-AC0F-480D-DB37-B7546AD70898}"/>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2" name="TextBox 11">
              <a:extLst>
                <a:ext uri="{FF2B5EF4-FFF2-40B4-BE49-F238E27FC236}">
                  <a16:creationId xmlns:a16="http://schemas.microsoft.com/office/drawing/2014/main" id="{7F0DF745-A8B6-A377-CB45-96724AD5089A}"/>
                </a:ext>
              </a:extLst>
            </p:cNvPr>
            <p:cNvSpPr txBox="1"/>
            <p:nvPr/>
          </p:nvSpPr>
          <p:spPr>
            <a:xfrm>
              <a:off x="458887" y="2034828"/>
              <a:ext cx="1249851"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투자의사결정 수권절차</a:t>
              </a:r>
            </a:p>
          </p:txBody>
        </p:sp>
      </p:grpSp>
      <p:grpSp>
        <p:nvGrpSpPr>
          <p:cNvPr id="80" name="그룹 79">
            <a:extLst>
              <a:ext uri="{FF2B5EF4-FFF2-40B4-BE49-F238E27FC236}">
                <a16:creationId xmlns:a16="http://schemas.microsoft.com/office/drawing/2014/main" id="{E26D9D99-D108-4556-B8EF-33277F7CEBDF}"/>
              </a:ext>
            </a:extLst>
          </p:cNvPr>
          <p:cNvGrpSpPr/>
          <p:nvPr/>
        </p:nvGrpSpPr>
        <p:grpSpPr>
          <a:xfrm>
            <a:off x="5363513" y="2368184"/>
            <a:ext cx="1677062" cy="246221"/>
            <a:chOff x="455998" y="2440192"/>
            <a:chExt cx="1677062" cy="246221"/>
          </a:xfrm>
        </p:grpSpPr>
        <p:sp>
          <p:nvSpPr>
            <p:cNvPr id="60" name="TextBox 59">
              <a:extLst>
                <a:ext uri="{FF2B5EF4-FFF2-40B4-BE49-F238E27FC236}">
                  <a16:creationId xmlns:a16="http://schemas.microsoft.com/office/drawing/2014/main" id="{FF8F0C3E-AC8D-75F9-E5DD-23215DA78459}"/>
                </a:ext>
              </a:extLst>
            </p:cNvPr>
            <p:cNvSpPr txBox="1"/>
            <p:nvPr/>
          </p:nvSpPr>
          <p:spPr>
            <a:xfrm>
              <a:off x="455998" y="2440192"/>
              <a:ext cx="1677062" cy="246221"/>
            </a:xfrm>
            <a:prstGeom prst="rect">
              <a:avLst/>
            </a:prstGeom>
            <a:solidFill>
              <a:schemeClr val="bg1"/>
            </a:solidFill>
          </p:spPr>
          <p:txBody>
            <a:bodyPr wrap="none" rtlCol="0" anchor="ctr">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투자 법률검토 내용</a:t>
              </a:r>
              <a:endParaRPr lang="ko-KR" altLang="en-US" sz="10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61" name="직사각형 60">
              <a:extLst>
                <a:ext uri="{FF2B5EF4-FFF2-40B4-BE49-F238E27FC236}">
                  <a16:creationId xmlns:a16="http://schemas.microsoft.com/office/drawing/2014/main" id="{1E379A59-A281-12EA-ED83-5E461690995B}"/>
                </a:ext>
              </a:extLst>
            </p:cNvPr>
            <p:cNvSpPr/>
            <p:nvPr/>
          </p:nvSpPr>
          <p:spPr>
            <a:xfrm>
              <a:off x="513444" y="2450361"/>
              <a:ext cx="50291" cy="206247"/>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59" name="그룹 58">
            <a:extLst>
              <a:ext uri="{FF2B5EF4-FFF2-40B4-BE49-F238E27FC236}">
                <a16:creationId xmlns:a16="http://schemas.microsoft.com/office/drawing/2014/main" id="{76C709AD-6157-3604-D694-4FAAD60BC3EC}"/>
              </a:ext>
            </a:extLst>
          </p:cNvPr>
          <p:cNvGrpSpPr/>
          <p:nvPr/>
        </p:nvGrpSpPr>
        <p:grpSpPr>
          <a:xfrm>
            <a:off x="458887" y="2368184"/>
            <a:ext cx="1790875" cy="246221"/>
            <a:chOff x="455998" y="2440192"/>
            <a:chExt cx="1790875" cy="246221"/>
          </a:xfrm>
        </p:grpSpPr>
        <p:sp>
          <p:nvSpPr>
            <p:cNvPr id="62" name="TextBox 61">
              <a:extLst>
                <a:ext uri="{FF2B5EF4-FFF2-40B4-BE49-F238E27FC236}">
                  <a16:creationId xmlns:a16="http://schemas.microsoft.com/office/drawing/2014/main" id="{DA420C03-0EC6-8B49-D13C-9E57C742320B}"/>
                </a:ext>
              </a:extLst>
            </p:cNvPr>
            <p:cNvSpPr txBox="1"/>
            <p:nvPr/>
          </p:nvSpPr>
          <p:spPr>
            <a:xfrm>
              <a:off x="455998" y="2440192"/>
              <a:ext cx="1790875" cy="246221"/>
            </a:xfrm>
            <a:prstGeom prst="rect">
              <a:avLst/>
            </a:prstGeom>
            <a:solidFill>
              <a:schemeClr val="bg1"/>
            </a:solidFill>
          </p:spPr>
          <p:txBody>
            <a:bodyPr wrap="none" rtlCol="0" anchor="ctr">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투자관련 수권절차 체크리스트</a:t>
              </a:r>
              <a:endParaRPr lang="ko-KR" altLang="en-US" sz="10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63" name="직사각형 62">
              <a:extLst>
                <a:ext uri="{FF2B5EF4-FFF2-40B4-BE49-F238E27FC236}">
                  <a16:creationId xmlns:a16="http://schemas.microsoft.com/office/drawing/2014/main" id="{C1B550E9-53E0-0D33-B596-1AA1E15D2D06}"/>
                </a:ext>
              </a:extLst>
            </p:cNvPr>
            <p:cNvSpPr/>
            <p:nvPr/>
          </p:nvSpPr>
          <p:spPr>
            <a:xfrm>
              <a:off x="513444" y="2450361"/>
              <a:ext cx="50291" cy="206247"/>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2" name="표 1">
            <a:extLst>
              <a:ext uri="{FF2B5EF4-FFF2-40B4-BE49-F238E27FC236}">
                <a16:creationId xmlns:a16="http://schemas.microsoft.com/office/drawing/2014/main" id="{B79A2028-5A18-D225-04B8-A913C282E9AA}"/>
              </a:ext>
            </a:extLst>
          </p:cNvPr>
          <p:cNvGraphicFramePr>
            <a:graphicFrameLocks noGrp="1"/>
          </p:cNvGraphicFramePr>
          <p:nvPr>
            <p:extLst>
              <p:ext uri="{D42A27DB-BD31-4B8C-83A1-F6EECF244321}">
                <p14:modId xmlns:p14="http://schemas.microsoft.com/office/powerpoint/2010/main" val="4164082619"/>
              </p:ext>
            </p:extLst>
          </p:nvPr>
        </p:nvGraphicFramePr>
        <p:xfrm>
          <a:off x="595736" y="5203424"/>
          <a:ext cx="4703235" cy="1260000"/>
        </p:xfrm>
        <a:graphic>
          <a:graphicData uri="http://schemas.openxmlformats.org/drawingml/2006/table">
            <a:tbl>
              <a:tblPr>
                <a:tableStyleId>{5940675A-B579-460E-94D1-54222C63F5DA}</a:tableStyleId>
              </a:tblPr>
              <a:tblGrid>
                <a:gridCol w="862210">
                  <a:extLst>
                    <a:ext uri="{9D8B030D-6E8A-4147-A177-3AD203B41FA5}">
                      <a16:colId xmlns:a16="http://schemas.microsoft.com/office/drawing/2014/main" val="20000"/>
                    </a:ext>
                  </a:extLst>
                </a:gridCol>
                <a:gridCol w="2828738">
                  <a:extLst>
                    <a:ext uri="{9D8B030D-6E8A-4147-A177-3AD203B41FA5}">
                      <a16:colId xmlns:a16="http://schemas.microsoft.com/office/drawing/2014/main" val="852014373"/>
                    </a:ext>
                  </a:extLst>
                </a:gridCol>
                <a:gridCol w="1012287">
                  <a:extLst>
                    <a:ext uri="{9D8B030D-6E8A-4147-A177-3AD203B41FA5}">
                      <a16:colId xmlns:a16="http://schemas.microsoft.com/office/drawing/2014/main" val="1554093756"/>
                    </a:ext>
                  </a:extLst>
                </a:gridCol>
              </a:tblGrid>
              <a:tr h="252000">
                <a:tc>
                  <a:txBody>
                    <a:bodyPr anchor="ctr"/>
                    <a:lstStyle/>
                    <a:p>
                      <a:pPr algn="ctr"/>
                      <a:r>
                        <a:rPr sz="900">
                          <a:solidFill>
                            <a:srgbClr val="000000"/>
                          </a:solidFill>
                          <a:latin typeface="KoPubWorld돋움체 Bold"/>
                          <a:ea typeface="KoPubWorld돋움체 Bold"/>
                          <a:cs typeface="KoPubWorld돋움체 Bold"/>
                        </a:rPr>
                        <a:t>구분</a:t>
                      </a:r>
                    </a:p>
                  </a:txBody>
                  <a:tcPr marL="9525" marR="9525" marT="9525" marB="0" anchor="ctr">
                    <a:lnL w="9525" cap="flat" cmpd="sng" algn="ctr">
                      <a:no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nchor="ctr"/>
                    <a:lstStyle/>
                    <a:p>
                      <a:pPr algn="ctr"/>
                      <a:r>
                        <a:rPr sz="900">
                          <a:solidFill>
                            <a:srgbClr val="000000"/>
                          </a:solidFill>
                          <a:latin typeface="KoPubWorld돋움체 Bold"/>
                          <a:ea typeface="KoPubWorld돋움체 Bold"/>
                          <a:cs typeface="KoPubWorld돋움체 Bold"/>
                        </a:rPr>
                        <a:t>내용</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nchor="ctr"/>
                    <a:lstStyle/>
                    <a:p>
                      <a:pPr algn="ctr"/>
                      <a:r>
                        <a:rPr sz="900">
                          <a:solidFill>
                            <a:srgbClr val="000000"/>
                          </a:solidFill>
                          <a:latin typeface="KoPubWorld돋움체 Bold"/>
                          <a:ea typeface="KoPubWorld돋움체 Bold"/>
                          <a:cs typeface="KoPubWorld돋움체 Bold"/>
                        </a:rPr>
                        <a:t>진행상황</a:t>
                      </a:r>
                    </a:p>
                  </a:txBody>
                  <a:tcPr marL="9525" marR="9525" marT="9525" marB="0" anchor="ctr">
                    <a:lnL w="3175" cap="flat" cmpd="sng" algn="ctr">
                      <a:solidFill>
                        <a:srgbClr val="BFBFBF"/>
                      </a:solidFill>
                      <a:prstDash val="solid"/>
                    </a:lnL>
                    <a:lnR w="3175" cap="flat" cmpd="sng" algn="ctr">
                      <a:no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extLst>
                  <a:ext uri="{0D108BD9-81ED-4DB2-BD59-A6C34878D82A}">
                    <a16:rowId xmlns:a16="http://schemas.microsoft.com/office/drawing/2014/main" val="10000"/>
                  </a:ext>
                </a:extLst>
              </a:tr>
              <a:tr h="252000">
                <a:tc>
                  <a:txBody>
                    <a:bodyPr anchor="ctr"/>
                    <a:lstStyle/>
                    <a:p>
                      <a:pPr algn="ctr"/>
                      <a:r>
                        <a:rPr sz="900">
                          <a:solidFill>
                            <a:srgbClr val="000000"/>
                          </a:solidFill>
                          <a:latin typeface="KoPubWorld돋움체 Medium"/>
                          <a:ea typeface="KoPubWorld돋움체 Medium"/>
                          <a:cs typeface="KoPubWorld돋움체 Medium"/>
                        </a:rPr>
                        <a:t>주주총회</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ctr"/>
                      <a:r>
                        <a:rPr sz="900">
                          <a:solidFill>
                            <a:srgbClr val="000000"/>
                          </a:solidFill>
                          <a:latin typeface="KoPubWorld돋움체 Light"/>
                          <a:ea typeface="KoPubWorld돋움체 Light"/>
                          <a:cs typeface="KoPubWorld돋움체 Light"/>
                        </a:rPr>
                        <a:t>차입계획 및 사채발행계획 승인(5,000억원 이내)</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900">
                          <a:solidFill>
                            <a:srgbClr val="000000"/>
                          </a:solidFill>
                          <a:latin typeface="KoPubWorld돋움체 Light"/>
                          <a:ea typeface="KoPubWorld돋움체 Light"/>
                          <a:cs typeface="KoPubWorld돋움체 Light"/>
                        </a:rPr>
                        <a:t>2/25 승인완료</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020372274"/>
                  </a:ext>
                </a:extLst>
              </a:tr>
              <a:tr h="252000">
                <a:tc>
                  <a:txBody>
                    <a:bodyPr anchor="ctr"/>
                    <a:lstStyle/>
                    <a:p>
                      <a:pPr algn="ctr"/>
                      <a:r>
                        <a:rPr sz="900">
                          <a:solidFill>
                            <a:srgbClr val="000000"/>
                          </a:solidFill>
                          <a:latin typeface="KoPubWorld돋움체 Medium"/>
                          <a:ea typeface="KoPubWorld돋움체 Medium"/>
                          <a:cs typeface="KoPubWorld돋움체 Medium"/>
                        </a:rPr>
                        <a:t>이사회</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ctr"/>
                      <a:r>
                        <a:rPr sz="900">
                          <a:solidFill>
                            <a:srgbClr val="000000"/>
                          </a:solidFill>
                          <a:latin typeface="KoPubWorld돋움체 Light"/>
                          <a:ea typeface="KoPubWorld돋움체 Light"/>
                          <a:cs typeface="KoPubWorld돋움체 Light"/>
                        </a:rPr>
                        <a:t>차입계획 및 사채발행계획 승인(1,500억원 이내)</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900">
                          <a:solidFill>
                            <a:srgbClr val="000000"/>
                          </a:solidFill>
                          <a:latin typeface="KoPubWorld돋움체 Light"/>
                          <a:ea typeface="KoPubWorld돋움체 Light"/>
                          <a:cs typeface="KoPubWorld돋움체 Light"/>
                        </a:rPr>
                        <a:t>1/27 승인완료</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413220065"/>
                  </a:ext>
                </a:extLst>
              </a:tr>
              <a:tr h="252000">
                <a:tc>
                  <a:txBody>
                    <a:bodyPr anchor="ctr"/>
                    <a:lstStyle/>
                    <a:p>
                      <a:pPr algn="ctr"/>
                      <a:r>
                        <a:rPr sz="900">
                          <a:solidFill>
                            <a:srgbClr val="000000"/>
                          </a:solidFill>
                          <a:latin typeface="KoPubWorld돋움체 Medium"/>
                          <a:ea typeface="KoPubWorld돋움체 Medium"/>
                          <a:cs typeface="KoPubWorld돋움체 Medium"/>
                        </a:rPr>
                        <a:t>이사회</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ctr"/>
                      <a:r>
                        <a:rPr sz="900">
                          <a:solidFill>
                            <a:srgbClr val="000000"/>
                          </a:solidFill>
                          <a:latin typeface="KoPubWorld돋움체 Light"/>
                          <a:ea typeface="KoPubWorld돋움체 Light"/>
                          <a:cs typeface="KoPubWorld돋움체 Light"/>
                        </a:rPr>
                        <a:t>사모사채(140억원) 발행 및 인수계약 체결</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900">
                          <a:solidFill>
                            <a:srgbClr val="000000"/>
                          </a:solidFill>
                          <a:latin typeface="KoPubWorld돋움체 Light"/>
                          <a:ea typeface="KoPubWorld돋움체 Light"/>
                          <a:cs typeface="KoPubWorld돋움체 Light"/>
                        </a:rPr>
                        <a:t>10/14(E)</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599334124"/>
                  </a:ext>
                </a:extLst>
              </a:tr>
              <a:tr h="252000">
                <a:tc>
                  <a:txBody>
                    <a:bodyPr anchor="ctr"/>
                    <a:lstStyle/>
                    <a:p>
                      <a:pPr algn="ctr"/>
                      <a:r>
                        <a:rPr sz="900">
                          <a:solidFill>
                            <a:srgbClr val="000000"/>
                          </a:solidFill>
                          <a:latin typeface="KoPubWorld돋움체 Medium"/>
                          <a:ea typeface="KoPubWorld돋움체 Medium"/>
                          <a:cs typeface="KoPubWorld돋움체 Medium"/>
                        </a:rPr>
                        <a:t>변경인가</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ctr"/>
                      <a:r>
                        <a:rPr sz="900">
                          <a:solidFill>
                            <a:srgbClr val="000000"/>
                          </a:solidFill>
                          <a:latin typeface="KoPubWorld돋움체 Light"/>
                          <a:ea typeface="KoPubWorld돋움체 Light"/>
                          <a:cs typeface="KoPubWorld돋움체 Light"/>
                        </a:rPr>
                        <a:t>인가 사업계획 대비 30% 미만 변경 시 제외</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900">
                          <a:solidFill>
                            <a:srgbClr val="000000"/>
                          </a:solidFill>
                          <a:latin typeface="KoPubWorld돋움체 Light"/>
                          <a:ea typeface="KoPubWorld돋움체 Light"/>
                          <a:cs typeface="KoPubWorld돋움체 Light"/>
                        </a:rPr>
                        <a:t>해당 여부 [확인 필요]</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711324032"/>
                  </a:ext>
                </a:extLst>
              </a:tr>
            </a:tbl>
          </a:graphicData>
        </a:graphic>
      </p:graphicFrame>
      <p:sp>
        <p:nvSpPr>
          <p:cNvPr id="3" name="직사각형 2">
            <a:extLst>
              <a:ext uri="{FF2B5EF4-FFF2-40B4-BE49-F238E27FC236}">
                <a16:creationId xmlns:a16="http://schemas.microsoft.com/office/drawing/2014/main" id="{EC8DB9EE-131C-3E19-08A5-A77C498F7F47}"/>
              </a:ext>
            </a:extLst>
          </p:cNvPr>
          <p:cNvSpPr/>
          <p:nvPr/>
        </p:nvSpPr>
        <p:spPr>
          <a:xfrm>
            <a:off x="388228" y="4925003"/>
            <a:ext cx="1512168" cy="246221"/>
          </a:xfrm>
          <a:prstGeom prst="rect">
            <a:avLst/>
          </a:prstGeom>
        </p:spPr>
        <p:txBody>
          <a:bodyPr wrap="square" anchor="ctr"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사채</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발행 관련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 name="직사각형 3">
            <a:extLst>
              <a:ext uri="{FF2B5EF4-FFF2-40B4-BE49-F238E27FC236}">
                <a16:creationId xmlns:a16="http://schemas.microsoft.com/office/drawing/2014/main" id="{7FA61D49-1B93-FA16-7B03-8F7BE90F18B0}"/>
              </a:ext>
            </a:extLst>
          </p:cNvPr>
          <p:cNvSpPr/>
          <p:nvPr/>
        </p:nvSpPr>
        <p:spPr>
          <a:xfrm>
            <a:off x="395886" y="2858176"/>
            <a:ext cx="1512168" cy="246221"/>
          </a:xfrm>
          <a:prstGeom prst="rect">
            <a:avLst/>
          </a:prstGeom>
        </p:spPr>
        <p:txBody>
          <a:bodyPr wrap="square" anchor="ctr"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증권 투자관련</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7" name="표 6">
            <a:extLst>
              <a:ext uri="{FF2B5EF4-FFF2-40B4-BE49-F238E27FC236}">
                <a16:creationId xmlns:a16="http://schemas.microsoft.com/office/drawing/2014/main" id="{58098F33-0745-3595-91D3-6588BCEC44B6}"/>
              </a:ext>
            </a:extLst>
          </p:cNvPr>
          <p:cNvGraphicFramePr>
            <a:graphicFrameLocks noGrp="1"/>
          </p:cNvGraphicFramePr>
          <p:nvPr>
            <p:extLst>
              <p:ext uri="{D42A27DB-BD31-4B8C-83A1-F6EECF244321}">
                <p14:modId xmlns:p14="http://schemas.microsoft.com/office/powerpoint/2010/main" val="1194006615"/>
              </p:ext>
            </p:extLst>
          </p:nvPr>
        </p:nvGraphicFramePr>
        <p:xfrm>
          <a:off x="603394" y="3122132"/>
          <a:ext cx="4720217" cy="1260000"/>
        </p:xfrm>
        <a:graphic>
          <a:graphicData uri="http://schemas.openxmlformats.org/drawingml/2006/table">
            <a:tbl>
              <a:tblPr>
                <a:tableStyleId>{5940675A-B579-460E-94D1-54222C63F5DA}</a:tableStyleId>
              </a:tblPr>
              <a:tblGrid>
                <a:gridCol w="854070">
                  <a:extLst>
                    <a:ext uri="{9D8B030D-6E8A-4147-A177-3AD203B41FA5}">
                      <a16:colId xmlns:a16="http://schemas.microsoft.com/office/drawing/2014/main" val="20000"/>
                    </a:ext>
                  </a:extLst>
                </a:gridCol>
                <a:gridCol w="2826854">
                  <a:extLst>
                    <a:ext uri="{9D8B030D-6E8A-4147-A177-3AD203B41FA5}">
                      <a16:colId xmlns:a16="http://schemas.microsoft.com/office/drawing/2014/main" val="852014373"/>
                    </a:ext>
                  </a:extLst>
                </a:gridCol>
                <a:gridCol w="1039293">
                  <a:extLst>
                    <a:ext uri="{9D8B030D-6E8A-4147-A177-3AD203B41FA5}">
                      <a16:colId xmlns:a16="http://schemas.microsoft.com/office/drawing/2014/main" val="3145354454"/>
                    </a:ext>
                  </a:extLst>
                </a:gridCol>
              </a:tblGrid>
              <a:tr h="252000">
                <a:tc>
                  <a:txBody>
                    <a:bodyPr anchor="ctr"/>
                    <a:lstStyle/>
                    <a:p>
                      <a:pPr algn="ctr"/>
                      <a:r>
                        <a:rPr sz="900">
                          <a:solidFill>
                            <a:srgbClr val="000000"/>
                          </a:solidFill>
                          <a:latin typeface="KoPubWorld돋움체 Bold"/>
                          <a:ea typeface="KoPubWorld돋움체 Bold"/>
                          <a:cs typeface="KoPubWorld돋움체 Bold"/>
                        </a:rPr>
                        <a:t>구분</a:t>
                      </a:r>
                    </a:p>
                  </a:txBody>
                  <a:tcPr marL="9525" marR="9525" marT="9525" marB="0" anchor="ctr">
                    <a:lnL w="9525" cap="flat" cmpd="sng" algn="ctr">
                      <a:no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nchor="ctr"/>
                    <a:lstStyle/>
                    <a:p>
                      <a:pPr algn="ctr"/>
                      <a:r>
                        <a:rPr sz="900">
                          <a:solidFill>
                            <a:srgbClr val="000000"/>
                          </a:solidFill>
                          <a:latin typeface="KoPubWorld돋움체 Bold"/>
                          <a:ea typeface="KoPubWorld돋움체 Bold"/>
                          <a:cs typeface="KoPubWorld돋움체 Bold"/>
                        </a:rPr>
                        <a:t>의안 내용</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nchor="ctr"/>
                    <a:lstStyle/>
                    <a:p>
                      <a:pPr algn="ctr"/>
                      <a:r>
                        <a:rPr sz="900">
                          <a:solidFill>
                            <a:srgbClr val="000000"/>
                          </a:solidFill>
                          <a:latin typeface="KoPubWorld돋움체 Bold"/>
                          <a:ea typeface="KoPubWorld돋움체 Bold"/>
                          <a:cs typeface="KoPubWorld돋움체 Bold"/>
                        </a:rPr>
                        <a:t>진행상황</a:t>
                      </a:r>
                    </a:p>
                  </a:txBody>
                  <a:tcPr marL="9525" marR="9525" marT="9525" marB="0" anchor="ctr">
                    <a:lnL w="3175" cap="flat" cmpd="sng" algn="ctr">
                      <a:solidFill>
                        <a:srgbClr val="BFBFBF"/>
                      </a:solidFill>
                      <a:prstDash val="solid"/>
                    </a:lnL>
                    <a:lnR w="3175" cap="flat" cmpd="sng" algn="ctr">
                      <a:no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extLst>
                  <a:ext uri="{0D108BD9-81ED-4DB2-BD59-A6C34878D82A}">
                    <a16:rowId xmlns:a16="http://schemas.microsoft.com/office/drawing/2014/main" val="10000"/>
                  </a:ext>
                </a:extLst>
              </a:tr>
              <a:tr h="252000">
                <a:tc>
                  <a:txBody>
                    <a:bodyPr anchor="ctr"/>
                    <a:lstStyle/>
                    <a:p>
                      <a:pPr algn="ctr"/>
                      <a:r>
                        <a:rPr sz="900">
                          <a:solidFill>
                            <a:srgbClr val="000000"/>
                          </a:solidFill>
                          <a:latin typeface="KoPubWorld돋움체 Medium"/>
                          <a:ea typeface="KoPubWorld돋움체 Medium"/>
                          <a:cs typeface="KoPubWorld돋움체 Medium"/>
                        </a:rPr>
                        <a:t>주주총회</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ctr"/>
                      <a:r>
                        <a:rPr sz="900">
                          <a:solidFill>
                            <a:srgbClr val="000000"/>
                          </a:solidFill>
                          <a:latin typeface="KoPubWorld돋움체 Light"/>
                          <a:ea typeface="KoPubWorld돋움체 Light"/>
                          <a:cs typeface="KoPubWorld돋움체 Light"/>
                        </a:rPr>
                        <a:t>총자산 30% 초과 자산 취득계약 시 결의(부투법 §12①)</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900">
                          <a:solidFill>
                            <a:srgbClr val="000000"/>
                          </a:solidFill>
                          <a:latin typeface="KoPubWorld돋움체 Light"/>
                          <a:ea typeface="KoPubWorld돋움체 Light"/>
                          <a:cs typeface="KoPubWorld돋움체 Light"/>
                        </a:rPr>
                        <a:t>해당사항 없음(총자산 약 6%[추정])</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020372274"/>
                  </a:ext>
                </a:extLst>
              </a:tr>
              <a:tr h="252000">
                <a:tc>
                  <a:txBody>
                    <a:bodyPr anchor="ctr"/>
                    <a:lstStyle/>
                    <a:p>
                      <a:pPr algn="ctr"/>
                      <a:r>
                        <a:rPr sz="900">
                          <a:solidFill>
                            <a:srgbClr val="000000"/>
                          </a:solidFill>
                          <a:latin typeface="KoPubWorld돋움체 Medium"/>
                          <a:ea typeface="KoPubWorld돋움체 Medium"/>
                          <a:cs typeface="KoPubWorld돋움체 Medium"/>
                        </a:rPr>
                        <a:t>투자자문위원회</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ctr"/>
                      <a:r>
                        <a:rPr sz="900">
                          <a:solidFill>
                            <a:srgbClr val="000000"/>
                          </a:solidFill>
                          <a:latin typeface="KoPubWorld돋움체 Light"/>
                          <a:ea typeface="KoPubWorld돋움체 Light"/>
                          <a:cs typeface="KoPubWorld돋움체 Light"/>
                        </a:rPr>
                        <a:t>KLL 지분증권 취득 및 매입확약서 제출 자문</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900">
                          <a:solidFill>
                            <a:srgbClr val="000000"/>
                          </a:solidFill>
                          <a:latin typeface="KoPubWorld돋움체 Light"/>
                          <a:ea typeface="KoPubWorld돋움체 Light"/>
                          <a:cs typeface="KoPubWorld돋움체 Light"/>
                        </a:rPr>
                        <a:t>10/12(E)</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413220065"/>
                  </a:ext>
                </a:extLst>
              </a:tr>
              <a:tr h="252000">
                <a:tc>
                  <a:txBody>
                    <a:bodyPr anchor="ctr"/>
                    <a:lstStyle/>
                    <a:p>
                      <a:pPr algn="ctr"/>
                      <a:r>
                        <a:rPr sz="900">
                          <a:solidFill>
                            <a:srgbClr val="000000"/>
                          </a:solidFill>
                          <a:latin typeface="KoPubWorld돋움체 Medium"/>
                          <a:ea typeface="KoPubWorld돋움체 Medium"/>
                          <a:cs typeface="KoPubWorld돋움체 Medium"/>
                        </a:rPr>
                        <a:t>이사회</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ctr"/>
                      <a:r>
                        <a:rPr sz="900">
                          <a:solidFill>
                            <a:srgbClr val="000000"/>
                          </a:solidFill>
                          <a:latin typeface="KoPubWorld돋움체 Light"/>
                          <a:ea typeface="KoPubWorld돋움체 Light"/>
                          <a:cs typeface="KoPubWorld돋움체 Light"/>
                        </a:rPr>
                        <a:t>주주간계약 체결(보통주 148억·2-1종 160억)·매입확약서 제출</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900">
                          <a:solidFill>
                            <a:srgbClr val="000000"/>
                          </a:solidFill>
                          <a:latin typeface="KoPubWorld돋움체 Light"/>
                          <a:ea typeface="KoPubWorld돋움체 Light"/>
                          <a:cs typeface="KoPubWorld돋움체 Light"/>
                        </a:rPr>
                        <a:t>10/14(E) → 10/16 체결</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614806546"/>
                  </a:ext>
                </a:extLst>
              </a:tr>
              <a:tr h="252000">
                <a:tc>
                  <a:txBody>
                    <a:bodyPr anchor="ctr"/>
                    <a:lstStyle/>
                    <a:p>
                      <a:pPr algn="ctr"/>
                      <a:r>
                        <a:rPr sz="900">
                          <a:solidFill>
                            <a:srgbClr val="000000"/>
                          </a:solidFill>
                          <a:latin typeface="KoPubWorld돋움체 Medium"/>
                          <a:ea typeface="KoPubWorld돋움체 Medium"/>
                          <a:cs typeface="KoPubWorld돋움체 Medium"/>
                        </a:rPr>
                        <a:t>변경인가·보고</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ctr"/>
                      <a:r>
                        <a:rPr sz="900">
                          <a:solidFill>
                            <a:srgbClr val="000000"/>
                          </a:solidFill>
                          <a:latin typeface="KoPubWorld돋움체 Light"/>
                          <a:ea typeface="KoPubWorld돋움체 Light"/>
                          <a:cs typeface="KoPubWorld돋움체 Light"/>
                        </a:rPr>
                        <a:t>인가 사업계획 대비 변경 해당 여부 및 변경보고</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ctr"/>
                      <a:r>
                        <a:rPr sz="900">
                          <a:solidFill>
                            <a:srgbClr val="000000"/>
                          </a:solidFill>
                          <a:latin typeface="KoPubWorld돋움체 Light"/>
                          <a:ea typeface="KoPubWorld돋움체 Light"/>
                          <a:cs typeface="KoPubWorld돋움체 Light"/>
                        </a:rPr>
                        <a:t>10/22 종결 이후 [확인 필요]</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201389081"/>
                  </a:ext>
                </a:extLst>
              </a:tr>
            </a:tbl>
          </a:graphicData>
        </a:graphic>
      </p:graphicFrame>
      <p:graphicFrame>
        <p:nvGraphicFramePr>
          <p:cNvPr id="67" name="표 66">
            <a:extLst>
              <a:ext uri="{FF2B5EF4-FFF2-40B4-BE49-F238E27FC236}">
                <a16:creationId xmlns:a16="http://schemas.microsoft.com/office/drawing/2014/main" id="{6707570E-EC90-B26A-176A-7EDF6F79321F}"/>
              </a:ext>
            </a:extLst>
          </p:cNvPr>
          <p:cNvGraphicFramePr>
            <a:graphicFrameLocks noGrp="1"/>
          </p:cNvGraphicFramePr>
          <p:nvPr>
            <p:extLst>
              <p:ext uri="{D42A27DB-BD31-4B8C-83A1-F6EECF244321}">
                <p14:modId xmlns:p14="http://schemas.microsoft.com/office/powerpoint/2010/main" val="2759206953"/>
              </p:ext>
            </p:extLst>
          </p:nvPr>
        </p:nvGraphicFramePr>
        <p:xfrm>
          <a:off x="5506479" y="2771725"/>
          <a:ext cx="4782001" cy="3691700"/>
        </p:xfrm>
        <a:graphic>
          <a:graphicData uri="http://schemas.openxmlformats.org/drawingml/2006/table">
            <a:tbl>
              <a:tblPr>
                <a:tableStyleId>{5940675A-B579-460E-94D1-54222C63F5DA}</a:tableStyleId>
              </a:tblPr>
              <a:tblGrid>
                <a:gridCol w="736204">
                  <a:extLst>
                    <a:ext uri="{9D8B030D-6E8A-4147-A177-3AD203B41FA5}">
                      <a16:colId xmlns:a16="http://schemas.microsoft.com/office/drawing/2014/main" val="20000"/>
                    </a:ext>
                  </a:extLst>
                </a:gridCol>
                <a:gridCol w="2087421">
                  <a:extLst>
                    <a:ext uri="{9D8B030D-6E8A-4147-A177-3AD203B41FA5}">
                      <a16:colId xmlns:a16="http://schemas.microsoft.com/office/drawing/2014/main" val="852014373"/>
                    </a:ext>
                  </a:extLst>
                </a:gridCol>
                <a:gridCol w="1958376">
                  <a:extLst>
                    <a:ext uri="{9D8B030D-6E8A-4147-A177-3AD203B41FA5}">
                      <a16:colId xmlns:a16="http://schemas.microsoft.com/office/drawing/2014/main" val="3145354454"/>
                    </a:ext>
                  </a:extLst>
                </a:gridCol>
              </a:tblGrid>
              <a:tr h="270348">
                <a:tc>
                  <a:txBody>
                    <a:bodyPr anchor="ctr"/>
                    <a:lstStyle/>
                    <a:p>
                      <a:pPr algn="ctr"/>
                      <a:r>
                        <a:rPr sz="900">
                          <a:solidFill>
                            <a:srgbClr val="000000"/>
                          </a:solidFill>
                          <a:latin typeface="KoPubWorld돋움체 Bold"/>
                          <a:ea typeface="KoPubWorld돋움체 Bold"/>
                          <a:cs typeface="KoPubWorld돋움체 Bold"/>
                        </a:rPr>
                        <a:t>구분</a:t>
                      </a:r>
                    </a:p>
                  </a:txBody>
                  <a:tcPr marL="9525" marR="9525" marT="9525" marB="0" anchor="ctr">
                    <a:lnL w="9525" cap="flat" cmpd="sng" algn="ctr">
                      <a:no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nchor="ctr"/>
                    <a:lstStyle/>
                    <a:p>
                      <a:pPr algn="ctr"/>
                      <a:r>
                        <a:rPr sz="900">
                          <a:solidFill>
                            <a:srgbClr val="000000"/>
                          </a:solidFill>
                          <a:latin typeface="KoPubWorld돋움체 Bold"/>
                          <a:ea typeface="KoPubWorld돋움체 Bold"/>
                          <a:cs typeface="KoPubWorld돋움체 Bold"/>
                        </a:rPr>
                        <a:t>쟁점</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nchor="ctr"/>
                    <a:lstStyle/>
                    <a:p>
                      <a:pPr algn="ctr"/>
                      <a:r>
                        <a:rPr sz="900">
                          <a:solidFill>
                            <a:srgbClr val="000000"/>
                          </a:solidFill>
                          <a:latin typeface="KoPubWorld돋움체 Bold"/>
                          <a:ea typeface="KoPubWorld돋움체 Bold"/>
                          <a:cs typeface="KoPubWorld돋움체 Bold"/>
                        </a:rPr>
                        <a:t>대응방안</a:t>
                      </a:r>
                    </a:p>
                  </a:txBody>
                  <a:tcPr marL="9525" marR="9525" marT="9525" marB="0" anchor="ctr">
                    <a:lnL w="3175" cap="flat" cmpd="sng" algn="ctr">
                      <a:solidFill>
                        <a:srgbClr val="BFBFBF"/>
                      </a:solidFill>
                      <a:prstDash val="solid"/>
                    </a:lnL>
                    <a:lnR w="3175" cap="flat" cmpd="sng" algn="ctr">
                      <a:no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extLst>
                  <a:ext uri="{0D108BD9-81ED-4DB2-BD59-A6C34878D82A}">
                    <a16:rowId xmlns:a16="http://schemas.microsoft.com/office/drawing/2014/main" val="10000"/>
                  </a:ext>
                </a:extLst>
              </a:tr>
              <a:tr h="427669">
                <a:tc>
                  <a:txBody>
                    <a:bodyPr anchor="ctr"/>
                    <a:lstStyle/>
                    <a:p>
                      <a:pPr algn="ctr"/>
                      <a:r>
                        <a:rPr sz="900">
                          <a:solidFill>
                            <a:srgbClr val="000000"/>
                          </a:solidFill>
                          <a:latin typeface="KoPubWorld돋움체 Medium"/>
                          <a:ea typeface="KoPubWorld돋움체 Medium"/>
                          <a:cs typeface="KoPubWorld돋움체 Medium"/>
                        </a:rPr>
                        <a:t>KLI 결의요건</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l"/>
                      <a:r>
                        <a:rPr sz="900">
                          <a:solidFill>
                            <a:srgbClr val="000000"/>
                          </a:solidFill>
                          <a:latin typeface="KoPubWorld돋움체 Light"/>
                          <a:ea typeface="KoPubWorld돋움체 Light"/>
                          <a:cs typeface="KoPubWorld돋움체 Light"/>
                        </a:rPr>
                        <a:t>총자산 30% 초과 취득계약은 주총 특별결의 대상</a:t>
                      </a: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l"/>
                      <a:r>
                        <a:rPr sz="900">
                          <a:solidFill>
                            <a:srgbClr val="000000"/>
                          </a:solidFill>
                          <a:latin typeface="KoPubWorld돋움체 Light"/>
                          <a:ea typeface="KoPubWorld돋움체 Light"/>
                          <a:cs typeface="KoPubWorld돋움체 Light"/>
                        </a:rPr>
                        <a:t>888억은 총자산 약 6%[추정] → 이사회 결의로 수권</a:t>
                      </a: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020372274"/>
                  </a:ext>
                </a:extLst>
              </a:tr>
              <a:tr h="427669">
                <a:tc>
                  <a:txBody>
                    <a:bodyPr anchor="ctr"/>
                    <a:lstStyle/>
                    <a:p>
                      <a:pPr algn="ctr"/>
                      <a:r>
                        <a:rPr sz="900">
                          <a:solidFill>
                            <a:srgbClr val="000000"/>
                          </a:solidFill>
                          <a:latin typeface="KoPubWorld돋움체 Medium"/>
                          <a:ea typeface="KoPubWorld돋움체 Medium"/>
                          <a:cs typeface="KoPubWorld돋움체 Medium"/>
                        </a:rPr>
                        <a:t>이해관계자 거래</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l"/>
                      <a:r>
                        <a:rPr sz="900">
                          <a:solidFill>
                            <a:srgbClr val="000000"/>
                          </a:solidFill>
                          <a:latin typeface="KoPubWorld돋움체 Light"/>
                          <a:ea typeface="KoPubWorld돋움체 Light"/>
                          <a:cs typeface="KoPubWorld돋움체 Light"/>
                        </a:rPr>
                        <a:t>매도인 PFV는 AMC 특별관계자 → 부투법 §22조의2③ 거래</a:t>
                      </a: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l"/>
                      <a:r>
                        <a:rPr sz="900">
                          <a:solidFill>
                            <a:srgbClr val="000000"/>
                          </a:solidFill>
                          <a:latin typeface="KoPubWorld돋움체 Light"/>
                          <a:ea typeface="KoPubWorld돋움체 Light"/>
                          <a:cs typeface="KoPubWorld돋움체 Light"/>
                        </a:rPr>
                        <a:t>경쟁입찰 낙찰가 근거, KLL 이사회·주총 특별결의</a:t>
                      </a: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413220065"/>
                  </a:ext>
                </a:extLst>
              </a:tr>
              <a:tr h="427669">
                <a:tc>
                  <a:txBody>
                    <a:bodyPr anchor="ctr"/>
                    <a:lstStyle/>
                    <a:p>
                      <a:pPr algn="ctr"/>
                      <a:r>
                        <a:rPr sz="900">
                          <a:solidFill>
                            <a:srgbClr val="000000"/>
                          </a:solidFill>
                          <a:latin typeface="KoPubWorld돋움체 Medium"/>
                          <a:ea typeface="KoPubWorld돋움체 Medium"/>
                          <a:cs typeface="KoPubWorld돋움체 Medium"/>
                        </a:rPr>
                        <a:t>3종 주주 처리</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l"/>
                      <a:r>
                        <a:rPr sz="900">
                          <a:solidFill>
                            <a:srgbClr val="000000"/>
                          </a:solidFill>
                          <a:latin typeface="KoPubWorld돋움체 Light"/>
                          <a:ea typeface="KoPubWorld돋움체 Light"/>
                          <a:cs typeface="KoPubWorld돋움체 Light"/>
                        </a:rPr>
                        <a:t>KLI가 3종 매입확약 시 이해관계자 거래 결의 필요</a:t>
                      </a: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l"/>
                      <a:r>
                        <a:rPr sz="900">
                          <a:solidFill>
                            <a:srgbClr val="000000"/>
                          </a:solidFill>
                          <a:latin typeface="KoPubWorld돋움체 Light"/>
                          <a:ea typeface="KoPubWorld돋움체 Light"/>
                          <a:cs typeface="KoPubWorld돋움체 Light"/>
                        </a:rPr>
                        <a:t>3종은 KLI 확약 대상 제외, SHA 제5조 유상감자로 회수</a:t>
                      </a: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614806546"/>
                  </a:ext>
                </a:extLst>
              </a:tr>
              <a:tr h="427669">
                <a:tc>
                  <a:txBody>
                    <a:bodyPr anchor="ctr"/>
                    <a:lstStyle/>
                    <a:p>
                      <a:pPr algn="ctr"/>
                      <a:r>
                        <a:rPr sz="900">
                          <a:solidFill>
                            <a:srgbClr val="000000"/>
                          </a:solidFill>
                          <a:latin typeface="KoPubWorld돋움체 Medium"/>
                          <a:ea typeface="KoPubWorld돋움체 Medium"/>
                          <a:cs typeface="KoPubWorld돋움체 Medium"/>
                        </a:rPr>
                        <a:t>거래가격 공정성</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l"/>
                      <a:r>
                        <a:rPr sz="900">
                          <a:solidFill>
                            <a:srgbClr val="000000"/>
                          </a:solidFill>
                          <a:latin typeface="KoPubWorld돋움체 Light"/>
                          <a:ea typeface="KoPubWorld돋움체 Light"/>
                          <a:cs typeface="KoPubWorld돋움체 Light"/>
                        </a:rPr>
                        <a:t>정상가격 초과 시 부당지원·부당행위계산 소지</a:t>
                      </a: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l"/>
                      <a:r>
                        <a:rPr sz="900">
                          <a:solidFill>
                            <a:srgbClr val="000000"/>
                          </a:solidFill>
                          <a:latin typeface="KoPubWorld돋움체 Light"/>
                          <a:ea typeface="KoPubWorld돋움체 Light"/>
                          <a:cs typeface="KoPubWorld돋움체 Light"/>
                        </a:rPr>
                        <a:t>경쟁입찰·감정평가 근거, 사업적 필요성 검토자료 구비</a:t>
                      </a: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201389081"/>
                  </a:ext>
                </a:extLst>
              </a:tr>
              <a:tr h="427669">
                <a:tc>
                  <a:txBody>
                    <a:bodyPr anchor="ctr"/>
                    <a:lstStyle/>
                    <a:p>
                      <a:pPr algn="ctr"/>
                      <a:r>
                        <a:rPr sz="900">
                          <a:solidFill>
                            <a:srgbClr val="000000"/>
                          </a:solidFill>
                          <a:latin typeface="KoPubWorld돋움체 Medium"/>
                          <a:ea typeface="KoPubWorld돋움체 Medium"/>
                          <a:cs typeface="KoPubWorld돋움체 Medium"/>
                        </a:rPr>
                        <a:t>공모간주</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l"/>
                      <a:r>
                        <a:rPr sz="900">
                          <a:solidFill>
                            <a:srgbClr val="000000"/>
                          </a:solidFill>
                          <a:latin typeface="KoPubWorld돋움체 Light"/>
                          <a:ea typeface="KoPubWorld돋움체 Light"/>
                          <a:cs typeface="KoPubWorld돋움체 Light"/>
                        </a:rPr>
                        <a:t>KLI 10% 이상 출자로 KLL 공모간주 가능</a:t>
                      </a: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l"/>
                      <a:r>
                        <a:rPr sz="900">
                          <a:solidFill>
                            <a:srgbClr val="000000"/>
                          </a:solidFill>
                          <a:latin typeface="KoPubWorld돋움체 Light"/>
                          <a:ea typeface="KoPubWorld돋움체 Light"/>
                          <a:cs typeface="KoPubWorld돋움체 Light"/>
                        </a:rPr>
                        <a:t>별도 모집·매출 없는 구조 유지 시 증권신고서 불요</a:t>
                      </a: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2646589663"/>
                  </a:ext>
                </a:extLst>
              </a:tr>
              <a:tr h="427669">
                <a:tc>
                  <a:txBody>
                    <a:bodyPr anchor="ctr"/>
                    <a:lstStyle/>
                    <a:p>
                      <a:pPr algn="ctr"/>
                      <a:r>
                        <a:rPr sz="900">
                          <a:solidFill>
                            <a:srgbClr val="000000"/>
                          </a:solidFill>
                          <a:latin typeface="KoPubWorld돋움체 Medium"/>
                          <a:ea typeface="KoPubWorld돋움체 Medium"/>
                          <a:cs typeface="KoPubWorld돋움체 Medium"/>
                        </a:rPr>
                        <a:t>지배력·기업결합</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l"/>
                      <a:r>
                        <a:rPr sz="900">
                          <a:solidFill>
                            <a:srgbClr val="000000"/>
                          </a:solidFill>
                          <a:latin typeface="KoPubWorld돋움체 Light"/>
                          <a:ea typeface="KoPubWorld돋움체 Light"/>
                          <a:cs typeface="KoPubWorld돋움체 Light"/>
                        </a:rPr>
                        <a:t>KLI 이사 2인·대표 지명 → 계열편입, 기업결합 신고</a:t>
                      </a: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l"/>
                      <a:r>
                        <a:rPr sz="900">
                          <a:solidFill>
                            <a:srgbClr val="000000"/>
                          </a:solidFill>
                          <a:latin typeface="KoPubWorld돋움체 Light"/>
                          <a:ea typeface="KoPubWorld돋움체 Light"/>
                          <a:cs typeface="KoPubWorld돋움체 Light"/>
                        </a:rPr>
                        <a:t>공정위 신고 수리를 거래종결 선행조건으로 반영</a:t>
                      </a: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2474605282"/>
                  </a:ext>
                </a:extLst>
              </a:tr>
              <a:tr h="427669">
                <a:tc>
                  <a:txBody>
                    <a:bodyPr anchor="ctr"/>
                    <a:lstStyle/>
                    <a:p>
                      <a:pPr algn="ctr"/>
                      <a:r>
                        <a:rPr sz="900">
                          <a:solidFill>
                            <a:srgbClr val="000000"/>
                          </a:solidFill>
                          <a:latin typeface="KoPubWorld돋움체 Medium"/>
                          <a:ea typeface="KoPubWorld돋움체 Medium"/>
                          <a:cs typeface="KoPubWorld돋움체 Medium"/>
                        </a:rPr>
                        <a:t>매입확약 우발채무</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l"/>
                      <a:r>
                        <a:rPr sz="900">
                          <a:solidFill>
                            <a:srgbClr val="000000"/>
                          </a:solidFill>
                          <a:latin typeface="KoPubWorld돋움체 Light"/>
                          <a:ea typeface="KoPubWorld돋움체 Light"/>
                          <a:cs typeface="KoPubWorld돋움체 Light"/>
                        </a:rPr>
                        <a:t>1종 240억·2종 340억 매입의무, 2종 위약벌 20%</a:t>
                      </a: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l"/>
                      <a:r>
                        <a:rPr sz="900">
                          <a:solidFill>
                            <a:srgbClr val="000000"/>
                          </a:solidFill>
                          <a:latin typeface="KoPubWorld돋움체 Light"/>
                          <a:ea typeface="KoPubWorld돋움체 Light"/>
                          <a:cs typeface="KoPubWorld돋움체 Light"/>
                        </a:rPr>
                        <a:t>매입재원 사전 확보, 선행조건 미충족 시 효력 미발생</a:t>
                      </a: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416116062"/>
                  </a:ext>
                </a:extLst>
              </a:tr>
              <a:tr h="427669">
                <a:tc>
                  <a:txBody>
                    <a:bodyPr anchor="ctr"/>
                    <a:lstStyle/>
                    <a:p>
                      <a:pPr algn="ctr"/>
                      <a:r>
                        <a:rPr sz="900">
                          <a:solidFill>
                            <a:srgbClr val="000000"/>
                          </a:solidFill>
                          <a:latin typeface="KoPubWorld돋움체 Medium"/>
                          <a:ea typeface="KoPubWorld돋움체 Medium"/>
                          <a:cs typeface="KoPubWorld돋움체 Medium"/>
                        </a:rPr>
                        <a:t>셀다운 동의권</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nchor="ctr"/>
                    <a:lstStyle/>
                    <a:p>
                      <a:pPr algn="l"/>
                      <a:r>
                        <a:rPr sz="900">
                          <a:solidFill>
                            <a:srgbClr val="000000"/>
                          </a:solidFill>
                          <a:latin typeface="KoPubWorld돋움체 Light"/>
                          <a:ea typeface="KoPubWorld돋움체 Light"/>
                          <a:cs typeface="KoPubWorld돋움체 Light"/>
                        </a:rPr>
                        <a:t>최초 셀다운 외 양도는 KLI 사전 서면동의 필요</a:t>
                      </a: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nchor="ctr"/>
                    <a:lstStyle/>
                    <a:p>
                      <a:pPr algn="l"/>
                      <a:r>
                        <a:rPr sz="900">
                          <a:solidFill>
                            <a:srgbClr val="000000"/>
                          </a:solidFill>
                          <a:latin typeface="KoPubWorld돋움체 Light"/>
                          <a:ea typeface="KoPubWorld돋움체 Light"/>
                          <a:cs typeface="KoPubWorld돋움체 Light"/>
                        </a:rPr>
                        <a:t>매도확약서·SHA 승계 확인 후 동의, 대주 동의와 연동</a:t>
                      </a: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811042081"/>
                  </a:ext>
                </a:extLst>
              </a:tr>
            </a:tbl>
          </a:graphicData>
        </a:graphic>
      </p:graphicFrame>
      <p:sp>
        <p:nvSpPr>
          <p:cNvPr id="70" name="TextBox 69">
            <a:extLst>
              <a:ext uri="{FF2B5EF4-FFF2-40B4-BE49-F238E27FC236}">
                <a16:creationId xmlns:a16="http://schemas.microsoft.com/office/drawing/2014/main" id="{9D1C3325-858A-7F55-99D0-35F7FC884374}"/>
              </a:ext>
            </a:extLst>
          </p:cNvPr>
          <p:cNvSpPr txBox="1"/>
          <p:nvPr/>
        </p:nvSpPr>
        <p:spPr>
          <a:xfrm>
            <a:off x="283369" y="1040097"/>
            <a:ext cx="9995086" cy="728849"/>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prstClr val="black"/>
                </a:solidFill>
              </a:rPr>
              <a:t>법률검토 결과 KLI 출자·매입확약은 이사회 결의 사항이며, 주총 결의는 불요[추정]</a:t>
            </a:r>
            <a:endParaRPr lang="en-US" altLang="ko-KR" sz="1600" dirty="0">
              <a:solidFill>
                <a:srgbClr val="FF0000"/>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3종은 KLI 매입확약 대상에서 제외하여 이해관계자 거래를 피하고, 거래가격 공정성 근거자료는 별도 구비</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8" name="TextBox 7">
            <a:extLst>
              <a:ext uri="{FF2B5EF4-FFF2-40B4-BE49-F238E27FC236}">
                <a16:creationId xmlns:a16="http://schemas.microsoft.com/office/drawing/2014/main" id="{59CE54BA-1207-D92A-74BF-AECCA457E4CD}"/>
              </a:ext>
            </a:extLst>
          </p:cNvPr>
          <p:cNvSpPr txBox="1"/>
          <p:nvPr/>
        </p:nvSpPr>
        <p:spPr>
          <a:xfrm>
            <a:off x="283367" y="6813808"/>
            <a:ext cx="10009067" cy="215444"/>
          </a:xfrm>
          <a:prstGeom prst="rect">
            <a:avLst/>
          </a:prstGeom>
          <a:noFill/>
        </p:spPr>
        <p:txBody>
          <a:bodyPr wrap="square" rtlCol="0" anchor="ctr">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사업일정은 협의에 따라 변동될 수 있음.</a:t>
            </a:r>
          </a:p>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법률 검토는 내부 검토로 외부 법무법인 확인 필요 (근거: 율촌·BKL·태평양·광장 의견, 주주간계약 v23 final, 총자산 ’26.5말 1조 4,243억원 기준)</a:t>
            </a:r>
          </a:p>
        </p:txBody>
      </p:sp>
      <p:sp>
        <p:nvSpPr>
          <p:cNvPr id="15" name="TextBox 14">
            <a:extLst>
              <a:ext uri="{FF2B5EF4-FFF2-40B4-BE49-F238E27FC236}">
                <a16:creationId xmlns:a16="http://schemas.microsoft.com/office/drawing/2014/main" id="{7C9A6F24-BBA4-05D9-0ECF-12E179BFF66A}"/>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4.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투자의사결정 수권절차</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4154716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BAA0A-81C4-D043-8A57-B6E187DCDE71}"/>
            </a:ext>
          </a:extLst>
        </p:cNvPr>
        <p:cNvGrpSpPr/>
        <p:nvPr/>
      </p:nvGrpSpPr>
      <p:grpSpPr>
        <a:xfrm>
          <a:off x="0" y="0"/>
          <a:ext cx="0" cy="0"/>
          <a:chOff x="0" y="0"/>
          <a:chExt cx="0" cy="0"/>
        </a:xfrm>
      </p:grpSpPr>
      <p:grpSp>
        <p:nvGrpSpPr>
          <p:cNvPr id="70" name="그룹 69">
            <a:extLst>
              <a:ext uri="{FF2B5EF4-FFF2-40B4-BE49-F238E27FC236}">
                <a16:creationId xmlns:a16="http://schemas.microsoft.com/office/drawing/2014/main" id="{4CBAF6E2-C7E0-C7FF-0720-8C3ACCDF9BFB}"/>
              </a:ext>
            </a:extLst>
          </p:cNvPr>
          <p:cNvGrpSpPr/>
          <p:nvPr/>
        </p:nvGrpSpPr>
        <p:grpSpPr>
          <a:xfrm>
            <a:off x="-343252" y="2526737"/>
            <a:ext cx="3497925" cy="4853500"/>
            <a:chOff x="-538779" y="2392059"/>
            <a:chExt cx="3667768" cy="4853500"/>
          </a:xfrm>
        </p:grpSpPr>
        <p:graphicFrame>
          <p:nvGraphicFramePr>
            <p:cNvPr id="71" name="차트 70">
              <a:extLst>
                <a:ext uri="{FF2B5EF4-FFF2-40B4-BE49-F238E27FC236}">
                  <a16:creationId xmlns:a16="http://schemas.microsoft.com/office/drawing/2014/main" id="{9FCC344D-9439-D93D-3814-A09ECF1B532D}"/>
                </a:ext>
              </a:extLst>
            </p:cNvPr>
            <p:cNvGraphicFramePr/>
            <p:nvPr/>
          </p:nvGraphicFramePr>
          <p:xfrm>
            <a:off x="-538779" y="2392059"/>
            <a:ext cx="3667768" cy="4853500"/>
          </p:xfrm>
          <a:graphic>
            <a:graphicData uri="http://schemas.openxmlformats.org/drawingml/2006/chart">
              <c:chart xmlns:c="http://schemas.openxmlformats.org/drawingml/2006/chart" xmlns:r="http://schemas.openxmlformats.org/officeDocument/2006/relationships" r:id="rId2"/>
            </a:graphicData>
          </a:graphic>
        </p:graphicFrame>
        <p:sp>
          <p:nvSpPr>
            <p:cNvPr id="72" name="TextBox 71">
              <a:extLst>
                <a:ext uri="{FF2B5EF4-FFF2-40B4-BE49-F238E27FC236}">
                  <a16:creationId xmlns:a16="http://schemas.microsoft.com/office/drawing/2014/main" id="{EB4D3833-E975-B4DE-E23F-B95DB7DD775E}"/>
                </a:ext>
              </a:extLst>
            </p:cNvPr>
            <p:cNvSpPr txBox="1"/>
            <p:nvPr/>
          </p:nvSpPr>
          <p:spPr>
            <a:xfrm>
              <a:off x="454958" y="4718821"/>
              <a:ext cx="1182867" cy="707886"/>
            </a:xfrm>
            <a:prstGeom prst="rect">
              <a:avLst/>
            </a:prstGeom>
            <a:noFill/>
          </p:spPr>
          <p:txBody>
            <a:bodyPr wrap="square" rtlCol="0" anchor="ctr">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장부가액</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3,035</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1.052</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만원</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Cap.Rate</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5.1%</a:t>
              </a:r>
            </a:p>
          </p:txBody>
        </p:sp>
        <p:sp>
          <p:nvSpPr>
            <p:cNvPr id="73" name="TextBox 72">
              <a:extLst>
                <a:ext uri="{FF2B5EF4-FFF2-40B4-BE49-F238E27FC236}">
                  <a16:creationId xmlns:a16="http://schemas.microsoft.com/office/drawing/2014/main" id="{875F8E61-6A11-5885-5C6B-8EDC1A7D0F15}"/>
                </a:ext>
              </a:extLst>
            </p:cNvPr>
            <p:cNvSpPr txBox="1"/>
            <p:nvPr/>
          </p:nvSpPr>
          <p:spPr>
            <a:xfrm>
              <a:off x="1873983" y="3766129"/>
              <a:ext cx="887772" cy="400110"/>
            </a:xfrm>
            <a:prstGeom prst="rect">
              <a:avLst/>
            </a:prstGeom>
            <a:solidFill>
              <a:schemeClr val="bg1">
                <a:alpha val="80000"/>
              </a:schemeClr>
            </a:solidFill>
          </p:spPr>
          <p:txBody>
            <a:bodyPr wrap="square" rtlCol="0" anchor="ctr">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선순위대출</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[2,130]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74" name="TextBox 73">
              <a:extLst>
                <a:ext uri="{FF2B5EF4-FFF2-40B4-BE49-F238E27FC236}">
                  <a16:creationId xmlns:a16="http://schemas.microsoft.com/office/drawing/2014/main" id="{A7F848B8-C213-575C-6214-8B563773E4D5}"/>
                </a:ext>
              </a:extLst>
            </p:cNvPr>
            <p:cNvSpPr txBox="1"/>
            <p:nvPr/>
          </p:nvSpPr>
          <p:spPr>
            <a:xfrm>
              <a:off x="1759714" y="2556621"/>
              <a:ext cx="1116314" cy="246221"/>
            </a:xfrm>
            <a:prstGeom prst="rect">
              <a:avLst/>
            </a:prstGeom>
            <a:solidFill>
              <a:schemeClr val="bg1">
                <a:alpha val="80000"/>
              </a:schemeClr>
            </a:solidFill>
          </p:spPr>
          <p:txBody>
            <a:bodyPr wrap="square" rtlCol="0" anchor="ctr">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75" name="TextBox 74">
              <a:extLst>
                <a:ext uri="{FF2B5EF4-FFF2-40B4-BE49-F238E27FC236}">
                  <a16:creationId xmlns:a16="http://schemas.microsoft.com/office/drawing/2014/main" id="{3229279F-CD29-F1AC-85B7-95A34D9F9F77}"/>
                </a:ext>
              </a:extLst>
            </p:cNvPr>
            <p:cNvSpPr txBox="1"/>
            <p:nvPr/>
          </p:nvSpPr>
          <p:spPr>
            <a:xfrm>
              <a:off x="531178" y="5601322"/>
              <a:ext cx="1030426" cy="400110"/>
            </a:xfrm>
            <a:prstGeom prst="rect">
              <a:avLst/>
            </a:prstGeom>
            <a:noFill/>
          </p:spPr>
          <p:txBody>
            <a:bodyPr wrap="square" rtlCol="0" anchor="ctr">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매각차익</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870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6" name="TextBox 75">
              <a:extLst>
                <a:ext uri="{FF2B5EF4-FFF2-40B4-BE49-F238E27FC236}">
                  <a16:creationId xmlns:a16="http://schemas.microsoft.com/office/drawing/2014/main" id="{1FCEFCF8-7268-8114-70BA-BA62833E2484}"/>
                </a:ext>
              </a:extLst>
            </p:cNvPr>
            <p:cNvSpPr txBox="1"/>
            <p:nvPr/>
          </p:nvSpPr>
          <p:spPr>
            <a:xfrm>
              <a:off x="1816439" y="5655612"/>
              <a:ext cx="1030426" cy="400110"/>
            </a:xfrm>
            <a:prstGeom prst="rect">
              <a:avLst/>
            </a:prstGeom>
            <a:noFill/>
          </p:spPr>
          <p:txBody>
            <a:bodyPr wrap="square" rtlCol="0" anchor="ctr">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매각배당</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707</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5" name="직사각형 4">
            <a:extLst>
              <a:ext uri="{FF2B5EF4-FFF2-40B4-BE49-F238E27FC236}">
                <a16:creationId xmlns:a16="http://schemas.microsoft.com/office/drawing/2014/main" id="{EBD185FC-5EAA-C5D9-56AB-744610B14F08}"/>
              </a:ext>
            </a:extLst>
          </p:cNvPr>
          <p:cNvSpPr/>
          <p:nvPr/>
        </p:nvSpPr>
        <p:spPr>
          <a:xfrm>
            <a:off x="4386750" y="4438729"/>
            <a:ext cx="1895260" cy="169200"/>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`26</a:t>
            </a: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년내 수도권 </a:t>
            </a:r>
            <a:r>
              <a:rPr lang="en-US" altLang="ko-KR"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Last-mile </a:t>
            </a: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거래사례</a:t>
            </a:r>
            <a:endParaRPr kumimoji="0" lang="ko-KR" altLang="en-US" sz="9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7" name="직사각형 6">
            <a:extLst>
              <a:ext uri="{FF2B5EF4-FFF2-40B4-BE49-F238E27FC236}">
                <a16:creationId xmlns:a16="http://schemas.microsoft.com/office/drawing/2014/main" id="{A18341AE-E1D8-CA2A-C991-C0CE38191D25}"/>
              </a:ext>
            </a:extLst>
          </p:cNvPr>
          <p:cNvSpPr/>
          <p:nvPr/>
        </p:nvSpPr>
        <p:spPr>
          <a:xfrm>
            <a:off x="566899" y="2339677"/>
            <a:ext cx="1117943" cy="169200"/>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`36</a:t>
            </a:r>
            <a:r>
              <a:rPr kumimoji="0" lang="ko-KR" altLang="en-US" sz="9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년도 </a:t>
            </a:r>
            <a:r>
              <a:rPr kumimoji="0" lang="en-US" altLang="ko-KR" sz="9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Exit</a:t>
            </a:r>
            <a:r>
              <a:rPr kumimoji="0" lang="ko-KR" altLang="en-US" sz="9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계획</a:t>
            </a:r>
          </a:p>
        </p:txBody>
      </p:sp>
      <p:grpSp>
        <p:nvGrpSpPr>
          <p:cNvPr id="35" name="그룹 34">
            <a:extLst>
              <a:ext uri="{FF2B5EF4-FFF2-40B4-BE49-F238E27FC236}">
                <a16:creationId xmlns:a16="http://schemas.microsoft.com/office/drawing/2014/main" id="{02131FF2-44A4-9032-9FAB-C3B875ECDF55}"/>
              </a:ext>
            </a:extLst>
          </p:cNvPr>
          <p:cNvGrpSpPr/>
          <p:nvPr/>
        </p:nvGrpSpPr>
        <p:grpSpPr>
          <a:xfrm>
            <a:off x="600370" y="2765447"/>
            <a:ext cx="2297357" cy="3528392"/>
            <a:chOff x="825352" y="2476196"/>
            <a:chExt cx="2297357" cy="3453993"/>
          </a:xfrm>
        </p:grpSpPr>
        <p:cxnSp>
          <p:nvCxnSpPr>
            <p:cNvPr id="33" name="직선 연결선 32">
              <a:extLst>
                <a:ext uri="{FF2B5EF4-FFF2-40B4-BE49-F238E27FC236}">
                  <a16:creationId xmlns:a16="http://schemas.microsoft.com/office/drawing/2014/main" id="{F8BB151E-B355-82A8-CD6A-0BD9152BF64B}"/>
                </a:ext>
              </a:extLst>
            </p:cNvPr>
            <p:cNvCxnSpPr>
              <a:cxnSpLocks/>
            </p:cNvCxnSpPr>
            <p:nvPr/>
          </p:nvCxnSpPr>
          <p:spPr>
            <a:xfrm>
              <a:off x="825352" y="5930189"/>
              <a:ext cx="2297357" cy="0"/>
            </a:xfrm>
            <a:prstGeom prst="line">
              <a:avLst/>
            </a:prstGeom>
            <a:noFill/>
            <a:ln w="6350" cap="flat" cmpd="sng" algn="ctr">
              <a:solidFill>
                <a:srgbClr val="B2B2B2"/>
              </a:solidFill>
              <a:prstDash val="solid"/>
              <a:miter lim="800000"/>
            </a:ln>
            <a:effectLst/>
          </p:spPr>
        </p:cxnSp>
        <p:cxnSp>
          <p:nvCxnSpPr>
            <p:cNvPr id="34" name="직선 연결선 33">
              <a:extLst>
                <a:ext uri="{FF2B5EF4-FFF2-40B4-BE49-F238E27FC236}">
                  <a16:creationId xmlns:a16="http://schemas.microsoft.com/office/drawing/2014/main" id="{54B1C9E3-04BD-8FAB-8596-EA0F6DC30E91}"/>
                </a:ext>
              </a:extLst>
            </p:cNvPr>
            <p:cNvCxnSpPr>
              <a:cxnSpLocks/>
            </p:cNvCxnSpPr>
            <p:nvPr/>
          </p:nvCxnSpPr>
          <p:spPr>
            <a:xfrm>
              <a:off x="1995592" y="2476196"/>
              <a:ext cx="0" cy="3453993"/>
            </a:xfrm>
            <a:prstGeom prst="line">
              <a:avLst/>
            </a:prstGeom>
            <a:noFill/>
            <a:ln w="6350" cap="flat" cmpd="sng" algn="ctr">
              <a:solidFill>
                <a:srgbClr val="B2B2B2"/>
              </a:solidFill>
              <a:prstDash val="solid"/>
              <a:miter lim="800000"/>
            </a:ln>
            <a:effectLst/>
          </p:spPr>
        </p:cxnSp>
      </p:grpSp>
      <p:grpSp>
        <p:nvGrpSpPr>
          <p:cNvPr id="45" name="그룹 44">
            <a:extLst>
              <a:ext uri="{FF2B5EF4-FFF2-40B4-BE49-F238E27FC236}">
                <a16:creationId xmlns:a16="http://schemas.microsoft.com/office/drawing/2014/main" id="{B01651CF-1B2E-E469-9049-D58BE6E70425}"/>
              </a:ext>
            </a:extLst>
          </p:cNvPr>
          <p:cNvGrpSpPr/>
          <p:nvPr/>
        </p:nvGrpSpPr>
        <p:grpSpPr>
          <a:xfrm>
            <a:off x="1691193" y="4807567"/>
            <a:ext cx="2512956" cy="1545703"/>
            <a:chOff x="1901452" y="4417802"/>
            <a:chExt cx="2512956" cy="1545703"/>
          </a:xfrm>
        </p:grpSpPr>
        <p:sp>
          <p:nvSpPr>
            <p:cNvPr id="38" name="직사각형 37">
              <a:extLst>
                <a:ext uri="{FF2B5EF4-FFF2-40B4-BE49-F238E27FC236}">
                  <a16:creationId xmlns:a16="http://schemas.microsoft.com/office/drawing/2014/main" id="{090204E5-4B81-5705-E65D-A2E05F8AC44F}"/>
                </a:ext>
              </a:extLst>
            </p:cNvPr>
            <p:cNvSpPr/>
            <p:nvPr/>
          </p:nvSpPr>
          <p:spPr>
            <a:xfrm>
              <a:off x="2043803" y="4417802"/>
              <a:ext cx="1107304" cy="817433"/>
            </a:xfrm>
            <a:prstGeom prst="rect">
              <a:avLst/>
            </a:prstGeom>
            <a:solidFill>
              <a:schemeClr val="accent4">
                <a:lumMod val="20000"/>
                <a:lumOff val="80000"/>
                <a:alpha val="50000"/>
              </a:schemeClr>
            </a:solidFill>
            <a:ln>
              <a:solidFill>
                <a:schemeClr val="accent4">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4" name="TextBox 43">
              <a:extLst>
                <a:ext uri="{FF2B5EF4-FFF2-40B4-BE49-F238E27FC236}">
                  <a16:creationId xmlns:a16="http://schemas.microsoft.com/office/drawing/2014/main" id="{399F9BEB-2336-299D-A478-584CF4E18E31}"/>
                </a:ext>
              </a:extLst>
            </p:cNvPr>
            <p:cNvSpPr txBox="1"/>
            <p:nvPr/>
          </p:nvSpPr>
          <p:spPr>
            <a:xfrm>
              <a:off x="1901452" y="4670417"/>
              <a:ext cx="1392438" cy="400110"/>
            </a:xfrm>
            <a:prstGeom prst="rect">
              <a:avLst/>
            </a:prstGeom>
            <a:noFill/>
          </p:spPr>
          <p:txBody>
            <a:bodyPr wrap="square" rtlCol="0" anchor="ctr">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보유지분</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85" name="TextBox 84">
              <a:extLst>
                <a:ext uri="{FF2B5EF4-FFF2-40B4-BE49-F238E27FC236}">
                  <a16:creationId xmlns:a16="http://schemas.microsoft.com/office/drawing/2014/main" id="{C8F34D5C-EC31-2395-8D8E-E8CA016C3958}"/>
                </a:ext>
              </a:extLst>
            </p:cNvPr>
            <p:cNvSpPr txBox="1"/>
            <p:nvPr/>
          </p:nvSpPr>
          <p:spPr>
            <a:xfrm>
              <a:off x="3518505" y="5035180"/>
              <a:ext cx="895903" cy="400110"/>
            </a:xfrm>
            <a:prstGeom prst="rect">
              <a:avLst/>
            </a:prstGeom>
            <a:solidFill>
              <a:schemeClr val="accent4">
                <a:lumMod val="20000"/>
                <a:lumOff val="80000"/>
              </a:schemeClr>
            </a:solidFill>
            <a:effectLst>
              <a:outerShdw blurRad="63500" sx="102000" sy="102000" algn="ctr" rotWithShape="0">
                <a:prstClr val="black">
                  <a:alpha val="40000"/>
                </a:prstClr>
              </a:outerShdw>
            </a:effectLst>
          </p:spPr>
          <p:txBody>
            <a:bodyPr wrap="square" lIns="0" tIns="0" rIns="0" bIns="0" rtlCol="0" anchor="ctr" anchorCtr="0">
              <a:noAutofit/>
            </a:bodyPr>
            <a:lstStyle>
              <a:defPPr>
                <a:defRPr lang="en-US"/>
              </a:defPPr>
              <a:lvl1pPr marR="0" lvl="0" indent="0" algn="ctr" fontAlgn="auto">
                <a:spcBef>
                  <a:spcPts val="0"/>
                </a:spcBef>
                <a:spcAft>
                  <a:spcPts val="0"/>
                </a:spcAft>
                <a:buClrTx/>
                <a:buSzTx/>
                <a:buFont typeface="Wingdings" panose="05000000000000000000" pitchFamily="2" charset="2"/>
                <a:buNone/>
                <a:tabLst/>
                <a:defRPr kumimoji="0" sz="1000" i="0" u="none" strike="noStrike" kern="0" cap="none" spc="0" normalizeH="0" baseline="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a:t>
              </a:r>
              <a:endParaRPr lang="en-US" altLang="ko-KR"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r>
                <a:rPr lang="ko-KR" altLang="en-US"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원본회수 가능</a:t>
              </a:r>
              <a:endParaRPr lang="en-US" altLang="ko-KR"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87" name="TextBox 86">
              <a:extLst>
                <a:ext uri="{FF2B5EF4-FFF2-40B4-BE49-F238E27FC236}">
                  <a16:creationId xmlns:a16="http://schemas.microsoft.com/office/drawing/2014/main" id="{CE2EFE59-0B4B-335C-DD2F-E0BE5227F865}"/>
                </a:ext>
              </a:extLst>
            </p:cNvPr>
            <p:cNvSpPr txBox="1"/>
            <p:nvPr/>
          </p:nvSpPr>
          <p:spPr>
            <a:xfrm>
              <a:off x="3518505" y="5746345"/>
              <a:ext cx="895903" cy="217160"/>
            </a:xfrm>
            <a:prstGeom prst="rect">
              <a:avLst/>
            </a:prstGeom>
            <a:solidFill>
              <a:schemeClr val="bg1">
                <a:lumMod val="95000"/>
              </a:schemeClr>
            </a:solidFill>
            <a:ln>
              <a:noFill/>
            </a:ln>
            <a:effectLst/>
          </p:spPr>
          <p:txBody>
            <a:bodyPr wrap="square" lIns="0" tIns="0" rIns="0" bIns="0" rtlCol="0" anchor="ctr" anchorCtr="0">
              <a:noAutofit/>
            </a:bodyPr>
            <a:lstStyle>
              <a:defPPr>
                <a:defRPr lang="en-US"/>
              </a:defPPr>
              <a:lvl1pPr marR="0" lvl="0" indent="0" algn="ctr" fontAlgn="auto">
                <a:spcBef>
                  <a:spcPts val="0"/>
                </a:spcBef>
                <a:spcAft>
                  <a:spcPts val="0"/>
                </a:spcAft>
                <a:buClrTx/>
                <a:buSzTx/>
                <a:buFont typeface="Wingdings" panose="05000000000000000000" pitchFamily="2" charset="2"/>
                <a:buNone/>
                <a:tabLst/>
                <a:defRPr kumimoji="0" sz="1000" i="0" u="none" strike="noStrike" kern="0" cap="none" spc="0" normalizeH="0" baseline="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IRR 11.0%</a:t>
              </a:r>
            </a:p>
          </p:txBody>
        </p:sp>
      </p:grpSp>
      <p:sp>
        <p:nvSpPr>
          <p:cNvPr id="49" name="TextBox 48">
            <a:extLst>
              <a:ext uri="{FF2B5EF4-FFF2-40B4-BE49-F238E27FC236}">
                <a16:creationId xmlns:a16="http://schemas.microsoft.com/office/drawing/2014/main" id="{C1E682FA-AB12-3643-079A-0E405D09E103}"/>
              </a:ext>
            </a:extLst>
          </p:cNvPr>
          <p:cNvSpPr txBox="1"/>
          <p:nvPr/>
        </p:nvSpPr>
        <p:spPr>
          <a:xfrm>
            <a:off x="829582" y="6371531"/>
            <a:ext cx="1882056" cy="307777"/>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spcBef>
                <a:spcPts val="0"/>
              </a:spcBef>
              <a:spcAft>
                <a:spcPts val="0"/>
              </a:spcAft>
              <a:buClrTx/>
              <a:buSzTx/>
              <a:buFont typeface="Wingdings" panose="05000000000000000000" pitchFamily="2" charset="2"/>
              <a:buNone/>
              <a:tabLst/>
              <a:defRPr/>
            </a:pPr>
            <a:r>
              <a:rPr kumimoji="0" lang="ko-KR" altLang="en-US" sz="105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예상 매각가치</a:t>
            </a:r>
            <a:r>
              <a:rPr kumimoji="0" lang="ko-KR" altLang="en-US" sz="90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en-US" altLang="ko-KR" sz="110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3,759</a:t>
            </a:r>
            <a:r>
              <a:rPr kumimoji="0" lang="ko-KR" altLang="en-US" sz="110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10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eaLnBrk="1" fontAlgn="auto" latinLnBrk="0" hangingPunct="1">
              <a:spcBef>
                <a:spcPts val="0"/>
              </a:spcBef>
              <a:spcAft>
                <a:spcPts val="0"/>
              </a:spcAft>
              <a:buClrTx/>
              <a:buSzTx/>
              <a:buFont typeface="Wingdings" panose="05000000000000000000" pitchFamily="2" charset="2"/>
              <a:buNone/>
              <a:tabLst/>
              <a:defRPr/>
            </a:pPr>
            <a:r>
              <a:rPr lang="en-US" altLang="ko-KR" sz="900" kern="0" dirty="0">
                <a:solidFill>
                  <a:prstClr val="black"/>
                </a:solidFill>
              </a:rPr>
              <a:t>(1,301</a:t>
            </a:r>
            <a:r>
              <a:rPr lang="ko-KR" altLang="en-US" sz="900" kern="0" dirty="0">
                <a:solidFill>
                  <a:prstClr val="black"/>
                </a:solidFill>
              </a:rPr>
              <a:t>만원</a:t>
            </a:r>
            <a:r>
              <a:rPr lang="en-US" altLang="ko-KR" sz="900" kern="0" dirty="0">
                <a:solidFill>
                  <a:prstClr val="black"/>
                </a:solidFill>
              </a:rPr>
              <a:t>/</a:t>
            </a:r>
            <a:r>
              <a:rPr lang="ko-KR" altLang="en-US" sz="900" kern="0" dirty="0">
                <a:solidFill>
                  <a:prstClr val="black"/>
                </a:solidFill>
              </a:rPr>
              <a:t>평</a:t>
            </a:r>
            <a:r>
              <a:rPr lang="en-US" altLang="ko-KR" sz="900" kern="0" dirty="0">
                <a:solidFill>
                  <a:prstClr val="black"/>
                </a:solidFill>
              </a:rPr>
              <a:t>,</a:t>
            </a:r>
            <a:r>
              <a:rPr lang="ko-KR" altLang="en-US" sz="900" kern="0" dirty="0">
                <a:solidFill>
                  <a:prstClr val="black"/>
                </a:solidFill>
              </a:rPr>
              <a:t> </a:t>
            </a:r>
            <a:r>
              <a:rPr lang="en-US" altLang="ko-KR" sz="900" kern="0" dirty="0" err="1">
                <a:solidFill>
                  <a:prstClr val="black"/>
                </a:solidFill>
              </a:rPr>
              <a:t>Cap.Rate</a:t>
            </a:r>
            <a:r>
              <a:rPr lang="en-US" altLang="ko-KR" sz="900" kern="0" dirty="0">
                <a:solidFill>
                  <a:prstClr val="black"/>
                </a:solidFill>
              </a:rPr>
              <a:t> 4.9%)</a:t>
            </a:r>
            <a:endParaRPr kumimoji="0" lang="en-US" altLang="ko-KR" sz="90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aphicFrame>
        <p:nvGraphicFramePr>
          <p:cNvPr id="55" name="신규표">
            <a:extLst>
              <a:ext uri="{FF2B5EF4-FFF2-40B4-BE49-F238E27FC236}">
                <a16:creationId xmlns:a16="http://schemas.microsoft.com/office/drawing/2014/main" id="{4E5CAB12-D528-6A72-2599-C7D87B72C4F5}"/>
              </a:ext>
            </a:extLst>
          </p:cNvPr>
          <p:cNvGraphicFramePr>
            <a:graphicFrameLocks noGrp="1"/>
          </p:cNvGraphicFramePr>
          <p:nvPr>
            <p:extLst>
              <p:ext uri="{D42A27DB-BD31-4B8C-83A1-F6EECF244321}">
                <p14:modId xmlns:p14="http://schemas.microsoft.com/office/powerpoint/2010/main" val="2441130612"/>
              </p:ext>
            </p:extLst>
          </p:nvPr>
        </p:nvGraphicFramePr>
        <p:xfrm>
          <a:off x="4518956" y="4698971"/>
          <a:ext cx="5795501" cy="1997190"/>
        </p:xfrm>
        <a:graphic>
          <a:graphicData uri="http://schemas.openxmlformats.org/drawingml/2006/table">
            <a:tbl>
              <a:tblPr>
                <a:tableStyleId>{5940675A-B579-460E-94D1-54222C63F5DA}</a:tableStyleId>
              </a:tblPr>
              <a:tblGrid>
                <a:gridCol w="776045">
                  <a:extLst>
                    <a:ext uri="{9D8B030D-6E8A-4147-A177-3AD203B41FA5}">
                      <a16:colId xmlns:a16="http://schemas.microsoft.com/office/drawing/2014/main" val="20000"/>
                    </a:ext>
                  </a:extLst>
                </a:gridCol>
                <a:gridCol w="836576">
                  <a:extLst>
                    <a:ext uri="{9D8B030D-6E8A-4147-A177-3AD203B41FA5}">
                      <a16:colId xmlns:a16="http://schemas.microsoft.com/office/drawing/2014/main" val="20002"/>
                    </a:ext>
                  </a:extLst>
                </a:gridCol>
                <a:gridCol w="836576">
                  <a:extLst>
                    <a:ext uri="{9D8B030D-6E8A-4147-A177-3AD203B41FA5}">
                      <a16:colId xmlns:a16="http://schemas.microsoft.com/office/drawing/2014/main" val="20003"/>
                    </a:ext>
                  </a:extLst>
                </a:gridCol>
                <a:gridCol w="836576">
                  <a:extLst>
                    <a:ext uri="{9D8B030D-6E8A-4147-A177-3AD203B41FA5}">
                      <a16:colId xmlns:a16="http://schemas.microsoft.com/office/drawing/2014/main" val="20005"/>
                    </a:ext>
                  </a:extLst>
                </a:gridCol>
                <a:gridCol w="836576">
                  <a:extLst>
                    <a:ext uri="{9D8B030D-6E8A-4147-A177-3AD203B41FA5}">
                      <a16:colId xmlns:a16="http://schemas.microsoft.com/office/drawing/2014/main" val="20006"/>
                    </a:ext>
                  </a:extLst>
                </a:gridCol>
                <a:gridCol w="836576">
                  <a:extLst>
                    <a:ext uri="{9D8B030D-6E8A-4147-A177-3AD203B41FA5}">
                      <a16:colId xmlns:a16="http://schemas.microsoft.com/office/drawing/2014/main" val="20007"/>
                    </a:ext>
                  </a:extLst>
                </a:gridCol>
                <a:gridCol w="836576">
                  <a:extLst>
                    <a:ext uri="{9D8B030D-6E8A-4147-A177-3AD203B41FA5}">
                      <a16:colId xmlns:a16="http://schemas.microsoft.com/office/drawing/2014/main" val="20008"/>
                    </a:ext>
                  </a:extLst>
                </a:gridCol>
              </a:tblGrid>
              <a:tr h="292705">
                <a:tc>
                  <a:txBody>
                    <a:bodyPr anchor="ctr"/>
                    <a:lstStyle/>
                    <a:p>
                      <a:pPr algn="ctr" latinLnBrk="1">
                        <a:buNone/>
                      </a:pPr>
                      <a:r>
                        <a:rPr lang="ko-KR" altLang="en-US" sz="9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83127" marR="83127"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nchor="ct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하남미사지구</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유통업무</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nchor="ct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MQ로지</a:t>
                      </a:r>
                      <a:r>
                        <a:rPr lang="ko-KR" altLang="en-US"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스</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 </a:t>
                      </a: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남양주</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nchor="ct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부천내동</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복합물류센터</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nchor="ct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SSG닷컴</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네오003</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nchor="ct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MQ로지스</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큐브김포고촌</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nchor="ct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모우</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김포물류센터</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477508">
                <a:tc>
                  <a:txBody>
                    <a:bodyPr anchor="ctr"/>
                    <a:lstStyle/>
                    <a:p>
                      <a:pPr algn="ctr" fontAlgn="ctr">
                        <a:buNone/>
                      </a:pPr>
                      <a:r>
                        <a:rPr lang="ko-KR" sz="9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사진</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marL="171450" indent="-171450" algn="l" defTabSz="1007943" rtl="0" eaLnBrk="1" fontAlgn="ctr" latinLnBrk="1" hangingPunct="1">
                        <a:lnSpc>
                          <a:spcPct val="100000"/>
                        </a:lnSpc>
                        <a:buFont typeface="Arial" panose="020B0604020202020204" pitchFamily="34" charset="0"/>
                        <a:buNone/>
                      </a:pPr>
                      <a:endParaRPr sz="900" dirty="0"/>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blipFill>
                      <a:blip r:embed="rId3"/>
                      <a:stretch>
                        <a:fillRect/>
                      </a:stretch>
                    </a:blipFill>
                  </a:tcPr>
                </a:tc>
                <a:tc>
                  <a:txBody>
                    <a:bodyPr anchor="ctr"/>
                    <a:lstStyle/>
                    <a:p>
                      <a:pPr marL="171450" indent="-171450" algn="l" defTabSz="1007943" rtl="0" eaLnBrk="1" fontAlgn="ctr" latinLnBrk="1" hangingPunct="1">
                        <a:lnSpc>
                          <a:spcPct val="100000"/>
                        </a:lnSpc>
                        <a:buFont typeface="Arial" panose="020B0604020202020204" pitchFamily="34" charset="0"/>
                        <a:buNone/>
                      </a:pPr>
                      <a:endParaRPr sz="900" dirty="0"/>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blipFill>
                      <a:blip r:embed="rId4"/>
                      <a:stretch>
                        <a:fillRect/>
                      </a:stretch>
                    </a:blipFill>
                  </a:tcPr>
                </a:tc>
                <a:tc>
                  <a:txBody>
                    <a:bodyPr anchor="ctr"/>
                    <a:lstStyle/>
                    <a:p>
                      <a:pPr marL="171450" indent="-171450" algn="l" defTabSz="1007943" rtl="0" eaLnBrk="1" fontAlgn="ctr" latinLnBrk="1" hangingPunct="1">
                        <a:lnSpc>
                          <a:spcPct val="100000"/>
                        </a:lnSpc>
                        <a:buFont typeface="Arial" panose="020B0604020202020204" pitchFamily="34" charset="0"/>
                        <a:buNone/>
                      </a:pPr>
                      <a:endParaRPr sz="900" dirty="0"/>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blipFill>
                      <a:blip r:embed="rId5"/>
                      <a:stretch>
                        <a:fillRect/>
                      </a:stretch>
                    </a:blipFill>
                  </a:tcPr>
                </a:tc>
                <a:tc>
                  <a:txBody>
                    <a:bodyPr anchor="ctr"/>
                    <a:lstStyle/>
                    <a:p>
                      <a:pPr marL="171450" indent="-171450" algn="l" defTabSz="1007943" rtl="0" eaLnBrk="1" fontAlgn="ctr" latinLnBrk="1" hangingPunct="1">
                        <a:lnSpc>
                          <a:spcPct val="100000"/>
                        </a:lnSpc>
                        <a:buFont typeface="Arial" panose="020B0604020202020204" pitchFamily="34" charset="0"/>
                        <a:buNone/>
                      </a:pPr>
                      <a:endParaRPr sz="900" dirty="0"/>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blipFill>
                      <a:blip r:embed="rId6"/>
                      <a:stretch>
                        <a:fillRect/>
                      </a:stretch>
                    </a:blipFill>
                  </a:tcPr>
                </a:tc>
                <a:tc>
                  <a:txBody>
                    <a:bodyPr anchor="ctr"/>
                    <a:lstStyle/>
                    <a:p>
                      <a:pPr marL="171450" indent="-171450" algn="l" defTabSz="1007943" rtl="0" eaLnBrk="1" fontAlgn="ctr" latinLnBrk="1" hangingPunct="1">
                        <a:lnSpc>
                          <a:spcPct val="100000"/>
                        </a:lnSpc>
                        <a:buFont typeface="Arial" panose="020B0604020202020204" pitchFamily="34" charset="0"/>
                        <a:buNone/>
                      </a:pPr>
                      <a:endParaRPr sz="900" dirty="0"/>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blipFill>
                      <a:blip r:embed="rId7"/>
                      <a:stretch>
                        <a:fillRect/>
                      </a:stretch>
                    </a:blipFill>
                  </a:tcPr>
                </a:tc>
                <a:tc>
                  <a:txBody>
                    <a:bodyPr anchor="ctr"/>
                    <a:lstStyle/>
                    <a:p>
                      <a:pPr marL="171450" indent="-171450" algn="l" defTabSz="1007943" rtl="0" eaLnBrk="1" fontAlgn="ctr" latinLnBrk="1" hangingPunct="1">
                        <a:lnSpc>
                          <a:spcPct val="100000"/>
                        </a:lnSpc>
                        <a:buFont typeface="Arial" panose="020B0604020202020204" pitchFamily="34" charset="0"/>
                        <a:buNone/>
                      </a:pPr>
                      <a:endParaRPr sz="900" dirty="0"/>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blipFill>
                      <a:blip r:embed="rId8"/>
                      <a:stretch>
                        <a:fillRect/>
                      </a:stretch>
                    </a:blipFill>
                  </a:tcPr>
                </a:tc>
                <a:extLst>
                  <a:ext uri="{0D108BD9-81ED-4DB2-BD59-A6C34878D82A}">
                    <a16:rowId xmlns:a16="http://schemas.microsoft.com/office/drawing/2014/main" val="10001"/>
                  </a:ext>
                </a:extLst>
              </a:tr>
              <a:tr h="292705">
                <a:tc>
                  <a:txBody>
                    <a:bodyPr anchor="ctr"/>
                    <a:lstStyle/>
                    <a:p>
                      <a:pPr algn="ctr"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소재지</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풍산동595</a:t>
                      </a: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nchor="ct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화도읍차산리434-6</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nchor="ct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오정구내동222-11</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nchor="ct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고촌읍전호리648</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nchor="ct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고촌읍전호리748</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nchor="ct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고촌읍전호리737</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150787">
                <a:tc>
                  <a:txBody>
                    <a:bodyPr anchor="ctr"/>
                    <a:lstStyle/>
                    <a:p>
                      <a:pPr algn="ctr"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연면적</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6,172평</a:t>
                      </a: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nchor="ct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14,910평</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nchor="ct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24,739평</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nchor="ct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15,922평</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nchor="ct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23,691평</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nchor="ct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3,649평</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150787">
                <a:tc>
                  <a:txBody>
                    <a:bodyPr anchor="ctr"/>
                    <a:lstStyle/>
                    <a:p>
                      <a:pPr algn="ctr"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규모</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B3/8F</a:t>
                      </a: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nchor="ct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B2/4F</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nchor="ct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B2/12F</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nchor="ct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B1/5F</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nchor="ct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B1/4F</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nchor="ct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B1/6F</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150787">
                <a:tc>
                  <a:txBody>
                    <a:bodyPr anchor="ctr"/>
                    <a:lstStyle/>
                    <a:p>
                      <a:pPr algn="ctr"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거래시점</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Q1/2026</a:t>
                      </a: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nchor="ct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nchor="ct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Q3/2024</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nchor="ct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nchor="ct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nchor="ct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Q2/2025</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7"/>
                  </a:ext>
                </a:extLst>
              </a:tr>
              <a:tr h="150787">
                <a:tc>
                  <a:txBody>
                    <a:bodyPr anchor="ctr"/>
                    <a:lstStyle/>
                    <a:p>
                      <a:pPr algn="ctr"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매매가</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nchor="ct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770</a:t>
                      </a: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nchor="ct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1,343</a:t>
                      </a: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nchor="ct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3,030</a:t>
                      </a: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nchor="ct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1,528</a:t>
                      </a: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nchor="ct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2,167</a:t>
                      </a: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nchor="ct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350</a:t>
                      </a: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8"/>
                  </a:ext>
                </a:extLst>
              </a:tr>
              <a:tr h="180337">
                <a:tc>
                  <a:txBody>
                    <a:bodyPr anchor="ctr"/>
                    <a:lstStyle/>
                    <a:p>
                      <a:pPr algn="ctr" fontAlgn="ctr">
                        <a:buNone/>
                      </a:pPr>
                      <a:r>
                        <a:rPr lang="ko-KR" sz="9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평당가</a:t>
                      </a:r>
                      <a:endParaRPr lang="ko-KR" sz="9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nchor="ct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1,248</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nchor="ct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901</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nchor="ct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1,220</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nchor="ct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960</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nchor="ct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915</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nchor="ct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959</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9"/>
                  </a:ext>
                </a:extLst>
              </a:tr>
              <a:tr h="150787">
                <a:tc>
                  <a:txBody>
                    <a:bodyPr anchor="ctr"/>
                    <a:lstStyle/>
                    <a:p>
                      <a:pPr algn="ctr" fontAlgn="ctr">
                        <a:buNone/>
                      </a:pPr>
                      <a:r>
                        <a:rPr lang="ko-KR" sz="9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Cap. Rate</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nchor="ct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nchor="ct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5.36%</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nchor="ct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nchor="ct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nchor="ct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4.54%</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nchor="ct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10"/>
                  </a:ext>
                </a:extLst>
              </a:tr>
            </a:tbl>
          </a:graphicData>
        </a:graphic>
      </p:graphicFrame>
      <p:sp>
        <p:nvSpPr>
          <p:cNvPr id="61" name="직사각형 60">
            <a:extLst>
              <a:ext uri="{FF2B5EF4-FFF2-40B4-BE49-F238E27FC236}">
                <a16:creationId xmlns:a16="http://schemas.microsoft.com/office/drawing/2014/main" id="{024EAE5F-ADEB-2815-6232-AB0DF21DC5BC}"/>
              </a:ext>
            </a:extLst>
          </p:cNvPr>
          <p:cNvSpPr/>
          <p:nvPr/>
        </p:nvSpPr>
        <p:spPr>
          <a:xfrm>
            <a:off x="4379879" y="2339677"/>
            <a:ext cx="1434079" cy="169200"/>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`26</a:t>
            </a: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년내 물류센터</a:t>
            </a:r>
            <a:r>
              <a:rPr lang="en-US" altLang="ko-KR"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거래사례</a:t>
            </a:r>
            <a:endParaRPr kumimoji="0" lang="ko-KR" altLang="en-US" sz="9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86" name="직선 화살표 연결선 85">
            <a:extLst>
              <a:ext uri="{FF2B5EF4-FFF2-40B4-BE49-F238E27FC236}">
                <a16:creationId xmlns:a16="http://schemas.microsoft.com/office/drawing/2014/main" id="{80E5D41F-5715-EC91-9B38-E99FD3A6C5CA}"/>
              </a:ext>
            </a:extLst>
          </p:cNvPr>
          <p:cNvCxnSpPr>
            <a:cxnSpLocks/>
          </p:cNvCxnSpPr>
          <p:nvPr/>
        </p:nvCxnSpPr>
        <p:spPr>
          <a:xfrm>
            <a:off x="449362" y="6244690"/>
            <a:ext cx="2806293" cy="0"/>
          </a:xfrm>
          <a:prstGeom prst="straightConnector1">
            <a:avLst/>
          </a:prstGeom>
          <a:ln w="15875">
            <a:solidFill>
              <a:schemeClr val="tx1">
                <a:lumMod val="65000"/>
                <a:lumOff val="35000"/>
              </a:schemeClr>
            </a:solidFill>
            <a:prstDash val="sysDash"/>
            <a:tailEnd type="triangle"/>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8AFF8D9-E064-1817-CD5E-D66CDB93C032}"/>
              </a:ext>
            </a:extLst>
          </p:cNvPr>
          <p:cNvSpPr txBox="1"/>
          <p:nvPr/>
        </p:nvSpPr>
        <p:spPr>
          <a:xfrm>
            <a:off x="1954688" y="2391458"/>
            <a:ext cx="2399969" cy="276999"/>
          </a:xfrm>
          <a:prstGeom prst="rect">
            <a:avLst/>
          </a:prstGeom>
          <a:noFill/>
        </p:spPr>
        <p:txBody>
          <a:bodyPr wrap="square" anchor="ctr">
            <a:spAutoFit/>
          </a:bodyPr>
          <a:lstStyle/>
          <a:p>
            <a:pPr algn="ctr"/>
            <a:r>
              <a:rPr lang="en-US" altLang="ko-KR" sz="1200" spc="-5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spc="-5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200" spc="-5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Cap. 4%</a:t>
            </a:r>
            <a:r>
              <a:rPr lang="ko-KR" altLang="en-US" sz="1200" spc="-5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중반</a:t>
            </a:r>
            <a:r>
              <a:rPr lang="en-US" altLang="ko-KR" sz="1200" spc="-5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spc="-5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평당 </a:t>
            </a:r>
            <a:r>
              <a:rPr lang="en-US" altLang="ko-KR" sz="1200" spc="-5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980</a:t>
            </a:r>
            <a:r>
              <a:rPr lang="ko-KR" altLang="en-US" sz="1200" spc="-5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만원대</a:t>
            </a:r>
            <a:r>
              <a:rPr lang="en-US" altLang="ko-KR" sz="1200" spc="-5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spc="-5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 name="직사각형 8">
            <a:extLst>
              <a:ext uri="{FF2B5EF4-FFF2-40B4-BE49-F238E27FC236}">
                <a16:creationId xmlns:a16="http://schemas.microsoft.com/office/drawing/2014/main" id="{2BCFA72F-2164-7013-5B7D-DF2A30EC3758}"/>
              </a:ext>
            </a:extLst>
          </p:cNvPr>
          <p:cNvSpPr/>
          <p:nvPr/>
        </p:nvSpPr>
        <p:spPr>
          <a:xfrm>
            <a:off x="1848805" y="5631413"/>
            <a:ext cx="1092044" cy="109729"/>
          </a:xfrm>
          <a:prstGeom prst="rect">
            <a:avLst/>
          </a:prstGeom>
          <a:solidFill>
            <a:schemeClr val="bg1">
              <a:lumMod val="95000"/>
            </a:schemeClr>
          </a:solidFill>
          <a:ln>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9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 부대비용</a:t>
            </a:r>
          </a:p>
        </p:txBody>
      </p:sp>
      <p:cxnSp>
        <p:nvCxnSpPr>
          <p:cNvPr id="41" name="직선 화살표 연결선 40">
            <a:extLst>
              <a:ext uri="{FF2B5EF4-FFF2-40B4-BE49-F238E27FC236}">
                <a16:creationId xmlns:a16="http://schemas.microsoft.com/office/drawing/2014/main" id="{2316ECBF-5638-BC53-A5C3-2D2EB443D26F}"/>
              </a:ext>
            </a:extLst>
          </p:cNvPr>
          <p:cNvCxnSpPr>
            <a:cxnSpLocks/>
          </p:cNvCxnSpPr>
          <p:nvPr/>
        </p:nvCxnSpPr>
        <p:spPr>
          <a:xfrm>
            <a:off x="449362" y="5625002"/>
            <a:ext cx="2806293" cy="0"/>
          </a:xfrm>
          <a:prstGeom prst="straightConnector1">
            <a:avLst/>
          </a:prstGeom>
          <a:ln w="22225">
            <a:solidFill>
              <a:schemeClr val="tx1"/>
            </a:solidFill>
            <a:prstDash val="sysDash"/>
            <a:tailEnd type="triangle"/>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97B4F734-242F-CA06-2FB2-1CD8E0BCD14C}"/>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5.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회수 전략</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10" name="그룹 9">
            <a:extLst>
              <a:ext uri="{FF2B5EF4-FFF2-40B4-BE49-F238E27FC236}">
                <a16:creationId xmlns:a16="http://schemas.microsoft.com/office/drawing/2014/main" id="{15DA1FB9-6057-88B4-8AEC-703DDEC145EB}"/>
              </a:ext>
            </a:extLst>
          </p:cNvPr>
          <p:cNvGrpSpPr/>
          <p:nvPr/>
        </p:nvGrpSpPr>
        <p:grpSpPr>
          <a:xfrm>
            <a:off x="458887" y="1987916"/>
            <a:ext cx="9783663" cy="247712"/>
            <a:chOff x="458887" y="1987916"/>
            <a:chExt cx="9783663" cy="247712"/>
          </a:xfrm>
        </p:grpSpPr>
        <p:sp>
          <p:nvSpPr>
            <p:cNvPr id="11" name="직사각형 10">
              <a:extLst>
                <a:ext uri="{FF2B5EF4-FFF2-40B4-BE49-F238E27FC236}">
                  <a16:creationId xmlns:a16="http://schemas.microsoft.com/office/drawing/2014/main" id="{CD9204E6-33F9-15AA-AF6D-44D1772283C1}"/>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2" name="직선 연결선 11">
              <a:extLst>
                <a:ext uri="{FF2B5EF4-FFF2-40B4-BE49-F238E27FC236}">
                  <a16:creationId xmlns:a16="http://schemas.microsoft.com/office/drawing/2014/main" id="{9B27E816-D798-EFB0-7DBC-47DCE832A880}"/>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3" name="자유형 159">
              <a:extLst>
                <a:ext uri="{FF2B5EF4-FFF2-40B4-BE49-F238E27FC236}">
                  <a16:creationId xmlns:a16="http://schemas.microsoft.com/office/drawing/2014/main" id="{58A4EED7-5191-040C-866F-552A1BACCFC7}"/>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4" name="자유형 160">
              <a:extLst>
                <a:ext uri="{FF2B5EF4-FFF2-40B4-BE49-F238E27FC236}">
                  <a16:creationId xmlns:a16="http://schemas.microsoft.com/office/drawing/2014/main" id="{21F6EB44-29AB-9B90-26D7-C61027F25A57}"/>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5" name="TextBox 14">
              <a:extLst>
                <a:ext uri="{FF2B5EF4-FFF2-40B4-BE49-F238E27FC236}">
                  <a16:creationId xmlns:a16="http://schemas.microsoft.com/office/drawing/2014/main" id="{E4F60A74-1BA8-AF3D-E6F0-1F449CA3EB27}"/>
                </a:ext>
              </a:extLst>
            </p:cNvPr>
            <p:cNvSpPr txBox="1"/>
            <p:nvPr/>
          </p:nvSpPr>
          <p:spPr>
            <a:xfrm>
              <a:off x="458887" y="2034828"/>
              <a:ext cx="1249851"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투자의사결정 수권절차</a:t>
              </a:r>
            </a:p>
          </p:txBody>
        </p:sp>
      </p:grpSp>
      <p:sp>
        <p:nvSpPr>
          <p:cNvPr id="17" name="TextBox 16">
            <a:extLst>
              <a:ext uri="{FF2B5EF4-FFF2-40B4-BE49-F238E27FC236}">
                <a16:creationId xmlns:a16="http://schemas.microsoft.com/office/drawing/2014/main" id="{7C34E235-CE27-87BE-5FF0-81B87B3B5ACD}"/>
              </a:ext>
            </a:extLst>
          </p:cNvPr>
          <p:cNvSpPr txBox="1"/>
          <p:nvPr/>
        </p:nvSpPr>
        <p:spPr>
          <a:xfrm>
            <a:off x="283369" y="1040097"/>
            <a:ext cx="9995086" cy="728849"/>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en-US" altLang="ko-KR" sz="1600" dirty="0">
                <a:solidFill>
                  <a:prstClr val="black"/>
                </a:solidFill>
              </a:rPr>
              <a:t>’26</a:t>
            </a:r>
            <a:r>
              <a:rPr lang="ko-KR" altLang="en-US" sz="1600" dirty="0">
                <a:solidFill>
                  <a:prstClr val="black"/>
                </a:solidFill>
              </a:rPr>
              <a:t>년도 수도권 </a:t>
            </a:r>
            <a:r>
              <a:rPr lang="en-US" altLang="ko-KR" sz="1600" dirty="0">
                <a:solidFill>
                  <a:prstClr val="black"/>
                </a:solidFill>
              </a:rPr>
              <a:t>Last-mile </a:t>
            </a:r>
            <a:r>
              <a:rPr lang="ko-KR" altLang="en-US" sz="1600" dirty="0">
                <a:solidFill>
                  <a:prstClr val="black"/>
                </a:solidFill>
              </a:rPr>
              <a:t>거래사례 분석 내용 토대 시 </a:t>
            </a:r>
            <a:r>
              <a:rPr lang="en-US" altLang="ko-KR" sz="1600" dirty="0">
                <a:solidFill>
                  <a:prstClr val="black"/>
                </a:solidFill>
              </a:rPr>
              <a:t>10</a:t>
            </a:r>
            <a:r>
              <a:rPr lang="ko-KR" altLang="en-US" sz="1600" dirty="0">
                <a:solidFill>
                  <a:prstClr val="black"/>
                </a:solidFill>
              </a:rPr>
              <a:t>년 후 매각에 따른 매각차익이 기대됨 </a:t>
            </a:r>
            <a:endParaRPr lang="en-US" altLang="ko-KR" sz="1600" dirty="0">
              <a:solidFill>
                <a:srgbClr val="FF0000"/>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 건 자 리츠에 투하한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보유지분의 원본손실이 나지 않는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BEP </a:t>
            </a:r>
            <a:r>
              <a:rPr lang="en-US" altLang="ko-KR"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Cap.Rate</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는</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약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5.1%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수준으로 거래사례 감안 시 안정적 회수가 예상됨 </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88" name="Chart 87"/>
          <p:cNvGraphicFramePr>
            <a:graphicFrameLocks noGrp="1"/>
          </p:cNvGraphicFramePr>
          <p:nvPr/>
        </p:nvGraphicFramePr>
        <p:xfrm>
          <a:off x="4535926" y="2691299"/>
          <a:ext cx="5778531" cy="1673926"/>
        </p:xfrm>
        <a:graphic>
          <a:graphicData uri="http://schemas.openxmlformats.org/drawingml/2006/chart">
            <c:chart xmlns:c="http://schemas.openxmlformats.org/drawingml/2006/chart" r:id="rId10"/>
          </a:graphicData>
        </a:graphic>
      </p:graphicFrame>
      <p:sp>
        <p:nvSpPr>
          <p:cNvPr id="67" name="직사각형 66">
            <a:extLst>
              <a:ext uri="{FF2B5EF4-FFF2-40B4-BE49-F238E27FC236}" cx="511512" cy="134751">
                <a16:creationId xmlns:a16="http://schemas.microsoft.com/office/drawing/2014/main" id="{17F18305-4F45-2048-20B8-F763B88C25C8}"/>
              </a:ext>
            </a:extLst>
          </p:cNvPr>
          <p:cNvSpPr/>
          <p:nvPr/>
        </p:nvSpPr>
        <p:spPr>
          <a:xfrm>
            <a:off x="8598232" y="3254575"/>
            <a:ext cx="684077" cy="1000784"/>
          </a:xfrm>
          <a:prstGeom prst="rect">
            <a:avLst/>
          </a:prstGeom>
          <a:noFill/>
          <a:ln w="19050">
            <a:solidFill>
              <a:schemeClr val="accent3"/>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9" name="TextBox 68">
            <a:extLst>
              <a:ext uri="{FF2B5EF4-FFF2-40B4-BE49-F238E27FC236}" cx="1184712" cy="300000">
                <a16:creationId xmlns:a16="http://schemas.microsoft.com/office/drawing/2014/main" id="{857B4DFB-AD2A-870E-7FDE-CDFE9D770580}"/>
              </a:ext>
            </a:extLst>
          </p:cNvPr>
          <p:cNvSpPr txBox="1"/>
          <p:nvPr/>
        </p:nvSpPr>
        <p:spPr>
          <a:xfrm>
            <a:off x="9129744" y="3061236"/>
            <a:ext cx="1885776" cy="380480"/>
          </a:xfrm>
          <a:prstGeom prst="rect">
            <a:avLst/>
          </a:prstGeom>
        </p:spPr>
        <p:txBody>
          <a:bodyPr wrap="square" lIns="72000" tIns="36000" rIns="72000" bIns="36000" rtlCol="0" anchor="ctr">
            <a:spAutoFit/>
          </a:bodyPr>
          <a:lstStyle/>
          <a:p>
            <a:pPr algn="ctr"/>
            <a:r>
              <a:rPr lang="en-US" altLang="ko-KR" sz="800" spc="-30" dirty="0">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’25~’26.1Q </a:t>
            </a:r>
          </a:p>
          <a:p>
            <a:pPr algn="ctr"/>
            <a:r>
              <a:rPr lang="en-US" altLang="ko-KR" sz="800" spc="-30" dirty="0">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Cap. Rate Avg. </a:t>
            </a:r>
            <a:r>
              <a:rPr lang="en-US" altLang="ko-KR" sz="8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5.42%</a:t>
            </a:r>
            <a:endParaRPr lang="ko-KR" altLang="en-US" sz="10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89" name="TextBox 88"/>
          <p:cNvSpPr txBox="1"/>
          <p:nvPr/>
        </p:nvSpPr>
        <p:spPr>
          <a:xfrm>
            <a:off x="283367" y="6813808"/>
            <a:ext cx="10009067" cy="230000"/>
          </a:xfrm>
          <a:prstGeom prst="rect">
            <a:avLst/>
          </a:prstGeom>
          <a:noFill/>
        </p:spPr>
        <p:txBody>
          <a:bodyPr wrap="square" lIns="0" rIns="0" tIns="0" bIns="0" anchor="ctr">
            <a:spAutoFit/>
          </a:bodyPr>
          <a:lstStyle/>
          <a:p>
            <a:pPr algn="l"/>
            <a:r>
              <a:rPr sz="700">
                <a:solidFill>
                  <a:srgbClr val="404040"/>
                </a:solidFill>
                <a:latin typeface="KoPubWorld돋움체 Light"/>
                <a:ea typeface="KoPubWorld돋움체 Light"/>
                <a:cs typeface="KoPubWorld돋움체 Light"/>
              </a:rPr>
              <a:t>* 5년 채권금리·한국 오피스 및 물류 Cap.Rate: 원 장표 점도표 판독값(분기, ±0.05%p) / ’26.3Q 채권금리는 기준 재무모델 채권금리 탭 국고채 5년 4.133%(’26.9.9) / 물류 추세선은 판독 점 82개 선형회귀를 ’28.4Q까지 연장(4.14%) [추정]</a:t>
            </a:r>
          </a:p>
        </p:txBody>
      </p:sp>
    </p:spTree>
    <p:extLst>
      <p:ext uri="{BB962C8B-B14F-4D97-AF65-F5344CB8AC3E}">
        <p14:creationId xmlns:p14="http://schemas.microsoft.com/office/powerpoint/2010/main" val="3780818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9C4D8-6476-452B-775E-9A40DB6D2C34}"/>
            </a:ext>
          </a:extLst>
        </p:cNvPr>
        <p:cNvGrpSpPr/>
        <p:nvPr/>
      </p:nvGrpSpPr>
      <p:grpSpPr>
        <a:xfrm>
          <a:off x="0" y="0"/>
          <a:ext cx="0" cy="0"/>
          <a:chOff x="0" y="0"/>
          <a:chExt cx="0" cy="0"/>
        </a:xfrm>
      </p:grpSpPr>
      <p:graphicFrame>
        <p:nvGraphicFramePr>
          <p:cNvPr id="7" name="표 6">
            <a:extLst>
              <a:ext uri="{FF2B5EF4-FFF2-40B4-BE49-F238E27FC236}">
                <a16:creationId xmlns:a16="http://schemas.microsoft.com/office/drawing/2014/main" id="{2F5D4739-545A-854C-A8CF-734DBA279893}"/>
              </a:ext>
            </a:extLst>
          </p:cNvPr>
          <p:cNvGraphicFramePr>
            <a:graphicFrameLocks noGrp="1"/>
          </p:cNvGraphicFramePr>
          <p:nvPr>
            <p:extLst>
              <p:ext uri="{D42A27DB-BD31-4B8C-83A1-F6EECF244321}">
                <p14:modId xmlns:p14="http://schemas.microsoft.com/office/powerpoint/2010/main" val="1653105772"/>
              </p:ext>
            </p:extLst>
          </p:nvPr>
        </p:nvGraphicFramePr>
        <p:xfrm>
          <a:off x="773398" y="1043533"/>
          <a:ext cx="9289031" cy="5672955"/>
        </p:xfrm>
        <a:graphic>
          <a:graphicData uri="http://schemas.openxmlformats.org/drawingml/2006/table">
            <a:tbl>
              <a:tblPr>
                <a:tableStyleId>{5C22544A-7EE6-4342-B048-85BDC9FD1C3A}</a:tableStyleId>
              </a:tblPr>
              <a:tblGrid>
                <a:gridCol w="1065130">
                  <a:extLst>
                    <a:ext uri="{9D8B030D-6E8A-4147-A177-3AD203B41FA5}">
                      <a16:colId xmlns:a16="http://schemas.microsoft.com/office/drawing/2014/main" val="1941051276"/>
                    </a:ext>
                  </a:extLst>
                </a:gridCol>
                <a:gridCol w="298236">
                  <a:extLst>
                    <a:ext uri="{9D8B030D-6E8A-4147-A177-3AD203B41FA5}">
                      <a16:colId xmlns:a16="http://schemas.microsoft.com/office/drawing/2014/main" val="4131942571"/>
                    </a:ext>
                  </a:extLst>
                </a:gridCol>
                <a:gridCol w="1347363">
                  <a:extLst>
                    <a:ext uri="{9D8B030D-6E8A-4147-A177-3AD203B41FA5}">
                      <a16:colId xmlns:a16="http://schemas.microsoft.com/office/drawing/2014/main" val="2304195968"/>
                    </a:ext>
                  </a:extLst>
                </a:gridCol>
                <a:gridCol w="3289151">
                  <a:extLst>
                    <a:ext uri="{9D8B030D-6E8A-4147-A177-3AD203B41FA5}">
                      <a16:colId xmlns:a16="http://schemas.microsoft.com/office/drawing/2014/main" val="2453820789"/>
                    </a:ext>
                  </a:extLst>
                </a:gridCol>
                <a:gridCol w="3289151">
                  <a:extLst>
                    <a:ext uri="{9D8B030D-6E8A-4147-A177-3AD203B41FA5}">
                      <a16:colId xmlns:a16="http://schemas.microsoft.com/office/drawing/2014/main" val="3152571475"/>
                    </a:ext>
                  </a:extLst>
                </a:gridCol>
              </a:tblGrid>
              <a:tr h="172055">
                <a:tc gridSpan="2">
                  <a:txBody>
                    <a:bodyPr anchor="ctr"/>
                    <a:lstStyle/>
                    <a:p>
                      <a:pPr marL="0" marR="0" indent="0" algn="ctr" fontAlgn="base" latinLnBrk="0">
                        <a:lnSpc>
                          <a:spcPct val="100000"/>
                        </a:lnSpc>
                        <a:buNone/>
                      </a:pPr>
                      <a:r>
                        <a:rPr lang="ko-KR" sz="10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ko-KR" sz="1000" kern="0" spc="0"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hMerge="1">
                  <a:txBody>
                    <a:bodyPr anchor="ctr"/>
                    <a:lstStyle/>
                    <a:p>
                      <a:pPr latinLnBrk="1"/>
                      <a:endParaRPr lang="ko-KR" altLang="en-US"/>
                    </a:p>
                  </a:txBody>
                  <a:tcPr anchor="ctr"/>
                </a:tc>
                <a:tc>
                  <a:txBody>
                    <a:bodyPr anchor="ctr"/>
                    <a:lstStyle/>
                    <a:p>
                      <a:pPr marL="0" marR="0" indent="0" algn="ctr" fontAlgn="base" latinLnBrk="0">
                        <a:lnSpc>
                          <a:spcPct val="100000"/>
                        </a:lnSpc>
                        <a:buNone/>
                      </a:pPr>
                      <a:r>
                        <a:rPr lang="ko-KR" altLang="en-US" sz="1000" kern="0" spc="0"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영업인가관련</a:t>
                      </a:r>
                      <a:endParaRPr lang="ko-KR" sz="1000" kern="0" spc="0"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nchor="ctr"/>
                    <a:lstStyle/>
                    <a:p>
                      <a:pPr marL="0" marR="0" indent="0" algn="ctr" fontAlgn="base" latinLnBrk="0">
                        <a:lnSpc>
                          <a:spcPct val="100000"/>
                        </a:lnSpc>
                        <a:buNone/>
                      </a:pPr>
                      <a:r>
                        <a:rPr lang="ko-KR" sz="1000" kern="0" spc="0" dirty="0" err="1">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코람코라이프로지스리츠</a:t>
                      </a:r>
                      <a:r>
                        <a:rPr lang="en-US" sz="10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(KLL</a:t>
                      </a:r>
                      <a:r>
                        <a:rPr lang="ko-KR" sz="10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r>
                        <a:rPr lang="en-US" sz="10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sz="10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子리츠</a:t>
                      </a:r>
                      <a:r>
                        <a:rPr lang="en-US" sz="10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sz="1000" kern="0" spc="0"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nchor="ctr"/>
                    <a:lstStyle/>
                    <a:p>
                      <a:pPr marL="0" marR="0" indent="0" algn="ctr" fontAlgn="base" latinLnBrk="0">
                        <a:lnSpc>
                          <a:spcPct val="100000"/>
                        </a:lnSpc>
                        <a:buNone/>
                      </a:pPr>
                      <a:r>
                        <a:rPr lang="ko-KR" sz="1000" kern="0" spc="0" dirty="0" err="1">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코람코라이프인프라리츠</a:t>
                      </a:r>
                      <a:r>
                        <a:rPr lang="en-US" sz="10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sz="10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r>
                        <a:rPr lang="en-US" sz="10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sz="10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母리츠</a:t>
                      </a:r>
                      <a:r>
                        <a:rPr lang="en-US" sz="10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sz="1000" kern="0" spc="0"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863645471"/>
                  </a:ext>
                </a:extLst>
              </a:tr>
              <a:tr h="151990">
                <a:tc>
                  <a:txBody>
                    <a:bodyPr anchor="ctr"/>
                    <a:lstStyle/>
                    <a:p>
                      <a:pPr marL="0" marR="0" indent="0" algn="ctr" fontAlgn="base" latinLnBrk="0">
                        <a:lnSpc>
                          <a:spcPct val="100000"/>
                        </a:lnSpc>
                        <a:buNone/>
                      </a:pP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2026-07-16</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nchor="ctr"/>
                    <a:lstStyle/>
                    <a:p>
                      <a:pPr marL="0" marR="0" indent="0" algn="ctr"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목</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nchor="ctr"/>
                    <a:lstStyle/>
                    <a:p>
                      <a:pPr algn="ctr">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nchor="ctr"/>
                    <a:lstStyle/>
                    <a:p>
                      <a:pPr marL="0" marR="0" indent="0" algn="l"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입찰공고 및 </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TM</a:t>
                      </a:r>
                      <a:r>
                        <a:rPr lang="ko-KR" sz="900" kern="0" spc="0"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베포</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매각자문사</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_JLL)</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nchor="ctr"/>
                    <a:lstStyle/>
                    <a:p>
                      <a:pPr algn="l">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865659917"/>
                  </a:ext>
                </a:extLst>
              </a:tr>
              <a:tr h="151990">
                <a:tc>
                  <a:txBody>
                    <a:bodyPr anchor="ctr"/>
                    <a:lstStyle/>
                    <a:p>
                      <a:pPr marL="0" marR="0" indent="0" algn="ctr" fontAlgn="base" latinLnBrk="0">
                        <a:lnSpc>
                          <a:spcPct val="100000"/>
                        </a:lnSpc>
                        <a:buNone/>
                      </a:pPr>
                      <a:r>
                        <a:rPr lang="en-US" sz="900" kern="0" spc="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2026-08-05</a:t>
                      </a:r>
                      <a:endParaRPr lang="ko-KR" sz="900" kern="0" spc="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nchor="ctr"/>
                    <a:lstStyle/>
                    <a:p>
                      <a:pPr marL="0" marR="0" indent="0" algn="ctr"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nchor="ctr"/>
                    <a:lstStyle/>
                    <a:p>
                      <a:pPr algn="ctr">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nchor="ctr"/>
                    <a:lstStyle/>
                    <a:p>
                      <a:pPr marL="0" marR="0" indent="0" algn="l"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입찰제안서 제출</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sz="900" kern="0" spc="0"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코람코자산신탁</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nchor="ctr"/>
                    <a:lstStyle/>
                    <a:p>
                      <a:pPr algn="l">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861935025"/>
                  </a:ext>
                </a:extLst>
              </a:tr>
              <a:tr h="151990">
                <a:tc>
                  <a:txBody>
                    <a:bodyPr anchor="ctr"/>
                    <a:lstStyle/>
                    <a:p>
                      <a:pPr marL="0" marR="0" indent="0" algn="ctr" fontAlgn="base" latinLnBrk="0">
                        <a:lnSpc>
                          <a:spcPct val="100000"/>
                        </a:lnSpc>
                        <a:buNone/>
                      </a:pP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2026-08-27</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nchor="ctr"/>
                    <a:lstStyle/>
                    <a:p>
                      <a:pPr marL="0" marR="0" indent="0" algn="ctr"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목</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nchor="ctr"/>
                    <a:lstStyle/>
                    <a:p>
                      <a:pPr algn="ctr">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nchor="ctr"/>
                    <a:lstStyle/>
                    <a:p>
                      <a:pPr marL="0" marR="0" indent="0" algn="l"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양해각서 체결</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sz="900" kern="0" spc="0"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코람코자산신탁</a:t>
                      </a:r>
                      <a:r>
                        <a:rPr lang="ko-KR" alt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및 매도인</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nchor="ctr"/>
                    <a:lstStyle/>
                    <a:p>
                      <a:pPr algn="l">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216773502"/>
                  </a:ext>
                </a:extLst>
              </a:tr>
              <a:tr h="151990">
                <a:tc>
                  <a:txBody>
                    <a:bodyPr anchor="ctr"/>
                    <a:lstStyle/>
                    <a:p>
                      <a:pPr marL="0" marR="0" indent="0" algn="ctr" fontAlgn="base" latinLnBrk="0">
                        <a:lnSpc>
                          <a:spcPct val="100000"/>
                        </a:lnSpc>
                        <a:buNone/>
                      </a:pPr>
                      <a:r>
                        <a:rPr lang="en-US" sz="900" kern="0" spc="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2026-09-11</a:t>
                      </a:r>
                      <a:endParaRPr lang="ko-KR" sz="900" kern="0" spc="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nchor="ctr"/>
                    <a:lstStyle/>
                    <a:p>
                      <a:pPr marL="0" marR="0" indent="0" algn="ctr"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nchor="ctr"/>
                    <a:lstStyle/>
                    <a:p>
                      <a:pPr algn="ctr">
                        <a:lnSpc>
                          <a:spcPct val="100000"/>
                        </a:lnSpc>
                        <a:buNone/>
                      </a:pPr>
                      <a:r>
                        <a:rPr lang="ko-KR" altLang="en-US"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부동산원 사전미팅</a:t>
                      </a: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nchor="ctr"/>
                    <a:lstStyle/>
                    <a:p>
                      <a:pPr marL="0" marR="0" indent="0" algn="l"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회사 발기설립 완료</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nchor="ctr"/>
                    <a:lstStyle/>
                    <a:p>
                      <a:pPr algn="l">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4255469362"/>
                  </a:ext>
                </a:extLst>
              </a:tr>
              <a:tr h="151990">
                <a:tc>
                  <a:txBody>
                    <a:bodyPr anchor="ctr"/>
                    <a:lstStyle/>
                    <a:p>
                      <a:pPr marL="0" marR="0" indent="0" algn="ctr" fontAlgn="base" latinLnBrk="0">
                        <a:lnSpc>
                          <a:spcPct val="100000"/>
                        </a:lnSpc>
                        <a:buNone/>
                      </a:pP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2026-09-23</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nchor="ctr"/>
                    <a:lstStyle/>
                    <a:p>
                      <a:pPr marL="0" marR="0" indent="0" algn="ctr"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nchor="ctr"/>
                    <a:lstStyle/>
                    <a:p>
                      <a:pPr marL="0" marR="0" indent="0" algn="ctr" fontAlgn="base" latinLnBrk="1">
                        <a:lnSpc>
                          <a:spcPct val="100000"/>
                        </a:lnSpc>
                        <a:buNone/>
                      </a:pPr>
                      <a:r>
                        <a:rPr lang="ko-KR"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영업인가 공식 접수</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nchor="ctr"/>
                    <a:lstStyle/>
                    <a:p>
                      <a:pPr marL="0" marR="0" indent="0" algn="l" fontAlgn="base" latinLnBrk="1">
                        <a:lnSpc>
                          <a:spcPct val="100000"/>
                        </a:lnSpc>
                        <a:buNone/>
                      </a:pPr>
                      <a:r>
                        <a:rPr lang="ko-KR" alt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선순위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대출</a:t>
                      </a:r>
                      <a:r>
                        <a:rPr lang="en-US"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심의 완료</a:t>
                      </a:r>
                      <a:r>
                        <a:rPr lang="en-US"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LOC</a:t>
                      </a:r>
                      <a:r>
                        <a:rPr lang="ko-KR" alt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제출</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nchor="ctr"/>
                    <a:lstStyle/>
                    <a:p>
                      <a:pPr marL="0" marR="0" indent="0" algn="l"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997205"/>
                  </a:ext>
                </a:extLst>
              </a:tr>
              <a:tr h="151990">
                <a:tc>
                  <a:txBody>
                    <a:bodyPr anchor="ctr"/>
                    <a:lstStyle/>
                    <a:p>
                      <a:pPr marL="0" marR="0" indent="0" algn="ctr" fontAlgn="base" latinLnBrk="0">
                        <a:lnSpc>
                          <a:spcPct val="100000"/>
                        </a:lnSpc>
                        <a:buNone/>
                      </a:pPr>
                      <a:r>
                        <a:rPr lang="en-US"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2026-09-24</a:t>
                      </a:r>
                      <a:endParaRPr 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solidFill>
                      <a:schemeClr val="bg1">
                        <a:lumMod val="85000"/>
                      </a:schemeClr>
                    </a:solidFill>
                  </a:tcPr>
                </a:tc>
                <a:tc>
                  <a:txBody>
                    <a:bodyPr anchor="ctr"/>
                    <a:lstStyle/>
                    <a:p>
                      <a:pPr marL="0" marR="0" indent="0" algn="ctr" fontAlgn="base" latinLnBrk="1">
                        <a:lnSpc>
                          <a:spcPct val="100000"/>
                        </a:lnSpc>
                        <a:buNone/>
                      </a:pPr>
                      <a:r>
                        <a:rPr 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목</a:t>
                      </a: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solidFill>
                      <a:schemeClr val="bg1">
                        <a:lumMod val="85000"/>
                      </a:schemeClr>
                    </a:solidFill>
                  </a:tcPr>
                </a:tc>
                <a:tc>
                  <a:txBody>
                    <a:bodyPr anchor="ctr"/>
                    <a:lstStyle/>
                    <a:p>
                      <a:pPr marL="0" marR="0" indent="0" algn="ctr" fontAlgn="base" latinLnBrk="1">
                        <a:lnSpc>
                          <a:spcPct val="100000"/>
                        </a:lnSpc>
                        <a:buNone/>
                      </a:pPr>
                      <a:r>
                        <a:rPr lang="en-US" alt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solidFill>
                      <a:schemeClr val="bg1">
                        <a:lumMod val="85000"/>
                      </a:schemeClr>
                    </a:solidFill>
                  </a:tcPr>
                </a:tc>
                <a:tc>
                  <a:txBody>
                    <a:bodyPr anchor="ctr"/>
                    <a:lstStyle/>
                    <a:p>
                      <a:pPr marL="0" marR="0" indent="0" algn="l" fontAlgn="base" latinLnBrk="1">
                        <a:lnSpc>
                          <a:spcPct val="100000"/>
                        </a:lnSpc>
                        <a:buNone/>
                      </a:pPr>
                      <a:r>
                        <a:rPr lang="ko-KR" alt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추석연휴</a:t>
                      </a:r>
                      <a:endParaRPr 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solidFill>
                      <a:schemeClr val="bg1">
                        <a:lumMod val="85000"/>
                      </a:schemeClr>
                    </a:solidFill>
                  </a:tcPr>
                </a:tc>
                <a:tc>
                  <a:txBody>
                    <a:bodyPr anchor="ctr"/>
                    <a:lstStyle/>
                    <a:p>
                      <a:pPr marL="0" marR="0" indent="0" algn="l" fontAlgn="base" latinLnBrk="1">
                        <a:lnSpc>
                          <a:spcPct val="100000"/>
                        </a:lnSpc>
                        <a:buNone/>
                      </a:pPr>
                      <a:r>
                        <a:rPr 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68219361"/>
                  </a:ext>
                </a:extLst>
              </a:tr>
              <a:tr h="151990">
                <a:tc>
                  <a:txBody>
                    <a:bodyPr anchor="ctr"/>
                    <a:lstStyle/>
                    <a:p>
                      <a:pPr marL="0" marR="0" indent="0" algn="ctr" fontAlgn="base" latinLnBrk="0">
                        <a:lnSpc>
                          <a:spcPct val="100000"/>
                        </a:lnSpc>
                        <a:buNone/>
                      </a:pPr>
                      <a:r>
                        <a:rPr lang="en-US" sz="900" kern="0" spc="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2026-09-25</a:t>
                      </a:r>
                      <a:endParaRPr lang="ko-KR" sz="900" kern="0" spc="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chemeClr val="bg1">
                        <a:lumMod val="85000"/>
                      </a:schemeClr>
                    </a:solidFill>
                  </a:tcPr>
                </a:tc>
                <a:tc>
                  <a:txBody>
                    <a:bodyPr anchor="ctr"/>
                    <a:lstStyle/>
                    <a:p>
                      <a:pPr marL="0" marR="0" indent="0" algn="ctr" fontAlgn="base" latinLnBrk="1">
                        <a:lnSpc>
                          <a:spcPct val="100000"/>
                        </a:lnSpc>
                        <a:buNone/>
                      </a:pPr>
                      <a:r>
                        <a:rPr lang="ko-KR" sz="900" kern="0" spc="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a:t>
                      </a: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chemeClr val="bg1">
                        <a:lumMod val="85000"/>
                      </a:schemeClr>
                    </a:solidFill>
                  </a:tcPr>
                </a:tc>
                <a:tc>
                  <a:txBody>
                    <a:bodyPr anchor="ctr"/>
                    <a:lstStyle/>
                    <a:p>
                      <a:pPr marL="0" marR="0" indent="0" algn="ctr" fontAlgn="base" latinLnBrk="1">
                        <a:lnSpc>
                          <a:spcPct val="100000"/>
                        </a:lnSpc>
                        <a:buNone/>
                      </a:pPr>
                      <a:r>
                        <a:rPr lang="en-US" alt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chemeClr val="bg1">
                        <a:lumMod val="85000"/>
                      </a:schemeClr>
                    </a:solidFill>
                  </a:tcPr>
                </a:tc>
                <a:tc>
                  <a:txBody>
                    <a:bodyPr anchor="ctr"/>
                    <a:lstStyle/>
                    <a:p>
                      <a:pPr marL="0" marR="0" indent="0" algn="l" fontAlgn="base" latinLnBrk="1">
                        <a:lnSpc>
                          <a:spcPct val="100000"/>
                        </a:lnSpc>
                        <a:buNone/>
                      </a:pPr>
                      <a:r>
                        <a:rPr 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추석연휴</a:t>
                      </a: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chemeClr val="bg1">
                        <a:lumMod val="85000"/>
                      </a:schemeClr>
                    </a:solidFill>
                  </a:tcPr>
                </a:tc>
                <a:tc>
                  <a:txBody>
                    <a:bodyPr anchor="ctr"/>
                    <a:lstStyle/>
                    <a:p>
                      <a:pPr marL="0" marR="0" indent="0" algn="l" fontAlgn="base" latinLnBrk="1">
                        <a:lnSpc>
                          <a:spcPct val="100000"/>
                        </a:lnSpc>
                        <a:buNone/>
                      </a:pPr>
                      <a:r>
                        <a:rPr 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894745254"/>
                  </a:ext>
                </a:extLst>
              </a:tr>
              <a:tr h="151990">
                <a:tc>
                  <a:txBody>
                    <a:bodyPr anchor="ctr"/>
                    <a:lstStyle/>
                    <a:p>
                      <a:pPr marL="0" marR="0" indent="0" algn="ctr" fontAlgn="base" latinLnBrk="0">
                        <a:lnSpc>
                          <a:spcPct val="100000"/>
                        </a:lnSpc>
                        <a:buNone/>
                      </a:pP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2026-09-28</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lumMod val="95000"/>
                      </a:schemeClr>
                    </a:solidFill>
                  </a:tcPr>
                </a:tc>
                <a:tc>
                  <a:txBody>
                    <a:bodyPr anchor="ctr"/>
                    <a:lstStyle/>
                    <a:p>
                      <a:pPr marL="0" marR="0" indent="0" algn="ctr" fontAlgn="base" latinLnBrk="1">
                        <a:lnSpc>
                          <a:spcPct val="100000"/>
                        </a:lnSpc>
                        <a:buNone/>
                      </a:pPr>
                      <a:r>
                        <a:rPr lang="ko-KR" sz="900" kern="0" spc="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a:t>
                      </a:r>
                      <a:endParaRPr lang="ko-KR" sz="900" kern="0" spc="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lumMod val="95000"/>
                      </a:schemeClr>
                    </a:solidFill>
                  </a:tcPr>
                </a:tc>
                <a:tc>
                  <a:txBody>
                    <a:bodyPr anchor="ctr"/>
                    <a:lstStyle/>
                    <a:p>
                      <a:pPr marL="0" marR="0" indent="0" algn="ctr" fontAlgn="base" latinLnBrk="1">
                        <a:lnSpc>
                          <a:spcPct val="100000"/>
                        </a:lnSpc>
                        <a:buNone/>
                      </a:pP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solidFill>
                  </a:tcPr>
                </a:tc>
                <a:tc>
                  <a:txBody>
                    <a:bodyPr anchor="ctr"/>
                    <a:lstStyle/>
                    <a:p>
                      <a:pPr marL="0" marR="0" indent="0" algn="l" fontAlgn="base" latinLnBrk="1">
                        <a:lnSpc>
                          <a:spcPct val="100000"/>
                        </a:lnSpc>
                        <a:buNone/>
                      </a:pP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solidFill>
                  </a:tcPr>
                </a:tc>
                <a:tc>
                  <a:txBody>
                    <a:bodyPr anchor="ctr"/>
                    <a:lstStyle/>
                    <a:p>
                      <a:pPr marL="0" marR="0" indent="0" algn="l"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solidFill>
                  </a:tcPr>
                </a:tc>
                <a:extLst>
                  <a:ext uri="{0D108BD9-81ED-4DB2-BD59-A6C34878D82A}">
                    <a16:rowId xmlns:a16="http://schemas.microsoft.com/office/drawing/2014/main" val="3336967853"/>
                  </a:ext>
                </a:extLst>
              </a:tr>
              <a:tr h="151990">
                <a:tc>
                  <a:txBody>
                    <a:bodyPr anchor="ctr"/>
                    <a:lstStyle/>
                    <a:p>
                      <a:pPr marL="0" marR="0" indent="0" algn="ctr" fontAlgn="base" latinLnBrk="0">
                        <a:lnSpc>
                          <a:spcPct val="100000"/>
                        </a:lnSpc>
                        <a:buNone/>
                      </a:pP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2026-09-29</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lumMod val="95000"/>
                      </a:schemeClr>
                    </a:solidFill>
                  </a:tcPr>
                </a:tc>
                <a:tc>
                  <a:txBody>
                    <a:bodyPr anchor="ctr"/>
                    <a:lstStyle/>
                    <a:p>
                      <a:pPr marL="0" marR="0" indent="0" algn="ctr" fontAlgn="base" latinLnBrk="1">
                        <a:lnSpc>
                          <a:spcPct val="100000"/>
                        </a:lnSpc>
                        <a:buNone/>
                      </a:pPr>
                      <a:r>
                        <a:rPr lang="ko-KR" sz="900" kern="0" spc="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화</a:t>
                      </a:r>
                      <a:endParaRPr lang="ko-KR" sz="900" kern="0" spc="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lumMod val="95000"/>
                      </a:schemeClr>
                    </a:solidFill>
                  </a:tcPr>
                </a:tc>
                <a:tc>
                  <a:txBody>
                    <a:bodyPr anchor="ctr"/>
                    <a:lstStyle/>
                    <a:p>
                      <a:pPr marL="0" marR="0" indent="0" algn="ctr" fontAlgn="base" latinLnBrk="1">
                        <a:lnSpc>
                          <a:spcPct val="100000"/>
                        </a:lnSpc>
                        <a:buNone/>
                      </a:pPr>
                      <a:r>
                        <a:rPr lang="ko-KR" altLang="en-US" sz="900" kern="0" spc="0"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국토부</a:t>
                      </a:r>
                      <a:r>
                        <a:rPr lang="ko-KR" altLang="en-US"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보고업무</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solidFill>
                  </a:tcPr>
                </a:tc>
                <a:tc>
                  <a:txBody>
                    <a:bodyPr anchor="ctr"/>
                    <a:lstStyle/>
                    <a:p>
                      <a:pPr marL="0" marR="0" indent="0" algn="l" fontAlgn="base" latinLnBrk="1">
                        <a:lnSpc>
                          <a:spcPct val="100000"/>
                        </a:lnSpc>
                        <a:buNone/>
                      </a:pPr>
                      <a:r>
                        <a:rPr lang="ko-KR" altLang="ko-KR" sz="900" kern="0" spc="0"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위수탁</a:t>
                      </a:r>
                      <a:r>
                        <a:rPr lang="ko-KR"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a:t>
                      </a:r>
                      <a:r>
                        <a:rPr lang="en-US"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자산관리</a:t>
                      </a:r>
                      <a:r>
                        <a:rPr lang="en-US"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자산보관</a:t>
                      </a:r>
                      <a:r>
                        <a:rPr lang="en-US"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ko-KR" sz="900" kern="0" spc="0"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사무수탁</a:t>
                      </a:r>
                      <a:r>
                        <a:rPr lang="en-US"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체결완료</a:t>
                      </a:r>
                      <a:endParaRPr lang="ko-KR" alt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solidFill>
                  </a:tcPr>
                </a:tc>
                <a:tc>
                  <a:txBody>
                    <a:bodyPr anchor="ctr"/>
                    <a:lstStyle/>
                    <a:p>
                      <a:pPr marL="0" marR="0" indent="0" algn="l" fontAlgn="base" latinLnBrk="1">
                        <a:lnSpc>
                          <a:spcPct val="100000"/>
                        </a:lnSpc>
                        <a:buNone/>
                      </a:pP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solidFill>
                  </a:tcPr>
                </a:tc>
                <a:extLst>
                  <a:ext uri="{0D108BD9-81ED-4DB2-BD59-A6C34878D82A}">
                    <a16:rowId xmlns:a16="http://schemas.microsoft.com/office/drawing/2014/main" val="3796258425"/>
                  </a:ext>
                </a:extLst>
              </a:tr>
              <a:tr h="151990">
                <a:tc>
                  <a:txBody>
                    <a:bodyPr anchor="ctr"/>
                    <a:lstStyle/>
                    <a:p>
                      <a:pPr marL="0" marR="0" indent="0" algn="ctr" fontAlgn="base" latinLnBrk="0">
                        <a:lnSpc>
                          <a:spcPct val="100000"/>
                        </a:lnSpc>
                        <a:buNone/>
                      </a:pP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2026-09-30</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lumMod val="95000"/>
                      </a:schemeClr>
                    </a:solidFill>
                  </a:tcPr>
                </a:tc>
                <a:tc>
                  <a:txBody>
                    <a:bodyPr anchor="ctr"/>
                    <a:lstStyle/>
                    <a:p>
                      <a:pPr marL="0" marR="0" indent="0" algn="ctr" fontAlgn="base" latinLnBrk="1">
                        <a:lnSpc>
                          <a:spcPct val="100000"/>
                        </a:lnSpc>
                        <a:buNone/>
                      </a:pPr>
                      <a:r>
                        <a:rPr lang="ko-KR" sz="900" kern="0" spc="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a:t>
                      </a:r>
                      <a:endParaRPr lang="ko-KR" sz="900" kern="0" spc="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lumMod val="95000"/>
                      </a:schemeClr>
                    </a:solidFill>
                  </a:tcPr>
                </a:tc>
                <a:tc>
                  <a:txBody>
                    <a:bodyPr anchor="ctr"/>
                    <a:lstStyle/>
                    <a:p>
                      <a:pPr marL="0" marR="0" indent="0" algn="ctr" fontAlgn="base" latinLnBrk="1">
                        <a:lnSpc>
                          <a:spcPct val="100000"/>
                        </a:lnSpc>
                        <a:buNone/>
                      </a:pP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solidFill>
                  </a:tcPr>
                </a:tc>
                <a:tc>
                  <a:txBody>
                    <a:bodyPr anchor="ctr"/>
                    <a:lstStyle/>
                    <a:p>
                      <a:pPr algn="l">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solidFill>
                  </a:tcPr>
                </a:tc>
                <a:tc>
                  <a:txBody>
                    <a:bodyPr anchor="ctr"/>
                    <a:lstStyle/>
                    <a:p>
                      <a:pPr marL="0" marR="0" indent="0" algn="l"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solidFill>
                  </a:tcPr>
                </a:tc>
                <a:extLst>
                  <a:ext uri="{0D108BD9-81ED-4DB2-BD59-A6C34878D82A}">
                    <a16:rowId xmlns:a16="http://schemas.microsoft.com/office/drawing/2014/main" val="248517962"/>
                  </a:ext>
                </a:extLst>
              </a:tr>
              <a:tr h="151990">
                <a:tc>
                  <a:txBody>
                    <a:bodyPr anchor="ctr"/>
                    <a:lstStyle/>
                    <a:p>
                      <a:pPr marL="0" marR="0" indent="0" algn="ctr" fontAlgn="base" latinLnBrk="0">
                        <a:lnSpc>
                          <a:spcPct val="100000"/>
                        </a:lnSpc>
                        <a:buNone/>
                      </a:pPr>
                      <a:r>
                        <a:rPr lang="en-US" sz="900" kern="0" spc="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2026-10-01</a:t>
                      </a:r>
                      <a:endParaRPr lang="ko-KR" sz="900" kern="0" spc="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lumMod val="95000"/>
                      </a:schemeClr>
                    </a:solidFill>
                  </a:tcPr>
                </a:tc>
                <a:tc>
                  <a:txBody>
                    <a:bodyPr anchor="ctr"/>
                    <a:lstStyle/>
                    <a:p>
                      <a:pPr marL="0" marR="0" indent="0" algn="ctr"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목</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lumMod val="95000"/>
                      </a:schemeClr>
                    </a:solidFill>
                  </a:tcPr>
                </a:tc>
                <a:tc>
                  <a:txBody>
                    <a:bodyPr anchor="ctr"/>
                    <a:lstStyle/>
                    <a:p>
                      <a:pPr marL="0" marR="0" indent="0" algn="ctr" fontAlgn="base" latinLnBrk="1">
                        <a:lnSpc>
                          <a:spcPct val="100000"/>
                        </a:lnSpc>
                        <a:buNone/>
                      </a:pP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solidFill>
                  </a:tcPr>
                </a:tc>
                <a:tc>
                  <a:txBody>
                    <a:bodyPr anchor="ctr"/>
                    <a:lstStyle/>
                    <a:p>
                      <a:pPr marL="0" marR="0" indent="0" algn="l" fontAlgn="base" latinLnBrk="1">
                        <a:lnSpc>
                          <a:spcPct val="100000"/>
                        </a:lnSpc>
                        <a:buNone/>
                      </a:pPr>
                      <a:r>
                        <a:rPr lang="ko-KR" altLang="en-US"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영업인가 지원업무</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solidFill>
                  </a:tcPr>
                </a:tc>
                <a:tc>
                  <a:txBody>
                    <a:bodyPr anchor="ctr"/>
                    <a:lstStyle/>
                    <a:p>
                      <a:pPr marL="0" marR="0" indent="0" algn="l" fontAlgn="base" latinLnBrk="1">
                        <a:lnSpc>
                          <a:spcPct val="100000"/>
                        </a:lnSpc>
                        <a:buNone/>
                      </a:pP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bg1">
                          <a:lumMod val="75000"/>
                        </a:schemeClr>
                      </a:solidFill>
                      <a:prstDash val="dash"/>
                      <a:round/>
                      <a:headEnd type="none" w="med" len="med"/>
                      <a:tailEnd type="none" w="med" len="med"/>
                    </a:lnB>
                    <a:solidFill>
                      <a:schemeClr val="bg1"/>
                    </a:solidFill>
                  </a:tcPr>
                </a:tc>
                <a:extLst>
                  <a:ext uri="{0D108BD9-81ED-4DB2-BD59-A6C34878D82A}">
                    <a16:rowId xmlns:a16="http://schemas.microsoft.com/office/drawing/2014/main" val="1060235445"/>
                  </a:ext>
                </a:extLst>
              </a:tr>
              <a:tr h="151990">
                <a:tc>
                  <a:txBody>
                    <a:bodyPr anchor="ctr"/>
                    <a:lstStyle/>
                    <a:p>
                      <a:pPr marL="0" marR="0" indent="0" algn="ctr" fontAlgn="base" latinLnBrk="0">
                        <a:lnSpc>
                          <a:spcPct val="100000"/>
                        </a:lnSpc>
                        <a:buNone/>
                      </a:pPr>
                      <a:r>
                        <a:rPr lang="en-US" sz="900" kern="0" spc="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2026-10-02</a:t>
                      </a:r>
                      <a:endParaRPr lang="ko-KR" sz="900" kern="0" spc="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nchor="ctr"/>
                    <a:lstStyle/>
                    <a:p>
                      <a:pPr marL="0" marR="0" indent="0" algn="ctr"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nchor="ctr"/>
                    <a:lstStyle/>
                    <a:p>
                      <a:pPr algn="ctr">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solidFill>
                  </a:tcPr>
                </a:tc>
                <a:tc>
                  <a:txBody>
                    <a:bodyPr anchor="ctr"/>
                    <a:lstStyle/>
                    <a:p>
                      <a:pPr marL="0" marR="0" indent="0" algn="l"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최종 합의 회람 예정</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solidFill>
                  </a:tcPr>
                </a:tc>
                <a:tc>
                  <a:txBody>
                    <a:bodyPr anchor="ctr"/>
                    <a:lstStyle/>
                    <a:p>
                      <a:pPr marL="0" marR="0" indent="0" algn="l"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최종 합의 회람 예정</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17608628"/>
                  </a:ext>
                </a:extLst>
              </a:tr>
              <a:tr h="151990">
                <a:tc>
                  <a:txBody>
                    <a:bodyPr anchor="ctr"/>
                    <a:lstStyle/>
                    <a:p>
                      <a:pPr marL="0" marR="0" indent="0" algn="ctr" fontAlgn="base" latinLnBrk="0">
                        <a:lnSpc>
                          <a:spcPct val="100000"/>
                        </a:lnSpc>
                        <a:buNone/>
                      </a:pPr>
                      <a:r>
                        <a:rPr lang="en-US"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2026-10-05</a:t>
                      </a:r>
                      <a:endParaRPr 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85000"/>
                      </a:schemeClr>
                    </a:solidFill>
                  </a:tcPr>
                </a:tc>
                <a:tc>
                  <a:txBody>
                    <a:bodyPr anchor="ctr"/>
                    <a:lstStyle/>
                    <a:p>
                      <a:pPr marL="0" marR="0" indent="0" algn="ctr" fontAlgn="base" latinLnBrk="1">
                        <a:lnSpc>
                          <a:spcPct val="100000"/>
                        </a:lnSpc>
                        <a:buNone/>
                      </a:pPr>
                      <a:r>
                        <a:rPr 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a:t>
                      </a: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85000"/>
                      </a:schemeClr>
                    </a:solidFill>
                  </a:tcPr>
                </a:tc>
                <a:tc>
                  <a:txBody>
                    <a:bodyPr anchor="ctr"/>
                    <a:lstStyle/>
                    <a:p>
                      <a:pPr marL="0" marR="0" indent="0" algn="ctr" fontAlgn="base" latinLnBrk="1">
                        <a:lnSpc>
                          <a:spcPct val="100000"/>
                        </a:lnSpc>
                        <a:buNone/>
                      </a:pPr>
                      <a:r>
                        <a:rPr lang="en-US" alt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85000"/>
                      </a:schemeClr>
                    </a:solidFill>
                  </a:tcPr>
                </a:tc>
                <a:tc>
                  <a:txBody>
                    <a:bodyPr anchor="ctr"/>
                    <a:lstStyle/>
                    <a:p>
                      <a:pPr marL="0" marR="0" indent="0" algn="l" fontAlgn="base" latinLnBrk="1">
                        <a:lnSpc>
                          <a:spcPct val="100000"/>
                        </a:lnSpc>
                        <a:buNone/>
                      </a:pPr>
                      <a:r>
                        <a:rPr 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개천절 대체휴무일</a:t>
                      </a: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85000"/>
                      </a:schemeClr>
                    </a:solidFill>
                  </a:tcPr>
                </a:tc>
                <a:tc>
                  <a:txBody>
                    <a:bodyPr anchor="ctr"/>
                    <a:lstStyle/>
                    <a:p>
                      <a:pPr marL="0" marR="0" indent="0" algn="l" fontAlgn="base" latinLnBrk="1">
                        <a:lnSpc>
                          <a:spcPct val="100000"/>
                        </a:lnSpc>
                        <a:buNone/>
                      </a:pPr>
                      <a:r>
                        <a:rPr 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85000"/>
                      </a:schemeClr>
                    </a:solidFill>
                  </a:tcPr>
                </a:tc>
                <a:extLst>
                  <a:ext uri="{0D108BD9-81ED-4DB2-BD59-A6C34878D82A}">
                    <a16:rowId xmlns:a16="http://schemas.microsoft.com/office/drawing/2014/main" val="3210237899"/>
                  </a:ext>
                </a:extLst>
              </a:tr>
              <a:tr h="151990">
                <a:tc>
                  <a:txBody>
                    <a:bodyPr anchor="ctr"/>
                    <a:lstStyle/>
                    <a:p>
                      <a:pPr marL="0" marR="0" indent="0" algn="ctr" fontAlgn="base" latinLnBrk="0">
                        <a:lnSpc>
                          <a:spcPct val="100000"/>
                        </a:lnSpc>
                        <a:buNone/>
                      </a:pP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2026-10-06</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nchor="ctr"/>
                    <a:lstStyle/>
                    <a:p>
                      <a:pPr marL="0" marR="0" indent="0" algn="ctr" fontAlgn="base" latinLnBrk="1">
                        <a:lnSpc>
                          <a:spcPct val="100000"/>
                        </a:lnSpc>
                        <a:buNone/>
                      </a:pPr>
                      <a:r>
                        <a:rPr lang="ko-KR" sz="900" kern="0" spc="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화</a:t>
                      </a:r>
                      <a:endParaRPr lang="ko-KR" sz="900" kern="0" spc="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nchor="ctr"/>
                    <a:lstStyle/>
                    <a:p>
                      <a:pPr marL="0" marR="0" indent="0" algn="ctr" fontAlgn="base" latinLnBrk="1">
                        <a:lnSpc>
                          <a:spcPct val="100000"/>
                        </a:lnSpc>
                        <a:buNone/>
                      </a:pP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nchor="ctr"/>
                    <a:lstStyle/>
                    <a:p>
                      <a:pPr marL="0" marR="0" indent="0" algn="l" fontAlgn="base" latinLnBrk="1">
                        <a:lnSpc>
                          <a:spcPct val="100000"/>
                        </a:lnSpc>
                        <a:buNone/>
                      </a:pPr>
                      <a:r>
                        <a:rPr lang="ko-KR" alt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매매계약서 합의</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nchor="ctr"/>
                    <a:lstStyle/>
                    <a:p>
                      <a:pPr marL="0" marR="0" indent="0" algn="l"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사모사채 인수확약서</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(LOC)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예정</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4251439993"/>
                  </a:ext>
                </a:extLst>
              </a:tr>
              <a:tr h="151990">
                <a:tc>
                  <a:txBody>
                    <a:bodyPr anchor="ctr"/>
                    <a:lstStyle/>
                    <a:p>
                      <a:pPr marL="0" marR="0" indent="0" algn="ctr" fontAlgn="base" latinLnBrk="0">
                        <a:lnSpc>
                          <a:spcPct val="100000"/>
                        </a:lnSpc>
                        <a:buNone/>
                      </a:pPr>
                      <a:r>
                        <a:rPr lang="en-US" sz="900" kern="0" spc="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2026-10-07</a:t>
                      </a:r>
                      <a:endParaRPr lang="ko-KR" sz="900" kern="0" spc="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nchor="ctr"/>
                    <a:lstStyle/>
                    <a:p>
                      <a:pPr marL="0" marR="0" indent="0" algn="ctr" fontAlgn="base" latinLnBrk="1">
                        <a:lnSpc>
                          <a:spcPct val="100000"/>
                        </a:lnSpc>
                        <a:buNone/>
                      </a:pPr>
                      <a:r>
                        <a:rPr lang="ko-KR" sz="900" kern="0" spc="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a:t>
                      </a: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nchor="ctr"/>
                    <a:lstStyle/>
                    <a:p>
                      <a:pPr marL="0" marR="0" indent="0" algn="ctr" fontAlgn="base" latinLnBrk="1">
                        <a:lnSpc>
                          <a:spcPct val="100000"/>
                        </a:lnSpc>
                        <a:buNone/>
                      </a:pPr>
                      <a:endParaRPr lang="ko-KR" sz="900" kern="0" spc="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nchor="ctr"/>
                    <a:lstStyle/>
                    <a:p>
                      <a:pPr marL="0" marR="0" indent="0" algn="l" fontAlgn="base" latinLnBrk="1">
                        <a:lnSpc>
                          <a:spcPct val="100000"/>
                        </a:lnSpc>
                        <a:buNone/>
                      </a:pPr>
                      <a:r>
                        <a:rPr lang="ko-KR" sz="900" kern="0" spc="0"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내부 투자심의위원회 개최</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nchor="ctr"/>
                    <a:lstStyle/>
                    <a:p>
                      <a:pPr marL="0" marR="0" indent="0" algn="l" fontAlgn="base" latinLnBrk="1">
                        <a:lnSpc>
                          <a:spcPct val="100000"/>
                        </a:lnSpc>
                        <a:buNone/>
                      </a:pPr>
                      <a:r>
                        <a:rPr lang="ko-KR" sz="900" kern="0" spc="0"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내부 투자심의위원회 개최</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3269043425"/>
                  </a:ext>
                </a:extLst>
              </a:tr>
              <a:tr h="151990">
                <a:tc>
                  <a:txBody>
                    <a:bodyPr anchor="ctr"/>
                    <a:lstStyle/>
                    <a:p>
                      <a:pPr marL="0" marR="0" indent="0" algn="ctr" fontAlgn="base" latinLnBrk="0">
                        <a:lnSpc>
                          <a:spcPct val="100000"/>
                        </a:lnSpc>
                        <a:buNone/>
                      </a:pPr>
                      <a:r>
                        <a:rPr lang="en-US" sz="900" kern="0" spc="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2026-10-08</a:t>
                      </a:r>
                      <a:endParaRPr lang="ko-KR" sz="900" kern="0" spc="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nchor="ctr"/>
                    <a:lstStyle/>
                    <a:p>
                      <a:pPr marL="0" marR="0" indent="0" algn="ctr" fontAlgn="base" latinLnBrk="1">
                        <a:lnSpc>
                          <a:spcPct val="100000"/>
                        </a:lnSpc>
                        <a:buNone/>
                      </a:pPr>
                      <a:r>
                        <a:rPr lang="ko-KR" sz="900" kern="0" spc="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목</a:t>
                      </a: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nchor="ctr"/>
                    <a:lstStyle/>
                    <a:p>
                      <a:pPr marL="0" marR="0" lvl="0" indent="0" algn="ctr" defTabSz="1007943" rtl="0" eaLnBrk="1" fontAlgn="auto" latinLnBrk="1" hangingPunct="1">
                        <a:lnSpc>
                          <a:spcPct val="100000"/>
                        </a:lnSpc>
                        <a:spcBef>
                          <a:spcPts val="0"/>
                        </a:spcBef>
                        <a:spcAft>
                          <a:spcPts val="0"/>
                        </a:spcAft>
                        <a:buClrTx/>
                        <a:buSzTx/>
                        <a:buFontTx/>
                        <a:buNone/>
                        <a:tabLst/>
                        <a:defRPr/>
                      </a:pPr>
                      <a:endParaRPr lang="ko-KR" altLang="ko-KR" sz="900" kern="0" spc="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nchor="ctr"/>
                    <a:lstStyle/>
                    <a:p>
                      <a:pPr marL="0" marR="0" lvl="0" indent="0" algn="l" defTabSz="1007943" rtl="0" eaLnBrk="1" fontAlgn="base" latinLnBrk="1" hangingPunct="1">
                        <a:lnSpc>
                          <a:spcPct val="100000"/>
                        </a:lnSpc>
                        <a:spcBef>
                          <a:spcPts val="0"/>
                        </a:spcBef>
                        <a:spcAft>
                          <a:spcPts val="0"/>
                        </a:spcAft>
                        <a:buClrTx/>
                        <a:buSzTx/>
                        <a:buFontTx/>
                        <a:buNone/>
                        <a:tabLst/>
                        <a:defRPr/>
                      </a:pPr>
                      <a:r>
                        <a:rPr lang="ko-KR"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대출약정서 합의</a:t>
                      </a:r>
                      <a:endParaRPr lang="ko-KR" sz="900" kern="0" spc="0" dirty="0">
                        <a:solidFill>
                          <a:srgbClr val="0000FF"/>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nchor="ctr"/>
                    <a:lstStyle/>
                    <a:p>
                      <a:pPr algn="l">
                        <a:lnSpc>
                          <a:spcPct val="100000"/>
                        </a:lnSpc>
                        <a:buNone/>
                      </a:pPr>
                      <a:endParaRPr lang="ko-KR" sz="900" dirty="0">
                        <a:solidFill>
                          <a:srgbClr val="0000FF"/>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411330696"/>
                  </a:ext>
                </a:extLst>
              </a:tr>
              <a:tr h="151990">
                <a:tc>
                  <a:txBody>
                    <a:bodyPr anchor="ctr"/>
                    <a:lstStyle/>
                    <a:p>
                      <a:pPr marL="0" marR="0" indent="0" algn="ctr" fontAlgn="base" latinLnBrk="0">
                        <a:lnSpc>
                          <a:spcPct val="100000"/>
                        </a:lnSpc>
                        <a:buNone/>
                      </a:pPr>
                      <a:r>
                        <a:rPr lang="en-US"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2026-10-09</a:t>
                      </a:r>
                      <a:endParaRPr 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tc>
                  <a:txBody>
                    <a:bodyPr anchor="ctr"/>
                    <a:lstStyle/>
                    <a:p>
                      <a:pPr marL="0" marR="0" indent="0" algn="ctr" fontAlgn="base" latinLnBrk="1">
                        <a:lnSpc>
                          <a:spcPct val="100000"/>
                        </a:lnSpc>
                        <a:buNone/>
                      </a:pPr>
                      <a:r>
                        <a:rPr 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a:t>
                      </a: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tc>
                  <a:txBody>
                    <a:bodyPr anchor="ctr"/>
                    <a:lstStyle/>
                    <a:p>
                      <a:pPr algn="ctr">
                        <a:lnSpc>
                          <a:spcPct val="100000"/>
                        </a:lnSpc>
                        <a:buNone/>
                      </a:pPr>
                      <a:r>
                        <a:rPr lang="en-US" altLang="ko-KR" sz="90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sz="90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tc>
                  <a:txBody>
                    <a:bodyPr anchor="ctr"/>
                    <a:lstStyle/>
                    <a:p>
                      <a:pPr marL="0" marR="0" indent="0" algn="l" fontAlgn="base" latinLnBrk="1">
                        <a:lnSpc>
                          <a:spcPct val="100000"/>
                        </a:lnSpc>
                        <a:buNone/>
                      </a:pPr>
                      <a:r>
                        <a:rPr lang="ko-KR" sz="900" kern="0" spc="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한글날</a:t>
                      </a: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tc>
                  <a:txBody>
                    <a:bodyPr anchor="ctr"/>
                    <a:lstStyle/>
                    <a:p>
                      <a:pPr algn="l">
                        <a:lnSpc>
                          <a:spcPct val="100000"/>
                        </a:lnSpc>
                        <a:buNone/>
                      </a:pPr>
                      <a:endParaRPr lang="ko-KR" sz="900" dirty="0">
                        <a:solidFill>
                          <a:schemeClr val="tx1">
                            <a:lumMod val="65000"/>
                            <a:lumOff val="35000"/>
                          </a:schemeClr>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46778699"/>
                  </a:ext>
                </a:extLst>
              </a:tr>
              <a:tr h="151990">
                <a:tc>
                  <a:txBody>
                    <a:bodyPr anchor="ctr"/>
                    <a:lstStyle/>
                    <a:p>
                      <a:pPr marL="0" marR="0" indent="0" algn="ctr" fontAlgn="base" latinLnBrk="0">
                        <a:lnSpc>
                          <a:spcPct val="100000"/>
                        </a:lnSpc>
                        <a:buNone/>
                      </a:pP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2026-10-12</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nchor="ctr"/>
                    <a:lstStyle/>
                    <a:p>
                      <a:pPr marL="0" marR="0" indent="0" algn="ctr"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nchor="ctr"/>
                    <a:lstStyle/>
                    <a:p>
                      <a:pPr marL="0" marR="0" lvl="0" indent="0" algn="ctr" defTabSz="1007943" rtl="0" eaLnBrk="1" fontAlgn="base" latinLnBrk="1" hangingPunct="1">
                        <a:lnSpc>
                          <a:spcPct val="100000"/>
                        </a:lnSpc>
                        <a:spcBef>
                          <a:spcPts val="0"/>
                        </a:spcBef>
                        <a:spcAft>
                          <a:spcPts val="0"/>
                        </a:spcAft>
                        <a:buClrTx/>
                        <a:buSzTx/>
                        <a:buFontTx/>
                        <a:buNone/>
                        <a:tabLst/>
                        <a:defRPr/>
                      </a:pPr>
                      <a:r>
                        <a:rPr lang="ko-KR" altLang="ko-KR" sz="900" kern="0" spc="0" dirty="0">
                          <a:solidFill>
                            <a:srgbClr val="0000FF"/>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영업인가 완료목표일</a:t>
                      </a: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nchor="ctr"/>
                    <a:lstStyle/>
                    <a:p>
                      <a:pPr algn="l">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nchor="ctr"/>
                    <a:lstStyle/>
                    <a:p>
                      <a:pPr marL="0" marR="0" indent="0" algn="l" fontAlgn="base" latinLnBrk="1">
                        <a:lnSpc>
                          <a:spcPct val="100000"/>
                        </a:lnSpc>
                        <a:buNone/>
                      </a:pP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 투자자문위원회 개최</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3008051875"/>
                  </a:ext>
                </a:extLst>
              </a:tr>
              <a:tr h="151990">
                <a:tc>
                  <a:txBody>
                    <a:bodyPr anchor="ctr"/>
                    <a:lstStyle/>
                    <a:p>
                      <a:pPr marL="0" marR="0" indent="0" algn="ctr" fontAlgn="base" latinLnBrk="0">
                        <a:lnSpc>
                          <a:spcPct val="100000"/>
                        </a:lnSpc>
                        <a:buNone/>
                      </a:pP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2026-10-13</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nchor="ctr"/>
                    <a:lstStyle/>
                    <a:p>
                      <a:pPr marL="0" marR="0" indent="0" algn="ctr"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화</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nchor="ctr"/>
                    <a:lstStyle/>
                    <a:p>
                      <a:pPr algn="ctr">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nchor="ctr"/>
                    <a:lstStyle/>
                    <a:p>
                      <a:pPr algn="l">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nchor="ctr"/>
                    <a:lstStyle/>
                    <a:p>
                      <a:pPr algn="l">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1287283137"/>
                  </a:ext>
                </a:extLst>
              </a:tr>
              <a:tr h="558309">
                <a:tc>
                  <a:txBody>
                    <a:bodyPr anchor="ctr"/>
                    <a:lstStyle/>
                    <a:p>
                      <a:pPr marL="0" marR="0" indent="0" algn="ctr" fontAlgn="base" latinLnBrk="0">
                        <a:lnSpc>
                          <a:spcPct val="100000"/>
                        </a:lnSpc>
                        <a:buNone/>
                      </a:pPr>
                      <a:r>
                        <a:rPr lang="en-US" sz="9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2026-10-14</a:t>
                      </a:r>
                      <a:endParaRPr lang="ko-KR" sz="900" kern="0" spc="0"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nchor="ctr"/>
                    <a:lstStyle/>
                    <a:p>
                      <a:pPr marL="0" marR="0" indent="0" algn="ctr" fontAlgn="base" latinLnBrk="1">
                        <a:lnSpc>
                          <a:spcPct val="100000"/>
                        </a:lnSpc>
                        <a:buNone/>
                      </a:pPr>
                      <a:r>
                        <a:rPr lang="ko-KR" sz="9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수</a:t>
                      </a:r>
                      <a:endParaRPr lang="ko-KR" sz="900" kern="0" spc="0"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nchor="ctr"/>
                    <a:lstStyle/>
                    <a:p>
                      <a:pPr marL="0" marR="0" indent="0" algn="ctr" fontAlgn="base" latinLnBrk="1">
                        <a:lnSpc>
                          <a:spcPct val="150000"/>
                        </a:lnSpc>
                        <a:buNone/>
                      </a:pPr>
                      <a:endParaRPr lang="ko-KR" sz="900" kern="0" spc="0"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nchor="ctr"/>
                    <a:lstStyle/>
                    <a:p>
                      <a:pPr marL="0" marR="0" indent="0" algn="l" fontAlgn="base" latinLnBrk="1">
                        <a:lnSpc>
                          <a:spcPct val="150000"/>
                        </a:lnSpc>
                        <a:buNone/>
                      </a:pPr>
                      <a:r>
                        <a:rPr lang="ko-KR" sz="9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이사회 및 주주총회 개최 </a:t>
                      </a:r>
                    </a:p>
                    <a:p>
                      <a:pPr marL="0" marR="0" indent="0" algn="l" fontAlgn="base" latinLnBrk="1">
                        <a:lnSpc>
                          <a:spcPct val="150000"/>
                        </a:lnSpc>
                        <a:buNone/>
                      </a:pP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신주발행 승인의 건</a:t>
                      </a:r>
                      <a:r>
                        <a:rPr lang="en-US"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매매계약 체결의 건</a:t>
                      </a:r>
                    </a:p>
                    <a:p>
                      <a:pPr marL="0" marR="0" indent="0" algn="l" fontAlgn="base" latinLnBrk="1">
                        <a:lnSpc>
                          <a:spcPct val="150000"/>
                        </a:lnSpc>
                        <a:buNone/>
                      </a:pPr>
                      <a:r>
                        <a:rPr lang="en-US"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체결의 건</a:t>
                      </a:r>
                      <a:r>
                        <a:rPr lang="en-US"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대출약정 체결의 건</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nchor="ctr"/>
                    <a:lstStyle/>
                    <a:p>
                      <a:pPr marL="0" marR="0" indent="0" algn="l" fontAlgn="base" latinLnBrk="1">
                        <a:lnSpc>
                          <a:spcPct val="150000"/>
                        </a:lnSpc>
                        <a:buNone/>
                      </a:pPr>
                      <a:r>
                        <a:rPr lang="en-US" sz="9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sz="9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이사회 개최</a:t>
                      </a:r>
                    </a:p>
                    <a:p>
                      <a:pPr marL="0" marR="0" indent="0" algn="l" fontAlgn="base" latinLnBrk="1">
                        <a:lnSpc>
                          <a:spcPct val="150000"/>
                        </a:lnSpc>
                        <a:buNone/>
                      </a:pPr>
                      <a:r>
                        <a:rPr lang="en-US"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체결의 건</a:t>
                      </a:r>
                      <a:r>
                        <a:rPr lang="en-US"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매입확약서 제출의 건</a:t>
                      </a:r>
                    </a:p>
                    <a:p>
                      <a:pPr marL="0" marR="0" indent="0" algn="l" fontAlgn="base" latinLnBrk="1">
                        <a:lnSpc>
                          <a:spcPct val="150000"/>
                        </a:lnSpc>
                        <a:buNone/>
                      </a:pPr>
                      <a:r>
                        <a:rPr lang="en-US"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사모사채</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(140</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발행 및 인수계약 체결의 건</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3841275314"/>
                  </a:ext>
                </a:extLst>
              </a:tr>
              <a:tr h="151990">
                <a:tc>
                  <a:txBody>
                    <a:bodyPr anchor="ctr"/>
                    <a:lstStyle/>
                    <a:p>
                      <a:pPr marL="0" marR="0" indent="0" algn="ctr" fontAlgn="base" latinLnBrk="0">
                        <a:lnSpc>
                          <a:spcPct val="100000"/>
                        </a:lnSpc>
                        <a:buNone/>
                      </a:pPr>
                      <a:r>
                        <a:rPr lang="en-US" sz="900" kern="0" spc="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2026-10-15</a:t>
                      </a:r>
                      <a:endParaRPr lang="ko-KR" sz="900" kern="0" spc="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nchor="ctr"/>
                    <a:lstStyle/>
                    <a:p>
                      <a:pPr marL="0" marR="0" indent="0" algn="ctr"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목</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nchor="ctr"/>
                    <a:lstStyle/>
                    <a:p>
                      <a:pPr algn="ctr">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nchor="ctr"/>
                    <a:lstStyle/>
                    <a:p>
                      <a:pPr algn="l">
                        <a:lnSpc>
                          <a:spcPct val="100000"/>
                        </a:lnSpc>
                        <a:buNone/>
                      </a:pPr>
                      <a:r>
                        <a:rPr lang="ko-KR" altLang="en-US"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매매계약 체결</a:t>
                      </a: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nchor="ctr"/>
                    <a:lstStyle/>
                    <a:p>
                      <a:pPr algn="l">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1316822231"/>
                  </a:ext>
                </a:extLst>
              </a:tr>
              <a:tr h="151990">
                <a:tc>
                  <a:txBody>
                    <a:bodyPr anchor="ctr"/>
                    <a:lstStyle/>
                    <a:p>
                      <a:pPr marL="0" marR="0" indent="0" algn="ctr" fontAlgn="base" latinLnBrk="0">
                        <a:lnSpc>
                          <a:spcPct val="100000"/>
                        </a:lnSpc>
                        <a:buNone/>
                      </a:pP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2026-10-16</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nchor="ctr"/>
                    <a:lstStyle/>
                    <a:p>
                      <a:pPr marL="0" marR="0" indent="0" algn="ctr"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nchor="ctr"/>
                    <a:lstStyle/>
                    <a:p>
                      <a:pPr marL="0" marR="0" indent="0" algn="ctr" fontAlgn="base" latinLnBrk="1">
                        <a:lnSpc>
                          <a:spcPct val="100000"/>
                        </a:lnSpc>
                        <a:buNone/>
                      </a:pP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solidFill>
                  </a:tcPr>
                </a:tc>
                <a:tc>
                  <a:txBody>
                    <a:bodyPr anchor="ctr"/>
                    <a:lstStyle/>
                    <a:p>
                      <a:pPr marL="0" marR="0" indent="0" algn="l"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및 대출약정 체결</a:t>
                      </a:r>
                      <a:endParaRPr lang="en-US" alt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solidFill>
                  </a:tcPr>
                </a:tc>
                <a:tc>
                  <a:txBody>
                    <a:bodyPr anchor="ctr"/>
                    <a:lstStyle/>
                    <a:p>
                      <a:pPr marL="0" marR="0" indent="0" algn="l"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 및 매입확약서 제출</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72484140"/>
                  </a:ext>
                </a:extLst>
              </a:tr>
              <a:tr h="151990">
                <a:tc>
                  <a:txBody>
                    <a:bodyPr anchor="ctr"/>
                    <a:lstStyle/>
                    <a:p>
                      <a:pPr marL="0" marR="0" indent="0" algn="ctr" fontAlgn="base" latinLnBrk="0">
                        <a:lnSpc>
                          <a:spcPct val="100000"/>
                        </a:lnSpc>
                        <a:buNone/>
                      </a:pP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2026-10-19</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nchor="ctr"/>
                    <a:lstStyle/>
                    <a:p>
                      <a:pPr marL="0" marR="0" indent="0" algn="ctr"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nchor="ctr"/>
                    <a:lstStyle/>
                    <a:p>
                      <a:pPr algn="ctr">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nchor="ctr"/>
                    <a:lstStyle/>
                    <a:p>
                      <a:pPr marL="0" marR="0" indent="0" algn="l" fontAlgn="base" latinLnBrk="1">
                        <a:lnSpc>
                          <a:spcPct val="100000"/>
                        </a:lnSpc>
                        <a:buNone/>
                      </a:pP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nchor="ctr"/>
                    <a:lstStyle/>
                    <a:p>
                      <a:pPr algn="l">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3351962818"/>
                  </a:ext>
                </a:extLst>
              </a:tr>
              <a:tr h="151990">
                <a:tc>
                  <a:txBody>
                    <a:bodyPr anchor="ctr"/>
                    <a:lstStyle/>
                    <a:p>
                      <a:pPr marL="0" marR="0" indent="0" algn="ctr" fontAlgn="base" latinLnBrk="0">
                        <a:lnSpc>
                          <a:spcPct val="100000"/>
                        </a:lnSpc>
                        <a:buNone/>
                      </a:pP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2026-10-20</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nchor="ctr"/>
                    <a:lstStyle/>
                    <a:p>
                      <a:pPr marL="0" marR="0" indent="0" algn="ctr"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화</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nchor="ctr"/>
                    <a:lstStyle/>
                    <a:p>
                      <a:pPr marL="0" marR="0" indent="0" algn="ctr" fontAlgn="base" latinLnBrk="1">
                        <a:lnSpc>
                          <a:spcPct val="100000"/>
                        </a:lnSpc>
                        <a:buNone/>
                      </a:pP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nchor="ctr"/>
                    <a:lstStyle/>
                    <a:p>
                      <a:pPr algn="l">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nchor="ctr"/>
                    <a:lstStyle/>
                    <a:p>
                      <a:pPr marL="0" marR="0" indent="0" algn="l"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1312090969"/>
                  </a:ext>
                </a:extLst>
              </a:tr>
              <a:tr h="151990">
                <a:tc>
                  <a:txBody>
                    <a:bodyPr anchor="ctr"/>
                    <a:lstStyle/>
                    <a:p>
                      <a:pPr marL="0" marR="0" indent="0" algn="ctr" fontAlgn="base" latinLnBrk="0">
                        <a:lnSpc>
                          <a:spcPct val="100000"/>
                        </a:lnSpc>
                        <a:buNone/>
                      </a:pPr>
                      <a:r>
                        <a:rPr lang="en-US" sz="900" kern="0" spc="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2026-10-21</a:t>
                      </a:r>
                      <a:endParaRPr lang="ko-KR" sz="900" kern="0" spc="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nchor="ctr"/>
                    <a:lstStyle/>
                    <a:p>
                      <a:pPr marL="0" marR="0" indent="0" algn="ctr"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nchor="ctr"/>
                    <a:lstStyle/>
                    <a:p>
                      <a:pPr marL="0" marR="0" indent="0" algn="ctr" fontAlgn="base" latinLnBrk="1">
                        <a:lnSpc>
                          <a:spcPct val="100000"/>
                        </a:lnSpc>
                        <a:buNone/>
                      </a:pP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nchor="ctr"/>
                    <a:lstStyle/>
                    <a:p>
                      <a:pPr marL="0" marR="0" indent="0" algn="l" fontAlgn="base" latinLnBrk="1">
                        <a:lnSpc>
                          <a:spcPct val="100000"/>
                        </a:lnSpc>
                        <a:buNone/>
                      </a:pPr>
                      <a:r>
                        <a:rPr lang="ko-KR" sz="900" kern="0" spc="0"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납입 완료</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대출금 인출요청서 제출</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tc>
                  <a:txBody>
                    <a:bodyPr anchor="ctr"/>
                    <a:lstStyle/>
                    <a:p>
                      <a:pPr marL="0" marR="0" indent="0" algn="l" fontAlgn="base" latinLnBrk="1">
                        <a:lnSpc>
                          <a:spcPct val="100000"/>
                        </a:lnSpc>
                        <a:buNone/>
                      </a:pPr>
                      <a:r>
                        <a:rPr lang="ko-KR" sz="900" kern="0" spc="0"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납입</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2520093402"/>
                  </a:ext>
                </a:extLst>
              </a:tr>
              <a:tr h="151990">
                <a:tc>
                  <a:txBody>
                    <a:bodyPr anchor="ctr"/>
                    <a:lstStyle/>
                    <a:p>
                      <a:pPr marL="0" marR="0" indent="0" algn="ctr" fontAlgn="base" latinLnBrk="0">
                        <a:lnSpc>
                          <a:spcPct val="100000"/>
                        </a:lnSpc>
                        <a:buNone/>
                      </a:pPr>
                      <a:r>
                        <a:rPr lang="en-US" sz="9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2026-10-22</a:t>
                      </a:r>
                      <a:endParaRPr lang="ko-KR" sz="900" kern="0" spc="0"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accent2">
                        <a:lumMod val="20000"/>
                        <a:lumOff val="80000"/>
                      </a:schemeClr>
                    </a:solidFill>
                  </a:tcPr>
                </a:tc>
                <a:tc>
                  <a:txBody>
                    <a:bodyPr anchor="ctr"/>
                    <a:lstStyle/>
                    <a:p>
                      <a:pPr marL="0" marR="0" indent="0" algn="ctr" fontAlgn="base" latinLnBrk="1">
                        <a:lnSpc>
                          <a:spcPct val="100000"/>
                        </a:lnSpc>
                        <a:buNone/>
                      </a:pPr>
                      <a:r>
                        <a:rPr lang="ko-KR" sz="9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목</a:t>
                      </a:r>
                      <a:endParaRPr lang="ko-KR" sz="900" kern="0" spc="0"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accent2">
                        <a:lumMod val="20000"/>
                        <a:lumOff val="80000"/>
                      </a:schemeClr>
                    </a:solidFill>
                  </a:tcPr>
                </a:tc>
                <a:tc>
                  <a:txBody>
                    <a:bodyPr anchor="ctr"/>
                    <a:lstStyle/>
                    <a:p>
                      <a:pPr marL="0" marR="0" indent="0" algn="ctr" fontAlgn="base" latinLnBrk="1">
                        <a:lnSpc>
                          <a:spcPct val="100000"/>
                        </a:lnSpc>
                        <a:buNone/>
                      </a:pPr>
                      <a:endParaRPr lang="ko-KR" sz="900" kern="0" spc="0"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accent2">
                        <a:lumMod val="20000"/>
                        <a:lumOff val="80000"/>
                      </a:schemeClr>
                    </a:solidFill>
                  </a:tcPr>
                </a:tc>
                <a:tc>
                  <a:txBody>
                    <a:bodyPr anchor="ctr"/>
                    <a:lstStyle/>
                    <a:p>
                      <a:pPr marL="0" marR="0" indent="0" algn="l" fontAlgn="base" latinLnBrk="1">
                        <a:lnSpc>
                          <a:spcPct val="100000"/>
                        </a:lnSpc>
                        <a:buNone/>
                      </a:pPr>
                      <a:r>
                        <a:rPr lang="ko-KR" sz="9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대출차입금 인출 및 잔금 지급</a:t>
                      </a:r>
                      <a:r>
                        <a:rPr lang="en-US" sz="9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sz="900" kern="0" spc="0"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소유권이전 완료</a:t>
                      </a:r>
                      <a:endParaRPr lang="ko-KR" sz="900" kern="0" spc="0"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accent2">
                        <a:lumMod val="20000"/>
                        <a:lumOff val="80000"/>
                      </a:schemeClr>
                    </a:solidFill>
                  </a:tcPr>
                </a:tc>
                <a:tc>
                  <a:txBody>
                    <a:bodyPr anchor="ctr"/>
                    <a:lstStyle/>
                    <a:p>
                      <a:pPr marL="0" marR="0" indent="0" algn="l"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변경보고</a:t>
                      </a:r>
                      <a:r>
                        <a:rPr lang="en-US"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예정</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bg1">
                          <a:lumMod val="75000"/>
                        </a:schemeClr>
                      </a:solidFill>
                      <a:prstDash val="sysDash"/>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882659298"/>
                  </a:ext>
                </a:extLst>
              </a:tr>
              <a:tr h="151990">
                <a:tc>
                  <a:txBody>
                    <a:bodyPr anchor="ctr"/>
                    <a:lstStyle/>
                    <a:p>
                      <a:pPr marL="0" marR="0" indent="0" algn="ctr" fontAlgn="base" latinLnBrk="0">
                        <a:lnSpc>
                          <a:spcPct val="100000"/>
                        </a:lnSpc>
                        <a:buNone/>
                      </a:pP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2026-10-23</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nchor="ctr"/>
                    <a:lstStyle/>
                    <a:p>
                      <a:pPr marL="0" marR="0" indent="0" algn="ctr"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nchor="ctr"/>
                    <a:lstStyle/>
                    <a:p>
                      <a:pPr marL="0" marR="0" indent="0" algn="ctr" fontAlgn="base" latinLnBrk="1">
                        <a:lnSpc>
                          <a:spcPct val="100000"/>
                        </a:lnSpc>
                        <a:buNone/>
                      </a:pP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solidFill>
                  </a:tcPr>
                </a:tc>
                <a:tc>
                  <a:txBody>
                    <a:bodyPr anchor="ctr"/>
                    <a:lstStyle/>
                    <a:p>
                      <a:pPr algn="l">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solidFill>
                  </a:tcPr>
                </a:tc>
                <a:tc>
                  <a:txBody>
                    <a:bodyPr anchor="ctr"/>
                    <a:lstStyle/>
                    <a:p>
                      <a:pPr marL="0" marR="0" indent="0" algn="l"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ysDash"/>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40394384"/>
                  </a:ext>
                </a:extLst>
              </a:tr>
              <a:tr h="151990">
                <a:tc>
                  <a:txBody>
                    <a:bodyPr anchor="ctr"/>
                    <a:lstStyle/>
                    <a:p>
                      <a:pPr marL="0" marR="0" indent="0" algn="ctr" fontAlgn="base" latinLnBrk="0">
                        <a:lnSpc>
                          <a:spcPct val="100000"/>
                        </a:lnSpc>
                        <a:buNone/>
                      </a:pP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2026-10-28</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solidFill>
                      <a:schemeClr val="bg1">
                        <a:lumMod val="95000"/>
                      </a:schemeClr>
                    </a:solidFill>
                  </a:tcPr>
                </a:tc>
                <a:tc>
                  <a:txBody>
                    <a:bodyPr anchor="ctr"/>
                    <a:lstStyle/>
                    <a:p>
                      <a:pPr marL="0" marR="0" indent="0" algn="ctr"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solidFill>
                      <a:schemeClr val="bg1">
                        <a:lumMod val="95000"/>
                      </a:schemeClr>
                    </a:solidFill>
                  </a:tcPr>
                </a:tc>
                <a:tc>
                  <a:txBody>
                    <a:bodyPr anchor="ctr"/>
                    <a:lstStyle/>
                    <a:p>
                      <a:pPr algn="ctr">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solidFill>
                      <a:schemeClr val="bg1"/>
                    </a:solidFill>
                  </a:tcPr>
                </a:tc>
                <a:tc>
                  <a:txBody>
                    <a:bodyPr anchor="ctr"/>
                    <a:lstStyle/>
                    <a:p>
                      <a:pPr marL="0" marR="0" indent="0" algn="l"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양해각서 독점적 협상기간 만료</a:t>
                      </a:r>
                      <a:r>
                        <a:rPr lang="ko-KR" alt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예정일</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solidFill>
                      <a:schemeClr val="bg1"/>
                    </a:solidFill>
                  </a:tcPr>
                </a:tc>
                <a:tc>
                  <a:txBody>
                    <a:bodyPr anchor="ctr"/>
                    <a:lstStyle/>
                    <a:p>
                      <a:pPr algn="l">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3644029616"/>
                  </a:ext>
                </a:extLst>
              </a:tr>
              <a:tr h="151990">
                <a:tc>
                  <a:txBody>
                    <a:bodyPr anchor="ctr"/>
                    <a:lstStyle/>
                    <a:p>
                      <a:pPr marL="0" marR="0" indent="0" algn="ctr" fontAlgn="base" latinLnBrk="0">
                        <a:lnSpc>
                          <a:spcPct val="100000"/>
                        </a:lnSpc>
                        <a:buNone/>
                      </a:pPr>
                      <a:r>
                        <a:rPr lang="en-US" sz="900" kern="0" spc="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2026-10-30</a:t>
                      </a:r>
                      <a:endParaRPr lang="ko-KR" sz="900" kern="0" spc="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12700" cmpd="sng">
                      <a:noFill/>
                    </a:lnL>
                    <a:lnR w="3175" cap="flat" cmpd="sng" algn="ctr">
                      <a:solidFill>
                        <a:schemeClr val="tx1">
                          <a:lumMod val="50000"/>
                          <a:lumOff val="50000"/>
                        </a:schemeClr>
                      </a:solidFill>
                      <a:prstDash val="solid"/>
                      <a:round/>
                      <a:headEnd type="none" w="med" len="med"/>
                      <a:tailEnd type="none" w="med" len="med"/>
                    </a:lnR>
                    <a:lnT w="3175" cap="flat" cmpd="sng" algn="ctr">
                      <a:noFill/>
                      <a:prstDash val="sysDash"/>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nchor="ctr"/>
                    <a:lstStyle/>
                    <a:p>
                      <a:pPr marL="0" marR="0" indent="0" algn="ctr"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noFill/>
                      <a:prstDash val="sysDash"/>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nchor="ctr"/>
                    <a:lstStyle/>
                    <a:p>
                      <a:pPr algn="ctr">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noFill/>
                      <a:prstDash val="sysDash"/>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nchor="ctr"/>
                    <a:lstStyle/>
                    <a:p>
                      <a:pPr marL="0" marR="0" indent="0" algn="l" fontAlgn="base" latinLnBrk="1">
                        <a:lnSpc>
                          <a:spcPct val="100000"/>
                        </a:lnSpc>
                        <a:buNone/>
                      </a:pP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투자확약서</a:t>
                      </a:r>
                      <a:r>
                        <a:rPr 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(LOC) </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기간만료</a:t>
                      </a:r>
                      <a:r>
                        <a:rPr lang="en-US" alt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예정</a:t>
                      </a:r>
                      <a:r>
                        <a:rPr lang="ko-KR" sz="900" kern="0" spc="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a:t>
                      </a:r>
                      <a:endParaRPr lang="ko-KR" sz="900" kern="0" spc="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noFill/>
                      <a:prstDash val="sysDash"/>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nchor="ctr"/>
                    <a:lstStyle/>
                    <a:p>
                      <a:pPr algn="l">
                        <a:lnSpc>
                          <a:spcPct val="100000"/>
                        </a:lnSpc>
                        <a:buNone/>
                      </a:pPr>
                      <a:endParaRPr lang="ko-KR" sz="9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ysDash"/>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2451104"/>
                  </a:ext>
                </a:extLst>
              </a:tr>
            </a:tbl>
          </a:graphicData>
        </a:graphic>
      </p:graphicFrame>
    </p:spTree>
    <p:extLst>
      <p:ext uri="{BB962C8B-B14F-4D97-AF65-F5344CB8AC3E}">
        <p14:creationId xmlns:p14="http://schemas.microsoft.com/office/powerpoint/2010/main" val="2329424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10BEEB-9DD2-3C77-2FC8-A30F3EE5E5DF}"/>
            </a:ext>
          </a:extLst>
        </p:cNvPr>
        <p:cNvGrpSpPr/>
        <p:nvPr/>
      </p:nvGrpSpPr>
      <p:grpSpPr>
        <a:xfrm>
          <a:off x="0" y="0"/>
          <a:ext cx="0" cy="0"/>
          <a:chOff x="0" y="0"/>
          <a:chExt cx="0" cy="0"/>
        </a:xfrm>
      </p:grpSpPr>
      <p:sp>
        <p:nvSpPr>
          <p:cNvPr id="15" name="Rectangle 2">
            <a:extLst>
              <a:ext uri="{FF2B5EF4-FFF2-40B4-BE49-F238E27FC236}">
                <a16:creationId xmlns:a16="http://schemas.microsoft.com/office/drawing/2014/main" id="{1B62D799-CE76-9167-CAA6-458518F228D7}"/>
              </a:ext>
            </a:extLst>
          </p:cNvPr>
          <p:cNvSpPr txBox="1">
            <a:spLocks/>
          </p:cNvSpPr>
          <p:nvPr/>
        </p:nvSpPr>
        <p:spPr bwMode="auto">
          <a:xfrm>
            <a:off x="3725726" y="3419797"/>
            <a:ext cx="6127135" cy="301767"/>
          </a:xfrm>
          <a:prstGeom prst="rect">
            <a:avLst/>
          </a:prstGeom>
          <a:noFill/>
          <a:ln w="9525" algn="ctr">
            <a:noFill/>
            <a:miter lim="800000"/>
            <a:headEnd/>
            <a:tailEnd/>
          </a:ln>
        </p:spPr>
        <p:txBody>
          <a:bodyPr lIns="0" anchor="ct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74448" marR="0" lvl="0" indent="0" algn="r" defTabSz="457200" rtl="0" eaLnBrk="1" fontAlgn="base" latinLnBrk="1" hangingPunct="1">
              <a:lnSpc>
                <a:spcPct val="100000"/>
              </a:lnSpc>
              <a:spcBef>
                <a:spcPct val="0"/>
              </a:spcBef>
              <a:spcAft>
                <a:spcPct val="0"/>
              </a:spcAft>
              <a:buClrTx/>
              <a:buSzTx/>
              <a:buFontTx/>
              <a:buNone/>
              <a:tabLst/>
              <a:defRPr/>
            </a:pPr>
            <a:r>
              <a:rPr kumimoji="0" lang="en-US" altLang="ko-KR" sz="700" b="0" i="0" u="none" strike="noStrike" kern="1200" cap="none" spc="0" normalizeH="0" baseline="0" noProof="0" dirty="0">
                <a:ln w="3175">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Light" panose="00000300000000000000" pitchFamily="2" charset="-127"/>
              </a:rPr>
              <a:t>This report is solely for the use of client personnel. No part of it may be circulated, quoted, or reproduced for distribution outside the client or organization without prior written approval from KORAMCO</a:t>
            </a:r>
            <a:endParaRPr kumimoji="0" lang="ko-KR" altLang="en-US" sz="700" b="0" i="0" u="none" strike="noStrike" kern="1200" cap="none" spc="0" normalizeH="0" baseline="0" noProof="0" dirty="0">
              <a:ln w="3175">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1955120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0A80C80-F074-4A60-86CB-0B0DD1500F97}">
  <we:reference id="wa200010001" version="1.0.0.1" store="ko-KR" storeType="OMEX"/>
  <we:alternateReferences>
    <we:reference id="WA200010001" version="1.0.0.1" store="" storeType="OMEX"/>
  </we:alternateReferences>
  <we:properties>
    <we:property name="claude.fileId" value="&quot;df7891e2-9e3d-429a-bc7e-87bd417d5964&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Theme</Template>
  <TotalTime>94192</TotalTime>
  <Words>3326</Words>
  <Application>Microsoft Office PowerPoint</Application>
  <PresentationFormat>사용자 지정</PresentationFormat>
  <Paragraphs>988</Paragraphs>
  <Slides>19</Slides>
  <Notes>4</Notes>
  <HiddenSlides>0</HiddenSlides>
  <MMClips>0</MMClips>
  <ScaleCrop>false</ScaleCrop>
  <HeadingPairs>
    <vt:vector size="6" baseType="variant">
      <vt:variant>
        <vt:lpstr>사용한 글꼴</vt:lpstr>
      </vt:variant>
      <vt:variant>
        <vt:i4>11</vt:i4>
      </vt:variant>
      <vt:variant>
        <vt:lpstr>테마</vt:lpstr>
      </vt:variant>
      <vt:variant>
        <vt:i4>2</vt:i4>
      </vt:variant>
      <vt:variant>
        <vt:lpstr>슬라이드 제목</vt:lpstr>
      </vt:variant>
      <vt:variant>
        <vt:i4>19</vt:i4>
      </vt:variant>
    </vt:vector>
  </HeadingPairs>
  <TitlesOfParts>
    <vt:vector size="32" baseType="lpstr">
      <vt:lpstr>KoPubWorld돋움체 Bold</vt:lpstr>
      <vt:lpstr>KoPubWorld돋움체 Light</vt:lpstr>
      <vt:lpstr>KoPubWorld돋움체 Medium</vt:lpstr>
      <vt:lpstr>KoPubWorld바탕체 Medium</vt:lpstr>
      <vt:lpstr>맑은 고딕</vt:lpstr>
      <vt:lpstr>하나 CM</vt:lpstr>
      <vt:lpstr>Arial</vt:lpstr>
      <vt:lpstr>Calibri</vt:lpstr>
      <vt:lpstr>Calibri Light</vt:lpstr>
      <vt:lpstr>Times New Roman</vt:lpstr>
      <vt:lpstr>Wingdings</vt:lpstr>
      <vt:lpstr>Office 테마</vt:lpstr>
      <vt:lpstr>1_Office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jsp</dc:creator>
  <cp:lastModifiedBy>안 용현(Yonghyeon,Ahn)</cp:lastModifiedBy>
  <cp:revision>5366</cp:revision>
  <cp:lastPrinted>2026-03-24T08:05:21Z</cp:lastPrinted>
  <dcterms:created xsi:type="dcterms:W3CDTF">2019-10-07T05:08:42Z</dcterms:created>
  <dcterms:modified xsi:type="dcterms:W3CDTF">2026-10-01T08:10:07Z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ranchUid">
    <vt:lpwstr>cF_T0GkpntLHHvFV8OwBnZLtooc202402010000000</vt:lpwstr>
  </property>
  <property fmtid="{D5CDD505-2E9C-101B-9397-08002B2CF9AE}" pid="3" name="docPath">
    <vt:lpwstr>WDpcNy7snpDsgrDsmrTsmIEo7L2U7YGs66CZKVw1Mi4g7L2U656M7L2U65287J207ZSE7J247ZSE6528XOy9lO2BrOugmeyViOyWkVx2MS4wW+yDgeyepeumrOy4oO2MgF0g67O47Yis7Ius7J6Q66OMX0tMSSDsp4DrtoTtiKzsnpAucHB0eF9kcmFmdC5wcHR4X1YyIC0g67O17IKs67O4LnBwdHg=</vt:lpwstr>
  </property>
  <property fmtid="{D5CDD505-2E9C-101B-9397-08002B2CF9AE}" pid="4" name="docUid">
    <vt:lpwstr>1zCo5okiqpJXTDsjY9eqR4XTkvc</vt:lpwstr>
  </property>
  <property fmtid="{D5CDD505-2E9C-101B-9397-08002B2CF9AE}" pid="5" name="parentBranchUid">
    <vt:lpwstr>XUcWbd-NnYHVOfCAZHCSoaEMHQs202402010000000</vt:lpwstr>
  </property>
</Properties>
</file>