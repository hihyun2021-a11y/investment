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12" r:id="rId1"/>
    <p:sldMasterId id="2147483756" r:id="rId2"/>
    <p:sldMasterId id="2147483769" r:id="rId3"/>
  </p:sldMasterIdLst>
  <p:notesMasterIdLst>
    <p:notesMasterId r:id="rId48"/>
  </p:notesMasterIdLst>
  <p:handoutMasterIdLst>
    <p:handoutMasterId r:id="rId49"/>
  </p:handoutMasterIdLst>
  <p:sldIdLst>
    <p:sldId id="256" r:id="rId10"/>
  </p:sldIdLst>
  <p:sldSz cx="10691813" cy="7559675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F664334-81FB-4AF7-A59E-6AD854F49133}">
          <p14:sldIdLst>
            <p14:sldId id="1174"/>
            <p14:sldId id="1175"/>
            <p14:sldId id="1176"/>
            <p14:sldId id="1657"/>
            <p14:sldId id="1658"/>
            <p14:sldId id="1812"/>
            <p14:sldId id="1813"/>
            <p14:sldId id="1183"/>
            <p14:sldId id="1814"/>
            <p14:sldId id="1656"/>
          </p14:sldIdLst>
        </p14:section>
        <p14:section name="제목 없는 구역" id="{173DE95B-9F57-4D39-B3FD-CED6B2100408}">
          <p14:sldIdLst>
            <p14:sldId id="1686"/>
            <p14:sldId id="1798"/>
            <p14:sldId id="1739"/>
            <p14:sldId id="1740"/>
            <p14:sldId id="1743"/>
            <p14:sldId id="1799"/>
            <p14:sldId id="1768"/>
            <p14:sldId id="1806"/>
            <p14:sldId id="1805"/>
            <p14:sldId id="1807"/>
            <p14:sldId id="1786"/>
            <p14:sldId id="1785"/>
            <p14:sldId id="1777"/>
            <p14:sldId id="1781"/>
            <p14:sldId id="1782"/>
            <p14:sldId id="1809"/>
            <p14:sldId id="1748"/>
            <p14:sldId id="1789"/>
            <p14:sldId id="1795"/>
            <p14:sldId id="1752"/>
            <p14:sldId id="1754"/>
            <p14:sldId id="1771"/>
            <p14:sldId id="1772"/>
            <p14:sldId id="1773"/>
            <p14:sldId id="1815"/>
            <p14:sldId id="1787"/>
            <p14:sldId id="1791"/>
            <p14:sldId id="1810"/>
            <p14:sldId id="1796"/>
            <p14:sldId id="1817"/>
            <p14:sldId id="1818"/>
            <p14:sldId id="1816"/>
            <p14:sldId id="1819"/>
            <p14:sldId id="1779"/>
          </p14:sldIdLst>
        </p14:section>
        <p14:section name="이전자료" id="{B501CF5B-16A0-46C0-95DB-100F682887D5}">
          <p14:sldIdLst/>
        </p14:section>
      </p14:sectionLst>
    </p:ext>
    <p:ext uri="{EFAFB233-063F-42B5-8137-9DF3F51BA10A}">
      <p15:sldGuideLst xmlns:p15="http://schemas.microsoft.com/office/powerpoint/2012/main">
        <p15:guide id="2" orient="horz" pos="4195" userDrawn="1">
          <p15:clr>
            <a:srgbClr val="A4A3A4"/>
          </p15:clr>
        </p15:guide>
        <p15:guide id="13" orient="horz" pos="680" userDrawn="1">
          <p15:clr>
            <a:srgbClr val="A4A3A4"/>
          </p15:clr>
        </p15:guide>
        <p15:guide id="14" orient="horz" pos="1111" userDrawn="1">
          <p15:clr>
            <a:srgbClr val="A4A3A4"/>
          </p15:clr>
        </p15:guide>
        <p15:guide id="16" orient="horz" pos="3606" userDrawn="1">
          <p15:clr>
            <a:srgbClr val="A4A3A4"/>
          </p15:clr>
        </p15:guide>
        <p15:guide id="20" orient="horz" pos="1496" userDrawn="1">
          <p15:clr>
            <a:srgbClr val="A4A3A4"/>
          </p15:clr>
        </p15:guide>
        <p15:guide id="23" orient="horz" pos="4105" userDrawn="1">
          <p15:clr>
            <a:srgbClr val="A4A3A4"/>
          </p15:clr>
        </p15:guide>
        <p15:guide id="24" pos="601" userDrawn="1">
          <p15:clr>
            <a:srgbClr val="A4A3A4"/>
          </p15:clr>
        </p15:guide>
        <p15:guide id="26" pos="1780" userDrawn="1">
          <p15:clr>
            <a:srgbClr val="A4A3A4"/>
          </p15:clr>
        </p15:guide>
        <p15:guide id="27" pos="396" userDrawn="1">
          <p15:clr>
            <a:srgbClr val="A4A3A4"/>
          </p15:clr>
        </p15:guide>
        <p15:guide id="28" pos="1689" userDrawn="1">
          <p15:clr>
            <a:srgbClr val="A4A3A4"/>
          </p15:clr>
        </p15:guide>
        <p15:guide id="29" pos="4842" userDrawn="1">
          <p15:clr>
            <a:srgbClr val="A4A3A4"/>
          </p15:clr>
        </p15:guide>
        <p15:guide id="30" orient="horz" pos="2993" userDrawn="1">
          <p15:clr>
            <a:srgbClr val="A4A3A4"/>
          </p15:clr>
        </p15:guide>
        <p15:guide id="31" pos="4910" userDrawn="1">
          <p15:clr>
            <a:srgbClr val="A4A3A4"/>
          </p15:clr>
        </p15:guide>
        <p15:guide id="32" orient="horz" pos="907" userDrawn="1">
          <p15:clr>
            <a:srgbClr val="A4A3A4"/>
          </p15:clr>
        </p15:guide>
        <p15:guide id="33" pos="283" userDrawn="1">
          <p15:clr>
            <a:srgbClr val="9FCC3B"/>
          </p15:clr>
        </p15:guide>
        <p15:guide id="34" orient="horz" pos="1406" userDrawn="1">
          <p15:clr>
            <a:srgbClr val="9FCC3B"/>
          </p15:clr>
        </p15:guide>
        <p15:guide id="35" orient="horz" pos="1633" userDrawn="1">
          <p15:clr>
            <a:srgbClr val="9FCC3B"/>
          </p15:clr>
        </p15:guide>
        <p15:guide id="36" pos="3367" userDrawn="1">
          <p15:clr>
            <a:srgbClr val="A4A3A4"/>
          </p15:clr>
        </p15:guide>
        <p15:guide id="37" pos="3299" userDrawn="1">
          <p15:clr>
            <a:srgbClr val="9FCC3B"/>
          </p15:clr>
        </p15:guide>
        <p15:guide id="38" pos="6565" userDrawn="1">
          <p15:clr>
            <a:srgbClr val="9FCC3B"/>
          </p15:clr>
        </p15:guide>
        <p15:guide id="39" pos="3436" userDrawn="1">
          <p15:clr>
            <a:srgbClr val="9FCC3B"/>
          </p15:clr>
        </p15:guide>
        <p15:guide id="40" pos="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9D9D9"/>
    <a:srgbClr val="843C0C"/>
    <a:srgbClr val="6DA7F2"/>
    <a:srgbClr val="F4B183"/>
    <a:srgbClr val="FBE5D6"/>
    <a:srgbClr val="C55A11"/>
    <a:srgbClr val="345B86"/>
    <a:srgbClr val="F2F2F2"/>
    <a:srgbClr val="8888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6242" autoAdjust="0"/>
  </p:normalViewPr>
  <p:slideViewPr>
    <p:cSldViewPr showGuides="1">
      <p:cViewPr varScale="1">
        <p:scale>
          <a:sx n="97" d="100"/>
          <a:sy n="97" d="100"/>
        </p:scale>
        <p:origin x="978" y="90"/>
      </p:cViewPr>
      <p:guideLst>
        <p:guide orient="horz" pos="4195"/>
        <p:guide orient="horz" pos="680"/>
        <p:guide orient="horz" pos="1111"/>
        <p:guide orient="horz" pos="3606"/>
        <p:guide orient="horz" pos="1496"/>
        <p:guide orient="horz" pos="4105"/>
        <p:guide pos="601"/>
        <p:guide pos="1780"/>
        <p:guide pos="396"/>
        <p:guide pos="1689"/>
        <p:guide pos="4842"/>
        <p:guide orient="horz" pos="2993"/>
        <p:guide pos="4910"/>
        <p:guide orient="horz" pos="907"/>
        <p:guide pos="283"/>
        <p:guide orient="horz" pos="1406"/>
        <p:guide orient="horz" pos="1633"/>
        <p:guide pos="3367"/>
        <p:guide pos="3299"/>
        <p:guide pos="6565"/>
        <p:guide pos="3436"/>
        <p:guide pos="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8" d="100"/>
          <a:sy n="78" d="100"/>
        </p:scale>
        <p:origin x="2910" y="108"/>
      </p:cViewPr>
      <p:guideLst/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10" Type="http://schemas.openxmlformats.org/officeDocument/2006/relationships/slide" Target="slides/slide1.xml"/><Relationship Id="rId48" Type="http://schemas.openxmlformats.org/officeDocument/2006/relationships/notesMaster" Target="notesMasters/notesMaster1.xml"/><Relationship Id="rId49" Type="http://schemas.openxmlformats.org/officeDocument/2006/relationships/handoutMaster" Target="handoutMasters/handout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50529" cy="499033"/>
          </a:xfrm>
          <a:prstGeom prst="rect">
            <a:avLst/>
          </a:prstGeom>
        </p:spPr>
        <p:txBody>
          <a:bodyPr vert="horz" lIns="91542" tIns="45770" rIns="91542" bIns="45770" rtlCol="0"/>
          <a:lstStyle>
            <a:lvl1pPr algn="l">
              <a:defRPr sz="1200"/>
            </a:lvl1pPr>
          </a:lstStyle>
          <a:p>
            <a:endParaRPr lang="ko-KR" altLang="en-US">
              <a:latin typeface="KoPubWorld돋움체 Bold" panose="00000800000000000000" pitchFamily="2" charset="-127"/>
              <a:ea typeface="KoPubWorld돋움체 Bold" panose="000008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083" y="3"/>
            <a:ext cx="2950529" cy="499033"/>
          </a:xfrm>
          <a:prstGeom prst="rect">
            <a:avLst/>
          </a:prstGeom>
        </p:spPr>
        <p:txBody>
          <a:bodyPr vert="horz" lIns="91542" tIns="45770" rIns="91542" bIns="45770" rtlCol="0"/>
          <a:lstStyle>
            <a:lvl1pPr algn="r">
              <a:defRPr sz="1200"/>
            </a:lvl1pPr>
          </a:lstStyle>
          <a:p>
            <a:fld id="{B3B3F390-6613-4BAA-9D69-173A9EE88975}" type="datetimeFigureOut"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2026-08-24</a:t>
            </a:fld>
            <a:endParaRPr lang="ko-KR" altLang="en-US">
              <a:latin typeface="KoPubWorld돋움체 Bold" panose="00000800000000000000" pitchFamily="2" charset="-127"/>
              <a:ea typeface="KoPubWorld돋움체 Bold" panose="000008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309"/>
            <a:ext cx="2950529" cy="499033"/>
          </a:xfrm>
          <a:prstGeom prst="rect">
            <a:avLst/>
          </a:prstGeom>
        </p:spPr>
        <p:txBody>
          <a:bodyPr vert="horz" lIns="91542" tIns="45770" rIns="91542" bIns="45770" rtlCol="0" anchor="b"/>
          <a:lstStyle>
            <a:lvl1pPr algn="l">
              <a:defRPr sz="1200"/>
            </a:lvl1pPr>
          </a:lstStyle>
          <a:p>
            <a:endParaRPr lang="ko-KR" altLang="en-US">
              <a:latin typeface="KoPubWorld돋움체 Bold" panose="00000800000000000000" pitchFamily="2" charset="-127"/>
              <a:ea typeface="KoPubWorld돋움체 Bold" panose="000008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083" y="9440309"/>
            <a:ext cx="2950529" cy="499033"/>
          </a:xfrm>
          <a:prstGeom prst="rect">
            <a:avLst/>
          </a:prstGeom>
        </p:spPr>
        <p:txBody>
          <a:bodyPr vert="horz" lIns="91542" tIns="45770" rIns="91542" bIns="45770" rtlCol="0" anchor="b"/>
          <a:lstStyle>
            <a:lvl1pPr algn="r">
              <a:defRPr sz="1200"/>
            </a:lvl1pPr>
          </a:lstStyle>
          <a:p>
            <a:fld id="{8EAD6D3B-F975-4577-9BE7-7EA334E8F2CF}" type="slidenum">
              <a:rPr lang="ko-KR" altLang="en-US" smtClean="0">
                <a:latin typeface="KoPubWorld돋움체 Bold" panose="00000800000000000000" pitchFamily="2" charset="-127"/>
                <a:ea typeface="KoPubWorld돋움체 Bold" panose="00000800000000000000" pitchFamily="2" charset="-127"/>
              </a:rPr>
              <a:t>‹#›</a:t>
            </a:fld>
            <a:endParaRPr lang="ko-KR" altLang="en-US">
              <a:latin typeface="KoPubWorld돋움체 Bold" panose="00000800000000000000" pitchFamily="2" charset="-127"/>
              <a:ea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87102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7" y="4"/>
            <a:ext cx="2949786" cy="496967"/>
          </a:xfrm>
          <a:prstGeom prst="rect">
            <a:avLst/>
          </a:prstGeom>
        </p:spPr>
        <p:txBody>
          <a:bodyPr vert="horz" lIns="91524" tIns="45761" rIns="91524" bIns="45761" rtlCol="0"/>
          <a:lstStyle>
            <a:lvl1pPr algn="l">
              <a:defRPr sz="1200">
                <a:latin typeface="KoPubWorld돋움체 Bold" panose="00000800000000000000" pitchFamily="2" charset="-127"/>
                <a:ea typeface="KoPubWorld돋움체 Bold" panose="000008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46" y="4"/>
            <a:ext cx="2949786" cy="496967"/>
          </a:xfrm>
          <a:prstGeom prst="rect">
            <a:avLst/>
          </a:prstGeom>
        </p:spPr>
        <p:txBody>
          <a:bodyPr vert="horz" lIns="91524" tIns="45761" rIns="91524" bIns="45761" rtlCol="0"/>
          <a:lstStyle>
            <a:lvl1pPr algn="r">
              <a:defRPr sz="1200">
                <a:latin typeface="KoPubWorld돋움체 Bold" panose="00000800000000000000" pitchFamily="2" charset="-127"/>
                <a:ea typeface="KoPubWorld돋움체 Bold" panose="00000800000000000000" pitchFamily="2" charset="-127"/>
              </a:defRPr>
            </a:lvl1pPr>
          </a:lstStyle>
          <a:p>
            <a:fld id="{5C657A66-7FD2-4757-A30E-DD765D01DE0F}" type="datetimeFigureOut">
              <a:rPr lang="ko-KR" altLang="en-US" smtClean="0"/>
              <a:pPr/>
              <a:t>2026-08-24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68350" y="746125"/>
            <a:ext cx="52705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4" tIns="45761" rIns="91524" bIns="45761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21191"/>
            <a:ext cx="5445760" cy="4472702"/>
          </a:xfrm>
          <a:prstGeom prst="rect">
            <a:avLst/>
          </a:prstGeom>
        </p:spPr>
        <p:txBody>
          <a:bodyPr vert="horz" lIns="91524" tIns="45761" rIns="91524" bIns="45761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7" y="9440650"/>
            <a:ext cx="2949786" cy="496967"/>
          </a:xfrm>
          <a:prstGeom prst="rect">
            <a:avLst/>
          </a:prstGeom>
        </p:spPr>
        <p:txBody>
          <a:bodyPr vert="horz" lIns="91524" tIns="45761" rIns="91524" bIns="45761" rtlCol="0" anchor="b"/>
          <a:lstStyle>
            <a:lvl1pPr algn="l">
              <a:defRPr sz="1200">
                <a:latin typeface="KoPubWorld돋움체 Bold" panose="00000800000000000000" pitchFamily="2" charset="-127"/>
                <a:ea typeface="KoPubWorld돋움체 Bold" panose="000008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46" y="9440650"/>
            <a:ext cx="2949786" cy="496967"/>
          </a:xfrm>
          <a:prstGeom prst="rect">
            <a:avLst/>
          </a:prstGeom>
        </p:spPr>
        <p:txBody>
          <a:bodyPr vert="horz" lIns="91524" tIns="45761" rIns="91524" bIns="45761" rtlCol="0" anchor="b"/>
          <a:lstStyle>
            <a:lvl1pPr algn="r">
              <a:defRPr sz="1200">
                <a:latin typeface="KoPubWorld돋움체 Bold" panose="00000800000000000000" pitchFamily="2" charset="-127"/>
                <a:ea typeface="KoPubWorld돋움체 Bold" panose="00000800000000000000" pitchFamily="2" charset="-127"/>
              </a:defRPr>
            </a:lvl1pPr>
          </a:lstStyle>
          <a:p>
            <a:fld id="{2B8DFE68-44DA-46E6-B8A3-9F09BDCA52A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351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4986" rtl="0" eaLnBrk="1" latinLnBrk="1" hangingPunct="1">
      <a:defRPr sz="1305" kern="1200">
        <a:solidFill>
          <a:schemeClr val="tx1"/>
        </a:solidFill>
        <a:latin typeface="KoPubWorld돋움체 Bold" panose="00000800000000000000" pitchFamily="2" charset="-127"/>
        <a:ea typeface="KoPubWorld돋움체 Bold" panose="00000800000000000000" pitchFamily="2" charset="-127"/>
        <a:cs typeface="+mn-cs"/>
      </a:defRPr>
    </a:lvl1pPr>
    <a:lvl2pPr marL="497495" algn="l" defTabSz="994986" rtl="0" eaLnBrk="1" latinLnBrk="1" hangingPunct="1">
      <a:defRPr sz="1305" kern="1200">
        <a:solidFill>
          <a:schemeClr val="tx1"/>
        </a:solidFill>
        <a:latin typeface="KoPubWorld돋움체 Bold" panose="00000800000000000000" pitchFamily="2" charset="-127"/>
        <a:ea typeface="KoPubWorld돋움체 Bold" panose="00000800000000000000" pitchFamily="2" charset="-127"/>
        <a:cs typeface="+mn-cs"/>
      </a:defRPr>
    </a:lvl2pPr>
    <a:lvl3pPr marL="994986" algn="l" defTabSz="994986" rtl="0" eaLnBrk="1" latinLnBrk="1" hangingPunct="1">
      <a:defRPr sz="1305" kern="1200">
        <a:solidFill>
          <a:schemeClr val="tx1"/>
        </a:solidFill>
        <a:latin typeface="KoPubWorld돋움체 Bold" panose="00000800000000000000" pitchFamily="2" charset="-127"/>
        <a:ea typeface="KoPubWorld돋움체 Bold" panose="00000800000000000000" pitchFamily="2" charset="-127"/>
        <a:cs typeface="+mn-cs"/>
      </a:defRPr>
    </a:lvl3pPr>
    <a:lvl4pPr marL="1492478" algn="l" defTabSz="994986" rtl="0" eaLnBrk="1" latinLnBrk="1" hangingPunct="1">
      <a:defRPr sz="1305" kern="1200">
        <a:solidFill>
          <a:schemeClr val="tx1"/>
        </a:solidFill>
        <a:latin typeface="KoPubWorld돋움체 Bold" panose="00000800000000000000" pitchFamily="2" charset="-127"/>
        <a:ea typeface="KoPubWorld돋움체 Bold" panose="00000800000000000000" pitchFamily="2" charset="-127"/>
        <a:cs typeface="+mn-cs"/>
      </a:defRPr>
    </a:lvl4pPr>
    <a:lvl5pPr marL="1989973" algn="l" defTabSz="994986" rtl="0" eaLnBrk="1" latinLnBrk="1" hangingPunct="1">
      <a:defRPr sz="1305" kern="1200">
        <a:solidFill>
          <a:schemeClr val="tx1"/>
        </a:solidFill>
        <a:latin typeface="KoPubWorld돋움체 Bold" panose="00000800000000000000" pitchFamily="2" charset="-127"/>
        <a:ea typeface="KoPubWorld돋움체 Bold" panose="00000800000000000000" pitchFamily="2" charset="-127"/>
        <a:cs typeface="+mn-cs"/>
      </a:defRPr>
    </a:lvl5pPr>
    <a:lvl6pPr marL="2487464" algn="l" defTabSz="994986" rtl="0" eaLnBrk="1" latinLnBrk="1" hangingPunct="1">
      <a:defRPr sz="1305" kern="1200">
        <a:solidFill>
          <a:schemeClr val="tx1"/>
        </a:solidFill>
        <a:latin typeface="+mn-lt"/>
        <a:ea typeface="+mn-ea"/>
        <a:cs typeface="+mn-cs"/>
      </a:defRPr>
    </a:lvl6pPr>
    <a:lvl7pPr marL="2984958" algn="l" defTabSz="994986" rtl="0" eaLnBrk="1" latinLnBrk="1" hangingPunct="1">
      <a:defRPr sz="1305" kern="1200">
        <a:solidFill>
          <a:schemeClr val="tx1"/>
        </a:solidFill>
        <a:latin typeface="+mn-lt"/>
        <a:ea typeface="+mn-ea"/>
        <a:cs typeface="+mn-cs"/>
      </a:defRPr>
    </a:lvl7pPr>
    <a:lvl8pPr marL="3482451" algn="l" defTabSz="994986" rtl="0" eaLnBrk="1" latinLnBrk="1" hangingPunct="1">
      <a:defRPr sz="1305" kern="1200">
        <a:solidFill>
          <a:schemeClr val="tx1"/>
        </a:solidFill>
        <a:latin typeface="+mn-lt"/>
        <a:ea typeface="+mn-ea"/>
        <a:cs typeface="+mn-cs"/>
      </a:defRPr>
    </a:lvl8pPr>
    <a:lvl9pPr marL="3979944" algn="l" defTabSz="994986" rtl="0" eaLnBrk="1" latinLnBrk="1" hangingPunct="1">
      <a:defRPr sz="130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3496F34-2D2E-7200-596D-F5A884BEB510}"/>
              </a:ext>
            </a:extLst>
          </p:cNvPr>
          <p:cNvSpPr/>
          <p:nvPr userDrawn="1"/>
        </p:nvSpPr>
        <p:spPr>
          <a:xfrm>
            <a:off x="6388270" y="7142318"/>
            <a:ext cx="4261488" cy="253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660073" y="7173747"/>
            <a:ext cx="82532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그룹 8"/>
          <p:cNvGrpSpPr/>
          <p:nvPr userDrawn="1"/>
        </p:nvGrpSpPr>
        <p:grpSpPr>
          <a:xfrm>
            <a:off x="9276077" y="6972575"/>
            <a:ext cx="1110305" cy="316737"/>
            <a:chOff x="10506075" y="5289550"/>
            <a:chExt cx="1028701" cy="287338"/>
          </a:xfrm>
          <a:solidFill>
            <a:schemeClr val="bg1">
              <a:lumMod val="75000"/>
            </a:schemeClr>
          </a:solidFill>
        </p:grpSpPr>
        <p:sp>
          <p:nvSpPr>
            <p:cNvPr id="10" name="Freeform 5"/>
            <p:cNvSpPr>
              <a:spLocks noEditPoints="1"/>
            </p:cNvSpPr>
            <p:nvPr/>
          </p:nvSpPr>
          <p:spPr bwMode="auto">
            <a:xfrm>
              <a:off x="10585450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5" y="0"/>
                    <a:pt x="0" y="6"/>
                    <a:pt x="0" y="13"/>
                  </a:cubicBezTo>
                  <a:cubicBezTo>
                    <a:pt x="0" y="20"/>
                    <a:pt x="5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11071225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10710863" y="5399088"/>
              <a:ext cx="65088" cy="63500"/>
            </a:xfrm>
            <a:custGeom>
              <a:avLst/>
              <a:gdLst>
                <a:gd name="T0" fmla="*/ 7 w 17"/>
                <a:gd name="T1" fmla="*/ 16 h 16"/>
                <a:gd name="T2" fmla="*/ 9 w 17"/>
                <a:gd name="T3" fmla="*/ 16 h 16"/>
                <a:gd name="T4" fmla="*/ 17 w 17"/>
                <a:gd name="T5" fmla="*/ 8 h 16"/>
                <a:gd name="T6" fmla="*/ 9 w 17"/>
                <a:gd name="T7" fmla="*/ 0 h 16"/>
                <a:gd name="T8" fmla="*/ 0 w 17"/>
                <a:gd name="T9" fmla="*/ 0 h 16"/>
                <a:gd name="T10" fmla="*/ 1 w 17"/>
                <a:gd name="T11" fmla="*/ 5 h 16"/>
                <a:gd name="T12" fmla="*/ 8 w 17"/>
                <a:gd name="T13" fmla="*/ 5 h 16"/>
                <a:gd name="T14" fmla="*/ 11 w 17"/>
                <a:gd name="T15" fmla="*/ 8 h 16"/>
                <a:gd name="T16" fmla="*/ 8 w 17"/>
                <a:gd name="T17" fmla="*/ 12 h 16"/>
                <a:gd name="T18" fmla="*/ 4 w 17"/>
                <a:gd name="T1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7" y="16"/>
                  </a:moveTo>
                  <a:cubicBezTo>
                    <a:pt x="9" y="16"/>
                    <a:pt x="9" y="16"/>
                    <a:pt x="9" y="16"/>
                  </a:cubicBezTo>
                  <a:cubicBezTo>
                    <a:pt x="14" y="16"/>
                    <a:pt x="17" y="13"/>
                    <a:pt x="17" y="8"/>
                  </a:cubicBezTo>
                  <a:cubicBezTo>
                    <a:pt x="17" y="4"/>
                    <a:pt x="14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10" y="5"/>
                    <a:pt x="11" y="7"/>
                    <a:pt x="11" y="8"/>
                  </a:cubicBezTo>
                  <a:cubicBezTo>
                    <a:pt x="11" y="10"/>
                    <a:pt x="10" y="12"/>
                    <a:pt x="8" y="12"/>
                  </a:cubicBezTo>
                  <a:cubicBezTo>
                    <a:pt x="4" y="12"/>
                    <a:pt x="4" y="12"/>
                    <a:pt x="4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10506075" y="5399088"/>
              <a:ext cx="23813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10696575" y="5399088"/>
              <a:ext cx="22225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10877550" y="5399088"/>
              <a:ext cx="31750" cy="98425"/>
            </a:xfrm>
            <a:custGeom>
              <a:avLst/>
              <a:gdLst>
                <a:gd name="T0" fmla="*/ 15 w 20"/>
                <a:gd name="T1" fmla="*/ 62 h 62"/>
                <a:gd name="T2" fmla="*/ 0 w 20"/>
                <a:gd name="T3" fmla="*/ 62 h 62"/>
                <a:gd name="T4" fmla="*/ 5 w 20"/>
                <a:gd name="T5" fmla="*/ 0 h 62"/>
                <a:gd name="T6" fmla="*/ 20 w 20"/>
                <a:gd name="T7" fmla="*/ 0 h 62"/>
                <a:gd name="T8" fmla="*/ 15 w 20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2">
                  <a:moveTo>
                    <a:pt x="15" y="62"/>
                  </a:moveTo>
                  <a:lnTo>
                    <a:pt x="0" y="62"/>
                  </a:lnTo>
                  <a:lnTo>
                    <a:pt x="5" y="0"/>
                  </a:lnTo>
                  <a:lnTo>
                    <a:pt x="20" y="0"/>
                  </a:lnTo>
                  <a:lnTo>
                    <a:pt x="1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6" name="Rectangle 11"/>
            <p:cNvSpPr>
              <a:spLocks noChangeArrowheads="1"/>
            </p:cNvSpPr>
            <p:nvPr/>
          </p:nvSpPr>
          <p:spPr bwMode="auto">
            <a:xfrm>
              <a:off x="10806113" y="5457825"/>
              <a:ext cx="46038" cy="20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7" name="Freeform 12"/>
            <p:cNvSpPr>
              <a:spLocks/>
            </p:cNvSpPr>
            <p:nvPr/>
          </p:nvSpPr>
          <p:spPr bwMode="auto">
            <a:xfrm>
              <a:off x="10779125" y="5399088"/>
              <a:ext cx="61913" cy="98425"/>
            </a:xfrm>
            <a:custGeom>
              <a:avLst/>
              <a:gdLst>
                <a:gd name="T0" fmla="*/ 17 w 39"/>
                <a:gd name="T1" fmla="*/ 62 h 62"/>
                <a:gd name="T2" fmla="*/ 0 w 39"/>
                <a:gd name="T3" fmla="*/ 62 h 62"/>
                <a:gd name="T4" fmla="*/ 24 w 39"/>
                <a:gd name="T5" fmla="*/ 0 h 62"/>
                <a:gd name="T6" fmla="*/ 39 w 39"/>
                <a:gd name="T7" fmla="*/ 0 h 62"/>
                <a:gd name="T8" fmla="*/ 17 w 3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62">
                  <a:moveTo>
                    <a:pt x="17" y="62"/>
                  </a:moveTo>
                  <a:lnTo>
                    <a:pt x="0" y="62"/>
                  </a:lnTo>
                  <a:lnTo>
                    <a:pt x="24" y="0"/>
                  </a:lnTo>
                  <a:lnTo>
                    <a:pt x="39" y="0"/>
                  </a:lnTo>
                  <a:lnTo>
                    <a:pt x="17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10817225" y="5399088"/>
              <a:ext cx="57150" cy="98425"/>
            </a:xfrm>
            <a:custGeom>
              <a:avLst/>
              <a:gdLst>
                <a:gd name="T0" fmla="*/ 22 w 36"/>
                <a:gd name="T1" fmla="*/ 62 h 62"/>
                <a:gd name="T2" fmla="*/ 36 w 36"/>
                <a:gd name="T3" fmla="*/ 62 h 62"/>
                <a:gd name="T4" fmla="*/ 15 w 36"/>
                <a:gd name="T5" fmla="*/ 0 h 62"/>
                <a:gd name="T6" fmla="*/ 0 w 36"/>
                <a:gd name="T7" fmla="*/ 0 h 62"/>
                <a:gd name="T8" fmla="*/ 22 w 36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62">
                  <a:moveTo>
                    <a:pt x="22" y="62"/>
                  </a:moveTo>
                  <a:lnTo>
                    <a:pt x="36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2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10885488" y="5399088"/>
              <a:ext cx="49213" cy="98425"/>
            </a:xfrm>
            <a:custGeom>
              <a:avLst/>
              <a:gdLst>
                <a:gd name="T0" fmla="*/ 24 w 31"/>
                <a:gd name="T1" fmla="*/ 62 h 62"/>
                <a:gd name="T2" fmla="*/ 29 w 31"/>
                <a:gd name="T3" fmla="*/ 62 h 62"/>
                <a:gd name="T4" fmla="*/ 31 w 31"/>
                <a:gd name="T5" fmla="*/ 40 h 62"/>
                <a:gd name="T6" fmla="*/ 15 w 31"/>
                <a:gd name="T7" fmla="*/ 0 h 62"/>
                <a:gd name="T8" fmla="*/ 0 w 31"/>
                <a:gd name="T9" fmla="*/ 0 h 62"/>
                <a:gd name="T10" fmla="*/ 24 w 31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62">
                  <a:moveTo>
                    <a:pt x="24" y="62"/>
                  </a:moveTo>
                  <a:lnTo>
                    <a:pt x="29" y="62"/>
                  </a:lnTo>
                  <a:lnTo>
                    <a:pt x="31" y="4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4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10953750" y="5399088"/>
              <a:ext cx="30163" cy="98425"/>
            </a:xfrm>
            <a:custGeom>
              <a:avLst/>
              <a:gdLst>
                <a:gd name="T0" fmla="*/ 5 w 19"/>
                <a:gd name="T1" fmla="*/ 62 h 62"/>
                <a:gd name="T2" fmla="*/ 19 w 19"/>
                <a:gd name="T3" fmla="*/ 62 h 62"/>
                <a:gd name="T4" fmla="*/ 15 w 19"/>
                <a:gd name="T5" fmla="*/ 0 h 62"/>
                <a:gd name="T6" fmla="*/ 0 w 19"/>
                <a:gd name="T7" fmla="*/ 0 h 62"/>
                <a:gd name="T8" fmla="*/ 5 w 1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2">
                  <a:moveTo>
                    <a:pt x="5" y="62"/>
                  </a:moveTo>
                  <a:lnTo>
                    <a:pt x="19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10926763" y="5399088"/>
              <a:ext cx="50800" cy="98425"/>
            </a:xfrm>
            <a:custGeom>
              <a:avLst/>
              <a:gdLst>
                <a:gd name="T0" fmla="*/ 8 w 32"/>
                <a:gd name="T1" fmla="*/ 62 h 62"/>
                <a:gd name="T2" fmla="*/ 3 w 32"/>
                <a:gd name="T3" fmla="*/ 62 h 62"/>
                <a:gd name="T4" fmla="*/ 0 w 32"/>
                <a:gd name="T5" fmla="*/ 40 h 62"/>
                <a:gd name="T6" fmla="*/ 17 w 32"/>
                <a:gd name="T7" fmla="*/ 0 h 62"/>
                <a:gd name="T8" fmla="*/ 32 w 32"/>
                <a:gd name="T9" fmla="*/ 0 h 62"/>
                <a:gd name="T10" fmla="*/ 8 w 32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62">
                  <a:moveTo>
                    <a:pt x="8" y="62"/>
                  </a:moveTo>
                  <a:lnTo>
                    <a:pt x="3" y="62"/>
                  </a:lnTo>
                  <a:lnTo>
                    <a:pt x="0" y="40"/>
                  </a:lnTo>
                  <a:lnTo>
                    <a:pt x="17" y="0"/>
                  </a:lnTo>
                  <a:lnTo>
                    <a:pt x="32" y="0"/>
                  </a:lnTo>
                  <a:lnTo>
                    <a:pt x="8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10521950" y="5399088"/>
              <a:ext cx="63500" cy="50800"/>
            </a:xfrm>
            <a:custGeom>
              <a:avLst/>
              <a:gdLst>
                <a:gd name="T0" fmla="*/ 17 w 40"/>
                <a:gd name="T1" fmla="*/ 32 h 32"/>
                <a:gd name="T2" fmla="*/ 0 w 40"/>
                <a:gd name="T3" fmla="*/ 32 h 32"/>
                <a:gd name="T4" fmla="*/ 24 w 40"/>
                <a:gd name="T5" fmla="*/ 0 h 32"/>
                <a:gd name="T6" fmla="*/ 40 w 40"/>
                <a:gd name="T7" fmla="*/ 0 h 32"/>
                <a:gd name="T8" fmla="*/ 17 w 40"/>
                <a:gd name="T9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2">
                  <a:moveTo>
                    <a:pt x="17" y="32"/>
                  </a:moveTo>
                  <a:lnTo>
                    <a:pt x="0" y="32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1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10525125" y="5443538"/>
              <a:ext cx="65088" cy="53975"/>
            </a:xfrm>
            <a:custGeom>
              <a:avLst/>
              <a:gdLst>
                <a:gd name="T0" fmla="*/ 17 w 41"/>
                <a:gd name="T1" fmla="*/ 0 h 34"/>
                <a:gd name="T2" fmla="*/ 0 w 41"/>
                <a:gd name="T3" fmla="*/ 0 h 34"/>
                <a:gd name="T4" fmla="*/ 24 w 41"/>
                <a:gd name="T5" fmla="*/ 34 h 34"/>
                <a:gd name="T6" fmla="*/ 41 w 41"/>
                <a:gd name="T7" fmla="*/ 34 h 34"/>
                <a:gd name="T8" fmla="*/ 17 w 41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4">
                  <a:moveTo>
                    <a:pt x="17" y="0"/>
                  </a:moveTo>
                  <a:lnTo>
                    <a:pt x="0" y="0"/>
                  </a:lnTo>
                  <a:lnTo>
                    <a:pt x="24" y="34"/>
                  </a:lnTo>
                  <a:lnTo>
                    <a:pt x="41" y="34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10726738" y="5446713"/>
              <a:ext cx="49213" cy="50800"/>
            </a:xfrm>
            <a:custGeom>
              <a:avLst/>
              <a:gdLst>
                <a:gd name="T0" fmla="*/ 14 w 31"/>
                <a:gd name="T1" fmla="*/ 0 h 32"/>
                <a:gd name="T2" fmla="*/ 0 w 31"/>
                <a:gd name="T3" fmla="*/ 0 h 32"/>
                <a:gd name="T4" fmla="*/ 14 w 31"/>
                <a:gd name="T5" fmla="*/ 32 h 32"/>
                <a:gd name="T6" fmla="*/ 31 w 31"/>
                <a:gd name="T7" fmla="*/ 32 h 32"/>
                <a:gd name="T8" fmla="*/ 14 w 31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2">
                  <a:moveTo>
                    <a:pt x="14" y="0"/>
                  </a:moveTo>
                  <a:lnTo>
                    <a:pt x="0" y="0"/>
                  </a:lnTo>
                  <a:lnTo>
                    <a:pt x="14" y="32"/>
                  </a:lnTo>
                  <a:lnTo>
                    <a:pt x="31" y="32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10991850" y="5395913"/>
              <a:ext cx="79375" cy="101600"/>
            </a:xfrm>
            <a:custGeom>
              <a:avLst/>
              <a:gdLst>
                <a:gd name="T0" fmla="*/ 18 w 21"/>
                <a:gd name="T1" fmla="*/ 18 h 26"/>
                <a:gd name="T2" fmla="*/ 13 w 21"/>
                <a:gd name="T3" fmla="*/ 20 h 26"/>
                <a:gd name="T4" fmla="*/ 6 w 21"/>
                <a:gd name="T5" fmla="*/ 13 h 26"/>
                <a:gd name="T6" fmla="*/ 13 w 21"/>
                <a:gd name="T7" fmla="*/ 7 h 26"/>
                <a:gd name="T8" fmla="*/ 18 w 21"/>
                <a:gd name="T9" fmla="*/ 9 h 26"/>
                <a:gd name="T10" fmla="*/ 21 w 21"/>
                <a:gd name="T11" fmla="*/ 3 h 26"/>
                <a:gd name="T12" fmla="*/ 13 w 21"/>
                <a:gd name="T13" fmla="*/ 0 h 26"/>
                <a:gd name="T14" fmla="*/ 0 w 21"/>
                <a:gd name="T15" fmla="*/ 13 h 26"/>
                <a:gd name="T16" fmla="*/ 13 w 21"/>
                <a:gd name="T17" fmla="*/ 26 h 26"/>
                <a:gd name="T18" fmla="*/ 21 w 21"/>
                <a:gd name="T19" fmla="*/ 23 h 26"/>
                <a:gd name="T20" fmla="*/ 18 w 21"/>
                <a:gd name="T21" fmla="*/ 1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26">
                  <a:moveTo>
                    <a:pt x="18" y="18"/>
                  </a:moveTo>
                  <a:cubicBezTo>
                    <a:pt x="17" y="19"/>
                    <a:pt x="15" y="20"/>
                    <a:pt x="13" y="20"/>
                  </a:cubicBez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5" y="7"/>
                    <a:pt x="17" y="7"/>
                    <a:pt x="18" y="9"/>
                  </a:cubicBezTo>
                  <a:cubicBezTo>
                    <a:pt x="18" y="7"/>
                    <a:pt x="19" y="5"/>
                    <a:pt x="21" y="3"/>
                  </a:cubicBezTo>
                  <a:cubicBezTo>
                    <a:pt x="19" y="1"/>
                    <a:pt x="16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16" y="26"/>
                    <a:pt x="19" y="25"/>
                    <a:pt x="21" y="23"/>
                  </a:cubicBezTo>
                  <a:cubicBezTo>
                    <a:pt x="19" y="22"/>
                    <a:pt x="18" y="20"/>
                    <a:pt x="18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6" name="Freeform 21"/>
            <p:cNvSpPr>
              <a:spLocks noEditPoints="1"/>
            </p:cNvSpPr>
            <p:nvPr/>
          </p:nvSpPr>
          <p:spPr bwMode="auto">
            <a:xfrm>
              <a:off x="10882313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10942638" y="5518150"/>
              <a:ext cx="34925" cy="58738"/>
            </a:xfrm>
            <a:custGeom>
              <a:avLst/>
              <a:gdLst>
                <a:gd name="T0" fmla="*/ 0 w 22"/>
                <a:gd name="T1" fmla="*/ 37 h 37"/>
                <a:gd name="T2" fmla="*/ 0 w 22"/>
                <a:gd name="T3" fmla="*/ 0 h 37"/>
                <a:gd name="T4" fmla="*/ 22 w 22"/>
                <a:gd name="T5" fmla="*/ 0 h 37"/>
                <a:gd name="T6" fmla="*/ 22 w 22"/>
                <a:gd name="T7" fmla="*/ 4 h 37"/>
                <a:gd name="T8" fmla="*/ 5 w 22"/>
                <a:gd name="T9" fmla="*/ 4 h 37"/>
                <a:gd name="T10" fmla="*/ 5 w 22"/>
                <a:gd name="T11" fmla="*/ 14 h 37"/>
                <a:gd name="T12" fmla="*/ 19 w 22"/>
                <a:gd name="T13" fmla="*/ 14 h 37"/>
                <a:gd name="T14" fmla="*/ 19 w 22"/>
                <a:gd name="T15" fmla="*/ 19 h 37"/>
                <a:gd name="T16" fmla="*/ 5 w 22"/>
                <a:gd name="T17" fmla="*/ 19 h 37"/>
                <a:gd name="T18" fmla="*/ 5 w 22"/>
                <a:gd name="T19" fmla="*/ 32 h 37"/>
                <a:gd name="T20" fmla="*/ 22 w 22"/>
                <a:gd name="T21" fmla="*/ 32 h 37"/>
                <a:gd name="T22" fmla="*/ 22 w 22"/>
                <a:gd name="T23" fmla="*/ 37 h 37"/>
                <a:gd name="T24" fmla="*/ 0 w 22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7">
                  <a:moveTo>
                    <a:pt x="0" y="37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5" y="4"/>
                  </a:lnTo>
                  <a:lnTo>
                    <a:pt x="5" y="14"/>
                  </a:lnTo>
                  <a:lnTo>
                    <a:pt x="19" y="14"/>
                  </a:lnTo>
                  <a:lnTo>
                    <a:pt x="19" y="19"/>
                  </a:lnTo>
                  <a:lnTo>
                    <a:pt x="5" y="19"/>
                  </a:lnTo>
                  <a:lnTo>
                    <a:pt x="5" y="32"/>
                  </a:lnTo>
                  <a:lnTo>
                    <a:pt x="22" y="32"/>
                  </a:lnTo>
                  <a:lnTo>
                    <a:pt x="22" y="37"/>
                  </a:lnTo>
                  <a:lnTo>
                    <a:pt x="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8" name="Rectangle 23"/>
            <p:cNvSpPr>
              <a:spLocks noChangeArrowheads="1"/>
            </p:cNvSpPr>
            <p:nvPr/>
          </p:nvSpPr>
          <p:spPr bwMode="auto">
            <a:xfrm>
              <a:off x="11002963" y="5518150"/>
              <a:ext cx="7938" cy="587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9" name="Freeform 24"/>
            <p:cNvSpPr>
              <a:spLocks/>
            </p:cNvSpPr>
            <p:nvPr/>
          </p:nvSpPr>
          <p:spPr bwMode="auto">
            <a:xfrm>
              <a:off x="11037888" y="5518150"/>
              <a:ext cx="33338" cy="58738"/>
            </a:xfrm>
            <a:custGeom>
              <a:avLst/>
              <a:gdLst>
                <a:gd name="T0" fmla="*/ 14 w 21"/>
                <a:gd name="T1" fmla="*/ 4 h 37"/>
                <a:gd name="T2" fmla="*/ 14 w 21"/>
                <a:gd name="T3" fmla="*/ 37 h 37"/>
                <a:gd name="T4" fmla="*/ 9 w 21"/>
                <a:gd name="T5" fmla="*/ 37 h 37"/>
                <a:gd name="T6" fmla="*/ 9 w 21"/>
                <a:gd name="T7" fmla="*/ 4 h 37"/>
                <a:gd name="T8" fmla="*/ 0 w 21"/>
                <a:gd name="T9" fmla="*/ 4 h 37"/>
                <a:gd name="T10" fmla="*/ 0 w 21"/>
                <a:gd name="T11" fmla="*/ 0 h 37"/>
                <a:gd name="T12" fmla="*/ 21 w 21"/>
                <a:gd name="T13" fmla="*/ 0 h 37"/>
                <a:gd name="T14" fmla="*/ 21 w 21"/>
                <a:gd name="T15" fmla="*/ 4 h 37"/>
                <a:gd name="T16" fmla="*/ 14 w 21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37">
                  <a:moveTo>
                    <a:pt x="14" y="4"/>
                  </a:moveTo>
                  <a:lnTo>
                    <a:pt x="14" y="37"/>
                  </a:lnTo>
                  <a:lnTo>
                    <a:pt x="9" y="37"/>
                  </a:lnTo>
                  <a:lnTo>
                    <a:pt x="9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1" y="0"/>
                  </a:lnTo>
                  <a:lnTo>
                    <a:pt x="21" y="4"/>
                  </a:lnTo>
                  <a:lnTo>
                    <a:pt x="1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0" name="Freeform 25"/>
            <p:cNvSpPr>
              <a:spLocks/>
            </p:cNvSpPr>
            <p:nvPr/>
          </p:nvSpPr>
          <p:spPr bwMode="auto">
            <a:xfrm>
              <a:off x="11095038" y="5518150"/>
              <a:ext cx="33338" cy="58738"/>
            </a:xfrm>
            <a:custGeom>
              <a:avLst/>
              <a:gdLst>
                <a:gd name="T0" fmla="*/ 5 w 9"/>
                <a:gd name="T1" fmla="*/ 15 h 15"/>
                <a:gd name="T2" fmla="*/ 0 w 9"/>
                <a:gd name="T3" fmla="*/ 13 h 15"/>
                <a:gd name="T4" fmla="*/ 1 w 9"/>
                <a:gd name="T5" fmla="*/ 11 h 15"/>
                <a:gd name="T6" fmla="*/ 5 w 9"/>
                <a:gd name="T7" fmla="*/ 13 h 15"/>
                <a:gd name="T8" fmla="*/ 7 w 9"/>
                <a:gd name="T9" fmla="*/ 11 h 15"/>
                <a:gd name="T10" fmla="*/ 7 w 9"/>
                <a:gd name="T11" fmla="*/ 9 h 15"/>
                <a:gd name="T12" fmla="*/ 5 w 9"/>
                <a:gd name="T13" fmla="*/ 8 h 15"/>
                <a:gd name="T14" fmla="*/ 4 w 9"/>
                <a:gd name="T15" fmla="*/ 8 h 15"/>
                <a:gd name="T16" fmla="*/ 1 w 9"/>
                <a:gd name="T17" fmla="*/ 7 h 15"/>
                <a:gd name="T18" fmla="*/ 0 w 9"/>
                <a:gd name="T19" fmla="*/ 4 h 15"/>
                <a:gd name="T20" fmla="*/ 5 w 9"/>
                <a:gd name="T21" fmla="*/ 0 h 15"/>
                <a:gd name="T22" fmla="*/ 9 w 9"/>
                <a:gd name="T23" fmla="*/ 2 h 15"/>
                <a:gd name="T24" fmla="*/ 8 w 9"/>
                <a:gd name="T25" fmla="*/ 3 h 15"/>
                <a:gd name="T26" fmla="*/ 5 w 9"/>
                <a:gd name="T27" fmla="*/ 2 h 15"/>
                <a:gd name="T28" fmla="*/ 2 w 9"/>
                <a:gd name="T29" fmla="*/ 4 h 15"/>
                <a:gd name="T30" fmla="*/ 3 w 9"/>
                <a:gd name="T31" fmla="*/ 5 h 15"/>
                <a:gd name="T32" fmla="*/ 4 w 9"/>
                <a:gd name="T33" fmla="*/ 6 h 15"/>
                <a:gd name="T34" fmla="*/ 6 w 9"/>
                <a:gd name="T35" fmla="*/ 6 h 15"/>
                <a:gd name="T36" fmla="*/ 8 w 9"/>
                <a:gd name="T37" fmla="*/ 8 h 15"/>
                <a:gd name="T38" fmla="*/ 9 w 9"/>
                <a:gd name="T39" fmla="*/ 11 h 15"/>
                <a:gd name="T40" fmla="*/ 5 w 9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" h="15">
                  <a:moveTo>
                    <a:pt x="5" y="15"/>
                  </a:moveTo>
                  <a:cubicBezTo>
                    <a:pt x="3" y="15"/>
                    <a:pt x="1" y="14"/>
                    <a:pt x="0" y="13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3"/>
                    <a:pt x="3" y="13"/>
                    <a:pt x="5" y="13"/>
                  </a:cubicBezTo>
                  <a:cubicBezTo>
                    <a:pt x="6" y="13"/>
                    <a:pt x="7" y="12"/>
                    <a:pt x="7" y="11"/>
                  </a:cubicBezTo>
                  <a:cubicBezTo>
                    <a:pt x="7" y="10"/>
                    <a:pt x="7" y="9"/>
                    <a:pt x="7" y="9"/>
                  </a:cubicBezTo>
                  <a:cubicBezTo>
                    <a:pt x="7" y="9"/>
                    <a:pt x="6" y="9"/>
                    <a:pt x="5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1" y="7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3" y="2"/>
                    <a:pt x="2" y="3"/>
                    <a:pt x="2" y="4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6"/>
                    <a:pt x="4" y="6"/>
                    <a:pt x="4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7" y="7"/>
                    <a:pt x="8" y="7"/>
                    <a:pt x="8" y="8"/>
                  </a:cubicBezTo>
                  <a:cubicBezTo>
                    <a:pt x="9" y="8"/>
                    <a:pt x="9" y="9"/>
                    <a:pt x="9" y="11"/>
                  </a:cubicBezTo>
                  <a:cubicBezTo>
                    <a:pt x="9" y="13"/>
                    <a:pt x="7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1" name="Freeform 26"/>
            <p:cNvSpPr>
              <a:spLocks noEditPoints="1"/>
            </p:cNvSpPr>
            <p:nvPr/>
          </p:nvSpPr>
          <p:spPr bwMode="auto">
            <a:xfrm>
              <a:off x="11174413" y="5518150"/>
              <a:ext cx="41275" cy="58738"/>
            </a:xfrm>
            <a:custGeom>
              <a:avLst/>
              <a:gdLst>
                <a:gd name="T0" fmla="*/ 9 w 11"/>
                <a:gd name="T1" fmla="*/ 15 h 15"/>
                <a:gd name="T2" fmla="*/ 8 w 11"/>
                <a:gd name="T3" fmla="*/ 13 h 15"/>
                <a:gd name="T4" fmla="*/ 4 w 11"/>
                <a:gd name="T5" fmla="*/ 15 h 15"/>
                <a:gd name="T6" fmla="*/ 0 w 11"/>
                <a:gd name="T7" fmla="*/ 10 h 15"/>
                <a:gd name="T8" fmla="*/ 2 w 11"/>
                <a:gd name="T9" fmla="*/ 6 h 15"/>
                <a:gd name="T10" fmla="*/ 1 w 11"/>
                <a:gd name="T11" fmla="*/ 3 h 15"/>
                <a:gd name="T12" fmla="*/ 4 w 11"/>
                <a:gd name="T13" fmla="*/ 0 h 15"/>
                <a:gd name="T14" fmla="*/ 7 w 11"/>
                <a:gd name="T15" fmla="*/ 3 h 15"/>
                <a:gd name="T16" fmla="*/ 6 w 11"/>
                <a:gd name="T17" fmla="*/ 6 h 15"/>
                <a:gd name="T18" fmla="*/ 5 w 11"/>
                <a:gd name="T19" fmla="*/ 7 h 15"/>
                <a:gd name="T20" fmla="*/ 8 w 11"/>
                <a:gd name="T21" fmla="*/ 10 h 15"/>
                <a:gd name="T22" fmla="*/ 8 w 11"/>
                <a:gd name="T23" fmla="*/ 7 h 15"/>
                <a:gd name="T24" fmla="*/ 10 w 11"/>
                <a:gd name="T25" fmla="*/ 7 h 15"/>
                <a:gd name="T26" fmla="*/ 9 w 11"/>
                <a:gd name="T27" fmla="*/ 12 h 15"/>
                <a:gd name="T28" fmla="*/ 11 w 11"/>
                <a:gd name="T29" fmla="*/ 15 h 15"/>
                <a:gd name="T30" fmla="*/ 9 w 11"/>
                <a:gd name="T31" fmla="*/ 15 h 15"/>
                <a:gd name="T32" fmla="*/ 3 w 11"/>
                <a:gd name="T33" fmla="*/ 8 h 15"/>
                <a:gd name="T34" fmla="*/ 2 w 11"/>
                <a:gd name="T35" fmla="*/ 10 h 15"/>
                <a:gd name="T36" fmla="*/ 4 w 11"/>
                <a:gd name="T37" fmla="*/ 13 h 15"/>
                <a:gd name="T38" fmla="*/ 6 w 11"/>
                <a:gd name="T39" fmla="*/ 12 h 15"/>
                <a:gd name="T40" fmla="*/ 3 w 11"/>
                <a:gd name="T41" fmla="*/ 8 h 15"/>
                <a:gd name="T42" fmla="*/ 4 w 11"/>
                <a:gd name="T43" fmla="*/ 2 h 15"/>
                <a:gd name="T44" fmla="*/ 3 w 11"/>
                <a:gd name="T45" fmla="*/ 3 h 15"/>
                <a:gd name="T46" fmla="*/ 4 w 11"/>
                <a:gd name="T47" fmla="*/ 5 h 15"/>
                <a:gd name="T48" fmla="*/ 5 w 11"/>
                <a:gd name="T49" fmla="*/ 5 h 15"/>
                <a:gd name="T50" fmla="*/ 5 w 11"/>
                <a:gd name="T51" fmla="*/ 3 h 15"/>
                <a:gd name="T52" fmla="*/ 4 w 11"/>
                <a:gd name="T5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15">
                  <a:moveTo>
                    <a:pt x="9" y="15"/>
                  </a:moveTo>
                  <a:cubicBezTo>
                    <a:pt x="8" y="13"/>
                    <a:pt x="8" y="13"/>
                    <a:pt x="8" y="13"/>
                  </a:cubicBezTo>
                  <a:cubicBezTo>
                    <a:pt x="7" y="14"/>
                    <a:pt x="6" y="15"/>
                    <a:pt x="4" y="15"/>
                  </a:cubicBezTo>
                  <a:cubicBezTo>
                    <a:pt x="1" y="15"/>
                    <a:pt x="0" y="13"/>
                    <a:pt x="0" y="10"/>
                  </a:cubicBezTo>
                  <a:cubicBezTo>
                    <a:pt x="0" y="8"/>
                    <a:pt x="1" y="7"/>
                    <a:pt x="2" y="6"/>
                  </a:cubicBezTo>
                  <a:cubicBezTo>
                    <a:pt x="2" y="6"/>
                    <a:pt x="1" y="5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cubicBezTo>
                    <a:pt x="7" y="4"/>
                    <a:pt x="7" y="5"/>
                    <a:pt x="6" y="6"/>
                  </a:cubicBezTo>
                  <a:cubicBezTo>
                    <a:pt x="6" y="6"/>
                    <a:pt x="5" y="6"/>
                    <a:pt x="5" y="7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9"/>
                    <a:pt x="8" y="9"/>
                    <a:pt x="8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9"/>
                    <a:pt x="10" y="11"/>
                    <a:pt x="9" y="12"/>
                  </a:cubicBezTo>
                  <a:cubicBezTo>
                    <a:pt x="11" y="15"/>
                    <a:pt x="11" y="15"/>
                    <a:pt x="11" y="15"/>
                  </a:cubicBezTo>
                  <a:lnTo>
                    <a:pt x="9" y="15"/>
                  </a:lnTo>
                  <a:close/>
                  <a:moveTo>
                    <a:pt x="3" y="8"/>
                  </a:moveTo>
                  <a:cubicBezTo>
                    <a:pt x="2" y="8"/>
                    <a:pt x="2" y="9"/>
                    <a:pt x="2" y="10"/>
                  </a:cubicBezTo>
                  <a:cubicBezTo>
                    <a:pt x="2" y="12"/>
                    <a:pt x="3" y="13"/>
                    <a:pt x="4" y="13"/>
                  </a:cubicBezTo>
                  <a:cubicBezTo>
                    <a:pt x="5" y="13"/>
                    <a:pt x="6" y="13"/>
                    <a:pt x="6" y="12"/>
                  </a:cubicBezTo>
                  <a:lnTo>
                    <a:pt x="3" y="8"/>
                  </a:lnTo>
                  <a:close/>
                  <a:moveTo>
                    <a:pt x="4" y="2"/>
                  </a:moveTo>
                  <a:cubicBezTo>
                    <a:pt x="3" y="2"/>
                    <a:pt x="3" y="2"/>
                    <a:pt x="3" y="3"/>
                  </a:cubicBezTo>
                  <a:cubicBezTo>
                    <a:pt x="3" y="4"/>
                    <a:pt x="3" y="4"/>
                    <a:pt x="4" y="5"/>
                  </a:cubicBezTo>
                  <a:cubicBezTo>
                    <a:pt x="4" y="5"/>
                    <a:pt x="5" y="5"/>
                    <a:pt x="5" y="5"/>
                  </a:cubicBezTo>
                  <a:cubicBezTo>
                    <a:pt x="5" y="4"/>
                    <a:pt x="5" y="4"/>
                    <a:pt x="5" y="3"/>
                  </a:cubicBezTo>
                  <a:cubicBezTo>
                    <a:pt x="5" y="2"/>
                    <a:pt x="5" y="2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2" name="Freeform 27"/>
            <p:cNvSpPr>
              <a:spLocks/>
            </p:cNvSpPr>
            <p:nvPr/>
          </p:nvSpPr>
          <p:spPr bwMode="auto">
            <a:xfrm>
              <a:off x="11256963" y="5518150"/>
              <a:ext cx="34925" cy="58738"/>
            </a:xfrm>
            <a:custGeom>
              <a:avLst/>
              <a:gdLst>
                <a:gd name="T0" fmla="*/ 12 w 22"/>
                <a:gd name="T1" fmla="*/ 4 h 37"/>
                <a:gd name="T2" fmla="*/ 12 w 22"/>
                <a:gd name="T3" fmla="*/ 37 h 37"/>
                <a:gd name="T4" fmla="*/ 7 w 22"/>
                <a:gd name="T5" fmla="*/ 37 h 37"/>
                <a:gd name="T6" fmla="*/ 7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2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2" y="4"/>
                  </a:moveTo>
                  <a:lnTo>
                    <a:pt x="12" y="37"/>
                  </a:lnTo>
                  <a:lnTo>
                    <a:pt x="7" y="37"/>
                  </a:lnTo>
                  <a:lnTo>
                    <a:pt x="7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2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3" name="Freeform 28"/>
            <p:cNvSpPr>
              <a:spLocks noEditPoints="1"/>
            </p:cNvSpPr>
            <p:nvPr/>
          </p:nvSpPr>
          <p:spPr bwMode="auto">
            <a:xfrm>
              <a:off x="11318875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4" name="Freeform 29"/>
            <p:cNvSpPr>
              <a:spLocks/>
            </p:cNvSpPr>
            <p:nvPr/>
          </p:nvSpPr>
          <p:spPr bwMode="auto">
            <a:xfrm>
              <a:off x="11379200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0 h 15"/>
                <a:gd name="T4" fmla="*/ 0 w 10"/>
                <a:gd name="T5" fmla="*/ 0 h 15"/>
                <a:gd name="T6" fmla="*/ 2 w 10"/>
                <a:gd name="T7" fmla="*/ 0 h 15"/>
                <a:gd name="T8" fmla="*/ 2 w 10"/>
                <a:gd name="T9" fmla="*/ 10 h 15"/>
                <a:gd name="T10" fmla="*/ 5 w 10"/>
                <a:gd name="T11" fmla="*/ 13 h 15"/>
                <a:gd name="T12" fmla="*/ 8 w 10"/>
                <a:gd name="T13" fmla="*/ 10 h 15"/>
                <a:gd name="T14" fmla="*/ 8 w 10"/>
                <a:gd name="T15" fmla="*/ 0 h 15"/>
                <a:gd name="T16" fmla="*/ 10 w 10"/>
                <a:gd name="T17" fmla="*/ 0 h 15"/>
                <a:gd name="T18" fmla="*/ 10 w 10"/>
                <a:gd name="T19" fmla="*/ 10 h 15"/>
                <a:gd name="T20" fmla="*/ 5 w 10"/>
                <a:gd name="T2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2" y="15"/>
                    <a:pt x="0" y="13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2"/>
                    <a:pt x="3" y="13"/>
                    <a:pt x="5" y="13"/>
                  </a:cubicBezTo>
                  <a:cubicBezTo>
                    <a:pt x="7" y="13"/>
                    <a:pt x="8" y="12"/>
                    <a:pt x="8" y="1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5" name="Freeform 30"/>
            <p:cNvSpPr>
              <a:spLocks/>
            </p:cNvSpPr>
            <p:nvPr/>
          </p:nvSpPr>
          <p:spPr bwMode="auto">
            <a:xfrm>
              <a:off x="11439525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3 h 15"/>
                <a:gd name="T4" fmla="*/ 2 w 10"/>
                <a:gd name="T5" fmla="*/ 11 h 15"/>
                <a:gd name="T6" fmla="*/ 5 w 10"/>
                <a:gd name="T7" fmla="*/ 13 h 15"/>
                <a:gd name="T8" fmla="*/ 8 w 10"/>
                <a:gd name="T9" fmla="*/ 11 h 15"/>
                <a:gd name="T10" fmla="*/ 7 w 10"/>
                <a:gd name="T11" fmla="*/ 9 h 15"/>
                <a:gd name="T12" fmla="*/ 6 w 10"/>
                <a:gd name="T13" fmla="*/ 8 h 15"/>
                <a:gd name="T14" fmla="*/ 4 w 10"/>
                <a:gd name="T15" fmla="*/ 8 h 15"/>
                <a:gd name="T16" fmla="*/ 2 w 10"/>
                <a:gd name="T17" fmla="*/ 7 h 15"/>
                <a:gd name="T18" fmla="*/ 1 w 10"/>
                <a:gd name="T19" fmla="*/ 4 h 15"/>
                <a:gd name="T20" fmla="*/ 5 w 10"/>
                <a:gd name="T21" fmla="*/ 0 h 15"/>
                <a:gd name="T22" fmla="*/ 9 w 10"/>
                <a:gd name="T23" fmla="*/ 2 h 15"/>
                <a:gd name="T24" fmla="*/ 8 w 10"/>
                <a:gd name="T25" fmla="*/ 3 h 15"/>
                <a:gd name="T26" fmla="*/ 5 w 10"/>
                <a:gd name="T27" fmla="*/ 2 h 15"/>
                <a:gd name="T28" fmla="*/ 3 w 10"/>
                <a:gd name="T29" fmla="*/ 4 h 15"/>
                <a:gd name="T30" fmla="*/ 3 w 10"/>
                <a:gd name="T31" fmla="*/ 5 h 15"/>
                <a:gd name="T32" fmla="*/ 5 w 10"/>
                <a:gd name="T33" fmla="*/ 6 h 15"/>
                <a:gd name="T34" fmla="*/ 6 w 10"/>
                <a:gd name="T35" fmla="*/ 6 h 15"/>
                <a:gd name="T36" fmla="*/ 9 w 10"/>
                <a:gd name="T37" fmla="*/ 8 h 15"/>
                <a:gd name="T38" fmla="*/ 10 w 10"/>
                <a:gd name="T39" fmla="*/ 11 h 15"/>
                <a:gd name="T40" fmla="*/ 5 w 10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3" y="15"/>
                    <a:pt x="2" y="14"/>
                    <a:pt x="0" y="13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3"/>
                    <a:pt x="4" y="13"/>
                    <a:pt x="5" y="13"/>
                  </a:cubicBezTo>
                  <a:cubicBezTo>
                    <a:pt x="7" y="13"/>
                    <a:pt x="8" y="12"/>
                    <a:pt x="8" y="11"/>
                  </a:cubicBezTo>
                  <a:cubicBezTo>
                    <a:pt x="8" y="10"/>
                    <a:pt x="8" y="9"/>
                    <a:pt x="7" y="9"/>
                  </a:cubicBezTo>
                  <a:cubicBezTo>
                    <a:pt x="7" y="9"/>
                    <a:pt x="7" y="9"/>
                    <a:pt x="6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2" y="7"/>
                  </a:cubicBezTo>
                  <a:cubicBezTo>
                    <a:pt x="1" y="6"/>
                    <a:pt x="1" y="5"/>
                    <a:pt x="1" y="4"/>
                  </a:cubicBezTo>
                  <a:cubicBezTo>
                    <a:pt x="1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4" y="2"/>
                    <a:pt x="3" y="3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8" y="7"/>
                    <a:pt x="8" y="7"/>
                    <a:pt x="9" y="8"/>
                  </a:cubicBezTo>
                  <a:cubicBezTo>
                    <a:pt x="9" y="8"/>
                    <a:pt x="10" y="9"/>
                    <a:pt x="10" y="11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6" name="Freeform 31"/>
            <p:cNvSpPr>
              <a:spLocks/>
            </p:cNvSpPr>
            <p:nvPr/>
          </p:nvSpPr>
          <p:spPr bwMode="auto">
            <a:xfrm>
              <a:off x="11499850" y="5518150"/>
              <a:ext cx="34925" cy="58738"/>
            </a:xfrm>
            <a:custGeom>
              <a:avLst/>
              <a:gdLst>
                <a:gd name="T0" fmla="*/ 15 w 22"/>
                <a:gd name="T1" fmla="*/ 4 h 37"/>
                <a:gd name="T2" fmla="*/ 15 w 22"/>
                <a:gd name="T3" fmla="*/ 37 h 37"/>
                <a:gd name="T4" fmla="*/ 10 w 22"/>
                <a:gd name="T5" fmla="*/ 37 h 37"/>
                <a:gd name="T6" fmla="*/ 10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5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5" y="4"/>
                  </a:moveTo>
                  <a:lnTo>
                    <a:pt x="15" y="37"/>
                  </a:lnTo>
                  <a:lnTo>
                    <a:pt x="10" y="37"/>
                  </a:lnTo>
                  <a:lnTo>
                    <a:pt x="1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7" name="Freeform 32"/>
            <p:cNvSpPr>
              <a:spLocks/>
            </p:cNvSpPr>
            <p:nvPr/>
          </p:nvSpPr>
          <p:spPr bwMode="auto">
            <a:xfrm>
              <a:off x="11212513" y="5289550"/>
              <a:ext cx="322263" cy="173038"/>
            </a:xfrm>
            <a:custGeom>
              <a:avLst/>
              <a:gdLst>
                <a:gd name="T0" fmla="*/ 203 w 203"/>
                <a:gd name="T1" fmla="*/ 109 h 109"/>
                <a:gd name="T2" fmla="*/ 203 w 203"/>
                <a:gd name="T3" fmla="*/ 109 h 109"/>
                <a:gd name="T4" fmla="*/ 67 w 203"/>
                <a:gd name="T5" fmla="*/ 0 h 109"/>
                <a:gd name="T6" fmla="*/ 0 w 203"/>
                <a:gd name="T7" fmla="*/ 106 h 109"/>
                <a:gd name="T8" fmla="*/ 0 w 203"/>
                <a:gd name="T9" fmla="*/ 109 h 109"/>
                <a:gd name="T10" fmla="*/ 67 w 203"/>
                <a:gd name="T11" fmla="*/ 35 h 109"/>
                <a:gd name="T12" fmla="*/ 203 w 203"/>
                <a:gd name="T13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109">
                  <a:moveTo>
                    <a:pt x="203" y="109"/>
                  </a:moveTo>
                  <a:lnTo>
                    <a:pt x="203" y="109"/>
                  </a:lnTo>
                  <a:lnTo>
                    <a:pt x="67" y="0"/>
                  </a:lnTo>
                  <a:lnTo>
                    <a:pt x="0" y="106"/>
                  </a:lnTo>
                  <a:lnTo>
                    <a:pt x="0" y="109"/>
                  </a:lnTo>
                  <a:lnTo>
                    <a:pt x="67" y="35"/>
                  </a:lnTo>
                  <a:lnTo>
                    <a:pt x="203" y="1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8" name="Freeform 33"/>
            <p:cNvSpPr>
              <a:spLocks/>
            </p:cNvSpPr>
            <p:nvPr/>
          </p:nvSpPr>
          <p:spPr bwMode="auto">
            <a:xfrm>
              <a:off x="11212513" y="5364163"/>
              <a:ext cx="322263" cy="109538"/>
            </a:xfrm>
            <a:custGeom>
              <a:avLst/>
              <a:gdLst>
                <a:gd name="T0" fmla="*/ 0 w 203"/>
                <a:gd name="T1" fmla="*/ 67 h 69"/>
                <a:gd name="T2" fmla="*/ 0 w 203"/>
                <a:gd name="T3" fmla="*/ 69 h 69"/>
                <a:gd name="T4" fmla="*/ 67 w 203"/>
                <a:gd name="T5" fmla="*/ 25 h 69"/>
                <a:gd name="T6" fmla="*/ 203 w 203"/>
                <a:gd name="T7" fmla="*/ 69 h 69"/>
                <a:gd name="T8" fmla="*/ 203 w 203"/>
                <a:gd name="T9" fmla="*/ 67 h 69"/>
                <a:gd name="T10" fmla="*/ 67 w 203"/>
                <a:gd name="T11" fmla="*/ 0 h 69"/>
                <a:gd name="T12" fmla="*/ 0 w 203"/>
                <a:gd name="T13" fmla="*/ 6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69">
                  <a:moveTo>
                    <a:pt x="0" y="67"/>
                  </a:moveTo>
                  <a:lnTo>
                    <a:pt x="0" y="69"/>
                  </a:lnTo>
                  <a:lnTo>
                    <a:pt x="67" y="25"/>
                  </a:lnTo>
                  <a:lnTo>
                    <a:pt x="203" y="69"/>
                  </a:lnTo>
                  <a:lnTo>
                    <a:pt x="203" y="67"/>
                  </a:lnTo>
                  <a:lnTo>
                    <a:pt x="67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9" name="Freeform 34"/>
            <p:cNvSpPr>
              <a:spLocks/>
            </p:cNvSpPr>
            <p:nvPr/>
          </p:nvSpPr>
          <p:spPr bwMode="auto">
            <a:xfrm>
              <a:off x="11212513" y="5414963"/>
              <a:ext cx="322263" cy="66675"/>
            </a:xfrm>
            <a:custGeom>
              <a:avLst/>
              <a:gdLst>
                <a:gd name="T0" fmla="*/ 0 w 203"/>
                <a:gd name="T1" fmla="*/ 42 h 42"/>
                <a:gd name="T2" fmla="*/ 0 w 203"/>
                <a:gd name="T3" fmla="*/ 42 h 42"/>
                <a:gd name="T4" fmla="*/ 67 w 203"/>
                <a:gd name="T5" fmla="*/ 25 h 42"/>
                <a:gd name="T6" fmla="*/ 203 w 203"/>
                <a:gd name="T7" fmla="*/ 42 h 42"/>
                <a:gd name="T8" fmla="*/ 203 w 203"/>
                <a:gd name="T9" fmla="*/ 42 h 42"/>
                <a:gd name="T10" fmla="*/ 67 w 203"/>
                <a:gd name="T11" fmla="*/ 0 h 42"/>
                <a:gd name="T12" fmla="*/ 0 w 203"/>
                <a:gd name="T13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42">
                  <a:moveTo>
                    <a:pt x="0" y="42"/>
                  </a:moveTo>
                  <a:lnTo>
                    <a:pt x="0" y="42"/>
                  </a:lnTo>
                  <a:lnTo>
                    <a:pt x="67" y="25"/>
                  </a:lnTo>
                  <a:lnTo>
                    <a:pt x="203" y="42"/>
                  </a:lnTo>
                  <a:lnTo>
                    <a:pt x="203" y="42"/>
                  </a:lnTo>
                  <a:lnTo>
                    <a:pt x="67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0" name="Freeform 35"/>
            <p:cNvSpPr>
              <a:spLocks/>
            </p:cNvSpPr>
            <p:nvPr/>
          </p:nvSpPr>
          <p:spPr bwMode="auto">
            <a:xfrm>
              <a:off x="11212513" y="5470525"/>
              <a:ext cx="322263" cy="23813"/>
            </a:xfrm>
            <a:custGeom>
              <a:avLst/>
              <a:gdLst>
                <a:gd name="T0" fmla="*/ 0 w 203"/>
                <a:gd name="T1" fmla="*/ 12 h 15"/>
                <a:gd name="T2" fmla="*/ 0 w 203"/>
                <a:gd name="T3" fmla="*/ 15 h 15"/>
                <a:gd name="T4" fmla="*/ 203 w 203"/>
                <a:gd name="T5" fmla="*/ 15 h 15"/>
                <a:gd name="T6" fmla="*/ 203 w 203"/>
                <a:gd name="T7" fmla="*/ 12 h 15"/>
                <a:gd name="T8" fmla="*/ 67 w 203"/>
                <a:gd name="T9" fmla="*/ 0 h 15"/>
                <a:gd name="T10" fmla="*/ 0 w 203"/>
                <a:gd name="T11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3" h="15">
                  <a:moveTo>
                    <a:pt x="0" y="12"/>
                  </a:moveTo>
                  <a:lnTo>
                    <a:pt x="0" y="15"/>
                  </a:lnTo>
                  <a:lnTo>
                    <a:pt x="203" y="15"/>
                  </a:lnTo>
                  <a:lnTo>
                    <a:pt x="203" y="12"/>
                  </a:lnTo>
                  <a:lnTo>
                    <a:pt x="67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</p:grpSp>
      <p:grpSp>
        <p:nvGrpSpPr>
          <p:cNvPr id="43" name="그룹 42"/>
          <p:cNvGrpSpPr/>
          <p:nvPr userDrawn="1"/>
        </p:nvGrpSpPr>
        <p:grpSpPr>
          <a:xfrm>
            <a:off x="9276077" y="6972575"/>
            <a:ext cx="1110305" cy="316737"/>
            <a:chOff x="10506075" y="5289550"/>
            <a:chExt cx="1028701" cy="287338"/>
          </a:xfrm>
          <a:solidFill>
            <a:schemeClr val="bg1">
              <a:lumMod val="75000"/>
            </a:schemeClr>
          </a:solidFill>
        </p:grpSpPr>
        <p:sp>
          <p:nvSpPr>
            <p:cNvPr id="44" name="Freeform 5"/>
            <p:cNvSpPr>
              <a:spLocks noEditPoints="1"/>
            </p:cNvSpPr>
            <p:nvPr/>
          </p:nvSpPr>
          <p:spPr bwMode="auto">
            <a:xfrm>
              <a:off x="10585450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5" y="0"/>
                    <a:pt x="0" y="6"/>
                    <a:pt x="0" y="13"/>
                  </a:cubicBezTo>
                  <a:cubicBezTo>
                    <a:pt x="0" y="20"/>
                    <a:pt x="5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5" name="Freeform 6"/>
            <p:cNvSpPr>
              <a:spLocks noEditPoints="1"/>
            </p:cNvSpPr>
            <p:nvPr/>
          </p:nvSpPr>
          <p:spPr bwMode="auto">
            <a:xfrm>
              <a:off x="11071225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6" name="Freeform 7"/>
            <p:cNvSpPr>
              <a:spLocks/>
            </p:cNvSpPr>
            <p:nvPr/>
          </p:nvSpPr>
          <p:spPr bwMode="auto">
            <a:xfrm>
              <a:off x="10710863" y="5399088"/>
              <a:ext cx="65088" cy="63500"/>
            </a:xfrm>
            <a:custGeom>
              <a:avLst/>
              <a:gdLst>
                <a:gd name="T0" fmla="*/ 7 w 17"/>
                <a:gd name="T1" fmla="*/ 16 h 16"/>
                <a:gd name="T2" fmla="*/ 9 w 17"/>
                <a:gd name="T3" fmla="*/ 16 h 16"/>
                <a:gd name="T4" fmla="*/ 17 w 17"/>
                <a:gd name="T5" fmla="*/ 8 h 16"/>
                <a:gd name="T6" fmla="*/ 9 w 17"/>
                <a:gd name="T7" fmla="*/ 0 h 16"/>
                <a:gd name="T8" fmla="*/ 0 w 17"/>
                <a:gd name="T9" fmla="*/ 0 h 16"/>
                <a:gd name="T10" fmla="*/ 1 w 17"/>
                <a:gd name="T11" fmla="*/ 5 h 16"/>
                <a:gd name="T12" fmla="*/ 8 w 17"/>
                <a:gd name="T13" fmla="*/ 5 h 16"/>
                <a:gd name="T14" fmla="*/ 11 w 17"/>
                <a:gd name="T15" fmla="*/ 8 h 16"/>
                <a:gd name="T16" fmla="*/ 8 w 17"/>
                <a:gd name="T17" fmla="*/ 12 h 16"/>
                <a:gd name="T18" fmla="*/ 4 w 17"/>
                <a:gd name="T1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7" y="16"/>
                  </a:moveTo>
                  <a:cubicBezTo>
                    <a:pt x="9" y="16"/>
                    <a:pt x="9" y="16"/>
                    <a:pt x="9" y="16"/>
                  </a:cubicBezTo>
                  <a:cubicBezTo>
                    <a:pt x="14" y="16"/>
                    <a:pt x="17" y="13"/>
                    <a:pt x="17" y="8"/>
                  </a:cubicBezTo>
                  <a:cubicBezTo>
                    <a:pt x="17" y="4"/>
                    <a:pt x="14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10" y="5"/>
                    <a:pt x="11" y="7"/>
                    <a:pt x="11" y="8"/>
                  </a:cubicBezTo>
                  <a:cubicBezTo>
                    <a:pt x="11" y="10"/>
                    <a:pt x="10" y="12"/>
                    <a:pt x="8" y="12"/>
                  </a:cubicBezTo>
                  <a:cubicBezTo>
                    <a:pt x="4" y="12"/>
                    <a:pt x="4" y="12"/>
                    <a:pt x="4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7" name="Rectangle 8"/>
            <p:cNvSpPr>
              <a:spLocks noChangeArrowheads="1"/>
            </p:cNvSpPr>
            <p:nvPr/>
          </p:nvSpPr>
          <p:spPr bwMode="auto">
            <a:xfrm>
              <a:off x="10506075" y="5399088"/>
              <a:ext cx="23813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8" name="Rectangle 9"/>
            <p:cNvSpPr>
              <a:spLocks noChangeArrowheads="1"/>
            </p:cNvSpPr>
            <p:nvPr/>
          </p:nvSpPr>
          <p:spPr bwMode="auto">
            <a:xfrm>
              <a:off x="10696575" y="5399088"/>
              <a:ext cx="22225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49" name="Freeform 10"/>
            <p:cNvSpPr>
              <a:spLocks/>
            </p:cNvSpPr>
            <p:nvPr/>
          </p:nvSpPr>
          <p:spPr bwMode="auto">
            <a:xfrm>
              <a:off x="10877550" y="5399088"/>
              <a:ext cx="31750" cy="98425"/>
            </a:xfrm>
            <a:custGeom>
              <a:avLst/>
              <a:gdLst>
                <a:gd name="T0" fmla="*/ 15 w 20"/>
                <a:gd name="T1" fmla="*/ 62 h 62"/>
                <a:gd name="T2" fmla="*/ 0 w 20"/>
                <a:gd name="T3" fmla="*/ 62 h 62"/>
                <a:gd name="T4" fmla="*/ 5 w 20"/>
                <a:gd name="T5" fmla="*/ 0 h 62"/>
                <a:gd name="T6" fmla="*/ 20 w 20"/>
                <a:gd name="T7" fmla="*/ 0 h 62"/>
                <a:gd name="T8" fmla="*/ 15 w 20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2">
                  <a:moveTo>
                    <a:pt x="15" y="62"/>
                  </a:moveTo>
                  <a:lnTo>
                    <a:pt x="0" y="62"/>
                  </a:lnTo>
                  <a:lnTo>
                    <a:pt x="5" y="0"/>
                  </a:lnTo>
                  <a:lnTo>
                    <a:pt x="20" y="0"/>
                  </a:lnTo>
                  <a:lnTo>
                    <a:pt x="1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0" name="Rectangle 11"/>
            <p:cNvSpPr>
              <a:spLocks noChangeArrowheads="1"/>
            </p:cNvSpPr>
            <p:nvPr/>
          </p:nvSpPr>
          <p:spPr bwMode="auto">
            <a:xfrm>
              <a:off x="10806113" y="5457825"/>
              <a:ext cx="46038" cy="20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1" name="Freeform 12"/>
            <p:cNvSpPr>
              <a:spLocks/>
            </p:cNvSpPr>
            <p:nvPr/>
          </p:nvSpPr>
          <p:spPr bwMode="auto">
            <a:xfrm>
              <a:off x="10779125" y="5399088"/>
              <a:ext cx="61913" cy="98425"/>
            </a:xfrm>
            <a:custGeom>
              <a:avLst/>
              <a:gdLst>
                <a:gd name="T0" fmla="*/ 17 w 39"/>
                <a:gd name="T1" fmla="*/ 62 h 62"/>
                <a:gd name="T2" fmla="*/ 0 w 39"/>
                <a:gd name="T3" fmla="*/ 62 h 62"/>
                <a:gd name="T4" fmla="*/ 24 w 39"/>
                <a:gd name="T5" fmla="*/ 0 h 62"/>
                <a:gd name="T6" fmla="*/ 39 w 39"/>
                <a:gd name="T7" fmla="*/ 0 h 62"/>
                <a:gd name="T8" fmla="*/ 17 w 3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62">
                  <a:moveTo>
                    <a:pt x="17" y="62"/>
                  </a:moveTo>
                  <a:lnTo>
                    <a:pt x="0" y="62"/>
                  </a:lnTo>
                  <a:lnTo>
                    <a:pt x="24" y="0"/>
                  </a:lnTo>
                  <a:lnTo>
                    <a:pt x="39" y="0"/>
                  </a:lnTo>
                  <a:lnTo>
                    <a:pt x="17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2" name="Freeform 13"/>
            <p:cNvSpPr>
              <a:spLocks/>
            </p:cNvSpPr>
            <p:nvPr/>
          </p:nvSpPr>
          <p:spPr bwMode="auto">
            <a:xfrm>
              <a:off x="10817225" y="5399088"/>
              <a:ext cx="57150" cy="98425"/>
            </a:xfrm>
            <a:custGeom>
              <a:avLst/>
              <a:gdLst>
                <a:gd name="T0" fmla="*/ 22 w 36"/>
                <a:gd name="T1" fmla="*/ 62 h 62"/>
                <a:gd name="T2" fmla="*/ 36 w 36"/>
                <a:gd name="T3" fmla="*/ 62 h 62"/>
                <a:gd name="T4" fmla="*/ 15 w 36"/>
                <a:gd name="T5" fmla="*/ 0 h 62"/>
                <a:gd name="T6" fmla="*/ 0 w 36"/>
                <a:gd name="T7" fmla="*/ 0 h 62"/>
                <a:gd name="T8" fmla="*/ 22 w 36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62">
                  <a:moveTo>
                    <a:pt x="22" y="62"/>
                  </a:moveTo>
                  <a:lnTo>
                    <a:pt x="36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2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3" name="Freeform 14"/>
            <p:cNvSpPr>
              <a:spLocks/>
            </p:cNvSpPr>
            <p:nvPr/>
          </p:nvSpPr>
          <p:spPr bwMode="auto">
            <a:xfrm>
              <a:off x="10885488" y="5399088"/>
              <a:ext cx="49213" cy="98425"/>
            </a:xfrm>
            <a:custGeom>
              <a:avLst/>
              <a:gdLst>
                <a:gd name="T0" fmla="*/ 24 w 31"/>
                <a:gd name="T1" fmla="*/ 62 h 62"/>
                <a:gd name="T2" fmla="*/ 29 w 31"/>
                <a:gd name="T3" fmla="*/ 62 h 62"/>
                <a:gd name="T4" fmla="*/ 31 w 31"/>
                <a:gd name="T5" fmla="*/ 40 h 62"/>
                <a:gd name="T6" fmla="*/ 15 w 31"/>
                <a:gd name="T7" fmla="*/ 0 h 62"/>
                <a:gd name="T8" fmla="*/ 0 w 31"/>
                <a:gd name="T9" fmla="*/ 0 h 62"/>
                <a:gd name="T10" fmla="*/ 24 w 31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62">
                  <a:moveTo>
                    <a:pt x="24" y="62"/>
                  </a:moveTo>
                  <a:lnTo>
                    <a:pt x="29" y="62"/>
                  </a:lnTo>
                  <a:lnTo>
                    <a:pt x="31" y="4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4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4" name="Freeform 15"/>
            <p:cNvSpPr>
              <a:spLocks/>
            </p:cNvSpPr>
            <p:nvPr/>
          </p:nvSpPr>
          <p:spPr bwMode="auto">
            <a:xfrm>
              <a:off x="10953750" y="5399088"/>
              <a:ext cx="30163" cy="98425"/>
            </a:xfrm>
            <a:custGeom>
              <a:avLst/>
              <a:gdLst>
                <a:gd name="T0" fmla="*/ 5 w 19"/>
                <a:gd name="T1" fmla="*/ 62 h 62"/>
                <a:gd name="T2" fmla="*/ 19 w 19"/>
                <a:gd name="T3" fmla="*/ 62 h 62"/>
                <a:gd name="T4" fmla="*/ 15 w 19"/>
                <a:gd name="T5" fmla="*/ 0 h 62"/>
                <a:gd name="T6" fmla="*/ 0 w 19"/>
                <a:gd name="T7" fmla="*/ 0 h 62"/>
                <a:gd name="T8" fmla="*/ 5 w 1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2">
                  <a:moveTo>
                    <a:pt x="5" y="62"/>
                  </a:moveTo>
                  <a:lnTo>
                    <a:pt x="19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5" name="Freeform 16"/>
            <p:cNvSpPr>
              <a:spLocks/>
            </p:cNvSpPr>
            <p:nvPr/>
          </p:nvSpPr>
          <p:spPr bwMode="auto">
            <a:xfrm>
              <a:off x="10926763" y="5399088"/>
              <a:ext cx="50800" cy="98425"/>
            </a:xfrm>
            <a:custGeom>
              <a:avLst/>
              <a:gdLst>
                <a:gd name="T0" fmla="*/ 8 w 32"/>
                <a:gd name="T1" fmla="*/ 62 h 62"/>
                <a:gd name="T2" fmla="*/ 3 w 32"/>
                <a:gd name="T3" fmla="*/ 62 h 62"/>
                <a:gd name="T4" fmla="*/ 0 w 32"/>
                <a:gd name="T5" fmla="*/ 40 h 62"/>
                <a:gd name="T6" fmla="*/ 17 w 32"/>
                <a:gd name="T7" fmla="*/ 0 h 62"/>
                <a:gd name="T8" fmla="*/ 32 w 32"/>
                <a:gd name="T9" fmla="*/ 0 h 62"/>
                <a:gd name="T10" fmla="*/ 8 w 32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62">
                  <a:moveTo>
                    <a:pt x="8" y="62"/>
                  </a:moveTo>
                  <a:lnTo>
                    <a:pt x="3" y="62"/>
                  </a:lnTo>
                  <a:lnTo>
                    <a:pt x="0" y="40"/>
                  </a:lnTo>
                  <a:lnTo>
                    <a:pt x="17" y="0"/>
                  </a:lnTo>
                  <a:lnTo>
                    <a:pt x="32" y="0"/>
                  </a:lnTo>
                  <a:lnTo>
                    <a:pt x="8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6" name="Freeform 17"/>
            <p:cNvSpPr>
              <a:spLocks/>
            </p:cNvSpPr>
            <p:nvPr/>
          </p:nvSpPr>
          <p:spPr bwMode="auto">
            <a:xfrm>
              <a:off x="10521950" y="5399088"/>
              <a:ext cx="63500" cy="50800"/>
            </a:xfrm>
            <a:custGeom>
              <a:avLst/>
              <a:gdLst>
                <a:gd name="T0" fmla="*/ 17 w 40"/>
                <a:gd name="T1" fmla="*/ 32 h 32"/>
                <a:gd name="T2" fmla="*/ 0 w 40"/>
                <a:gd name="T3" fmla="*/ 32 h 32"/>
                <a:gd name="T4" fmla="*/ 24 w 40"/>
                <a:gd name="T5" fmla="*/ 0 h 32"/>
                <a:gd name="T6" fmla="*/ 40 w 40"/>
                <a:gd name="T7" fmla="*/ 0 h 32"/>
                <a:gd name="T8" fmla="*/ 17 w 40"/>
                <a:gd name="T9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2">
                  <a:moveTo>
                    <a:pt x="17" y="32"/>
                  </a:moveTo>
                  <a:lnTo>
                    <a:pt x="0" y="32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1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7" name="Freeform 18"/>
            <p:cNvSpPr>
              <a:spLocks/>
            </p:cNvSpPr>
            <p:nvPr/>
          </p:nvSpPr>
          <p:spPr bwMode="auto">
            <a:xfrm>
              <a:off x="10525125" y="5443538"/>
              <a:ext cx="65088" cy="53975"/>
            </a:xfrm>
            <a:custGeom>
              <a:avLst/>
              <a:gdLst>
                <a:gd name="T0" fmla="*/ 17 w 41"/>
                <a:gd name="T1" fmla="*/ 0 h 34"/>
                <a:gd name="T2" fmla="*/ 0 w 41"/>
                <a:gd name="T3" fmla="*/ 0 h 34"/>
                <a:gd name="T4" fmla="*/ 24 w 41"/>
                <a:gd name="T5" fmla="*/ 34 h 34"/>
                <a:gd name="T6" fmla="*/ 41 w 41"/>
                <a:gd name="T7" fmla="*/ 34 h 34"/>
                <a:gd name="T8" fmla="*/ 17 w 41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4">
                  <a:moveTo>
                    <a:pt x="17" y="0"/>
                  </a:moveTo>
                  <a:lnTo>
                    <a:pt x="0" y="0"/>
                  </a:lnTo>
                  <a:lnTo>
                    <a:pt x="24" y="34"/>
                  </a:lnTo>
                  <a:lnTo>
                    <a:pt x="41" y="34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8" name="Freeform 19"/>
            <p:cNvSpPr>
              <a:spLocks/>
            </p:cNvSpPr>
            <p:nvPr/>
          </p:nvSpPr>
          <p:spPr bwMode="auto">
            <a:xfrm>
              <a:off x="10726738" y="5446713"/>
              <a:ext cx="49213" cy="50800"/>
            </a:xfrm>
            <a:custGeom>
              <a:avLst/>
              <a:gdLst>
                <a:gd name="T0" fmla="*/ 14 w 31"/>
                <a:gd name="T1" fmla="*/ 0 h 32"/>
                <a:gd name="T2" fmla="*/ 0 w 31"/>
                <a:gd name="T3" fmla="*/ 0 h 32"/>
                <a:gd name="T4" fmla="*/ 14 w 31"/>
                <a:gd name="T5" fmla="*/ 32 h 32"/>
                <a:gd name="T6" fmla="*/ 31 w 31"/>
                <a:gd name="T7" fmla="*/ 32 h 32"/>
                <a:gd name="T8" fmla="*/ 14 w 31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2">
                  <a:moveTo>
                    <a:pt x="14" y="0"/>
                  </a:moveTo>
                  <a:lnTo>
                    <a:pt x="0" y="0"/>
                  </a:lnTo>
                  <a:lnTo>
                    <a:pt x="14" y="32"/>
                  </a:lnTo>
                  <a:lnTo>
                    <a:pt x="31" y="32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9" name="Freeform 20"/>
            <p:cNvSpPr>
              <a:spLocks/>
            </p:cNvSpPr>
            <p:nvPr/>
          </p:nvSpPr>
          <p:spPr bwMode="auto">
            <a:xfrm>
              <a:off x="10991850" y="5395913"/>
              <a:ext cx="79375" cy="101600"/>
            </a:xfrm>
            <a:custGeom>
              <a:avLst/>
              <a:gdLst>
                <a:gd name="T0" fmla="*/ 18 w 21"/>
                <a:gd name="T1" fmla="*/ 18 h 26"/>
                <a:gd name="T2" fmla="*/ 13 w 21"/>
                <a:gd name="T3" fmla="*/ 20 h 26"/>
                <a:gd name="T4" fmla="*/ 6 w 21"/>
                <a:gd name="T5" fmla="*/ 13 h 26"/>
                <a:gd name="T6" fmla="*/ 13 w 21"/>
                <a:gd name="T7" fmla="*/ 7 h 26"/>
                <a:gd name="T8" fmla="*/ 18 w 21"/>
                <a:gd name="T9" fmla="*/ 9 h 26"/>
                <a:gd name="T10" fmla="*/ 21 w 21"/>
                <a:gd name="T11" fmla="*/ 3 h 26"/>
                <a:gd name="T12" fmla="*/ 13 w 21"/>
                <a:gd name="T13" fmla="*/ 0 h 26"/>
                <a:gd name="T14" fmla="*/ 0 w 21"/>
                <a:gd name="T15" fmla="*/ 13 h 26"/>
                <a:gd name="T16" fmla="*/ 13 w 21"/>
                <a:gd name="T17" fmla="*/ 26 h 26"/>
                <a:gd name="T18" fmla="*/ 21 w 21"/>
                <a:gd name="T19" fmla="*/ 23 h 26"/>
                <a:gd name="T20" fmla="*/ 18 w 21"/>
                <a:gd name="T21" fmla="*/ 1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26">
                  <a:moveTo>
                    <a:pt x="18" y="18"/>
                  </a:moveTo>
                  <a:cubicBezTo>
                    <a:pt x="17" y="19"/>
                    <a:pt x="15" y="20"/>
                    <a:pt x="13" y="20"/>
                  </a:cubicBez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5" y="7"/>
                    <a:pt x="17" y="7"/>
                    <a:pt x="18" y="9"/>
                  </a:cubicBezTo>
                  <a:cubicBezTo>
                    <a:pt x="18" y="7"/>
                    <a:pt x="19" y="5"/>
                    <a:pt x="21" y="3"/>
                  </a:cubicBezTo>
                  <a:cubicBezTo>
                    <a:pt x="19" y="1"/>
                    <a:pt x="16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16" y="26"/>
                    <a:pt x="19" y="25"/>
                    <a:pt x="21" y="23"/>
                  </a:cubicBezTo>
                  <a:cubicBezTo>
                    <a:pt x="19" y="22"/>
                    <a:pt x="18" y="20"/>
                    <a:pt x="18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0" name="Freeform 21"/>
            <p:cNvSpPr>
              <a:spLocks noEditPoints="1"/>
            </p:cNvSpPr>
            <p:nvPr/>
          </p:nvSpPr>
          <p:spPr bwMode="auto">
            <a:xfrm>
              <a:off x="10882313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1" name="Freeform 22"/>
            <p:cNvSpPr>
              <a:spLocks/>
            </p:cNvSpPr>
            <p:nvPr/>
          </p:nvSpPr>
          <p:spPr bwMode="auto">
            <a:xfrm>
              <a:off x="10942638" y="5518150"/>
              <a:ext cx="34925" cy="58738"/>
            </a:xfrm>
            <a:custGeom>
              <a:avLst/>
              <a:gdLst>
                <a:gd name="T0" fmla="*/ 0 w 22"/>
                <a:gd name="T1" fmla="*/ 37 h 37"/>
                <a:gd name="T2" fmla="*/ 0 w 22"/>
                <a:gd name="T3" fmla="*/ 0 h 37"/>
                <a:gd name="T4" fmla="*/ 22 w 22"/>
                <a:gd name="T5" fmla="*/ 0 h 37"/>
                <a:gd name="T6" fmla="*/ 22 w 22"/>
                <a:gd name="T7" fmla="*/ 4 h 37"/>
                <a:gd name="T8" fmla="*/ 5 w 22"/>
                <a:gd name="T9" fmla="*/ 4 h 37"/>
                <a:gd name="T10" fmla="*/ 5 w 22"/>
                <a:gd name="T11" fmla="*/ 14 h 37"/>
                <a:gd name="T12" fmla="*/ 19 w 22"/>
                <a:gd name="T13" fmla="*/ 14 h 37"/>
                <a:gd name="T14" fmla="*/ 19 w 22"/>
                <a:gd name="T15" fmla="*/ 19 h 37"/>
                <a:gd name="T16" fmla="*/ 5 w 22"/>
                <a:gd name="T17" fmla="*/ 19 h 37"/>
                <a:gd name="T18" fmla="*/ 5 w 22"/>
                <a:gd name="T19" fmla="*/ 32 h 37"/>
                <a:gd name="T20" fmla="*/ 22 w 22"/>
                <a:gd name="T21" fmla="*/ 32 h 37"/>
                <a:gd name="T22" fmla="*/ 22 w 22"/>
                <a:gd name="T23" fmla="*/ 37 h 37"/>
                <a:gd name="T24" fmla="*/ 0 w 22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7">
                  <a:moveTo>
                    <a:pt x="0" y="37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5" y="4"/>
                  </a:lnTo>
                  <a:lnTo>
                    <a:pt x="5" y="14"/>
                  </a:lnTo>
                  <a:lnTo>
                    <a:pt x="19" y="14"/>
                  </a:lnTo>
                  <a:lnTo>
                    <a:pt x="19" y="19"/>
                  </a:lnTo>
                  <a:lnTo>
                    <a:pt x="5" y="19"/>
                  </a:lnTo>
                  <a:lnTo>
                    <a:pt x="5" y="32"/>
                  </a:lnTo>
                  <a:lnTo>
                    <a:pt x="22" y="32"/>
                  </a:lnTo>
                  <a:lnTo>
                    <a:pt x="22" y="37"/>
                  </a:lnTo>
                  <a:lnTo>
                    <a:pt x="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2" name="Rectangle 23"/>
            <p:cNvSpPr>
              <a:spLocks noChangeArrowheads="1"/>
            </p:cNvSpPr>
            <p:nvPr/>
          </p:nvSpPr>
          <p:spPr bwMode="auto">
            <a:xfrm>
              <a:off x="11002963" y="5518150"/>
              <a:ext cx="7938" cy="587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3" name="Freeform 24"/>
            <p:cNvSpPr>
              <a:spLocks/>
            </p:cNvSpPr>
            <p:nvPr/>
          </p:nvSpPr>
          <p:spPr bwMode="auto">
            <a:xfrm>
              <a:off x="11037888" y="5518150"/>
              <a:ext cx="33338" cy="58738"/>
            </a:xfrm>
            <a:custGeom>
              <a:avLst/>
              <a:gdLst>
                <a:gd name="T0" fmla="*/ 14 w 21"/>
                <a:gd name="T1" fmla="*/ 4 h 37"/>
                <a:gd name="T2" fmla="*/ 14 w 21"/>
                <a:gd name="T3" fmla="*/ 37 h 37"/>
                <a:gd name="T4" fmla="*/ 9 w 21"/>
                <a:gd name="T5" fmla="*/ 37 h 37"/>
                <a:gd name="T6" fmla="*/ 9 w 21"/>
                <a:gd name="T7" fmla="*/ 4 h 37"/>
                <a:gd name="T8" fmla="*/ 0 w 21"/>
                <a:gd name="T9" fmla="*/ 4 h 37"/>
                <a:gd name="T10" fmla="*/ 0 w 21"/>
                <a:gd name="T11" fmla="*/ 0 h 37"/>
                <a:gd name="T12" fmla="*/ 21 w 21"/>
                <a:gd name="T13" fmla="*/ 0 h 37"/>
                <a:gd name="T14" fmla="*/ 21 w 21"/>
                <a:gd name="T15" fmla="*/ 4 h 37"/>
                <a:gd name="T16" fmla="*/ 14 w 21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37">
                  <a:moveTo>
                    <a:pt x="14" y="4"/>
                  </a:moveTo>
                  <a:lnTo>
                    <a:pt x="14" y="37"/>
                  </a:lnTo>
                  <a:lnTo>
                    <a:pt x="9" y="37"/>
                  </a:lnTo>
                  <a:lnTo>
                    <a:pt x="9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1" y="0"/>
                  </a:lnTo>
                  <a:lnTo>
                    <a:pt x="21" y="4"/>
                  </a:lnTo>
                  <a:lnTo>
                    <a:pt x="1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4" name="Freeform 25"/>
            <p:cNvSpPr>
              <a:spLocks/>
            </p:cNvSpPr>
            <p:nvPr/>
          </p:nvSpPr>
          <p:spPr bwMode="auto">
            <a:xfrm>
              <a:off x="11095038" y="5518150"/>
              <a:ext cx="33338" cy="58738"/>
            </a:xfrm>
            <a:custGeom>
              <a:avLst/>
              <a:gdLst>
                <a:gd name="T0" fmla="*/ 5 w 9"/>
                <a:gd name="T1" fmla="*/ 15 h 15"/>
                <a:gd name="T2" fmla="*/ 0 w 9"/>
                <a:gd name="T3" fmla="*/ 13 h 15"/>
                <a:gd name="T4" fmla="*/ 1 w 9"/>
                <a:gd name="T5" fmla="*/ 11 h 15"/>
                <a:gd name="T6" fmla="*/ 5 w 9"/>
                <a:gd name="T7" fmla="*/ 13 h 15"/>
                <a:gd name="T8" fmla="*/ 7 w 9"/>
                <a:gd name="T9" fmla="*/ 11 h 15"/>
                <a:gd name="T10" fmla="*/ 7 w 9"/>
                <a:gd name="T11" fmla="*/ 9 h 15"/>
                <a:gd name="T12" fmla="*/ 5 w 9"/>
                <a:gd name="T13" fmla="*/ 8 h 15"/>
                <a:gd name="T14" fmla="*/ 4 w 9"/>
                <a:gd name="T15" fmla="*/ 8 h 15"/>
                <a:gd name="T16" fmla="*/ 1 w 9"/>
                <a:gd name="T17" fmla="*/ 7 h 15"/>
                <a:gd name="T18" fmla="*/ 0 w 9"/>
                <a:gd name="T19" fmla="*/ 4 h 15"/>
                <a:gd name="T20" fmla="*/ 5 w 9"/>
                <a:gd name="T21" fmla="*/ 0 h 15"/>
                <a:gd name="T22" fmla="*/ 9 w 9"/>
                <a:gd name="T23" fmla="*/ 2 h 15"/>
                <a:gd name="T24" fmla="*/ 8 w 9"/>
                <a:gd name="T25" fmla="*/ 3 h 15"/>
                <a:gd name="T26" fmla="*/ 5 w 9"/>
                <a:gd name="T27" fmla="*/ 2 h 15"/>
                <a:gd name="T28" fmla="*/ 2 w 9"/>
                <a:gd name="T29" fmla="*/ 4 h 15"/>
                <a:gd name="T30" fmla="*/ 3 w 9"/>
                <a:gd name="T31" fmla="*/ 5 h 15"/>
                <a:gd name="T32" fmla="*/ 4 w 9"/>
                <a:gd name="T33" fmla="*/ 6 h 15"/>
                <a:gd name="T34" fmla="*/ 6 w 9"/>
                <a:gd name="T35" fmla="*/ 6 h 15"/>
                <a:gd name="T36" fmla="*/ 8 w 9"/>
                <a:gd name="T37" fmla="*/ 8 h 15"/>
                <a:gd name="T38" fmla="*/ 9 w 9"/>
                <a:gd name="T39" fmla="*/ 11 h 15"/>
                <a:gd name="T40" fmla="*/ 5 w 9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" h="15">
                  <a:moveTo>
                    <a:pt x="5" y="15"/>
                  </a:moveTo>
                  <a:cubicBezTo>
                    <a:pt x="3" y="15"/>
                    <a:pt x="1" y="14"/>
                    <a:pt x="0" y="13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3"/>
                    <a:pt x="3" y="13"/>
                    <a:pt x="5" y="13"/>
                  </a:cubicBezTo>
                  <a:cubicBezTo>
                    <a:pt x="6" y="13"/>
                    <a:pt x="7" y="12"/>
                    <a:pt x="7" y="11"/>
                  </a:cubicBezTo>
                  <a:cubicBezTo>
                    <a:pt x="7" y="10"/>
                    <a:pt x="7" y="9"/>
                    <a:pt x="7" y="9"/>
                  </a:cubicBezTo>
                  <a:cubicBezTo>
                    <a:pt x="7" y="9"/>
                    <a:pt x="6" y="9"/>
                    <a:pt x="5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1" y="7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3" y="2"/>
                    <a:pt x="2" y="3"/>
                    <a:pt x="2" y="4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6"/>
                    <a:pt x="4" y="6"/>
                    <a:pt x="4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7" y="7"/>
                    <a:pt x="8" y="7"/>
                    <a:pt x="8" y="8"/>
                  </a:cubicBezTo>
                  <a:cubicBezTo>
                    <a:pt x="9" y="8"/>
                    <a:pt x="9" y="9"/>
                    <a:pt x="9" y="11"/>
                  </a:cubicBezTo>
                  <a:cubicBezTo>
                    <a:pt x="9" y="13"/>
                    <a:pt x="7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5" name="Freeform 26"/>
            <p:cNvSpPr>
              <a:spLocks noEditPoints="1"/>
            </p:cNvSpPr>
            <p:nvPr/>
          </p:nvSpPr>
          <p:spPr bwMode="auto">
            <a:xfrm>
              <a:off x="11174413" y="5518150"/>
              <a:ext cx="41275" cy="58738"/>
            </a:xfrm>
            <a:custGeom>
              <a:avLst/>
              <a:gdLst>
                <a:gd name="T0" fmla="*/ 9 w 11"/>
                <a:gd name="T1" fmla="*/ 15 h 15"/>
                <a:gd name="T2" fmla="*/ 8 w 11"/>
                <a:gd name="T3" fmla="*/ 13 h 15"/>
                <a:gd name="T4" fmla="*/ 4 w 11"/>
                <a:gd name="T5" fmla="*/ 15 h 15"/>
                <a:gd name="T6" fmla="*/ 0 w 11"/>
                <a:gd name="T7" fmla="*/ 10 h 15"/>
                <a:gd name="T8" fmla="*/ 2 w 11"/>
                <a:gd name="T9" fmla="*/ 6 h 15"/>
                <a:gd name="T10" fmla="*/ 1 w 11"/>
                <a:gd name="T11" fmla="*/ 3 h 15"/>
                <a:gd name="T12" fmla="*/ 4 w 11"/>
                <a:gd name="T13" fmla="*/ 0 h 15"/>
                <a:gd name="T14" fmla="*/ 7 w 11"/>
                <a:gd name="T15" fmla="*/ 3 h 15"/>
                <a:gd name="T16" fmla="*/ 6 w 11"/>
                <a:gd name="T17" fmla="*/ 6 h 15"/>
                <a:gd name="T18" fmla="*/ 5 w 11"/>
                <a:gd name="T19" fmla="*/ 7 h 15"/>
                <a:gd name="T20" fmla="*/ 8 w 11"/>
                <a:gd name="T21" fmla="*/ 10 h 15"/>
                <a:gd name="T22" fmla="*/ 8 w 11"/>
                <a:gd name="T23" fmla="*/ 7 h 15"/>
                <a:gd name="T24" fmla="*/ 10 w 11"/>
                <a:gd name="T25" fmla="*/ 7 h 15"/>
                <a:gd name="T26" fmla="*/ 9 w 11"/>
                <a:gd name="T27" fmla="*/ 12 h 15"/>
                <a:gd name="T28" fmla="*/ 11 w 11"/>
                <a:gd name="T29" fmla="*/ 15 h 15"/>
                <a:gd name="T30" fmla="*/ 9 w 11"/>
                <a:gd name="T31" fmla="*/ 15 h 15"/>
                <a:gd name="T32" fmla="*/ 3 w 11"/>
                <a:gd name="T33" fmla="*/ 8 h 15"/>
                <a:gd name="T34" fmla="*/ 2 w 11"/>
                <a:gd name="T35" fmla="*/ 10 h 15"/>
                <a:gd name="T36" fmla="*/ 4 w 11"/>
                <a:gd name="T37" fmla="*/ 13 h 15"/>
                <a:gd name="T38" fmla="*/ 6 w 11"/>
                <a:gd name="T39" fmla="*/ 12 h 15"/>
                <a:gd name="T40" fmla="*/ 3 w 11"/>
                <a:gd name="T41" fmla="*/ 8 h 15"/>
                <a:gd name="T42" fmla="*/ 4 w 11"/>
                <a:gd name="T43" fmla="*/ 2 h 15"/>
                <a:gd name="T44" fmla="*/ 3 w 11"/>
                <a:gd name="T45" fmla="*/ 3 h 15"/>
                <a:gd name="T46" fmla="*/ 4 w 11"/>
                <a:gd name="T47" fmla="*/ 5 h 15"/>
                <a:gd name="T48" fmla="*/ 5 w 11"/>
                <a:gd name="T49" fmla="*/ 5 h 15"/>
                <a:gd name="T50" fmla="*/ 5 w 11"/>
                <a:gd name="T51" fmla="*/ 3 h 15"/>
                <a:gd name="T52" fmla="*/ 4 w 11"/>
                <a:gd name="T5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15">
                  <a:moveTo>
                    <a:pt x="9" y="15"/>
                  </a:moveTo>
                  <a:cubicBezTo>
                    <a:pt x="8" y="13"/>
                    <a:pt x="8" y="13"/>
                    <a:pt x="8" y="13"/>
                  </a:cubicBezTo>
                  <a:cubicBezTo>
                    <a:pt x="7" y="14"/>
                    <a:pt x="6" y="15"/>
                    <a:pt x="4" y="15"/>
                  </a:cubicBezTo>
                  <a:cubicBezTo>
                    <a:pt x="1" y="15"/>
                    <a:pt x="0" y="13"/>
                    <a:pt x="0" y="10"/>
                  </a:cubicBezTo>
                  <a:cubicBezTo>
                    <a:pt x="0" y="8"/>
                    <a:pt x="1" y="7"/>
                    <a:pt x="2" y="6"/>
                  </a:cubicBezTo>
                  <a:cubicBezTo>
                    <a:pt x="2" y="6"/>
                    <a:pt x="1" y="5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cubicBezTo>
                    <a:pt x="7" y="4"/>
                    <a:pt x="7" y="5"/>
                    <a:pt x="6" y="6"/>
                  </a:cubicBezTo>
                  <a:cubicBezTo>
                    <a:pt x="6" y="6"/>
                    <a:pt x="5" y="6"/>
                    <a:pt x="5" y="7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9"/>
                    <a:pt x="8" y="9"/>
                    <a:pt x="8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9"/>
                    <a:pt x="10" y="11"/>
                    <a:pt x="9" y="12"/>
                  </a:cubicBezTo>
                  <a:cubicBezTo>
                    <a:pt x="11" y="15"/>
                    <a:pt x="11" y="15"/>
                    <a:pt x="11" y="15"/>
                  </a:cubicBezTo>
                  <a:lnTo>
                    <a:pt x="9" y="15"/>
                  </a:lnTo>
                  <a:close/>
                  <a:moveTo>
                    <a:pt x="3" y="8"/>
                  </a:moveTo>
                  <a:cubicBezTo>
                    <a:pt x="2" y="8"/>
                    <a:pt x="2" y="9"/>
                    <a:pt x="2" y="10"/>
                  </a:cubicBezTo>
                  <a:cubicBezTo>
                    <a:pt x="2" y="12"/>
                    <a:pt x="3" y="13"/>
                    <a:pt x="4" y="13"/>
                  </a:cubicBezTo>
                  <a:cubicBezTo>
                    <a:pt x="5" y="13"/>
                    <a:pt x="6" y="13"/>
                    <a:pt x="6" y="12"/>
                  </a:cubicBezTo>
                  <a:lnTo>
                    <a:pt x="3" y="8"/>
                  </a:lnTo>
                  <a:close/>
                  <a:moveTo>
                    <a:pt x="4" y="2"/>
                  </a:moveTo>
                  <a:cubicBezTo>
                    <a:pt x="3" y="2"/>
                    <a:pt x="3" y="2"/>
                    <a:pt x="3" y="3"/>
                  </a:cubicBezTo>
                  <a:cubicBezTo>
                    <a:pt x="3" y="4"/>
                    <a:pt x="3" y="4"/>
                    <a:pt x="4" y="5"/>
                  </a:cubicBezTo>
                  <a:cubicBezTo>
                    <a:pt x="4" y="5"/>
                    <a:pt x="5" y="5"/>
                    <a:pt x="5" y="5"/>
                  </a:cubicBezTo>
                  <a:cubicBezTo>
                    <a:pt x="5" y="4"/>
                    <a:pt x="5" y="4"/>
                    <a:pt x="5" y="3"/>
                  </a:cubicBezTo>
                  <a:cubicBezTo>
                    <a:pt x="5" y="2"/>
                    <a:pt x="5" y="2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6" name="Freeform 27"/>
            <p:cNvSpPr>
              <a:spLocks/>
            </p:cNvSpPr>
            <p:nvPr/>
          </p:nvSpPr>
          <p:spPr bwMode="auto">
            <a:xfrm>
              <a:off x="11256963" y="5518150"/>
              <a:ext cx="34925" cy="58738"/>
            </a:xfrm>
            <a:custGeom>
              <a:avLst/>
              <a:gdLst>
                <a:gd name="T0" fmla="*/ 12 w 22"/>
                <a:gd name="T1" fmla="*/ 4 h 37"/>
                <a:gd name="T2" fmla="*/ 12 w 22"/>
                <a:gd name="T3" fmla="*/ 37 h 37"/>
                <a:gd name="T4" fmla="*/ 7 w 22"/>
                <a:gd name="T5" fmla="*/ 37 h 37"/>
                <a:gd name="T6" fmla="*/ 7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2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2" y="4"/>
                  </a:moveTo>
                  <a:lnTo>
                    <a:pt x="12" y="37"/>
                  </a:lnTo>
                  <a:lnTo>
                    <a:pt x="7" y="37"/>
                  </a:lnTo>
                  <a:lnTo>
                    <a:pt x="7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2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7" name="Freeform 28"/>
            <p:cNvSpPr>
              <a:spLocks noEditPoints="1"/>
            </p:cNvSpPr>
            <p:nvPr/>
          </p:nvSpPr>
          <p:spPr bwMode="auto">
            <a:xfrm>
              <a:off x="11318875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8" name="Freeform 29"/>
            <p:cNvSpPr>
              <a:spLocks/>
            </p:cNvSpPr>
            <p:nvPr/>
          </p:nvSpPr>
          <p:spPr bwMode="auto">
            <a:xfrm>
              <a:off x="11379200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0 h 15"/>
                <a:gd name="T4" fmla="*/ 0 w 10"/>
                <a:gd name="T5" fmla="*/ 0 h 15"/>
                <a:gd name="T6" fmla="*/ 2 w 10"/>
                <a:gd name="T7" fmla="*/ 0 h 15"/>
                <a:gd name="T8" fmla="*/ 2 w 10"/>
                <a:gd name="T9" fmla="*/ 10 h 15"/>
                <a:gd name="T10" fmla="*/ 5 w 10"/>
                <a:gd name="T11" fmla="*/ 13 h 15"/>
                <a:gd name="T12" fmla="*/ 8 w 10"/>
                <a:gd name="T13" fmla="*/ 10 h 15"/>
                <a:gd name="T14" fmla="*/ 8 w 10"/>
                <a:gd name="T15" fmla="*/ 0 h 15"/>
                <a:gd name="T16" fmla="*/ 10 w 10"/>
                <a:gd name="T17" fmla="*/ 0 h 15"/>
                <a:gd name="T18" fmla="*/ 10 w 10"/>
                <a:gd name="T19" fmla="*/ 10 h 15"/>
                <a:gd name="T20" fmla="*/ 5 w 10"/>
                <a:gd name="T2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2" y="15"/>
                    <a:pt x="0" y="13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2"/>
                    <a:pt x="3" y="13"/>
                    <a:pt x="5" y="13"/>
                  </a:cubicBezTo>
                  <a:cubicBezTo>
                    <a:pt x="7" y="13"/>
                    <a:pt x="8" y="12"/>
                    <a:pt x="8" y="1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9" name="Freeform 30"/>
            <p:cNvSpPr>
              <a:spLocks/>
            </p:cNvSpPr>
            <p:nvPr/>
          </p:nvSpPr>
          <p:spPr bwMode="auto">
            <a:xfrm>
              <a:off x="11439525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3 h 15"/>
                <a:gd name="T4" fmla="*/ 2 w 10"/>
                <a:gd name="T5" fmla="*/ 11 h 15"/>
                <a:gd name="T6" fmla="*/ 5 w 10"/>
                <a:gd name="T7" fmla="*/ 13 h 15"/>
                <a:gd name="T8" fmla="*/ 8 w 10"/>
                <a:gd name="T9" fmla="*/ 11 h 15"/>
                <a:gd name="T10" fmla="*/ 7 w 10"/>
                <a:gd name="T11" fmla="*/ 9 h 15"/>
                <a:gd name="T12" fmla="*/ 6 w 10"/>
                <a:gd name="T13" fmla="*/ 8 h 15"/>
                <a:gd name="T14" fmla="*/ 4 w 10"/>
                <a:gd name="T15" fmla="*/ 8 h 15"/>
                <a:gd name="T16" fmla="*/ 2 w 10"/>
                <a:gd name="T17" fmla="*/ 7 h 15"/>
                <a:gd name="T18" fmla="*/ 1 w 10"/>
                <a:gd name="T19" fmla="*/ 4 h 15"/>
                <a:gd name="T20" fmla="*/ 5 w 10"/>
                <a:gd name="T21" fmla="*/ 0 h 15"/>
                <a:gd name="T22" fmla="*/ 9 w 10"/>
                <a:gd name="T23" fmla="*/ 2 h 15"/>
                <a:gd name="T24" fmla="*/ 8 w 10"/>
                <a:gd name="T25" fmla="*/ 3 h 15"/>
                <a:gd name="T26" fmla="*/ 5 w 10"/>
                <a:gd name="T27" fmla="*/ 2 h 15"/>
                <a:gd name="T28" fmla="*/ 3 w 10"/>
                <a:gd name="T29" fmla="*/ 4 h 15"/>
                <a:gd name="T30" fmla="*/ 3 w 10"/>
                <a:gd name="T31" fmla="*/ 5 h 15"/>
                <a:gd name="T32" fmla="*/ 5 w 10"/>
                <a:gd name="T33" fmla="*/ 6 h 15"/>
                <a:gd name="T34" fmla="*/ 6 w 10"/>
                <a:gd name="T35" fmla="*/ 6 h 15"/>
                <a:gd name="T36" fmla="*/ 9 w 10"/>
                <a:gd name="T37" fmla="*/ 8 h 15"/>
                <a:gd name="T38" fmla="*/ 10 w 10"/>
                <a:gd name="T39" fmla="*/ 11 h 15"/>
                <a:gd name="T40" fmla="*/ 5 w 10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3" y="15"/>
                    <a:pt x="2" y="14"/>
                    <a:pt x="0" y="13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3"/>
                    <a:pt x="4" y="13"/>
                    <a:pt x="5" y="13"/>
                  </a:cubicBezTo>
                  <a:cubicBezTo>
                    <a:pt x="7" y="13"/>
                    <a:pt x="8" y="12"/>
                    <a:pt x="8" y="11"/>
                  </a:cubicBezTo>
                  <a:cubicBezTo>
                    <a:pt x="8" y="10"/>
                    <a:pt x="8" y="9"/>
                    <a:pt x="7" y="9"/>
                  </a:cubicBezTo>
                  <a:cubicBezTo>
                    <a:pt x="7" y="9"/>
                    <a:pt x="7" y="9"/>
                    <a:pt x="6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2" y="7"/>
                  </a:cubicBezTo>
                  <a:cubicBezTo>
                    <a:pt x="1" y="6"/>
                    <a:pt x="1" y="5"/>
                    <a:pt x="1" y="4"/>
                  </a:cubicBezTo>
                  <a:cubicBezTo>
                    <a:pt x="1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4" y="2"/>
                    <a:pt x="3" y="3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8" y="7"/>
                    <a:pt x="8" y="7"/>
                    <a:pt x="9" y="8"/>
                  </a:cubicBezTo>
                  <a:cubicBezTo>
                    <a:pt x="9" y="8"/>
                    <a:pt x="10" y="9"/>
                    <a:pt x="10" y="11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0" name="Freeform 31"/>
            <p:cNvSpPr>
              <a:spLocks/>
            </p:cNvSpPr>
            <p:nvPr/>
          </p:nvSpPr>
          <p:spPr bwMode="auto">
            <a:xfrm>
              <a:off x="11499850" y="5518150"/>
              <a:ext cx="34925" cy="58738"/>
            </a:xfrm>
            <a:custGeom>
              <a:avLst/>
              <a:gdLst>
                <a:gd name="T0" fmla="*/ 15 w 22"/>
                <a:gd name="T1" fmla="*/ 4 h 37"/>
                <a:gd name="T2" fmla="*/ 15 w 22"/>
                <a:gd name="T3" fmla="*/ 37 h 37"/>
                <a:gd name="T4" fmla="*/ 10 w 22"/>
                <a:gd name="T5" fmla="*/ 37 h 37"/>
                <a:gd name="T6" fmla="*/ 10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5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5" y="4"/>
                  </a:moveTo>
                  <a:lnTo>
                    <a:pt x="15" y="37"/>
                  </a:lnTo>
                  <a:lnTo>
                    <a:pt x="10" y="37"/>
                  </a:lnTo>
                  <a:lnTo>
                    <a:pt x="1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1" name="Freeform 32"/>
            <p:cNvSpPr>
              <a:spLocks/>
            </p:cNvSpPr>
            <p:nvPr/>
          </p:nvSpPr>
          <p:spPr bwMode="auto">
            <a:xfrm>
              <a:off x="11212513" y="5289550"/>
              <a:ext cx="322263" cy="173038"/>
            </a:xfrm>
            <a:custGeom>
              <a:avLst/>
              <a:gdLst>
                <a:gd name="T0" fmla="*/ 203 w 203"/>
                <a:gd name="T1" fmla="*/ 109 h 109"/>
                <a:gd name="T2" fmla="*/ 203 w 203"/>
                <a:gd name="T3" fmla="*/ 109 h 109"/>
                <a:gd name="T4" fmla="*/ 67 w 203"/>
                <a:gd name="T5" fmla="*/ 0 h 109"/>
                <a:gd name="T6" fmla="*/ 0 w 203"/>
                <a:gd name="T7" fmla="*/ 106 h 109"/>
                <a:gd name="T8" fmla="*/ 0 w 203"/>
                <a:gd name="T9" fmla="*/ 109 h 109"/>
                <a:gd name="T10" fmla="*/ 67 w 203"/>
                <a:gd name="T11" fmla="*/ 35 h 109"/>
                <a:gd name="T12" fmla="*/ 203 w 203"/>
                <a:gd name="T13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109">
                  <a:moveTo>
                    <a:pt x="203" y="109"/>
                  </a:moveTo>
                  <a:lnTo>
                    <a:pt x="203" y="109"/>
                  </a:lnTo>
                  <a:lnTo>
                    <a:pt x="67" y="0"/>
                  </a:lnTo>
                  <a:lnTo>
                    <a:pt x="0" y="106"/>
                  </a:lnTo>
                  <a:lnTo>
                    <a:pt x="0" y="109"/>
                  </a:lnTo>
                  <a:lnTo>
                    <a:pt x="67" y="35"/>
                  </a:lnTo>
                  <a:lnTo>
                    <a:pt x="203" y="1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2" name="Freeform 33"/>
            <p:cNvSpPr>
              <a:spLocks/>
            </p:cNvSpPr>
            <p:nvPr/>
          </p:nvSpPr>
          <p:spPr bwMode="auto">
            <a:xfrm>
              <a:off x="11212513" y="5364163"/>
              <a:ext cx="322263" cy="109538"/>
            </a:xfrm>
            <a:custGeom>
              <a:avLst/>
              <a:gdLst>
                <a:gd name="T0" fmla="*/ 0 w 203"/>
                <a:gd name="T1" fmla="*/ 67 h 69"/>
                <a:gd name="T2" fmla="*/ 0 w 203"/>
                <a:gd name="T3" fmla="*/ 69 h 69"/>
                <a:gd name="T4" fmla="*/ 67 w 203"/>
                <a:gd name="T5" fmla="*/ 25 h 69"/>
                <a:gd name="T6" fmla="*/ 203 w 203"/>
                <a:gd name="T7" fmla="*/ 69 h 69"/>
                <a:gd name="T8" fmla="*/ 203 w 203"/>
                <a:gd name="T9" fmla="*/ 67 h 69"/>
                <a:gd name="T10" fmla="*/ 67 w 203"/>
                <a:gd name="T11" fmla="*/ 0 h 69"/>
                <a:gd name="T12" fmla="*/ 0 w 203"/>
                <a:gd name="T13" fmla="*/ 6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69">
                  <a:moveTo>
                    <a:pt x="0" y="67"/>
                  </a:moveTo>
                  <a:lnTo>
                    <a:pt x="0" y="69"/>
                  </a:lnTo>
                  <a:lnTo>
                    <a:pt x="67" y="25"/>
                  </a:lnTo>
                  <a:lnTo>
                    <a:pt x="203" y="69"/>
                  </a:lnTo>
                  <a:lnTo>
                    <a:pt x="203" y="67"/>
                  </a:lnTo>
                  <a:lnTo>
                    <a:pt x="67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3" name="Freeform 34"/>
            <p:cNvSpPr>
              <a:spLocks/>
            </p:cNvSpPr>
            <p:nvPr/>
          </p:nvSpPr>
          <p:spPr bwMode="auto">
            <a:xfrm>
              <a:off x="11212513" y="5414963"/>
              <a:ext cx="322263" cy="66675"/>
            </a:xfrm>
            <a:custGeom>
              <a:avLst/>
              <a:gdLst>
                <a:gd name="T0" fmla="*/ 0 w 203"/>
                <a:gd name="T1" fmla="*/ 42 h 42"/>
                <a:gd name="T2" fmla="*/ 0 w 203"/>
                <a:gd name="T3" fmla="*/ 42 h 42"/>
                <a:gd name="T4" fmla="*/ 67 w 203"/>
                <a:gd name="T5" fmla="*/ 25 h 42"/>
                <a:gd name="T6" fmla="*/ 203 w 203"/>
                <a:gd name="T7" fmla="*/ 42 h 42"/>
                <a:gd name="T8" fmla="*/ 203 w 203"/>
                <a:gd name="T9" fmla="*/ 42 h 42"/>
                <a:gd name="T10" fmla="*/ 67 w 203"/>
                <a:gd name="T11" fmla="*/ 0 h 42"/>
                <a:gd name="T12" fmla="*/ 0 w 203"/>
                <a:gd name="T13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42">
                  <a:moveTo>
                    <a:pt x="0" y="42"/>
                  </a:moveTo>
                  <a:lnTo>
                    <a:pt x="0" y="42"/>
                  </a:lnTo>
                  <a:lnTo>
                    <a:pt x="67" y="25"/>
                  </a:lnTo>
                  <a:lnTo>
                    <a:pt x="203" y="42"/>
                  </a:lnTo>
                  <a:lnTo>
                    <a:pt x="203" y="42"/>
                  </a:lnTo>
                  <a:lnTo>
                    <a:pt x="67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4" name="Freeform 35"/>
            <p:cNvSpPr>
              <a:spLocks/>
            </p:cNvSpPr>
            <p:nvPr/>
          </p:nvSpPr>
          <p:spPr bwMode="auto">
            <a:xfrm>
              <a:off x="11212513" y="5470525"/>
              <a:ext cx="322263" cy="23813"/>
            </a:xfrm>
            <a:custGeom>
              <a:avLst/>
              <a:gdLst>
                <a:gd name="T0" fmla="*/ 0 w 203"/>
                <a:gd name="T1" fmla="*/ 12 h 15"/>
                <a:gd name="T2" fmla="*/ 0 w 203"/>
                <a:gd name="T3" fmla="*/ 15 h 15"/>
                <a:gd name="T4" fmla="*/ 203 w 203"/>
                <a:gd name="T5" fmla="*/ 15 h 15"/>
                <a:gd name="T6" fmla="*/ 203 w 203"/>
                <a:gd name="T7" fmla="*/ 12 h 15"/>
                <a:gd name="T8" fmla="*/ 67 w 203"/>
                <a:gd name="T9" fmla="*/ 0 h 15"/>
                <a:gd name="T10" fmla="*/ 0 w 203"/>
                <a:gd name="T11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3" h="15">
                  <a:moveTo>
                    <a:pt x="0" y="12"/>
                  </a:moveTo>
                  <a:lnTo>
                    <a:pt x="0" y="15"/>
                  </a:lnTo>
                  <a:lnTo>
                    <a:pt x="203" y="15"/>
                  </a:lnTo>
                  <a:lnTo>
                    <a:pt x="203" y="12"/>
                  </a:lnTo>
                  <a:lnTo>
                    <a:pt x="67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</p:grpSp>
      <p:cxnSp>
        <p:nvCxnSpPr>
          <p:cNvPr id="80" name="직선 연결선 79"/>
          <p:cNvCxnSpPr/>
          <p:nvPr userDrawn="1"/>
        </p:nvCxnSpPr>
        <p:spPr>
          <a:xfrm>
            <a:off x="462200" y="7173747"/>
            <a:ext cx="850333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FF3DAC25-3C73-5200-93E9-4A840B1049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544" b="4354"/>
          <a:stretch/>
        </p:blipFill>
        <p:spPr>
          <a:xfrm>
            <a:off x="7788" y="4094632"/>
            <a:ext cx="4372862" cy="346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70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6588" userDrawn="1">
          <p15:clr>
            <a:srgbClr val="FBAE40"/>
          </p15:clr>
        </p15:guide>
        <p15:guide id="3" pos="564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프로젝트 추진 배경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0AD58965-4F98-1A73-F8FC-D5222B7060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31388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투자심의위원회 개요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197B6F54-0315-951A-50F1-10ED03E2F5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49377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투자심의위원회 개요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772160A2-C39D-56FE-7995-5A43B4A633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88303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Investment Highlights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F4318152-D1D7-599B-1278-DD568174EB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3760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 투자개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I. </a:t>
            </a:r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사업개요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37432D96-AC78-AE08-F52D-853EBD0B42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189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. 투자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II. </a:t>
            </a:r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투자계획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8A6B8528-268D-FF81-075B-13B4540033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6602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. 운영 및 Exit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III. </a:t>
            </a:r>
            <a:r>
              <a:rPr lang="ko-KR" altLang="en-US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운영계획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F53F51F5-2033-9B4E-E332-7A24DA56B9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85958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리스크 요인분석 및 관리방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kern="12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Ⅳ. </a:t>
            </a:r>
            <a:r>
              <a:rPr lang="ko-KR" altLang="en-US" sz="1886" b="1" kern="12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리스크 요인분석 및 관리방안</a:t>
            </a:r>
            <a:endParaRPr lang="en-US" altLang="ko-KR" sz="1886" b="1" kern="12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F6B38A0F-6595-3B67-99AA-2059109C8A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14507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리스크 요인분석 및 관리방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kern="12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Ⅳ</a:t>
            </a:r>
            <a:r>
              <a:rPr lang="en-US" altLang="ko-KR" sz="1886" b="1" kern="120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886" b="1" kern="1200" dirty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향후조치 예정사항</a:t>
            </a:r>
            <a:endParaRPr lang="en-US" altLang="ko-KR" sz="1886" b="1" kern="1200" dirty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518CF041-E7A6-8CE4-32F4-38B1394747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61770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269875" y="1871663"/>
            <a:ext cx="10044000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Appendix. 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A66CB652-AC17-B956-4B4C-F16F1A40A3B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7066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흰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269875" y="876524"/>
            <a:ext cx="10043271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6"/>
          <p:cNvSpPr>
            <a:spLocks noChangeArrowheads="1"/>
          </p:cNvSpPr>
          <p:nvPr userDrawn="1"/>
        </p:nvSpPr>
        <p:spPr bwMode="auto">
          <a:xfrm>
            <a:off x="8910685" y="182503"/>
            <a:ext cx="1402460" cy="278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40073" rIns="0" bIns="40073" anchor="ctr"/>
          <a:lstStyle/>
          <a:p>
            <a:pPr algn="r" defTabSz="801455">
              <a:defRPr/>
            </a:pPr>
            <a:r>
              <a:rPr lang="en-US" altLang="ko-KR" sz="700" i="1" dirty="0">
                <a:solidFill>
                  <a:srgbClr val="FF0000"/>
                </a:solidFill>
                <a:latin typeface="Arial" pitchFamily="34" charset="0"/>
                <a:ea typeface="KoPubWorld돋움체 Bold" panose="00000800000000000000" pitchFamily="2" charset="-127"/>
                <a:cs typeface="Arial" pitchFamily="34" charset="0"/>
              </a:rPr>
              <a:t>Strictly Private &amp; Confidential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269875" y="6805378"/>
            <a:ext cx="1002439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 userDrawn="1"/>
        </p:nvSpPr>
        <p:spPr>
          <a:xfrm>
            <a:off x="0" y="137872"/>
            <a:ext cx="6318014" cy="653633"/>
          </a:xfrm>
          <a:prstGeom prst="rect">
            <a:avLst/>
          </a:prstGeom>
          <a:noFill/>
        </p:spPr>
        <p:txBody>
          <a:bodyPr wrap="square" lIns="467884" tIns="359911" rIns="0" bIns="0" rtlCol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/>
          <a:p>
            <a:pPr defTabSz="801361"/>
            <a:r>
              <a:rPr lang="en-US" altLang="ko-KR" sz="1886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Appendix. </a:t>
            </a:r>
            <a:endParaRPr lang="en-US" altLang="ko-KR" sz="1100" b="1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pic>
        <p:nvPicPr>
          <p:cNvPr id="3" name="Picture 6" descr="CI기본형">
            <a:extLst>
              <a:ext uri="{FF2B5EF4-FFF2-40B4-BE49-F238E27FC236}">
                <a16:creationId xmlns:a16="http://schemas.microsoft.com/office/drawing/2014/main" id="{F018D775-8D4D-2DC9-D188-3F967A8C02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4815" b="12407"/>
          <a:stretch>
            <a:fillRect/>
          </a:stretch>
        </p:blipFill>
        <p:spPr bwMode="auto">
          <a:xfrm>
            <a:off x="294095" y="7211426"/>
            <a:ext cx="757772" cy="19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38257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8">
          <p15:clr>
            <a:srgbClr val="FBAE40"/>
          </p15:clr>
        </p15:guide>
        <p15:guide id="3" pos="6496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tags" Target="../tags/tag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7">
            <a:extLst>
              <a:ext uri="{FF2B5EF4-FFF2-40B4-BE49-F238E27FC236}">
                <a16:creationId xmlns:a16="http://schemas.microsoft.com/office/drawing/2014/main" id="{330C79B4-2F4A-FF14-8AC4-9B44C2C04EE9}"/>
              </a:ext>
            </a:extLst>
          </p:cNvPr>
          <p:cNvSpPr>
            <a:spLocks noChangeArrowheads="1"/>
          </p:cNvSpPr>
          <p:nvPr userDrawn="1">
            <p:custDataLst>
              <p:tags r:id="rId14"/>
            </p:custDataLst>
          </p:nvPr>
        </p:nvSpPr>
        <p:spPr bwMode="auto">
          <a:xfrm>
            <a:off x="5092940" y="7174697"/>
            <a:ext cx="5220205" cy="23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rIns="0"/>
          <a:lstStyle/>
          <a:p>
            <a:pPr marL="0" marR="0" lvl="0" indent="0" algn="r" defTabSz="91406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안양물류센터 매입 프로젝트</a:t>
            </a:r>
            <a:r>
              <a: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I</a:t>
            </a:r>
            <a:r>
              <a:rPr lang="en-US" altLang="ko-KR" sz="6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6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예비투자심의위원회 설명자료 </a:t>
            </a:r>
            <a:r>
              <a:rPr lang="en-US" altLang="ko-KR" sz="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Arial" pitchFamily="34" charset="0"/>
              </a:rPr>
              <a:t>| </a:t>
            </a:r>
            <a:r>
              <a:rPr lang="ko-KR" altLang="en-US" sz="6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리츠투자부문</a:t>
            </a:r>
            <a:r>
              <a:rPr lang="en-US" altLang="ko-KR" sz="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</a:t>
            </a:r>
            <a:r>
              <a:rPr lang="ko-KR" altLang="en-US" sz="6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상장리츠본부</a:t>
            </a:r>
            <a:r>
              <a:rPr lang="en-US" altLang="ko-KR" sz="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/</a:t>
            </a:r>
            <a:r>
              <a:rPr lang="ko-KR" altLang="en-US" sz="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상장리츠팀</a:t>
            </a:r>
            <a:r>
              <a:rPr lang="en-US" altLang="ko-KR" sz="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Arial" pitchFamily="34" charset="0"/>
              </a:rPr>
              <a:t> </a:t>
            </a:r>
            <a:fld id="{AC62A5EC-D10B-4D96-80FB-7B5CF2531C58}" type="slidenum">
              <a:rPr lang="en-US" altLang="ko-KR" sz="6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Arial" pitchFamily="34" charset="0"/>
              </a:rPr>
              <a:pPr marL="0" marR="0" lvl="0" indent="0" algn="r" defTabSz="91406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600" b="1" dirty="0">
              <a:solidFill>
                <a:srgbClr val="006D52"/>
              </a:solidFill>
              <a:latin typeface="KoPubWorld돋움체 Light" panose="00000300000000000000" pitchFamily="2" charset="-127"/>
              <a:ea typeface="KoPubWorld돋움체 Light" panose="00000300000000000000" pitchFamily="2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217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30" r:id="rId2"/>
    <p:sldLayoutId id="2147483754" r:id="rId3"/>
    <p:sldLayoutId id="2147483731" r:id="rId4"/>
    <p:sldLayoutId id="2147483728" r:id="rId5"/>
    <p:sldLayoutId id="2147483751" r:id="rId6"/>
    <p:sldLayoutId id="2147483752" r:id="rId7"/>
    <p:sldLayoutId id="2147483755" r:id="rId8"/>
    <p:sldLayoutId id="2147483772" r:id="rId9"/>
    <p:sldLayoutId id="2147483773" r:id="rId10"/>
    <p:sldLayoutId id="2147483750" r:id="rId11"/>
    <p:sldLayoutId id="2147483771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KoPubWorld돋움체 Bold" panose="00000800000000000000" pitchFamily="2" charset="-127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 userDrawn="1">
          <p15:clr>
            <a:srgbClr val="F26B43"/>
          </p15:clr>
        </p15:guide>
        <p15:guide id="2" pos="6565" userDrawn="1">
          <p15:clr>
            <a:srgbClr val="F26B43"/>
          </p15:clr>
        </p15:guide>
        <p15:guide id="3" pos="3368" userDrawn="1">
          <p15:clr>
            <a:srgbClr val="F26B43"/>
          </p15:clr>
        </p15:guide>
        <p15:guide id="4" orient="horz" pos="4513" userDrawn="1">
          <p15:clr>
            <a:srgbClr val="F26B43"/>
          </p15:clr>
        </p15:guide>
        <p15:guide id="5" orient="horz" pos="181" userDrawn="1">
          <p15:clr>
            <a:srgbClr val="F26B43"/>
          </p15:clr>
        </p15:guide>
        <p15:guide id="6" orient="horz" pos="1247" userDrawn="1">
          <p15:clr>
            <a:srgbClr val="F26B43"/>
          </p15:clr>
        </p15:guide>
        <p15:guide id="7" orient="horz" pos="4286" userDrawn="1">
          <p15:clr>
            <a:srgbClr val="F26B43"/>
          </p15:clr>
        </p15:guide>
        <p15:guide id="8" orient="horz" pos="117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0F30820D-A359-7966-E7A3-6D53921FFA89}"/>
              </a:ext>
            </a:extLst>
          </p:cNvPr>
          <p:cNvGrpSpPr/>
          <p:nvPr userDrawn="1"/>
        </p:nvGrpSpPr>
        <p:grpSpPr>
          <a:xfrm>
            <a:off x="9276077" y="6972575"/>
            <a:ext cx="1110305" cy="316737"/>
            <a:chOff x="10506075" y="5289550"/>
            <a:chExt cx="1028701" cy="287338"/>
          </a:xfrm>
          <a:solidFill>
            <a:schemeClr val="bg1">
              <a:lumMod val="75000"/>
            </a:schemeClr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E564AFD-C30C-9DBA-5002-F6E812779A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85450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5" y="0"/>
                    <a:pt x="0" y="6"/>
                    <a:pt x="0" y="13"/>
                  </a:cubicBezTo>
                  <a:cubicBezTo>
                    <a:pt x="0" y="20"/>
                    <a:pt x="5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51E90CC-8D7A-63E0-36C9-AF29EA1B88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71225" y="5395913"/>
              <a:ext cx="95250" cy="101600"/>
            </a:xfrm>
            <a:custGeom>
              <a:avLst/>
              <a:gdLst>
                <a:gd name="T0" fmla="*/ 13 w 25"/>
                <a:gd name="T1" fmla="*/ 0 h 26"/>
                <a:gd name="T2" fmla="*/ 0 w 25"/>
                <a:gd name="T3" fmla="*/ 13 h 26"/>
                <a:gd name="T4" fmla="*/ 13 w 25"/>
                <a:gd name="T5" fmla="*/ 26 h 26"/>
                <a:gd name="T6" fmla="*/ 25 w 25"/>
                <a:gd name="T7" fmla="*/ 13 h 26"/>
                <a:gd name="T8" fmla="*/ 13 w 25"/>
                <a:gd name="T9" fmla="*/ 0 h 26"/>
                <a:gd name="T10" fmla="*/ 13 w 25"/>
                <a:gd name="T11" fmla="*/ 20 h 26"/>
                <a:gd name="T12" fmla="*/ 6 w 25"/>
                <a:gd name="T13" fmla="*/ 13 h 26"/>
                <a:gd name="T14" fmla="*/ 13 w 25"/>
                <a:gd name="T15" fmla="*/ 7 h 26"/>
                <a:gd name="T16" fmla="*/ 19 w 25"/>
                <a:gd name="T17" fmla="*/ 13 h 26"/>
                <a:gd name="T18" fmla="*/ 13 w 25"/>
                <a:gd name="T19" fmla="*/ 2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" h="26">
                  <a:moveTo>
                    <a:pt x="13" y="0"/>
                  </a:move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20" y="26"/>
                    <a:pt x="25" y="20"/>
                    <a:pt x="25" y="13"/>
                  </a:cubicBezTo>
                  <a:cubicBezTo>
                    <a:pt x="25" y="6"/>
                    <a:pt x="20" y="0"/>
                    <a:pt x="13" y="0"/>
                  </a:cubicBezTo>
                  <a:close/>
                  <a:moveTo>
                    <a:pt x="13" y="20"/>
                  </a:move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6" y="7"/>
                    <a:pt x="19" y="10"/>
                    <a:pt x="19" y="13"/>
                  </a:cubicBezTo>
                  <a:cubicBezTo>
                    <a:pt x="19" y="17"/>
                    <a:pt x="16" y="20"/>
                    <a:pt x="13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AD9911ED-3B18-00E4-3E1F-2979344E1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0863" y="5399088"/>
              <a:ext cx="65088" cy="63500"/>
            </a:xfrm>
            <a:custGeom>
              <a:avLst/>
              <a:gdLst>
                <a:gd name="T0" fmla="*/ 7 w 17"/>
                <a:gd name="T1" fmla="*/ 16 h 16"/>
                <a:gd name="T2" fmla="*/ 9 w 17"/>
                <a:gd name="T3" fmla="*/ 16 h 16"/>
                <a:gd name="T4" fmla="*/ 17 w 17"/>
                <a:gd name="T5" fmla="*/ 8 h 16"/>
                <a:gd name="T6" fmla="*/ 9 w 17"/>
                <a:gd name="T7" fmla="*/ 0 h 16"/>
                <a:gd name="T8" fmla="*/ 0 w 17"/>
                <a:gd name="T9" fmla="*/ 0 h 16"/>
                <a:gd name="T10" fmla="*/ 1 w 17"/>
                <a:gd name="T11" fmla="*/ 5 h 16"/>
                <a:gd name="T12" fmla="*/ 8 w 17"/>
                <a:gd name="T13" fmla="*/ 5 h 16"/>
                <a:gd name="T14" fmla="*/ 11 w 17"/>
                <a:gd name="T15" fmla="*/ 8 h 16"/>
                <a:gd name="T16" fmla="*/ 8 w 17"/>
                <a:gd name="T17" fmla="*/ 12 h 16"/>
                <a:gd name="T18" fmla="*/ 4 w 17"/>
                <a:gd name="T19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" h="16">
                  <a:moveTo>
                    <a:pt x="7" y="16"/>
                  </a:moveTo>
                  <a:cubicBezTo>
                    <a:pt x="9" y="16"/>
                    <a:pt x="9" y="16"/>
                    <a:pt x="9" y="16"/>
                  </a:cubicBezTo>
                  <a:cubicBezTo>
                    <a:pt x="14" y="16"/>
                    <a:pt x="17" y="13"/>
                    <a:pt x="17" y="8"/>
                  </a:cubicBezTo>
                  <a:cubicBezTo>
                    <a:pt x="17" y="4"/>
                    <a:pt x="14" y="0"/>
                    <a:pt x="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10" y="5"/>
                    <a:pt x="11" y="7"/>
                    <a:pt x="11" y="8"/>
                  </a:cubicBezTo>
                  <a:cubicBezTo>
                    <a:pt x="11" y="10"/>
                    <a:pt x="10" y="12"/>
                    <a:pt x="8" y="12"/>
                  </a:cubicBezTo>
                  <a:cubicBezTo>
                    <a:pt x="4" y="12"/>
                    <a:pt x="4" y="12"/>
                    <a:pt x="4" y="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28D1B741-163F-BD1E-F371-EF1C16255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6075" y="5399088"/>
              <a:ext cx="23813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157805D9-22D3-6A19-3CCE-7740ECA73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6575" y="5399088"/>
              <a:ext cx="22225" cy="98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E49BD92-816A-33A5-E5B1-CA0F31E5E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7550" y="5399088"/>
              <a:ext cx="31750" cy="98425"/>
            </a:xfrm>
            <a:custGeom>
              <a:avLst/>
              <a:gdLst>
                <a:gd name="T0" fmla="*/ 15 w 20"/>
                <a:gd name="T1" fmla="*/ 62 h 62"/>
                <a:gd name="T2" fmla="*/ 0 w 20"/>
                <a:gd name="T3" fmla="*/ 62 h 62"/>
                <a:gd name="T4" fmla="*/ 5 w 20"/>
                <a:gd name="T5" fmla="*/ 0 h 62"/>
                <a:gd name="T6" fmla="*/ 20 w 20"/>
                <a:gd name="T7" fmla="*/ 0 h 62"/>
                <a:gd name="T8" fmla="*/ 15 w 20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" h="62">
                  <a:moveTo>
                    <a:pt x="15" y="62"/>
                  </a:moveTo>
                  <a:lnTo>
                    <a:pt x="0" y="62"/>
                  </a:lnTo>
                  <a:lnTo>
                    <a:pt x="5" y="0"/>
                  </a:lnTo>
                  <a:lnTo>
                    <a:pt x="20" y="0"/>
                  </a:lnTo>
                  <a:lnTo>
                    <a:pt x="1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C7A4CB68-9CD6-9FB1-3B7D-A4AEA808F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3" y="5457825"/>
              <a:ext cx="46038" cy="20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5623848-DB6D-6EAC-929B-EF75EBA85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9125" y="5399088"/>
              <a:ext cx="61913" cy="98425"/>
            </a:xfrm>
            <a:custGeom>
              <a:avLst/>
              <a:gdLst>
                <a:gd name="T0" fmla="*/ 17 w 39"/>
                <a:gd name="T1" fmla="*/ 62 h 62"/>
                <a:gd name="T2" fmla="*/ 0 w 39"/>
                <a:gd name="T3" fmla="*/ 62 h 62"/>
                <a:gd name="T4" fmla="*/ 24 w 39"/>
                <a:gd name="T5" fmla="*/ 0 h 62"/>
                <a:gd name="T6" fmla="*/ 39 w 39"/>
                <a:gd name="T7" fmla="*/ 0 h 62"/>
                <a:gd name="T8" fmla="*/ 17 w 3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62">
                  <a:moveTo>
                    <a:pt x="17" y="62"/>
                  </a:moveTo>
                  <a:lnTo>
                    <a:pt x="0" y="62"/>
                  </a:lnTo>
                  <a:lnTo>
                    <a:pt x="24" y="0"/>
                  </a:lnTo>
                  <a:lnTo>
                    <a:pt x="39" y="0"/>
                  </a:lnTo>
                  <a:lnTo>
                    <a:pt x="17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7B4E377-9786-FEB2-84CD-BF77601A4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7225" y="5399088"/>
              <a:ext cx="57150" cy="98425"/>
            </a:xfrm>
            <a:custGeom>
              <a:avLst/>
              <a:gdLst>
                <a:gd name="T0" fmla="*/ 22 w 36"/>
                <a:gd name="T1" fmla="*/ 62 h 62"/>
                <a:gd name="T2" fmla="*/ 36 w 36"/>
                <a:gd name="T3" fmla="*/ 62 h 62"/>
                <a:gd name="T4" fmla="*/ 15 w 36"/>
                <a:gd name="T5" fmla="*/ 0 h 62"/>
                <a:gd name="T6" fmla="*/ 0 w 36"/>
                <a:gd name="T7" fmla="*/ 0 h 62"/>
                <a:gd name="T8" fmla="*/ 22 w 36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62">
                  <a:moveTo>
                    <a:pt x="22" y="62"/>
                  </a:moveTo>
                  <a:lnTo>
                    <a:pt x="36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2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1E863C8B-3EA1-71B1-E55C-9C546CB7F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5488" y="5399088"/>
              <a:ext cx="49213" cy="98425"/>
            </a:xfrm>
            <a:custGeom>
              <a:avLst/>
              <a:gdLst>
                <a:gd name="T0" fmla="*/ 24 w 31"/>
                <a:gd name="T1" fmla="*/ 62 h 62"/>
                <a:gd name="T2" fmla="*/ 29 w 31"/>
                <a:gd name="T3" fmla="*/ 62 h 62"/>
                <a:gd name="T4" fmla="*/ 31 w 31"/>
                <a:gd name="T5" fmla="*/ 40 h 62"/>
                <a:gd name="T6" fmla="*/ 15 w 31"/>
                <a:gd name="T7" fmla="*/ 0 h 62"/>
                <a:gd name="T8" fmla="*/ 0 w 31"/>
                <a:gd name="T9" fmla="*/ 0 h 62"/>
                <a:gd name="T10" fmla="*/ 24 w 31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62">
                  <a:moveTo>
                    <a:pt x="24" y="62"/>
                  </a:moveTo>
                  <a:lnTo>
                    <a:pt x="29" y="62"/>
                  </a:lnTo>
                  <a:lnTo>
                    <a:pt x="31" y="4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24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8CE2AC9-0A90-B93A-2322-B5027C97F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750" y="5399088"/>
              <a:ext cx="30163" cy="98425"/>
            </a:xfrm>
            <a:custGeom>
              <a:avLst/>
              <a:gdLst>
                <a:gd name="T0" fmla="*/ 5 w 19"/>
                <a:gd name="T1" fmla="*/ 62 h 62"/>
                <a:gd name="T2" fmla="*/ 19 w 19"/>
                <a:gd name="T3" fmla="*/ 62 h 62"/>
                <a:gd name="T4" fmla="*/ 15 w 19"/>
                <a:gd name="T5" fmla="*/ 0 h 62"/>
                <a:gd name="T6" fmla="*/ 0 w 19"/>
                <a:gd name="T7" fmla="*/ 0 h 62"/>
                <a:gd name="T8" fmla="*/ 5 w 19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62">
                  <a:moveTo>
                    <a:pt x="5" y="62"/>
                  </a:moveTo>
                  <a:lnTo>
                    <a:pt x="19" y="62"/>
                  </a:lnTo>
                  <a:lnTo>
                    <a:pt x="15" y="0"/>
                  </a:lnTo>
                  <a:lnTo>
                    <a:pt x="0" y="0"/>
                  </a:lnTo>
                  <a:lnTo>
                    <a:pt x="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62C7CDC0-65B5-4EA3-1269-C5B79B4CE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6763" y="5399088"/>
              <a:ext cx="50800" cy="98425"/>
            </a:xfrm>
            <a:custGeom>
              <a:avLst/>
              <a:gdLst>
                <a:gd name="T0" fmla="*/ 8 w 32"/>
                <a:gd name="T1" fmla="*/ 62 h 62"/>
                <a:gd name="T2" fmla="*/ 3 w 32"/>
                <a:gd name="T3" fmla="*/ 62 h 62"/>
                <a:gd name="T4" fmla="*/ 0 w 32"/>
                <a:gd name="T5" fmla="*/ 40 h 62"/>
                <a:gd name="T6" fmla="*/ 17 w 32"/>
                <a:gd name="T7" fmla="*/ 0 h 62"/>
                <a:gd name="T8" fmla="*/ 32 w 32"/>
                <a:gd name="T9" fmla="*/ 0 h 62"/>
                <a:gd name="T10" fmla="*/ 8 w 32"/>
                <a:gd name="T1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62">
                  <a:moveTo>
                    <a:pt x="8" y="62"/>
                  </a:moveTo>
                  <a:lnTo>
                    <a:pt x="3" y="62"/>
                  </a:lnTo>
                  <a:lnTo>
                    <a:pt x="0" y="40"/>
                  </a:lnTo>
                  <a:lnTo>
                    <a:pt x="17" y="0"/>
                  </a:lnTo>
                  <a:lnTo>
                    <a:pt x="32" y="0"/>
                  </a:lnTo>
                  <a:lnTo>
                    <a:pt x="8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EE68990B-E719-BF89-4E46-9E9560715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1950" y="5399088"/>
              <a:ext cx="63500" cy="50800"/>
            </a:xfrm>
            <a:custGeom>
              <a:avLst/>
              <a:gdLst>
                <a:gd name="T0" fmla="*/ 17 w 40"/>
                <a:gd name="T1" fmla="*/ 32 h 32"/>
                <a:gd name="T2" fmla="*/ 0 w 40"/>
                <a:gd name="T3" fmla="*/ 32 h 32"/>
                <a:gd name="T4" fmla="*/ 24 w 40"/>
                <a:gd name="T5" fmla="*/ 0 h 32"/>
                <a:gd name="T6" fmla="*/ 40 w 40"/>
                <a:gd name="T7" fmla="*/ 0 h 32"/>
                <a:gd name="T8" fmla="*/ 17 w 40"/>
                <a:gd name="T9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32">
                  <a:moveTo>
                    <a:pt x="17" y="32"/>
                  </a:moveTo>
                  <a:lnTo>
                    <a:pt x="0" y="32"/>
                  </a:lnTo>
                  <a:lnTo>
                    <a:pt x="24" y="0"/>
                  </a:lnTo>
                  <a:lnTo>
                    <a:pt x="40" y="0"/>
                  </a:lnTo>
                  <a:lnTo>
                    <a:pt x="17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17AFFF04-2310-2736-FCE0-00A78AF97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25125" y="5443538"/>
              <a:ext cx="65088" cy="53975"/>
            </a:xfrm>
            <a:custGeom>
              <a:avLst/>
              <a:gdLst>
                <a:gd name="T0" fmla="*/ 17 w 41"/>
                <a:gd name="T1" fmla="*/ 0 h 34"/>
                <a:gd name="T2" fmla="*/ 0 w 41"/>
                <a:gd name="T3" fmla="*/ 0 h 34"/>
                <a:gd name="T4" fmla="*/ 24 w 41"/>
                <a:gd name="T5" fmla="*/ 34 h 34"/>
                <a:gd name="T6" fmla="*/ 41 w 41"/>
                <a:gd name="T7" fmla="*/ 34 h 34"/>
                <a:gd name="T8" fmla="*/ 17 w 41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34">
                  <a:moveTo>
                    <a:pt x="17" y="0"/>
                  </a:moveTo>
                  <a:lnTo>
                    <a:pt x="0" y="0"/>
                  </a:lnTo>
                  <a:lnTo>
                    <a:pt x="24" y="34"/>
                  </a:lnTo>
                  <a:lnTo>
                    <a:pt x="41" y="34"/>
                  </a:lnTo>
                  <a:lnTo>
                    <a:pt x="1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CB03CC3-003A-1743-7260-263292960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6738" y="5446713"/>
              <a:ext cx="49213" cy="50800"/>
            </a:xfrm>
            <a:custGeom>
              <a:avLst/>
              <a:gdLst>
                <a:gd name="T0" fmla="*/ 14 w 31"/>
                <a:gd name="T1" fmla="*/ 0 h 32"/>
                <a:gd name="T2" fmla="*/ 0 w 31"/>
                <a:gd name="T3" fmla="*/ 0 h 32"/>
                <a:gd name="T4" fmla="*/ 14 w 31"/>
                <a:gd name="T5" fmla="*/ 32 h 32"/>
                <a:gd name="T6" fmla="*/ 31 w 31"/>
                <a:gd name="T7" fmla="*/ 32 h 32"/>
                <a:gd name="T8" fmla="*/ 14 w 31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2">
                  <a:moveTo>
                    <a:pt x="14" y="0"/>
                  </a:moveTo>
                  <a:lnTo>
                    <a:pt x="0" y="0"/>
                  </a:lnTo>
                  <a:lnTo>
                    <a:pt x="14" y="32"/>
                  </a:lnTo>
                  <a:lnTo>
                    <a:pt x="31" y="32"/>
                  </a:lnTo>
                  <a:lnTo>
                    <a:pt x="1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5A67BFA-6211-D110-8D34-5E771458DD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1850" y="5395913"/>
              <a:ext cx="79375" cy="101600"/>
            </a:xfrm>
            <a:custGeom>
              <a:avLst/>
              <a:gdLst>
                <a:gd name="T0" fmla="*/ 18 w 21"/>
                <a:gd name="T1" fmla="*/ 18 h 26"/>
                <a:gd name="T2" fmla="*/ 13 w 21"/>
                <a:gd name="T3" fmla="*/ 20 h 26"/>
                <a:gd name="T4" fmla="*/ 6 w 21"/>
                <a:gd name="T5" fmla="*/ 13 h 26"/>
                <a:gd name="T6" fmla="*/ 13 w 21"/>
                <a:gd name="T7" fmla="*/ 7 h 26"/>
                <a:gd name="T8" fmla="*/ 18 w 21"/>
                <a:gd name="T9" fmla="*/ 9 h 26"/>
                <a:gd name="T10" fmla="*/ 21 w 21"/>
                <a:gd name="T11" fmla="*/ 3 h 26"/>
                <a:gd name="T12" fmla="*/ 13 w 21"/>
                <a:gd name="T13" fmla="*/ 0 h 26"/>
                <a:gd name="T14" fmla="*/ 0 w 21"/>
                <a:gd name="T15" fmla="*/ 13 h 26"/>
                <a:gd name="T16" fmla="*/ 13 w 21"/>
                <a:gd name="T17" fmla="*/ 26 h 26"/>
                <a:gd name="T18" fmla="*/ 21 w 21"/>
                <a:gd name="T19" fmla="*/ 23 h 26"/>
                <a:gd name="T20" fmla="*/ 18 w 21"/>
                <a:gd name="T21" fmla="*/ 1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26">
                  <a:moveTo>
                    <a:pt x="18" y="18"/>
                  </a:moveTo>
                  <a:cubicBezTo>
                    <a:pt x="17" y="19"/>
                    <a:pt x="15" y="20"/>
                    <a:pt x="13" y="20"/>
                  </a:cubicBezTo>
                  <a:cubicBezTo>
                    <a:pt x="9" y="20"/>
                    <a:pt x="6" y="17"/>
                    <a:pt x="6" y="13"/>
                  </a:cubicBezTo>
                  <a:cubicBezTo>
                    <a:pt x="6" y="10"/>
                    <a:pt x="9" y="7"/>
                    <a:pt x="13" y="7"/>
                  </a:cubicBezTo>
                  <a:cubicBezTo>
                    <a:pt x="15" y="7"/>
                    <a:pt x="17" y="7"/>
                    <a:pt x="18" y="9"/>
                  </a:cubicBezTo>
                  <a:cubicBezTo>
                    <a:pt x="18" y="7"/>
                    <a:pt x="19" y="5"/>
                    <a:pt x="21" y="3"/>
                  </a:cubicBezTo>
                  <a:cubicBezTo>
                    <a:pt x="19" y="1"/>
                    <a:pt x="16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6"/>
                    <a:pt x="13" y="26"/>
                  </a:cubicBezTo>
                  <a:cubicBezTo>
                    <a:pt x="16" y="26"/>
                    <a:pt x="19" y="25"/>
                    <a:pt x="21" y="23"/>
                  </a:cubicBezTo>
                  <a:cubicBezTo>
                    <a:pt x="19" y="22"/>
                    <a:pt x="18" y="20"/>
                    <a:pt x="18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CF298147-97CF-1936-ED12-83D42AD031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82313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EE68E8DA-22BC-A222-CE49-BB01A56D5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2638" y="5518150"/>
              <a:ext cx="34925" cy="58738"/>
            </a:xfrm>
            <a:custGeom>
              <a:avLst/>
              <a:gdLst>
                <a:gd name="T0" fmla="*/ 0 w 22"/>
                <a:gd name="T1" fmla="*/ 37 h 37"/>
                <a:gd name="T2" fmla="*/ 0 w 22"/>
                <a:gd name="T3" fmla="*/ 0 h 37"/>
                <a:gd name="T4" fmla="*/ 22 w 22"/>
                <a:gd name="T5" fmla="*/ 0 h 37"/>
                <a:gd name="T6" fmla="*/ 22 w 22"/>
                <a:gd name="T7" fmla="*/ 4 h 37"/>
                <a:gd name="T8" fmla="*/ 5 w 22"/>
                <a:gd name="T9" fmla="*/ 4 h 37"/>
                <a:gd name="T10" fmla="*/ 5 w 22"/>
                <a:gd name="T11" fmla="*/ 14 h 37"/>
                <a:gd name="T12" fmla="*/ 19 w 22"/>
                <a:gd name="T13" fmla="*/ 14 h 37"/>
                <a:gd name="T14" fmla="*/ 19 w 22"/>
                <a:gd name="T15" fmla="*/ 19 h 37"/>
                <a:gd name="T16" fmla="*/ 5 w 22"/>
                <a:gd name="T17" fmla="*/ 19 h 37"/>
                <a:gd name="T18" fmla="*/ 5 w 22"/>
                <a:gd name="T19" fmla="*/ 32 h 37"/>
                <a:gd name="T20" fmla="*/ 22 w 22"/>
                <a:gd name="T21" fmla="*/ 32 h 37"/>
                <a:gd name="T22" fmla="*/ 22 w 22"/>
                <a:gd name="T23" fmla="*/ 37 h 37"/>
                <a:gd name="T24" fmla="*/ 0 w 22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37">
                  <a:moveTo>
                    <a:pt x="0" y="37"/>
                  </a:move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5" y="4"/>
                  </a:lnTo>
                  <a:lnTo>
                    <a:pt x="5" y="14"/>
                  </a:lnTo>
                  <a:lnTo>
                    <a:pt x="19" y="14"/>
                  </a:lnTo>
                  <a:lnTo>
                    <a:pt x="19" y="19"/>
                  </a:lnTo>
                  <a:lnTo>
                    <a:pt x="5" y="19"/>
                  </a:lnTo>
                  <a:lnTo>
                    <a:pt x="5" y="32"/>
                  </a:lnTo>
                  <a:lnTo>
                    <a:pt x="22" y="32"/>
                  </a:lnTo>
                  <a:lnTo>
                    <a:pt x="22" y="37"/>
                  </a:lnTo>
                  <a:lnTo>
                    <a:pt x="0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8CB9C02C-C91E-B9F8-E84D-1366EF0C4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2963" y="5518150"/>
              <a:ext cx="7938" cy="587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B09F1CF6-EF49-4A31-6EAE-95A6421D8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7888" y="5518150"/>
              <a:ext cx="33338" cy="58738"/>
            </a:xfrm>
            <a:custGeom>
              <a:avLst/>
              <a:gdLst>
                <a:gd name="T0" fmla="*/ 14 w 21"/>
                <a:gd name="T1" fmla="*/ 4 h 37"/>
                <a:gd name="T2" fmla="*/ 14 w 21"/>
                <a:gd name="T3" fmla="*/ 37 h 37"/>
                <a:gd name="T4" fmla="*/ 9 w 21"/>
                <a:gd name="T5" fmla="*/ 37 h 37"/>
                <a:gd name="T6" fmla="*/ 9 w 21"/>
                <a:gd name="T7" fmla="*/ 4 h 37"/>
                <a:gd name="T8" fmla="*/ 0 w 21"/>
                <a:gd name="T9" fmla="*/ 4 h 37"/>
                <a:gd name="T10" fmla="*/ 0 w 21"/>
                <a:gd name="T11" fmla="*/ 0 h 37"/>
                <a:gd name="T12" fmla="*/ 21 w 21"/>
                <a:gd name="T13" fmla="*/ 0 h 37"/>
                <a:gd name="T14" fmla="*/ 21 w 21"/>
                <a:gd name="T15" fmla="*/ 4 h 37"/>
                <a:gd name="T16" fmla="*/ 14 w 21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" h="37">
                  <a:moveTo>
                    <a:pt x="14" y="4"/>
                  </a:moveTo>
                  <a:lnTo>
                    <a:pt x="14" y="37"/>
                  </a:lnTo>
                  <a:lnTo>
                    <a:pt x="9" y="37"/>
                  </a:lnTo>
                  <a:lnTo>
                    <a:pt x="9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1" y="0"/>
                  </a:lnTo>
                  <a:lnTo>
                    <a:pt x="21" y="4"/>
                  </a:lnTo>
                  <a:lnTo>
                    <a:pt x="14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5338A05C-71C0-4AEE-BE4D-24449A096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5038" y="5518150"/>
              <a:ext cx="33338" cy="58738"/>
            </a:xfrm>
            <a:custGeom>
              <a:avLst/>
              <a:gdLst>
                <a:gd name="T0" fmla="*/ 5 w 9"/>
                <a:gd name="T1" fmla="*/ 15 h 15"/>
                <a:gd name="T2" fmla="*/ 0 w 9"/>
                <a:gd name="T3" fmla="*/ 13 h 15"/>
                <a:gd name="T4" fmla="*/ 1 w 9"/>
                <a:gd name="T5" fmla="*/ 11 h 15"/>
                <a:gd name="T6" fmla="*/ 5 w 9"/>
                <a:gd name="T7" fmla="*/ 13 h 15"/>
                <a:gd name="T8" fmla="*/ 7 w 9"/>
                <a:gd name="T9" fmla="*/ 11 h 15"/>
                <a:gd name="T10" fmla="*/ 7 w 9"/>
                <a:gd name="T11" fmla="*/ 9 h 15"/>
                <a:gd name="T12" fmla="*/ 5 w 9"/>
                <a:gd name="T13" fmla="*/ 8 h 15"/>
                <a:gd name="T14" fmla="*/ 4 w 9"/>
                <a:gd name="T15" fmla="*/ 8 h 15"/>
                <a:gd name="T16" fmla="*/ 1 w 9"/>
                <a:gd name="T17" fmla="*/ 7 h 15"/>
                <a:gd name="T18" fmla="*/ 0 w 9"/>
                <a:gd name="T19" fmla="*/ 4 h 15"/>
                <a:gd name="T20" fmla="*/ 5 w 9"/>
                <a:gd name="T21" fmla="*/ 0 h 15"/>
                <a:gd name="T22" fmla="*/ 9 w 9"/>
                <a:gd name="T23" fmla="*/ 2 h 15"/>
                <a:gd name="T24" fmla="*/ 8 w 9"/>
                <a:gd name="T25" fmla="*/ 3 h 15"/>
                <a:gd name="T26" fmla="*/ 5 w 9"/>
                <a:gd name="T27" fmla="*/ 2 h 15"/>
                <a:gd name="T28" fmla="*/ 2 w 9"/>
                <a:gd name="T29" fmla="*/ 4 h 15"/>
                <a:gd name="T30" fmla="*/ 3 w 9"/>
                <a:gd name="T31" fmla="*/ 5 h 15"/>
                <a:gd name="T32" fmla="*/ 4 w 9"/>
                <a:gd name="T33" fmla="*/ 6 h 15"/>
                <a:gd name="T34" fmla="*/ 6 w 9"/>
                <a:gd name="T35" fmla="*/ 6 h 15"/>
                <a:gd name="T36" fmla="*/ 8 w 9"/>
                <a:gd name="T37" fmla="*/ 8 h 15"/>
                <a:gd name="T38" fmla="*/ 9 w 9"/>
                <a:gd name="T39" fmla="*/ 11 h 15"/>
                <a:gd name="T40" fmla="*/ 5 w 9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" h="15">
                  <a:moveTo>
                    <a:pt x="5" y="15"/>
                  </a:moveTo>
                  <a:cubicBezTo>
                    <a:pt x="3" y="15"/>
                    <a:pt x="1" y="14"/>
                    <a:pt x="0" y="13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2" y="13"/>
                    <a:pt x="3" y="13"/>
                    <a:pt x="5" y="13"/>
                  </a:cubicBezTo>
                  <a:cubicBezTo>
                    <a:pt x="6" y="13"/>
                    <a:pt x="7" y="12"/>
                    <a:pt x="7" y="11"/>
                  </a:cubicBezTo>
                  <a:cubicBezTo>
                    <a:pt x="7" y="10"/>
                    <a:pt x="7" y="9"/>
                    <a:pt x="7" y="9"/>
                  </a:cubicBezTo>
                  <a:cubicBezTo>
                    <a:pt x="7" y="9"/>
                    <a:pt x="6" y="9"/>
                    <a:pt x="5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1" y="7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3" y="2"/>
                    <a:pt x="2" y="3"/>
                    <a:pt x="2" y="4"/>
                  </a:cubicBezTo>
                  <a:cubicBezTo>
                    <a:pt x="2" y="5"/>
                    <a:pt x="2" y="5"/>
                    <a:pt x="3" y="5"/>
                  </a:cubicBezTo>
                  <a:cubicBezTo>
                    <a:pt x="3" y="6"/>
                    <a:pt x="4" y="6"/>
                    <a:pt x="4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7" y="7"/>
                    <a:pt x="8" y="7"/>
                    <a:pt x="8" y="8"/>
                  </a:cubicBezTo>
                  <a:cubicBezTo>
                    <a:pt x="9" y="8"/>
                    <a:pt x="9" y="9"/>
                    <a:pt x="9" y="11"/>
                  </a:cubicBezTo>
                  <a:cubicBezTo>
                    <a:pt x="9" y="13"/>
                    <a:pt x="7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3539291-3DFD-940E-3EFB-4DCEA1EA43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74413" y="5518150"/>
              <a:ext cx="41275" cy="58738"/>
            </a:xfrm>
            <a:custGeom>
              <a:avLst/>
              <a:gdLst>
                <a:gd name="T0" fmla="*/ 9 w 11"/>
                <a:gd name="T1" fmla="*/ 15 h 15"/>
                <a:gd name="T2" fmla="*/ 8 w 11"/>
                <a:gd name="T3" fmla="*/ 13 h 15"/>
                <a:gd name="T4" fmla="*/ 4 w 11"/>
                <a:gd name="T5" fmla="*/ 15 h 15"/>
                <a:gd name="T6" fmla="*/ 0 w 11"/>
                <a:gd name="T7" fmla="*/ 10 h 15"/>
                <a:gd name="T8" fmla="*/ 2 w 11"/>
                <a:gd name="T9" fmla="*/ 6 h 15"/>
                <a:gd name="T10" fmla="*/ 1 w 11"/>
                <a:gd name="T11" fmla="*/ 3 h 15"/>
                <a:gd name="T12" fmla="*/ 4 w 11"/>
                <a:gd name="T13" fmla="*/ 0 h 15"/>
                <a:gd name="T14" fmla="*/ 7 w 11"/>
                <a:gd name="T15" fmla="*/ 3 h 15"/>
                <a:gd name="T16" fmla="*/ 6 w 11"/>
                <a:gd name="T17" fmla="*/ 6 h 15"/>
                <a:gd name="T18" fmla="*/ 5 w 11"/>
                <a:gd name="T19" fmla="*/ 7 h 15"/>
                <a:gd name="T20" fmla="*/ 8 w 11"/>
                <a:gd name="T21" fmla="*/ 10 h 15"/>
                <a:gd name="T22" fmla="*/ 8 w 11"/>
                <a:gd name="T23" fmla="*/ 7 h 15"/>
                <a:gd name="T24" fmla="*/ 10 w 11"/>
                <a:gd name="T25" fmla="*/ 7 h 15"/>
                <a:gd name="T26" fmla="*/ 9 w 11"/>
                <a:gd name="T27" fmla="*/ 12 h 15"/>
                <a:gd name="T28" fmla="*/ 11 w 11"/>
                <a:gd name="T29" fmla="*/ 15 h 15"/>
                <a:gd name="T30" fmla="*/ 9 w 11"/>
                <a:gd name="T31" fmla="*/ 15 h 15"/>
                <a:gd name="T32" fmla="*/ 3 w 11"/>
                <a:gd name="T33" fmla="*/ 8 h 15"/>
                <a:gd name="T34" fmla="*/ 2 w 11"/>
                <a:gd name="T35" fmla="*/ 10 h 15"/>
                <a:gd name="T36" fmla="*/ 4 w 11"/>
                <a:gd name="T37" fmla="*/ 13 h 15"/>
                <a:gd name="T38" fmla="*/ 6 w 11"/>
                <a:gd name="T39" fmla="*/ 12 h 15"/>
                <a:gd name="T40" fmla="*/ 3 w 11"/>
                <a:gd name="T41" fmla="*/ 8 h 15"/>
                <a:gd name="T42" fmla="*/ 4 w 11"/>
                <a:gd name="T43" fmla="*/ 2 h 15"/>
                <a:gd name="T44" fmla="*/ 3 w 11"/>
                <a:gd name="T45" fmla="*/ 3 h 15"/>
                <a:gd name="T46" fmla="*/ 4 w 11"/>
                <a:gd name="T47" fmla="*/ 5 h 15"/>
                <a:gd name="T48" fmla="*/ 5 w 11"/>
                <a:gd name="T49" fmla="*/ 5 h 15"/>
                <a:gd name="T50" fmla="*/ 5 w 11"/>
                <a:gd name="T51" fmla="*/ 3 h 15"/>
                <a:gd name="T52" fmla="*/ 4 w 11"/>
                <a:gd name="T5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15">
                  <a:moveTo>
                    <a:pt x="9" y="15"/>
                  </a:moveTo>
                  <a:cubicBezTo>
                    <a:pt x="8" y="13"/>
                    <a:pt x="8" y="13"/>
                    <a:pt x="8" y="13"/>
                  </a:cubicBezTo>
                  <a:cubicBezTo>
                    <a:pt x="7" y="14"/>
                    <a:pt x="6" y="15"/>
                    <a:pt x="4" y="15"/>
                  </a:cubicBezTo>
                  <a:cubicBezTo>
                    <a:pt x="1" y="15"/>
                    <a:pt x="0" y="13"/>
                    <a:pt x="0" y="10"/>
                  </a:cubicBezTo>
                  <a:cubicBezTo>
                    <a:pt x="0" y="8"/>
                    <a:pt x="1" y="7"/>
                    <a:pt x="2" y="6"/>
                  </a:cubicBezTo>
                  <a:cubicBezTo>
                    <a:pt x="2" y="6"/>
                    <a:pt x="1" y="5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6" y="0"/>
                    <a:pt x="7" y="1"/>
                    <a:pt x="7" y="3"/>
                  </a:cubicBezTo>
                  <a:cubicBezTo>
                    <a:pt x="7" y="4"/>
                    <a:pt x="7" y="5"/>
                    <a:pt x="6" y="6"/>
                  </a:cubicBezTo>
                  <a:cubicBezTo>
                    <a:pt x="6" y="6"/>
                    <a:pt x="5" y="6"/>
                    <a:pt x="5" y="7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9"/>
                    <a:pt x="8" y="9"/>
                    <a:pt x="8" y="7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9"/>
                    <a:pt x="10" y="11"/>
                    <a:pt x="9" y="12"/>
                  </a:cubicBezTo>
                  <a:cubicBezTo>
                    <a:pt x="11" y="15"/>
                    <a:pt x="11" y="15"/>
                    <a:pt x="11" y="15"/>
                  </a:cubicBezTo>
                  <a:lnTo>
                    <a:pt x="9" y="15"/>
                  </a:lnTo>
                  <a:close/>
                  <a:moveTo>
                    <a:pt x="3" y="8"/>
                  </a:moveTo>
                  <a:cubicBezTo>
                    <a:pt x="2" y="8"/>
                    <a:pt x="2" y="9"/>
                    <a:pt x="2" y="10"/>
                  </a:cubicBezTo>
                  <a:cubicBezTo>
                    <a:pt x="2" y="12"/>
                    <a:pt x="3" y="13"/>
                    <a:pt x="4" y="13"/>
                  </a:cubicBezTo>
                  <a:cubicBezTo>
                    <a:pt x="5" y="13"/>
                    <a:pt x="6" y="13"/>
                    <a:pt x="6" y="12"/>
                  </a:cubicBezTo>
                  <a:lnTo>
                    <a:pt x="3" y="8"/>
                  </a:lnTo>
                  <a:close/>
                  <a:moveTo>
                    <a:pt x="4" y="2"/>
                  </a:moveTo>
                  <a:cubicBezTo>
                    <a:pt x="3" y="2"/>
                    <a:pt x="3" y="2"/>
                    <a:pt x="3" y="3"/>
                  </a:cubicBezTo>
                  <a:cubicBezTo>
                    <a:pt x="3" y="4"/>
                    <a:pt x="3" y="4"/>
                    <a:pt x="4" y="5"/>
                  </a:cubicBezTo>
                  <a:cubicBezTo>
                    <a:pt x="4" y="5"/>
                    <a:pt x="5" y="5"/>
                    <a:pt x="5" y="5"/>
                  </a:cubicBezTo>
                  <a:cubicBezTo>
                    <a:pt x="5" y="4"/>
                    <a:pt x="5" y="4"/>
                    <a:pt x="5" y="3"/>
                  </a:cubicBezTo>
                  <a:cubicBezTo>
                    <a:pt x="5" y="2"/>
                    <a:pt x="5" y="2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AD7A24A-5774-01ED-0B1F-3D8149488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6963" y="5518150"/>
              <a:ext cx="34925" cy="58738"/>
            </a:xfrm>
            <a:custGeom>
              <a:avLst/>
              <a:gdLst>
                <a:gd name="T0" fmla="*/ 12 w 22"/>
                <a:gd name="T1" fmla="*/ 4 h 37"/>
                <a:gd name="T2" fmla="*/ 12 w 22"/>
                <a:gd name="T3" fmla="*/ 37 h 37"/>
                <a:gd name="T4" fmla="*/ 7 w 22"/>
                <a:gd name="T5" fmla="*/ 37 h 37"/>
                <a:gd name="T6" fmla="*/ 7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2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2" y="4"/>
                  </a:moveTo>
                  <a:lnTo>
                    <a:pt x="12" y="37"/>
                  </a:lnTo>
                  <a:lnTo>
                    <a:pt x="7" y="37"/>
                  </a:lnTo>
                  <a:lnTo>
                    <a:pt x="7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2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4F6879C6-A900-9C7C-B73E-2C5961A777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18875" y="5518150"/>
              <a:ext cx="33338" cy="58738"/>
            </a:xfrm>
            <a:custGeom>
              <a:avLst/>
              <a:gdLst>
                <a:gd name="T0" fmla="*/ 7 w 9"/>
                <a:gd name="T1" fmla="*/ 15 h 15"/>
                <a:gd name="T2" fmla="*/ 4 w 9"/>
                <a:gd name="T3" fmla="*/ 9 h 15"/>
                <a:gd name="T4" fmla="*/ 2 w 9"/>
                <a:gd name="T5" fmla="*/ 9 h 15"/>
                <a:gd name="T6" fmla="*/ 2 w 9"/>
                <a:gd name="T7" fmla="*/ 15 h 15"/>
                <a:gd name="T8" fmla="*/ 0 w 9"/>
                <a:gd name="T9" fmla="*/ 15 h 15"/>
                <a:gd name="T10" fmla="*/ 0 w 9"/>
                <a:gd name="T11" fmla="*/ 0 h 15"/>
                <a:gd name="T12" fmla="*/ 5 w 9"/>
                <a:gd name="T13" fmla="*/ 0 h 15"/>
                <a:gd name="T14" fmla="*/ 9 w 9"/>
                <a:gd name="T15" fmla="*/ 4 h 15"/>
                <a:gd name="T16" fmla="*/ 6 w 9"/>
                <a:gd name="T17" fmla="*/ 8 h 15"/>
                <a:gd name="T18" fmla="*/ 9 w 9"/>
                <a:gd name="T19" fmla="*/ 15 h 15"/>
                <a:gd name="T20" fmla="*/ 7 w 9"/>
                <a:gd name="T21" fmla="*/ 15 h 15"/>
                <a:gd name="T22" fmla="*/ 5 w 9"/>
                <a:gd name="T23" fmla="*/ 2 h 15"/>
                <a:gd name="T24" fmla="*/ 2 w 9"/>
                <a:gd name="T25" fmla="*/ 2 h 15"/>
                <a:gd name="T26" fmla="*/ 2 w 9"/>
                <a:gd name="T27" fmla="*/ 7 h 15"/>
                <a:gd name="T28" fmla="*/ 5 w 9"/>
                <a:gd name="T29" fmla="*/ 7 h 15"/>
                <a:gd name="T30" fmla="*/ 7 w 9"/>
                <a:gd name="T31" fmla="*/ 4 h 15"/>
                <a:gd name="T32" fmla="*/ 5 w 9"/>
                <a:gd name="T33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" h="15">
                  <a:moveTo>
                    <a:pt x="7" y="15"/>
                  </a:move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2" y="9"/>
                    <a:pt x="2" y="9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7" y="0"/>
                    <a:pt x="9" y="2"/>
                    <a:pt x="9" y="4"/>
                  </a:cubicBezTo>
                  <a:cubicBezTo>
                    <a:pt x="9" y="6"/>
                    <a:pt x="8" y="8"/>
                    <a:pt x="6" y="8"/>
                  </a:cubicBezTo>
                  <a:cubicBezTo>
                    <a:pt x="9" y="15"/>
                    <a:pt x="9" y="15"/>
                    <a:pt x="9" y="15"/>
                  </a:cubicBezTo>
                  <a:lnTo>
                    <a:pt x="7" y="15"/>
                  </a:lnTo>
                  <a:close/>
                  <a:moveTo>
                    <a:pt x="5" y="2"/>
                  </a:moveTo>
                  <a:cubicBezTo>
                    <a:pt x="2" y="2"/>
                    <a:pt x="2" y="2"/>
                    <a:pt x="2" y="2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6" y="7"/>
                    <a:pt x="7" y="6"/>
                    <a:pt x="7" y="4"/>
                  </a:cubicBezTo>
                  <a:cubicBezTo>
                    <a:pt x="7" y="3"/>
                    <a:pt x="6" y="2"/>
                    <a:pt x="5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9E86578-D7C1-FD51-6643-4C655C259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9200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0 h 15"/>
                <a:gd name="T4" fmla="*/ 0 w 10"/>
                <a:gd name="T5" fmla="*/ 0 h 15"/>
                <a:gd name="T6" fmla="*/ 2 w 10"/>
                <a:gd name="T7" fmla="*/ 0 h 15"/>
                <a:gd name="T8" fmla="*/ 2 w 10"/>
                <a:gd name="T9" fmla="*/ 10 h 15"/>
                <a:gd name="T10" fmla="*/ 5 w 10"/>
                <a:gd name="T11" fmla="*/ 13 h 15"/>
                <a:gd name="T12" fmla="*/ 8 w 10"/>
                <a:gd name="T13" fmla="*/ 10 h 15"/>
                <a:gd name="T14" fmla="*/ 8 w 10"/>
                <a:gd name="T15" fmla="*/ 0 h 15"/>
                <a:gd name="T16" fmla="*/ 10 w 10"/>
                <a:gd name="T17" fmla="*/ 0 h 15"/>
                <a:gd name="T18" fmla="*/ 10 w 10"/>
                <a:gd name="T19" fmla="*/ 10 h 15"/>
                <a:gd name="T20" fmla="*/ 5 w 10"/>
                <a:gd name="T2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2" y="15"/>
                    <a:pt x="0" y="13"/>
                    <a:pt x="0" y="1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2" y="12"/>
                    <a:pt x="3" y="13"/>
                    <a:pt x="5" y="13"/>
                  </a:cubicBezTo>
                  <a:cubicBezTo>
                    <a:pt x="7" y="13"/>
                    <a:pt x="8" y="12"/>
                    <a:pt x="8" y="1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C0D2284-EB70-80AF-B795-2BAAE4370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9525" y="5518150"/>
              <a:ext cx="38100" cy="58738"/>
            </a:xfrm>
            <a:custGeom>
              <a:avLst/>
              <a:gdLst>
                <a:gd name="T0" fmla="*/ 5 w 10"/>
                <a:gd name="T1" fmla="*/ 15 h 15"/>
                <a:gd name="T2" fmla="*/ 0 w 10"/>
                <a:gd name="T3" fmla="*/ 13 h 15"/>
                <a:gd name="T4" fmla="*/ 2 w 10"/>
                <a:gd name="T5" fmla="*/ 11 h 15"/>
                <a:gd name="T6" fmla="*/ 5 w 10"/>
                <a:gd name="T7" fmla="*/ 13 h 15"/>
                <a:gd name="T8" fmla="*/ 8 w 10"/>
                <a:gd name="T9" fmla="*/ 11 h 15"/>
                <a:gd name="T10" fmla="*/ 7 w 10"/>
                <a:gd name="T11" fmla="*/ 9 h 15"/>
                <a:gd name="T12" fmla="*/ 6 w 10"/>
                <a:gd name="T13" fmla="*/ 8 h 15"/>
                <a:gd name="T14" fmla="*/ 4 w 10"/>
                <a:gd name="T15" fmla="*/ 8 h 15"/>
                <a:gd name="T16" fmla="*/ 2 w 10"/>
                <a:gd name="T17" fmla="*/ 7 h 15"/>
                <a:gd name="T18" fmla="*/ 1 w 10"/>
                <a:gd name="T19" fmla="*/ 4 h 15"/>
                <a:gd name="T20" fmla="*/ 5 w 10"/>
                <a:gd name="T21" fmla="*/ 0 h 15"/>
                <a:gd name="T22" fmla="*/ 9 w 10"/>
                <a:gd name="T23" fmla="*/ 2 h 15"/>
                <a:gd name="T24" fmla="*/ 8 w 10"/>
                <a:gd name="T25" fmla="*/ 3 h 15"/>
                <a:gd name="T26" fmla="*/ 5 w 10"/>
                <a:gd name="T27" fmla="*/ 2 h 15"/>
                <a:gd name="T28" fmla="*/ 3 w 10"/>
                <a:gd name="T29" fmla="*/ 4 h 15"/>
                <a:gd name="T30" fmla="*/ 3 w 10"/>
                <a:gd name="T31" fmla="*/ 5 h 15"/>
                <a:gd name="T32" fmla="*/ 5 w 10"/>
                <a:gd name="T33" fmla="*/ 6 h 15"/>
                <a:gd name="T34" fmla="*/ 6 w 10"/>
                <a:gd name="T35" fmla="*/ 6 h 15"/>
                <a:gd name="T36" fmla="*/ 9 w 10"/>
                <a:gd name="T37" fmla="*/ 8 h 15"/>
                <a:gd name="T38" fmla="*/ 10 w 10"/>
                <a:gd name="T39" fmla="*/ 11 h 15"/>
                <a:gd name="T40" fmla="*/ 5 w 10"/>
                <a:gd name="T4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" h="15">
                  <a:moveTo>
                    <a:pt x="5" y="15"/>
                  </a:moveTo>
                  <a:cubicBezTo>
                    <a:pt x="3" y="15"/>
                    <a:pt x="2" y="14"/>
                    <a:pt x="0" y="13"/>
                  </a:cubicBezTo>
                  <a:cubicBezTo>
                    <a:pt x="2" y="11"/>
                    <a:pt x="2" y="11"/>
                    <a:pt x="2" y="11"/>
                  </a:cubicBezTo>
                  <a:cubicBezTo>
                    <a:pt x="3" y="13"/>
                    <a:pt x="4" y="13"/>
                    <a:pt x="5" y="13"/>
                  </a:cubicBezTo>
                  <a:cubicBezTo>
                    <a:pt x="7" y="13"/>
                    <a:pt x="8" y="12"/>
                    <a:pt x="8" y="11"/>
                  </a:cubicBezTo>
                  <a:cubicBezTo>
                    <a:pt x="8" y="10"/>
                    <a:pt x="8" y="9"/>
                    <a:pt x="7" y="9"/>
                  </a:cubicBezTo>
                  <a:cubicBezTo>
                    <a:pt x="7" y="9"/>
                    <a:pt x="7" y="9"/>
                    <a:pt x="6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3" y="8"/>
                    <a:pt x="2" y="8"/>
                    <a:pt x="2" y="7"/>
                  </a:cubicBezTo>
                  <a:cubicBezTo>
                    <a:pt x="1" y="6"/>
                    <a:pt x="1" y="5"/>
                    <a:pt x="1" y="4"/>
                  </a:cubicBezTo>
                  <a:cubicBezTo>
                    <a:pt x="1" y="2"/>
                    <a:pt x="2" y="0"/>
                    <a:pt x="5" y="0"/>
                  </a:cubicBezTo>
                  <a:cubicBezTo>
                    <a:pt x="7" y="0"/>
                    <a:pt x="8" y="0"/>
                    <a:pt x="9" y="2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7" y="2"/>
                    <a:pt x="6" y="2"/>
                    <a:pt x="5" y="2"/>
                  </a:cubicBezTo>
                  <a:cubicBezTo>
                    <a:pt x="4" y="2"/>
                    <a:pt x="3" y="3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8" y="7"/>
                    <a:pt x="8" y="7"/>
                    <a:pt x="9" y="8"/>
                  </a:cubicBezTo>
                  <a:cubicBezTo>
                    <a:pt x="9" y="8"/>
                    <a:pt x="10" y="9"/>
                    <a:pt x="10" y="11"/>
                  </a:cubicBezTo>
                  <a:cubicBezTo>
                    <a:pt x="10" y="13"/>
                    <a:pt x="8" y="15"/>
                    <a:pt x="5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7AACA248-6704-C346-B420-D06E7EE76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99850" y="5518150"/>
              <a:ext cx="34925" cy="58738"/>
            </a:xfrm>
            <a:custGeom>
              <a:avLst/>
              <a:gdLst>
                <a:gd name="T0" fmla="*/ 15 w 22"/>
                <a:gd name="T1" fmla="*/ 4 h 37"/>
                <a:gd name="T2" fmla="*/ 15 w 22"/>
                <a:gd name="T3" fmla="*/ 37 h 37"/>
                <a:gd name="T4" fmla="*/ 10 w 22"/>
                <a:gd name="T5" fmla="*/ 37 h 37"/>
                <a:gd name="T6" fmla="*/ 10 w 22"/>
                <a:gd name="T7" fmla="*/ 4 h 37"/>
                <a:gd name="T8" fmla="*/ 0 w 22"/>
                <a:gd name="T9" fmla="*/ 4 h 37"/>
                <a:gd name="T10" fmla="*/ 0 w 22"/>
                <a:gd name="T11" fmla="*/ 0 h 37"/>
                <a:gd name="T12" fmla="*/ 22 w 22"/>
                <a:gd name="T13" fmla="*/ 0 h 37"/>
                <a:gd name="T14" fmla="*/ 22 w 22"/>
                <a:gd name="T15" fmla="*/ 4 h 37"/>
                <a:gd name="T16" fmla="*/ 15 w 22"/>
                <a:gd name="T17" fmla="*/ 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37">
                  <a:moveTo>
                    <a:pt x="15" y="4"/>
                  </a:moveTo>
                  <a:lnTo>
                    <a:pt x="15" y="37"/>
                  </a:lnTo>
                  <a:lnTo>
                    <a:pt x="10" y="37"/>
                  </a:lnTo>
                  <a:lnTo>
                    <a:pt x="1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22" y="0"/>
                  </a:lnTo>
                  <a:lnTo>
                    <a:pt x="22" y="4"/>
                  </a:ln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091A4110-B0E7-87CA-1B61-CE1ECAECD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2513" y="5289550"/>
              <a:ext cx="322263" cy="173038"/>
            </a:xfrm>
            <a:custGeom>
              <a:avLst/>
              <a:gdLst>
                <a:gd name="T0" fmla="*/ 203 w 203"/>
                <a:gd name="T1" fmla="*/ 109 h 109"/>
                <a:gd name="T2" fmla="*/ 203 w 203"/>
                <a:gd name="T3" fmla="*/ 109 h 109"/>
                <a:gd name="T4" fmla="*/ 67 w 203"/>
                <a:gd name="T5" fmla="*/ 0 h 109"/>
                <a:gd name="T6" fmla="*/ 0 w 203"/>
                <a:gd name="T7" fmla="*/ 106 h 109"/>
                <a:gd name="T8" fmla="*/ 0 w 203"/>
                <a:gd name="T9" fmla="*/ 109 h 109"/>
                <a:gd name="T10" fmla="*/ 67 w 203"/>
                <a:gd name="T11" fmla="*/ 35 h 109"/>
                <a:gd name="T12" fmla="*/ 203 w 203"/>
                <a:gd name="T13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109">
                  <a:moveTo>
                    <a:pt x="203" y="109"/>
                  </a:moveTo>
                  <a:lnTo>
                    <a:pt x="203" y="109"/>
                  </a:lnTo>
                  <a:lnTo>
                    <a:pt x="67" y="0"/>
                  </a:lnTo>
                  <a:lnTo>
                    <a:pt x="0" y="106"/>
                  </a:lnTo>
                  <a:lnTo>
                    <a:pt x="0" y="109"/>
                  </a:lnTo>
                  <a:lnTo>
                    <a:pt x="67" y="35"/>
                  </a:lnTo>
                  <a:lnTo>
                    <a:pt x="203" y="1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5122087A-17AC-9E88-CF76-6B8523370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2513" y="5364163"/>
              <a:ext cx="322263" cy="109538"/>
            </a:xfrm>
            <a:custGeom>
              <a:avLst/>
              <a:gdLst>
                <a:gd name="T0" fmla="*/ 0 w 203"/>
                <a:gd name="T1" fmla="*/ 67 h 69"/>
                <a:gd name="T2" fmla="*/ 0 w 203"/>
                <a:gd name="T3" fmla="*/ 69 h 69"/>
                <a:gd name="T4" fmla="*/ 67 w 203"/>
                <a:gd name="T5" fmla="*/ 25 h 69"/>
                <a:gd name="T6" fmla="*/ 203 w 203"/>
                <a:gd name="T7" fmla="*/ 69 h 69"/>
                <a:gd name="T8" fmla="*/ 203 w 203"/>
                <a:gd name="T9" fmla="*/ 67 h 69"/>
                <a:gd name="T10" fmla="*/ 67 w 203"/>
                <a:gd name="T11" fmla="*/ 0 h 69"/>
                <a:gd name="T12" fmla="*/ 0 w 203"/>
                <a:gd name="T13" fmla="*/ 6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69">
                  <a:moveTo>
                    <a:pt x="0" y="67"/>
                  </a:moveTo>
                  <a:lnTo>
                    <a:pt x="0" y="69"/>
                  </a:lnTo>
                  <a:lnTo>
                    <a:pt x="67" y="25"/>
                  </a:lnTo>
                  <a:lnTo>
                    <a:pt x="203" y="69"/>
                  </a:lnTo>
                  <a:lnTo>
                    <a:pt x="203" y="67"/>
                  </a:lnTo>
                  <a:lnTo>
                    <a:pt x="67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92B888F4-2318-1261-10C8-0E5556A39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2513" y="5414963"/>
              <a:ext cx="322263" cy="66675"/>
            </a:xfrm>
            <a:custGeom>
              <a:avLst/>
              <a:gdLst>
                <a:gd name="T0" fmla="*/ 0 w 203"/>
                <a:gd name="T1" fmla="*/ 42 h 42"/>
                <a:gd name="T2" fmla="*/ 0 w 203"/>
                <a:gd name="T3" fmla="*/ 42 h 42"/>
                <a:gd name="T4" fmla="*/ 67 w 203"/>
                <a:gd name="T5" fmla="*/ 25 h 42"/>
                <a:gd name="T6" fmla="*/ 203 w 203"/>
                <a:gd name="T7" fmla="*/ 42 h 42"/>
                <a:gd name="T8" fmla="*/ 203 w 203"/>
                <a:gd name="T9" fmla="*/ 42 h 42"/>
                <a:gd name="T10" fmla="*/ 67 w 203"/>
                <a:gd name="T11" fmla="*/ 0 h 42"/>
                <a:gd name="T12" fmla="*/ 0 w 203"/>
                <a:gd name="T13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42">
                  <a:moveTo>
                    <a:pt x="0" y="42"/>
                  </a:moveTo>
                  <a:lnTo>
                    <a:pt x="0" y="42"/>
                  </a:lnTo>
                  <a:lnTo>
                    <a:pt x="67" y="25"/>
                  </a:lnTo>
                  <a:lnTo>
                    <a:pt x="203" y="42"/>
                  </a:lnTo>
                  <a:lnTo>
                    <a:pt x="203" y="42"/>
                  </a:lnTo>
                  <a:lnTo>
                    <a:pt x="67" y="0"/>
                  </a:lnTo>
                  <a:lnTo>
                    <a:pt x="0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DDEB4D31-2AD9-ADE7-19AA-73784831E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2513" y="5470525"/>
              <a:ext cx="322263" cy="23813"/>
            </a:xfrm>
            <a:custGeom>
              <a:avLst/>
              <a:gdLst>
                <a:gd name="T0" fmla="*/ 0 w 203"/>
                <a:gd name="T1" fmla="*/ 12 h 15"/>
                <a:gd name="T2" fmla="*/ 0 w 203"/>
                <a:gd name="T3" fmla="*/ 15 h 15"/>
                <a:gd name="T4" fmla="*/ 203 w 203"/>
                <a:gd name="T5" fmla="*/ 15 h 15"/>
                <a:gd name="T6" fmla="*/ 203 w 203"/>
                <a:gd name="T7" fmla="*/ 12 h 15"/>
                <a:gd name="T8" fmla="*/ 67 w 203"/>
                <a:gd name="T9" fmla="*/ 0 h 15"/>
                <a:gd name="T10" fmla="*/ 0 w 203"/>
                <a:gd name="T11" fmla="*/ 1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3" h="15">
                  <a:moveTo>
                    <a:pt x="0" y="12"/>
                  </a:moveTo>
                  <a:lnTo>
                    <a:pt x="0" y="15"/>
                  </a:lnTo>
                  <a:lnTo>
                    <a:pt x="203" y="15"/>
                  </a:lnTo>
                  <a:lnTo>
                    <a:pt x="203" y="12"/>
                  </a:lnTo>
                  <a:lnTo>
                    <a:pt x="67" y="0"/>
                  </a:ln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895">
                <a:ea typeface="KoPubWorld돋움체 Bold" panose="00000800000000000000" pitchFamily="2" charset="-127"/>
              </a:endParaRPr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1B393208-F0B9-89DF-4F8D-388AAF628197}"/>
              </a:ext>
            </a:extLst>
          </p:cNvPr>
          <p:cNvCxnSpPr/>
          <p:nvPr userDrawn="1"/>
        </p:nvCxnSpPr>
        <p:spPr>
          <a:xfrm>
            <a:off x="462200" y="7173747"/>
            <a:ext cx="850333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>
            <a:extLst>
              <a:ext uri="{FF2B5EF4-FFF2-40B4-BE49-F238E27FC236}">
                <a16:creationId xmlns:a16="http://schemas.microsoft.com/office/drawing/2014/main" id="{52BA00D0-0115-35ED-37F4-19021EEC70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8544" b="4354"/>
          <a:stretch/>
        </p:blipFill>
        <p:spPr>
          <a:xfrm>
            <a:off x="7788" y="4094632"/>
            <a:ext cx="4372862" cy="346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996874"/>
      </p:ext>
    </p:extLst>
  </p:cSld>
  <p:clrMap bg1="lt1" tx1="dk1" bg2="lt2" tx2="dk2" accent1="accent1" accent2="accent2" accent3="accent3" accent4="accent4" accent5="accent5" accent6="accent6" hlink="hlink" folHlink="folHlink"/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sldLayoutIdLst/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KoPubWorld돋움체 Bold" panose="00000800000000000000" pitchFamily="2" charset="-127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>
          <p15:clr>
            <a:srgbClr val="F26B43"/>
          </p15:clr>
        </p15:guide>
        <p15:guide id="2" pos="6565">
          <p15:clr>
            <a:srgbClr val="F26B43"/>
          </p15:clr>
        </p15:guide>
        <p15:guide id="3" pos="3368">
          <p15:clr>
            <a:srgbClr val="F26B43"/>
          </p15:clr>
        </p15:guide>
        <p15:guide id="4" orient="horz" pos="4513">
          <p15:clr>
            <a:srgbClr val="F26B43"/>
          </p15:clr>
        </p15:guide>
        <p15:guide id="5" orient="horz" pos="181">
          <p15:clr>
            <a:srgbClr val="F26B43"/>
          </p15:clr>
        </p15:guide>
        <p15:guide id="6" orient="horz" pos="1247">
          <p15:clr>
            <a:srgbClr val="F26B43"/>
          </p15:clr>
        </p15:guide>
        <p15:guide id="7" orient="horz" pos="4286">
          <p15:clr>
            <a:srgbClr val="F26B43"/>
          </p15:clr>
        </p15:guide>
        <p15:guide id="8" orient="horz" pos="117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247269"/>
      </p:ext>
    </p:extLst>
  </p:cSld>
  <p:clrMap bg1="lt1" tx1="dk1" bg2="lt2" tx2="dk2" accent1="accent1" accent2="accent2" accent3="accent3" accent4="accent4" accent5="accent5" accent6="accent6" hlink="hlink" folHlink="folHlink"/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sldLayoutIdLst/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KoPubWorld돋움체 Bold" panose="00000800000000000000" pitchFamily="2" charset="-127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KoPubWorld돋움체 Bold" panose="00000800000000000000" pitchFamily="2" charset="-127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>
          <p15:clr>
            <a:srgbClr val="F26B43"/>
          </p15:clr>
        </p15:guide>
        <p15:guide id="2" pos="6565">
          <p15:clr>
            <a:srgbClr val="F26B43"/>
          </p15:clr>
        </p15:guide>
        <p15:guide id="3" pos="3368">
          <p15:clr>
            <a:srgbClr val="F26B43"/>
          </p15:clr>
        </p15:guide>
        <p15:guide id="4" orient="horz" pos="4513">
          <p15:clr>
            <a:srgbClr val="F26B43"/>
          </p15:clr>
        </p15:guide>
        <p15:guide id="5" orient="horz" pos="181">
          <p15:clr>
            <a:srgbClr val="F26B43"/>
          </p15:clr>
        </p15:guide>
        <p15:guide id="6" orient="horz" pos="1247">
          <p15:clr>
            <a:srgbClr val="F26B43"/>
          </p15:clr>
        </p15:guide>
        <p15:guide id="7" orient="horz" pos="4286">
          <p15:clr>
            <a:srgbClr val="F26B43"/>
          </p15:clr>
        </p15:guide>
        <p15:guide id="8" orient="horz" pos="1179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9456"/>
            <a:ext cx="5961888" cy="530352"/>
          </a:xfrm>
          <a:prstGeom prst="rect">
            <a:avLst/>
          </a:prstGeom>
          <a:noFill/>
        </p:spPr>
        <p:txBody>
          <a:bodyPr wrap="square" lIns="2556000" rIns="0" tIns="359911" bIns="0" anchor="ctr">
            <a:spAutoFit/>
          </a:bodyPr>
          <a:lstStyle/>
          <a:p>
            <a:r>
              <a:rPr sz="1100" b="1">
                <a:solidFill>
                  <a:srgbClr val="000000"/>
                </a:solidFill>
                <a:latin typeface="KoPubWorld돋움체 Light"/>
              </a:rPr>
              <a:t>&gt; 예비투자심의 리스크관리부서 의견 및 조치사항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1042415"/>
            <a:ext cx="9994392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F1F1F"/>
                </a:solidFill>
                <a:latin typeface="KoPubWorld돋움체 Light"/>
              </a:rPr>
              <a:t>리스크관리부서 의견 6건 중 4건은 법률의견·외부평가·임대차 조건으로 조치함</a:t>
            </a:r>
          </a:p>
          <a:p>
            <a:r>
              <a:rPr sz="1200" b="0">
                <a:solidFill>
                  <a:srgbClr val="404040"/>
                </a:solidFill>
                <a:latin typeface="KoPubWorld돋움체 Light"/>
              </a:rPr>
              <a:t>• 3종 발행가(23,000원)는 상증세법 평가액(22,723원) 이상, 쿠팡은 91억 시설투자와 Rent-Free 조건으로 잔류 유인 확보</a:t>
            </a:r>
          </a:p>
          <a:p>
            <a:r>
              <a:rPr sz="1200" b="0">
                <a:solidFill>
                  <a:srgbClr val="404040"/>
                </a:solidFill>
                <a:latin typeface="KoPubWorld돋움체 Light"/>
              </a:rPr>
              <a:t>• 2029년 유동성·재차입 2건은 조치사항 작성 예정 (KLI 모리츠 리스크 검토는 본 장표에서 제외)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984248"/>
            <a:ext cx="9784080" cy="246888"/>
          </a:xfrm>
          <a:prstGeom prst="rect">
            <a:avLst/>
          </a:prstGeom>
          <a:solidFill>
            <a:srgbClr val="345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ctr"/>
            <a:r>
              <a:rPr sz="1000" b="0">
                <a:solidFill>
                  <a:srgbClr val="FFFFFF"/>
                </a:solidFill>
                <a:latin typeface="KoPubWorld돋움체 Bold"/>
              </a:rPr>
              <a:t>리스크관리부서 의견 및 조치사항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21207" y="2359152"/>
          <a:ext cx="9784080" cy="3913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"/>
                <a:gridCol w="530352"/>
                <a:gridCol w="914400"/>
                <a:gridCol w="2834640"/>
                <a:gridCol w="5175504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No.</a:t>
                      </a:r>
                    </a:p>
                  </a:txBody>
                  <a:tcPr marL="54864" marR="54864" marT="0" marB="0" anchor="ctr">
                    <a:solidFill>
                      <a:srgbClr val="DAE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구분</a:t>
                      </a:r>
                    </a:p>
                  </a:txBody>
                  <a:tcPr marL="54864" marR="54864" marT="0" marB="0" anchor="ctr">
                    <a:solidFill>
                      <a:srgbClr val="DAE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항목</a:t>
                      </a:r>
                    </a:p>
                  </a:txBody>
                  <a:tcPr marL="54864" marR="54864" marT="0" marB="0" anchor="ctr">
                    <a:solidFill>
                      <a:srgbClr val="DAE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리스크관리부서 의견</a:t>
                      </a:r>
                    </a:p>
                  </a:txBody>
                  <a:tcPr marL="54864" marR="54864" marT="0" marB="0" anchor="ctr">
                    <a:solidFill>
                      <a:srgbClr val="DAE3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KoPubWorld돋움체 Bold"/>
                        </a:rPr>
                        <a:t>조치사항</a:t>
                      </a:r>
                    </a:p>
                  </a:txBody>
                  <a:tcPr marL="54864" marR="54864" marT="0" marB="0" anchor="ctr">
                    <a:solidFill>
                      <a:srgbClr val="DAE3F3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2060"/>
                          </a:solidFill>
                          <a:latin typeface="KoPubWorld돋움체 Bold"/>
                        </a:rPr>
                        <a:t>1</a:t>
                      </a:r>
                    </a:p>
                  </a:txBody>
                  <a:tcPr marL="54864" marR="54864" marT="0" marB="0" anchor="ctr">
                    <a:solidFill>
                      <a:srgbClr val="F2F2F2"/>
                    </a:solidFill>
                  </a:tcPr>
                </a:tc>
                <a:tc rowSpan="3"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AMC</a:t>
                      </a:r>
                    </a:p>
                  </a:txBody>
                  <a:tcPr marL="54864" marR="54864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KoPubWorld돋움체 Medium"/>
                        </a:rPr>
                        <a:t>거래구조상</a:t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KoPubWorld돋움체 Medium"/>
                        </a:rPr>
                        <a:t>이해상충</a:t>
                      </a:r>
                    </a:p>
                  </a:txBody>
                  <a:tcPr marL="54864" marR="54864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동일 AMC가 매도인·매수인·KLI(지분 보유)를 모두 운용해 양측 투자자 이해가 상충할 수 있는 구조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사전 식별·독립 관리의 절차적 증빙 필요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매도인 </a:t>
                      </a:r>
                      <a:r>
                        <a:rPr sz="800" b="1">
                          <a:solidFill>
                            <a:srgbClr val="1F1F1F"/>
                          </a:solidFill>
                          <a:latin typeface="KoPubWorld돋움체 Bold"/>
                        </a:rPr>
                        <a:t>경쟁입찰</a:t>
                      </a: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로 우선협상대상자 선정 → 낙찰가 2,700억은 정상가격으로 해석될 가능성 높음(BKL 법률실사)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부투법 §22조의2③ AMC 특별관계자 거래 → </a:t>
                      </a:r>
                      <a:r>
                        <a:rPr sz="800" b="1">
                          <a:solidFill>
                            <a:srgbClr val="1F1F1F"/>
                          </a:solidFill>
                          <a:latin typeface="KoPubWorld돋움체 Bold"/>
                        </a:rPr>
                        <a:t>KLL 이사회 승인·주총 특별결의</a:t>
                      </a: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(10/16)로 절차 요건 충족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KLI는 3종 매입확약에서 제외(이해관계자 거래 회피), 주주간계약에 이해상충 고지 조항(§1.4) 반영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2060"/>
                          </a:solidFill>
                          <a:latin typeface="KoPubWorld돋움체 Bold"/>
                        </a:rPr>
                        <a:t>2</a:t>
                      </a:r>
                    </a:p>
                  </a:txBody>
                  <a:tcPr marL="54864" marR="54864" marT="0" marB="0" anchor="ctr">
                    <a:solidFill>
                      <a:srgbClr val="F2F2F2"/>
                    </a:solidFill>
                  </a:tcPr>
                </a:tc>
                <a:tc vMerge="1">
                  <a:txBody>
                    <a:bodyPr wrap="square"/>
                    <a:lstStyle/>
                    <a:p/>
                  </a:txBody>
                  <a:tcPr marL="54864" marR="54864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KoPubWorld돋움체 Medium"/>
                        </a:rPr>
                        <a:t>거래조건의</a:t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KoPubWorld돋움체 Medium"/>
                        </a:rPr>
                        <a:t>공정성 및</a:t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KoPubWorld돋움체 Medium"/>
                        </a:rPr>
                        <a:t>충실의무</a:t>
                      </a:r>
                    </a:p>
                  </a:txBody>
                  <a:tcPr marL="54864" marR="54864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매매가격·투자조건의 양측 공정성을 외부 가치평가·시장비교로 입증 필요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매도인 측 3종 100억(배당률 0%) 재투자는 관계사 부당지원으로 평가될 가능성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시장성·외부 법률검토·이사회 판단 근거 문서화 필요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매매가 2,700억 = 감정가 3,345억(미래새한 '26.09) 대비 </a:t>
                      </a:r>
                      <a:r>
                        <a:rPr sz="800" b="1">
                          <a:solidFill>
                            <a:srgbClr val="1F1F1F"/>
                          </a:solidFill>
                          <a:latin typeface="KoPubWorld돋움체 Bold"/>
                        </a:rPr>
                        <a:t>−19.3%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3종 발행가 </a:t>
                      </a:r>
                      <a:r>
                        <a:rPr sz="800" b="1">
                          <a:solidFill>
                            <a:srgbClr val="1F1F1F"/>
                          </a:solidFill>
                          <a:latin typeface="KoPubWorld돋움체 Bold"/>
                        </a:rPr>
                        <a:t>23,000원</a:t>
                      </a: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/주 ≥ 상증세법 평가액 </a:t>
                      </a:r>
                      <a:r>
                        <a:rPr sz="800" b="1">
                          <a:solidFill>
                            <a:srgbClr val="1F1F1F"/>
                          </a:solidFill>
                          <a:latin typeface="KoPubWorld돋움체 Bold"/>
                        </a:rPr>
                        <a:t>22,723원</a:t>
                      </a: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/주(회계법인 성지 '26.10.7) → 시가 이상 발행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태평양('26.9.14): 투자금 조기 회수·2년 후 원금 회수 등 합리적 근거가 있으면 </a:t>
                      </a:r>
                      <a:r>
                        <a:rPr sz="800" b="1">
                          <a:solidFill>
                            <a:srgbClr val="1F1F1F"/>
                          </a:solidFill>
                          <a:latin typeface="KoPubWorld돋움체 Bold"/>
                        </a:rPr>
                        <a:t>부당지원 가능성 낮음</a:t>
                      </a: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, 3종 조건은 입찰제안서에 기재돼 형식적 입찰 리스크도 낮음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매도인 측 법률(세종)·세무(성지)도 리스크 거의 없음, 미감자 시 연 6%→8% 누적배당(주주간계약 §5.3·5.4)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2060"/>
                          </a:solidFill>
                          <a:latin typeface="KoPubWorld돋움체 Bold"/>
                        </a:rPr>
                        <a:t>3</a:t>
                      </a:r>
                    </a:p>
                  </a:txBody>
                  <a:tcPr marL="54864" marR="54864" marT="0" marB="0" anchor="ctr">
                    <a:solidFill>
                      <a:srgbClr val="F2F2F2"/>
                    </a:solidFill>
                  </a:tcPr>
                </a:tc>
                <a:tc vMerge="1">
                  <a:txBody>
                    <a:bodyPr wrap="square"/>
                    <a:lstStyle/>
                    <a:p/>
                  </a:txBody>
                  <a:tcPr marL="54864" marR="54864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KoPubWorld돋움체 Medium"/>
                        </a:rPr>
                        <a:t>의사결정절차</a:t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KoPubWorld돋움체 Medium"/>
                        </a:rPr>
                        <a:t>및 사후책임</a:t>
                      </a:r>
                    </a:p>
                  </a:txBody>
                  <a:tcPr marL="54864" marR="54864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이해관계 이사·위원의 의결 참여 제한, 리츠별 이사회·주총 승인 절차 점검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검토가정·반대의견·승인조건 의사록 기재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KLL 이사회·주총 특별결의, KLI 이사회 결의(10/16). 위 법률의견·평가보고서를 부의자료로 첨부하고 승인조건을 의사록에 기재 예정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이해관계 이사 의결 제한 여부 [BKL 확인 필요]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2060"/>
                          </a:solidFill>
                          <a:latin typeface="KoPubWorld돋움체 Bold"/>
                        </a:rPr>
                        <a:t>4</a:t>
                      </a:r>
                    </a:p>
                  </a:txBody>
                  <a:tcPr marL="54864" marR="54864" marT="0" marB="0" anchor="ctr">
                    <a:solidFill>
                      <a:srgbClr val="F2F2F2"/>
                    </a:solidFill>
                  </a:tcPr>
                </a:tc>
                <a:tc rowSpan="3"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자리츠</a:t>
                      </a:r>
                    </a:p>
                  </a:txBody>
                  <a:tcPr marL="54864" marR="54864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KoPubWorld돋움체 Medium"/>
                        </a:rPr>
                        <a:t>쿠팡</a:t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KoPubWorld돋움체 Medium"/>
                        </a:rPr>
                        <a:t>퇴거 리스크</a:t>
                      </a:r>
                    </a:p>
                  </a:txBody>
                  <a:tcPr marL="54864" marR="54864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의무임대기간 2029.4 만료, 연장 여부 불확실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면적 77.2%·명목임대료 79.7%(연 약 115억)의 핵심 임차인, 미연장 시 리파이낸싱 불확실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쿠팡 시설투자 </a:t>
                      </a:r>
                      <a:r>
                        <a:rPr sz="800" b="1">
                          <a:solidFill>
                            <a:srgbClr val="1F1F1F"/>
                          </a:solidFill>
                          <a:latin typeface="KoPubWorld돋움체 Bold"/>
                        </a:rPr>
                        <a:t>91억</a:t>
                      </a: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: 5층 메자닌·컨베이어·분류기·스파이럴, 6층 선반랙·컨베이어 등(매도인 회신)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5~6층 슬래브 개구·보 보강 대수선('25.2)으로 층간 수직동선 구축(CBRE 물리실사 p.8·19·35) → 이전 부담이 커 </a:t>
                      </a:r>
                      <a:r>
                        <a:rPr sz="800" b="1">
                          <a:solidFill>
                            <a:srgbClr val="1F1F1F"/>
                          </a:solidFill>
                          <a:latin typeface="KoPubWorld돋움체 Bold"/>
                        </a:rPr>
                        <a:t>퇴거 가능성 높지 않음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의무임대차 만료 </a:t>
                      </a:r>
                      <a:r>
                        <a:rPr sz="800" b="1">
                          <a:solidFill>
                            <a:srgbClr val="1F1F1F"/>
                          </a:solidFill>
                          <a:latin typeface="KoPubWorld돋움체 Bold"/>
                        </a:rPr>
                        <a:t>6개월 전</a:t>
                      </a: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(2028.10.31)까지 잔여 60개월(~2034.4) 전체 사용을 통지하지 않으면 </a:t>
                      </a:r>
                      <a:r>
                        <a:rPr sz="800" b="1">
                          <a:solidFill>
                            <a:srgbClr val="1F1F1F"/>
                          </a:solidFill>
                          <a:latin typeface="KoPubWorld돋움체 Bold"/>
                        </a:rPr>
                        <a:t>Rent-Free 5개월 미제공</a:t>
                      </a: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(원계약 별첨5 특약 §3·6)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2060"/>
                          </a:solidFill>
                          <a:latin typeface="KoPubWorld돋움체 Bold"/>
                        </a:rPr>
                        <a:t>5</a:t>
                      </a:r>
                    </a:p>
                  </a:txBody>
                  <a:tcPr marL="54864" marR="54864" marT="0" marB="0" anchor="ctr">
                    <a:solidFill>
                      <a:srgbClr val="F2F2F2"/>
                    </a:solidFill>
                  </a:tcPr>
                </a:tc>
                <a:tc vMerge="1">
                  <a:txBody>
                    <a:bodyPr wrap="square"/>
                    <a:lstStyle/>
                    <a:p/>
                  </a:txBody>
                  <a:tcPr marL="54864" marR="54864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KoPubWorld돋움체 Medium"/>
                        </a:rPr>
                        <a:t>2029년</a:t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KoPubWorld돋움체 Medium"/>
                        </a:rPr>
                        <a:t>유동성 리스크</a:t>
                      </a:r>
                    </a:p>
                  </a:txBody>
                  <a:tcPr marL="54864" marR="54864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쿠팡 연장 시 Rent-Free 5개월로 임대수입 약 55.3억 감소(해당 연도 NOI 약 92억)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Over funding에 의존한 이자·배당 지급, 금융구조 취약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02060"/>
                          </a:solidFill>
                          <a:latin typeface="KoPubWorld돋움체 Bold"/>
                        </a:rPr>
                        <a:t>6</a:t>
                      </a:r>
                    </a:p>
                  </a:txBody>
                  <a:tcPr marL="54864" marR="54864" marT="0" marB="0" anchor="ctr">
                    <a:solidFill>
                      <a:srgbClr val="F2F2F2"/>
                    </a:solidFill>
                  </a:tcPr>
                </a:tc>
                <a:tc vMerge="1">
                  <a:txBody>
                    <a:bodyPr wrap="square"/>
                    <a:lstStyle/>
                    <a:p/>
                  </a:txBody>
                  <a:tcPr marL="54864" marR="54864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KoPubWorld돋움체 Medium"/>
                        </a:rPr>
                        <a:t>재차입 및</a:t>
                      </a:r>
                    </a:p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KoPubWorld돋움체 Medium"/>
                        </a:rPr>
                        <a:t>매각가치 의존</a:t>
                      </a:r>
                    </a:p>
                  </a:txBody>
                  <a:tcPr marL="54864" marR="54864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'28·'31년 2,130억 재차입(4.8%·4.5%) 가정은 금번 5.69% 대비 낙관적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>
                          <a:solidFill>
                            <a:srgbClr val="1F1F1F"/>
                          </a:solidFill>
                          <a:latin typeface="KoPubWorld돋움체 Light"/>
                        </a:rPr>
                        <a:t>• KLI 보통주 수익률 0.78~12.6%로 매각가치에 의존</a:t>
                      </a:r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marL="54864" marR="54864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83464" y="6400800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00" b="0">
                <a:solidFill>
                  <a:srgbClr val="404040"/>
                </a:solidFill>
                <a:latin typeface="KoPubWorld돋움체 Light"/>
              </a:rPr>
              <a:t>※ 의견: 리스크관리부서 「안양물류센터 매입관련 리스크검토의견」 Ⅰ·Ⅲ(Ⅱ. KLI 리스크검토는 제외). 조치 출처: BKL 법률실사('26.9.9) p.15~16·20, 태평양 「신설리츠 투자구조 관련 검토」('26.9.14) p.3~4·10~12, 율촌 의견서('26.4) p.5, 매도인 보고자료('26.9.30), 회계법인 성지 상증세법 평가보고서('26.10.7, 평가기준일 10/31 가정 — 기준 일정상 거래종결 10/22), 주주간계약 BKL v30, 임차인 시설투자 회신('26.9.29), CBRE 물리실사('26.8.31), 매도인 임차인별 계약조건표(쿠팡 원계약 별첨5 특약 원문 대조 필요). 법률 관련 사항은 내부 검토이며 외부 법무법인 확인 필요. 상기 내용 중 일부는 협의 과정에서 변동될 수 있음.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AkjE_7M3E.x0Wsx5gBksw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775AEA6-EC78-4E7B-9971-CE736CECF225}">
  <we:reference id="f5f369e5-aa35-49d7-ad7b-638152ddb008" version="1.0.0.1" store="EXCatalog" storeType="EXCatalog"/>
  <we:alternateReferences>
    <we:reference id="WA200010001" version="1.0.0.1" store="ko-KR" storeType="OMEX"/>
  </we:alternateReferences>
  <we:properties>
    <we:property name="claude.fileId" value="&quot;b8433e69-c0a4-4b3a-8097-18957660da8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76680</TotalTime>
  <Words>9748</Words>
  <Application>Microsoft Office PowerPoint</Application>
  <PresentationFormat>사용자 지정</PresentationFormat>
  <Paragraphs>3018</Paragraphs>
  <Slides>44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44</vt:i4>
      </vt:variant>
    </vt:vector>
  </HeadingPairs>
  <TitlesOfParts>
    <vt:vector size="57" baseType="lpstr">
      <vt:lpstr>KoPubWorld돋움체 Bold</vt:lpstr>
      <vt:lpstr>KoPubWorld돋움체 Light</vt:lpstr>
      <vt:lpstr>KoPubWorld돋움체 Medium</vt:lpstr>
      <vt:lpstr>KoPubWorld바탕체 Bold</vt:lpstr>
      <vt:lpstr>KoPubWorld바탕체 Medium</vt:lpstr>
      <vt:lpstr>Pretendard</vt:lpstr>
      <vt:lpstr>하나 CM</vt:lpstr>
      <vt:lpstr>Arial</vt:lpstr>
      <vt:lpstr>Calibri</vt:lpstr>
      <vt:lpstr>Wingdings</vt:lpstr>
      <vt:lpstr>Office 테마</vt:lpstr>
      <vt:lpstr>1_Office 테마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jsp</dc:creator>
  <cp:lastModifiedBy>임영규 부장(상장리츠팀)</cp:lastModifiedBy>
  <cp:revision>5187</cp:revision>
  <cp:lastPrinted>2026-08-23T23:34:57Z</cp:lastPrinted>
  <dcterms:created xsi:type="dcterms:W3CDTF">2019-10-07T05:08:42Z</dcterms:created>
  <dcterms:modified xsi:type="dcterms:W3CDTF">2026-08-24T06:55:15Z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ranchUid">
    <vt:lpwstr>TlqSUOvUz2jqmGfWs-WogWvifac202402010000000</vt:lpwstr>
  </property>
  <property fmtid="{D5CDD505-2E9C-101B-9397-08002B2CF9AE}" pid="3" name="docPath">
    <vt:lpwstr>QzpcVXNlcnNceW9uZ2h5ZW9uYWhuXERvd25sb2Fkc1xbS0xJXSDslYjslpHrrLzrpZjshLzthLAg7JiI67mE7Yis7Ius7J6Q66OMXzI2MDgyNF92MyjstZzsooUpLnBwdHg=</vt:lpwstr>
  </property>
  <property fmtid="{D5CDD505-2E9C-101B-9397-08002B2CF9AE}" pid="4" name="docUid">
    <vt:lpwstr>TlqSUOvUz2jqmGfWs-WogWvifac</vt:lpwstr>
  </property>
  <property fmtid="{D5CDD505-2E9C-101B-9397-08002B2CF9AE}" pid="5" name="parentBranchUid">
    <vt:lpwstr/>
  </property>
</Properties>
</file>