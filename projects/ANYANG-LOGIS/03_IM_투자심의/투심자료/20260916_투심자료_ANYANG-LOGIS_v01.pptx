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2" r:id="rId1"/>
    <p:sldMasterId id="2147483756" r:id="rId2"/>
    <p:sldMasterId id="2147483769" r:id="rId3"/>
  </p:sldMasterIdLst>
  <p:notesMasterIdLst>
    <p:notesMasterId r:id="rId48"/>
  </p:notesMasterIdLst>
  <p:handoutMasterIdLst>
    <p:handoutMasterId r:id="rId49"/>
  </p:handout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Lst>
  <p:sldSz cx="10691813" cy="7559675"/>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7F664334-81FB-4AF7-A59E-6AD854F49133}">
          <p14:sldIdLst>
            <p14:sldId id="1174"/>
            <p14:sldId id="1175"/>
            <p14:sldId id="1176"/>
            <p14:sldId id="1657"/>
            <p14:sldId id="1658"/>
            <p14:sldId id="1812"/>
            <p14:sldId id="1813"/>
            <p14:sldId id="1183"/>
            <p14:sldId id="1814"/>
            <p14:sldId id="1656"/>
          </p14:sldIdLst>
        </p14:section>
        <p14:section name="제목 없는 구역" id="{173DE95B-9F57-4D39-B3FD-CED6B2100408}">
          <p14:sldIdLst>
            <p14:sldId id="1686"/>
            <p14:sldId id="1798"/>
            <p14:sldId id="1739"/>
            <p14:sldId id="1740"/>
            <p14:sldId id="1743"/>
            <p14:sldId id="1799"/>
            <p14:sldId id="1768"/>
            <p14:sldId id="1806"/>
            <p14:sldId id="1805"/>
            <p14:sldId id="1807"/>
            <p14:sldId id="1786"/>
            <p14:sldId id="1785"/>
            <p14:sldId id="1777"/>
            <p14:sldId id="1781"/>
            <p14:sldId id="1782"/>
            <p14:sldId id="1809"/>
            <p14:sldId id="1748"/>
            <p14:sldId id="1789"/>
            <p14:sldId id="1795"/>
            <p14:sldId id="1752"/>
            <p14:sldId id="1754"/>
            <p14:sldId id="1771"/>
            <p14:sldId id="1772"/>
            <p14:sldId id="1773"/>
            <p14:sldId id="1815"/>
            <p14:sldId id="1787"/>
            <p14:sldId id="1791"/>
            <p14:sldId id="1810"/>
            <p14:sldId id="1796"/>
            <p14:sldId id="1817"/>
            <p14:sldId id="1818"/>
            <p14:sldId id="1816"/>
            <p14:sldId id="1819"/>
            <p14:sldId id="1779"/>
          </p14:sldIdLst>
        </p14:section>
        <p14:section name="이전자료" id="{B501CF5B-16A0-46C0-95DB-100F682887D5}">
          <p14:sldIdLst/>
        </p14:section>
      </p14:sectionLst>
    </p:ext>
    <p:ext uri="{EFAFB233-063F-42B5-8137-9DF3F51BA10A}">
      <p15:sldGuideLst xmlns:p15="http://schemas.microsoft.com/office/powerpoint/2012/main">
        <p15:guide id="2" orient="horz" pos="4195" userDrawn="1">
          <p15:clr>
            <a:srgbClr val="A4A3A4"/>
          </p15:clr>
        </p15:guide>
        <p15:guide id="13" orient="horz" pos="680" userDrawn="1">
          <p15:clr>
            <a:srgbClr val="A4A3A4"/>
          </p15:clr>
        </p15:guide>
        <p15:guide id="14" orient="horz" pos="1111" userDrawn="1">
          <p15:clr>
            <a:srgbClr val="A4A3A4"/>
          </p15:clr>
        </p15:guide>
        <p15:guide id="16" orient="horz" pos="3606" userDrawn="1">
          <p15:clr>
            <a:srgbClr val="A4A3A4"/>
          </p15:clr>
        </p15:guide>
        <p15:guide id="20" orient="horz" pos="1496" userDrawn="1">
          <p15:clr>
            <a:srgbClr val="A4A3A4"/>
          </p15:clr>
        </p15:guide>
        <p15:guide id="23" orient="horz" pos="4105" userDrawn="1">
          <p15:clr>
            <a:srgbClr val="A4A3A4"/>
          </p15:clr>
        </p15:guide>
        <p15:guide id="24" pos="601" userDrawn="1">
          <p15:clr>
            <a:srgbClr val="A4A3A4"/>
          </p15:clr>
        </p15:guide>
        <p15:guide id="26" pos="1780" userDrawn="1">
          <p15:clr>
            <a:srgbClr val="A4A3A4"/>
          </p15:clr>
        </p15:guide>
        <p15:guide id="27" pos="396" userDrawn="1">
          <p15:clr>
            <a:srgbClr val="A4A3A4"/>
          </p15:clr>
        </p15:guide>
        <p15:guide id="28" pos="1689" userDrawn="1">
          <p15:clr>
            <a:srgbClr val="A4A3A4"/>
          </p15:clr>
        </p15:guide>
        <p15:guide id="29" pos="4842" userDrawn="1">
          <p15:clr>
            <a:srgbClr val="A4A3A4"/>
          </p15:clr>
        </p15:guide>
        <p15:guide id="30" orient="horz" pos="2993" userDrawn="1">
          <p15:clr>
            <a:srgbClr val="A4A3A4"/>
          </p15:clr>
        </p15:guide>
        <p15:guide id="31" pos="4910" userDrawn="1">
          <p15:clr>
            <a:srgbClr val="A4A3A4"/>
          </p15:clr>
        </p15:guide>
        <p15:guide id="32" orient="horz" pos="907" userDrawn="1">
          <p15:clr>
            <a:srgbClr val="A4A3A4"/>
          </p15:clr>
        </p15:guide>
        <p15:guide id="33" pos="283" userDrawn="1">
          <p15:clr>
            <a:srgbClr val="9FCC3B"/>
          </p15:clr>
        </p15:guide>
        <p15:guide id="34" orient="horz" pos="1406" userDrawn="1">
          <p15:clr>
            <a:srgbClr val="9FCC3B"/>
          </p15:clr>
        </p15:guide>
        <p15:guide id="35" orient="horz" pos="1633" userDrawn="1">
          <p15:clr>
            <a:srgbClr val="9FCC3B"/>
          </p15:clr>
        </p15:guide>
        <p15:guide id="36" pos="3367" userDrawn="1">
          <p15:clr>
            <a:srgbClr val="A4A3A4"/>
          </p15:clr>
        </p15:guide>
        <p15:guide id="37" pos="3299" userDrawn="1">
          <p15:clr>
            <a:srgbClr val="9FCC3B"/>
          </p15:clr>
        </p15:guide>
        <p15:guide id="38" pos="6565" userDrawn="1">
          <p15:clr>
            <a:srgbClr val="9FCC3B"/>
          </p15:clr>
        </p15:guide>
        <p15:guide id="39" pos="3436" userDrawn="1">
          <p15:clr>
            <a:srgbClr val="9FCC3B"/>
          </p15:clr>
        </p15:guide>
        <p15:guide id="40" pos="3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D9D9D9"/>
    <a:srgbClr val="843C0C"/>
    <a:srgbClr val="6DA7F2"/>
    <a:srgbClr val="F4B183"/>
    <a:srgbClr val="FBE5D6"/>
    <a:srgbClr val="C55A11"/>
    <a:srgbClr val="345B86"/>
    <a:srgbClr val="F2F2F2"/>
    <a:srgbClr val="8888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29" autoAdjust="0"/>
    <p:restoredTop sz="96242" autoAdjust="0"/>
  </p:normalViewPr>
  <p:slideViewPr>
    <p:cSldViewPr showGuides="1">
      <p:cViewPr varScale="1">
        <p:scale>
          <a:sx n="97" d="100"/>
          <a:sy n="97" d="100"/>
        </p:scale>
        <p:origin x="978" y="90"/>
      </p:cViewPr>
      <p:guideLst>
        <p:guide orient="horz" pos="4195"/>
        <p:guide orient="horz" pos="680"/>
        <p:guide orient="horz" pos="1111"/>
        <p:guide orient="horz" pos="3606"/>
        <p:guide orient="horz" pos="1496"/>
        <p:guide orient="horz" pos="4105"/>
        <p:guide pos="601"/>
        <p:guide pos="1780"/>
        <p:guide pos="396"/>
        <p:guide pos="1689"/>
        <p:guide pos="4842"/>
        <p:guide orient="horz" pos="2993"/>
        <p:guide pos="4910"/>
        <p:guide orient="horz" pos="907"/>
        <p:guide pos="283"/>
        <p:guide orient="horz" pos="1406"/>
        <p:guide orient="horz" pos="1633"/>
        <p:guide pos="3367"/>
        <p:guide pos="3299"/>
        <p:guide pos="6565"/>
        <p:guide pos="3436"/>
        <p:guide pos="328"/>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78" d="100"/>
          <a:sy n="78" d="100"/>
        </p:scale>
        <p:origin x="2910" y="108"/>
      </p:cViewPr>
      <p:guideLst/>
    </p:cSldViewPr>
  </p:notesViewPr>
  <p:gridSpacing cx="36004" cy="36004"/>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8" Type="http://schemas.openxmlformats.org/officeDocument/2006/relationships/notesMaster" Target="notesMasters/notesMaster1.xml"/><Relationship Id="rId49" Type="http://schemas.openxmlformats.org/officeDocument/2006/relationships/handoutMaster" Target="handoutMasters/handout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3"/>
            <a:ext cx="2950529" cy="499033"/>
          </a:xfrm>
          <a:prstGeom prst="rect">
            <a:avLst/>
          </a:prstGeom>
        </p:spPr>
        <p:txBody>
          <a:bodyPr vert="horz" lIns="91542" tIns="45770" rIns="91542" bIns="45770" rtlCol="0"/>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3" name="날짜 개체 틀 2"/>
          <p:cNvSpPr>
            <a:spLocks noGrp="1"/>
          </p:cNvSpPr>
          <p:nvPr>
            <p:ph type="dt" sz="quarter" idx="1"/>
          </p:nvPr>
        </p:nvSpPr>
        <p:spPr>
          <a:xfrm>
            <a:off x="3855083" y="3"/>
            <a:ext cx="2950529" cy="499033"/>
          </a:xfrm>
          <a:prstGeom prst="rect">
            <a:avLst/>
          </a:prstGeom>
        </p:spPr>
        <p:txBody>
          <a:bodyPr vert="horz" lIns="91542" tIns="45770" rIns="91542" bIns="45770" rtlCol="0"/>
          <a:lstStyle>
            <a:lvl1pPr algn="r">
              <a:defRPr sz="1200"/>
            </a:lvl1pPr>
          </a:lstStyle>
          <a:p>
            <a:fld id="{B3B3F390-6613-4BAA-9D69-173A9EE88975}" type="datetimeFigureOut">
              <a:rPr lang="ko-KR" altLang="en-US" smtClean="0">
                <a:latin typeface="KoPubWorld돋움체 Bold" panose="00000800000000000000" pitchFamily="2" charset="-127"/>
                <a:ea typeface="KoPubWorld돋움체 Bold" panose="00000800000000000000" pitchFamily="2" charset="-127"/>
              </a:rPr>
              <a:t>2026-08-24</a:t>
            </a:fld>
            <a:endParaRPr lang="ko-KR" altLang="en-US">
              <a:latin typeface="KoPubWorld돋움체 Bold" panose="00000800000000000000" pitchFamily="2" charset="-127"/>
              <a:ea typeface="KoPubWorld돋움체 Bold" panose="00000800000000000000" pitchFamily="2" charset="-127"/>
            </a:endParaRPr>
          </a:p>
        </p:txBody>
      </p:sp>
      <p:sp>
        <p:nvSpPr>
          <p:cNvPr id="4" name="바닥글 개체 틀 3"/>
          <p:cNvSpPr>
            <a:spLocks noGrp="1"/>
          </p:cNvSpPr>
          <p:nvPr>
            <p:ph type="ftr" sz="quarter" idx="2"/>
          </p:nvPr>
        </p:nvSpPr>
        <p:spPr>
          <a:xfrm>
            <a:off x="0" y="9440309"/>
            <a:ext cx="2950529" cy="499033"/>
          </a:xfrm>
          <a:prstGeom prst="rect">
            <a:avLst/>
          </a:prstGeom>
        </p:spPr>
        <p:txBody>
          <a:bodyPr vert="horz" lIns="91542" tIns="45770" rIns="91542" bIns="45770" rtlCol="0" anchor="b"/>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5" name="슬라이드 번호 개체 틀 4"/>
          <p:cNvSpPr>
            <a:spLocks noGrp="1"/>
          </p:cNvSpPr>
          <p:nvPr>
            <p:ph type="sldNum" sz="quarter" idx="3"/>
          </p:nvPr>
        </p:nvSpPr>
        <p:spPr>
          <a:xfrm>
            <a:off x="3855083" y="9440309"/>
            <a:ext cx="2950529" cy="499033"/>
          </a:xfrm>
          <a:prstGeom prst="rect">
            <a:avLst/>
          </a:prstGeom>
        </p:spPr>
        <p:txBody>
          <a:bodyPr vert="horz" lIns="91542" tIns="45770" rIns="91542" bIns="45770" rtlCol="0" anchor="b"/>
          <a:lstStyle>
            <a:lvl1pPr algn="r">
              <a:defRPr sz="1200"/>
            </a:lvl1pPr>
          </a:lstStyle>
          <a:p>
            <a:fld id="{8EAD6D3B-F975-4577-9BE7-7EA334E8F2CF}" type="slidenum">
              <a:rPr lang="ko-KR" altLang="en-US" smtClean="0">
                <a:latin typeface="KoPubWorld돋움체 Bold" panose="00000800000000000000" pitchFamily="2" charset="-127"/>
                <a:ea typeface="KoPubWorld돋움체 Bold" panose="00000800000000000000" pitchFamily="2" charset="-127"/>
              </a:rPr>
              <a:t>‹#›</a:t>
            </a:fld>
            <a:endParaRPr lang="ko-KR" altLang="en-US">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3818710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7" y="4"/>
            <a:ext cx="2949786" cy="496967"/>
          </a:xfrm>
          <a:prstGeom prst="rect">
            <a:avLst/>
          </a:prstGeom>
        </p:spPr>
        <p:txBody>
          <a:bodyPr vert="horz" lIns="91524" tIns="45761" rIns="91524" bIns="45761" rtlCol="0"/>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3" name="날짜 개체 틀 2"/>
          <p:cNvSpPr>
            <a:spLocks noGrp="1"/>
          </p:cNvSpPr>
          <p:nvPr>
            <p:ph type="dt" idx="1"/>
          </p:nvPr>
        </p:nvSpPr>
        <p:spPr>
          <a:xfrm>
            <a:off x="3855846" y="4"/>
            <a:ext cx="2949786" cy="496967"/>
          </a:xfrm>
          <a:prstGeom prst="rect">
            <a:avLst/>
          </a:prstGeom>
        </p:spPr>
        <p:txBody>
          <a:bodyPr vert="horz" lIns="91524" tIns="45761" rIns="91524" bIns="45761" rtlCol="0"/>
          <a:lstStyle>
            <a:lvl1pPr algn="r">
              <a:defRPr sz="1200">
                <a:latin typeface="KoPubWorld돋움체 Bold" panose="00000800000000000000" pitchFamily="2" charset="-127"/>
                <a:ea typeface="KoPubWorld돋움체 Bold" panose="00000800000000000000" pitchFamily="2" charset="-127"/>
              </a:defRPr>
            </a:lvl1pPr>
          </a:lstStyle>
          <a:p>
            <a:fld id="{5C657A66-7FD2-4757-A30E-DD765D01DE0F}" type="datetimeFigureOut">
              <a:rPr lang="ko-KR" altLang="en-US" smtClean="0"/>
              <a:pPr/>
              <a:t>2026-08-24</a:t>
            </a:fld>
            <a:endParaRPr lang="ko-KR" altLang="en-US"/>
          </a:p>
        </p:txBody>
      </p:sp>
      <p:sp>
        <p:nvSpPr>
          <p:cNvPr id="4" name="슬라이드 이미지 개체 틀 3"/>
          <p:cNvSpPr>
            <a:spLocks noGrp="1" noRot="1" noChangeAspect="1"/>
          </p:cNvSpPr>
          <p:nvPr>
            <p:ph type="sldImg" idx="2"/>
          </p:nvPr>
        </p:nvSpPr>
        <p:spPr>
          <a:xfrm>
            <a:off x="768350" y="746125"/>
            <a:ext cx="5270500" cy="3727450"/>
          </a:xfrm>
          <a:prstGeom prst="rect">
            <a:avLst/>
          </a:prstGeom>
          <a:noFill/>
          <a:ln w="12700">
            <a:solidFill>
              <a:prstClr val="black"/>
            </a:solidFill>
          </a:ln>
        </p:spPr>
        <p:txBody>
          <a:bodyPr vert="horz" lIns="91524" tIns="45761" rIns="91524" bIns="45761" rtlCol="0" anchor="ctr"/>
          <a:lstStyle/>
          <a:p>
            <a:endParaRPr lang="ko-KR" altLang="en-US" dirty="0"/>
          </a:p>
        </p:txBody>
      </p:sp>
      <p:sp>
        <p:nvSpPr>
          <p:cNvPr id="5" name="슬라이드 노트 개체 틀 4"/>
          <p:cNvSpPr>
            <a:spLocks noGrp="1"/>
          </p:cNvSpPr>
          <p:nvPr>
            <p:ph type="body" sz="quarter" idx="3"/>
          </p:nvPr>
        </p:nvSpPr>
        <p:spPr>
          <a:xfrm>
            <a:off x="680721" y="4721191"/>
            <a:ext cx="5445760" cy="4472702"/>
          </a:xfrm>
          <a:prstGeom prst="rect">
            <a:avLst/>
          </a:prstGeom>
        </p:spPr>
        <p:txBody>
          <a:bodyPr vert="horz" lIns="91524" tIns="45761" rIns="91524" bIns="45761"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7" y="9440650"/>
            <a:ext cx="2949786" cy="496967"/>
          </a:xfrm>
          <a:prstGeom prst="rect">
            <a:avLst/>
          </a:prstGeom>
        </p:spPr>
        <p:txBody>
          <a:bodyPr vert="horz" lIns="91524" tIns="45761" rIns="91524" bIns="45761" rtlCol="0" anchor="b"/>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7" name="슬라이드 번호 개체 틀 6"/>
          <p:cNvSpPr>
            <a:spLocks noGrp="1"/>
          </p:cNvSpPr>
          <p:nvPr>
            <p:ph type="sldNum" sz="quarter" idx="5"/>
          </p:nvPr>
        </p:nvSpPr>
        <p:spPr>
          <a:xfrm>
            <a:off x="3855846" y="9440650"/>
            <a:ext cx="2949786" cy="496967"/>
          </a:xfrm>
          <a:prstGeom prst="rect">
            <a:avLst/>
          </a:prstGeom>
        </p:spPr>
        <p:txBody>
          <a:bodyPr vert="horz" lIns="91524" tIns="45761" rIns="91524" bIns="45761" rtlCol="0" anchor="b"/>
          <a:lstStyle>
            <a:lvl1pPr algn="r">
              <a:defRPr sz="1200">
                <a:latin typeface="KoPubWorld돋움체 Bold" panose="00000800000000000000" pitchFamily="2" charset="-127"/>
                <a:ea typeface="KoPubWorld돋움체 Bold" panose="00000800000000000000" pitchFamily="2" charset="-127"/>
              </a:defRPr>
            </a:lvl1pPr>
          </a:lstStyle>
          <a:p>
            <a:fld id="{2B8DFE68-44DA-46E6-B8A3-9F09BDCA52AB}" type="slidenum">
              <a:rPr lang="ko-KR" altLang="en-US" smtClean="0"/>
              <a:pPr/>
              <a:t>‹#›</a:t>
            </a:fld>
            <a:endParaRPr lang="ko-KR" altLang="en-US"/>
          </a:p>
        </p:txBody>
      </p:sp>
    </p:spTree>
    <p:extLst>
      <p:ext uri="{BB962C8B-B14F-4D97-AF65-F5344CB8AC3E}">
        <p14:creationId xmlns:p14="http://schemas.microsoft.com/office/powerpoint/2010/main" val="3526351421"/>
      </p:ext>
    </p:extLst>
  </p:cSld>
  <p:clrMap bg1="lt1" tx1="dk1" bg2="lt2" tx2="dk2" accent1="accent1" accent2="accent2" accent3="accent3" accent4="accent4" accent5="accent5" accent6="accent6" hlink="hlink" folHlink="folHlink"/>
  <p:notesStyle>
    <a:lvl1pPr marL="0"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1pPr>
    <a:lvl2pPr marL="497495"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2pPr>
    <a:lvl3pPr marL="994986"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3pPr>
    <a:lvl4pPr marL="1492478"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4pPr>
    <a:lvl5pPr marL="1989973"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5pPr>
    <a:lvl6pPr marL="2487464" algn="l" defTabSz="994986" rtl="0" eaLnBrk="1" latinLnBrk="1" hangingPunct="1">
      <a:defRPr sz="1305" kern="1200">
        <a:solidFill>
          <a:schemeClr val="tx1"/>
        </a:solidFill>
        <a:latin typeface="+mn-lt"/>
        <a:ea typeface="+mn-ea"/>
        <a:cs typeface="+mn-cs"/>
      </a:defRPr>
    </a:lvl6pPr>
    <a:lvl7pPr marL="2984958" algn="l" defTabSz="994986" rtl="0" eaLnBrk="1" latinLnBrk="1" hangingPunct="1">
      <a:defRPr sz="1305" kern="1200">
        <a:solidFill>
          <a:schemeClr val="tx1"/>
        </a:solidFill>
        <a:latin typeface="+mn-lt"/>
        <a:ea typeface="+mn-ea"/>
        <a:cs typeface="+mn-cs"/>
      </a:defRPr>
    </a:lvl7pPr>
    <a:lvl8pPr marL="3482451" algn="l" defTabSz="994986" rtl="0" eaLnBrk="1" latinLnBrk="1" hangingPunct="1">
      <a:defRPr sz="1305" kern="1200">
        <a:solidFill>
          <a:schemeClr val="tx1"/>
        </a:solidFill>
        <a:latin typeface="+mn-lt"/>
        <a:ea typeface="+mn-ea"/>
        <a:cs typeface="+mn-cs"/>
      </a:defRPr>
    </a:lvl8pPr>
    <a:lvl9pPr marL="3979944" algn="l" defTabSz="994986" rtl="0" eaLnBrk="1" latinLnBrk="1" hangingPunct="1">
      <a:defRPr sz="1305"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3496F34-2D2E-7200-596D-F5A884BEB510}"/>
              </a:ext>
            </a:extLst>
          </p:cNvPr>
          <p:cNvSpPr/>
          <p:nvPr userDrawn="1"/>
        </p:nvSpPr>
        <p:spPr>
          <a:xfrm>
            <a:off x="6388270" y="7142318"/>
            <a:ext cx="4261488" cy="253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그림 4">
            <a:extLst>
              <a:ext uri="{FF2B5EF4-FFF2-40B4-BE49-F238E27FC236}">
                <a16:creationId xmlns:a16="http://schemas.microsoft.com/office/drawing/2014/main" id="{FF3DAC25-3C73-5200-93E9-4A840B104936}"/>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80877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userDrawn="1">
          <p15:clr>
            <a:srgbClr val="FBAE40"/>
          </p15:clr>
        </p15:guide>
        <p15:guide id="3" pos="564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프로젝트 추진 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0AD58965-4F98-1A73-F8FC-D5222B706044}"/>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23138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197B6F54-0315-951A-50F1-10ED03E2F56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1493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772160A2-C39D-56FE-7995-5A43B4A6338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78830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Investment Highlights</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4318152-D1D7-599B-1278-DD568174EB87}"/>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81376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 투자개요">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사업개요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37432D96-AC78-AE08-F52D-853EBD0B422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89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 투자계획">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8A6B8528-268D-FF81-075B-13B4540033AF}"/>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602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3. 운영 및 Exit Plan">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53F51F5-2033-9B4E-E332-7A24DA56B9F9}"/>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685958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리스크 요인분석 및 관리방안</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F6B38A0F-6595-3B67-99AA-2059109C8AE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4507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a:t>
            </a:r>
            <a:r>
              <a:rPr lang="en-US" altLang="ko-KR" sz="1886" b="1" kern="120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향후조치 예정사항</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518CF041-E7A6-8CE4-32F4-38B13947478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1770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A66CB652-AC17-B956-4B4C-F16F1A40A3B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37066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018D775-8D4D-2DC9-D188-3F967A8C02F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38257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47">
            <a:extLst>
              <a:ext uri="{FF2B5EF4-FFF2-40B4-BE49-F238E27FC236}">
                <a16:creationId xmlns:a16="http://schemas.microsoft.com/office/drawing/2014/main" id="{330C79B4-2F4A-FF14-8AC4-9B44C2C04EE9}"/>
              </a:ext>
            </a:extLst>
          </p:cNvPr>
          <p:cNvSpPr>
            <a:spLocks noChangeArrowheads="1"/>
          </p:cNvSpPr>
          <p:nvPr userDrawn="1">
            <p:custDataLst>
              <p:tags r:id="rId14"/>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 매입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예비투자심의위원회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757217390"/>
      </p:ext>
    </p:extLst>
  </p:cSld>
  <p:clrMap bg1="lt1" tx1="dk1" bg2="lt2" tx2="dk2" accent1="accent1" accent2="accent2" accent3="accent3" accent4="accent4" accent5="accent5" accent6="accent6" hlink="hlink" folHlink="folHlink"/>
  <p:sldLayoutIdLst>
    <p:sldLayoutId id="2147483724" r:id="rId1"/>
    <p:sldLayoutId id="2147483730" r:id="rId2"/>
    <p:sldLayoutId id="2147483754" r:id="rId3"/>
    <p:sldLayoutId id="2147483731" r:id="rId4"/>
    <p:sldLayoutId id="2147483728" r:id="rId5"/>
    <p:sldLayoutId id="2147483751" r:id="rId6"/>
    <p:sldLayoutId id="2147483752" r:id="rId7"/>
    <p:sldLayoutId id="2147483755" r:id="rId8"/>
    <p:sldLayoutId id="2147483772" r:id="rId9"/>
    <p:sldLayoutId id="2147483773" r:id="rId10"/>
    <p:sldLayoutId id="2147483750" r:id="rId11"/>
    <p:sldLayoutId id="214748377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F26B43"/>
          </p15:clr>
        </p15:guide>
        <p15:guide id="2" pos="6565" userDrawn="1">
          <p15:clr>
            <a:srgbClr val="F26B43"/>
          </p15:clr>
        </p15:guide>
        <p15:guide id="3" pos="3368" userDrawn="1">
          <p15:clr>
            <a:srgbClr val="F26B43"/>
          </p15:clr>
        </p15:guide>
        <p15:guide id="4" orient="horz" pos="4513" userDrawn="1">
          <p15:clr>
            <a:srgbClr val="F26B43"/>
          </p15:clr>
        </p15:guide>
        <p15:guide id="5" orient="horz" pos="181" userDrawn="1">
          <p15:clr>
            <a:srgbClr val="F26B43"/>
          </p15:clr>
        </p15:guide>
        <p15:guide id="6" orient="horz" pos="1247" userDrawn="1">
          <p15:clr>
            <a:srgbClr val="F26B43"/>
          </p15:clr>
        </p15:guide>
        <p15:guide id="7" orient="horz" pos="4286" userDrawn="1">
          <p15:clr>
            <a:srgbClr val="F26B43"/>
          </p15:clr>
        </p15:guide>
        <p15:guide id="8" orient="horz" pos="11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0F30820D-A359-7966-E7A3-6D53921FFA89}"/>
              </a:ext>
            </a:extLst>
          </p:cNvPr>
          <p:cNvGrpSpPr/>
          <p:nvPr userDrawn="1"/>
        </p:nvGrpSpPr>
        <p:grpSpPr>
          <a:xfrm>
            <a:off x="9276077" y="6972575"/>
            <a:ext cx="1110305" cy="316737"/>
            <a:chOff x="10506075" y="5289550"/>
            <a:chExt cx="1028701" cy="287338"/>
          </a:xfrm>
          <a:solidFill>
            <a:schemeClr val="bg1">
              <a:lumMod val="75000"/>
            </a:schemeClr>
          </a:solidFill>
        </p:grpSpPr>
        <p:sp>
          <p:nvSpPr>
            <p:cNvPr id="4" name="Freeform 5">
              <a:extLst>
                <a:ext uri="{FF2B5EF4-FFF2-40B4-BE49-F238E27FC236}">
                  <a16:creationId xmlns:a16="http://schemas.microsoft.com/office/drawing/2014/main" id="{3E564AFD-C30C-9DBA-5002-F6E812779AF7}"/>
                </a:ext>
              </a:extLst>
            </p:cNvPr>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 name="Freeform 6">
              <a:extLst>
                <a:ext uri="{FF2B5EF4-FFF2-40B4-BE49-F238E27FC236}">
                  <a16:creationId xmlns:a16="http://schemas.microsoft.com/office/drawing/2014/main" id="{D51E90CC-8D7A-63E0-36C9-AF29EA1B88E8}"/>
                </a:ext>
              </a:extLst>
            </p:cNvPr>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 name="Freeform 7">
              <a:extLst>
                <a:ext uri="{FF2B5EF4-FFF2-40B4-BE49-F238E27FC236}">
                  <a16:creationId xmlns:a16="http://schemas.microsoft.com/office/drawing/2014/main" id="{AD9911ED-3B18-00E4-3E1F-2979344E1ACE}"/>
                </a:ext>
              </a:extLst>
            </p:cNvPr>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 name="Rectangle 8">
              <a:extLst>
                <a:ext uri="{FF2B5EF4-FFF2-40B4-BE49-F238E27FC236}">
                  <a16:creationId xmlns:a16="http://schemas.microsoft.com/office/drawing/2014/main" id="{28D1B741-163F-BD1E-F371-EF1C16255328}"/>
                </a:ext>
              </a:extLst>
            </p:cNvPr>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9" name="Rectangle 9">
              <a:extLst>
                <a:ext uri="{FF2B5EF4-FFF2-40B4-BE49-F238E27FC236}">
                  <a16:creationId xmlns:a16="http://schemas.microsoft.com/office/drawing/2014/main" id="{157805D9-22D3-6A19-3CCE-7740ECA7307E}"/>
                </a:ext>
              </a:extLst>
            </p:cNvPr>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0" name="Freeform 10">
              <a:extLst>
                <a:ext uri="{FF2B5EF4-FFF2-40B4-BE49-F238E27FC236}">
                  <a16:creationId xmlns:a16="http://schemas.microsoft.com/office/drawing/2014/main" id="{FE49BD92-816A-33A5-E5B1-CA0F31E5E793}"/>
                </a:ext>
              </a:extLst>
            </p:cNvPr>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Rectangle 11">
              <a:extLst>
                <a:ext uri="{FF2B5EF4-FFF2-40B4-BE49-F238E27FC236}">
                  <a16:creationId xmlns:a16="http://schemas.microsoft.com/office/drawing/2014/main" id="{C7A4CB68-9CD6-9FB1-3B7D-A4AEA808FE20}"/>
                </a:ext>
              </a:extLst>
            </p:cNvPr>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12">
              <a:extLst>
                <a:ext uri="{FF2B5EF4-FFF2-40B4-BE49-F238E27FC236}">
                  <a16:creationId xmlns:a16="http://schemas.microsoft.com/office/drawing/2014/main" id="{25623848-DB6D-6EAC-929B-EF75EBA8508C}"/>
                </a:ext>
              </a:extLst>
            </p:cNvPr>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Freeform 13">
              <a:extLst>
                <a:ext uri="{FF2B5EF4-FFF2-40B4-BE49-F238E27FC236}">
                  <a16:creationId xmlns:a16="http://schemas.microsoft.com/office/drawing/2014/main" id="{47B4E377-9786-FEB2-84CD-BF77601A4C47}"/>
                </a:ext>
              </a:extLst>
            </p:cNvPr>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Freeform 14">
              <a:extLst>
                <a:ext uri="{FF2B5EF4-FFF2-40B4-BE49-F238E27FC236}">
                  <a16:creationId xmlns:a16="http://schemas.microsoft.com/office/drawing/2014/main" id="{1E863C8B-3EA1-71B1-E55C-9C546CB7F328}"/>
                </a:ext>
              </a:extLst>
            </p:cNvPr>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5">
              <a:extLst>
                <a:ext uri="{FF2B5EF4-FFF2-40B4-BE49-F238E27FC236}">
                  <a16:creationId xmlns:a16="http://schemas.microsoft.com/office/drawing/2014/main" id="{98CE2AC9-0A90-B93A-2322-B5027C97F0BC}"/>
                </a:ext>
              </a:extLst>
            </p:cNvPr>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Freeform 16">
              <a:extLst>
                <a:ext uri="{FF2B5EF4-FFF2-40B4-BE49-F238E27FC236}">
                  <a16:creationId xmlns:a16="http://schemas.microsoft.com/office/drawing/2014/main" id="{62C7CDC0-65B5-4EA3-1269-C5B79B4CE494}"/>
                </a:ext>
              </a:extLst>
            </p:cNvPr>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7">
              <a:extLst>
                <a:ext uri="{FF2B5EF4-FFF2-40B4-BE49-F238E27FC236}">
                  <a16:creationId xmlns:a16="http://schemas.microsoft.com/office/drawing/2014/main" id="{EE68990B-E719-BF89-4E46-9E95607155E1}"/>
                </a:ext>
              </a:extLst>
            </p:cNvPr>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8">
              <a:extLst>
                <a:ext uri="{FF2B5EF4-FFF2-40B4-BE49-F238E27FC236}">
                  <a16:creationId xmlns:a16="http://schemas.microsoft.com/office/drawing/2014/main" id="{17AFFF04-2310-2736-FCE0-00A78AF97FC9}"/>
                </a:ext>
              </a:extLst>
            </p:cNvPr>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9">
              <a:extLst>
                <a:ext uri="{FF2B5EF4-FFF2-40B4-BE49-F238E27FC236}">
                  <a16:creationId xmlns:a16="http://schemas.microsoft.com/office/drawing/2014/main" id="{CCB03CC3-003A-1743-7260-263292960A9B}"/>
                </a:ext>
              </a:extLst>
            </p:cNvPr>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20">
              <a:extLst>
                <a:ext uri="{FF2B5EF4-FFF2-40B4-BE49-F238E27FC236}">
                  <a16:creationId xmlns:a16="http://schemas.microsoft.com/office/drawing/2014/main" id="{D5A67BFA-6211-D110-8D34-5E771458DDFA}"/>
                </a:ext>
              </a:extLst>
            </p:cNvPr>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21">
              <a:extLst>
                <a:ext uri="{FF2B5EF4-FFF2-40B4-BE49-F238E27FC236}">
                  <a16:creationId xmlns:a16="http://schemas.microsoft.com/office/drawing/2014/main" id="{CF298147-97CF-1936-ED12-83D42AD031BD}"/>
                </a:ext>
              </a:extLst>
            </p:cNvPr>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22">
              <a:extLst>
                <a:ext uri="{FF2B5EF4-FFF2-40B4-BE49-F238E27FC236}">
                  <a16:creationId xmlns:a16="http://schemas.microsoft.com/office/drawing/2014/main" id="{EE68E8DA-22BC-A222-CE49-BB01A56D585D}"/>
                </a:ext>
              </a:extLst>
            </p:cNvPr>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Rectangle 23">
              <a:extLst>
                <a:ext uri="{FF2B5EF4-FFF2-40B4-BE49-F238E27FC236}">
                  <a16:creationId xmlns:a16="http://schemas.microsoft.com/office/drawing/2014/main" id="{8CB9C02C-C91E-B9F8-E84D-1366EF0C4A2E}"/>
                </a:ext>
              </a:extLst>
            </p:cNvPr>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24">
              <a:extLst>
                <a:ext uri="{FF2B5EF4-FFF2-40B4-BE49-F238E27FC236}">
                  <a16:creationId xmlns:a16="http://schemas.microsoft.com/office/drawing/2014/main" id="{B09F1CF6-EF49-4A31-6EAE-95A6421D830F}"/>
                </a:ext>
              </a:extLst>
            </p:cNvPr>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5">
              <a:extLst>
                <a:ext uri="{FF2B5EF4-FFF2-40B4-BE49-F238E27FC236}">
                  <a16:creationId xmlns:a16="http://schemas.microsoft.com/office/drawing/2014/main" id="{5338A05C-71C0-4AEE-BE4D-24449A096183}"/>
                </a:ext>
              </a:extLst>
            </p:cNvPr>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6">
              <a:extLst>
                <a:ext uri="{FF2B5EF4-FFF2-40B4-BE49-F238E27FC236}">
                  <a16:creationId xmlns:a16="http://schemas.microsoft.com/office/drawing/2014/main" id="{33539291-3DFD-940E-3EFB-4DCEA1EA4384}"/>
                </a:ext>
              </a:extLst>
            </p:cNvPr>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7">
              <a:extLst>
                <a:ext uri="{FF2B5EF4-FFF2-40B4-BE49-F238E27FC236}">
                  <a16:creationId xmlns:a16="http://schemas.microsoft.com/office/drawing/2014/main" id="{7AD7A24A-5774-01ED-0B1F-3D814948897F}"/>
                </a:ext>
              </a:extLst>
            </p:cNvPr>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Freeform 28">
              <a:extLst>
                <a:ext uri="{FF2B5EF4-FFF2-40B4-BE49-F238E27FC236}">
                  <a16:creationId xmlns:a16="http://schemas.microsoft.com/office/drawing/2014/main" id="{4F6879C6-A900-9C7C-B73E-2C5961A777B2}"/>
                </a:ext>
              </a:extLst>
            </p:cNvPr>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9">
              <a:extLst>
                <a:ext uri="{FF2B5EF4-FFF2-40B4-BE49-F238E27FC236}">
                  <a16:creationId xmlns:a16="http://schemas.microsoft.com/office/drawing/2014/main" id="{29E86578-D7C1-FD51-6643-4C655C259304}"/>
                </a:ext>
              </a:extLst>
            </p:cNvPr>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30">
              <a:extLst>
                <a:ext uri="{FF2B5EF4-FFF2-40B4-BE49-F238E27FC236}">
                  <a16:creationId xmlns:a16="http://schemas.microsoft.com/office/drawing/2014/main" id="{6C0D2284-EB70-80AF-B795-2BAAE4370589}"/>
                </a:ext>
              </a:extLst>
            </p:cNvPr>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31">
              <a:extLst>
                <a:ext uri="{FF2B5EF4-FFF2-40B4-BE49-F238E27FC236}">
                  <a16:creationId xmlns:a16="http://schemas.microsoft.com/office/drawing/2014/main" id="{7AACA248-6704-C346-B420-D06E7EE76D6F}"/>
                </a:ext>
              </a:extLst>
            </p:cNvPr>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32">
              <a:extLst>
                <a:ext uri="{FF2B5EF4-FFF2-40B4-BE49-F238E27FC236}">
                  <a16:creationId xmlns:a16="http://schemas.microsoft.com/office/drawing/2014/main" id="{091A4110-B0E7-87CA-1B61-CE1ECAECDD7E}"/>
                </a:ext>
              </a:extLst>
            </p:cNvPr>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33">
              <a:extLst>
                <a:ext uri="{FF2B5EF4-FFF2-40B4-BE49-F238E27FC236}">
                  <a16:creationId xmlns:a16="http://schemas.microsoft.com/office/drawing/2014/main" id="{5122087A-17AC-9E88-CF76-6B852337016E}"/>
                </a:ext>
              </a:extLst>
            </p:cNvPr>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34">
              <a:extLst>
                <a:ext uri="{FF2B5EF4-FFF2-40B4-BE49-F238E27FC236}">
                  <a16:creationId xmlns:a16="http://schemas.microsoft.com/office/drawing/2014/main" id="{92B888F4-2318-1261-10C8-0E5556A39772}"/>
                </a:ext>
              </a:extLst>
            </p:cNvPr>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5">
              <a:extLst>
                <a:ext uri="{FF2B5EF4-FFF2-40B4-BE49-F238E27FC236}">
                  <a16:creationId xmlns:a16="http://schemas.microsoft.com/office/drawing/2014/main" id="{DDEB4D31-2AD9-ADE7-19AA-73784831EFB4}"/>
                </a:ext>
              </a:extLst>
            </p:cNvPr>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36" name="직선 연결선 35">
            <a:extLst>
              <a:ext uri="{FF2B5EF4-FFF2-40B4-BE49-F238E27FC236}">
                <a16:creationId xmlns:a16="http://schemas.microsoft.com/office/drawing/2014/main" id="{1B393208-F0B9-89DF-4F8D-388AAF628197}"/>
              </a:ext>
            </a:extLst>
          </p:cNvPr>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7" name="그림 36">
            <a:extLst>
              <a:ext uri="{FF2B5EF4-FFF2-40B4-BE49-F238E27FC236}">
                <a16:creationId xmlns:a16="http://schemas.microsoft.com/office/drawing/2014/main" id="{52BA00D0-0115-35ED-37F4-19021EEC7083}"/>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2596996874"/>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IdLs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247269"/>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IdLs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94192" y="640080"/>
            <a:ext cx="2295144" cy="246888"/>
          </a:xfrm>
          <a:prstGeom prst="rect">
            <a:avLst/>
          </a:prstGeom>
          <a:noFill/>
        </p:spPr>
        <p:txBody>
          <a:bodyPr wrap="square" lIns="0" rIns="0" tIns="0" bIns="0">
            <a:spAutoFit/>
          </a:bodyPr>
          <a:lstStyle/>
          <a:p>
            <a:r>
              <a:rPr sz="900" b="0">
                <a:solidFill>
                  <a:srgbClr val="404040"/>
                </a:solidFill>
                <a:latin typeface="KoPubWorld돋움체 Light"/>
              </a:rPr>
              <a:t>&lt; Strictly Confidential &gt;</a:t>
            </a:r>
          </a:p>
        </p:txBody>
      </p:sp>
      <p:sp>
        <p:nvSpPr>
          <p:cNvPr id="3" name="TextBox 2"/>
          <p:cNvSpPr txBox="1"/>
          <p:nvPr/>
        </p:nvSpPr>
        <p:spPr>
          <a:xfrm>
            <a:off x="374904" y="2011680"/>
            <a:ext cx="8458200" cy="1993392"/>
          </a:xfrm>
          <a:prstGeom prst="rect">
            <a:avLst/>
          </a:prstGeom>
          <a:noFill/>
        </p:spPr>
        <p:txBody>
          <a:bodyPr wrap="square" lIns="0" rIns="0" tIns="0" bIns="0">
            <a:spAutoFit/>
          </a:bodyPr>
          <a:lstStyle/>
          <a:p>
            <a:r>
              <a:rPr sz="1200" b="0">
                <a:solidFill>
                  <a:srgbClr val="012353"/>
                </a:solidFill>
                <a:latin typeface="KoPubWorld돋움체 Medium"/>
              </a:rPr>
              <a:t>리츠투자부문-상장리츠본부-상장리츠팀 ㅣ 신규 투자의 건</a:t>
            </a:r>
          </a:p>
          <a:p>
            <a:r>
              <a:rPr sz="2400" b="0">
                <a:solidFill>
                  <a:srgbClr val="012353"/>
                </a:solidFill>
                <a:latin typeface="KoPubWorld돋움체 Bold"/>
              </a:rPr>
              <a:t>안양물류센터</a:t>
            </a:r>
          </a:p>
          <a:p>
            <a:r>
              <a:rPr sz="1600" b="0">
                <a:solidFill>
                  <a:srgbClr val="1F1F1F"/>
                </a:solidFill>
                <a:latin typeface="KoPubWorld돋움체 Medium"/>
              </a:rPr>
              <a:t>본 투자심의위원회 심의자료</a:t>
            </a:r>
          </a:p>
        </p:txBody>
      </p:sp>
      <p:sp>
        <p:nvSpPr>
          <p:cNvPr id="4" name="TextBox 3"/>
          <p:cNvSpPr txBox="1"/>
          <p:nvPr/>
        </p:nvSpPr>
        <p:spPr>
          <a:xfrm>
            <a:off x="374904" y="5541264"/>
            <a:ext cx="9710928" cy="246888"/>
          </a:xfrm>
          <a:prstGeom prst="rect">
            <a:avLst/>
          </a:prstGeom>
          <a:noFill/>
        </p:spPr>
        <p:txBody>
          <a:bodyPr wrap="square" lIns="0" rIns="0" tIns="0" bIns="0">
            <a:spAutoFit/>
          </a:bodyPr>
          <a:lstStyle/>
          <a:p>
            <a:r>
              <a:rPr sz="800" b="0">
                <a:solidFill>
                  <a:srgbClr val="404040"/>
                </a:solidFill>
                <a:latin typeface="KoPubWorld돋움체 Light"/>
              </a:rPr>
              <a:t>Listed REITs Team │ Listed REITs Department │ REITs Investment Division│ KORAMCO REITs Management and Trust Co., Ltd.</a:t>
            </a:r>
          </a:p>
        </p:txBody>
      </p:sp>
      <p:sp>
        <p:nvSpPr>
          <p:cNvPr id="5" name="TextBox 4"/>
          <p:cNvSpPr txBox="1"/>
          <p:nvPr/>
        </p:nvSpPr>
        <p:spPr>
          <a:xfrm>
            <a:off x="374904" y="5779008"/>
            <a:ext cx="2743200" cy="246888"/>
          </a:xfrm>
          <a:prstGeom prst="rect">
            <a:avLst/>
          </a:prstGeom>
          <a:noFill/>
        </p:spPr>
        <p:txBody>
          <a:bodyPr wrap="square" lIns="0" rIns="0" tIns="0" bIns="0">
            <a:spAutoFit/>
          </a:bodyPr>
          <a:lstStyle/>
          <a:p>
            <a:r>
              <a:rPr sz="900" b="0">
                <a:solidFill>
                  <a:srgbClr val="404040"/>
                </a:solidFill>
                <a:latin typeface="KoPubWorld돋움체 Light"/>
              </a:rPr>
              <a:t>September. 2026</a:t>
            </a:r>
          </a:p>
        </p:txBody>
      </p:sp>
      <p:sp>
        <p:nvSpPr>
          <p:cNvPr id="6" name="TextBox 5"/>
          <p:cNvSpPr txBox="1"/>
          <p:nvPr/>
        </p:nvSpPr>
        <p:spPr>
          <a:xfrm>
            <a:off x="374904" y="6464808"/>
            <a:ext cx="9939528" cy="310896"/>
          </a:xfrm>
          <a:prstGeom prst="rect">
            <a:avLst/>
          </a:prstGeom>
          <a:noFill/>
        </p:spPr>
        <p:txBody>
          <a:bodyPr wrap="square" lIns="0" rIns="0" tIns="0" bIns="0">
            <a:spAutoFit/>
          </a:bodyPr>
          <a:lstStyle/>
          <a:p>
            <a:r>
              <a:rPr sz="700" b="0">
                <a:solidFill>
                  <a:srgbClr val="404040"/>
                </a:solidFill>
                <a:latin typeface="KoPubWorld돋움체 Light"/>
              </a:rPr>
              <a:t>This report is solely for the use of client personnel. No part of it may be circulated, quoted, or reproduced for distribution outside the client or organization without prior written approval from KORAMCO REITs Management and Trust Co., Ltd.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2075688"/>
            <a:ext cx="5943600" cy="265176"/>
          </a:xfrm>
          <a:prstGeom prst="rect">
            <a:avLst/>
          </a:prstGeom>
          <a:noFill/>
        </p:spPr>
        <p:txBody>
          <a:bodyPr wrap="square" lIns="0" rIns="0" tIns="0" bIns="0">
            <a:spAutoFit/>
          </a:bodyPr>
          <a:lstStyle/>
          <a:p>
            <a:r>
              <a:rPr sz="1100" b="0">
                <a:solidFill>
                  <a:srgbClr val="012353"/>
                </a:solidFill>
                <a:latin typeface="KoPubWorld돋움체 Medium"/>
              </a:rPr>
              <a:t>본 투자심의위원회 심의자료</a:t>
            </a:r>
          </a:p>
        </p:txBody>
      </p:sp>
      <p:cxnSp>
        <p:nvCxnSpPr>
          <p:cNvPr id="3" name="Connector 2"/>
          <p:cNvCxnSpPr/>
          <p:nvPr/>
        </p:nvCxnSpPr>
        <p:spPr>
          <a:xfrm>
            <a:off x="2286000" y="2194560"/>
            <a:ext cx="795528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13816" y="2779776"/>
            <a:ext cx="2743200" cy="457200"/>
          </a:xfrm>
          <a:prstGeom prst="rect">
            <a:avLst/>
          </a:prstGeom>
          <a:noFill/>
        </p:spPr>
        <p:txBody>
          <a:bodyPr wrap="square" lIns="0" rIns="0" tIns="0" bIns="0">
            <a:spAutoFit/>
          </a:bodyPr>
          <a:lstStyle/>
          <a:p>
            <a:r>
              <a:rPr sz="2000" b="0">
                <a:solidFill>
                  <a:srgbClr val="012353"/>
                </a:solidFill>
                <a:latin typeface="KoPubWorld돋움체 Bold"/>
              </a:rPr>
              <a:t>Contents</a:t>
            </a:r>
          </a:p>
        </p:txBody>
      </p:sp>
      <p:sp>
        <p:nvSpPr>
          <p:cNvPr id="5" name="TextBox 4"/>
          <p:cNvSpPr txBox="1"/>
          <p:nvPr/>
        </p:nvSpPr>
        <p:spPr>
          <a:xfrm>
            <a:off x="7214616" y="2779776"/>
            <a:ext cx="3246120" cy="2194560"/>
          </a:xfrm>
          <a:prstGeom prst="rect">
            <a:avLst/>
          </a:prstGeom>
          <a:noFill/>
        </p:spPr>
        <p:txBody>
          <a:bodyPr wrap="square" lIns="0" rIns="0" tIns="0" bIns="0">
            <a:spAutoFit/>
          </a:bodyPr>
          <a:lstStyle/>
          <a:p>
            <a:pPr>
              <a:spcAft>
                <a:spcPts val="800"/>
              </a:spcAft>
            </a:pPr>
            <a:r>
              <a:rPr sz="1100" b="0">
                <a:solidFill>
                  <a:srgbClr val="1F1F1F"/>
                </a:solidFill>
                <a:latin typeface="KoPubWorld돋움체 Light"/>
              </a:rPr>
              <a:t>투자심의위원회 심의 개요</a:t>
            </a:r>
          </a:p>
          <a:p>
            <a:pPr>
              <a:spcAft>
                <a:spcPts val="800"/>
              </a:spcAft>
            </a:pPr>
            <a:r>
              <a:rPr sz="1100" b="0">
                <a:solidFill>
                  <a:srgbClr val="1F1F1F"/>
                </a:solidFill>
                <a:latin typeface="KoPubWorld돋움체 Light"/>
              </a:rPr>
              <a:t>안건 Ⅰ. 매매계약서의 체결</a:t>
            </a:r>
          </a:p>
          <a:p>
            <a:pPr>
              <a:spcAft>
                <a:spcPts val="800"/>
              </a:spcAft>
            </a:pPr>
            <a:r>
              <a:rPr sz="1100" b="0">
                <a:solidFill>
                  <a:srgbClr val="1F1F1F"/>
                </a:solidFill>
                <a:latin typeface="KoPubWorld돋움체 Light"/>
              </a:rPr>
              <a:t>안건 Ⅱ. 주주간계약서의 체결</a:t>
            </a:r>
          </a:p>
          <a:p>
            <a:pPr>
              <a:spcAft>
                <a:spcPts val="800"/>
              </a:spcAft>
            </a:pPr>
            <a:r>
              <a:rPr sz="1100" b="0">
                <a:solidFill>
                  <a:srgbClr val="1F1F1F"/>
                </a:solidFill>
                <a:latin typeface="KoPubWorld돋움체 Light"/>
              </a:rPr>
              <a:t>안건 Ⅲ. KLI리츠 매입확약서(LOC) 날인</a:t>
            </a:r>
          </a:p>
          <a:p>
            <a:pPr>
              <a:spcAft>
                <a:spcPts val="800"/>
              </a:spcAft>
            </a:pPr>
            <a:r>
              <a:rPr sz="1100" b="0">
                <a:solidFill>
                  <a:srgbClr val="1F1F1F"/>
                </a:solidFill>
                <a:latin typeface="KoPubWorld돋움체 Light"/>
              </a:rPr>
              <a:t>참고. 관계사 인수확약서 / 당사 예상수익</a:t>
            </a:r>
          </a:p>
          <a:p>
            <a:pPr>
              <a:spcAft>
                <a:spcPts val="800"/>
              </a:spcAft>
            </a:pPr>
            <a:r>
              <a:rPr sz="1100" b="0">
                <a:solidFill>
                  <a:srgbClr val="1F1F1F"/>
                </a:solidFill>
                <a:latin typeface="KoPubWorld돋움체 Light"/>
              </a:rPr>
              <a:t>[별첨] 투자 대상 물건 설명자료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심의안건 및 추진일정</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본건은 안양물류센터 매입을 위한 매매계약·주주간계약 체결 및 KLI리츠 매입확약서 날인 건임</a:t>
            </a:r>
          </a:p>
          <a:p>
            <a:r>
              <a:rPr sz="1200" b="0">
                <a:solidFill>
                  <a:srgbClr val="404040"/>
                </a:solidFill>
                <a:latin typeface="KoPubWorld돋움체 Light"/>
              </a:rPr>
              <a:t>• 기준 일정상 매매계약 체결 10/2, 영업인가 완료 10/12, 거래종결 10/22 예정</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심의 안건</a:t>
            </a:r>
          </a:p>
        </p:txBody>
      </p:sp>
      <p:graphicFrame>
        <p:nvGraphicFramePr>
          <p:cNvPr id="5" name="Table 4"/>
          <p:cNvGraphicFramePr>
            <a:graphicFrameLocks noGrp="1"/>
          </p:cNvGraphicFramePr>
          <p:nvPr/>
        </p:nvGraphicFramePr>
        <p:xfrm>
          <a:off x="521207" y="2359152"/>
          <a:ext cx="9784080" cy="1901952"/>
        </p:xfrm>
        <a:graphic>
          <a:graphicData uri="http://schemas.openxmlformats.org/drawingml/2006/table">
            <a:tbl>
              <a:tblPr firstRow="1" bandRow="1">
                <a:tableStyleId>{5C22544A-7EE6-4342-B048-85BDC9FD1C3A}</a:tableStyleId>
              </a:tblPr>
              <a:tblGrid>
                <a:gridCol w="1005840"/>
                <a:gridCol w="2651760"/>
                <a:gridCol w="4663440"/>
                <a:gridCol w="1463040"/>
              </a:tblGrid>
              <a:tr h="475488">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안 건</a:t>
                      </a:r>
                    </a:p>
                  </a:txBody>
                  <a:tcPr marL="54864" marR="54864" marT="0" marB="0">
                    <a:solidFill>
                      <a:srgbClr val="DAE3F3"/>
                    </a:solidFill>
                  </a:tcPr>
                </a:tc>
                <a:tc>
                  <a:txBody>
                    <a:bodyPr/>
                    <a:lstStyle/>
                    <a:p>
                      <a:pPr algn="ctr"/>
                      <a:r>
                        <a:rPr sz="1000" b="0">
                          <a:solidFill>
                            <a:srgbClr val="1F1F1F"/>
                          </a:solidFill>
                          <a:latin typeface="KoPubWorld돋움체 Bold"/>
                        </a:rPr>
                        <a:t>결의 요청 사항</a:t>
                      </a:r>
                    </a:p>
                  </a:txBody>
                  <a:tcPr marL="54864" marR="54864" marT="0" marB="0">
                    <a:solidFill>
                      <a:srgbClr val="DAE3F3"/>
                    </a:solidFill>
                  </a:tcPr>
                </a:tc>
                <a:tc>
                  <a:txBody>
                    <a:bodyPr/>
                    <a:lstStyle/>
                    <a:p>
                      <a:pPr algn="ctr"/>
                      <a:r>
                        <a:rPr sz="1000" b="0">
                          <a:solidFill>
                            <a:srgbClr val="1F1F1F"/>
                          </a:solidFill>
                          <a:latin typeface="KoPubWorld돋움체 Bold"/>
                        </a:rPr>
                        <a:t>후속 일정</a:t>
                      </a:r>
                    </a:p>
                  </a:txBody>
                  <a:tcPr marL="54864" marR="54864" marT="0" marB="0">
                    <a:solidFill>
                      <a:srgbClr val="DAE3F3"/>
                    </a:solidFill>
                  </a:tcPr>
                </a:tc>
              </a:tr>
              <a:tr h="475488">
                <a:tc>
                  <a:txBody>
                    <a:bodyPr/>
                    <a:lstStyle/>
                    <a:p>
                      <a:pPr algn="ctr"/>
                      <a:r>
                        <a:rPr sz="1000" b="0">
                          <a:solidFill>
                            <a:srgbClr val="1F1F1F"/>
                          </a:solidFill>
                          <a:latin typeface="KoPubWorld돋움체 Light"/>
                        </a:rPr>
                        <a:t>안건 Ⅰ</a:t>
                      </a:r>
                    </a:p>
                  </a:txBody>
                  <a:tcPr marL="54864" marR="54864" marT="0" marB="0">
                    <a:solidFill>
                      <a:srgbClr val="FFFFFF"/>
                    </a:solidFill>
                  </a:tcPr>
                </a:tc>
                <a:tc>
                  <a:txBody>
                    <a:bodyPr/>
                    <a:lstStyle/>
                    <a:p>
                      <a:pPr algn="l"/>
                      <a:r>
                        <a:rPr sz="1000" b="0">
                          <a:solidFill>
                            <a:srgbClr val="1F1F1F"/>
                          </a:solidFill>
                          <a:latin typeface="KoPubWorld돋움체 Light"/>
                        </a:rPr>
                        <a:t>매매계약서의 체결</a:t>
                      </a:r>
                    </a:p>
                  </a:txBody>
                  <a:tcPr marL="54864" marR="54864" marT="0" marB="0">
                    <a:solidFill>
                      <a:srgbClr val="FFFFFF"/>
                    </a:solidFill>
                  </a:tcPr>
                </a:tc>
                <a:tc>
                  <a:txBody>
                    <a:bodyPr/>
                    <a:lstStyle/>
                    <a:p>
                      <a:pPr algn="l"/>
                      <a:r>
                        <a:rPr sz="1000" b="0">
                          <a:solidFill>
                            <a:srgbClr val="1F1F1F"/>
                          </a:solidFill>
                          <a:latin typeface="KoPubWorld돋움체 Light"/>
                        </a:rPr>
                        <a:t>코크렙안양㈜와 매매대금 2,700억원 매매계약 체결 승인</a:t>
                      </a:r>
                    </a:p>
                  </a:txBody>
                  <a:tcPr marL="54864" marR="54864" marT="0" marB="0">
                    <a:solidFill>
                      <a:srgbClr val="FFFFFF"/>
                    </a:solidFill>
                  </a:tcPr>
                </a:tc>
                <a:tc>
                  <a:txBody>
                    <a:bodyPr/>
                    <a:lstStyle/>
                    <a:p>
                      <a:pPr algn="l"/>
                      <a:r>
                        <a:rPr sz="1000" b="0">
                          <a:solidFill>
                            <a:srgbClr val="1F1F1F"/>
                          </a:solidFill>
                          <a:latin typeface="KoPubWorld돋움체 Light"/>
                        </a:rPr>
                        <a:t>2026-10-02 체결</a:t>
                      </a:r>
                    </a:p>
                  </a:txBody>
                  <a:tcPr marL="54864" marR="54864" marT="0" marB="0">
                    <a:solidFill>
                      <a:srgbClr val="FFFFFF"/>
                    </a:solidFill>
                  </a:tcPr>
                </a:tc>
              </a:tr>
              <a:tr h="475488">
                <a:tc>
                  <a:txBody>
                    <a:bodyPr/>
                    <a:lstStyle/>
                    <a:p>
                      <a:pPr algn="ctr"/>
                      <a:r>
                        <a:rPr sz="1000" b="0">
                          <a:solidFill>
                            <a:srgbClr val="1F1F1F"/>
                          </a:solidFill>
                          <a:latin typeface="KoPubWorld돋움체 Light"/>
                        </a:rPr>
                        <a:t>안건 Ⅱ</a:t>
                      </a:r>
                    </a:p>
                  </a:txBody>
                  <a:tcPr marL="54864" marR="54864" marT="0" marB="0">
                    <a:solidFill>
                      <a:srgbClr val="F2F2F2"/>
                    </a:solidFill>
                  </a:tcPr>
                </a:tc>
                <a:tc>
                  <a:txBody>
                    <a:bodyPr/>
                    <a:lstStyle/>
                    <a:p>
                      <a:pPr algn="l"/>
                      <a:r>
                        <a:rPr sz="1000" b="0">
                          <a:solidFill>
                            <a:srgbClr val="1F1F1F"/>
                          </a:solidFill>
                          <a:latin typeface="KoPubWorld돋움체 Light"/>
                        </a:rPr>
                        <a:t>주주간계약서의 체결</a:t>
                      </a:r>
                    </a:p>
                  </a:txBody>
                  <a:tcPr marL="54864" marR="54864" marT="0" marB="0">
                    <a:solidFill>
                      <a:srgbClr val="F2F2F2"/>
                    </a:solidFill>
                  </a:tcPr>
                </a:tc>
                <a:tc>
                  <a:txBody>
                    <a:bodyPr/>
                    <a:lstStyle/>
                    <a:p>
                      <a:pPr algn="l"/>
                      <a:r>
                        <a:rPr sz="1000" b="0">
                          <a:solidFill>
                            <a:srgbClr val="1F1F1F"/>
                          </a:solidFill>
                          <a:latin typeface="KoPubWorld돋움체 Light"/>
                        </a:rPr>
                        <a:t>우리투자증권·삼성증권·엘에프·KLI리츠 간 주주간계약 체결 승인</a:t>
                      </a:r>
                    </a:p>
                  </a:txBody>
                  <a:tcPr marL="54864" marR="54864" marT="0" marB="0">
                    <a:solidFill>
                      <a:srgbClr val="F2F2F2"/>
                    </a:solidFill>
                  </a:tcPr>
                </a:tc>
                <a:tc>
                  <a:txBody>
                    <a:bodyPr/>
                    <a:lstStyle/>
                    <a:p>
                      <a:pPr algn="l"/>
                      <a:r>
                        <a:rPr sz="1000" b="0">
                          <a:solidFill>
                            <a:srgbClr val="1F1F1F"/>
                          </a:solidFill>
                          <a:latin typeface="KoPubWorld돋움체 Light"/>
                        </a:rPr>
                        <a:t>2026-10-13 체결</a:t>
                      </a:r>
                    </a:p>
                  </a:txBody>
                  <a:tcPr marL="54864" marR="54864" marT="0" marB="0">
                    <a:solidFill>
                      <a:srgbClr val="F2F2F2"/>
                    </a:solidFill>
                  </a:tcPr>
                </a:tc>
              </a:tr>
              <a:tr h="475488">
                <a:tc>
                  <a:txBody>
                    <a:bodyPr/>
                    <a:lstStyle/>
                    <a:p>
                      <a:pPr algn="ctr"/>
                      <a:r>
                        <a:rPr sz="1000" b="0">
                          <a:solidFill>
                            <a:srgbClr val="1F1F1F"/>
                          </a:solidFill>
                          <a:latin typeface="KoPubWorld돋움체 Light"/>
                        </a:rPr>
                        <a:t>안건 Ⅲ</a:t>
                      </a:r>
                    </a:p>
                  </a:txBody>
                  <a:tcPr marL="54864" marR="54864" marT="0" marB="0">
                    <a:solidFill>
                      <a:srgbClr val="FFFFFF"/>
                    </a:solidFill>
                  </a:tcPr>
                </a:tc>
                <a:tc>
                  <a:txBody>
                    <a:bodyPr/>
                    <a:lstStyle/>
                    <a:p>
                      <a:pPr algn="l"/>
                      <a:r>
                        <a:rPr sz="1000" b="0">
                          <a:solidFill>
                            <a:srgbClr val="1F1F1F"/>
                          </a:solidFill>
                          <a:latin typeface="KoPubWorld돋움체 Light"/>
                        </a:rPr>
                        <a:t>KLI리츠 매입확약서(LOC) 날인</a:t>
                      </a:r>
                    </a:p>
                  </a:txBody>
                  <a:tcPr marL="54864" marR="54864" marT="0" marB="0">
                    <a:solidFill>
                      <a:srgbClr val="FFFFFF"/>
                    </a:solidFill>
                  </a:tcPr>
                </a:tc>
                <a:tc>
                  <a:txBody>
                    <a:bodyPr/>
                    <a:lstStyle/>
                    <a:p>
                      <a:pPr algn="l"/>
                      <a:r>
                        <a:rPr sz="1000" b="0">
                          <a:solidFill>
                            <a:srgbClr val="1F1F1F"/>
                          </a:solidFill>
                          <a:latin typeface="KoPubWorld돋움체 Light"/>
                        </a:rPr>
                        <a:t>제1종·제2종 종류주식 매입확약서 제출 승인</a:t>
                      </a:r>
                    </a:p>
                  </a:txBody>
                  <a:tcPr marL="54864" marR="54864" marT="0" marB="0">
                    <a:solidFill>
                      <a:srgbClr val="FFFFFF"/>
                    </a:solidFill>
                  </a:tcPr>
                </a:tc>
                <a:tc>
                  <a:txBody>
                    <a:bodyPr/>
                    <a:lstStyle/>
                    <a:p>
                      <a:pPr algn="l"/>
                      <a:r>
                        <a:rPr sz="1000" b="0">
                          <a:solidFill>
                            <a:srgbClr val="1F1F1F"/>
                          </a:solidFill>
                          <a:latin typeface="KoPubWorld돋움체 Light"/>
                        </a:rPr>
                        <a:t>주주간계약 체결일 제출</a:t>
                      </a:r>
                    </a:p>
                  </a:txBody>
                  <a:tcPr marL="54864" marR="54864" marT="0" marB="0">
                    <a:solidFill>
                      <a:srgbClr val="FFFFFF"/>
                    </a:solidFill>
                  </a:tcPr>
                </a:tc>
              </a:tr>
            </a:tbl>
          </a:graphicData>
        </a:graphic>
      </p:graphicFrame>
      <p:sp>
        <p:nvSpPr>
          <p:cNvPr id="6" name="Rectangle 5"/>
          <p:cNvSpPr/>
          <p:nvPr/>
        </p:nvSpPr>
        <p:spPr>
          <a:xfrm>
            <a:off x="457200" y="4480560"/>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추진 일정 (기준 일정)</a:t>
            </a:r>
          </a:p>
        </p:txBody>
      </p:sp>
      <p:graphicFrame>
        <p:nvGraphicFramePr>
          <p:cNvPr id="7" name="Table 6"/>
          <p:cNvGraphicFramePr>
            <a:graphicFrameLocks noGrp="1"/>
          </p:cNvGraphicFramePr>
          <p:nvPr/>
        </p:nvGraphicFramePr>
        <p:xfrm>
          <a:off x="521207" y="4855464"/>
          <a:ext cx="9784080" cy="1792224"/>
        </p:xfrm>
        <a:graphic>
          <a:graphicData uri="http://schemas.openxmlformats.org/drawingml/2006/table">
            <a:tbl>
              <a:tblPr firstRow="1" bandRow="1">
                <a:tableStyleId>{5C22544A-7EE6-4342-B048-85BDC9FD1C3A}</a:tableStyleId>
              </a:tblPr>
              <a:tblGrid>
                <a:gridCol w="1737360"/>
                <a:gridCol w="5486400"/>
                <a:gridCol w="2560320"/>
              </a:tblGrid>
              <a:tr h="256032">
                <a:tc>
                  <a:txBody>
                    <a:bodyPr/>
                    <a:lstStyle/>
                    <a:p>
                      <a:pPr algn="ctr"/>
                      <a:r>
                        <a:rPr sz="900" b="0">
                          <a:solidFill>
                            <a:srgbClr val="1F1F1F"/>
                          </a:solidFill>
                          <a:latin typeface="KoPubWorld돋움체 Bold"/>
                        </a:rPr>
                        <a:t>일자</a:t>
                      </a:r>
                    </a:p>
                  </a:txBody>
                  <a:tcPr marL="54864" marR="54864" marT="0" marB="0">
                    <a:solidFill>
                      <a:srgbClr val="DAE3F3"/>
                    </a:solidFill>
                  </a:tcPr>
                </a:tc>
                <a:tc>
                  <a:txBody>
                    <a:bodyPr/>
                    <a:lstStyle/>
                    <a:p>
                      <a:pPr algn="ctr"/>
                      <a:r>
                        <a:rPr sz="900" b="0">
                          <a:solidFill>
                            <a:srgbClr val="1F1F1F"/>
                          </a:solidFill>
                          <a:latin typeface="KoPubWorld돋움체 Bold"/>
                        </a:rPr>
                        <a:t>마일스톤</a:t>
                      </a:r>
                    </a:p>
                  </a:txBody>
                  <a:tcPr marL="54864" marR="54864" marT="0" marB="0">
                    <a:solidFill>
                      <a:srgbClr val="DAE3F3"/>
                    </a:solidFill>
                  </a:tcPr>
                </a:tc>
                <a:tc>
                  <a:txBody>
                    <a:bodyPr/>
                    <a:lstStyle/>
                    <a:p>
                      <a:pPr algn="ctr"/>
                      <a:r>
                        <a:rPr sz="900" b="0">
                          <a:solidFill>
                            <a:srgbClr val="1F1F1F"/>
                          </a:solidFill>
                          <a:latin typeface="KoPubWorld돋움체 Bold"/>
                        </a:rPr>
                        <a:t>주체</a:t>
                      </a:r>
                    </a:p>
                  </a:txBody>
                  <a:tcPr marL="54864" marR="54864" marT="0" marB="0">
                    <a:solidFill>
                      <a:srgbClr val="DAE3F3"/>
                    </a:solidFill>
                  </a:tcPr>
                </a:tc>
              </a:tr>
              <a:tr h="256032">
                <a:tc>
                  <a:txBody>
                    <a:bodyPr/>
                    <a:lstStyle/>
                    <a:p>
                      <a:pPr algn="ctr"/>
                      <a:r>
                        <a:rPr sz="900" b="0">
                          <a:solidFill>
                            <a:srgbClr val="1F1F1F"/>
                          </a:solidFill>
                          <a:latin typeface="KoPubWorld돋움체 Light"/>
                        </a:rPr>
                        <a:t>2026-09-30 (수)</a:t>
                      </a:r>
                    </a:p>
                  </a:txBody>
                  <a:tcPr marL="54864" marR="54864" marT="0" marB="0">
                    <a:solidFill>
                      <a:srgbClr val="FFFFFF"/>
                    </a:solidFill>
                  </a:tcPr>
                </a:tc>
                <a:tc>
                  <a:txBody>
                    <a:bodyPr/>
                    <a:lstStyle/>
                    <a:p>
                      <a:pPr algn="l"/>
                      <a:r>
                        <a:rPr sz="900" b="0">
                          <a:solidFill>
                            <a:srgbClr val="1F1F1F"/>
                          </a:solidFill>
                          <a:latin typeface="KoPubWorld돋움체 Light"/>
                        </a:rPr>
                        <a:t>본 투자심의위원회 — 안건 Ⅰ·Ⅱ·Ⅲ</a:t>
                      </a:r>
                    </a:p>
                  </a:txBody>
                  <a:tcPr marL="54864" marR="54864" marT="0" marB="0">
                    <a:solidFill>
                      <a:srgbClr val="FFFFFF"/>
                    </a:solidFill>
                  </a:tcPr>
                </a:tc>
                <a:tc>
                  <a:txBody>
                    <a:bodyPr/>
                    <a:lstStyle/>
                    <a:p>
                      <a:pPr algn="l"/>
                      <a:r>
                        <a:rPr sz="900" b="0">
                          <a:solidFill>
                            <a:srgbClr val="1F1F1F"/>
                          </a:solidFill>
                          <a:latin typeface="KoPubWorld돋움체 Light"/>
                        </a:rPr>
                        <a:t>코크렙 / KLI리츠</a:t>
                      </a:r>
                    </a:p>
                  </a:txBody>
                  <a:tcPr marL="54864" marR="54864" marT="0" marB="0">
                    <a:solidFill>
                      <a:srgbClr val="FFFFFF"/>
                    </a:solidFill>
                  </a:tcPr>
                </a:tc>
              </a:tr>
              <a:tr h="256032">
                <a:tc>
                  <a:txBody>
                    <a:bodyPr/>
                    <a:lstStyle/>
                    <a:p>
                      <a:pPr algn="ctr"/>
                      <a:r>
                        <a:rPr sz="900" b="0">
                          <a:solidFill>
                            <a:srgbClr val="1F1F1F"/>
                          </a:solidFill>
                          <a:latin typeface="KoPubWorld돋움체 Light"/>
                        </a:rPr>
                        <a:t>2026-10-01 (목)</a:t>
                      </a:r>
                    </a:p>
                  </a:txBody>
                  <a:tcPr marL="54864" marR="54864" marT="0" marB="0">
                    <a:solidFill>
                      <a:srgbClr val="F2F2F2"/>
                    </a:solidFill>
                  </a:tcPr>
                </a:tc>
                <a:tc>
                  <a:txBody>
                    <a:bodyPr/>
                    <a:lstStyle/>
                    <a:p>
                      <a:pPr algn="l"/>
                      <a:r>
                        <a:rPr sz="900" b="0">
                          <a:solidFill>
                            <a:srgbClr val="1F1F1F"/>
                          </a:solidFill>
                          <a:latin typeface="KoPubWorld돋움체 Light"/>
                        </a:rPr>
                        <a:t>주주총회(매매·주주간·대출약정 체결의 건) / KLI 이사회</a:t>
                      </a:r>
                    </a:p>
                  </a:txBody>
                  <a:tcPr marL="54864" marR="54864" marT="0" marB="0">
                    <a:solidFill>
                      <a:srgbClr val="F2F2F2"/>
                    </a:solidFill>
                  </a:tcPr>
                </a:tc>
                <a:tc>
                  <a:txBody>
                    <a:bodyPr/>
                    <a:lstStyle/>
                    <a:p>
                      <a:pPr algn="l"/>
                      <a:r>
                        <a:rPr sz="900" b="0">
                          <a:solidFill>
                            <a:srgbClr val="1F1F1F"/>
                          </a:solidFill>
                          <a:latin typeface="KoPubWorld돋움체 Light"/>
                        </a:rPr>
                        <a:t>코크렙 / KLI리츠</a:t>
                      </a:r>
                    </a:p>
                  </a:txBody>
                  <a:tcPr marL="54864" marR="54864" marT="0" marB="0">
                    <a:solidFill>
                      <a:srgbClr val="F2F2F2"/>
                    </a:solidFill>
                  </a:tcPr>
                </a:tc>
              </a:tr>
              <a:tr h="256032">
                <a:tc>
                  <a:txBody>
                    <a:bodyPr/>
                    <a:lstStyle/>
                    <a:p>
                      <a:pPr algn="ctr"/>
                      <a:r>
                        <a:rPr sz="900" b="0">
                          <a:solidFill>
                            <a:srgbClr val="1F1F1F"/>
                          </a:solidFill>
                          <a:latin typeface="KoPubWorld돋움체 Light"/>
                        </a:rPr>
                        <a:t>2026-10-02 (금)</a:t>
                      </a:r>
                    </a:p>
                  </a:txBody>
                  <a:tcPr marL="54864" marR="54864" marT="0" marB="0">
                    <a:solidFill>
                      <a:srgbClr val="FFFFFF"/>
                    </a:solidFill>
                  </a:tcPr>
                </a:tc>
                <a:tc>
                  <a:txBody>
                    <a:bodyPr/>
                    <a:lstStyle/>
                    <a:p>
                      <a:pPr algn="l"/>
                      <a:r>
                        <a:rPr sz="900" b="0">
                          <a:solidFill>
                            <a:srgbClr val="1F1F1F"/>
                          </a:solidFill>
                          <a:latin typeface="KoPubWorld돋움체 Light"/>
                        </a:rPr>
                        <a:t>매매계약 체결</a:t>
                      </a:r>
                    </a:p>
                  </a:txBody>
                  <a:tcPr marL="54864" marR="54864" marT="0" marB="0">
                    <a:solidFill>
                      <a:srgbClr val="FFFFFF"/>
                    </a:solidFill>
                  </a:tcPr>
                </a:tc>
                <a:tc>
                  <a:txBody>
                    <a:bodyPr/>
                    <a:lstStyle/>
                    <a:p>
                      <a:pPr algn="l"/>
                      <a:r>
                        <a:rPr sz="900" b="0">
                          <a:solidFill>
                            <a:srgbClr val="1F1F1F"/>
                          </a:solidFill>
                          <a:latin typeface="KoPubWorld돋움체 Light"/>
                        </a:rPr>
                        <a:t>매도인 · 매수인</a:t>
                      </a:r>
                    </a:p>
                  </a:txBody>
                  <a:tcPr marL="54864" marR="54864" marT="0" marB="0">
                    <a:solidFill>
                      <a:srgbClr val="FFFFFF"/>
                    </a:solidFill>
                  </a:tcPr>
                </a:tc>
              </a:tr>
              <a:tr h="256032">
                <a:tc>
                  <a:txBody>
                    <a:bodyPr/>
                    <a:lstStyle/>
                    <a:p>
                      <a:pPr algn="ctr"/>
                      <a:r>
                        <a:rPr sz="900" b="0">
                          <a:solidFill>
                            <a:srgbClr val="1F1F1F"/>
                          </a:solidFill>
                          <a:latin typeface="KoPubWorld돋움체 Light"/>
                        </a:rPr>
                        <a:t>2026-10-12 (월)</a:t>
                      </a:r>
                    </a:p>
                  </a:txBody>
                  <a:tcPr marL="54864" marR="54864" marT="0" marB="0">
                    <a:solidFill>
                      <a:srgbClr val="F2F2F2"/>
                    </a:solidFill>
                  </a:tcPr>
                </a:tc>
                <a:tc>
                  <a:txBody>
                    <a:bodyPr/>
                    <a:lstStyle/>
                    <a:p>
                      <a:pPr algn="l"/>
                      <a:r>
                        <a:rPr sz="900" b="0">
                          <a:solidFill>
                            <a:srgbClr val="1F1F1F"/>
                          </a:solidFill>
                          <a:latin typeface="KoPubWorld돋움체 Light"/>
                        </a:rPr>
                        <a:t>영업인가 완료 (2026-09-11 접수)</a:t>
                      </a:r>
                    </a:p>
                  </a:txBody>
                  <a:tcPr marL="54864" marR="54864" marT="0" marB="0">
                    <a:solidFill>
                      <a:srgbClr val="F2F2F2"/>
                    </a:solidFill>
                  </a:tcPr>
                </a:tc>
                <a:tc>
                  <a:txBody>
                    <a:bodyPr/>
                    <a:lstStyle/>
                    <a:p>
                      <a:pPr algn="l"/>
                      <a:r>
                        <a:rPr sz="900" b="0">
                          <a:solidFill>
                            <a:srgbClr val="1F1F1F"/>
                          </a:solidFill>
                          <a:latin typeface="KoPubWorld돋움체 Light"/>
                        </a:rPr>
                        <a:t>국토교통부</a:t>
                      </a:r>
                    </a:p>
                  </a:txBody>
                  <a:tcPr marL="54864" marR="54864" marT="0" marB="0">
                    <a:solidFill>
                      <a:srgbClr val="F2F2F2"/>
                    </a:solidFill>
                  </a:tcPr>
                </a:tc>
              </a:tr>
              <a:tr h="256032">
                <a:tc>
                  <a:txBody>
                    <a:bodyPr/>
                    <a:lstStyle/>
                    <a:p>
                      <a:pPr algn="ctr"/>
                      <a:r>
                        <a:rPr sz="900" b="0">
                          <a:solidFill>
                            <a:srgbClr val="1F1F1F"/>
                          </a:solidFill>
                          <a:latin typeface="KoPubWorld돋움체 Light"/>
                        </a:rPr>
                        <a:t>2026-10-13 (화)</a:t>
                      </a:r>
                    </a:p>
                  </a:txBody>
                  <a:tcPr marL="54864" marR="54864" marT="0" marB="0">
                    <a:solidFill>
                      <a:srgbClr val="FFFFFF"/>
                    </a:solidFill>
                  </a:tcPr>
                </a:tc>
                <a:tc>
                  <a:txBody>
                    <a:bodyPr/>
                    <a:lstStyle/>
                    <a:p>
                      <a:pPr algn="l"/>
                      <a:r>
                        <a:rPr sz="900" b="0">
                          <a:solidFill>
                            <a:srgbClr val="1F1F1F"/>
                          </a:solidFill>
                          <a:latin typeface="KoPubWorld돋움체 Light"/>
                        </a:rPr>
                        <a:t>주주간계약 체결 · 대출약정 체결</a:t>
                      </a:r>
                    </a:p>
                  </a:txBody>
                  <a:tcPr marL="54864" marR="54864" marT="0" marB="0">
                    <a:solidFill>
                      <a:srgbClr val="FFFFFF"/>
                    </a:solidFill>
                  </a:tcPr>
                </a:tc>
                <a:tc>
                  <a:txBody>
                    <a:bodyPr/>
                    <a:lstStyle/>
                    <a:p>
                      <a:pPr algn="l"/>
                      <a:r>
                        <a:rPr sz="900" b="0">
                          <a:solidFill>
                            <a:srgbClr val="1F1F1F"/>
                          </a:solidFill>
                          <a:latin typeface="KoPubWorld돋움체 Light"/>
                        </a:rPr>
                        <a:t>투자자 · 대주</a:t>
                      </a:r>
                    </a:p>
                  </a:txBody>
                  <a:tcPr marL="54864" marR="54864" marT="0" marB="0">
                    <a:solidFill>
                      <a:srgbClr val="FFFFFF"/>
                    </a:solidFill>
                  </a:tcPr>
                </a:tc>
              </a:tr>
              <a:tr h="256032">
                <a:tc>
                  <a:txBody>
                    <a:bodyPr/>
                    <a:lstStyle/>
                    <a:p>
                      <a:pPr algn="ctr"/>
                      <a:r>
                        <a:rPr sz="900" b="0">
                          <a:solidFill>
                            <a:srgbClr val="1F1F1F"/>
                          </a:solidFill>
                          <a:latin typeface="KoPubWorld돋움체 Light"/>
                        </a:rPr>
                        <a:t>2026-10-21~22</a:t>
                      </a:r>
                    </a:p>
                  </a:txBody>
                  <a:tcPr marL="54864" marR="54864" marT="0" marB="0">
                    <a:solidFill>
                      <a:srgbClr val="F2F2F2"/>
                    </a:solidFill>
                  </a:tcPr>
                </a:tc>
                <a:tc>
                  <a:txBody>
                    <a:bodyPr/>
                    <a:lstStyle/>
                    <a:p>
                      <a:pPr algn="l"/>
                      <a:r>
                        <a:rPr sz="900" b="0">
                          <a:solidFill>
                            <a:srgbClr val="1F1F1F"/>
                          </a:solidFill>
                          <a:latin typeface="KoPubWorld돋움체 Light"/>
                        </a:rPr>
                        <a:t>출자금 납입 → 거래종결 · 대출 인출</a:t>
                      </a:r>
                    </a:p>
                  </a:txBody>
                  <a:tcPr marL="54864" marR="54864" marT="0" marB="0">
                    <a:solidFill>
                      <a:srgbClr val="F2F2F2"/>
                    </a:solidFill>
                  </a:tcPr>
                </a:tc>
                <a:tc>
                  <a:txBody>
                    <a:bodyPr/>
                    <a:lstStyle/>
                    <a:p>
                      <a:pPr algn="l"/>
                      <a:r>
                        <a:rPr sz="900" b="0">
                          <a:solidFill>
                            <a:srgbClr val="1F1F1F"/>
                          </a:solidFill>
                          <a:latin typeface="KoPubWorld돋움체 Light"/>
                        </a:rPr>
                        <a:t>전체</a:t>
                      </a:r>
                    </a:p>
                  </a:txBody>
                  <a:tcPr marL="54864" marR="54864" marT="0" marB="0">
                    <a:solidFill>
                      <a:srgbClr val="F2F2F2"/>
                    </a:solidFill>
                  </a:tcPr>
                </a:tc>
              </a:tr>
            </a:tbl>
          </a:graphicData>
        </a:graphic>
      </p:graphicFrame>
      <p:sp>
        <p:nvSpPr>
          <p:cNvPr id="8" name="TextBox 7"/>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07_일정_회의록/TIMELINE.md (기준 일정: KLI 신규투자(안양) 추진일정_260811). 독점적 협상기간 만료일 2026-10-26. ※ 세부 일정은 협의 과정에서 변동될 수 있음.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안건 Ⅰ. 매매계약 체결의 건 (1) 거래 개요</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매매대금 2,700억원은 담보 감정평가액 3,345억원 대비 19.3% 낮은 수준임</a:t>
            </a:r>
          </a:p>
          <a:p>
            <a:r>
              <a:rPr sz="1200" b="0">
                <a:solidFill>
                  <a:srgbClr val="404040"/>
                </a:solidFill>
                <a:latin typeface="KoPubWorld돋움체 Light"/>
              </a:rPr>
              <a:t>• 연면적 평당 935만원으로 시장조사상 적정 매입가 범위(891~1,014만원/평) 내에 위치</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매매계약 주요 조건</a:t>
            </a:r>
          </a:p>
        </p:txBody>
      </p:sp>
      <p:graphicFrame>
        <p:nvGraphicFramePr>
          <p:cNvPr id="5" name="Table 4"/>
          <p:cNvGraphicFramePr>
            <a:graphicFrameLocks noGrp="1"/>
          </p:cNvGraphicFramePr>
          <p:nvPr/>
        </p:nvGraphicFramePr>
        <p:xfrm>
          <a:off x="521207" y="2359152"/>
          <a:ext cx="9784079" cy="3657600"/>
        </p:xfrm>
        <a:graphic>
          <a:graphicData uri="http://schemas.openxmlformats.org/drawingml/2006/table">
            <a:tbl>
              <a:tblPr firstRow="1" bandRow="1">
                <a:tableStyleId>{5C22544A-7EE6-4342-B048-85BDC9FD1C3A}</a:tableStyleId>
              </a:tblPr>
              <a:tblGrid>
                <a:gridCol w="2286000"/>
                <a:gridCol w="7498079"/>
              </a:tblGrid>
              <a:tr h="365760">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내 용</a:t>
                      </a:r>
                    </a:p>
                  </a:txBody>
                  <a:tcPr marL="54864" marR="54864" marT="0" marB="0">
                    <a:solidFill>
                      <a:srgbClr val="DAE3F3"/>
                    </a:solidFill>
                  </a:tcPr>
                </a:tc>
              </a:tr>
              <a:tr h="365760">
                <a:tc>
                  <a:txBody>
                    <a:bodyPr/>
                    <a:lstStyle/>
                    <a:p>
                      <a:pPr algn="ctr"/>
                      <a:r>
                        <a:rPr sz="1000" b="0">
                          <a:solidFill>
                            <a:srgbClr val="1F1F1F"/>
                          </a:solidFill>
                          <a:latin typeface="KoPubWorld돋움체 Light"/>
                        </a:rPr>
                        <a:t>매도인 / 매수인</a:t>
                      </a:r>
                    </a:p>
                  </a:txBody>
                  <a:tcPr marL="54864" marR="54864" marT="0" marB="0">
                    <a:solidFill>
                      <a:srgbClr val="FFFFFF"/>
                    </a:solidFill>
                  </a:tcPr>
                </a:tc>
                <a:tc>
                  <a:txBody>
                    <a:bodyPr/>
                    <a:lstStyle/>
                    <a:p>
                      <a:pPr algn="l"/>
                      <a:r>
                        <a:rPr sz="1000" b="0">
                          <a:solidFill>
                            <a:srgbClr val="1F1F1F"/>
                          </a:solidFill>
                          <a:latin typeface="KoPubWorld돋움체 Light"/>
                        </a:rPr>
                        <a:t>코크렙안양 주식회사(PFV) / 신설 위탁관리부동산투자회사</a:t>
                      </a:r>
                    </a:p>
                  </a:txBody>
                  <a:tcPr marL="54864" marR="54864" marT="0" marB="0">
                    <a:solidFill>
                      <a:srgbClr val="FFFFFF"/>
                    </a:solidFill>
                  </a:tcPr>
                </a:tc>
              </a:tr>
              <a:tr h="365760">
                <a:tc>
                  <a:txBody>
                    <a:bodyPr/>
                    <a:lstStyle/>
                    <a:p>
                      <a:pPr algn="ctr"/>
                      <a:r>
                        <a:rPr sz="1000" b="0">
                          <a:solidFill>
                            <a:srgbClr val="1F1F1F"/>
                          </a:solidFill>
                          <a:latin typeface="KoPubWorld돋움체 Light"/>
                        </a:rPr>
                        <a:t>매매목적물</a:t>
                      </a:r>
                    </a:p>
                  </a:txBody>
                  <a:tcPr marL="54864" marR="54864" marT="0" marB="0">
                    <a:solidFill>
                      <a:srgbClr val="F2F2F2"/>
                    </a:solidFill>
                  </a:tcPr>
                </a:tc>
                <a:tc>
                  <a:txBody>
                    <a:bodyPr/>
                    <a:lstStyle/>
                    <a:p>
                      <a:pPr algn="l"/>
                      <a:r>
                        <a:rPr sz="1000" b="0">
                          <a:solidFill>
                            <a:srgbClr val="1F1F1F"/>
                          </a:solidFill>
                          <a:latin typeface="KoPubWorld돋움체 Light"/>
                        </a:rPr>
                        <a:t>경기도 안양시 동안구 관양동 934 외 2필지 토지 및 지상 건물, 부속 동산·설비 일체</a:t>
                      </a:r>
                    </a:p>
                  </a:txBody>
                  <a:tcPr marL="54864" marR="54864" marT="0" marB="0">
                    <a:solidFill>
                      <a:srgbClr val="F2F2F2"/>
                    </a:solidFill>
                  </a:tcPr>
                </a:tc>
              </a:tr>
              <a:tr h="365760">
                <a:tc>
                  <a:txBody>
                    <a:bodyPr/>
                    <a:lstStyle/>
                    <a:p>
                      <a:pPr algn="ctr"/>
                      <a:r>
                        <a:rPr sz="1000" b="0">
                          <a:solidFill>
                            <a:srgbClr val="1F1F1F"/>
                          </a:solidFill>
                          <a:latin typeface="KoPubWorld돋움체 Light"/>
                        </a:rPr>
                        <a:t>매매대금</a:t>
                      </a:r>
                    </a:p>
                  </a:txBody>
                  <a:tcPr marL="54864" marR="54864" marT="0" marB="0">
                    <a:solidFill>
                      <a:srgbClr val="FFFFFF"/>
                    </a:solidFill>
                  </a:tcPr>
                </a:tc>
                <a:tc>
                  <a:txBody>
                    <a:bodyPr/>
                    <a:lstStyle/>
                    <a:p>
                      <a:pPr algn="l"/>
                      <a:r>
                        <a:rPr sz="1000" b="0">
                          <a:solidFill>
                            <a:srgbClr val="1F1F1F"/>
                          </a:solidFill>
                          <a:latin typeface="KoPubWorld돋움체 Light"/>
                        </a:rPr>
                        <a:t>270,000백만원 (2,700억원), 건물·동산 부가가치세 별도</a:t>
                      </a:r>
                    </a:p>
                  </a:txBody>
                  <a:tcPr marL="54864" marR="54864" marT="0" marB="0">
                    <a:solidFill>
                      <a:srgbClr val="FFFFFF"/>
                    </a:solidFill>
                  </a:tcPr>
                </a:tc>
              </a:tr>
              <a:tr h="365760">
                <a:tc>
                  <a:txBody>
                    <a:bodyPr/>
                    <a:lstStyle/>
                    <a:p>
                      <a:pPr algn="ctr"/>
                      <a:r>
                        <a:rPr sz="1000" b="0">
                          <a:solidFill>
                            <a:srgbClr val="1F1F1F"/>
                          </a:solidFill>
                          <a:latin typeface="KoPubWorld돋움체 Light"/>
                        </a:rPr>
                        <a:t>매매 방식</a:t>
                      </a:r>
                    </a:p>
                  </a:txBody>
                  <a:tcPr marL="54864" marR="54864" marT="0" marB="0">
                    <a:solidFill>
                      <a:srgbClr val="F2F2F2"/>
                    </a:solidFill>
                  </a:tcPr>
                </a:tc>
                <a:tc>
                  <a:txBody>
                    <a:bodyPr/>
                    <a:lstStyle/>
                    <a:p>
                      <a:pPr algn="l"/>
                      <a:r>
                        <a:rPr sz="1000" b="0">
                          <a:solidFill>
                            <a:srgbClr val="1F1F1F"/>
                          </a:solidFill>
                          <a:latin typeface="KoPubWorld돋움체 Light"/>
                        </a:rPr>
                        <a:t>거래종결일 현재의 법률상·사실상 현황 그대로(as-is, where-is)</a:t>
                      </a:r>
                    </a:p>
                  </a:txBody>
                  <a:tcPr marL="54864" marR="54864" marT="0" marB="0">
                    <a:solidFill>
                      <a:srgbClr val="F2F2F2"/>
                    </a:solidFill>
                  </a:tcPr>
                </a:tc>
              </a:tr>
              <a:tr h="365760">
                <a:tc>
                  <a:txBody>
                    <a:bodyPr/>
                    <a:lstStyle/>
                    <a:p>
                      <a:pPr algn="ctr"/>
                      <a:r>
                        <a:rPr sz="1000" b="0">
                          <a:solidFill>
                            <a:srgbClr val="1F1F1F"/>
                          </a:solidFill>
                          <a:latin typeface="KoPubWorld돋움체 Light"/>
                        </a:rPr>
                        <a:t>거래종결시 지급금액</a:t>
                      </a:r>
                    </a:p>
                  </a:txBody>
                  <a:tcPr marL="54864" marR="54864" marT="0" marB="0">
                    <a:solidFill>
                      <a:srgbClr val="FFFFFF"/>
                    </a:solidFill>
                  </a:tcPr>
                </a:tc>
                <a:tc>
                  <a:txBody>
                    <a:bodyPr/>
                    <a:lstStyle/>
                    <a:p>
                      <a:pPr algn="l"/>
                      <a:r>
                        <a:rPr sz="1000" b="0">
                          <a:solidFill>
                            <a:srgbClr val="1F1F1F"/>
                          </a:solidFill>
                          <a:latin typeface="KoPubWorld돋움체 Light"/>
                        </a:rPr>
                        <a:t>매매대금 − 승계 임대차보증금 + 정산금 ± 부가가치세</a:t>
                      </a:r>
                    </a:p>
                  </a:txBody>
                  <a:tcPr marL="54864" marR="54864" marT="0" marB="0">
                    <a:solidFill>
                      <a:srgbClr val="FFFFFF"/>
                    </a:solidFill>
                  </a:tcPr>
                </a:tc>
              </a:tr>
              <a:tr h="365760">
                <a:tc>
                  <a:txBody>
                    <a:bodyPr/>
                    <a:lstStyle/>
                    <a:p>
                      <a:pPr algn="ctr"/>
                      <a:r>
                        <a:rPr sz="1000" b="0">
                          <a:solidFill>
                            <a:srgbClr val="1F1F1F"/>
                          </a:solidFill>
                          <a:latin typeface="KoPubWorld돋움체 Light"/>
                        </a:rPr>
                        <a:t>정산 항목</a:t>
                      </a:r>
                    </a:p>
                  </a:txBody>
                  <a:tcPr marL="54864" marR="54864" marT="0" marB="0">
                    <a:solidFill>
                      <a:srgbClr val="F2F2F2"/>
                    </a:solidFill>
                  </a:tcPr>
                </a:tc>
                <a:tc>
                  <a:txBody>
                    <a:bodyPr/>
                    <a:lstStyle/>
                    <a:p>
                      <a:pPr algn="l"/>
                      <a:r>
                        <a:rPr sz="1000" b="0">
                          <a:solidFill>
                            <a:srgbClr val="1F1F1F"/>
                          </a:solidFill>
                          <a:latin typeface="KoPubWorld돋움체 Light"/>
                        </a:rPr>
                        <a:t>재산세·종부세, 교통유발부담금 등, 유틸리티 요금, 임대료 수익 — 거래종결일 기준 일할 정산</a:t>
                      </a:r>
                    </a:p>
                  </a:txBody>
                  <a:tcPr marL="54864" marR="54864" marT="0" marB="0">
                    <a:solidFill>
                      <a:srgbClr val="F2F2F2"/>
                    </a:solidFill>
                  </a:tcPr>
                </a:tc>
              </a:tr>
              <a:tr h="365760">
                <a:tc>
                  <a:txBody>
                    <a:bodyPr/>
                    <a:lstStyle/>
                    <a:p>
                      <a:pPr algn="ctr"/>
                      <a:r>
                        <a:rPr sz="1000" b="0">
                          <a:solidFill>
                            <a:srgbClr val="1F1F1F"/>
                          </a:solidFill>
                          <a:latin typeface="KoPubWorld돋움체 Light"/>
                        </a:rPr>
                        <a:t>임대차 승계</a:t>
                      </a:r>
                    </a:p>
                  </a:txBody>
                  <a:tcPr marL="54864" marR="54864" marT="0" marB="0">
                    <a:solidFill>
                      <a:srgbClr val="FFFFFF"/>
                    </a:solidFill>
                  </a:tcPr>
                </a:tc>
                <a:tc>
                  <a:txBody>
                    <a:bodyPr/>
                    <a:lstStyle/>
                    <a:p>
                      <a:pPr algn="l"/>
                      <a:r>
                        <a:rPr sz="1000" b="0">
                          <a:solidFill>
                            <a:srgbClr val="1F1F1F"/>
                          </a:solidFill>
                          <a:latin typeface="KoPubWorld돋움체 Light"/>
                        </a:rPr>
                        <a:t>매수인이 임대차계약 전부 승계, 보증금 반환의무 인수 (승계동의서 미징구가 거래종결에 영향 없음)</a:t>
                      </a:r>
                    </a:p>
                  </a:txBody>
                  <a:tcPr marL="54864" marR="54864" marT="0" marB="0">
                    <a:solidFill>
                      <a:srgbClr val="FFFFFF"/>
                    </a:solidFill>
                  </a:tcPr>
                </a:tc>
              </a:tr>
              <a:tr h="365760">
                <a:tc>
                  <a:txBody>
                    <a:bodyPr/>
                    <a:lstStyle/>
                    <a:p>
                      <a:pPr algn="ctr"/>
                      <a:r>
                        <a:rPr sz="1000" b="0">
                          <a:solidFill>
                            <a:srgbClr val="1F1F1F"/>
                          </a:solidFill>
                          <a:latin typeface="KoPubWorld돋움체 Light"/>
                        </a:rPr>
                        <a:t>거래신고</a:t>
                      </a:r>
                    </a:p>
                  </a:txBody>
                  <a:tcPr marL="54864" marR="54864" marT="0" marB="0">
                    <a:solidFill>
                      <a:srgbClr val="F2F2F2"/>
                    </a:solidFill>
                  </a:tcPr>
                </a:tc>
                <a:tc>
                  <a:txBody>
                    <a:bodyPr/>
                    <a:lstStyle/>
                    <a:p>
                      <a:pPr algn="l"/>
                      <a:r>
                        <a:rPr sz="1000" b="0">
                          <a:solidFill>
                            <a:srgbClr val="1F1F1F"/>
                          </a:solidFill>
                          <a:latin typeface="KoPubWorld돋움체 Light"/>
                        </a:rPr>
                        <a:t>매수인이 계약일로부터 30일과 거래종결일 중 먼저 도래하는 날 이전에 부동산 거래신고</a:t>
                      </a:r>
                    </a:p>
                  </a:txBody>
                  <a:tcPr marL="54864" marR="54864" marT="0" marB="0">
                    <a:solidFill>
                      <a:srgbClr val="F2F2F2"/>
                    </a:solidFill>
                  </a:tcPr>
                </a:tc>
              </a:tr>
              <a:tr h="365760">
                <a:tc>
                  <a:txBody>
                    <a:bodyPr/>
                    <a:lstStyle/>
                    <a:p>
                      <a:pPr algn="ctr"/>
                      <a:r>
                        <a:rPr sz="1000" b="0">
                          <a:solidFill>
                            <a:srgbClr val="1F1F1F"/>
                          </a:solidFill>
                          <a:latin typeface="KoPubWorld돋움체 Light"/>
                        </a:rPr>
                        <a:t>준거법 / 관할</a:t>
                      </a:r>
                    </a:p>
                  </a:txBody>
                  <a:tcPr marL="54864" marR="54864" marT="0" marB="0">
                    <a:solidFill>
                      <a:srgbClr val="FFFFFF"/>
                    </a:solidFill>
                  </a:tcPr>
                </a:tc>
                <a:tc>
                  <a:txBody>
                    <a:bodyPr/>
                    <a:lstStyle/>
                    <a:p>
                      <a:pPr algn="l"/>
                      <a:r>
                        <a:rPr sz="1000" b="0">
                          <a:solidFill>
                            <a:srgbClr val="1F1F1F"/>
                          </a:solidFill>
                          <a:latin typeface="KoPubWorld돋움체 Light"/>
                        </a:rPr>
                        <a:t>대한민국 법 / 서울중앙지방법원 전속관할</a:t>
                      </a:r>
                    </a:p>
                  </a:txBody>
                  <a:tcPr marL="54864" marR="54864" marT="0" marB="0">
                    <a:solidFill>
                      <a:srgbClr val="FFFFFF"/>
                    </a:solidFill>
                  </a:tcPr>
                </a:tc>
              </a:tr>
            </a:tbl>
          </a:graphicData>
        </a:graphic>
      </p:graphicFrame>
      <p:sp>
        <p:nvSpPr>
          <p:cNvPr id="6" name="TextBox 5"/>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부동산매매계약서(clean, 2026-09-07) 제1~3조, 제5.1조, 제9조 / 감정평가서(미래새한, 기준시점 2026-08-31) / 시장조사보고서(2026-08-10) 가격적정성 검토. 계약일·거래종결일 등 일부 항목은 협의 중으로 계약서상 공란임.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안건 Ⅰ. 매매계약 체결의 건 (2) 주요 조항 및 검토 의견</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진술·보장 존속기간 2개월, 손해배상 한도 매매대금의 5%로 매도인 책임이 제한된 구조임</a:t>
            </a:r>
          </a:p>
          <a:p>
            <a:r>
              <a:rPr sz="1200" b="0">
                <a:solidFill>
                  <a:srgbClr val="404040"/>
                </a:solidFill>
                <a:latin typeface="KoPubWorld돋움체 Light"/>
              </a:rPr>
              <a:t>• as-is 매입 및 담보책임 배제 조항에 따라 물리·법률 실사 결과의 사전 반영이 중요</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주요 조항</a:t>
            </a:r>
          </a:p>
        </p:txBody>
      </p:sp>
      <p:graphicFrame>
        <p:nvGraphicFramePr>
          <p:cNvPr id="5" name="Table 4"/>
          <p:cNvGraphicFramePr>
            <a:graphicFrameLocks noGrp="1"/>
          </p:cNvGraphicFramePr>
          <p:nvPr/>
        </p:nvGraphicFramePr>
        <p:xfrm>
          <a:off x="521207" y="2359152"/>
          <a:ext cx="9784080" cy="4224528"/>
        </p:xfrm>
        <a:graphic>
          <a:graphicData uri="http://schemas.openxmlformats.org/drawingml/2006/table">
            <a:tbl>
              <a:tblPr firstRow="1" bandRow="1">
                <a:tableStyleId>{5C22544A-7EE6-4342-B048-85BDC9FD1C3A}</a:tableStyleId>
              </a:tblPr>
              <a:tblGrid>
                <a:gridCol w="1645920"/>
                <a:gridCol w="5577840"/>
                <a:gridCol w="2560320"/>
              </a:tblGrid>
              <a:tr h="603504">
                <a:tc>
                  <a:txBody>
                    <a:bodyPr/>
                    <a:lstStyle/>
                    <a:p>
                      <a:pPr algn="ctr"/>
                      <a:r>
                        <a:rPr sz="900" b="0">
                          <a:solidFill>
                            <a:srgbClr val="1F1F1F"/>
                          </a:solidFill>
                          <a:latin typeface="KoPubWorld돋움체 Bold"/>
                        </a:rPr>
                        <a:t>조 항</a:t>
                      </a:r>
                    </a:p>
                  </a:txBody>
                  <a:tcPr marL="54864" marR="54864" marT="0" marB="0">
                    <a:solidFill>
                      <a:srgbClr val="DAE3F3"/>
                    </a:solidFill>
                  </a:tcPr>
                </a:tc>
                <a:tc>
                  <a:txBody>
                    <a:bodyPr/>
                    <a:lstStyle/>
                    <a:p>
                      <a:pPr algn="ctr"/>
                      <a:r>
                        <a:rPr sz="900" b="0">
                          <a:solidFill>
                            <a:srgbClr val="1F1F1F"/>
                          </a:solidFill>
                          <a:latin typeface="KoPubWorld돋움체 Bold"/>
                        </a:rPr>
                        <a:t>주요 내용</a:t>
                      </a:r>
                    </a:p>
                  </a:txBody>
                  <a:tcPr marL="54864" marR="54864" marT="0" marB="0">
                    <a:solidFill>
                      <a:srgbClr val="DAE3F3"/>
                    </a:solidFill>
                  </a:tcPr>
                </a:tc>
                <a:tc>
                  <a:txBody>
                    <a:bodyPr/>
                    <a:lstStyle/>
                    <a:p>
                      <a:pPr algn="ctr"/>
                      <a:r>
                        <a:rPr sz="900" b="0">
                          <a:solidFill>
                            <a:srgbClr val="1F1F1F"/>
                          </a:solidFill>
                          <a:latin typeface="KoPubWorld돋움체 Bold"/>
                        </a:rPr>
                        <a:t>검토 의견</a:t>
                      </a:r>
                    </a:p>
                  </a:txBody>
                  <a:tcPr marL="54864" marR="54864" marT="0" marB="0">
                    <a:solidFill>
                      <a:srgbClr val="DAE3F3"/>
                    </a:solidFill>
                  </a:tcPr>
                </a:tc>
              </a:tr>
              <a:tr h="603504">
                <a:tc>
                  <a:txBody>
                    <a:bodyPr/>
                    <a:lstStyle/>
                    <a:p>
                      <a:pPr algn="ctr"/>
                      <a:r>
                        <a:rPr sz="900" b="0">
                          <a:solidFill>
                            <a:srgbClr val="1F1F1F"/>
                          </a:solidFill>
                          <a:latin typeface="KoPubWorld돋움체 Light"/>
                        </a:rPr>
                        <a:t>제4조 진술 및 보장</a:t>
                      </a:r>
                    </a:p>
                  </a:txBody>
                  <a:tcPr marL="54864" marR="54864" marT="0" marB="0">
                    <a:solidFill>
                      <a:srgbClr val="FFFFFF"/>
                    </a:solidFill>
                  </a:tcPr>
                </a:tc>
                <a:tc>
                  <a:txBody>
                    <a:bodyPr/>
                    <a:lstStyle/>
                    <a:p>
                      <a:pPr algn="l"/>
                      <a:r>
                        <a:rPr sz="900" b="0">
                          <a:solidFill>
                            <a:srgbClr val="1F1F1F"/>
                          </a:solidFill>
                          <a:latin typeface="KoPubWorld돋움체 Light"/>
                        </a:rPr>
                        <a:t>매도인: 설립·존속, 권한, 제3자 동의, 상충 없음, 완전한 소유권, 소송 부존재
매수인: 권한, 실사 완료, 담보책임 배제</a:t>
                      </a:r>
                    </a:p>
                  </a:txBody>
                  <a:tcPr marL="54864" marR="54864" marT="0" marB="0">
                    <a:solidFill>
                      <a:srgbClr val="FFFFFF"/>
                    </a:solidFill>
                  </a:tcPr>
                </a:tc>
                <a:tc>
                  <a:txBody>
                    <a:bodyPr/>
                    <a:lstStyle/>
                    <a:p>
                      <a:pPr algn="l"/>
                      <a:r>
                        <a:rPr sz="900" b="0">
                          <a:solidFill>
                            <a:srgbClr val="1F1F1F"/>
                          </a:solidFill>
                          <a:latin typeface="KoPubWorld돋움체 Light"/>
                        </a:rPr>
                        <a:t>실사 완료 진술로 매수인이 하자 위험 부담</a:t>
                      </a:r>
                    </a:p>
                  </a:txBody>
                  <a:tcPr marL="54864" marR="54864" marT="0" marB="0">
                    <a:solidFill>
                      <a:srgbClr val="FFFFFF"/>
                    </a:solidFill>
                  </a:tcPr>
                </a:tc>
              </a:tr>
              <a:tr h="603504">
                <a:tc>
                  <a:txBody>
                    <a:bodyPr/>
                    <a:lstStyle/>
                    <a:p>
                      <a:pPr algn="ctr"/>
                      <a:r>
                        <a:rPr sz="900" b="0">
                          <a:solidFill>
                            <a:srgbClr val="1F1F1F"/>
                          </a:solidFill>
                          <a:latin typeface="KoPubWorld돋움체 Light"/>
                        </a:rPr>
                        <a:t>제4.4조 존속기간</a:t>
                      </a:r>
                    </a:p>
                  </a:txBody>
                  <a:tcPr marL="54864" marR="54864" marT="0" marB="0">
                    <a:solidFill>
                      <a:srgbClr val="F2F2F2"/>
                    </a:solidFill>
                  </a:tcPr>
                </a:tc>
                <a:tc>
                  <a:txBody>
                    <a:bodyPr/>
                    <a:lstStyle/>
                    <a:p>
                      <a:pPr algn="l"/>
                      <a:r>
                        <a:rPr sz="900" b="0">
                          <a:solidFill>
                            <a:srgbClr val="1F1F1F"/>
                          </a:solidFill>
                          <a:latin typeface="KoPubWorld돋움체 Light"/>
                        </a:rPr>
                        <a:t>거래종결일로부터 2개월, 기간 내 서면청구 없으면 면책</a:t>
                      </a:r>
                    </a:p>
                  </a:txBody>
                  <a:tcPr marL="54864" marR="54864" marT="0" marB="0">
                    <a:solidFill>
                      <a:srgbClr val="F2F2F2"/>
                    </a:solidFill>
                  </a:tcPr>
                </a:tc>
                <a:tc>
                  <a:txBody>
                    <a:bodyPr/>
                    <a:lstStyle/>
                    <a:p>
                      <a:pPr algn="l"/>
                      <a:r>
                        <a:rPr sz="900" b="0">
                          <a:solidFill>
                            <a:srgbClr val="1F1F1F"/>
                          </a:solidFill>
                          <a:latin typeface="KoPubWorld돋움체 Light"/>
                        </a:rPr>
                        <a:t>통상 대비 짧음 — 잔여 리스크 인지 필요</a:t>
                      </a:r>
                    </a:p>
                  </a:txBody>
                  <a:tcPr marL="54864" marR="54864" marT="0" marB="0">
                    <a:solidFill>
                      <a:srgbClr val="F2F2F2"/>
                    </a:solidFill>
                  </a:tcPr>
                </a:tc>
              </a:tr>
              <a:tr h="603504">
                <a:tc>
                  <a:txBody>
                    <a:bodyPr/>
                    <a:lstStyle/>
                    <a:p>
                      <a:pPr algn="ctr"/>
                      <a:r>
                        <a:rPr sz="900" b="0">
                          <a:solidFill>
                            <a:srgbClr val="1F1F1F"/>
                          </a:solidFill>
                          <a:latin typeface="KoPubWorld돋움체 Light"/>
                        </a:rPr>
                        <a:t>제6조 선행조건</a:t>
                      </a:r>
                    </a:p>
                  </a:txBody>
                  <a:tcPr marL="54864" marR="54864" marT="0" marB="0">
                    <a:solidFill>
                      <a:srgbClr val="FFFFFF"/>
                    </a:solidFill>
                  </a:tcPr>
                </a:tc>
                <a:tc>
                  <a:txBody>
                    <a:bodyPr/>
                    <a:lstStyle/>
                    <a:p>
                      <a:pPr algn="l"/>
                      <a:r>
                        <a:rPr sz="900" b="0">
                          <a:solidFill>
                            <a:srgbClr val="1F1F1F"/>
                          </a:solidFill>
                          <a:latin typeface="KoPubWorld돋움체 Light"/>
                        </a:rPr>
                        <a:t>확약·의무 이행, 진술·보장의 진실성, 중대한 부정적 법규·행정절차 부존재</a:t>
                      </a:r>
                    </a:p>
                  </a:txBody>
                  <a:tcPr marL="54864" marR="54864" marT="0" marB="0">
                    <a:solidFill>
                      <a:srgbClr val="FFFFFF"/>
                    </a:solidFill>
                  </a:tcPr>
                </a:tc>
                <a:tc>
                  <a:txBody>
                    <a:bodyPr/>
                    <a:lstStyle/>
                    <a:p>
                      <a:pPr algn="l"/>
                      <a:r>
                        <a:rPr sz="900" b="0">
                          <a:solidFill>
                            <a:srgbClr val="1F1F1F"/>
                          </a:solidFill>
                          <a:latin typeface="KoPubWorld돋움체 Light"/>
                        </a:rPr>
                        <a:t>영업인가·자금조달은 선행조건에 미포함</a:t>
                      </a:r>
                    </a:p>
                  </a:txBody>
                  <a:tcPr marL="54864" marR="54864" marT="0" marB="0">
                    <a:solidFill>
                      <a:srgbClr val="FFFFFF"/>
                    </a:solidFill>
                  </a:tcPr>
                </a:tc>
              </a:tr>
              <a:tr h="603504">
                <a:tc>
                  <a:txBody>
                    <a:bodyPr/>
                    <a:lstStyle/>
                    <a:p>
                      <a:pPr algn="ctr"/>
                      <a:r>
                        <a:rPr sz="900" b="0">
                          <a:solidFill>
                            <a:srgbClr val="1F1F1F"/>
                          </a:solidFill>
                          <a:latin typeface="KoPubWorld돋움체 Light"/>
                        </a:rPr>
                        <a:t>제7조 손해배상</a:t>
                      </a:r>
                    </a:p>
                  </a:txBody>
                  <a:tcPr marL="54864" marR="54864" marT="0" marB="0">
                    <a:solidFill>
                      <a:srgbClr val="F2F2F2"/>
                    </a:solidFill>
                  </a:tcPr>
                </a:tc>
                <a:tc>
                  <a:txBody>
                    <a:bodyPr/>
                    <a:lstStyle/>
                    <a:p>
                      <a:pPr algn="l"/>
                      <a:r>
                        <a:rPr sz="900" b="0">
                          <a:solidFill>
                            <a:srgbClr val="1F1F1F"/>
                          </a:solidFill>
                          <a:latin typeface="KoPubWorld돋움체 Light"/>
                        </a:rPr>
                        <a:t>한도: 매매대금의 5%, 청구기한: 거래종결일로부터 2개월
간접·특별·징벌적 손해 배제</a:t>
                      </a:r>
                    </a:p>
                  </a:txBody>
                  <a:tcPr marL="54864" marR="54864" marT="0" marB="0">
                    <a:solidFill>
                      <a:srgbClr val="F2F2F2"/>
                    </a:solidFill>
                  </a:tcPr>
                </a:tc>
                <a:tc>
                  <a:txBody>
                    <a:bodyPr/>
                    <a:lstStyle/>
                    <a:p>
                      <a:pPr algn="l"/>
                      <a:r>
                        <a:rPr sz="900" b="0">
                          <a:solidFill>
                            <a:srgbClr val="1F1F1F"/>
                          </a:solidFill>
                          <a:latin typeface="KoPubWorld돋움체 Light"/>
                        </a:rPr>
                        <a:t>한도 135억원 수준</a:t>
                      </a:r>
                    </a:p>
                  </a:txBody>
                  <a:tcPr marL="54864" marR="54864" marT="0" marB="0">
                    <a:solidFill>
                      <a:srgbClr val="F2F2F2"/>
                    </a:solidFill>
                  </a:tcPr>
                </a:tc>
              </a:tr>
              <a:tr h="603504">
                <a:tc>
                  <a:txBody>
                    <a:bodyPr/>
                    <a:lstStyle/>
                    <a:p>
                      <a:pPr algn="ctr"/>
                      <a:r>
                        <a:rPr sz="900" b="0">
                          <a:solidFill>
                            <a:srgbClr val="1F1F1F"/>
                          </a:solidFill>
                          <a:latin typeface="KoPubWorld돋움체 Light"/>
                        </a:rPr>
                        <a:t>제8조 해제</a:t>
                      </a:r>
                    </a:p>
                  </a:txBody>
                  <a:tcPr marL="54864" marR="54864" marT="0" marB="0">
                    <a:solidFill>
                      <a:srgbClr val="FFFFFF"/>
                    </a:solidFill>
                  </a:tcPr>
                </a:tc>
                <a:tc>
                  <a:txBody>
                    <a:bodyPr/>
                    <a:lstStyle/>
                    <a:p>
                      <a:pPr algn="l"/>
                      <a:r>
                        <a:rPr sz="900" b="0">
                          <a:solidFill>
                            <a:srgbClr val="1F1F1F"/>
                          </a:solidFill>
                          <a:latin typeface="KoPubWorld돋움체 Light"/>
                        </a:rPr>
                        <a:t>서면 합의, 불가항력 30일 지속, 중요 위반 후 10영업일 미시정, 도산절차, 선행조건 미충족
위약금 금액 협의 중</a:t>
                      </a:r>
                    </a:p>
                  </a:txBody>
                  <a:tcPr marL="54864" marR="54864" marT="0" marB="0">
                    <a:solidFill>
                      <a:srgbClr val="FFFFFF"/>
                    </a:solidFill>
                  </a:tcPr>
                </a:tc>
                <a:tc>
                  <a:txBody>
                    <a:bodyPr/>
                    <a:lstStyle/>
                    <a:p>
                      <a:pPr algn="l"/>
                      <a:r>
                        <a:rPr sz="900" b="0">
                          <a:solidFill>
                            <a:srgbClr val="1F1F1F"/>
                          </a:solidFill>
                          <a:latin typeface="KoPubWorld돋움체 Light"/>
                        </a:rPr>
                        <a:t>자금조달 곤란은 불가항력에서 명시적으로 제외</a:t>
                      </a:r>
                    </a:p>
                  </a:txBody>
                  <a:tcPr marL="54864" marR="54864" marT="0" marB="0">
                    <a:solidFill>
                      <a:srgbClr val="FFFFFF"/>
                    </a:solidFill>
                  </a:tcPr>
                </a:tc>
              </a:tr>
              <a:tr h="603504">
                <a:tc>
                  <a:txBody>
                    <a:bodyPr/>
                    <a:lstStyle/>
                    <a:p>
                      <a:pPr algn="ctr"/>
                      <a:r>
                        <a:rPr sz="900" b="0">
                          <a:solidFill>
                            <a:srgbClr val="1F1F1F"/>
                          </a:solidFill>
                          <a:latin typeface="KoPubWorld돋움체 Light"/>
                        </a:rPr>
                        <a:t>제5.1.4조 임대차</a:t>
                      </a:r>
                    </a:p>
                  </a:txBody>
                  <a:tcPr marL="54864" marR="54864" marT="0" marB="0">
                    <a:solidFill>
                      <a:srgbClr val="F2F2F2"/>
                    </a:solidFill>
                  </a:tcPr>
                </a:tc>
                <a:tc>
                  <a:txBody>
                    <a:bodyPr/>
                    <a:lstStyle/>
                    <a:p>
                      <a:pPr algn="l"/>
                      <a:r>
                        <a:rPr sz="900" b="0">
                          <a:solidFill>
                            <a:srgbClr val="1F1F1F"/>
                          </a:solidFill>
                          <a:latin typeface="KoPubWorld돋움체 Light"/>
                        </a:rPr>
                        <a:t>매도인이 승계동의서 징구에 합리적 노력, 미징구가 의무위반·거래종결 장애 아님</a:t>
                      </a:r>
                    </a:p>
                  </a:txBody>
                  <a:tcPr marL="54864" marR="54864" marT="0" marB="0">
                    <a:solidFill>
                      <a:srgbClr val="F2F2F2"/>
                    </a:solidFill>
                  </a:tcPr>
                </a:tc>
                <a:tc>
                  <a:txBody>
                    <a:bodyPr/>
                    <a:lstStyle/>
                    <a:p>
                      <a:pPr algn="l"/>
                      <a:r>
                        <a:rPr sz="900" b="0">
                          <a:solidFill>
                            <a:srgbClr val="1F1F1F"/>
                          </a:solidFill>
                          <a:latin typeface="KoPubWorld돋움체 Light"/>
                        </a:rPr>
                        <a:t>승계동의서 확보 현황 별도 관리 필요</a:t>
                      </a:r>
                    </a:p>
                  </a:txBody>
                  <a:tcPr marL="54864" marR="54864" marT="0" marB="0">
                    <a:solidFill>
                      <a:srgbClr val="F2F2F2"/>
                    </a:solidFill>
                  </a:tcPr>
                </a:tc>
              </a:tr>
            </a:tbl>
          </a:graphicData>
        </a:graphic>
      </p:graphicFrame>
      <p:sp>
        <p:nvSpPr>
          <p:cNvPr id="6" name="TextBox 5"/>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부동산매매계약서(clean, 2026-09-07) 제4~8조. 위약금 금액·지연손해금률·거래종결예정일은 계약서상 공란(협의 중). 본 검토는 내부 검토이며 최종 법률자문은 외부 법무법인 확인이 필요함.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안건 Ⅱ. 주주간계약 체결의 건 (1) 주주 구성 및 배당</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Equity 988억원을 1·2·3종 종류주식과 보통주로 구성하고 트랜치별 배당 순위를 확정함</a:t>
            </a:r>
          </a:p>
          <a:p>
            <a:r>
              <a:rPr sz="1200" b="0">
                <a:solidFill>
                  <a:srgbClr val="404040"/>
                </a:solidFill>
                <a:latin typeface="KoPubWorld돋움체 Light"/>
              </a:rPr>
              <a:t>• 제1종 연 7.0%, 제2종 연 7.5% 누적배당, 보통주는 초기 1년간 발행가액의 연 7.5% 배당에 협조</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Equity 트랜치 구성 (단위: 백만원)</a:t>
            </a:r>
          </a:p>
        </p:txBody>
      </p:sp>
      <p:graphicFrame>
        <p:nvGraphicFramePr>
          <p:cNvPr id="5" name="Table 4"/>
          <p:cNvGraphicFramePr>
            <a:graphicFrameLocks noGrp="1"/>
          </p:cNvGraphicFramePr>
          <p:nvPr/>
        </p:nvGraphicFramePr>
        <p:xfrm>
          <a:off x="521207" y="2359152"/>
          <a:ext cx="9784080" cy="1865376"/>
        </p:xfrm>
        <a:graphic>
          <a:graphicData uri="http://schemas.openxmlformats.org/drawingml/2006/table">
            <a:tbl>
              <a:tblPr firstRow="1" bandRow="1">
                <a:tableStyleId>{5C22544A-7EE6-4342-B048-85BDC9FD1C3A}</a:tableStyleId>
              </a:tblPr>
              <a:tblGrid>
                <a:gridCol w="1737360"/>
                <a:gridCol w="1188720"/>
                <a:gridCol w="1005840"/>
                <a:gridCol w="2103120"/>
                <a:gridCol w="1463040"/>
                <a:gridCol w="2286000"/>
              </a:tblGrid>
              <a:tr h="310896">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금액</a:t>
                      </a:r>
                    </a:p>
                  </a:txBody>
                  <a:tcPr marL="54864" marR="54864" marT="0" marB="0">
                    <a:solidFill>
                      <a:srgbClr val="DAE3F3"/>
                    </a:solidFill>
                  </a:tcPr>
                </a:tc>
                <a:tc>
                  <a:txBody>
                    <a:bodyPr/>
                    <a:lstStyle/>
                    <a:p>
                      <a:pPr algn="ctr"/>
                      <a:r>
                        <a:rPr sz="1000" b="0">
                          <a:solidFill>
                            <a:srgbClr val="1F1F1F"/>
                          </a:solidFill>
                          <a:latin typeface="KoPubWorld돋움체 Bold"/>
                        </a:rPr>
                        <a:t>지분율</a:t>
                      </a:r>
                    </a:p>
                  </a:txBody>
                  <a:tcPr marL="54864" marR="54864" marT="0" marB="0">
                    <a:solidFill>
                      <a:srgbClr val="DAE3F3"/>
                    </a:solidFill>
                  </a:tcPr>
                </a:tc>
                <a:tc>
                  <a:txBody>
                    <a:bodyPr/>
                    <a:lstStyle/>
                    <a:p>
                      <a:pPr algn="ctr"/>
                      <a:r>
                        <a:rPr sz="1000" b="0">
                          <a:solidFill>
                            <a:srgbClr val="1F1F1F"/>
                          </a:solidFill>
                          <a:latin typeface="KoPubWorld돋움체 Bold"/>
                        </a:rPr>
                        <a:t>배당</a:t>
                      </a:r>
                    </a:p>
                  </a:txBody>
                  <a:tcPr marL="54864" marR="54864" marT="0" marB="0">
                    <a:solidFill>
                      <a:srgbClr val="DAE3F3"/>
                    </a:solidFill>
                  </a:tcPr>
                </a:tc>
                <a:tc>
                  <a:txBody>
                    <a:bodyPr/>
                    <a:lstStyle/>
                    <a:p>
                      <a:pPr algn="ctr"/>
                      <a:r>
                        <a:rPr sz="1000" b="0">
                          <a:solidFill>
                            <a:srgbClr val="1F1F1F"/>
                          </a:solidFill>
                          <a:latin typeface="KoPubWorld돋움체 Bold"/>
                        </a:rPr>
                        <a:t>매각차익 배분</a:t>
                      </a:r>
                    </a:p>
                  </a:txBody>
                  <a:tcPr marL="54864" marR="54864" marT="0" marB="0">
                    <a:solidFill>
                      <a:srgbClr val="DAE3F3"/>
                    </a:solidFill>
                  </a:tcPr>
                </a:tc>
                <a:tc>
                  <a:txBody>
                    <a:bodyPr/>
                    <a:lstStyle/>
                    <a:p>
                      <a:pPr algn="ctr"/>
                      <a:r>
                        <a:rPr sz="1000" b="0">
                          <a:solidFill>
                            <a:srgbClr val="1F1F1F"/>
                          </a:solidFill>
                          <a:latin typeface="KoPubWorld돋움체 Bold"/>
                        </a:rPr>
                        <a:t>투자자</a:t>
                      </a:r>
                    </a:p>
                  </a:txBody>
                  <a:tcPr marL="54864" marR="54864" marT="0" marB="0">
                    <a:solidFill>
                      <a:srgbClr val="DAE3F3"/>
                    </a:solidFill>
                  </a:tcPr>
                </a:tc>
              </a:tr>
              <a:tr h="310896">
                <a:tc>
                  <a:txBody>
                    <a:bodyPr/>
                    <a:lstStyle/>
                    <a:p>
                      <a:pPr algn="ctr"/>
                      <a:r>
                        <a:rPr sz="1000" b="0">
                          <a:solidFill>
                            <a:srgbClr val="1F1F1F"/>
                          </a:solidFill>
                          <a:latin typeface="KoPubWorld돋움체 Light"/>
                        </a:rPr>
                        <a:t>제1종 종류주식</a:t>
                      </a:r>
                    </a:p>
                  </a:txBody>
                  <a:tcPr marL="54864" marR="54864" marT="0" marB="0">
                    <a:solidFill>
                      <a:srgbClr val="FFFFFF"/>
                    </a:solidFill>
                  </a:tcPr>
                </a:tc>
                <a:tc>
                  <a:txBody>
                    <a:bodyPr/>
                    <a:lstStyle/>
                    <a:p>
                      <a:pPr algn="l"/>
                      <a:r>
                        <a:rPr sz="1000" b="0">
                          <a:solidFill>
                            <a:srgbClr val="1F1F1F"/>
                          </a:solidFill>
                          <a:latin typeface="KoPubWorld돋움체 Light"/>
                        </a:rPr>
                        <a:t>24,000</a:t>
                      </a:r>
                    </a:p>
                  </a:txBody>
                  <a:tcPr marL="54864" marR="54864" marT="0" marB="0">
                    <a:solidFill>
                      <a:srgbClr val="FFFFFF"/>
                    </a:solidFill>
                  </a:tcPr>
                </a:tc>
                <a:tc>
                  <a:txBody>
                    <a:bodyPr/>
                    <a:lstStyle/>
                    <a:p>
                      <a:pPr algn="l"/>
                      <a:r>
                        <a:rPr sz="1000" b="0">
                          <a:solidFill>
                            <a:srgbClr val="1F1F1F"/>
                          </a:solidFill>
                          <a:latin typeface="KoPubWorld돋움체 Light"/>
                        </a:rPr>
                        <a:t>24.3%</a:t>
                      </a:r>
                    </a:p>
                  </a:txBody>
                  <a:tcPr marL="54864" marR="54864" marT="0" marB="0">
                    <a:solidFill>
                      <a:srgbClr val="FFFFFF"/>
                    </a:solidFill>
                  </a:tcPr>
                </a:tc>
                <a:tc>
                  <a:txBody>
                    <a:bodyPr/>
                    <a:lstStyle/>
                    <a:p>
                      <a:pPr algn="l"/>
                      <a:r>
                        <a:rPr sz="1000" b="0">
                          <a:solidFill>
                            <a:srgbClr val="1F1F1F"/>
                          </a:solidFill>
                          <a:latin typeface="KoPubWorld돋움체 Light"/>
                        </a:rPr>
                        <a:t>누적확정 연 7.0%</a:t>
                      </a:r>
                    </a:p>
                  </a:txBody>
                  <a:tcPr marL="54864" marR="54864" marT="0" marB="0">
                    <a:solidFill>
                      <a:srgbClr val="FFFFFF"/>
                    </a:solidFill>
                  </a:tcPr>
                </a:tc>
                <a:tc>
                  <a:txBody>
                    <a:bodyPr/>
                    <a:lstStyle/>
                    <a:p>
                      <a:pPr algn="l"/>
                      <a:r>
                        <a:rPr sz="1000" b="0">
                          <a:solidFill>
                            <a:srgbClr val="1F1F1F"/>
                          </a:solidFill>
                          <a:latin typeface="KoPubWorld돋움체 Light"/>
                        </a:rPr>
                        <a:t>없음</a:t>
                      </a:r>
                    </a:p>
                  </a:txBody>
                  <a:tcPr marL="54864" marR="54864" marT="0" marB="0">
                    <a:solidFill>
                      <a:srgbClr val="FFFFFF"/>
                    </a:solidFill>
                  </a:tcPr>
                </a:tc>
                <a:tc>
                  <a:txBody>
                    <a:bodyPr/>
                    <a:lstStyle/>
                    <a:p>
                      <a:pPr algn="l"/>
                      <a:r>
                        <a:rPr sz="1000" b="0">
                          <a:solidFill>
                            <a:srgbClr val="1F1F1F"/>
                          </a:solidFill>
                          <a:latin typeface="KoPubWorld돋움체 Light"/>
                        </a:rPr>
                        <a:t>우리투자증권 (LOC 완료)</a:t>
                      </a:r>
                    </a:p>
                  </a:txBody>
                  <a:tcPr marL="54864" marR="54864" marT="0" marB="0">
                    <a:solidFill>
                      <a:srgbClr val="FFFFFF"/>
                    </a:solidFill>
                  </a:tcPr>
                </a:tc>
              </a:tr>
              <a:tr h="310896">
                <a:tc>
                  <a:txBody>
                    <a:bodyPr/>
                    <a:lstStyle/>
                    <a:p>
                      <a:pPr algn="ctr"/>
                      <a:r>
                        <a:rPr sz="1000" b="0">
                          <a:solidFill>
                            <a:srgbClr val="1F1F1F"/>
                          </a:solidFill>
                          <a:latin typeface="KoPubWorld돋움체 Light"/>
                        </a:rPr>
                        <a:t>제2종 종류주식</a:t>
                      </a:r>
                    </a:p>
                  </a:txBody>
                  <a:tcPr marL="54864" marR="54864" marT="0" marB="0">
                    <a:solidFill>
                      <a:srgbClr val="F2F2F2"/>
                    </a:solidFill>
                  </a:tcPr>
                </a:tc>
                <a:tc>
                  <a:txBody>
                    <a:bodyPr/>
                    <a:lstStyle/>
                    <a:p>
                      <a:pPr algn="l"/>
                      <a:r>
                        <a:rPr sz="1000" b="0">
                          <a:solidFill>
                            <a:srgbClr val="1F1F1F"/>
                          </a:solidFill>
                          <a:latin typeface="KoPubWorld돋움체 Light"/>
                        </a:rPr>
                        <a:t>50,000</a:t>
                      </a:r>
                    </a:p>
                  </a:txBody>
                  <a:tcPr marL="54864" marR="54864" marT="0" marB="0">
                    <a:solidFill>
                      <a:srgbClr val="F2F2F2"/>
                    </a:solidFill>
                  </a:tcPr>
                </a:tc>
                <a:tc>
                  <a:txBody>
                    <a:bodyPr/>
                    <a:lstStyle/>
                    <a:p>
                      <a:pPr algn="l"/>
                      <a:r>
                        <a:rPr sz="1000" b="0">
                          <a:solidFill>
                            <a:srgbClr val="1F1F1F"/>
                          </a:solidFill>
                          <a:latin typeface="KoPubWorld돋움체 Light"/>
                        </a:rPr>
                        <a:t>50.6%</a:t>
                      </a:r>
                    </a:p>
                  </a:txBody>
                  <a:tcPr marL="54864" marR="54864" marT="0" marB="0">
                    <a:solidFill>
                      <a:srgbClr val="F2F2F2"/>
                    </a:solidFill>
                  </a:tcPr>
                </a:tc>
                <a:tc>
                  <a:txBody>
                    <a:bodyPr/>
                    <a:lstStyle/>
                    <a:p>
                      <a:pPr algn="l"/>
                      <a:r>
                        <a:rPr sz="1000" b="0">
                          <a:solidFill>
                            <a:srgbClr val="1F1F1F"/>
                          </a:solidFill>
                          <a:latin typeface="KoPubWorld돋움체 Light"/>
                        </a:rPr>
                        <a:t>누적확정 연 7.5%</a:t>
                      </a:r>
                    </a:p>
                  </a:txBody>
                  <a:tcPr marL="54864" marR="54864" marT="0" marB="0">
                    <a:solidFill>
                      <a:srgbClr val="F2F2F2"/>
                    </a:solidFill>
                  </a:tcPr>
                </a:tc>
                <a:tc>
                  <a:txBody>
                    <a:bodyPr/>
                    <a:lstStyle/>
                    <a:p>
                      <a:pPr algn="l"/>
                      <a:r>
                        <a:rPr sz="1000" b="0">
                          <a:solidFill>
                            <a:srgbClr val="1F1F1F"/>
                          </a:solidFill>
                          <a:latin typeface="KoPubWorld돋움체 Light"/>
                        </a:rPr>
                        <a:t>20%</a:t>
                      </a:r>
                    </a:p>
                  </a:txBody>
                  <a:tcPr marL="54864" marR="54864" marT="0" marB="0">
                    <a:solidFill>
                      <a:srgbClr val="F2F2F2"/>
                    </a:solidFill>
                  </a:tcPr>
                </a:tc>
                <a:tc>
                  <a:txBody>
                    <a:bodyPr/>
                    <a:lstStyle/>
                    <a:p>
                      <a:pPr algn="l"/>
                      <a:r>
                        <a:rPr sz="1000" b="0">
                          <a:solidFill>
                            <a:srgbClr val="1F1F1F"/>
                          </a:solidFill>
                          <a:latin typeface="KoPubWorld돋움체 Light"/>
                        </a:rPr>
                        <a:t>삼성증권 (LOC 완료)</a:t>
                      </a:r>
                    </a:p>
                  </a:txBody>
                  <a:tcPr marL="54864" marR="54864" marT="0" marB="0">
                    <a:solidFill>
                      <a:srgbClr val="F2F2F2"/>
                    </a:solidFill>
                  </a:tcPr>
                </a:tc>
              </a:tr>
              <a:tr h="310896">
                <a:tc>
                  <a:txBody>
                    <a:bodyPr/>
                    <a:lstStyle/>
                    <a:p>
                      <a:pPr algn="ctr"/>
                      <a:r>
                        <a:rPr sz="1000" b="0">
                          <a:solidFill>
                            <a:srgbClr val="1F1F1F"/>
                          </a:solidFill>
                          <a:latin typeface="KoPubWorld돋움체 Light"/>
                        </a:rPr>
                        <a:t>제3종 종류주식</a:t>
                      </a:r>
                    </a:p>
                  </a:txBody>
                  <a:tcPr marL="54864" marR="54864" marT="0" marB="0">
                    <a:solidFill>
                      <a:srgbClr val="FFFFFF"/>
                    </a:solidFill>
                  </a:tcPr>
                </a:tc>
                <a:tc>
                  <a:txBody>
                    <a:bodyPr/>
                    <a:lstStyle/>
                    <a:p>
                      <a:pPr algn="l"/>
                      <a:r>
                        <a:rPr sz="1000" b="0">
                          <a:solidFill>
                            <a:srgbClr val="1F1F1F"/>
                          </a:solidFill>
                          <a:latin typeface="KoPubWorld돋움체 Light"/>
                        </a:rPr>
                        <a:t>10,000</a:t>
                      </a:r>
                    </a:p>
                  </a:txBody>
                  <a:tcPr marL="54864" marR="54864" marT="0" marB="0">
                    <a:solidFill>
                      <a:srgbClr val="FFFFFF"/>
                    </a:solidFill>
                  </a:tcPr>
                </a:tc>
                <a:tc>
                  <a:txBody>
                    <a:bodyPr/>
                    <a:lstStyle/>
                    <a:p>
                      <a:pPr algn="l"/>
                      <a:r>
                        <a:rPr sz="1000" b="0">
                          <a:solidFill>
                            <a:srgbClr val="1F1F1F"/>
                          </a:solidFill>
                          <a:latin typeface="KoPubWorld돋움체 Light"/>
                        </a:rPr>
                        <a:t>10.1%</a:t>
                      </a:r>
                    </a:p>
                  </a:txBody>
                  <a:tcPr marL="54864" marR="54864" marT="0" marB="0">
                    <a:solidFill>
                      <a:srgbClr val="FFFFFF"/>
                    </a:solidFill>
                  </a:tcPr>
                </a:tc>
                <a:tc>
                  <a:txBody>
                    <a:bodyPr/>
                    <a:lstStyle/>
                    <a:p>
                      <a:pPr algn="l"/>
                      <a:r>
                        <a:rPr sz="1000" b="0">
                          <a:solidFill>
                            <a:srgbClr val="1F1F1F"/>
                          </a:solidFill>
                          <a:latin typeface="KoPubWorld돋움체 Light"/>
                        </a:rPr>
                        <a:t>무배당·무의결권</a:t>
                      </a:r>
                    </a:p>
                  </a:txBody>
                  <a:tcPr marL="54864" marR="54864" marT="0" marB="0">
                    <a:solidFill>
                      <a:srgbClr val="FFFFFF"/>
                    </a:solidFill>
                  </a:tcPr>
                </a:tc>
                <a:tc>
                  <a:txBody>
                    <a:bodyPr/>
                    <a:lstStyle/>
                    <a:p>
                      <a:pPr algn="l"/>
                      <a:r>
                        <a:rPr sz="1000" b="0">
                          <a:solidFill>
                            <a:srgbClr val="1F1F1F"/>
                          </a:solidFill>
                          <a:latin typeface="KoPubWorld돋움체 Light"/>
                        </a:rPr>
                        <a:t>없음</a:t>
                      </a:r>
                    </a:p>
                  </a:txBody>
                  <a:tcPr marL="54864" marR="54864" marT="0" marB="0">
                    <a:solidFill>
                      <a:srgbClr val="FFFFFF"/>
                    </a:solidFill>
                  </a:tcPr>
                </a:tc>
                <a:tc>
                  <a:txBody>
                    <a:bodyPr/>
                    <a:lstStyle/>
                    <a:p>
                      <a:pPr algn="l"/>
                      <a:r>
                        <a:rPr sz="1000" b="0">
                          <a:solidFill>
                            <a:srgbClr val="1F1F1F"/>
                          </a:solidFill>
                          <a:latin typeface="KoPubWorld돋움체 Light"/>
                        </a:rPr>
                        <a:t>㈜엘에프 (매도인 재투자)</a:t>
                      </a:r>
                    </a:p>
                  </a:txBody>
                  <a:tcPr marL="54864" marR="54864" marT="0" marB="0">
                    <a:solidFill>
                      <a:srgbClr val="FFFFFF"/>
                    </a:solidFill>
                  </a:tcPr>
                </a:tc>
              </a:tr>
              <a:tr h="310896">
                <a:tc>
                  <a:txBody>
                    <a:bodyPr/>
                    <a:lstStyle/>
                    <a:p>
                      <a:pPr algn="ctr"/>
                      <a:r>
                        <a:rPr sz="1000" b="0">
                          <a:solidFill>
                            <a:srgbClr val="1F1F1F"/>
                          </a:solidFill>
                          <a:latin typeface="KoPubWorld돋움체 Light"/>
                        </a:rPr>
                        <a:t>보통주식</a:t>
                      </a:r>
                    </a:p>
                  </a:txBody>
                  <a:tcPr marL="54864" marR="54864" marT="0" marB="0">
                    <a:solidFill>
                      <a:srgbClr val="F2F2F2"/>
                    </a:solidFill>
                  </a:tcPr>
                </a:tc>
                <a:tc>
                  <a:txBody>
                    <a:bodyPr/>
                    <a:lstStyle/>
                    <a:p>
                      <a:pPr algn="l"/>
                      <a:r>
                        <a:rPr sz="1000" b="0">
                          <a:solidFill>
                            <a:srgbClr val="1F1F1F"/>
                          </a:solidFill>
                          <a:latin typeface="KoPubWorld돋움체 Light"/>
                        </a:rPr>
                        <a:t>14,800</a:t>
                      </a:r>
                    </a:p>
                  </a:txBody>
                  <a:tcPr marL="54864" marR="54864" marT="0" marB="0">
                    <a:solidFill>
                      <a:srgbClr val="F2F2F2"/>
                    </a:solidFill>
                  </a:tcPr>
                </a:tc>
                <a:tc>
                  <a:txBody>
                    <a:bodyPr/>
                    <a:lstStyle/>
                    <a:p>
                      <a:pPr algn="l"/>
                      <a:r>
                        <a:rPr sz="1000" b="0">
                          <a:solidFill>
                            <a:srgbClr val="1F1F1F"/>
                          </a:solidFill>
                          <a:latin typeface="KoPubWorld돋움체 Light"/>
                        </a:rPr>
                        <a:t>15.0%</a:t>
                      </a:r>
                    </a:p>
                  </a:txBody>
                  <a:tcPr marL="54864" marR="54864" marT="0" marB="0">
                    <a:solidFill>
                      <a:srgbClr val="F2F2F2"/>
                    </a:solidFill>
                  </a:tcPr>
                </a:tc>
                <a:tc>
                  <a:txBody>
                    <a:bodyPr/>
                    <a:lstStyle/>
                    <a:p>
                      <a:pPr algn="l"/>
                      <a:r>
                        <a:rPr sz="1000" b="0">
                          <a:solidFill>
                            <a:srgbClr val="1F1F1F"/>
                          </a:solidFill>
                          <a:latin typeface="KoPubWorld돋움체 Light"/>
                        </a:rPr>
                        <a:t>잔여배당 (초기 1년 7.5%)</a:t>
                      </a:r>
                    </a:p>
                  </a:txBody>
                  <a:tcPr marL="54864" marR="54864" marT="0" marB="0">
                    <a:solidFill>
                      <a:srgbClr val="F2F2F2"/>
                    </a:solidFill>
                  </a:tcPr>
                </a:tc>
                <a:tc>
                  <a:txBody>
                    <a:bodyPr/>
                    <a:lstStyle/>
                    <a:p>
                      <a:pPr algn="l"/>
                      <a:r>
                        <a:rPr sz="1000" b="0">
                          <a:solidFill>
                            <a:srgbClr val="1F1F1F"/>
                          </a:solidFill>
                          <a:latin typeface="KoPubWorld돋움체 Light"/>
                        </a:rPr>
                        <a:t>80%</a:t>
                      </a:r>
                    </a:p>
                  </a:txBody>
                  <a:tcPr marL="54864" marR="54864" marT="0" marB="0">
                    <a:solidFill>
                      <a:srgbClr val="F2F2F2"/>
                    </a:solidFill>
                  </a:tcPr>
                </a:tc>
                <a:tc>
                  <a:txBody>
                    <a:bodyPr/>
                    <a:lstStyle/>
                    <a:p>
                      <a:pPr algn="l"/>
                      <a:r>
                        <a:rPr sz="1000" b="0">
                          <a:solidFill>
                            <a:srgbClr val="1F1F1F"/>
                          </a:solidFill>
                          <a:latin typeface="KoPubWorld돋움체 Light"/>
                        </a:rPr>
                        <a:t>코람코라이프인프라리츠</a:t>
                      </a:r>
                    </a:p>
                  </a:txBody>
                  <a:tcPr marL="54864" marR="54864" marT="0" marB="0">
                    <a:solidFill>
                      <a:srgbClr val="F2F2F2"/>
                    </a:solidFill>
                  </a:tcPr>
                </a:tc>
              </a:tr>
              <a:tr h="310896">
                <a:tc>
                  <a:txBody>
                    <a:bodyPr/>
                    <a:lstStyle/>
                    <a:p>
                      <a:pPr algn="ctr"/>
                      <a:r>
                        <a:rPr sz="1000" b="0">
                          <a:solidFill>
                            <a:srgbClr val="1F1F1F"/>
                          </a:solidFill>
                          <a:latin typeface="KoPubWorld돋움체 Light"/>
                        </a:rPr>
                        <a:t>합 계</a:t>
                      </a:r>
                    </a:p>
                  </a:txBody>
                  <a:tcPr marL="54864" marR="54864" marT="0" marB="0">
                    <a:solidFill>
                      <a:srgbClr val="FFFFFF"/>
                    </a:solidFill>
                  </a:tcPr>
                </a:tc>
                <a:tc>
                  <a:txBody>
                    <a:bodyPr/>
                    <a:lstStyle/>
                    <a:p>
                      <a:pPr algn="l"/>
                      <a:r>
                        <a:rPr sz="1000" b="0">
                          <a:solidFill>
                            <a:srgbClr val="1F1F1F"/>
                          </a:solidFill>
                          <a:latin typeface="KoPubWorld돋움체 Light"/>
                        </a:rPr>
                        <a:t>98,800</a:t>
                      </a:r>
                    </a:p>
                  </a:txBody>
                  <a:tcPr marL="54864" marR="54864" marT="0" marB="0">
                    <a:solidFill>
                      <a:srgbClr val="FFFFFF"/>
                    </a:solidFill>
                  </a:tcPr>
                </a:tc>
                <a:tc>
                  <a:txBody>
                    <a:bodyPr/>
                    <a:lstStyle/>
                    <a:p>
                      <a:pPr algn="l"/>
                      <a:r>
                        <a:rPr sz="1000" b="0">
                          <a:solidFill>
                            <a:srgbClr val="1F1F1F"/>
                          </a:solidFill>
                          <a:latin typeface="KoPubWorld돋움체 Light"/>
                        </a:rPr>
                        <a:t>100.0%</a:t>
                      </a:r>
                    </a:p>
                  </a:txBody>
                  <a:tcPr marL="54864" marR="54864" marT="0" marB="0">
                    <a:solidFill>
                      <a:srgbClr val="FFFFFF"/>
                    </a:solidFill>
                  </a:tcPr>
                </a:tc>
                <a:tc>
                  <a:txBody>
                    <a:bodyPr/>
                    <a:lstStyle/>
                    <a:p>
                      <a:pPr algn="l"/>
                      <a:r>
                        <a:rPr sz="1000" b="0">
                          <a:solidFill>
                            <a:srgbClr val="1F1F1F"/>
                          </a:solidFill>
                          <a:latin typeface="KoPubWorld돋움체 Light"/>
                        </a:rPr>
                        <a:t>—</a:t>
                      </a:r>
                    </a:p>
                  </a:txBody>
                  <a:tcPr marL="54864" marR="54864" marT="0" marB="0">
                    <a:solidFill>
                      <a:srgbClr val="FFFFFF"/>
                    </a:solidFill>
                  </a:tcPr>
                </a:tc>
                <a:tc>
                  <a:txBody>
                    <a:bodyPr/>
                    <a:lstStyle/>
                    <a:p>
                      <a:pPr algn="l"/>
                      <a:r>
                        <a:rPr sz="1000" b="0">
                          <a:solidFill>
                            <a:srgbClr val="1F1F1F"/>
                          </a:solidFill>
                          <a:latin typeface="KoPubWorld돋움체 Light"/>
                        </a:rPr>
                        <a:t>100%</a:t>
                      </a:r>
                    </a:p>
                  </a:txBody>
                  <a:tcPr marL="54864" marR="54864" marT="0" marB="0">
                    <a:solidFill>
                      <a:srgbClr val="FFFFFF"/>
                    </a:solidFill>
                  </a:tcPr>
                </a:tc>
                <a:tc>
                  <a:txBody>
                    <a:bodyPr/>
                    <a:lstStyle/>
                    <a:p>
                      <a:pPr algn="l"/>
                      <a:r>
                        <a:rPr sz="1000" b="0">
                          <a:solidFill>
                            <a:srgbClr val="1F1F1F"/>
                          </a:solidFill>
                          <a:latin typeface="KoPubWorld돋움체 Light"/>
                        </a:rPr>
                        <a:t>—</a:t>
                      </a:r>
                    </a:p>
                  </a:txBody>
                  <a:tcPr marL="54864" marR="54864" marT="0" marB="0">
                    <a:solidFill>
                      <a:srgbClr val="FFFFFF"/>
                    </a:solidFill>
                  </a:tcPr>
                </a:tc>
              </a:tr>
            </a:tbl>
          </a:graphicData>
        </a:graphic>
      </p:graphicFrame>
      <p:sp>
        <p:nvSpPr>
          <p:cNvPr id="6" name="Rectangle 5"/>
          <p:cNvSpPr/>
          <p:nvPr/>
        </p:nvSpPr>
        <p:spPr>
          <a:xfrm>
            <a:off x="457200" y="4572000"/>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자본거래 구조</a:t>
            </a:r>
          </a:p>
        </p:txBody>
      </p:sp>
      <p:sp>
        <p:nvSpPr>
          <p:cNvPr id="7" name="TextBox 6"/>
          <p:cNvSpPr txBox="1"/>
          <p:nvPr/>
        </p:nvSpPr>
        <p:spPr>
          <a:xfrm>
            <a:off x="521207" y="4946904"/>
            <a:ext cx="9784080" cy="822959"/>
          </a:xfrm>
          <a:prstGeom prst="rect">
            <a:avLst/>
          </a:prstGeom>
          <a:noFill/>
        </p:spPr>
        <p:txBody>
          <a:bodyPr wrap="square" lIns="0" rIns="0" tIns="0" bIns="0">
            <a:spAutoFit/>
          </a:bodyPr>
          <a:lstStyle/>
          <a:p>
            <a:pPr>
              <a:spcAft>
                <a:spcPts val="600"/>
              </a:spcAft>
            </a:pPr>
            <a:r>
              <a:rPr sz="1000" b="0">
                <a:solidFill>
                  <a:srgbClr val="1F1F1F"/>
                </a:solidFill>
                <a:latin typeface="KoPubWorld돋움체 Light"/>
              </a:rPr>
              <a:t>• 유상증자: 매매계약상 거래종결일의 2영업일 전까지 이사회 결의, 주주별 납입예정일 15:00까지 출자금 납입 완료 (제2.1~2.2조)</a:t>
            </a:r>
          </a:p>
          <a:p>
            <a:pPr>
              <a:spcAft>
                <a:spcPts val="600"/>
              </a:spcAft>
            </a:pPr>
            <a:r>
              <a:rPr sz="1000" b="0">
                <a:solidFill>
                  <a:srgbClr val="1F1F1F"/>
                </a:solidFill>
                <a:latin typeface="KoPubWorld돋움체 Light"/>
              </a:rPr>
              <a:t>• 유상감자: 증자 완료 후 발기인(KLI리츠)이 취득한 보통주식 300,000주 전부를 감자비율 100%(1주당 1,000원)로 유상감자 (제2.3조)</a:t>
            </a:r>
          </a:p>
          <a:p>
            <a:pPr>
              <a:spcAft>
                <a:spcPts val="600"/>
              </a:spcAft>
            </a:pPr>
            <a:r>
              <a:rPr sz="1000" b="0">
                <a:solidFill>
                  <a:srgbClr val="1F1F1F"/>
                </a:solidFill>
                <a:latin typeface="KoPubWorld돋움체 Light"/>
              </a:rPr>
              <a:t>• 제3종 종류주식: 발행일로부터 24개월 내 유상감자로 소각하고 엘에프에 발행가액 기준 감자대금 지급, 채권자보호절차 지연 시 최대 3개월 연장 (제5조)</a:t>
            </a:r>
          </a:p>
        </p:txBody>
      </p:sp>
      <p:sp>
        <p:nvSpPr>
          <p:cNvPr id="8" name="TextBox 7"/>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주주간계약서 v22(clean) 제1.2조·제2조·제5조 / 00_원본자료/processed/20260916_핵심지표_IM기준_v01.md §5. 종류주식 셀다운 예정으로 계약서상 인수 주식수 표는 지분 구성 확정 후 보충 예정 [협의 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안건 Ⅱ. 주주간계약 체결의 건 (2) 매입확약 · 지배구조</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KLI리츠가 제2종을 12개월, 제1종을 24개월 내 전부 매입하여 자리츠로 편입하는 구조임</a:t>
            </a:r>
          </a:p>
          <a:p>
            <a:r>
              <a:rPr sz="1200" b="0">
                <a:solidFill>
                  <a:srgbClr val="404040"/>
                </a:solidFill>
                <a:latin typeface="KoPubWorld돋움체 Light"/>
              </a:rPr>
              <a:t>• 이사회 3인 중 2인과 대표이사를 KLI리츠가 지명하여 운용 의사결정권을 확보</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주요 조항</a:t>
            </a:r>
          </a:p>
        </p:txBody>
      </p:sp>
      <p:graphicFrame>
        <p:nvGraphicFramePr>
          <p:cNvPr id="5" name="Table 4"/>
          <p:cNvGraphicFramePr>
            <a:graphicFrameLocks noGrp="1"/>
          </p:cNvGraphicFramePr>
          <p:nvPr/>
        </p:nvGraphicFramePr>
        <p:xfrm>
          <a:off x="521207" y="2359152"/>
          <a:ext cx="9784080" cy="4114800"/>
        </p:xfrm>
        <a:graphic>
          <a:graphicData uri="http://schemas.openxmlformats.org/drawingml/2006/table">
            <a:tbl>
              <a:tblPr firstRow="1" bandRow="1">
                <a:tableStyleId>{5C22544A-7EE6-4342-B048-85BDC9FD1C3A}</a:tableStyleId>
              </a:tblPr>
              <a:tblGrid>
                <a:gridCol w="1737360"/>
                <a:gridCol w="6035040"/>
                <a:gridCol w="2011680"/>
              </a:tblGrid>
              <a:tr h="457200">
                <a:tc>
                  <a:txBody>
                    <a:bodyPr/>
                    <a:lstStyle/>
                    <a:p>
                      <a:pPr algn="ctr"/>
                      <a:r>
                        <a:rPr sz="900" b="0">
                          <a:solidFill>
                            <a:srgbClr val="1F1F1F"/>
                          </a:solidFill>
                          <a:latin typeface="KoPubWorld돋움체 Bold"/>
                        </a:rPr>
                        <a:t>구 분</a:t>
                      </a:r>
                    </a:p>
                  </a:txBody>
                  <a:tcPr marL="54864" marR="54864" marT="0" marB="0">
                    <a:solidFill>
                      <a:srgbClr val="DAE3F3"/>
                    </a:solidFill>
                  </a:tcPr>
                </a:tc>
                <a:tc>
                  <a:txBody>
                    <a:bodyPr/>
                    <a:lstStyle/>
                    <a:p>
                      <a:pPr algn="ctr"/>
                      <a:r>
                        <a:rPr sz="900" b="0">
                          <a:solidFill>
                            <a:srgbClr val="1F1F1F"/>
                          </a:solidFill>
                          <a:latin typeface="KoPubWorld돋움체 Bold"/>
                        </a:rPr>
                        <a:t>내 용</a:t>
                      </a:r>
                    </a:p>
                  </a:txBody>
                  <a:tcPr marL="54864" marR="54864" marT="0" marB="0">
                    <a:solidFill>
                      <a:srgbClr val="DAE3F3"/>
                    </a:solidFill>
                  </a:tcPr>
                </a:tc>
                <a:tc>
                  <a:txBody>
                    <a:bodyPr/>
                    <a:lstStyle/>
                    <a:p>
                      <a:pPr algn="ctr"/>
                      <a:r>
                        <a:rPr sz="900" b="0">
                          <a:solidFill>
                            <a:srgbClr val="1F1F1F"/>
                          </a:solidFill>
                          <a:latin typeface="KoPubWorld돋움체 Bold"/>
                        </a:rPr>
                        <a:t>조 항</a:t>
                      </a:r>
                    </a:p>
                  </a:txBody>
                  <a:tcPr marL="54864" marR="54864" marT="0" marB="0">
                    <a:solidFill>
                      <a:srgbClr val="DAE3F3"/>
                    </a:solidFill>
                  </a:tcPr>
                </a:tc>
              </a:tr>
              <a:tr h="457200">
                <a:tc>
                  <a:txBody>
                    <a:bodyPr/>
                    <a:lstStyle/>
                    <a:p>
                      <a:pPr algn="ctr"/>
                      <a:r>
                        <a:rPr sz="900" b="0">
                          <a:solidFill>
                            <a:srgbClr val="1F1F1F"/>
                          </a:solidFill>
                          <a:latin typeface="KoPubWorld돋움체 Light"/>
                        </a:rPr>
                        <a:t>제1종 매입확약</a:t>
                      </a:r>
                    </a:p>
                  </a:txBody>
                  <a:tcPr marL="54864" marR="54864" marT="0" marB="0">
                    <a:solidFill>
                      <a:srgbClr val="FFFFFF"/>
                    </a:solidFill>
                  </a:tcPr>
                </a:tc>
                <a:tc>
                  <a:txBody>
                    <a:bodyPr/>
                    <a:lstStyle/>
                    <a:p>
                      <a:pPr algn="l"/>
                      <a:r>
                        <a:rPr sz="900" b="0">
                          <a:solidFill>
                            <a:srgbClr val="1F1F1F"/>
                          </a:solidFill>
                          <a:latin typeface="KoPubWorld돋움체 Light"/>
                        </a:rPr>
                        <a:t>발행일로부터 24개월 응당일까지 제1종 전부를 발행가액으로 매입, 분할 매입 시 보유 주식수 비례</a:t>
                      </a:r>
                    </a:p>
                  </a:txBody>
                  <a:tcPr marL="54864" marR="54864" marT="0" marB="0">
                    <a:solidFill>
                      <a:srgbClr val="FFFFFF"/>
                    </a:solidFill>
                  </a:tcPr>
                </a:tc>
                <a:tc>
                  <a:txBody>
                    <a:bodyPr/>
                    <a:lstStyle/>
                    <a:p>
                      <a:pPr algn="l"/>
                      <a:r>
                        <a:rPr sz="900" b="0">
                          <a:solidFill>
                            <a:srgbClr val="1F1F1F"/>
                          </a:solidFill>
                          <a:latin typeface="KoPubWorld돋움체 Light"/>
                        </a:rPr>
                        <a:t>제3.1~3.2조</a:t>
                      </a:r>
                    </a:p>
                  </a:txBody>
                  <a:tcPr marL="54864" marR="54864" marT="0" marB="0">
                    <a:solidFill>
                      <a:srgbClr val="FFFFFF"/>
                    </a:solidFill>
                  </a:tcPr>
                </a:tc>
              </a:tr>
              <a:tr h="457200">
                <a:tc>
                  <a:txBody>
                    <a:bodyPr/>
                    <a:lstStyle/>
                    <a:p>
                      <a:pPr algn="ctr"/>
                      <a:r>
                        <a:rPr sz="900" b="0">
                          <a:solidFill>
                            <a:srgbClr val="1F1F1F"/>
                          </a:solidFill>
                          <a:latin typeface="KoPubWorld돋움체 Light"/>
                        </a:rPr>
                        <a:t>제2종 매입확약</a:t>
                      </a:r>
                    </a:p>
                  </a:txBody>
                  <a:tcPr marL="54864" marR="54864" marT="0" marB="0">
                    <a:solidFill>
                      <a:srgbClr val="F2F2F2"/>
                    </a:solidFill>
                  </a:tcPr>
                </a:tc>
                <a:tc>
                  <a:txBody>
                    <a:bodyPr/>
                    <a:lstStyle/>
                    <a:p>
                      <a:pPr algn="l"/>
                      <a:r>
                        <a:rPr sz="900" b="0">
                          <a:solidFill>
                            <a:srgbClr val="1F1F1F"/>
                          </a:solidFill>
                          <a:latin typeface="KoPubWorld돋움체 Light"/>
                        </a:rPr>
                        <a:t>발행일로부터 12개월 응당일까지 제2종 전부를 발행가액으로 매입</a:t>
                      </a:r>
                    </a:p>
                  </a:txBody>
                  <a:tcPr marL="54864" marR="54864" marT="0" marB="0">
                    <a:solidFill>
                      <a:srgbClr val="F2F2F2"/>
                    </a:solidFill>
                  </a:tcPr>
                </a:tc>
                <a:tc>
                  <a:txBody>
                    <a:bodyPr/>
                    <a:lstStyle/>
                    <a:p>
                      <a:pPr algn="l"/>
                      <a:r>
                        <a:rPr sz="900" b="0">
                          <a:solidFill>
                            <a:srgbClr val="1F1F1F"/>
                          </a:solidFill>
                          <a:latin typeface="KoPubWorld돋움체 Light"/>
                        </a:rPr>
                        <a:t>제4.1~4.2조</a:t>
                      </a:r>
                    </a:p>
                  </a:txBody>
                  <a:tcPr marL="54864" marR="54864" marT="0" marB="0">
                    <a:solidFill>
                      <a:srgbClr val="F2F2F2"/>
                    </a:solidFill>
                  </a:tcPr>
                </a:tc>
              </a:tr>
              <a:tr h="457200">
                <a:tc>
                  <a:txBody>
                    <a:bodyPr/>
                    <a:lstStyle/>
                    <a:p>
                      <a:pPr algn="ctr"/>
                      <a:r>
                        <a:rPr sz="900" b="0">
                          <a:solidFill>
                            <a:srgbClr val="1F1F1F"/>
                          </a:solidFill>
                          <a:latin typeface="KoPubWorld돋움체 Light"/>
                        </a:rPr>
                        <a:t>매입 방식</a:t>
                      </a:r>
                    </a:p>
                  </a:txBody>
                  <a:tcPr marL="54864" marR="54864" marT="0" marB="0">
                    <a:solidFill>
                      <a:srgbClr val="FFFFFF"/>
                    </a:solidFill>
                  </a:tcPr>
                </a:tc>
                <a:tc>
                  <a:txBody>
                    <a:bodyPr/>
                    <a:lstStyle/>
                    <a:p>
                      <a:pPr algn="l"/>
                      <a:r>
                        <a:rPr sz="900" b="0">
                          <a:solidFill>
                            <a:srgbClr val="1F1F1F"/>
                          </a:solidFill>
                          <a:latin typeface="KoPubWorld돋움체 Light"/>
                        </a:rPr>
                        <a:t>직접 양수, 또는 유상감자·유상증자 참여 등 동일한 경제적 효과를 달성하는 거래 포함</a:t>
                      </a:r>
                    </a:p>
                  </a:txBody>
                  <a:tcPr marL="54864" marR="54864" marT="0" marB="0">
                    <a:solidFill>
                      <a:srgbClr val="FFFFFF"/>
                    </a:solidFill>
                  </a:tcPr>
                </a:tc>
                <a:tc>
                  <a:txBody>
                    <a:bodyPr/>
                    <a:lstStyle/>
                    <a:p>
                      <a:pPr algn="l"/>
                      <a:r>
                        <a:rPr sz="900" b="0">
                          <a:solidFill>
                            <a:srgbClr val="1F1F1F"/>
                          </a:solidFill>
                          <a:latin typeface="KoPubWorld돋움체 Light"/>
                        </a:rPr>
                        <a:t>제3.2조·제4.2조</a:t>
                      </a:r>
                    </a:p>
                  </a:txBody>
                  <a:tcPr marL="54864" marR="54864" marT="0" marB="0">
                    <a:solidFill>
                      <a:srgbClr val="FFFFFF"/>
                    </a:solidFill>
                  </a:tcPr>
                </a:tc>
              </a:tr>
              <a:tr h="457200">
                <a:tc>
                  <a:txBody>
                    <a:bodyPr/>
                    <a:lstStyle/>
                    <a:p>
                      <a:pPr algn="ctr"/>
                      <a:r>
                        <a:rPr sz="900" b="0">
                          <a:solidFill>
                            <a:srgbClr val="1F1F1F"/>
                          </a:solidFill>
                          <a:latin typeface="KoPubWorld돋움체 Light"/>
                        </a:rPr>
                        <a:t>배당금 정산</a:t>
                      </a:r>
                    </a:p>
                  </a:txBody>
                  <a:tcPr marL="54864" marR="54864" marT="0" marB="0">
                    <a:solidFill>
                      <a:srgbClr val="F2F2F2"/>
                    </a:solidFill>
                  </a:tcPr>
                </a:tc>
                <a:tc>
                  <a:txBody>
                    <a:bodyPr/>
                    <a:lstStyle/>
                    <a:p>
                      <a:pPr algn="l"/>
                      <a:r>
                        <a:rPr sz="900" b="0">
                          <a:solidFill>
                            <a:srgbClr val="1F1F1F"/>
                          </a:solidFill>
                          <a:latin typeface="KoPubWorld돋움체 Light"/>
                        </a:rPr>
                        <a:t>매입완료일 직전일까지 누적배당률 기준 최대한도액에서 기수령 배당을 공제한 금액을 매입금액과 함께 정산</a:t>
                      </a:r>
                    </a:p>
                  </a:txBody>
                  <a:tcPr marL="54864" marR="54864" marT="0" marB="0">
                    <a:solidFill>
                      <a:srgbClr val="F2F2F2"/>
                    </a:solidFill>
                  </a:tcPr>
                </a:tc>
                <a:tc>
                  <a:txBody>
                    <a:bodyPr/>
                    <a:lstStyle/>
                    <a:p>
                      <a:pPr algn="l"/>
                      <a:r>
                        <a:rPr sz="900" b="0">
                          <a:solidFill>
                            <a:srgbClr val="1F1F1F"/>
                          </a:solidFill>
                          <a:latin typeface="KoPubWorld돋움체 Light"/>
                        </a:rPr>
                        <a:t>제3.3~3.4조·제4.3~4.4조</a:t>
                      </a:r>
                    </a:p>
                  </a:txBody>
                  <a:tcPr marL="54864" marR="54864" marT="0" marB="0">
                    <a:solidFill>
                      <a:srgbClr val="F2F2F2"/>
                    </a:solidFill>
                  </a:tcPr>
                </a:tc>
              </a:tr>
              <a:tr h="457200">
                <a:tc>
                  <a:txBody>
                    <a:bodyPr/>
                    <a:lstStyle/>
                    <a:p>
                      <a:pPr algn="ctr"/>
                      <a:r>
                        <a:rPr sz="900" b="0">
                          <a:solidFill>
                            <a:srgbClr val="1F1F1F"/>
                          </a:solidFill>
                          <a:latin typeface="KoPubWorld돋움체 Light"/>
                        </a:rPr>
                        <a:t>확약서 제출</a:t>
                      </a:r>
                    </a:p>
                  </a:txBody>
                  <a:tcPr marL="54864" marR="54864" marT="0" marB="0">
                    <a:solidFill>
                      <a:srgbClr val="FFFFFF"/>
                    </a:solidFill>
                  </a:tcPr>
                </a:tc>
                <a:tc>
                  <a:txBody>
                    <a:bodyPr/>
                    <a:lstStyle/>
                    <a:p>
                      <a:pPr algn="l"/>
                      <a:r>
                        <a:rPr sz="900" b="0">
                          <a:solidFill>
                            <a:srgbClr val="1F1F1F"/>
                          </a:solidFill>
                          <a:latin typeface="KoPubWorld돋움체 Light"/>
                        </a:rPr>
                        <a:t>KLI리츠는 계약 체결일에 매입확약서를, 종류주주는 동일 조건의 매도확약서를 제출</a:t>
                      </a:r>
                    </a:p>
                  </a:txBody>
                  <a:tcPr marL="54864" marR="54864" marT="0" marB="0">
                    <a:solidFill>
                      <a:srgbClr val="FFFFFF"/>
                    </a:solidFill>
                  </a:tcPr>
                </a:tc>
                <a:tc>
                  <a:txBody>
                    <a:bodyPr/>
                    <a:lstStyle/>
                    <a:p>
                      <a:pPr algn="l"/>
                      <a:r>
                        <a:rPr sz="900" b="0">
                          <a:solidFill>
                            <a:srgbClr val="1F1F1F"/>
                          </a:solidFill>
                          <a:latin typeface="KoPubWorld돋움체 Light"/>
                        </a:rPr>
                        <a:t>제3.5조·제4.5조</a:t>
                      </a:r>
                    </a:p>
                  </a:txBody>
                  <a:tcPr marL="54864" marR="54864" marT="0" marB="0">
                    <a:solidFill>
                      <a:srgbClr val="FFFFFF"/>
                    </a:solidFill>
                  </a:tcPr>
                </a:tc>
              </a:tr>
              <a:tr h="457200">
                <a:tc>
                  <a:txBody>
                    <a:bodyPr/>
                    <a:lstStyle/>
                    <a:p>
                      <a:pPr algn="ctr"/>
                      <a:r>
                        <a:rPr sz="900" b="0">
                          <a:solidFill>
                            <a:srgbClr val="1F1F1F"/>
                          </a:solidFill>
                          <a:latin typeface="KoPubWorld돋움체 Light"/>
                        </a:rPr>
                        <a:t>이사회·대표이사</a:t>
                      </a:r>
                    </a:p>
                  </a:txBody>
                  <a:tcPr marL="54864" marR="54864" marT="0" marB="0">
                    <a:solidFill>
                      <a:srgbClr val="F2F2F2"/>
                    </a:solidFill>
                  </a:tcPr>
                </a:tc>
                <a:tc>
                  <a:txBody>
                    <a:bodyPr/>
                    <a:lstStyle/>
                    <a:p>
                      <a:pPr algn="l"/>
                      <a:r>
                        <a:rPr sz="900" b="0">
                          <a:solidFill>
                            <a:srgbClr val="1F1F1F"/>
                          </a:solidFill>
                          <a:latin typeface="KoPubWorld돋움체 Light"/>
                        </a:rPr>
                        <a:t>이사 3인 중 2인 및 대표이사를 KLI리츠가 지명, 나머지 1인·감사는 주주총회 선임</a:t>
                      </a:r>
                    </a:p>
                  </a:txBody>
                  <a:tcPr marL="54864" marR="54864" marT="0" marB="0">
                    <a:solidFill>
                      <a:srgbClr val="F2F2F2"/>
                    </a:solidFill>
                  </a:tcPr>
                </a:tc>
                <a:tc>
                  <a:txBody>
                    <a:bodyPr/>
                    <a:lstStyle/>
                    <a:p>
                      <a:pPr algn="l"/>
                      <a:r>
                        <a:rPr sz="900" b="0">
                          <a:solidFill>
                            <a:srgbClr val="1F1F1F"/>
                          </a:solidFill>
                          <a:latin typeface="KoPubWorld돋움체 Light"/>
                        </a:rPr>
                        <a:t>제6.1조</a:t>
                      </a:r>
                    </a:p>
                  </a:txBody>
                  <a:tcPr marL="54864" marR="54864" marT="0" marB="0">
                    <a:solidFill>
                      <a:srgbClr val="F2F2F2"/>
                    </a:solidFill>
                  </a:tcPr>
                </a:tc>
              </a:tr>
              <a:tr h="457200">
                <a:tc>
                  <a:txBody>
                    <a:bodyPr/>
                    <a:lstStyle/>
                    <a:p>
                      <a:pPr algn="ctr"/>
                      <a:r>
                        <a:rPr sz="900" b="0">
                          <a:solidFill>
                            <a:srgbClr val="1F1F1F"/>
                          </a:solidFill>
                          <a:latin typeface="KoPubWorld돋움체 Light"/>
                        </a:rPr>
                        <a:t>양도 제한</a:t>
                      </a:r>
                    </a:p>
                  </a:txBody>
                  <a:tcPr marL="54864" marR="54864" marT="0" marB="0">
                    <a:solidFill>
                      <a:srgbClr val="FFFFFF"/>
                    </a:solidFill>
                  </a:tcPr>
                </a:tc>
                <a:tc>
                  <a:txBody>
                    <a:bodyPr/>
                    <a:lstStyle/>
                    <a:p>
                      <a:pPr algn="l"/>
                      <a:r>
                        <a:rPr sz="900" b="0">
                          <a:solidFill>
                            <a:srgbClr val="1F1F1F"/>
                          </a:solidFill>
                          <a:latin typeface="KoPubWorld돋움체 Light"/>
                        </a:rPr>
                        <a:t>주주 전원 서면동의 없이 양도·담보제공 금지, 정관에 이사회 승인 명시</a:t>
                      </a:r>
                    </a:p>
                  </a:txBody>
                  <a:tcPr marL="54864" marR="54864" marT="0" marB="0">
                    <a:solidFill>
                      <a:srgbClr val="FFFFFF"/>
                    </a:solidFill>
                  </a:tcPr>
                </a:tc>
                <a:tc>
                  <a:txBody>
                    <a:bodyPr/>
                    <a:lstStyle/>
                    <a:p>
                      <a:pPr algn="l"/>
                      <a:r>
                        <a:rPr sz="900" b="0">
                          <a:solidFill>
                            <a:srgbClr val="1F1F1F"/>
                          </a:solidFill>
                          <a:latin typeface="KoPubWorld돋움체 Light"/>
                        </a:rPr>
                        <a:t>제7.1조</a:t>
                      </a:r>
                    </a:p>
                  </a:txBody>
                  <a:tcPr marL="54864" marR="54864" marT="0" marB="0">
                    <a:solidFill>
                      <a:srgbClr val="FFFFFF"/>
                    </a:solidFill>
                  </a:tcPr>
                </a:tc>
              </a:tr>
              <a:tr h="457200">
                <a:tc>
                  <a:txBody>
                    <a:bodyPr/>
                    <a:lstStyle/>
                    <a:p>
                      <a:pPr algn="ctr"/>
                      <a:r>
                        <a:rPr sz="900" b="0">
                          <a:solidFill>
                            <a:srgbClr val="1F1F1F"/>
                          </a:solidFill>
                          <a:latin typeface="KoPubWorld돋움체 Light"/>
                        </a:rPr>
                        <a:t>셀다운 허용</a:t>
                      </a:r>
                    </a:p>
                  </a:txBody>
                  <a:tcPr marL="54864" marR="54864" marT="0" marB="0">
                    <a:solidFill>
                      <a:srgbClr val="F2F2F2"/>
                    </a:solidFill>
                  </a:tcPr>
                </a:tc>
                <a:tc>
                  <a:txBody>
                    <a:bodyPr/>
                    <a:lstStyle/>
                    <a:p>
                      <a:pPr algn="l"/>
                      <a:r>
                        <a:rPr sz="900" b="0">
                          <a:solidFill>
                            <a:srgbClr val="1F1F1F"/>
                          </a:solidFill>
                          <a:latin typeface="KoPubWorld돋움체 Light"/>
                        </a:rPr>
                        <a:t>인수인(우리투자증권·삼성증권)의 최초 셀다운은 KLI 동의 면제, 이후 셀다운·후속양도는 KLI 사전 서면동의 필요</a:t>
                      </a:r>
                    </a:p>
                  </a:txBody>
                  <a:tcPr marL="54864" marR="54864" marT="0" marB="0">
                    <a:solidFill>
                      <a:srgbClr val="F2F2F2"/>
                    </a:solidFill>
                  </a:tcPr>
                </a:tc>
                <a:tc>
                  <a:txBody>
                    <a:bodyPr/>
                    <a:lstStyle/>
                    <a:p>
                      <a:pPr algn="l"/>
                      <a:r>
                        <a:rPr sz="900" b="0">
                          <a:solidFill>
                            <a:srgbClr val="1F1F1F"/>
                          </a:solidFill>
                          <a:latin typeface="KoPubWorld돋움체 Light"/>
                        </a:rPr>
                        <a:t>제7.6조</a:t>
                      </a:r>
                    </a:p>
                  </a:txBody>
                  <a:tcPr marL="54864" marR="54864" marT="0" marB="0">
                    <a:solidFill>
                      <a:srgbClr val="F2F2F2"/>
                    </a:solidFill>
                  </a:tcPr>
                </a:tc>
              </a:tr>
            </a:tbl>
          </a:graphicData>
        </a:graphic>
      </p:graphicFrame>
      <p:sp>
        <p:nvSpPr>
          <p:cNvPr id="6" name="TextBox 5"/>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주주간계약서 v22(clean) 제3~7조. 이사 수·지명권자 등 일부 조항은 계약서상 대괄호 표기로 협의 중. 본 검토는 내부 검토이며 최종 법률자문은 외부 법무법인 확인이 필요함.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안건 Ⅲ. KLI리츠 매입확약서(LOC) 날인의 건</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주주간계약 체결일에 제1종·제2종 종류주주에게 매입확약서를 제출하는 건임</a:t>
            </a:r>
          </a:p>
          <a:p>
            <a:r>
              <a:rPr sz="1200" b="0">
                <a:solidFill>
                  <a:srgbClr val="404040"/>
                </a:solidFill>
                <a:latin typeface="KoPubWorld돋움체 Light"/>
              </a:rPr>
              <a:t>• 선행조건 충족을 전제로 효력이 발생하며, 미이행 시 연 5.0% 지연손해금과 매입의무가 함께 존속</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매입확약서 주요 내용</a:t>
            </a:r>
          </a:p>
        </p:txBody>
      </p:sp>
      <p:graphicFrame>
        <p:nvGraphicFramePr>
          <p:cNvPr id="5" name="Table 4"/>
          <p:cNvGraphicFramePr>
            <a:graphicFrameLocks noGrp="1"/>
          </p:cNvGraphicFramePr>
          <p:nvPr/>
        </p:nvGraphicFramePr>
        <p:xfrm>
          <a:off x="521207" y="2359152"/>
          <a:ext cx="9784080" cy="2176272"/>
        </p:xfrm>
        <a:graphic>
          <a:graphicData uri="http://schemas.openxmlformats.org/drawingml/2006/table">
            <a:tbl>
              <a:tblPr firstRow="1" bandRow="1">
                <a:tableStyleId>{5C22544A-7EE6-4342-B048-85BDC9FD1C3A}</a:tableStyleId>
              </a:tblPr>
              <a:tblGrid>
                <a:gridCol w="2103120"/>
                <a:gridCol w="3840480"/>
                <a:gridCol w="3840480"/>
              </a:tblGrid>
              <a:tr h="310896">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제1종 종류주식</a:t>
                      </a:r>
                    </a:p>
                  </a:txBody>
                  <a:tcPr marL="54864" marR="54864" marT="0" marB="0">
                    <a:solidFill>
                      <a:srgbClr val="DAE3F3"/>
                    </a:solidFill>
                  </a:tcPr>
                </a:tc>
                <a:tc>
                  <a:txBody>
                    <a:bodyPr/>
                    <a:lstStyle/>
                    <a:p>
                      <a:pPr algn="ctr"/>
                      <a:r>
                        <a:rPr sz="1000" b="0">
                          <a:solidFill>
                            <a:srgbClr val="1F1F1F"/>
                          </a:solidFill>
                          <a:latin typeface="KoPubWorld돋움체 Bold"/>
                        </a:rPr>
                        <a:t>제2종 종류주식</a:t>
                      </a:r>
                    </a:p>
                  </a:txBody>
                  <a:tcPr marL="54864" marR="54864" marT="0" marB="0">
                    <a:solidFill>
                      <a:srgbClr val="DAE3F3"/>
                    </a:solidFill>
                  </a:tcPr>
                </a:tc>
              </a:tr>
              <a:tr h="310896">
                <a:tc>
                  <a:txBody>
                    <a:bodyPr/>
                    <a:lstStyle/>
                    <a:p>
                      <a:pPr algn="ctr"/>
                      <a:r>
                        <a:rPr sz="1000" b="0">
                          <a:solidFill>
                            <a:srgbClr val="1F1F1F"/>
                          </a:solidFill>
                          <a:latin typeface="KoPubWorld돋움체 Light"/>
                        </a:rPr>
                        <a:t>확약 주체</a:t>
                      </a:r>
                    </a:p>
                  </a:txBody>
                  <a:tcPr marL="54864" marR="54864" marT="0" marB="0">
                    <a:solidFill>
                      <a:srgbClr val="FFFFFF"/>
                    </a:solidFill>
                  </a:tcPr>
                </a:tc>
                <a:tc>
                  <a:txBody>
                    <a:bodyPr/>
                    <a:lstStyle/>
                    <a:p>
                      <a:pPr algn="l"/>
                      <a:r>
                        <a:rPr sz="1000" b="0">
                          <a:solidFill>
                            <a:srgbClr val="1F1F1F"/>
                          </a:solidFill>
                          <a:latin typeface="KoPubWorld돋움체 Light"/>
                        </a:rPr>
                        <a:t>㈜코람코라이프인프라위탁관리부동산투자회사</a:t>
                      </a:r>
                    </a:p>
                  </a:txBody>
                  <a:tcPr marL="54864" marR="54864" marT="0" marB="0">
                    <a:solidFill>
                      <a:srgbClr val="FFFFFF"/>
                    </a:solidFill>
                  </a:tcPr>
                </a:tc>
                <a:tc>
                  <a:txBody>
                    <a:bodyPr/>
                    <a:lstStyle/>
                    <a:p>
                      <a:pPr algn="l"/>
                      <a:r>
                        <a:rPr sz="1000" b="0">
                          <a:solidFill>
                            <a:srgbClr val="1F1F1F"/>
                          </a:solidFill>
                          <a:latin typeface="KoPubWorld돋움체 Light"/>
                        </a:rPr>
                        <a:t>(좌 동)</a:t>
                      </a:r>
                    </a:p>
                  </a:txBody>
                  <a:tcPr marL="54864" marR="54864" marT="0" marB="0">
                    <a:solidFill>
                      <a:srgbClr val="FFFFFF"/>
                    </a:solidFill>
                  </a:tcPr>
                </a:tc>
              </a:tr>
              <a:tr h="310896">
                <a:tc>
                  <a:txBody>
                    <a:bodyPr/>
                    <a:lstStyle/>
                    <a:p>
                      <a:pPr algn="ctr"/>
                      <a:r>
                        <a:rPr sz="1000" b="0">
                          <a:solidFill>
                            <a:srgbClr val="1F1F1F"/>
                          </a:solidFill>
                          <a:latin typeface="KoPubWorld돋움체 Light"/>
                        </a:rPr>
                        <a:t>발행회사 / 기초자산</a:t>
                      </a:r>
                    </a:p>
                  </a:txBody>
                  <a:tcPr marL="54864" marR="54864" marT="0" marB="0">
                    <a:solidFill>
                      <a:srgbClr val="F2F2F2"/>
                    </a:solidFill>
                  </a:tcPr>
                </a:tc>
                <a:tc>
                  <a:txBody>
                    <a:bodyPr/>
                    <a:lstStyle/>
                    <a:p>
                      <a:pPr algn="l"/>
                      <a:r>
                        <a:rPr sz="1000" b="0">
                          <a:solidFill>
                            <a:srgbClr val="1F1F1F"/>
                          </a:solidFill>
                          <a:latin typeface="KoPubWorld돋움체 Light"/>
                        </a:rPr>
                        <a:t>신설 위탁관리부동산투자회사 / 안양물류센터</a:t>
                      </a:r>
                    </a:p>
                  </a:txBody>
                  <a:tcPr marL="54864" marR="54864" marT="0" marB="0">
                    <a:solidFill>
                      <a:srgbClr val="F2F2F2"/>
                    </a:solidFill>
                  </a:tcPr>
                </a:tc>
                <a:tc>
                  <a:txBody>
                    <a:bodyPr/>
                    <a:lstStyle/>
                    <a:p>
                      <a:pPr algn="l"/>
                      <a:r>
                        <a:rPr sz="1000" b="0">
                          <a:solidFill>
                            <a:srgbClr val="1F1F1F"/>
                          </a:solidFill>
                          <a:latin typeface="KoPubWorld돋움체 Light"/>
                        </a:rPr>
                        <a:t>(좌 동)</a:t>
                      </a:r>
                    </a:p>
                  </a:txBody>
                  <a:tcPr marL="54864" marR="54864" marT="0" marB="0">
                    <a:solidFill>
                      <a:srgbClr val="F2F2F2"/>
                    </a:solidFill>
                  </a:tcPr>
                </a:tc>
              </a:tr>
              <a:tr h="310896">
                <a:tc>
                  <a:txBody>
                    <a:bodyPr/>
                    <a:lstStyle/>
                    <a:p>
                      <a:pPr algn="ctr"/>
                      <a:r>
                        <a:rPr sz="1000" b="0">
                          <a:solidFill>
                            <a:srgbClr val="1F1F1F"/>
                          </a:solidFill>
                          <a:latin typeface="KoPubWorld돋움체 Light"/>
                        </a:rPr>
                        <a:t>우선배당률</a:t>
                      </a:r>
                    </a:p>
                  </a:txBody>
                  <a:tcPr marL="54864" marR="54864" marT="0" marB="0">
                    <a:solidFill>
                      <a:srgbClr val="FFFFFF"/>
                    </a:solidFill>
                  </a:tcPr>
                </a:tc>
                <a:tc>
                  <a:txBody>
                    <a:bodyPr/>
                    <a:lstStyle/>
                    <a:p>
                      <a:pPr algn="l"/>
                      <a:r>
                        <a:rPr sz="1000" b="0">
                          <a:solidFill>
                            <a:srgbClr val="1F1F1F"/>
                          </a:solidFill>
                          <a:latin typeface="KoPubWorld돋움체 Light"/>
                        </a:rPr>
                        <a:t>연 7.0%</a:t>
                      </a:r>
                    </a:p>
                  </a:txBody>
                  <a:tcPr marL="54864" marR="54864" marT="0" marB="0">
                    <a:solidFill>
                      <a:srgbClr val="FFFFFF"/>
                    </a:solidFill>
                  </a:tcPr>
                </a:tc>
                <a:tc>
                  <a:txBody>
                    <a:bodyPr/>
                    <a:lstStyle/>
                    <a:p>
                      <a:pPr algn="l"/>
                      <a:r>
                        <a:rPr sz="1000" b="0">
                          <a:solidFill>
                            <a:srgbClr val="1F1F1F"/>
                          </a:solidFill>
                          <a:latin typeface="KoPubWorld돋움체 Light"/>
                        </a:rPr>
                        <a:t>연 7.5%</a:t>
                      </a:r>
                    </a:p>
                  </a:txBody>
                  <a:tcPr marL="54864" marR="54864" marT="0" marB="0">
                    <a:solidFill>
                      <a:srgbClr val="FFFFFF"/>
                    </a:solidFill>
                  </a:tcPr>
                </a:tc>
              </a:tr>
              <a:tr h="310896">
                <a:tc>
                  <a:txBody>
                    <a:bodyPr/>
                    <a:lstStyle/>
                    <a:p>
                      <a:pPr algn="ctr"/>
                      <a:r>
                        <a:rPr sz="1000" b="0">
                          <a:solidFill>
                            <a:srgbClr val="1F1F1F"/>
                          </a:solidFill>
                          <a:latin typeface="KoPubWorld돋움체 Light"/>
                        </a:rPr>
                        <a:t>매입기한</a:t>
                      </a:r>
                    </a:p>
                  </a:txBody>
                  <a:tcPr marL="54864" marR="54864" marT="0" marB="0">
                    <a:solidFill>
                      <a:srgbClr val="F2F2F2"/>
                    </a:solidFill>
                  </a:tcPr>
                </a:tc>
                <a:tc>
                  <a:txBody>
                    <a:bodyPr/>
                    <a:lstStyle/>
                    <a:p>
                      <a:pPr algn="l"/>
                      <a:r>
                        <a:rPr sz="1000" b="0">
                          <a:solidFill>
                            <a:srgbClr val="1F1F1F"/>
                          </a:solidFill>
                          <a:latin typeface="KoPubWorld돋움체 Light"/>
                        </a:rPr>
                        <a:t>발행일로부터 24개월이 되는 달의 응당일</a:t>
                      </a:r>
                    </a:p>
                  </a:txBody>
                  <a:tcPr marL="54864" marR="54864" marT="0" marB="0">
                    <a:solidFill>
                      <a:srgbClr val="F2F2F2"/>
                    </a:solidFill>
                  </a:tcPr>
                </a:tc>
                <a:tc>
                  <a:txBody>
                    <a:bodyPr/>
                    <a:lstStyle/>
                    <a:p>
                      <a:pPr algn="l"/>
                      <a:r>
                        <a:rPr sz="1000" b="0">
                          <a:solidFill>
                            <a:srgbClr val="1F1F1F"/>
                          </a:solidFill>
                          <a:latin typeface="KoPubWorld돋움체 Light"/>
                        </a:rPr>
                        <a:t>발행일로부터 12개월이 되는 달의 응당일</a:t>
                      </a:r>
                    </a:p>
                  </a:txBody>
                  <a:tcPr marL="54864" marR="54864" marT="0" marB="0">
                    <a:solidFill>
                      <a:srgbClr val="F2F2F2"/>
                    </a:solidFill>
                  </a:tcPr>
                </a:tc>
              </a:tr>
              <a:tr h="310896">
                <a:tc>
                  <a:txBody>
                    <a:bodyPr/>
                    <a:lstStyle/>
                    <a:p>
                      <a:pPr algn="ctr"/>
                      <a:r>
                        <a:rPr sz="1000" b="0">
                          <a:solidFill>
                            <a:srgbClr val="1F1F1F"/>
                          </a:solidFill>
                          <a:latin typeface="KoPubWorld돋움체 Light"/>
                        </a:rPr>
                        <a:t>매입금액</a:t>
                      </a:r>
                    </a:p>
                  </a:txBody>
                  <a:tcPr marL="54864" marR="54864" marT="0" marB="0">
                    <a:solidFill>
                      <a:srgbClr val="FFFFFF"/>
                    </a:solidFill>
                  </a:tcPr>
                </a:tc>
                <a:tc>
                  <a:txBody>
                    <a:bodyPr/>
                    <a:lstStyle/>
                    <a:p>
                      <a:pPr algn="l"/>
                      <a:r>
                        <a:rPr sz="1000" b="0">
                          <a:solidFill>
                            <a:srgbClr val="1F1F1F"/>
                          </a:solidFill>
                          <a:latin typeface="KoPubWorld돋움체 Light"/>
                        </a:rPr>
                        <a:t>1주당 발행가액 25,000원 × 매입대상 주식수</a:t>
                      </a:r>
                    </a:p>
                  </a:txBody>
                  <a:tcPr marL="54864" marR="54864" marT="0" marB="0">
                    <a:solidFill>
                      <a:srgbClr val="FFFFFF"/>
                    </a:solidFill>
                  </a:tcPr>
                </a:tc>
                <a:tc>
                  <a:txBody>
                    <a:bodyPr/>
                    <a:lstStyle/>
                    <a:p>
                      <a:pPr algn="l"/>
                      <a:r>
                        <a:rPr sz="1000" b="0">
                          <a:solidFill>
                            <a:srgbClr val="1F1F1F"/>
                          </a:solidFill>
                          <a:latin typeface="KoPubWorld돋움체 Light"/>
                        </a:rPr>
                        <a:t>(좌 동)</a:t>
                      </a:r>
                    </a:p>
                  </a:txBody>
                  <a:tcPr marL="54864" marR="54864" marT="0" marB="0">
                    <a:solidFill>
                      <a:srgbClr val="FFFFFF"/>
                    </a:solidFill>
                  </a:tcPr>
                </a:tc>
              </a:tr>
              <a:tr h="310896">
                <a:tc>
                  <a:txBody>
                    <a:bodyPr/>
                    <a:lstStyle/>
                    <a:p>
                      <a:pPr algn="ctr"/>
                      <a:r>
                        <a:rPr sz="1000" b="0">
                          <a:solidFill>
                            <a:srgbClr val="1F1F1F"/>
                          </a:solidFill>
                          <a:latin typeface="KoPubWorld돋움체 Light"/>
                        </a:rPr>
                        <a:t>확약 규모 (예정)</a:t>
                      </a:r>
                    </a:p>
                  </a:txBody>
                  <a:tcPr marL="54864" marR="54864" marT="0" marB="0">
                    <a:solidFill>
                      <a:srgbClr val="F2F2F2"/>
                    </a:solidFill>
                  </a:tcPr>
                </a:tc>
                <a:tc>
                  <a:txBody>
                    <a:bodyPr/>
                    <a:lstStyle/>
                    <a:p>
                      <a:pPr algn="l"/>
                      <a:r>
                        <a:rPr sz="1000" b="0">
                          <a:solidFill>
                            <a:srgbClr val="1F1F1F"/>
                          </a:solidFill>
                          <a:latin typeface="KoPubWorld돋움체 Light"/>
                        </a:rPr>
                        <a:t>24,000백만원</a:t>
                      </a:r>
                    </a:p>
                  </a:txBody>
                  <a:tcPr marL="54864" marR="54864" marT="0" marB="0">
                    <a:solidFill>
                      <a:srgbClr val="F2F2F2"/>
                    </a:solidFill>
                  </a:tcPr>
                </a:tc>
                <a:tc>
                  <a:txBody>
                    <a:bodyPr/>
                    <a:lstStyle/>
                    <a:p>
                      <a:pPr algn="l"/>
                      <a:r>
                        <a:rPr sz="1000" b="0">
                          <a:solidFill>
                            <a:srgbClr val="1F1F1F"/>
                          </a:solidFill>
                          <a:latin typeface="KoPubWorld돋움체 Light"/>
                        </a:rPr>
                        <a:t>50,000백만원</a:t>
                      </a:r>
                    </a:p>
                  </a:txBody>
                  <a:tcPr marL="54864" marR="54864" marT="0" marB="0">
                    <a:solidFill>
                      <a:srgbClr val="F2F2F2"/>
                    </a:solidFill>
                  </a:tcPr>
                </a:tc>
              </a:tr>
            </a:tbl>
          </a:graphicData>
        </a:graphic>
      </p:graphicFrame>
      <p:sp>
        <p:nvSpPr>
          <p:cNvPr id="6" name="Rectangle 5"/>
          <p:cNvSpPr/>
          <p:nvPr/>
        </p:nvSpPr>
        <p:spPr>
          <a:xfrm>
            <a:off x="457200" y="4572000"/>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선행조건 및 불이행 시 효과</a:t>
            </a:r>
          </a:p>
        </p:txBody>
      </p:sp>
      <p:sp>
        <p:nvSpPr>
          <p:cNvPr id="7" name="TextBox 6"/>
          <p:cNvSpPr txBox="1"/>
          <p:nvPr/>
        </p:nvSpPr>
        <p:spPr>
          <a:xfrm>
            <a:off x="521207" y="4946904"/>
            <a:ext cx="9784080" cy="1097280"/>
          </a:xfrm>
          <a:prstGeom prst="rect">
            <a:avLst/>
          </a:prstGeom>
          <a:noFill/>
        </p:spPr>
        <p:txBody>
          <a:bodyPr wrap="square" lIns="0" rIns="0" tIns="0" bIns="0">
            <a:spAutoFit/>
          </a:bodyPr>
          <a:lstStyle/>
          <a:p>
            <a:pPr>
              <a:spcAft>
                <a:spcPts val="600"/>
              </a:spcAft>
            </a:pPr>
            <a:r>
              <a:rPr sz="900" b="0">
                <a:solidFill>
                  <a:srgbClr val="1F1F1F"/>
                </a:solidFill>
                <a:latin typeface="KoPubWorld돋움체 Light"/>
              </a:rPr>
              <a:t>• 선행조건: ① 발행회사의 적법한 영업인가 취득 및 안양물류센터 소유권 취득 ② 종류주주의 완전한 소유권 확보 ③ 질권·가압류 등 부담 부존재 ④ 동일 조건의 매도확약서 제출</a:t>
            </a:r>
          </a:p>
          <a:p>
            <a:pPr>
              <a:spcAft>
                <a:spcPts val="600"/>
              </a:spcAft>
            </a:pPr>
            <a:r>
              <a:rPr sz="900" b="0">
                <a:solidFill>
                  <a:srgbClr val="1F1F1F"/>
                </a:solidFill>
                <a:latin typeface="KoPubWorld돋움체 Light"/>
              </a:rPr>
              <a:t>• 불이행 시: 미매입잔액에 대하여 매입기한 종료 익일부터 연 5.0% 지연손해금 지급, 초과 손해는 별도 배상하며 매입의무는 존속</a:t>
            </a:r>
          </a:p>
          <a:p>
            <a:pPr>
              <a:spcAft>
                <a:spcPts val="600"/>
              </a:spcAft>
            </a:pPr>
            <a:r>
              <a:rPr sz="900" b="0">
                <a:solidFill>
                  <a:srgbClr val="1F1F1F"/>
                </a:solidFill>
                <a:latin typeface="KoPubWorld돋움체 Light"/>
              </a:rPr>
              <a:t>• 효력 제한: 본건 매입 목적 외 사용 불가, 제3자는 확약서상 권리를 주장할 수 없으며, 허용된 양도의 양수인에게 동일하게 적용</a:t>
            </a:r>
          </a:p>
          <a:p>
            <a:pPr>
              <a:spcAft>
                <a:spcPts val="600"/>
              </a:spcAft>
            </a:pPr>
            <a:r>
              <a:rPr sz="900" b="0">
                <a:solidFill>
                  <a:srgbClr val="1F1F1F"/>
                </a:solidFill>
                <a:latin typeface="KoPubWorld돋움체 Light"/>
              </a:rPr>
              <a:t>• 우선순위: 확약서와 주주간계약의 내용이 상충하는 경우 주주간계약이 우선</a:t>
            </a:r>
          </a:p>
        </p:txBody>
      </p:sp>
      <p:sp>
        <p:nvSpPr>
          <p:cNvPr id="8" name="TextBox 7"/>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코람코 제1종·제2종 우선주 매입확약 공문(안)(투자자용) / 주주간계약서 v22 제3.5조·제4.5조. 발행회사명·주식수·문서번호는 확정 후 기재 예정 [확정 대기].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참고. 관계사 인수확약서 및 참여의향서</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Equity 1·2종 인수확약서와 선·중순위 대출 참여의향서를 모두 접수 완료함</a:t>
            </a:r>
          </a:p>
          <a:p>
            <a:r>
              <a:rPr sz="1200" b="0">
                <a:solidFill>
                  <a:srgbClr val="404040"/>
                </a:solidFill>
                <a:latin typeface="KoPubWorld돋움체 Light"/>
              </a:rPr>
              <a:t>• 보통주 및 제3종 종류주식은 KLI리츠 이사회 승인과 매도인 재투자로 조달 예정</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접수 현황</a:t>
            </a:r>
          </a:p>
        </p:txBody>
      </p:sp>
      <p:graphicFrame>
        <p:nvGraphicFramePr>
          <p:cNvPr id="5" name="Table 4"/>
          <p:cNvGraphicFramePr>
            <a:graphicFrameLocks noGrp="1"/>
          </p:cNvGraphicFramePr>
          <p:nvPr/>
        </p:nvGraphicFramePr>
        <p:xfrm>
          <a:off x="521207" y="2359152"/>
          <a:ext cx="9784080" cy="2176272"/>
        </p:xfrm>
        <a:graphic>
          <a:graphicData uri="http://schemas.openxmlformats.org/drawingml/2006/table">
            <a:tbl>
              <a:tblPr firstRow="1" bandRow="1">
                <a:tableStyleId>{5C22544A-7EE6-4342-B048-85BDC9FD1C3A}</a:tableStyleId>
              </a:tblPr>
              <a:tblGrid>
                <a:gridCol w="1737360"/>
                <a:gridCol w="2194560"/>
                <a:gridCol w="1463040"/>
                <a:gridCol w="1828800"/>
                <a:gridCol w="1188720"/>
                <a:gridCol w="1371600"/>
              </a:tblGrid>
              <a:tr h="310896">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기 관</a:t>
                      </a:r>
                    </a:p>
                  </a:txBody>
                  <a:tcPr marL="54864" marR="54864" marT="0" marB="0">
                    <a:solidFill>
                      <a:srgbClr val="DAE3F3"/>
                    </a:solidFill>
                  </a:tcPr>
                </a:tc>
                <a:tc>
                  <a:txBody>
                    <a:bodyPr/>
                    <a:lstStyle/>
                    <a:p>
                      <a:pPr algn="ctr"/>
                      <a:r>
                        <a:rPr sz="1000" b="0">
                          <a:solidFill>
                            <a:srgbClr val="1F1F1F"/>
                          </a:solidFill>
                          <a:latin typeface="KoPubWorld돋움체 Bold"/>
                        </a:rPr>
                        <a:t>금액 (백만원)</a:t>
                      </a:r>
                    </a:p>
                  </a:txBody>
                  <a:tcPr marL="54864" marR="54864" marT="0" marB="0">
                    <a:solidFill>
                      <a:srgbClr val="DAE3F3"/>
                    </a:solidFill>
                  </a:tcPr>
                </a:tc>
                <a:tc>
                  <a:txBody>
                    <a:bodyPr/>
                    <a:lstStyle/>
                    <a:p>
                      <a:pPr algn="ctr"/>
                      <a:r>
                        <a:rPr sz="1000" b="0">
                          <a:solidFill>
                            <a:srgbClr val="1F1F1F"/>
                          </a:solidFill>
                          <a:latin typeface="KoPubWorld돋움체 Bold"/>
                        </a:rPr>
                        <a:t>문서</a:t>
                      </a:r>
                    </a:p>
                  </a:txBody>
                  <a:tcPr marL="54864" marR="54864" marT="0" marB="0">
                    <a:solidFill>
                      <a:srgbClr val="DAE3F3"/>
                    </a:solidFill>
                  </a:tcPr>
                </a:tc>
                <a:tc>
                  <a:txBody>
                    <a:bodyPr/>
                    <a:lstStyle/>
                    <a:p>
                      <a:pPr algn="ctr"/>
                      <a:r>
                        <a:rPr sz="1000" b="0">
                          <a:solidFill>
                            <a:srgbClr val="1F1F1F"/>
                          </a:solidFill>
                          <a:latin typeface="KoPubWorld돋움체 Bold"/>
                        </a:rPr>
                        <a:t>접수일</a:t>
                      </a:r>
                    </a:p>
                  </a:txBody>
                  <a:tcPr marL="54864" marR="54864" marT="0" marB="0">
                    <a:solidFill>
                      <a:srgbClr val="DAE3F3"/>
                    </a:solidFill>
                  </a:tcPr>
                </a:tc>
                <a:tc>
                  <a:txBody>
                    <a:bodyPr/>
                    <a:lstStyle/>
                    <a:p>
                      <a:pPr algn="ctr"/>
                      <a:r>
                        <a:rPr sz="1000" b="0">
                          <a:solidFill>
                            <a:srgbClr val="1F1F1F"/>
                          </a:solidFill>
                          <a:latin typeface="KoPubWorld돋움체 Bold"/>
                        </a:rPr>
                        <a:t>상태</a:t>
                      </a:r>
                    </a:p>
                  </a:txBody>
                  <a:tcPr marL="54864" marR="54864" marT="0" marB="0">
                    <a:solidFill>
                      <a:srgbClr val="DAE3F3"/>
                    </a:solidFill>
                  </a:tcPr>
                </a:tc>
              </a:tr>
              <a:tr h="310896">
                <a:tc>
                  <a:txBody>
                    <a:bodyPr/>
                    <a:lstStyle/>
                    <a:p>
                      <a:pPr algn="ctr"/>
                      <a:r>
                        <a:rPr sz="1000" b="0">
                          <a:solidFill>
                            <a:srgbClr val="1F1F1F"/>
                          </a:solidFill>
                          <a:latin typeface="KoPubWorld돋움체 Light"/>
                        </a:rPr>
                        <a:t>제1종 종류주식</a:t>
                      </a:r>
                    </a:p>
                  </a:txBody>
                  <a:tcPr marL="54864" marR="54864" marT="0" marB="0">
                    <a:solidFill>
                      <a:srgbClr val="FFFFFF"/>
                    </a:solidFill>
                  </a:tcPr>
                </a:tc>
                <a:tc>
                  <a:txBody>
                    <a:bodyPr/>
                    <a:lstStyle/>
                    <a:p>
                      <a:pPr algn="l"/>
                      <a:r>
                        <a:rPr sz="1000" b="0">
                          <a:solidFill>
                            <a:srgbClr val="1F1F1F"/>
                          </a:solidFill>
                          <a:latin typeface="KoPubWorld돋움체 Light"/>
                        </a:rPr>
                        <a:t>우리투자증권</a:t>
                      </a:r>
                    </a:p>
                  </a:txBody>
                  <a:tcPr marL="54864" marR="54864" marT="0" marB="0">
                    <a:solidFill>
                      <a:srgbClr val="FFFFFF"/>
                    </a:solidFill>
                  </a:tcPr>
                </a:tc>
                <a:tc>
                  <a:txBody>
                    <a:bodyPr/>
                    <a:lstStyle/>
                    <a:p>
                      <a:pPr algn="l"/>
                      <a:r>
                        <a:rPr sz="1000" b="0">
                          <a:solidFill>
                            <a:srgbClr val="1F1F1F"/>
                          </a:solidFill>
                          <a:latin typeface="KoPubWorld돋움체 Light"/>
                        </a:rPr>
                        <a:t>24,000</a:t>
                      </a:r>
                    </a:p>
                  </a:txBody>
                  <a:tcPr marL="54864" marR="54864" marT="0" marB="0">
                    <a:solidFill>
                      <a:srgbClr val="FFFFFF"/>
                    </a:solidFill>
                  </a:tcPr>
                </a:tc>
                <a:tc>
                  <a:txBody>
                    <a:bodyPr/>
                    <a:lstStyle/>
                    <a:p>
                      <a:pPr algn="l"/>
                      <a:r>
                        <a:rPr sz="1000" b="0">
                          <a:solidFill>
                            <a:srgbClr val="1F1F1F"/>
                          </a:solidFill>
                          <a:latin typeface="KoPubWorld돋움체 Light"/>
                        </a:rPr>
                        <a:t>인수확약서(LOC)</a:t>
                      </a:r>
                    </a:p>
                  </a:txBody>
                  <a:tcPr marL="54864" marR="54864" marT="0" marB="0">
                    <a:solidFill>
                      <a:srgbClr val="FFFFFF"/>
                    </a:solidFill>
                  </a:tcPr>
                </a:tc>
                <a:tc>
                  <a:txBody>
                    <a:bodyPr/>
                    <a:lstStyle/>
                    <a:p>
                      <a:pPr algn="l"/>
                      <a:r>
                        <a:rPr sz="1000" b="0">
                          <a:solidFill>
                            <a:srgbClr val="1F1F1F"/>
                          </a:solidFill>
                          <a:latin typeface="KoPubWorld돋움체 Light"/>
                        </a:rPr>
                        <a:t>2026-07-31</a:t>
                      </a:r>
                    </a:p>
                  </a:txBody>
                  <a:tcPr marL="54864" marR="54864" marT="0" marB="0">
                    <a:solidFill>
                      <a:srgbClr val="FFFFFF"/>
                    </a:solidFill>
                  </a:tcPr>
                </a:tc>
                <a:tc>
                  <a:txBody>
                    <a:bodyPr/>
                    <a:lstStyle/>
                    <a:p>
                      <a:pPr algn="l"/>
                      <a:r>
                        <a:rPr sz="1000" b="0">
                          <a:solidFill>
                            <a:srgbClr val="1F1F1F"/>
                          </a:solidFill>
                          <a:latin typeface="KoPubWorld돋움체 Light"/>
                        </a:rPr>
                        <a:t>접수 완료</a:t>
                      </a:r>
                    </a:p>
                  </a:txBody>
                  <a:tcPr marL="54864" marR="54864" marT="0" marB="0">
                    <a:solidFill>
                      <a:srgbClr val="FFFFFF"/>
                    </a:solidFill>
                  </a:tcPr>
                </a:tc>
              </a:tr>
              <a:tr h="310896">
                <a:tc>
                  <a:txBody>
                    <a:bodyPr/>
                    <a:lstStyle/>
                    <a:p>
                      <a:pPr algn="ctr"/>
                      <a:r>
                        <a:rPr sz="1000" b="0">
                          <a:solidFill>
                            <a:srgbClr val="1F1F1F"/>
                          </a:solidFill>
                          <a:latin typeface="KoPubWorld돋움체 Light"/>
                        </a:rPr>
                        <a:t>제2종 종류주식</a:t>
                      </a:r>
                    </a:p>
                  </a:txBody>
                  <a:tcPr marL="54864" marR="54864" marT="0" marB="0">
                    <a:solidFill>
                      <a:srgbClr val="F2F2F2"/>
                    </a:solidFill>
                  </a:tcPr>
                </a:tc>
                <a:tc>
                  <a:txBody>
                    <a:bodyPr/>
                    <a:lstStyle/>
                    <a:p>
                      <a:pPr algn="l"/>
                      <a:r>
                        <a:rPr sz="1000" b="0">
                          <a:solidFill>
                            <a:srgbClr val="1F1F1F"/>
                          </a:solidFill>
                          <a:latin typeface="KoPubWorld돋움체 Light"/>
                        </a:rPr>
                        <a:t>삼성증권</a:t>
                      </a:r>
                    </a:p>
                  </a:txBody>
                  <a:tcPr marL="54864" marR="54864" marT="0" marB="0">
                    <a:solidFill>
                      <a:srgbClr val="F2F2F2"/>
                    </a:solidFill>
                  </a:tcPr>
                </a:tc>
                <a:tc>
                  <a:txBody>
                    <a:bodyPr/>
                    <a:lstStyle/>
                    <a:p>
                      <a:pPr algn="l"/>
                      <a:r>
                        <a:rPr sz="1000" b="0">
                          <a:solidFill>
                            <a:srgbClr val="1F1F1F"/>
                          </a:solidFill>
                          <a:latin typeface="KoPubWorld돋움체 Light"/>
                        </a:rPr>
                        <a:t>50,000</a:t>
                      </a:r>
                    </a:p>
                  </a:txBody>
                  <a:tcPr marL="54864" marR="54864" marT="0" marB="0">
                    <a:solidFill>
                      <a:srgbClr val="F2F2F2"/>
                    </a:solidFill>
                  </a:tcPr>
                </a:tc>
                <a:tc>
                  <a:txBody>
                    <a:bodyPr/>
                    <a:lstStyle/>
                    <a:p>
                      <a:pPr algn="l"/>
                      <a:r>
                        <a:rPr sz="1000" b="0">
                          <a:solidFill>
                            <a:srgbClr val="1F1F1F"/>
                          </a:solidFill>
                          <a:latin typeface="KoPubWorld돋움체 Light"/>
                        </a:rPr>
                        <a:t>인수확약서(LOC)</a:t>
                      </a:r>
                    </a:p>
                  </a:txBody>
                  <a:tcPr marL="54864" marR="54864" marT="0" marB="0">
                    <a:solidFill>
                      <a:srgbClr val="F2F2F2"/>
                    </a:solidFill>
                  </a:tcPr>
                </a:tc>
                <a:tc>
                  <a:txBody>
                    <a:bodyPr/>
                    <a:lstStyle/>
                    <a:p>
                      <a:pPr algn="l"/>
                      <a:r>
                        <a:rPr sz="1000" b="0">
                          <a:solidFill>
                            <a:srgbClr val="1F1F1F"/>
                          </a:solidFill>
                          <a:latin typeface="KoPubWorld돋움체 Light"/>
                        </a:rPr>
                        <a:t>2026-07-31</a:t>
                      </a:r>
                    </a:p>
                  </a:txBody>
                  <a:tcPr marL="54864" marR="54864" marT="0" marB="0">
                    <a:solidFill>
                      <a:srgbClr val="F2F2F2"/>
                    </a:solidFill>
                  </a:tcPr>
                </a:tc>
                <a:tc>
                  <a:txBody>
                    <a:bodyPr/>
                    <a:lstStyle/>
                    <a:p>
                      <a:pPr algn="l"/>
                      <a:r>
                        <a:rPr sz="1000" b="0">
                          <a:solidFill>
                            <a:srgbClr val="1F1F1F"/>
                          </a:solidFill>
                          <a:latin typeface="KoPubWorld돋움체 Light"/>
                        </a:rPr>
                        <a:t>접수 완료</a:t>
                      </a:r>
                    </a:p>
                  </a:txBody>
                  <a:tcPr marL="54864" marR="54864" marT="0" marB="0">
                    <a:solidFill>
                      <a:srgbClr val="F2F2F2"/>
                    </a:solidFill>
                  </a:tcPr>
                </a:tc>
              </a:tr>
              <a:tr h="310896">
                <a:tc>
                  <a:txBody>
                    <a:bodyPr/>
                    <a:lstStyle/>
                    <a:p>
                      <a:pPr algn="ctr"/>
                      <a:r>
                        <a:rPr sz="1000" b="0">
                          <a:solidFill>
                            <a:srgbClr val="1F1F1F"/>
                          </a:solidFill>
                          <a:latin typeface="KoPubWorld돋움체 Light"/>
                        </a:rPr>
                        <a:t>제3종 종류주식</a:t>
                      </a:r>
                    </a:p>
                  </a:txBody>
                  <a:tcPr marL="54864" marR="54864" marT="0" marB="0">
                    <a:solidFill>
                      <a:srgbClr val="FFFFFF"/>
                    </a:solidFill>
                  </a:tcPr>
                </a:tc>
                <a:tc>
                  <a:txBody>
                    <a:bodyPr/>
                    <a:lstStyle/>
                    <a:p>
                      <a:pPr algn="l"/>
                      <a:r>
                        <a:rPr sz="1000" b="0">
                          <a:solidFill>
                            <a:srgbClr val="1F1F1F"/>
                          </a:solidFill>
                          <a:latin typeface="KoPubWorld돋움체 Light"/>
                        </a:rPr>
                        <a:t>㈜엘에프 (매도인)</a:t>
                      </a:r>
                    </a:p>
                  </a:txBody>
                  <a:tcPr marL="54864" marR="54864" marT="0" marB="0">
                    <a:solidFill>
                      <a:srgbClr val="FFFFFF"/>
                    </a:solidFill>
                  </a:tcPr>
                </a:tc>
                <a:tc>
                  <a:txBody>
                    <a:bodyPr/>
                    <a:lstStyle/>
                    <a:p>
                      <a:pPr algn="l"/>
                      <a:r>
                        <a:rPr sz="1000" b="0">
                          <a:solidFill>
                            <a:srgbClr val="1F1F1F"/>
                          </a:solidFill>
                          <a:latin typeface="KoPubWorld돋움체 Light"/>
                        </a:rPr>
                        <a:t>10,000</a:t>
                      </a:r>
                    </a:p>
                  </a:txBody>
                  <a:tcPr marL="54864" marR="54864" marT="0" marB="0">
                    <a:solidFill>
                      <a:srgbClr val="FFFFFF"/>
                    </a:solidFill>
                  </a:tcPr>
                </a:tc>
                <a:tc>
                  <a:txBody>
                    <a:bodyPr/>
                    <a:lstStyle/>
                    <a:p>
                      <a:pPr algn="l"/>
                      <a:r>
                        <a:rPr sz="1000" b="0">
                          <a:solidFill>
                            <a:srgbClr val="1F1F1F"/>
                          </a:solidFill>
                          <a:latin typeface="KoPubWorld돋움체 Light"/>
                        </a:rPr>
                        <a:t>재투자 (주주간계약)</a:t>
                      </a:r>
                    </a:p>
                  </a:txBody>
                  <a:tcPr marL="54864" marR="54864" marT="0" marB="0">
                    <a:solidFill>
                      <a:srgbClr val="FFFFFF"/>
                    </a:solidFill>
                  </a:tcPr>
                </a:tc>
                <a:tc>
                  <a:txBody>
                    <a:bodyPr/>
                    <a:lstStyle/>
                    <a:p>
                      <a:pPr algn="l"/>
                      <a:r>
                        <a:rPr sz="1000" b="0">
                          <a:solidFill>
                            <a:srgbClr val="1F1F1F"/>
                          </a:solidFill>
                          <a:latin typeface="KoPubWorld돋움체 Light"/>
                        </a:rPr>
                        <a:t>—</a:t>
                      </a:r>
                    </a:p>
                  </a:txBody>
                  <a:tcPr marL="54864" marR="54864" marT="0" marB="0">
                    <a:solidFill>
                      <a:srgbClr val="FFFFFF"/>
                    </a:solidFill>
                  </a:tcPr>
                </a:tc>
                <a:tc>
                  <a:txBody>
                    <a:bodyPr/>
                    <a:lstStyle/>
                    <a:p>
                      <a:pPr algn="l"/>
                      <a:r>
                        <a:rPr sz="1000" b="0">
                          <a:solidFill>
                            <a:srgbClr val="1F1F1F"/>
                          </a:solidFill>
                          <a:latin typeface="KoPubWorld돋움체 Light"/>
                        </a:rPr>
                        <a:t>협의 중</a:t>
                      </a:r>
                    </a:p>
                  </a:txBody>
                  <a:tcPr marL="54864" marR="54864" marT="0" marB="0">
                    <a:solidFill>
                      <a:srgbClr val="FFFFFF"/>
                    </a:solidFill>
                  </a:tcPr>
                </a:tc>
              </a:tr>
              <a:tr h="310896">
                <a:tc>
                  <a:txBody>
                    <a:bodyPr/>
                    <a:lstStyle/>
                    <a:p>
                      <a:pPr algn="ctr"/>
                      <a:r>
                        <a:rPr sz="1000" b="0">
                          <a:solidFill>
                            <a:srgbClr val="1F1F1F"/>
                          </a:solidFill>
                          <a:latin typeface="KoPubWorld돋움체 Light"/>
                        </a:rPr>
                        <a:t>보통주식</a:t>
                      </a:r>
                    </a:p>
                  </a:txBody>
                  <a:tcPr marL="54864" marR="54864" marT="0" marB="0">
                    <a:solidFill>
                      <a:srgbClr val="F2F2F2"/>
                    </a:solidFill>
                  </a:tcPr>
                </a:tc>
                <a:tc>
                  <a:txBody>
                    <a:bodyPr/>
                    <a:lstStyle/>
                    <a:p>
                      <a:pPr algn="l"/>
                      <a:r>
                        <a:rPr sz="1000" b="0">
                          <a:solidFill>
                            <a:srgbClr val="1F1F1F"/>
                          </a:solidFill>
                          <a:latin typeface="KoPubWorld돋움체 Light"/>
                        </a:rPr>
                        <a:t>코람코라이프인프라리츠</a:t>
                      </a:r>
                    </a:p>
                  </a:txBody>
                  <a:tcPr marL="54864" marR="54864" marT="0" marB="0">
                    <a:solidFill>
                      <a:srgbClr val="F2F2F2"/>
                    </a:solidFill>
                  </a:tcPr>
                </a:tc>
                <a:tc>
                  <a:txBody>
                    <a:bodyPr/>
                    <a:lstStyle/>
                    <a:p>
                      <a:pPr algn="l"/>
                      <a:r>
                        <a:rPr sz="1000" b="0">
                          <a:solidFill>
                            <a:srgbClr val="1F1F1F"/>
                          </a:solidFill>
                          <a:latin typeface="KoPubWorld돋움체 Light"/>
                        </a:rPr>
                        <a:t>14,800</a:t>
                      </a:r>
                    </a:p>
                  </a:txBody>
                  <a:tcPr marL="54864" marR="54864" marT="0" marB="0">
                    <a:solidFill>
                      <a:srgbClr val="F2F2F2"/>
                    </a:solidFill>
                  </a:tcPr>
                </a:tc>
                <a:tc>
                  <a:txBody>
                    <a:bodyPr/>
                    <a:lstStyle/>
                    <a:p>
                      <a:pPr algn="l"/>
                      <a:r>
                        <a:rPr sz="1000" b="0">
                          <a:solidFill>
                            <a:srgbClr val="1F1F1F"/>
                          </a:solidFill>
                          <a:latin typeface="KoPubWorld돋움체 Light"/>
                        </a:rPr>
                        <a:t>이사회 결의 예정</a:t>
                      </a:r>
                    </a:p>
                  </a:txBody>
                  <a:tcPr marL="54864" marR="54864" marT="0" marB="0">
                    <a:solidFill>
                      <a:srgbClr val="F2F2F2"/>
                    </a:solidFill>
                  </a:tcPr>
                </a:tc>
                <a:tc>
                  <a:txBody>
                    <a:bodyPr/>
                    <a:lstStyle/>
                    <a:p>
                      <a:pPr algn="l"/>
                      <a:r>
                        <a:rPr sz="1000" b="0">
                          <a:solidFill>
                            <a:srgbClr val="1F1F1F"/>
                          </a:solidFill>
                          <a:latin typeface="KoPubWorld돋움체 Light"/>
                        </a:rPr>
                        <a:t>2026-10-01</a:t>
                      </a:r>
                    </a:p>
                  </a:txBody>
                  <a:tcPr marL="54864" marR="54864" marT="0" marB="0">
                    <a:solidFill>
                      <a:srgbClr val="F2F2F2"/>
                    </a:solidFill>
                  </a:tcPr>
                </a:tc>
                <a:tc>
                  <a:txBody>
                    <a:bodyPr/>
                    <a:lstStyle/>
                    <a:p>
                      <a:pPr algn="l"/>
                      <a:r>
                        <a:rPr sz="1000" b="0">
                          <a:solidFill>
                            <a:srgbClr val="1F1F1F"/>
                          </a:solidFill>
                          <a:latin typeface="KoPubWorld돋움체 Light"/>
                        </a:rPr>
                        <a:t>예정</a:t>
                      </a:r>
                    </a:p>
                  </a:txBody>
                  <a:tcPr marL="54864" marR="54864" marT="0" marB="0">
                    <a:solidFill>
                      <a:srgbClr val="F2F2F2"/>
                    </a:solidFill>
                  </a:tcPr>
                </a:tc>
              </a:tr>
              <a:tr h="310896">
                <a:tc>
                  <a:txBody>
                    <a:bodyPr/>
                    <a:lstStyle/>
                    <a:p>
                      <a:pPr algn="ctr"/>
                      <a:r>
                        <a:rPr sz="1000" b="0">
                          <a:solidFill>
                            <a:srgbClr val="1F1F1F"/>
                          </a:solidFill>
                          <a:latin typeface="KoPubWorld돋움체 Light"/>
                        </a:rPr>
                        <a:t>선순위 Tr.A</a:t>
                      </a:r>
                    </a:p>
                  </a:txBody>
                  <a:tcPr marL="54864" marR="54864" marT="0" marB="0">
                    <a:solidFill>
                      <a:srgbClr val="FFFFFF"/>
                    </a:solidFill>
                  </a:tcPr>
                </a:tc>
                <a:tc>
                  <a:txBody>
                    <a:bodyPr/>
                    <a:lstStyle/>
                    <a:p>
                      <a:pPr algn="l"/>
                      <a:r>
                        <a:rPr sz="1000" b="0">
                          <a:solidFill>
                            <a:srgbClr val="1F1F1F"/>
                          </a:solidFill>
                          <a:latin typeface="KoPubWorld돋움체 Light"/>
                        </a:rPr>
                        <a:t>우리은행</a:t>
                      </a:r>
                    </a:p>
                  </a:txBody>
                  <a:tcPr marL="54864" marR="54864" marT="0" marB="0">
                    <a:solidFill>
                      <a:srgbClr val="FFFFFF"/>
                    </a:solidFill>
                  </a:tcPr>
                </a:tc>
                <a:tc>
                  <a:txBody>
                    <a:bodyPr/>
                    <a:lstStyle/>
                    <a:p>
                      <a:pPr algn="l"/>
                      <a:r>
                        <a:rPr sz="1000" b="0">
                          <a:solidFill>
                            <a:srgbClr val="1F1F1F"/>
                          </a:solidFill>
                          <a:latin typeface="KoPubWorld돋움체 Light"/>
                        </a:rPr>
                        <a:t>160,000</a:t>
                      </a:r>
                    </a:p>
                  </a:txBody>
                  <a:tcPr marL="54864" marR="54864" marT="0" marB="0">
                    <a:solidFill>
                      <a:srgbClr val="FFFFFF"/>
                    </a:solidFill>
                  </a:tcPr>
                </a:tc>
                <a:tc>
                  <a:txBody>
                    <a:bodyPr/>
                    <a:lstStyle/>
                    <a:p>
                      <a:pPr algn="l"/>
                      <a:r>
                        <a:rPr sz="1000" b="0">
                          <a:solidFill>
                            <a:srgbClr val="1F1F1F"/>
                          </a:solidFill>
                          <a:latin typeface="KoPubWorld돋움체 Light"/>
                        </a:rPr>
                        <a:t>대출의향서</a:t>
                      </a:r>
                    </a:p>
                  </a:txBody>
                  <a:tcPr marL="54864" marR="54864" marT="0" marB="0">
                    <a:solidFill>
                      <a:srgbClr val="FFFFFF"/>
                    </a:solidFill>
                  </a:tcPr>
                </a:tc>
                <a:tc>
                  <a:txBody>
                    <a:bodyPr/>
                    <a:lstStyle/>
                    <a:p>
                      <a:pPr algn="l"/>
                      <a:r>
                        <a:rPr sz="1000" b="0">
                          <a:solidFill>
                            <a:srgbClr val="1F1F1F"/>
                          </a:solidFill>
                          <a:latin typeface="KoPubWorld돋움체 Light"/>
                        </a:rPr>
                        <a:t>2026-07-31</a:t>
                      </a:r>
                    </a:p>
                  </a:txBody>
                  <a:tcPr marL="54864" marR="54864" marT="0" marB="0">
                    <a:solidFill>
                      <a:srgbClr val="FFFFFF"/>
                    </a:solidFill>
                  </a:tcPr>
                </a:tc>
                <a:tc>
                  <a:txBody>
                    <a:bodyPr/>
                    <a:lstStyle/>
                    <a:p>
                      <a:pPr algn="l"/>
                      <a:r>
                        <a:rPr sz="1000" b="0">
                          <a:solidFill>
                            <a:srgbClr val="1F1F1F"/>
                          </a:solidFill>
                          <a:latin typeface="KoPubWorld돋움체 Light"/>
                        </a:rPr>
                        <a:t>접수 완료 (심사 완료)</a:t>
                      </a:r>
                    </a:p>
                  </a:txBody>
                  <a:tcPr marL="54864" marR="54864" marT="0" marB="0">
                    <a:solidFill>
                      <a:srgbClr val="FFFFFF"/>
                    </a:solidFill>
                  </a:tcPr>
                </a:tc>
              </a:tr>
              <a:tr h="310896">
                <a:tc>
                  <a:txBody>
                    <a:bodyPr/>
                    <a:lstStyle/>
                    <a:p>
                      <a:pPr algn="ctr"/>
                      <a:r>
                        <a:rPr sz="1000" b="0">
                          <a:solidFill>
                            <a:srgbClr val="1F1F1F"/>
                          </a:solidFill>
                          <a:latin typeface="KoPubWorld돋움체 Light"/>
                        </a:rPr>
                        <a:t>중순위 Tr.B</a:t>
                      </a:r>
                    </a:p>
                  </a:txBody>
                  <a:tcPr marL="54864" marR="54864" marT="0" marB="0">
                    <a:solidFill>
                      <a:srgbClr val="F2F2F2"/>
                    </a:solidFill>
                  </a:tcPr>
                </a:tc>
                <a:tc>
                  <a:txBody>
                    <a:bodyPr/>
                    <a:lstStyle/>
                    <a:p>
                      <a:pPr algn="l"/>
                      <a:r>
                        <a:rPr sz="1000" b="0">
                          <a:solidFill>
                            <a:srgbClr val="1F1F1F"/>
                          </a:solidFill>
                          <a:latin typeface="KoPubWorld돋움체 Light"/>
                        </a:rPr>
                        <a:t>우리은행 등</a:t>
                      </a:r>
                    </a:p>
                  </a:txBody>
                  <a:tcPr marL="54864" marR="54864" marT="0" marB="0">
                    <a:solidFill>
                      <a:srgbClr val="F2F2F2"/>
                    </a:solidFill>
                  </a:tcPr>
                </a:tc>
                <a:tc>
                  <a:txBody>
                    <a:bodyPr/>
                    <a:lstStyle/>
                    <a:p>
                      <a:pPr algn="l"/>
                      <a:r>
                        <a:rPr sz="1000" b="0">
                          <a:solidFill>
                            <a:srgbClr val="1F1F1F"/>
                          </a:solidFill>
                          <a:latin typeface="KoPubWorld돋움체 Light"/>
                        </a:rPr>
                        <a:t>38,000</a:t>
                      </a:r>
                    </a:p>
                  </a:txBody>
                  <a:tcPr marL="54864" marR="54864" marT="0" marB="0">
                    <a:solidFill>
                      <a:srgbClr val="F2F2F2"/>
                    </a:solidFill>
                  </a:tcPr>
                </a:tc>
                <a:tc>
                  <a:txBody>
                    <a:bodyPr/>
                    <a:lstStyle/>
                    <a:p>
                      <a:pPr algn="l"/>
                      <a:r>
                        <a:rPr sz="1000" b="0">
                          <a:solidFill>
                            <a:srgbClr val="1F1F1F"/>
                          </a:solidFill>
                          <a:latin typeface="KoPubWorld돋움체 Light"/>
                        </a:rPr>
                        <a:t>대출의향서</a:t>
                      </a:r>
                    </a:p>
                  </a:txBody>
                  <a:tcPr marL="54864" marR="54864" marT="0" marB="0">
                    <a:solidFill>
                      <a:srgbClr val="F2F2F2"/>
                    </a:solidFill>
                  </a:tcPr>
                </a:tc>
                <a:tc>
                  <a:txBody>
                    <a:bodyPr/>
                    <a:lstStyle/>
                    <a:p>
                      <a:pPr algn="l"/>
                      <a:r>
                        <a:rPr sz="1000" b="0">
                          <a:solidFill>
                            <a:srgbClr val="1F1F1F"/>
                          </a:solidFill>
                          <a:latin typeface="KoPubWorld돋움체 Light"/>
                        </a:rPr>
                        <a:t>2026-07-31</a:t>
                      </a:r>
                    </a:p>
                  </a:txBody>
                  <a:tcPr marL="54864" marR="54864" marT="0" marB="0">
                    <a:solidFill>
                      <a:srgbClr val="F2F2F2"/>
                    </a:solidFill>
                  </a:tcPr>
                </a:tc>
                <a:tc>
                  <a:txBody>
                    <a:bodyPr/>
                    <a:lstStyle/>
                    <a:p>
                      <a:pPr algn="l"/>
                      <a:r>
                        <a:rPr sz="1000" b="0">
                          <a:solidFill>
                            <a:srgbClr val="1F1F1F"/>
                          </a:solidFill>
                          <a:latin typeface="KoPubWorld돋움체 Light"/>
                        </a:rPr>
                        <a:t>접수 완료 (심사 완료)</a:t>
                      </a:r>
                    </a:p>
                  </a:txBody>
                  <a:tcPr marL="54864" marR="54864" marT="0" marB="0">
                    <a:solidFill>
                      <a:srgbClr val="F2F2F2"/>
                    </a:solidFill>
                  </a:tcPr>
                </a:tc>
              </a:tr>
            </a:tbl>
          </a:graphicData>
        </a:graphic>
      </p:graphicFrame>
      <p:sp>
        <p:nvSpPr>
          <p:cNvPr id="6" name="TextBox 5"/>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인수확약서(LOC) 원본 2건, 대출의향서(우리은행) 원본 / IM v01(2026.09) p.15 / 07_일정_회의록/TIMELINE.md. LOC·대출의향서 원본은 스캔본으로 세부 조건은 텀시트를 기준으로 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참고. 당사 예상수익</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당사는 자산관리회사로서 매입·운용·매각 단계에 걸쳐 보수를 수취함</a:t>
            </a:r>
          </a:p>
          <a:p>
            <a:r>
              <a:rPr sz="1200" b="0">
                <a:solidFill>
                  <a:srgbClr val="404040"/>
                </a:solidFill>
                <a:latin typeface="KoPubWorld돋움체 Light"/>
              </a:rPr>
              <a:t>• 매입보수는 취득부대비용을 제외한 매입금액 기준으로 산정</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보수 구조</a:t>
            </a:r>
          </a:p>
        </p:txBody>
      </p:sp>
      <p:graphicFrame>
        <p:nvGraphicFramePr>
          <p:cNvPr id="5" name="Table 4"/>
          <p:cNvGraphicFramePr>
            <a:graphicFrameLocks noGrp="1"/>
          </p:cNvGraphicFramePr>
          <p:nvPr/>
        </p:nvGraphicFramePr>
        <p:xfrm>
          <a:off x="521207" y="2359152"/>
          <a:ext cx="9784080" cy="1975104"/>
        </p:xfrm>
        <a:graphic>
          <a:graphicData uri="http://schemas.openxmlformats.org/drawingml/2006/table">
            <a:tbl>
              <a:tblPr firstRow="1" bandRow="1">
                <a:tableStyleId>{5C22544A-7EE6-4342-B048-85BDC9FD1C3A}</a:tableStyleId>
              </a:tblPr>
              <a:tblGrid>
                <a:gridCol w="2011680"/>
                <a:gridCol w="2377440"/>
                <a:gridCol w="2926080"/>
                <a:gridCol w="2468880"/>
              </a:tblGrid>
              <a:tr h="329184">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요 율</a:t>
                      </a:r>
                    </a:p>
                  </a:txBody>
                  <a:tcPr marL="54864" marR="54864" marT="0" marB="0">
                    <a:solidFill>
                      <a:srgbClr val="DAE3F3"/>
                    </a:solidFill>
                  </a:tcPr>
                </a:tc>
                <a:tc>
                  <a:txBody>
                    <a:bodyPr/>
                    <a:lstStyle/>
                    <a:p>
                      <a:pPr algn="ctr"/>
                      <a:r>
                        <a:rPr sz="1000" b="0">
                          <a:solidFill>
                            <a:srgbClr val="1F1F1F"/>
                          </a:solidFill>
                          <a:latin typeface="KoPubWorld돋움체 Bold"/>
                        </a:rPr>
                        <a:t>산정 기준</a:t>
                      </a:r>
                    </a:p>
                  </a:txBody>
                  <a:tcPr marL="54864" marR="54864" marT="0" marB="0">
                    <a:solidFill>
                      <a:srgbClr val="DAE3F3"/>
                    </a:solidFill>
                  </a:tcPr>
                </a:tc>
                <a:tc>
                  <a:txBody>
                    <a:bodyPr/>
                    <a:lstStyle/>
                    <a:p>
                      <a:pPr algn="ctr"/>
                      <a:r>
                        <a:rPr sz="1000" b="0">
                          <a:solidFill>
                            <a:srgbClr val="1F1F1F"/>
                          </a:solidFill>
                          <a:latin typeface="KoPubWorld돋움체 Bold"/>
                        </a:rPr>
                        <a:t>예상 금액 (백만원)</a:t>
                      </a:r>
                    </a:p>
                  </a:txBody>
                  <a:tcPr marL="54864" marR="54864" marT="0" marB="0">
                    <a:solidFill>
                      <a:srgbClr val="DAE3F3"/>
                    </a:solidFill>
                  </a:tcPr>
                </a:tc>
              </a:tr>
              <a:tr h="329184">
                <a:tc>
                  <a:txBody>
                    <a:bodyPr/>
                    <a:lstStyle/>
                    <a:p>
                      <a:pPr algn="ctr"/>
                      <a:r>
                        <a:rPr sz="1000" b="0">
                          <a:solidFill>
                            <a:srgbClr val="1F1F1F"/>
                          </a:solidFill>
                          <a:latin typeface="KoPubWorld돋움체 Light"/>
                        </a:rPr>
                        <a:t>매입보수</a:t>
                      </a:r>
                    </a:p>
                  </a:txBody>
                  <a:tcPr marL="54864" marR="54864" marT="0" marB="0">
                    <a:solidFill>
                      <a:srgbClr val="FFFFFF"/>
                    </a:solidFill>
                  </a:tcPr>
                </a:tc>
                <a:tc>
                  <a:txBody>
                    <a:bodyPr/>
                    <a:lstStyle/>
                    <a:p>
                      <a:pPr algn="l"/>
                      <a:r>
                        <a:rPr sz="1000" b="0">
                          <a:solidFill>
                            <a:srgbClr val="1F1F1F"/>
                          </a:solidFill>
                          <a:latin typeface="KoPubWorld돋움체 Light"/>
                        </a:rPr>
                        <a:t>매입금액의 0.5%</a:t>
                      </a:r>
                    </a:p>
                  </a:txBody>
                  <a:tcPr marL="54864" marR="54864" marT="0" marB="0">
                    <a:solidFill>
                      <a:srgbClr val="FFFFFF"/>
                    </a:solidFill>
                  </a:tcPr>
                </a:tc>
                <a:tc>
                  <a:txBody>
                    <a:bodyPr/>
                    <a:lstStyle/>
                    <a:p>
                      <a:pPr algn="l"/>
                      <a:r>
                        <a:rPr sz="1000" b="0">
                          <a:solidFill>
                            <a:srgbClr val="1F1F1F"/>
                          </a:solidFill>
                          <a:latin typeface="KoPubWorld돋움체 Light"/>
                        </a:rPr>
                        <a:t>매입금액 270,000</a:t>
                      </a:r>
                    </a:p>
                  </a:txBody>
                  <a:tcPr marL="54864" marR="54864" marT="0" marB="0">
                    <a:solidFill>
                      <a:srgbClr val="FFFFFF"/>
                    </a:solidFill>
                  </a:tcPr>
                </a:tc>
                <a:tc>
                  <a:txBody>
                    <a:bodyPr/>
                    <a:lstStyle/>
                    <a:p>
                      <a:pPr algn="l"/>
                      <a:r>
                        <a:rPr sz="1000" b="0">
                          <a:solidFill>
                            <a:srgbClr val="1F1F1F"/>
                          </a:solidFill>
                          <a:latin typeface="KoPubWorld돋움체 Light"/>
                        </a:rPr>
                        <a:t>1,350</a:t>
                      </a:r>
                    </a:p>
                  </a:txBody>
                  <a:tcPr marL="54864" marR="54864" marT="0" marB="0">
                    <a:solidFill>
                      <a:srgbClr val="FFFFFF"/>
                    </a:solidFill>
                  </a:tcPr>
                </a:tc>
              </a:tr>
              <a:tr h="329184">
                <a:tc>
                  <a:txBody>
                    <a:bodyPr/>
                    <a:lstStyle/>
                    <a:p>
                      <a:pPr algn="ctr"/>
                      <a:r>
                        <a:rPr sz="1000" b="0">
                          <a:solidFill>
                            <a:srgbClr val="1F1F1F"/>
                          </a:solidFill>
                          <a:latin typeface="KoPubWorld돋움체 Light"/>
                        </a:rPr>
                        <a:t>운용보수</a:t>
                      </a:r>
                    </a:p>
                  </a:txBody>
                  <a:tcPr marL="54864" marR="54864" marT="0" marB="0">
                    <a:solidFill>
                      <a:srgbClr val="F2F2F2"/>
                    </a:solidFill>
                  </a:tcPr>
                </a:tc>
                <a:tc>
                  <a:txBody>
                    <a:bodyPr/>
                    <a:lstStyle/>
                    <a:p>
                      <a:pPr algn="l"/>
                      <a:r>
                        <a:rPr sz="1000" b="0">
                          <a:solidFill>
                            <a:srgbClr val="1F1F1F"/>
                          </a:solidFill>
                          <a:latin typeface="KoPubWorld돋움체 Light"/>
                        </a:rPr>
                        <a:t>총자산가액의 연 0.223%</a:t>
                      </a:r>
                    </a:p>
                  </a:txBody>
                  <a:tcPr marL="54864" marR="54864" marT="0" marB="0">
                    <a:solidFill>
                      <a:srgbClr val="F2F2F2"/>
                    </a:solidFill>
                  </a:tcPr>
                </a:tc>
                <a:tc>
                  <a:txBody>
                    <a:bodyPr/>
                    <a:lstStyle/>
                    <a:p>
                      <a:pPr algn="l"/>
                      <a:r>
                        <a:rPr sz="1000" b="0">
                          <a:solidFill>
                            <a:srgbClr val="1F1F1F"/>
                          </a:solidFill>
                          <a:latin typeface="KoPubWorld돋움체 Light"/>
                        </a:rPr>
                        <a:t>총자산 298,900 기준</a:t>
                      </a:r>
                    </a:p>
                  </a:txBody>
                  <a:tcPr marL="54864" marR="54864" marT="0" marB="0">
                    <a:solidFill>
                      <a:srgbClr val="F2F2F2"/>
                    </a:solidFill>
                  </a:tcPr>
                </a:tc>
                <a:tc>
                  <a:txBody>
                    <a:bodyPr/>
                    <a:lstStyle/>
                    <a:p>
                      <a:pPr algn="l"/>
                      <a:r>
                        <a:rPr sz="1000" b="0">
                          <a:solidFill>
                            <a:srgbClr val="1F1F1F"/>
                          </a:solidFill>
                          <a:latin typeface="KoPubWorld돋움체 Light"/>
                        </a:rPr>
                        <a:t>연 667 [추정]</a:t>
                      </a:r>
                    </a:p>
                  </a:txBody>
                  <a:tcPr marL="54864" marR="54864" marT="0" marB="0">
                    <a:solidFill>
                      <a:srgbClr val="F2F2F2"/>
                    </a:solidFill>
                  </a:tcPr>
                </a:tc>
              </a:tr>
              <a:tr h="329184">
                <a:tc>
                  <a:txBody>
                    <a:bodyPr/>
                    <a:lstStyle/>
                    <a:p>
                      <a:pPr algn="ctr"/>
                      <a:r>
                        <a:rPr sz="1000" b="0">
                          <a:solidFill>
                            <a:srgbClr val="1F1F1F"/>
                          </a:solidFill>
                          <a:latin typeface="KoPubWorld돋움체 Light"/>
                        </a:rPr>
                        <a:t>사무수탁 등</a:t>
                      </a:r>
                    </a:p>
                  </a:txBody>
                  <a:tcPr marL="54864" marR="54864" marT="0" marB="0">
                    <a:solidFill>
                      <a:srgbClr val="FFFFFF"/>
                    </a:solidFill>
                  </a:tcPr>
                </a:tc>
                <a:tc>
                  <a:txBody>
                    <a:bodyPr/>
                    <a:lstStyle/>
                    <a:p>
                      <a:pPr algn="l"/>
                      <a:r>
                        <a:rPr sz="1000" b="0">
                          <a:solidFill>
                            <a:srgbClr val="1F1F1F"/>
                          </a:solidFill>
                          <a:latin typeface="KoPubWorld돋움체 Light"/>
                        </a:rPr>
                        <a:t>총자산가액의 0.005%</a:t>
                      </a:r>
                    </a:p>
                  </a:txBody>
                  <a:tcPr marL="54864" marR="54864" marT="0" marB="0">
                    <a:solidFill>
                      <a:srgbClr val="FFFFFF"/>
                    </a:solidFill>
                  </a:tcPr>
                </a:tc>
                <a:tc>
                  <a:txBody>
                    <a:bodyPr/>
                    <a:lstStyle/>
                    <a:p>
                      <a:pPr algn="l"/>
                      <a:r>
                        <a:rPr sz="1000" b="0">
                          <a:solidFill>
                            <a:srgbClr val="1F1F1F"/>
                          </a:solidFill>
                          <a:latin typeface="KoPubWorld돋움체 Light"/>
                        </a:rPr>
                        <a:t>총자산 298,900 기준</a:t>
                      </a:r>
                    </a:p>
                  </a:txBody>
                  <a:tcPr marL="54864" marR="54864" marT="0" marB="0">
                    <a:solidFill>
                      <a:srgbClr val="FFFFFF"/>
                    </a:solidFill>
                  </a:tcPr>
                </a:tc>
                <a:tc>
                  <a:txBody>
                    <a:bodyPr/>
                    <a:lstStyle/>
                    <a:p>
                      <a:pPr algn="l"/>
                      <a:r>
                        <a:rPr sz="1000" b="0">
                          <a:solidFill>
                            <a:srgbClr val="1F1F1F"/>
                          </a:solidFill>
                          <a:latin typeface="KoPubWorld돋움체 Light"/>
                        </a:rPr>
                        <a:t>연 15 [추정]</a:t>
                      </a:r>
                    </a:p>
                  </a:txBody>
                  <a:tcPr marL="54864" marR="54864" marT="0" marB="0">
                    <a:solidFill>
                      <a:srgbClr val="FFFFFF"/>
                    </a:solidFill>
                  </a:tcPr>
                </a:tc>
              </a:tr>
              <a:tr h="329184">
                <a:tc>
                  <a:txBody>
                    <a:bodyPr/>
                    <a:lstStyle/>
                    <a:p>
                      <a:pPr algn="ctr"/>
                      <a:r>
                        <a:rPr sz="1000" b="0">
                          <a:solidFill>
                            <a:srgbClr val="1F1F1F"/>
                          </a:solidFill>
                          <a:latin typeface="KoPubWorld돋움체 Light"/>
                        </a:rPr>
                        <a:t>매각보수</a:t>
                      </a:r>
                    </a:p>
                  </a:txBody>
                  <a:tcPr marL="54864" marR="54864" marT="0" marB="0">
                    <a:solidFill>
                      <a:srgbClr val="F2F2F2"/>
                    </a:solidFill>
                  </a:tcPr>
                </a:tc>
                <a:tc>
                  <a:txBody>
                    <a:bodyPr/>
                    <a:lstStyle/>
                    <a:p>
                      <a:pPr algn="l"/>
                      <a:r>
                        <a:rPr sz="1000" b="0">
                          <a:solidFill>
                            <a:srgbClr val="1F1F1F"/>
                          </a:solidFill>
                          <a:latin typeface="KoPubWorld돋움체 Light"/>
                        </a:rPr>
                        <a:t>매각금액의 0.5%</a:t>
                      </a:r>
                    </a:p>
                  </a:txBody>
                  <a:tcPr marL="54864" marR="54864" marT="0" marB="0">
                    <a:solidFill>
                      <a:srgbClr val="F2F2F2"/>
                    </a:solidFill>
                  </a:tcPr>
                </a:tc>
                <a:tc>
                  <a:txBody>
                    <a:bodyPr/>
                    <a:lstStyle/>
                    <a:p>
                      <a:pPr algn="l"/>
                      <a:r>
                        <a:rPr sz="1000" b="0">
                          <a:solidFill>
                            <a:srgbClr val="1F1F1F"/>
                          </a:solidFill>
                          <a:latin typeface="KoPubWorld돋움체 Light"/>
                        </a:rPr>
                        <a:t>매각가치 375,861 가정</a:t>
                      </a:r>
                    </a:p>
                  </a:txBody>
                  <a:tcPr marL="54864" marR="54864" marT="0" marB="0">
                    <a:solidFill>
                      <a:srgbClr val="F2F2F2"/>
                    </a:solidFill>
                  </a:tcPr>
                </a:tc>
                <a:tc>
                  <a:txBody>
                    <a:bodyPr/>
                    <a:lstStyle/>
                    <a:p>
                      <a:pPr algn="l"/>
                      <a:r>
                        <a:rPr sz="1000" b="0">
                          <a:solidFill>
                            <a:srgbClr val="1F1F1F"/>
                          </a:solidFill>
                          <a:latin typeface="KoPubWorld돋움체 Light"/>
                        </a:rPr>
                        <a:t>1,879 [추정]</a:t>
                      </a:r>
                    </a:p>
                  </a:txBody>
                  <a:tcPr marL="54864" marR="54864" marT="0" marB="0">
                    <a:solidFill>
                      <a:srgbClr val="F2F2F2"/>
                    </a:solidFill>
                  </a:tcPr>
                </a:tc>
              </a:tr>
              <a:tr h="329184">
                <a:tc>
                  <a:txBody>
                    <a:bodyPr/>
                    <a:lstStyle/>
                    <a:p>
                      <a:pPr algn="ctr"/>
                      <a:r>
                        <a:rPr sz="1000" b="0">
                          <a:solidFill>
                            <a:srgbClr val="1F1F1F"/>
                          </a:solidFill>
                          <a:latin typeface="KoPubWorld돋움체 Light"/>
                        </a:rPr>
                        <a:t>매각성과보수</a:t>
                      </a:r>
                    </a:p>
                  </a:txBody>
                  <a:tcPr marL="54864" marR="54864" marT="0" marB="0">
                    <a:solidFill>
                      <a:srgbClr val="FFFFFF"/>
                    </a:solidFill>
                  </a:tcPr>
                </a:tc>
                <a:tc>
                  <a:txBody>
                    <a:bodyPr/>
                    <a:lstStyle/>
                    <a:p>
                      <a:pPr algn="l"/>
                      <a:r>
                        <a:rPr sz="1000" b="0">
                          <a:solidFill>
                            <a:srgbClr val="1F1F1F"/>
                          </a:solidFill>
                          <a:latin typeface="KoPubWorld돋움체 Light"/>
                        </a:rPr>
                        <a:t>매각차익의 15%</a:t>
                      </a:r>
                    </a:p>
                  </a:txBody>
                  <a:tcPr marL="54864" marR="54864" marT="0" marB="0">
                    <a:solidFill>
                      <a:srgbClr val="FFFFFF"/>
                    </a:solidFill>
                  </a:tcPr>
                </a:tc>
                <a:tc>
                  <a:txBody>
                    <a:bodyPr/>
                    <a:lstStyle/>
                    <a:p>
                      <a:pPr algn="l"/>
                      <a:r>
                        <a:rPr sz="1000" b="0">
                          <a:solidFill>
                            <a:srgbClr val="1F1F1F"/>
                          </a:solidFill>
                          <a:latin typeface="KoPubWorld돋움체 Light"/>
                        </a:rPr>
                        <a:t>매각차익 기준</a:t>
                      </a:r>
                    </a:p>
                  </a:txBody>
                  <a:tcPr marL="54864" marR="54864" marT="0" marB="0">
                    <a:solidFill>
                      <a:srgbClr val="FFFFFF"/>
                    </a:solidFill>
                  </a:tcPr>
                </a:tc>
                <a:tc>
                  <a:txBody>
                    <a:bodyPr/>
                    <a:lstStyle/>
                    <a:p>
                      <a:pPr algn="l"/>
                      <a:r>
                        <a:rPr sz="1000" b="0">
                          <a:solidFill>
                            <a:srgbClr val="1F1F1F"/>
                          </a:solidFill>
                          <a:latin typeface="KoPubWorld돋움체 Light"/>
                        </a:rPr>
                        <a:t>매각 시점 확정</a:t>
                      </a:r>
                    </a:p>
                  </a:txBody>
                  <a:tcPr marL="54864" marR="54864" marT="0" marB="0">
                    <a:solidFill>
                      <a:srgbClr val="FFFFFF"/>
                    </a:solidFill>
                  </a:tcPr>
                </a:tc>
              </a:tr>
            </a:tbl>
          </a:graphicData>
        </a:graphic>
      </p:graphicFrame>
      <p:sp>
        <p:nvSpPr>
          <p:cNvPr id="6" name="TextBox 5"/>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IM v01(2026.09) p.7, p.15 / 00_원본자료/processed/20260916_핵심지표_IM기준_v01.md §6. 운용·매각 관련 금액은 사업계획 가정에 따른 추정치이며 실제 금액은 총자산가액과 매각금액에 따라 변동됨. 수익을 보장하는 것이 아님.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74904" y="2011680"/>
            <a:ext cx="8458200" cy="1463040"/>
          </a:xfrm>
          <a:prstGeom prst="rect">
            <a:avLst/>
          </a:prstGeom>
          <a:noFill/>
        </p:spPr>
        <p:txBody>
          <a:bodyPr wrap="square" lIns="0" rIns="0" tIns="0" bIns="0">
            <a:spAutoFit/>
          </a:bodyPr>
          <a:lstStyle/>
          <a:p>
            <a:r>
              <a:rPr sz="1200" b="0">
                <a:solidFill>
                  <a:srgbClr val="012353"/>
                </a:solidFill>
                <a:latin typeface="KoPubWorld돋움체 Medium"/>
              </a:rPr>
              <a:t>[별첨]</a:t>
            </a:r>
          </a:p>
          <a:p>
            <a:r>
              <a:rPr sz="2400" b="0">
                <a:solidFill>
                  <a:srgbClr val="012353"/>
                </a:solidFill>
                <a:latin typeface="KoPubWorld돋움체 Bold"/>
              </a:rPr>
              <a:t>투자 대상 물건 설명자료</a:t>
            </a:r>
          </a:p>
          <a:p>
            <a:r>
              <a:rPr sz="1400" b="0">
                <a:solidFill>
                  <a:srgbClr val="1F1F1F"/>
                </a:solidFill>
                <a:latin typeface="KoPubWorld돋움체 Medium"/>
              </a:rPr>
              <a:t>안양물류센터 매입 프로젝트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2075688"/>
            <a:ext cx="5943600" cy="265176"/>
          </a:xfrm>
          <a:prstGeom prst="rect">
            <a:avLst/>
          </a:prstGeom>
          <a:noFill/>
        </p:spPr>
        <p:txBody>
          <a:bodyPr wrap="square" lIns="0" rIns="0" tIns="0" bIns="0">
            <a:spAutoFit/>
          </a:bodyPr>
          <a:lstStyle/>
          <a:p>
            <a:r>
              <a:rPr sz="1100" b="0">
                <a:solidFill>
                  <a:srgbClr val="012353"/>
                </a:solidFill>
                <a:latin typeface="KoPubWorld돋움체 Medium"/>
              </a:rPr>
              <a:t>[별첨] 투자 대상 물건 설명자료 — 안양물류센터 매입 프로젝트</a:t>
            </a:r>
          </a:p>
        </p:txBody>
      </p:sp>
      <p:cxnSp>
        <p:nvCxnSpPr>
          <p:cNvPr id="3" name="Connector 2"/>
          <p:cNvCxnSpPr/>
          <p:nvPr/>
        </p:nvCxnSpPr>
        <p:spPr>
          <a:xfrm>
            <a:off x="2286000" y="2194560"/>
            <a:ext cx="795528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13816" y="2779776"/>
            <a:ext cx="2743200" cy="457200"/>
          </a:xfrm>
          <a:prstGeom prst="rect">
            <a:avLst/>
          </a:prstGeom>
          <a:noFill/>
        </p:spPr>
        <p:txBody>
          <a:bodyPr wrap="square" lIns="0" rIns="0" tIns="0" bIns="0">
            <a:spAutoFit/>
          </a:bodyPr>
          <a:lstStyle/>
          <a:p>
            <a:r>
              <a:rPr sz="2000" b="0">
                <a:solidFill>
                  <a:srgbClr val="012353"/>
                </a:solidFill>
                <a:latin typeface="KoPubWorld돋움체 Bold"/>
              </a:rPr>
              <a:t>Contents</a:t>
            </a:r>
          </a:p>
        </p:txBody>
      </p:sp>
      <p:sp>
        <p:nvSpPr>
          <p:cNvPr id="5" name="TextBox 4"/>
          <p:cNvSpPr txBox="1"/>
          <p:nvPr/>
        </p:nvSpPr>
        <p:spPr>
          <a:xfrm>
            <a:off x="7214616" y="2779776"/>
            <a:ext cx="3246120" cy="2194560"/>
          </a:xfrm>
          <a:prstGeom prst="rect">
            <a:avLst/>
          </a:prstGeom>
          <a:noFill/>
        </p:spPr>
        <p:txBody>
          <a:bodyPr wrap="square" lIns="0" rIns="0" tIns="0" bIns="0">
            <a:spAutoFit/>
          </a:bodyPr>
          <a:lstStyle/>
          <a:p>
            <a:pPr>
              <a:spcAft>
                <a:spcPts val="800"/>
              </a:spcAft>
            </a:pPr>
            <a:r>
              <a:rPr sz="1100" b="0">
                <a:solidFill>
                  <a:srgbClr val="1F1F1F"/>
                </a:solidFill>
                <a:latin typeface="KoPubWorld돋움체 Light"/>
              </a:rPr>
              <a:t>Investment Highlights</a:t>
            </a:r>
          </a:p>
          <a:p>
            <a:pPr>
              <a:spcAft>
                <a:spcPts val="800"/>
              </a:spcAft>
            </a:pPr>
            <a:r>
              <a:rPr sz="1100" b="0">
                <a:solidFill>
                  <a:srgbClr val="1F1F1F"/>
                </a:solidFill>
                <a:latin typeface="KoPubWorld돋움체 Light"/>
              </a:rPr>
              <a:t>Ⅰ. 사업개요</a:t>
            </a:r>
          </a:p>
          <a:p>
            <a:pPr>
              <a:spcAft>
                <a:spcPts val="800"/>
              </a:spcAft>
            </a:pPr>
            <a:r>
              <a:rPr sz="1100" b="0">
                <a:solidFill>
                  <a:srgbClr val="1F1F1F"/>
                </a:solidFill>
                <a:latin typeface="KoPubWorld돋움체 Light"/>
              </a:rPr>
              <a:t>Ⅱ. 투자계획</a:t>
            </a:r>
          </a:p>
          <a:p>
            <a:pPr>
              <a:spcAft>
                <a:spcPts val="800"/>
              </a:spcAft>
            </a:pPr>
            <a:r>
              <a:rPr sz="1100" b="0">
                <a:solidFill>
                  <a:srgbClr val="1F1F1F"/>
                </a:solidFill>
                <a:latin typeface="KoPubWorld돋움체 Light"/>
              </a:rPr>
              <a:t>Ⅲ. 운영 및 Exit Plan</a:t>
            </a:r>
          </a:p>
          <a:p>
            <a:pPr>
              <a:spcAft>
                <a:spcPts val="800"/>
              </a:spcAft>
            </a:pPr>
            <a:r>
              <a:rPr sz="1100" b="0">
                <a:solidFill>
                  <a:srgbClr val="1F1F1F"/>
                </a:solidFill>
                <a:latin typeface="KoPubWorld돋움체 Light"/>
              </a:rPr>
              <a:t>Ⅳ. 리스크 요인분석 및 관리방안</a:t>
            </a:r>
          </a:p>
          <a:p>
            <a:pPr>
              <a:spcAft>
                <a:spcPts val="800"/>
              </a:spcAft>
            </a:pPr>
            <a:r>
              <a:rPr sz="1100" b="0">
                <a:solidFill>
                  <a:srgbClr val="1F1F1F"/>
                </a:solidFill>
                <a:latin typeface="KoPubWorld돋움체 Light"/>
              </a:rPr>
              <a:t>Appendix.</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Key Investment Highlights</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수도권 Last-mile 권역의 신축 프라임 상온 물류센터를 감정평가액 대비 19.3% 낮은 가격에 매입</a:t>
            </a:r>
          </a:p>
          <a:p>
            <a:r>
              <a:rPr sz="1200" b="0">
                <a:solidFill>
                  <a:srgbClr val="404040"/>
                </a:solidFill>
                <a:latin typeface="KoPubWorld돋움체 Light"/>
              </a:rPr>
              <a:t>• 공실률 0.68%의 안정적 운영자산으로, 2029~2030년 임대차 만기 시 임대료 상승 여력 보유</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핵심 지표</a:t>
            </a:r>
          </a:p>
        </p:txBody>
      </p:sp>
      <p:graphicFrame>
        <p:nvGraphicFramePr>
          <p:cNvPr id="5" name="Table 4"/>
          <p:cNvGraphicFramePr>
            <a:graphicFrameLocks noGrp="1"/>
          </p:cNvGraphicFramePr>
          <p:nvPr/>
        </p:nvGraphicFramePr>
        <p:xfrm>
          <a:off x="521207" y="2359152"/>
          <a:ext cx="9784079" cy="3456432"/>
        </p:xfrm>
        <a:graphic>
          <a:graphicData uri="http://schemas.openxmlformats.org/drawingml/2006/table">
            <a:tbl>
              <a:tblPr firstRow="1" bandRow="1">
                <a:tableStyleId>{5C22544A-7EE6-4342-B048-85BDC9FD1C3A}</a:tableStyleId>
              </a:tblPr>
              <a:tblGrid>
                <a:gridCol w="2011680"/>
                <a:gridCol w="4023360"/>
                <a:gridCol w="3749039"/>
              </a:tblGrid>
              <a:tr h="384048">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지 표</a:t>
                      </a:r>
                    </a:p>
                  </a:txBody>
                  <a:tcPr marL="54864" marR="54864" marT="0" marB="0">
                    <a:solidFill>
                      <a:srgbClr val="DAE3F3"/>
                    </a:solidFill>
                  </a:tcPr>
                </a:tc>
                <a:tc>
                  <a:txBody>
                    <a:bodyPr/>
                    <a:lstStyle/>
                    <a:p>
                      <a:pPr algn="ctr"/>
                      <a:r>
                        <a:rPr sz="1000" b="0">
                          <a:solidFill>
                            <a:srgbClr val="1F1F1F"/>
                          </a:solidFill>
                          <a:latin typeface="KoPubWorld돋움체 Bold"/>
                        </a:rPr>
                        <a:t>비 고</a:t>
                      </a:r>
                    </a:p>
                  </a:txBody>
                  <a:tcPr marL="54864" marR="54864" marT="0" marB="0">
                    <a:solidFill>
                      <a:srgbClr val="DAE3F3"/>
                    </a:solidFill>
                  </a:tcPr>
                </a:tc>
              </a:tr>
              <a:tr h="384048">
                <a:tc>
                  <a:txBody>
                    <a:bodyPr/>
                    <a:lstStyle/>
                    <a:p>
                      <a:pPr algn="ctr"/>
                      <a:r>
                        <a:rPr sz="1000" b="0">
                          <a:solidFill>
                            <a:srgbClr val="1F1F1F"/>
                          </a:solidFill>
                          <a:latin typeface="KoPubWorld돋움체 Light"/>
                        </a:rPr>
                        <a:t>매입가</a:t>
                      </a:r>
                    </a:p>
                  </a:txBody>
                  <a:tcPr marL="54864" marR="54864" marT="0" marB="0">
                    <a:solidFill>
                      <a:srgbClr val="FFFFFF"/>
                    </a:solidFill>
                  </a:tcPr>
                </a:tc>
                <a:tc>
                  <a:txBody>
                    <a:bodyPr/>
                    <a:lstStyle/>
                    <a:p>
                      <a:pPr algn="l"/>
                      <a:r>
                        <a:rPr sz="1000" b="0">
                          <a:solidFill>
                            <a:srgbClr val="1F1F1F"/>
                          </a:solidFill>
                          <a:latin typeface="KoPubWorld돋움체 Light"/>
                        </a:rPr>
                        <a:t>2,700억원 (연면적 평당 935만원)</a:t>
                      </a:r>
                    </a:p>
                  </a:txBody>
                  <a:tcPr marL="54864" marR="54864" marT="0" marB="0">
                    <a:solidFill>
                      <a:srgbClr val="FFFFFF"/>
                    </a:solidFill>
                  </a:tcPr>
                </a:tc>
                <a:tc>
                  <a:txBody>
                    <a:bodyPr/>
                    <a:lstStyle/>
                    <a:p>
                      <a:pPr algn="l"/>
                      <a:r>
                        <a:rPr sz="1000" b="0">
                          <a:solidFill>
                            <a:srgbClr val="1F1F1F"/>
                          </a:solidFill>
                          <a:latin typeface="KoPubWorld돋움체 Light"/>
                        </a:rPr>
                        <a:t>감정평가액 3,345억원 대비 −19.3%</a:t>
                      </a:r>
                    </a:p>
                  </a:txBody>
                  <a:tcPr marL="54864" marR="54864" marT="0" marB="0">
                    <a:solidFill>
                      <a:srgbClr val="FFFFFF"/>
                    </a:solidFill>
                  </a:tcPr>
                </a:tc>
              </a:tr>
              <a:tr h="384048">
                <a:tc>
                  <a:txBody>
                    <a:bodyPr/>
                    <a:lstStyle/>
                    <a:p>
                      <a:pPr algn="ctr"/>
                      <a:r>
                        <a:rPr sz="1000" b="0">
                          <a:solidFill>
                            <a:srgbClr val="1F1F1F"/>
                          </a:solidFill>
                          <a:latin typeface="KoPubWorld돋움체 Light"/>
                        </a:rPr>
                        <a:t>Cap Rate</a:t>
                      </a:r>
                    </a:p>
                  </a:txBody>
                  <a:tcPr marL="54864" marR="54864" marT="0" marB="0">
                    <a:solidFill>
                      <a:srgbClr val="F2F2F2"/>
                    </a:solidFill>
                  </a:tcPr>
                </a:tc>
                <a:tc>
                  <a:txBody>
                    <a:bodyPr/>
                    <a:lstStyle/>
                    <a:p>
                      <a:pPr algn="l"/>
                      <a:r>
                        <a:rPr sz="1000" b="0">
                          <a:solidFill>
                            <a:srgbClr val="1F1F1F"/>
                          </a:solidFill>
                          <a:latin typeface="KoPubWorld돋움체 Light"/>
                        </a:rPr>
                        <a:t>4.89%</a:t>
                      </a:r>
                    </a:p>
                  </a:txBody>
                  <a:tcPr marL="54864" marR="54864" marT="0" marB="0">
                    <a:solidFill>
                      <a:srgbClr val="F2F2F2"/>
                    </a:solidFill>
                  </a:tcPr>
                </a:tc>
                <a:tc>
                  <a:txBody>
                    <a:bodyPr/>
                    <a:lstStyle/>
                    <a:p>
                      <a:pPr algn="l"/>
                      <a:r>
                        <a:rPr sz="1000" b="0">
                          <a:solidFill>
                            <a:srgbClr val="1F1F1F"/>
                          </a:solidFill>
                          <a:latin typeface="KoPubWorld돋움체 Light"/>
                        </a:rPr>
                        <a:t>NOI ÷ (매입가 − 임대보증금), 취득부대비용 미포함</a:t>
                      </a:r>
                    </a:p>
                  </a:txBody>
                  <a:tcPr marL="54864" marR="54864" marT="0" marB="0">
                    <a:solidFill>
                      <a:srgbClr val="F2F2F2"/>
                    </a:solidFill>
                  </a:tcPr>
                </a:tc>
              </a:tr>
              <a:tr h="384048">
                <a:tc>
                  <a:txBody>
                    <a:bodyPr/>
                    <a:lstStyle/>
                    <a:p>
                      <a:pPr algn="ctr"/>
                      <a:r>
                        <a:rPr sz="1000" b="0">
                          <a:solidFill>
                            <a:srgbClr val="1F1F1F"/>
                          </a:solidFill>
                          <a:latin typeface="KoPubWorld돋움체 Light"/>
                        </a:rPr>
                        <a:t>LTV</a:t>
                      </a:r>
                    </a:p>
                  </a:txBody>
                  <a:tcPr marL="54864" marR="54864" marT="0" marB="0">
                    <a:solidFill>
                      <a:srgbClr val="FFFFFF"/>
                    </a:solidFill>
                  </a:tcPr>
                </a:tc>
                <a:tc>
                  <a:txBody>
                    <a:bodyPr/>
                    <a:lstStyle/>
                    <a:p>
                      <a:pPr algn="l"/>
                      <a:r>
                        <a:rPr sz="1000" b="0">
                          <a:solidFill>
                            <a:srgbClr val="1F1F1F"/>
                          </a:solidFill>
                          <a:latin typeface="KoPubWorld돋움체 Light"/>
                        </a:rPr>
                        <a:t>59.9% (감정가 기준)</a:t>
                      </a:r>
                    </a:p>
                  </a:txBody>
                  <a:tcPr marL="54864" marR="54864" marT="0" marB="0">
                    <a:solidFill>
                      <a:srgbClr val="FFFFFF"/>
                    </a:solidFill>
                  </a:tcPr>
                </a:tc>
                <a:tc>
                  <a:txBody>
                    <a:bodyPr/>
                    <a:lstStyle/>
                    <a:p>
                      <a:pPr algn="l"/>
                      <a:r>
                        <a:rPr sz="1000" b="0">
                          <a:solidFill>
                            <a:srgbClr val="1F1F1F"/>
                          </a:solidFill>
                          <a:latin typeface="KoPubWorld돋움체 Light"/>
                        </a:rPr>
                        <a:t>임대보증금 + 선순위 + 중순위 기준</a:t>
                      </a:r>
                    </a:p>
                  </a:txBody>
                  <a:tcPr marL="54864" marR="54864" marT="0" marB="0">
                    <a:solidFill>
                      <a:srgbClr val="FFFFFF"/>
                    </a:solidFill>
                  </a:tcPr>
                </a:tc>
              </a:tr>
              <a:tr h="384048">
                <a:tc>
                  <a:txBody>
                    <a:bodyPr/>
                    <a:lstStyle/>
                    <a:p>
                      <a:pPr algn="ctr"/>
                      <a:r>
                        <a:rPr sz="1000" b="0">
                          <a:solidFill>
                            <a:srgbClr val="1F1F1F"/>
                          </a:solidFill>
                          <a:latin typeface="KoPubWorld돋움체 Light"/>
                        </a:rPr>
                        <a:t>임대율 / 공실률</a:t>
                      </a:r>
                    </a:p>
                  </a:txBody>
                  <a:tcPr marL="54864" marR="54864" marT="0" marB="0">
                    <a:solidFill>
                      <a:srgbClr val="F2F2F2"/>
                    </a:solidFill>
                  </a:tcPr>
                </a:tc>
                <a:tc>
                  <a:txBody>
                    <a:bodyPr/>
                    <a:lstStyle/>
                    <a:p>
                      <a:pPr algn="l"/>
                      <a:r>
                        <a:rPr sz="1000" b="0">
                          <a:solidFill>
                            <a:srgbClr val="1F1F1F"/>
                          </a:solidFill>
                          <a:latin typeface="KoPubWorld돋움체 Light"/>
                        </a:rPr>
                        <a:t>99.3% / 0.68%</a:t>
                      </a:r>
                    </a:p>
                  </a:txBody>
                  <a:tcPr marL="54864" marR="54864" marT="0" marB="0">
                    <a:solidFill>
                      <a:srgbClr val="F2F2F2"/>
                    </a:solidFill>
                  </a:tcPr>
                </a:tc>
                <a:tc>
                  <a:txBody>
                    <a:bodyPr/>
                    <a:lstStyle/>
                    <a:p>
                      <a:pPr algn="l"/>
                      <a:r>
                        <a:rPr sz="1000" b="0">
                          <a:solidFill>
                            <a:srgbClr val="1F1F1F"/>
                          </a:solidFill>
                          <a:latin typeface="KoPubWorld돋움체 Light"/>
                        </a:rPr>
                        <a:t>공실 141평</a:t>
                      </a:r>
                    </a:p>
                  </a:txBody>
                  <a:tcPr marL="54864" marR="54864" marT="0" marB="0">
                    <a:solidFill>
                      <a:srgbClr val="F2F2F2"/>
                    </a:solidFill>
                  </a:tcPr>
                </a:tc>
              </a:tr>
              <a:tr h="384048">
                <a:tc>
                  <a:txBody>
                    <a:bodyPr/>
                    <a:lstStyle/>
                    <a:p>
                      <a:pPr algn="ctr"/>
                      <a:r>
                        <a:rPr sz="1000" b="0">
                          <a:solidFill>
                            <a:srgbClr val="1F1F1F"/>
                          </a:solidFill>
                          <a:latin typeface="KoPubWorld돋움체 Light"/>
                        </a:rPr>
                        <a:t>WALE</a:t>
                      </a:r>
                    </a:p>
                  </a:txBody>
                  <a:tcPr marL="54864" marR="54864" marT="0" marB="0">
                    <a:solidFill>
                      <a:srgbClr val="FFFFFF"/>
                    </a:solidFill>
                  </a:tcPr>
                </a:tc>
                <a:tc>
                  <a:txBody>
                    <a:bodyPr/>
                    <a:lstStyle/>
                    <a:p>
                      <a:pPr algn="l"/>
                      <a:r>
                        <a:rPr sz="1000" b="0">
                          <a:solidFill>
                            <a:srgbClr val="1F1F1F"/>
                          </a:solidFill>
                          <a:latin typeface="KoPubWorld돋움체 Light"/>
                        </a:rPr>
                        <a:t>6.8년 (거래종결일 기준)</a:t>
                      </a:r>
                    </a:p>
                  </a:txBody>
                  <a:tcPr marL="54864" marR="54864" marT="0" marB="0">
                    <a:solidFill>
                      <a:srgbClr val="FFFFFF"/>
                    </a:solidFill>
                  </a:tcPr>
                </a:tc>
                <a:tc>
                  <a:txBody>
                    <a:bodyPr/>
                    <a:lstStyle/>
                    <a:p>
                      <a:pPr algn="l"/>
                      <a:r>
                        <a:rPr sz="1000" b="0">
                          <a:solidFill>
                            <a:srgbClr val="1F1F1F"/>
                          </a:solidFill>
                          <a:latin typeface="KoPubWorld돋움체 Light"/>
                        </a:rPr>
                        <a:t>재무모델 기준 6.66년, 산정기준 확인 중</a:t>
                      </a:r>
                    </a:p>
                  </a:txBody>
                  <a:tcPr marL="54864" marR="54864" marT="0" marB="0">
                    <a:solidFill>
                      <a:srgbClr val="FFFFFF"/>
                    </a:solidFill>
                  </a:tcPr>
                </a:tc>
              </a:tr>
              <a:tr h="384048">
                <a:tc>
                  <a:txBody>
                    <a:bodyPr/>
                    <a:lstStyle/>
                    <a:p>
                      <a:pPr algn="ctr"/>
                      <a:r>
                        <a:rPr sz="1000" b="0">
                          <a:solidFill>
                            <a:srgbClr val="1F1F1F"/>
                          </a:solidFill>
                          <a:latin typeface="KoPubWorld돋움체 Light"/>
                        </a:rPr>
                        <a:t>최대 임차인</a:t>
                      </a:r>
                    </a:p>
                  </a:txBody>
                  <a:tcPr marL="54864" marR="54864" marT="0" marB="0">
                    <a:solidFill>
                      <a:srgbClr val="F2F2F2"/>
                    </a:solidFill>
                  </a:tcPr>
                </a:tc>
                <a:tc>
                  <a:txBody>
                    <a:bodyPr/>
                    <a:lstStyle/>
                    <a:p>
                      <a:pPr algn="l"/>
                      <a:r>
                        <a:rPr sz="1000" b="0">
                          <a:solidFill>
                            <a:srgbClr val="1F1F1F"/>
                          </a:solidFill>
                          <a:latin typeface="KoPubWorld돋움체 Light"/>
                        </a:rPr>
                        <a:t>쿠팡 77.2%</a:t>
                      </a:r>
                    </a:p>
                  </a:txBody>
                  <a:tcPr marL="54864" marR="54864" marT="0" marB="0">
                    <a:solidFill>
                      <a:srgbClr val="F2F2F2"/>
                    </a:solidFill>
                  </a:tcPr>
                </a:tc>
                <a:tc>
                  <a:txBody>
                    <a:bodyPr/>
                    <a:lstStyle/>
                    <a:p>
                      <a:pPr algn="l"/>
                      <a:r>
                        <a:rPr sz="1000" b="0">
                          <a:solidFill>
                            <a:srgbClr val="1F1F1F"/>
                          </a:solidFill>
                          <a:latin typeface="KoPubWorld돋움체 Light"/>
                        </a:rPr>
                        <a:t>만기 2034-04, 2029-04 중도해지·연장 선택권</a:t>
                      </a:r>
                    </a:p>
                  </a:txBody>
                  <a:tcPr marL="54864" marR="54864" marT="0" marB="0">
                    <a:solidFill>
                      <a:srgbClr val="F2F2F2"/>
                    </a:solidFill>
                  </a:tcPr>
                </a:tc>
              </a:tr>
              <a:tr h="384048">
                <a:tc>
                  <a:txBody>
                    <a:bodyPr/>
                    <a:lstStyle/>
                    <a:p>
                      <a:pPr algn="ctr"/>
                      <a:r>
                        <a:rPr sz="1000" b="0">
                          <a:solidFill>
                            <a:srgbClr val="1F1F1F"/>
                          </a:solidFill>
                          <a:latin typeface="KoPubWorld돋움체 Light"/>
                        </a:rPr>
                        <a:t>Equity 수익률</a:t>
                      </a:r>
                    </a:p>
                  </a:txBody>
                  <a:tcPr marL="54864" marR="54864" marT="0" marB="0">
                    <a:solidFill>
                      <a:srgbClr val="FFFFFF"/>
                    </a:solidFill>
                  </a:tcPr>
                </a:tc>
                <a:tc>
                  <a:txBody>
                    <a:bodyPr/>
                    <a:lstStyle/>
                    <a:p>
                      <a:pPr algn="l"/>
                      <a:r>
                        <a:rPr sz="1000" b="0">
                          <a:solidFill>
                            <a:srgbClr val="1F1F1F"/>
                          </a:solidFill>
                          <a:latin typeface="KoPubWorld돋움체 Light"/>
                        </a:rPr>
                        <a:t>1종 7.12% / 2종 9.24% / 보통주 16.44%</a:t>
                      </a:r>
                    </a:p>
                  </a:txBody>
                  <a:tcPr marL="54864" marR="54864" marT="0" marB="0">
                    <a:solidFill>
                      <a:srgbClr val="FFFFFF"/>
                    </a:solidFill>
                  </a:tcPr>
                </a:tc>
                <a:tc>
                  <a:txBody>
                    <a:bodyPr/>
                    <a:lstStyle/>
                    <a:p>
                      <a:pPr algn="l"/>
                      <a:r>
                        <a:rPr sz="1000" b="0">
                          <a:solidFill>
                            <a:srgbClr val="1F1F1F"/>
                          </a:solidFill>
                          <a:latin typeface="KoPubWorld돋움체 Light"/>
                        </a:rPr>
                        <a:t>전체 Equity IRR 10.34%</a:t>
                      </a:r>
                    </a:p>
                  </a:txBody>
                  <a:tcPr marL="54864" marR="54864" marT="0" marB="0">
                    <a:solidFill>
                      <a:srgbClr val="FFFFFF"/>
                    </a:solidFill>
                  </a:tcPr>
                </a:tc>
              </a:tr>
              <a:tr h="384048">
                <a:tc>
                  <a:txBody>
                    <a:bodyPr/>
                    <a:lstStyle/>
                    <a:p>
                      <a:pPr algn="ctr"/>
                      <a:r>
                        <a:rPr sz="1000" b="0">
                          <a:solidFill>
                            <a:srgbClr val="1F1F1F"/>
                          </a:solidFill>
                          <a:latin typeface="KoPubWorld돋움체 Light"/>
                        </a:rPr>
                        <a:t>운용기간</a:t>
                      </a:r>
                    </a:p>
                  </a:txBody>
                  <a:tcPr marL="54864" marR="54864" marT="0" marB="0">
                    <a:solidFill>
                      <a:srgbClr val="F2F2F2"/>
                    </a:solidFill>
                  </a:tcPr>
                </a:tc>
                <a:tc>
                  <a:txBody>
                    <a:bodyPr/>
                    <a:lstStyle/>
                    <a:p>
                      <a:pPr algn="l"/>
                      <a:r>
                        <a:rPr sz="1000" b="0">
                          <a:solidFill>
                            <a:srgbClr val="1F1F1F"/>
                          </a:solidFill>
                          <a:latin typeface="KoPubWorld돋움체 Light"/>
                        </a:rPr>
                        <a:t>10년 (2026-10 ~ 2036-10)</a:t>
                      </a:r>
                    </a:p>
                  </a:txBody>
                  <a:tcPr marL="54864" marR="54864" marT="0" marB="0">
                    <a:solidFill>
                      <a:srgbClr val="F2F2F2"/>
                    </a:solidFill>
                  </a:tcPr>
                </a:tc>
                <a:tc>
                  <a:txBody>
                    <a:bodyPr/>
                    <a:lstStyle/>
                    <a:p>
                      <a:pPr algn="l"/>
                      <a:r>
                        <a:rPr sz="1000" b="0">
                          <a:solidFill>
                            <a:srgbClr val="1F1F1F"/>
                          </a:solidFill>
                          <a:latin typeface="KoPubWorld돋움체 Light"/>
                        </a:rPr>
                        <a:t>사모 위탁관리부동산투자회사</a:t>
                      </a:r>
                    </a:p>
                  </a:txBody>
                  <a:tcPr marL="54864" marR="54864" marT="0" marB="0">
                    <a:solidFill>
                      <a:srgbClr val="F2F2F2"/>
                    </a:solidFill>
                  </a:tcPr>
                </a:tc>
              </a:tr>
            </a:tbl>
          </a:graphicData>
        </a:graphic>
      </p:graphicFrame>
      <p:sp>
        <p:nvSpPr>
          <p:cNvPr id="6" name="TextBox 5"/>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00_원본자료/processed/20260916_핵심지표_IM기준_v01.md (근거: IM v01(2026.09), 재무분석보고서(우리회계법인, v1.11), 감정평가서 기준시점 2026-08-31). 수익률은 재무분석보고서(우리회계법인, v1.11) 기준이며, 재무모델 v01(2026-09-15)은 2종 9.15%·보통주 16.18%로 산출 — 확정값 확인 중.</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투자 포인트</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가격·입지·임대차·구조 네 가지 측면에서 Core 물류센터의 투자 조건을 충족함</a:t>
            </a:r>
          </a:p>
          <a:p>
            <a:r>
              <a:rPr sz="1200" b="0">
                <a:solidFill>
                  <a:srgbClr val="404040"/>
                </a:solidFill>
                <a:latin typeface="KoPubWorld돋움체 Light"/>
              </a:rPr>
              <a:t>• 신규 공급이 제한된 권역 특성상 임대료 상승에 따른 Upside Potential 보유</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투자 포인트</a:t>
            </a:r>
          </a:p>
        </p:txBody>
      </p:sp>
      <p:graphicFrame>
        <p:nvGraphicFramePr>
          <p:cNvPr id="5" name="Table 4"/>
          <p:cNvGraphicFramePr>
            <a:graphicFrameLocks noGrp="1"/>
          </p:cNvGraphicFramePr>
          <p:nvPr/>
        </p:nvGraphicFramePr>
        <p:xfrm>
          <a:off x="521207" y="2359152"/>
          <a:ext cx="9784080" cy="4114800"/>
        </p:xfrm>
        <a:graphic>
          <a:graphicData uri="http://schemas.openxmlformats.org/drawingml/2006/table">
            <a:tbl>
              <a:tblPr firstRow="1" bandRow="1">
                <a:tableStyleId>{5C22544A-7EE6-4342-B048-85BDC9FD1C3A}</a:tableStyleId>
              </a:tblPr>
              <a:tblGrid>
                <a:gridCol w="2560320"/>
                <a:gridCol w="7223760"/>
              </a:tblGrid>
              <a:tr h="822960">
                <a:tc>
                  <a:txBody>
                    <a:bodyPr/>
                    <a:lstStyle/>
                    <a:p>
                      <a:pPr algn="ctr"/>
                      <a:r>
                        <a:rPr sz="900" b="0">
                          <a:solidFill>
                            <a:srgbClr val="1F1F1F"/>
                          </a:solidFill>
                          <a:latin typeface="KoPubWorld돋움체 Bold"/>
                        </a:rPr>
                        <a:t>구 분</a:t>
                      </a:r>
                    </a:p>
                  </a:txBody>
                  <a:tcPr marL="54864" marR="54864" marT="0" marB="0">
                    <a:solidFill>
                      <a:srgbClr val="DAE3F3"/>
                    </a:solidFill>
                  </a:tcPr>
                </a:tc>
                <a:tc>
                  <a:txBody>
                    <a:bodyPr/>
                    <a:lstStyle/>
                    <a:p>
                      <a:pPr algn="ctr"/>
                      <a:r>
                        <a:rPr sz="900" b="0">
                          <a:solidFill>
                            <a:srgbClr val="1F1F1F"/>
                          </a:solidFill>
                          <a:latin typeface="KoPubWorld돋움체 Bold"/>
                        </a:rPr>
                        <a:t>내 용</a:t>
                      </a:r>
                    </a:p>
                  </a:txBody>
                  <a:tcPr marL="54864" marR="54864" marT="0" marB="0">
                    <a:solidFill>
                      <a:srgbClr val="DAE3F3"/>
                    </a:solidFill>
                  </a:tcPr>
                </a:tc>
              </a:tr>
              <a:tr h="822960">
                <a:tc>
                  <a:txBody>
                    <a:bodyPr/>
                    <a:lstStyle/>
                    <a:p>
                      <a:pPr algn="ctr"/>
                      <a:r>
                        <a:rPr sz="900" b="0">
                          <a:solidFill>
                            <a:srgbClr val="1F1F1F"/>
                          </a:solidFill>
                          <a:latin typeface="KoPubWorld돋움체 Light"/>
                        </a:rPr>
                        <a:t>① 신축 Spec · 매력적 매입 조건</a:t>
                      </a:r>
                    </a:p>
                  </a:txBody>
                  <a:tcPr marL="54864" marR="54864" marT="0" marB="0">
                    <a:solidFill>
                      <a:srgbClr val="FFFFFF"/>
                    </a:solidFill>
                  </a:tcPr>
                </a:tc>
                <a:tc>
                  <a:txBody>
                    <a:bodyPr/>
                    <a:lstStyle/>
                    <a:p>
                      <a:pPr algn="l"/>
                      <a:r>
                        <a:rPr sz="900" b="0">
                          <a:solidFill>
                            <a:srgbClr val="1F1F1F"/>
                          </a:solidFill>
                          <a:latin typeface="KoPubWorld돋움체 Light"/>
                        </a:rPr>
                        <a:t>2023-11 준공 프라임 상온 물류센터(연면적 28,881평) · 담보 감정평가액 대비 −19.3% 할인 매입
매입 Cap Rate 4.89%, 시장조사상 적정 매입가 범위 891~1,014만원/평 대비 935만원/평</a:t>
                      </a:r>
                    </a:p>
                  </a:txBody>
                  <a:tcPr marL="54864" marR="54864" marT="0" marB="0">
                    <a:solidFill>
                      <a:srgbClr val="FFFFFF"/>
                    </a:solidFill>
                  </a:tcPr>
                </a:tc>
              </a:tr>
              <a:tr h="822960">
                <a:tc>
                  <a:txBody>
                    <a:bodyPr/>
                    <a:lstStyle/>
                    <a:p>
                      <a:pPr algn="ctr"/>
                      <a:r>
                        <a:rPr sz="900" b="0">
                          <a:solidFill>
                            <a:srgbClr val="1F1F1F"/>
                          </a:solidFill>
                          <a:latin typeface="KoPubWorld돋움체 Light"/>
                        </a:rPr>
                        <a:t>② 프라임 입지 — Last-mile Zone</a:t>
                      </a:r>
                    </a:p>
                  </a:txBody>
                  <a:tcPr marL="54864" marR="54864" marT="0" marB="0">
                    <a:solidFill>
                      <a:srgbClr val="F2F2F2"/>
                    </a:solidFill>
                  </a:tcPr>
                </a:tc>
                <a:tc>
                  <a:txBody>
                    <a:bodyPr/>
                    <a:lstStyle/>
                    <a:p>
                      <a:pPr algn="l"/>
                      <a:r>
                        <a:rPr sz="900" b="0">
                          <a:solidFill>
                            <a:srgbClr val="1F1F1F"/>
                          </a:solidFill>
                          <a:latin typeface="KoPubWorld돋움체 Light"/>
                        </a:rPr>
                        <a:t>서울 20km 반경 안양 도심 입지, 경기 소재 강남권역 30분 내 접근 가능
권역 내 Eff. Rent 56~63천원/평, 공실률 0~1.4% 수준의 수요 우위 시장</a:t>
                      </a:r>
                    </a:p>
                  </a:txBody>
                  <a:tcPr marL="54864" marR="54864" marT="0" marB="0">
                    <a:solidFill>
                      <a:srgbClr val="F2F2F2"/>
                    </a:solidFill>
                  </a:tcPr>
                </a:tc>
              </a:tr>
              <a:tr h="822960">
                <a:tc>
                  <a:txBody>
                    <a:bodyPr/>
                    <a:lstStyle/>
                    <a:p>
                      <a:pPr algn="ctr"/>
                      <a:r>
                        <a:rPr sz="900" b="0">
                          <a:solidFill>
                            <a:srgbClr val="1F1F1F"/>
                          </a:solidFill>
                          <a:latin typeface="KoPubWorld돋움체 Light"/>
                        </a:rPr>
                        <a:t>③ 우량 임차인 · 장기 계약</a:t>
                      </a:r>
                    </a:p>
                  </a:txBody>
                  <a:tcPr marL="54864" marR="54864" marT="0" marB="0">
                    <a:solidFill>
                      <a:srgbClr val="FFFFFF"/>
                    </a:solidFill>
                  </a:tcPr>
                </a:tc>
                <a:tc>
                  <a:txBody>
                    <a:bodyPr/>
                    <a:lstStyle/>
                    <a:p>
                      <a:pPr algn="l"/>
                      <a:r>
                        <a:rPr sz="900" b="0">
                          <a:solidFill>
                            <a:srgbClr val="1F1F1F"/>
                          </a:solidFill>
                          <a:latin typeface="KoPubWorld돋움체 Light"/>
                        </a:rPr>
                        <a:t>쿠팡 77.2% 장기 임차(WALE 6.8년), 임대율 99.3%
2029~2030년 만기 도래 임차인(농심·키즈밀 등) 재계약 시 임대료 상승 여력</a:t>
                      </a:r>
                    </a:p>
                  </a:txBody>
                  <a:tcPr marL="54864" marR="54864" marT="0" marB="0">
                    <a:solidFill>
                      <a:srgbClr val="FFFFFF"/>
                    </a:solidFill>
                  </a:tcPr>
                </a:tc>
              </a:tr>
              <a:tr h="822960">
                <a:tc>
                  <a:txBody>
                    <a:bodyPr/>
                    <a:lstStyle/>
                    <a:p>
                      <a:pPr algn="ctr"/>
                      <a:r>
                        <a:rPr sz="900" b="0">
                          <a:solidFill>
                            <a:srgbClr val="1F1F1F"/>
                          </a:solidFill>
                          <a:latin typeface="KoPubWorld돋움체 Light"/>
                        </a:rPr>
                        <a:t>④ 구조적 안정성</a:t>
                      </a:r>
                    </a:p>
                  </a:txBody>
                  <a:tcPr marL="54864" marR="54864" marT="0" marB="0">
                    <a:solidFill>
                      <a:srgbClr val="F2F2F2"/>
                    </a:solidFill>
                  </a:tcPr>
                </a:tc>
                <a:tc>
                  <a:txBody>
                    <a:bodyPr/>
                    <a:lstStyle/>
                    <a:p>
                      <a:pPr algn="l"/>
                      <a:r>
                        <a:rPr sz="900" b="0">
                          <a:solidFill>
                            <a:srgbClr val="1F1F1F"/>
                          </a:solidFill>
                          <a:latin typeface="KoPubWorld돋움체 Light"/>
                        </a:rPr>
                        <a:t>10년 장기 보유 가능한 사모리츠 구조, 공모예외기관(KLI리츠) 보통주 참여
제3종 종류주식 100억원 Overfunding으로 초기 2년 확정배당 재원 확보</a:t>
                      </a:r>
                    </a:p>
                  </a:txBody>
                  <a:tcPr marL="54864" marR="54864" marT="0" marB="0">
                    <a:solidFill>
                      <a:srgbClr val="F2F2F2"/>
                    </a:solidFill>
                  </a:tcPr>
                </a:tc>
              </a:tr>
            </a:tbl>
          </a:graphicData>
        </a:graphic>
      </p:graphicFrame>
      <p:sp>
        <p:nvSpPr>
          <p:cNvPr id="6" name="TextBox 5"/>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IM v01(2026.09) p.4 / 시장조사보고서(2026-08-10) 가격적정성 검토 / 00_원본자료/processed/20260916_핵심지표_IM기준_v01.md §2~§3. 임대료 상승은 시장 상황에 따른 예상이며 확정된 것이 아님.</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74904" y="2011680"/>
            <a:ext cx="5486400" cy="548640"/>
          </a:xfrm>
          <a:prstGeom prst="rect">
            <a:avLst/>
          </a:prstGeom>
          <a:noFill/>
        </p:spPr>
        <p:txBody>
          <a:bodyPr wrap="square" lIns="0" rIns="0" tIns="0" bIns="0">
            <a:spAutoFit/>
          </a:bodyPr>
          <a:lstStyle/>
          <a:p>
            <a:r>
              <a:rPr sz="2000" b="0">
                <a:solidFill>
                  <a:srgbClr val="012353"/>
                </a:solidFill>
                <a:latin typeface="KoPubWorld돋움체 Bold"/>
              </a:rPr>
              <a:t>Ⅰ. 사업개요</a:t>
            </a:r>
          </a:p>
        </p:txBody>
      </p:sp>
      <p:sp>
        <p:nvSpPr>
          <p:cNvPr id="3" name="TextBox 2"/>
          <p:cNvSpPr txBox="1"/>
          <p:nvPr/>
        </p:nvSpPr>
        <p:spPr>
          <a:xfrm>
            <a:off x="374904" y="2834640"/>
            <a:ext cx="5943600" cy="1755648"/>
          </a:xfrm>
          <a:prstGeom prst="rect">
            <a:avLst/>
          </a:prstGeom>
          <a:noFill/>
        </p:spPr>
        <p:txBody>
          <a:bodyPr wrap="square" lIns="0" rIns="0" tIns="0" bIns="0">
            <a:spAutoFit/>
          </a:bodyPr>
          <a:lstStyle/>
          <a:p>
            <a:pPr>
              <a:spcAft>
                <a:spcPts val="600"/>
              </a:spcAft>
            </a:pPr>
            <a:r>
              <a:rPr sz="1100" b="0">
                <a:solidFill>
                  <a:srgbClr val="404040"/>
                </a:solidFill>
                <a:latin typeface="KoPubWorld돋움체 Light"/>
              </a:rPr>
              <a:t>Investment Highlights</a:t>
            </a:r>
          </a:p>
          <a:p>
            <a:pPr>
              <a:spcAft>
                <a:spcPts val="600"/>
              </a:spcAft>
            </a:pPr>
            <a:r>
              <a:rPr sz="1200" b="0">
                <a:solidFill>
                  <a:srgbClr val="012353"/>
                </a:solidFill>
                <a:latin typeface="KoPubWorld돋움체 Bold"/>
              </a:rPr>
              <a:t>Ⅰ. 사업개요</a:t>
            </a:r>
          </a:p>
          <a:p>
            <a:pPr>
              <a:spcAft>
                <a:spcPts val="600"/>
              </a:spcAft>
            </a:pPr>
            <a:r>
              <a:rPr sz="1100" b="0">
                <a:solidFill>
                  <a:srgbClr val="404040"/>
                </a:solidFill>
                <a:latin typeface="KoPubWorld돋움체 Light"/>
              </a:rPr>
              <a:t>Ⅱ. 투자계획</a:t>
            </a:r>
          </a:p>
          <a:p>
            <a:pPr>
              <a:spcAft>
                <a:spcPts val="600"/>
              </a:spcAft>
            </a:pPr>
            <a:r>
              <a:rPr sz="1100" b="0">
                <a:solidFill>
                  <a:srgbClr val="404040"/>
                </a:solidFill>
                <a:latin typeface="KoPubWorld돋움체 Light"/>
              </a:rPr>
              <a:t>Ⅲ. 운영 및 Exit Plan</a:t>
            </a:r>
          </a:p>
          <a:p>
            <a:pPr>
              <a:spcAft>
                <a:spcPts val="600"/>
              </a:spcAft>
            </a:pPr>
            <a:r>
              <a:rPr sz="1100" b="0">
                <a:solidFill>
                  <a:srgbClr val="404040"/>
                </a:solidFill>
                <a:latin typeface="KoPubWorld돋움체 Light"/>
              </a:rPr>
              <a:t>Ⅳ. 리스크 요인분석 및 관리방안</a:t>
            </a:r>
          </a:p>
          <a:p>
            <a:pPr>
              <a:spcAft>
                <a:spcPts val="600"/>
              </a:spcAft>
            </a:pPr>
            <a:r>
              <a:rPr sz="1100" b="0">
                <a:solidFill>
                  <a:srgbClr val="404040"/>
                </a:solidFill>
                <a:latin typeface="KoPubWorld돋움체 Light"/>
              </a:rPr>
              <a:t>Appendix.</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1. 투자자산 개요</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경기도 안양 도심에 소재한 연면적 28,881평 규모의 신축 프라임 상온 물류센터임</a:t>
            </a:r>
          </a:p>
          <a:p>
            <a:r>
              <a:rPr sz="1200" b="0">
                <a:solidFill>
                  <a:srgbClr val="404040"/>
                </a:solidFill>
                <a:latin typeface="KoPubWorld돋움체 Light"/>
              </a:rPr>
              <a:t>• 전력용량 9,500kW, 전층 접안 가능, 기존 저온 면적 전부 상온 전환 완료</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대상자산 개요</a:t>
            </a:r>
          </a:p>
        </p:txBody>
      </p:sp>
      <p:graphicFrame>
        <p:nvGraphicFramePr>
          <p:cNvPr id="5" name="Table 4"/>
          <p:cNvGraphicFramePr>
            <a:graphicFrameLocks noGrp="1"/>
          </p:cNvGraphicFramePr>
          <p:nvPr/>
        </p:nvGraphicFramePr>
        <p:xfrm>
          <a:off x="521207" y="2359152"/>
          <a:ext cx="9784080" cy="3950208"/>
        </p:xfrm>
        <a:graphic>
          <a:graphicData uri="http://schemas.openxmlformats.org/drawingml/2006/table">
            <a:tbl>
              <a:tblPr firstRow="1" bandRow="1">
                <a:tableStyleId>{5C22544A-7EE6-4342-B048-85BDC9FD1C3A}</a:tableStyleId>
              </a:tblPr>
              <a:tblGrid>
                <a:gridCol w="2377440"/>
                <a:gridCol w="7406640"/>
              </a:tblGrid>
              <a:tr h="329184">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내 용</a:t>
                      </a:r>
                    </a:p>
                  </a:txBody>
                  <a:tcPr marL="54864" marR="54864" marT="0" marB="0">
                    <a:solidFill>
                      <a:srgbClr val="DAE3F3"/>
                    </a:solidFill>
                  </a:tcPr>
                </a:tc>
              </a:tr>
              <a:tr h="329184">
                <a:tc>
                  <a:txBody>
                    <a:bodyPr/>
                    <a:lstStyle/>
                    <a:p>
                      <a:pPr algn="ctr"/>
                      <a:r>
                        <a:rPr sz="1000" b="0">
                          <a:solidFill>
                            <a:srgbClr val="1F1F1F"/>
                          </a:solidFill>
                          <a:latin typeface="KoPubWorld돋움체 Light"/>
                        </a:rPr>
                        <a:t>물건명</a:t>
                      </a:r>
                    </a:p>
                  </a:txBody>
                  <a:tcPr marL="54864" marR="54864" marT="0" marB="0">
                    <a:solidFill>
                      <a:srgbClr val="FFFFFF"/>
                    </a:solidFill>
                  </a:tcPr>
                </a:tc>
                <a:tc>
                  <a:txBody>
                    <a:bodyPr/>
                    <a:lstStyle/>
                    <a:p>
                      <a:pPr algn="l"/>
                      <a:r>
                        <a:rPr sz="1000" b="0">
                          <a:solidFill>
                            <a:srgbClr val="1F1F1F"/>
                          </a:solidFill>
                          <a:latin typeface="KoPubWorld돋움체 Light"/>
                        </a:rPr>
                        <a:t>안양물류센터</a:t>
                      </a:r>
                    </a:p>
                  </a:txBody>
                  <a:tcPr marL="54864" marR="54864" marT="0" marB="0">
                    <a:solidFill>
                      <a:srgbClr val="FFFFFF"/>
                    </a:solidFill>
                  </a:tcPr>
                </a:tc>
              </a:tr>
              <a:tr h="329184">
                <a:tc>
                  <a:txBody>
                    <a:bodyPr/>
                    <a:lstStyle/>
                    <a:p>
                      <a:pPr algn="ctr"/>
                      <a:r>
                        <a:rPr sz="1000" b="0">
                          <a:solidFill>
                            <a:srgbClr val="1F1F1F"/>
                          </a:solidFill>
                          <a:latin typeface="KoPubWorld돋움체 Light"/>
                        </a:rPr>
                        <a:t>소재지</a:t>
                      </a:r>
                    </a:p>
                  </a:txBody>
                  <a:tcPr marL="54864" marR="54864" marT="0" marB="0">
                    <a:solidFill>
                      <a:srgbClr val="F2F2F2"/>
                    </a:solidFill>
                  </a:tcPr>
                </a:tc>
                <a:tc>
                  <a:txBody>
                    <a:bodyPr/>
                    <a:lstStyle/>
                    <a:p>
                      <a:pPr algn="l"/>
                      <a:r>
                        <a:rPr sz="1000" b="0">
                          <a:solidFill>
                            <a:srgbClr val="1F1F1F"/>
                          </a:solidFill>
                          <a:latin typeface="KoPubWorld돋움체 Light"/>
                        </a:rPr>
                        <a:t>경기도 안양시 동안구 관양동 934 외 2필지</a:t>
                      </a:r>
                    </a:p>
                  </a:txBody>
                  <a:tcPr marL="54864" marR="54864" marT="0" marB="0">
                    <a:solidFill>
                      <a:srgbClr val="F2F2F2"/>
                    </a:solidFill>
                  </a:tcPr>
                </a:tc>
              </a:tr>
              <a:tr h="329184">
                <a:tc>
                  <a:txBody>
                    <a:bodyPr/>
                    <a:lstStyle/>
                    <a:p>
                      <a:pPr algn="ctr"/>
                      <a:r>
                        <a:rPr sz="1000" b="0">
                          <a:solidFill>
                            <a:srgbClr val="1F1F1F"/>
                          </a:solidFill>
                          <a:latin typeface="KoPubWorld돋움체 Light"/>
                        </a:rPr>
                        <a:t>용도지역 / 주용도</a:t>
                      </a:r>
                    </a:p>
                  </a:txBody>
                  <a:tcPr marL="54864" marR="54864" marT="0" marB="0">
                    <a:solidFill>
                      <a:srgbClr val="FFFFFF"/>
                    </a:solidFill>
                  </a:tcPr>
                </a:tc>
                <a:tc>
                  <a:txBody>
                    <a:bodyPr/>
                    <a:lstStyle/>
                    <a:p>
                      <a:pPr algn="l"/>
                      <a:r>
                        <a:rPr sz="1000" b="0">
                          <a:solidFill>
                            <a:srgbClr val="1F1F1F"/>
                          </a:solidFill>
                          <a:latin typeface="KoPubWorld돋움체 Light"/>
                        </a:rPr>
                        <a:t>도시지역 · 일반공업지역 / 창고시설 (상온 100%)</a:t>
                      </a:r>
                    </a:p>
                  </a:txBody>
                  <a:tcPr marL="54864" marR="54864" marT="0" marB="0">
                    <a:solidFill>
                      <a:srgbClr val="FFFFFF"/>
                    </a:solidFill>
                  </a:tcPr>
                </a:tc>
              </a:tr>
              <a:tr h="329184">
                <a:tc>
                  <a:txBody>
                    <a:bodyPr/>
                    <a:lstStyle/>
                    <a:p>
                      <a:pPr algn="ctr"/>
                      <a:r>
                        <a:rPr sz="1000" b="0">
                          <a:solidFill>
                            <a:srgbClr val="1F1F1F"/>
                          </a:solidFill>
                          <a:latin typeface="KoPubWorld돋움체 Light"/>
                        </a:rPr>
                        <a:t>대지면적</a:t>
                      </a:r>
                    </a:p>
                  </a:txBody>
                  <a:tcPr marL="54864" marR="54864" marT="0" marB="0">
                    <a:solidFill>
                      <a:srgbClr val="F2F2F2"/>
                    </a:solidFill>
                  </a:tcPr>
                </a:tc>
                <a:tc>
                  <a:txBody>
                    <a:bodyPr/>
                    <a:lstStyle/>
                    <a:p>
                      <a:pPr algn="l"/>
                      <a:r>
                        <a:rPr sz="1000" b="0">
                          <a:solidFill>
                            <a:srgbClr val="1F1F1F"/>
                          </a:solidFill>
                          <a:latin typeface="KoPubWorld돋움체 Light"/>
                        </a:rPr>
                        <a:t>15,287.50㎡ (4,624.47평)</a:t>
                      </a:r>
                    </a:p>
                  </a:txBody>
                  <a:tcPr marL="54864" marR="54864" marT="0" marB="0">
                    <a:solidFill>
                      <a:srgbClr val="F2F2F2"/>
                    </a:solidFill>
                  </a:tcPr>
                </a:tc>
              </a:tr>
              <a:tr h="329184">
                <a:tc>
                  <a:txBody>
                    <a:bodyPr/>
                    <a:lstStyle/>
                    <a:p>
                      <a:pPr algn="ctr"/>
                      <a:r>
                        <a:rPr sz="1000" b="0">
                          <a:solidFill>
                            <a:srgbClr val="1F1F1F"/>
                          </a:solidFill>
                          <a:latin typeface="KoPubWorld돋움체 Light"/>
                        </a:rPr>
                        <a:t>연면적</a:t>
                      </a:r>
                    </a:p>
                  </a:txBody>
                  <a:tcPr marL="54864" marR="54864" marT="0" marB="0">
                    <a:solidFill>
                      <a:srgbClr val="FFFFFF"/>
                    </a:solidFill>
                  </a:tcPr>
                </a:tc>
                <a:tc>
                  <a:txBody>
                    <a:bodyPr/>
                    <a:lstStyle/>
                    <a:p>
                      <a:pPr algn="l"/>
                      <a:r>
                        <a:rPr sz="1000" b="0">
                          <a:solidFill>
                            <a:srgbClr val="1F1F1F"/>
                          </a:solidFill>
                          <a:latin typeface="KoPubWorld돋움체 Light"/>
                        </a:rPr>
                        <a:t>95,474.59㎡ (28,881.06평)</a:t>
                      </a:r>
                    </a:p>
                  </a:txBody>
                  <a:tcPr marL="54864" marR="54864" marT="0" marB="0">
                    <a:solidFill>
                      <a:srgbClr val="FFFFFF"/>
                    </a:solidFill>
                  </a:tcPr>
                </a:tc>
              </a:tr>
              <a:tr h="329184">
                <a:tc>
                  <a:txBody>
                    <a:bodyPr/>
                    <a:lstStyle/>
                    <a:p>
                      <a:pPr algn="ctr"/>
                      <a:r>
                        <a:rPr sz="1000" b="0">
                          <a:solidFill>
                            <a:srgbClr val="1F1F1F"/>
                          </a:solidFill>
                          <a:latin typeface="KoPubWorld돋움체 Light"/>
                        </a:rPr>
                        <a:t>임대면적 / 전용면적</a:t>
                      </a:r>
                    </a:p>
                  </a:txBody>
                  <a:tcPr marL="54864" marR="54864" marT="0" marB="0">
                    <a:solidFill>
                      <a:srgbClr val="F2F2F2"/>
                    </a:solidFill>
                  </a:tcPr>
                </a:tc>
                <a:tc>
                  <a:txBody>
                    <a:bodyPr/>
                    <a:lstStyle/>
                    <a:p>
                      <a:pPr algn="l"/>
                      <a:r>
                        <a:rPr sz="1000" b="0">
                          <a:solidFill>
                            <a:srgbClr val="1F1F1F"/>
                          </a:solidFill>
                          <a:latin typeface="KoPubWorld돋움체 Light"/>
                        </a:rPr>
                        <a:t>69,058.12㎡ (20,890.08평) / 54,720.14㎡ (16,552.84평)</a:t>
                      </a:r>
                    </a:p>
                  </a:txBody>
                  <a:tcPr marL="54864" marR="54864" marT="0" marB="0">
                    <a:solidFill>
                      <a:srgbClr val="F2F2F2"/>
                    </a:solidFill>
                  </a:tcPr>
                </a:tc>
              </a:tr>
              <a:tr h="329184">
                <a:tc>
                  <a:txBody>
                    <a:bodyPr/>
                    <a:lstStyle/>
                    <a:p>
                      <a:pPr algn="ctr"/>
                      <a:r>
                        <a:rPr sz="1000" b="0">
                          <a:solidFill>
                            <a:srgbClr val="1F1F1F"/>
                          </a:solidFill>
                          <a:latin typeface="KoPubWorld돋움체 Light"/>
                        </a:rPr>
                        <a:t>규모</a:t>
                      </a:r>
                    </a:p>
                  </a:txBody>
                  <a:tcPr marL="54864" marR="54864" marT="0" marB="0">
                    <a:solidFill>
                      <a:srgbClr val="FFFFFF"/>
                    </a:solidFill>
                  </a:tcPr>
                </a:tc>
                <a:tc>
                  <a:txBody>
                    <a:bodyPr/>
                    <a:lstStyle/>
                    <a:p>
                      <a:pPr algn="l"/>
                      <a:r>
                        <a:rPr sz="1000" b="0">
                          <a:solidFill>
                            <a:srgbClr val="1F1F1F"/>
                          </a:solidFill>
                          <a:latin typeface="KoPubWorld돋움체 Light"/>
                        </a:rPr>
                        <a:t>지하 2층 / 지상 8층</a:t>
                      </a:r>
                    </a:p>
                  </a:txBody>
                  <a:tcPr marL="54864" marR="54864" marT="0" marB="0">
                    <a:solidFill>
                      <a:srgbClr val="FFFFFF"/>
                    </a:solidFill>
                  </a:tcPr>
                </a:tc>
              </a:tr>
              <a:tr h="329184">
                <a:tc>
                  <a:txBody>
                    <a:bodyPr/>
                    <a:lstStyle/>
                    <a:p>
                      <a:pPr algn="ctr"/>
                      <a:r>
                        <a:rPr sz="1000" b="0">
                          <a:solidFill>
                            <a:srgbClr val="1F1F1F"/>
                          </a:solidFill>
                          <a:latin typeface="KoPubWorld돋움체 Light"/>
                        </a:rPr>
                        <a:t>건폐율 / 용적률</a:t>
                      </a:r>
                    </a:p>
                  </a:txBody>
                  <a:tcPr marL="54864" marR="54864" marT="0" marB="0">
                    <a:solidFill>
                      <a:srgbClr val="F2F2F2"/>
                    </a:solidFill>
                  </a:tcPr>
                </a:tc>
                <a:tc>
                  <a:txBody>
                    <a:bodyPr/>
                    <a:lstStyle/>
                    <a:p>
                      <a:pPr algn="l"/>
                      <a:r>
                        <a:rPr sz="1000" b="0">
                          <a:solidFill>
                            <a:srgbClr val="1F1F1F"/>
                          </a:solidFill>
                          <a:latin typeface="KoPubWorld돋움체 Light"/>
                        </a:rPr>
                        <a:t>68.05% (법정 70%) / 283.65% (법정 300%)</a:t>
                      </a:r>
                    </a:p>
                  </a:txBody>
                  <a:tcPr marL="54864" marR="54864" marT="0" marB="0">
                    <a:solidFill>
                      <a:srgbClr val="F2F2F2"/>
                    </a:solidFill>
                  </a:tcPr>
                </a:tc>
              </a:tr>
              <a:tr h="329184">
                <a:tc>
                  <a:txBody>
                    <a:bodyPr/>
                    <a:lstStyle/>
                    <a:p>
                      <a:pPr algn="ctr"/>
                      <a:r>
                        <a:rPr sz="1000" b="0">
                          <a:solidFill>
                            <a:srgbClr val="1F1F1F"/>
                          </a:solidFill>
                          <a:latin typeface="KoPubWorld돋움체 Light"/>
                        </a:rPr>
                        <a:t>준공(사용승인)일</a:t>
                      </a:r>
                    </a:p>
                  </a:txBody>
                  <a:tcPr marL="54864" marR="54864" marT="0" marB="0">
                    <a:solidFill>
                      <a:srgbClr val="FFFFFF"/>
                    </a:solidFill>
                  </a:tcPr>
                </a:tc>
                <a:tc>
                  <a:txBody>
                    <a:bodyPr/>
                    <a:lstStyle/>
                    <a:p>
                      <a:pPr algn="l"/>
                      <a:r>
                        <a:rPr sz="1000" b="0">
                          <a:solidFill>
                            <a:srgbClr val="1F1F1F"/>
                          </a:solidFill>
                          <a:latin typeface="KoPubWorld돋움체 Light"/>
                        </a:rPr>
                        <a:t>2023-11-24</a:t>
                      </a:r>
                    </a:p>
                  </a:txBody>
                  <a:tcPr marL="54864" marR="54864" marT="0" marB="0">
                    <a:solidFill>
                      <a:srgbClr val="FFFFFF"/>
                    </a:solidFill>
                  </a:tcPr>
                </a:tc>
              </a:tr>
              <a:tr h="329184">
                <a:tc>
                  <a:txBody>
                    <a:bodyPr/>
                    <a:lstStyle/>
                    <a:p>
                      <a:pPr algn="ctr"/>
                      <a:r>
                        <a:rPr sz="1000" b="0">
                          <a:solidFill>
                            <a:srgbClr val="1F1F1F"/>
                          </a:solidFill>
                          <a:latin typeface="KoPubWorld돋움체 Light"/>
                        </a:rPr>
                        <a:t>전력용량 / 접안</a:t>
                      </a:r>
                    </a:p>
                  </a:txBody>
                  <a:tcPr marL="54864" marR="54864" marT="0" marB="0">
                    <a:solidFill>
                      <a:srgbClr val="F2F2F2"/>
                    </a:solidFill>
                  </a:tcPr>
                </a:tc>
                <a:tc>
                  <a:txBody>
                    <a:bodyPr/>
                    <a:lstStyle/>
                    <a:p>
                      <a:pPr algn="l"/>
                      <a:r>
                        <a:rPr sz="1000" b="0">
                          <a:solidFill>
                            <a:srgbClr val="1F1F1F"/>
                          </a:solidFill>
                          <a:latin typeface="KoPubWorld돋움체 Light"/>
                        </a:rPr>
                        <a:t>9,500kW / 전층 접안 가능</a:t>
                      </a:r>
                    </a:p>
                  </a:txBody>
                  <a:tcPr marL="54864" marR="54864" marT="0" marB="0">
                    <a:solidFill>
                      <a:srgbClr val="F2F2F2"/>
                    </a:solidFill>
                  </a:tcPr>
                </a:tc>
              </a:tr>
              <a:tr h="329184">
                <a:tc>
                  <a:txBody>
                    <a:bodyPr/>
                    <a:lstStyle/>
                    <a:p>
                      <a:pPr algn="ctr"/>
                      <a:r>
                        <a:rPr sz="1000" b="0">
                          <a:solidFill>
                            <a:srgbClr val="1F1F1F"/>
                          </a:solidFill>
                          <a:latin typeface="KoPubWorld돋움체 Light"/>
                        </a:rPr>
                        <a:t>매도인</a:t>
                      </a:r>
                    </a:p>
                  </a:txBody>
                  <a:tcPr marL="54864" marR="54864" marT="0" marB="0">
                    <a:solidFill>
                      <a:srgbClr val="FFFFFF"/>
                    </a:solidFill>
                  </a:tcPr>
                </a:tc>
                <a:tc>
                  <a:txBody>
                    <a:bodyPr/>
                    <a:lstStyle/>
                    <a:p>
                      <a:pPr algn="l"/>
                      <a:r>
                        <a:rPr sz="1000" b="0">
                          <a:solidFill>
                            <a:srgbClr val="1F1F1F"/>
                          </a:solidFill>
                          <a:latin typeface="KoPubWorld돋움체 Light"/>
                        </a:rPr>
                        <a:t>코크렙안양 주식회사 (PFV, ㈜엘에프 95% · 코람코자산신탁 5%)</a:t>
                      </a:r>
                    </a:p>
                  </a:txBody>
                  <a:tcPr marL="54864" marR="54864" marT="0" marB="0">
                    <a:solidFill>
                      <a:srgbClr val="FFFFFF"/>
                    </a:solidFill>
                  </a:tcPr>
                </a:tc>
              </a:tr>
            </a:tbl>
          </a:graphicData>
        </a:graphic>
      </p:graphicFrame>
      <p:sp>
        <p:nvSpPr>
          <p:cNvPr id="6" name="TextBox 5"/>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00_원본자료/processed/20260916_핵심지표_IM기준_v01.md §1 (근거: IM v01(2026.09) p.5) / 법률실사보고서(2026-09-09). 대지면적은 재무모델상 15,019.5㎡(2필지 기준)와 차이가 있어 등기부 확인 중.</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2. 입지분석</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서울 및 경기남부 소비지를 30분 내 커버하는 수도권 중부권역 Last-mile 입지임</a:t>
            </a:r>
          </a:p>
          <a:p>
            <a:r>
              <a:rPr sz="1200" b="0">
                <a:solidFill>
                  <a:srgbClr val="404040"/>
                </a:solidFill>
                <a:latin typeface="KoPubWorld돋움체 Light"/>
              </a:rPr>
              <a:t>• 평촌·인덕원 일대 고밀주거를 배후로 물류센터 운영에 필요한 인력 수급이 용이</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입지 여건</a:t>
            </a:r>
          </a:p>
        </p:txBody>
      </p:sp>
      <p:graphicFrame>
        <p:nvGraphicFramePr>
          <p:cNvPr id="5" name="Table 4"/>
          <p:cNvGraphicFramePr>
            <a:graphicFrameLocks noGrp="1"/>
          </p:cNvGraphicFramePr>
          <p:nvPr/>
        </p:nvGraphicFramePr>
        <p:xfrm>
          <a:off x="521207" y="2359152"/>
          <a:ext cx="9784080" cy="2194560"/>
        </p:xfrm>
        <a:graphic>
          <a:graphicData uri="http://schemas.openxmlformats.org/drawingml/2006/table">
            <a:tbl>
              <a:tblPr firstRow="1" bandRow="1">
                <a:tableStyleId>{5C22544A-7EE6-4342-B048-85BDC9FD1C3A}</a:tableStyleId>
              </a:tblPr>
              <a:tblGrid>
                <a:gridCol w="2011680"/>
                <a:gridCol w="7772400"/>
              </a:tblGrid>
              <a:tr h="365760">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내 용</a:t>
                      </a:r>
                    </a:p>
                  </a:txBody>
                  <a:tcPr marL="54864" marR="54864" marT="0" marB="0">
                    <a:solidFill>
                      <a:srgbClr val="DAE3F3"/>
                    </a:solidFill>
                  </a:tcPr>
                </a:tc>
              </a:tr>
              <a:tr h="365760">
                <a:tc>
                  <a:txBody>
                    <a:bodyPr/>
                    <a:lstStyle/>
                    <a:p>
                      <a:pPr algn="ctr"/>
                      <a:r>
                        <a:rPr sz="1000" b="0">
                          <a:solidFill>
                            <a:srgbClr val="1F1F1F"/>
                          </a:solidFill>
                          <a:latin typeface="KoPubWorld돋움체 Light"/>
                        </a:rPr>
                        <a:t>권역</a:t>
                      </a:r>
                    </a:p>
                  </a:txBody>
                  <a:tcPr marL="54864" marR="54864" marT="0" marB="0">
                    <a:solidFill>
                      <a:srgbClr val="FFFFFF"/>
                    </a:solidFill>
                  </a:tcPr>
                </a:tc>
                <a:tc>
                  <a:txBody>
                    <a:bodyPr/>
                    <a:lstStyle/>
                    <a:p>
                      <a:pPr algn="l"/>
                      <a:r>
                        <a:rPr sz="1000" b="0">
                          <a:solidFill>
                            <a:srgbClr val="1F1F1F"/>
                          </a:solidFill>
                          <a:latin typeface="KoPubWorld돋움체 Light"/>
                        </a:rPr>
                        <a:t>수도권 중부권역 (Last-mile Zone), 서울 20km 반경</a:t>
                      </a:r>
                    </a:p>
                  </a:txBody>
                  <a:tcPr marL="54864" marR="54864" marT="0" marB="0">
                    <a:solidFill>
                      <a:srgbClr val="FFFFFF"/>
                    </a:solidFill>
                  </a:tcPr>
                </a:tc>
              </a:tr>
              <a:tr h="365760">
                <a:tc>
                  <a:txBody>
                    <a:bodyPr/>
                    <a:lstStyle/>
                    <a:p>
                      <a:pPr algn="ctr"/>
                      <a:r>
                        <a:rPr sz="1000" b="0">
                          <a:solidFill>
                            <a:srgbClr val="1F1F1F"/>
                          </a:solidFill>
                          <a:latin typeface="KoPubWorld돋움체 Light"/>
                        </a:rPr>
                        <a:t>교통</a:t>
                      </a:r>
                    </a:p>
                  </a:txBody>
                  <a:tcPr marL="54864" marR="54864" marT="0" marB="0">
                    <a:solidFill>
                      <a:srgbClr val="F2F2F2"/>
                    </a:solidFill>
                  </a:tcPr>
                </a:tc>
                <a:tc>
                  <a:txBody>
                    <a:bodyPr/>
                    <a:lstStyle/>
                    <a:p>
                      <a:pPr algn="l"/>
                      <a:r>
                        <a:rPr sz="1000" b="0">
                          <a:solidFill>
                            <a:srgbClr val="1F1F1F"/>
                          </a:solidFill>
                          <a:latin typeface="KoPubWorld돋움체 Light"/>
                        </a:rPr>
                        <a:t>평촌IC · 북의왕IC 2km 내, 반포 17km · 약 35분</a:t>
                      </a:r>
                    </a:p>
                  </a:txBody>
                  <a:tcPr marL="54864" marR="54864" marT="0" marB="0">
                    <a:solidFill>
                      <a:srgbClr val="F2F2F2"/>
                    </a:solidFill>
                  </a:tcPr>
                </a:tc>
              </a:tr>
              <a:tr h="365760">
                <a:tc>
                  <a:txBody>
                    <a:bodyPr/>
                    <a:lstStyle/>
                    <a:p>
                      <a:pPr algn="ctr"/>
                      <a:r>
                        <a:rPr sz="1000" b="0">
                          <a:solidFill>
                            <a:srgbClr val="1F1F1F"/>
                          </a:solidFill>
                          <a:latin typeface="KoPubWorld돋움체 Light"/>
                        </a:rPr>
                        <a:t>배후 수요</a:t>
                      </a:r>
                    </a:p>
                  </a:txBody>
                  <a:tcPr marL="54864" marR="54864" marT="0" marB="0">
                    <a:solidFill>
                      <a:srgbClr val="FFFFFF"/>
                    </a:solidFill>
                  </a:tcPr>
                </a:tc>
                <a:tc>
                  <a:txBody>
                    <a:bodyPr/>
                    <a:lstStyle/>
                    <a:p>
                      <a:pPr algn="l"/>
                      <a:r>
                        <a:rPr sz="1000" b="0">
                          <a:solidFill>
                            <a:srgbClr val="1F1F1F"/>
                          </a:solidFill>
                          <a:latin typeface="KoPubWorld돋움체 Light"/>
                        </a:rPr>
                        <a:t>평촌·인덕원 고밀주거권역 인접, 인력 수급 및 대중교통 접근성 양호</a:t>
                      </a:r>
                    </a:p>
                  </a:txBody>
                  <a:tcPr marL="54864" marR="54864" marT="0" marB="0">
                    <a:solidFill>
                      <a:srgbClr val="FFFFFF"/>
                    </a:solidFill>
                  </a:tcPr>
                </a:tc>
              </a:tr>
              <a:tr h="365760">
                <a:tc>
                  <a:txBody>
                    <a:bodyPr/>
                    <a:lstStyle/>
                    <a:p>
                      <a:pPr algn="ctr"/>
                      <a:r>
                        <a:rPr sz="1000" b="0">
                          <a:solidFill>
                            <a:srgbClr val="1F1F1F"/>
                          </a:solidFill>
                          <a:latin typeface="KoPubWorld돋움체 Light"/>
                        </a:rPr>
                        <a:t>희소성</a:t>
                      </a:r>
                    </a:p>
                  </a:txBody>
                  <a:tcPr marL="54864" marR="54864" marT="0" marB="0">
                    <a:solidFill>
                      <a:srgbClr val="F2F2F2"/>
                    </a:solidFill>
                  </a:tcPr>
                </a:tc>
                <a:tc>
                  <a:txBody>
                    <a:bodyPr/>
                    <a:lstStyle/>
                    <a:p>
                      <a:pPr algn="l"/>
                      <a:r>
                        <a:rPr sz="1000" b="0">
                          <a:solidFill>
                            <a:srgbClr val="1F1F1F"/>
                          </a:solidFill>
                          <a:latin typeface="KoPubWorld돋움체 Light"/>
                        </a:rPr>
                        <a:t>높은 지가와 가용부지 고갈로 권역 내 신규 대형 물류센터 공급이 극히 제한적</a:t>
                      </a:r>
                    </a:p>
                  </a:txBody>
                  <a:tcPr marL="54864" marR="54864" marT="0" marB="0">
                    <a:solidFill>
                      <a:srgbClr val="F2F2F2"/>
                    </a:solidFill>
                  </a:tcPr>
                </a:tc>
              </a:tr>
              <a:tr h="365760">
                <a:tc>
                  <a:txBody>
                    <a:bodyPr/>
                    <a:lstStyle/>
                    <a:p>
                      <a:pPr algn="ctr"/>
                      <a:r>
                        <a:rPr sz="1000" b="0">
                          <a:solidFill>
                            <a:srgbClr val="1F1F1F"/>
                          </a:solidFill>
                          <a:latin typeface="KoPubWorld돋움체 Light"/>
                        </a:rPr>
                        <a:t>규제</a:t>
                      </a:r>
                    </a:p>
                  </a:txBody>
                  <a:tcPr marL="54864" marR="54864" marT="0" marB="0">
                    <a:solidFill>
                      <a:srgbClr val="FFFFFF"/>
                    </a:solidFill>
                  </a:tcPr>
                </a:tc>
                <a:tc>
                  <a:txBody>
                    <a:bodyPr/>
                    <a:lstStyle/>
                    <a:p>
                      <a:pPr algn="l"/>
                      <a:r>
                        <a:rPr sz="1000" b="0">
                          <a:solidFill>
                            <a:srgbClr val="1F1F1F"/>
                          </a:solidFill>
                          <a:latin typeface="KoPubWorld돋움체 Light"/>
                        </a:rPr>
                        <a:t>대기관리권역, 가축사육제한구역, 과밀억제권역 등 적용 (시장조사보고서 확인)</a:t>
                      </a:r>
                    </a:p>
                  </a:txBody>
                  <a:tcPr marL="54864" marR="54864" marT="0" marB="0">
                    <a:solidFill>
                      <a:srgbClr val="FFFFFF"/>
                    </a:solidFill>
                  </a:tcPr>
                </a:tc>
              </a:tr>
            </a:tbl>
          </a:graphicData>
        </a:graphic>
      </p:graphicFrame>
      <p:sp>
        <p:nvSpPr>
          <p:cNvPr id="6" name="Rectangle 5"/>
          <p:cNvSpPr/>
          <p:nvPr/>
        </p:nvSpPr>
        <p:spPr>
          <a:xfrm>
            <a:off x="457200" y="4663440"/>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권역 임대 시장</a:t>
            </a:r>
          </a:p>
        </p:txBody>
      </p:sp>
      <p:graphicFrame>
        <p:nvGraphicFramePr>
          <p:cNvPr id="7" name="Table 6"/>
          <p:cNvGraphicFramePr>
            <a:graphicFrameLocks noGrp="1"/>
          </p:cNvGraphicFramePr>
          <p:nvPr/>
        </p:nvGraphicFramePr>
        <p:xfrm>
          <a:off x="521207" y="5038344"/>
          <a:ext cx="9784080" cy="1243584"/>
        </p:xfrm>
        <a:graphic>
          <a:graphicData uri="http://schemas.openxmlformats.org/drawingml/2006/table">
            <a:tbl>
              <a:tblPr firstRow="1" bandRow="1">
                <a:tableStyleId>{5C22544A-7EE6-4342-B048-85BDC9FD1C3A}</a:tableStyleId>
              </a:tblPr>
              <a:tblGrid>
                <a:gridCol w="2011680"/>
                <a:gridCol w="2194560"/>
                <a:gridCol w="2194560"/>
                <a:gridCol w="3383280"/>
              </a:tblGrid>
              <a:tr h="310896">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본 건</a:t>
                      </a:r>
                    </a:p>
                  </a:txBody>
                  <a:tcPr marL="54864" marR="54864" marT="0" marB="0">
                    <a:solidFill>
                      <a:srgbClr val="DAE3F3"/>
                    </a:solidFill>
                  </a:tcPr>
                </a:tc>
                <a:tc>
                  <a:txBody>
                    <a:bodyPr/>
                    <a:lstStyle/>
                    <a:p>
                      <a:pPr algn="ctr"/>
                      <a:r>
                        <a:rPr sz="1000" b="0">
                          <a:solidFill>
                            <a:srgbClr val="1F1F1F"/>
                          </a:solidFill>
                          <a:latin typeface="KoPubWorld돋움체 Bold"/>
                        </a:rPr>
                        <a:t>권역 수준</a:t>
                      </a:r>
                    </a:p>
                  </a:txBody>
                  <a:tcPr marL="54864" marR="54864" marT="0" marB="0">
                    <a:solidFill>
                      <a:srgbClr val="DAE3F3"/>
                    </a:solidFill>
                  </a:tcPr>
                </a:tc>
                <a:tc>
                  <a:txBody>
                    <a:bodyPr/>
                    <a:lstStyle/>
                    <a:p>
                      <a:pPr algn="ctr"/>
                      <a:r>
                        <a:rPr sz="1000" b="0">
                          <a:solidFill>
                            <a:srgbClr val="1F1F1F"/>
                          </a:solidFill>
                          <a:latin typeface="KoPubWorld돋움체 Bold"/>
                        </a:rPr>
                        <a:t>비 고</a:t>
                      </a:r>
                    </a:p>
                  </a:txBody>
                  <a:tcPr marL="54864" marR="54864" marT="0" marB="0">
                    <a:solidFill>
                      <a:srgbClr val="DAE3F3"/>
                    </a:solidFill>
                  </a:tcPr>
                </a:tc>
              </a:tr>
              <a:tr h="310896">
                <a:tc>
                  <a:txBody>
                    <a:bodyPr/>
                    <a:lstStyle/>
                    <a:p>
                      <a:pPr algn="ctr"/>
                      <a:r>
                        <a:rPr sz="1000" b="0">
                          <a:solidFill>
                            <a:srgbClr val="1F1F1F"/>
                          </a:solidFill>
                          <a:latin typeface="KoPubWorld돋움체 Light"/>
                        </a:rPr>
                        <a:t>Effective Rent</a:t>
                      </a:r>
                    </a:p>
                  </a:txBody>
                  <a:tcPr marL="54864" marR="54864" marT="0" marB="0">
                    <a:solidFill>
                      <a:srgbClr val="FFFFFF"/>
                    </a:solidFill>
                  </a:tcPr>
                </a:tc>
                <a:tc>
                  <a:txBody>
                    <a:bodyPr/>
                    <a:lstStyle/>
                    <a:p>
                      <a:pPr algn="l"/>
                      <a:r>
                        <a:rPr sz="1000" b="0">
                          <a:solidFill>
                            <a:srgbClr val="1F1F1F"/>
                          </a:solidFill>
                          <a:latin typeface="KoPubWorld돋움체 Light"/>
                        </a:rPr>
                        <a:t>약 58천원/평/월</a:t>
                      </a:r>
                    </a:p>
                  </a:txBody>
                  <a:tcPr marL="54864" marR="54864" marT="0" marB="0">
                    <a:solidFill>
                      <a:srgbClr val="FFFFFF"/>
                    </a:solidFill>
                  </a:tcPr>
                </a:tc>
                <a:tc>
                  <a:txBody>
                    <a:bodyPr/>
                    <a:lstStyle/>
                    <a:p>
                      <a:pPr algn="l"/>
                      <a:r>
                        <a:rPr sz="1000" b="0">
                          <a:solidFill>
                            <a:srgbClr val="1F1F1F"/>
                          </a:solidFill>
                          <a:latin typeface="KoPubWorld돋움체 Light"/>
                        </a:rPr>
                        <a:t>56~63천원/평/월</a:t>
                      </a:r>
                    </a:p>
                  </a:txBody>
                  <a:tcPr marL="54864" marR="54864" marT="0" marB="0">
                    <a:solidFill>
                      <a:srgbClr val="FFFFFF"/>
                    </a:solidFill>
                  </a:tcPr>
                </a:tc>
                <a:tc>
                  <a:txBody>
                    <a:bodyPr/>
                    <a:lstStyle/>
                    <a:p>
                      <a:pPr algn="l"/>
                      <a:r>
                        <a:rPr sz="1000" b="0">
                          <a:solidFill>
                            <a:srgbClr val="1F1F1F"/>
                          </a:solidFill>
                          <a:latin typeface="KoPubWorld돋움체 Light"/>
                        </a:rPr>
                        <a:t>시장조사 적정 Eff. Rent 61.4천원/평</a:t>
                      </a:r>
                    </a:p>
                  </a:txBody>
                  <a:tcPr marL="54864" marR="54864" marT="0" marB="0">
                    <a:solidFill>
                      <a:srgbClr val="FFFFFF"/>
                    </a:solidFill>
                  </a:tcPr>
                </a:tc>
              </a:tr>
              <a:tr h="310896">
                <a:tc>
                  <a:txBody>
                    <a:bodyPr/>
                    <a:lstStyle/>
                    <a:p>
                      <a:pPr algn="ctr"/>
                      <a:r>
                        <a:rPr sz="1000" b="0">
                          <a:solidFill>
                            <a:srgbClr val="1F1F1F"/>
                          </a:solidFill>
                          <a:latin typeface="KoPubWorld돋움체 Light"/>
                        </a:rPr>
                        <a:t>공실률</a:t>
                      </a:r>
                    </a:p>
                  </a:txBody>
                  <a:tcPr marL="54864" marR="54864" marT="0" marB="0">
                    <a:solidFill>
                      <a:srgbClr val="F2F2F2"/>
                    </a:solidFill>
                  </a:tcPr>
                </a:tc>
                <a:tc>
                  <a:txBody>
                    <a:bodyPr/>
                    <a:lstStyle/>
                    <a:p>
                      <a:pPr algn="l"/>
                      <a:r>
                        <a:rPr sz="1000" b="0">
                          <a:solidFill>
                            <a:srgbClr val="1F1F1F"/>
                          </a:solidFill>
                          <a:latin typeface="KoPubWorld돋움체 Light"/>
                        </a:rPr>
                        <a:t>0.68%</a:t>
                      </a:r>
                    </a:p>
                  </a:txBody>
                  <a:tcPr marL="54864" marR="54864" marT="0" marB="0">
                    <a:solidFill>
                      <a:srgbClr val="F2F2F2"/>
                    </a:solidFill>
                  </a:tcPr>
                </a:tc>
                <a:tc>
                  <a:txBody>
                    <a:bodyPr/>
                    <a:lstStyle/>
                    <a:p>
                      <a:pPr algn="l"/>
                      <a:r>
                        <a:rPr sz="1000" b="0">
                          <a:solidFill>
                            <a:srgbClr val="1F1F1F"/>
                          </a:solidFill>
                          <a:latin typeface="KoPubWorld돋움체 Light"/>
                        </a:rPr>
                        <a:t>0~1.4%</a:t>
                      </a:r>
                    </a:p>
                  </a:txBody>
                  <a:tcPr marL="54864" marR="54864" marT="0" marB="0">
                    <a:solidFill>
                      <a:srgbClr val="F2F2F2"/>
                    </a:solidFill>
                  </a:tcPr>
                </a:tc>
                <a:tc>
                  <a:txBody>
                    <a:bodyPr/>
                    <a:lstStyle/>
                    <a:p>
                      <a:pPr algn="l"/>
                      <a:r>
                        <a:rPr sz="1000" b="0">
                          <a:solidFill>
                            <a:srgbClr val="1F1F1F"/>
                          </a:solidFill>
                          <a:latin typeface="KoPubWorld돋움체 Light"/>
                        </a:rPr>
                        <a:t>수요 우위 시장</a:t>
                      </a:r>
                    </a:p>
                  </a:txBody>
                  <a:tcPr marL="54864" marR="54864" marT="0" marB="0">
                    <a:solidFill>
                      <a:srgbClr val="F2F2F2"/>
                    </a:solidFill>
                  </a:tcPr>
                </a:tc>
              </a:tr>
              <a:tr h="310896">
                <a:tc>
                  <a:txBody>
                    <a:bodyPr/>
                    <a:lstStyle/>
                    <a:p>
                      <a:pPr algn="ctr"/>
                      <a:r>
                        <a:rPr sz="1000" b="0">
                          <a:solidFill>
                            <a:srgbClr val="1F1F1F"/>
                          </a:solidFill>
                          <a:latin typeface="KoPubWorld돋움체 Light"/>
                        </a:rPr>
                        <a:t>임대료 인상률</a:t>
                      </a:r>
                    </a:p>
                  </a:txBody>
                  <a:tcPr marL="54864" marR="54864" marT="0" marB="0">
                    <a:solidFill>
                      <a:srgbClr val="FFFFFF"/>
                    </a:solidFill>
                  </a:tcPr>
                </a:tc>
                <a:tc>
                  <a:txBody>
                    <a:bodyPr/>
                    <a:lstStyle/>
                    <a:p>
                      <a:pPr algn="l"/>
                      <a:r>
                        <a:rPr sz="1000" b="0">
                          <a:solidFill>
                            <a:srgbClr val="1F1F1F"/>
                          </a:solidFill>
                          <a:latin typeface="KoPubWorld돋움체 Light"/>
                        </a:rPr>
                        <a:t>연 2.5% (농심 0%)</a:t>
                      </a:r>
                    </a:p>
                  </a:txBody>
                  <a:tcPr marL="54864" marR="54864" marT="0" marB="0">
                    <a:solidFill>
                      <a:srgbClr val="FFFFFF"/>
                    </a:solidFill>
                  </a:tcPr>
                </a:tc>
                <a:tc>
                  <a:txBody>
                    <a:bodyPr/>
                    <a:lstStyle/>
                    <a:p>
                      <a:pPr algn="l"/>
                      <a:r>
                        <a:rPr sz="1000" b="0">
                          <a:solidFill>
                            <a:srgbClr val="1F1F1F"/>
                          </a:solidFill>
                          <a:latin typeface="KoPubWorld돋움체 Light"/>
                        </a:rPr>
                        <a:t>연 2.5% 가정</a:t>
                      </a:r>
                    </a:p>
                  </a:txBody>
                  <a:tcPr marL="54864" marR="54864" marT="0" marB="0">
                    <a:solidFill>
                      <a:srgbClr val="FFFFFF"/>
                    </a:solidFill>
                  </a:tcPr>
                </a:tc>
                <a:tc>
                  <a:txBody>
                    <a:bodyPr/>
                    <a:lstStyle/>
                    <a:p>
                      <a:pPr algn="l"/>
                      <a:r>
                        <a:rPr sz="1000" b="0">
                          <a:solidFill>
                            <a:srgbClr val="1F1F1F"/>
                          </a:solidFill>
                          <a:latin typeface="KoPubWorld돋움체 Light"/>
                        </a:rPr>
                        <a:t>시장 상승률 반영</a:t>
                      </a:r>
                    </a:p>
                  </a:txBody>
                  <a:tcPr marL="54864" marR="54864" marT="0" marB="0">
                    <a:solidFill>
                      <a:srgbClr val="FFFFFF"/>
                    </a:solidFill>
                  </a:tcPr>
                </a:tc>
              </a:tr>
            </a:tbl>
          </a:graphicData>
        </a:graphic>
      </p:graphicFrame>
      <p:sp>
        <p:nvSpPr>
          <p:cNvPr id="8" name="TextBox 7"/>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IM v01(2026.09) p.11~14 / 시장조사보고서(㈜코람코자산신탁, 2026-08-10) / 00_원본자료/processed/20260916_핵심지표_IM기준_v01.md §3.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3. 시장현황</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수도권 물류센터는 신축 공급 감소의 영향으로 2026년 이후 임대료와 거래가격이 반등하는 추세임</a:t>
            </a:r>
          </a:p>
          <a:p>
            <a:r>
              <a:rPr sz="1200" b="0">
                <a:solidFill>
                  <a:srgbClr val="404040"/>
                </a:solidFill>
                <a:latin typeface="KoPubWorld돋움체 Light"/>
              </a:rPr>
              <a:t>• Last-mile 권역 내 신축 상온센터는 초과 수요로 임대인 우위 상태가 지속</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시장 동향</a:t>
            </a:r>
          </a:p>
        </p:txBody>
      </p:sp>
      <p:sp>
        <p:nvSpPr>
          <p:cNvPr id="5" name="TextBox 4"/>
          <p:cNvSpPr txBox="1"/>
          <p:nvPr/>
        </p:nvSpPr>
        <p:spPr>
          <a:xfrm>
            <a:off x="521207" y="2359152"/>
            <a:ext cx="9784080" cy="1371600"/>
          </a:xfrm>
          <a:prstGeom prst="rect">
            <a:avLst/>
          </a:prstGeom>
          <a:noFill/>
        </p:spPr>
        <p:txBody>
          <a:bodyPr wrap="square" lIns="0" rIns="0" tIns="0" bIns="0">
            <a:spAutoFit/>
          </a:bodyPr>
          <a:lstStyle/>
          <a:p>
            <a:pPr>
              <a:spcAft>
                <a:spcPts val="600"/>
              </a:spcAft>
            </a:pPr>
            <a:r>
              <a:rPr sz="1100" b="0">
                <a:solidFill>
                  <a:srgbClr val="1F1F1F"/>
                </a:solidFill>
                <a:latin typeface="KoPubWorld돋움체 Light"/>
              </a:rPr>
              <a:t>• 공급: 2025년 이후 수도권 Last-mile 권역 신규 공급이 급격히 감소하였으며, 일부 지역은 향후 공급 부재가 예상됨</a:t>
            </a:r>
          </a:p>
          <a:p>
            <a:pPr>
              <a:spcAft>
                <a:spcPts val="600"/>
              </a:spcAft>
            </a:pPr>
            <a:r>
              <a:rPr sz="1100" b="0">
                <a:solidFill>
                  <a:srgbClr val="1F1F1F"/>
                </a:solidFill>
                <a:latin typeface="KoPubWorld돋움체 Light"/>
              </a:rPr>
              <a:t>• 수요: 서울 소비시장 배송을 위한 신축 상온센터 수요가 초과 상태로, 권역 공실률은 0~1.4% 수준</a:t>
            </a:r>
          </a:p>
          <a:p>
            <a:pPr>
              <a:spcAft>
                <a:spcPts val="600"/>
              </a:spcAft>
            </a:pPr>
            <a:r>
              <a:rPr sz="1100" b="0">
                <a:solidFill>
                  <a:srgbClr val="1F1F1F"/>
                </a:solidFill>
                <a:latin typeface="KoPubWorld돋움체 Light"/>
              </a:rPr>
              <a:t>• 임대료: 비교권역(서울 20km 반경) 상온 임대료는 58~70천원/평 수준, 본건은 약 58천원/평으로 하단에 위치</a:t>
            </a:r>
          </a:p>
          <a:p>
            <a:pPr>
              <a:spcAft>
                <a:spcPts val="600"/>
              </a:spcAft>
            </a:pPr>
            <a:r>
              <a:rPr sz="1100" b="0">
                <a:solidFill>
                  <a:srgbClr val="1F1F1F"/>
                </a:solidFill>
                <a:latin typeface="KoPubWorld돋움체 Light"/>
              </a:rPr>
              <a:t>• 가격: 수도권 핵심입지 Last-mile 물류센터 매매사례는 연면적 평당 900~1,250만원 수준에 분포</a:t>
            </a:r>
          </a:p>
          <a:p>
            <a:pPr>
              <a:spcAft>
                <a:spcPts val="600"/>
              </a:spcAft>
            </a:pPr>
            <a:r>
              <a:rPr sz="1100" b="0">
                <a:solidFill>
                  <a:srgbClr val="1F1F1F"/>
                </a:solidFill>
                <a:latin typeface="KoPubWorld돋움체 Light"/>
              </a:rPr>
              <a:t>• 인허가: 주거권역 내 물류시설 도입은 민원과 인허가 제약으로 신규 공급이 구조적으로 제한됨</a:t>
            </a:r>
          </a:p>
        </p:txBody>
      </p:sp>
      <p:sp>
        <p:nvSpPr>
          <p:cNvPr id="6" name="Rectangle 5"/>
          <p:cNvSpPr/>
          <p:nvPr/>
        </p:nvSpPr>
        <p:spPr>
          <a:xfrm>
            <a:off x="457200" y="4206240"/>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본건 시사점</a:t>
            </a:r>
          </a:p>
        </p:txBody>
      </p:sp>
      <p:sp>
        <p:nvSpPr>
          <p:cNvPr id="7" name="TextBox 6"/>
          <p:cNvSpPr txBox="1"/>
          <p:nvPr/>
        </p:nvSpPr>
        <p:spPr>
          <a:xfrm>
            <a:off x="521207" y="4581144"/>
            <a:ext cx="9784080" cy="822959"/>
          </a:xfrm>
          <a:prstGeom prst="rect">
            <a:avLst/>
          </a:prstGeom>
          <a:noFill/>
        </p:spPr>
        <p:txBody>
          <a:bodyPr wrap="square" lIns="0" rIns="0" tIns="0" bIns="0">
            <a:spAutoFit/>
          </a:bodyPr>
          <a:lstStyle/>
          <a:p>
            <a:pPr>
              <a:spcAft>
                <a:spcPts val="600"/>
              </a:spcAft>
            </a:pPr>
            <a:r>
              <a:rPr sz="1000" b="0">
                <a:solidFill>
                  <a:srgbClr val="1F1F1F"/>
                </a:solidFill>
                <a:latin typeface="KoPubWorld돋움체 Light"/>
              </a:rPr>
              <a:t>• 현 임대료가 권역 하단에 위치하여 2029~2030년 만기 도래 임차인 재계약 시 상승 여력 보유</a:t>
            </a:r>
          </a:p>
          <a:p>
            <a:pPr>
              <a:spcAft>
                <a:spcPts val="600"/>
              </a:spcAft>
            </a:pPr>
            <a:r>
              <a:rPr sz="1000" b="0">
                <a:solidFill>
                  <a:srgbClr val="1F1F1F"/>
                </a:solidFill>
                <a:latin typeface="KoPubWorld돋움체 Light"/>
              </a:rPr>
              <a:t>• 신규 공급 제한으로 운용기간 중 경쟁 자산 출현 가능성이 낮아 임대 안정성 확보</a:t>
            </a:r>
          </a:p>
          <a:p>
            <a:pPr>
              <a:spcAft>
                <a:spcPts val="600"/>
              </a:spcAft>
            </a:pPr>
            <a:r>
              <a:rPr sz="1000" b="0">
                <a:solidFill>
                  <a:srgbClr val="1F1F1F"/>
                </a:solidFill>
                <a:latin typeface="KoPubWorld돋움체 Light"/>
              </a:rPr>
              <a:t>• 다만 임대료 상승은 시장 상황과 임차인 협상 결과에 따라 달라지며 확정된 것이 아님</a:t>
            </a:r>
          </a:p>
        </p:txBody>
      </p:sp>
      <p:sp>
        <p:nvSpPr>
          <p:cNvPr id="8" name="TextBox 7"/>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IM v01(2026.09) p.11~14 / 시장조사보고서(2026-08-10) 수도권 Last-mile 물류센터 시장분석.</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4. 가격 적정성 검토</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매입가 평당 935만원은 시장조사상 적정 매입가 범위와 담보 감정평가액 모두에 비추어 낮은 수준임</a:t>
            </a:r>
          </a:p>
          <a:p>
            <a:r>
              <a:rPr sz="1200" b="0">
                <a:solidFill>
                  <a:srgbClr val="404040"/>
                </a:solidFill>
                <a:latin typeface="KoPubWorld돋움체 Light"/>
              </a:rPr>
              <a:t>• 감정평가법인도 양해각서상 매매금액이 인근 실거래·평가사례 대비 다소 낮다고 기재</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가격 비교</a:t>
            </a:r>
          </a:p>
        </p:txBody>
      </p:sp>
      <p:graphicFrame>
        <p:nvGraphicFramePr>
          <p:cNvPr id="5" name="Table 4"/>
          <p:cNvGraphicFramePr>
            <a:graphicFrameLocks noGrp="1"/>
          </p:cNvGraphicFramePr>
          <p:nvPr/>
        </p:nvGraphicFramePr>
        <p:xfrm>
          <a:off x="521207" y="2359152"/>
          <a:ext cx="9784080" cy="1975104"/>
        </p:xfrm>
        <a:graphic>
          <a:graphicData uri="http://schemas.openxmlformats.org/drawingml/2006/table">
            <a:tbl>
              <a:tblPr firstRow="1" bandRow="1">
                <a:tableStyleId>{5C22544A-7EE6-4342-B048-85BDC9FD1C3A}</a:tableStyleId>
              </a:tblPr>
              <a:tblGrid>
                <a:gridCol w="2286000"/>
                <a:gridCol w="2743200"/>
                <a:gridCol w="2103120"/>
                <a:gridCol w="2651760"/>
              </a:tblGrid>
              <a:tr h="329184">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금 액</a:t>
                      </a:r>
                    </a:p>
                  </a:txBody>
                  <a:tcPr marL="54864" marR="54864" marT="0" marB="0">
                    <a:solidFill>
                      <a:srgbClr val="DAE3F3"/>
                    </a:solidFill>
                  </a:tcPr>
                </a:tc>
                <a:tc>
                  <a:txBody>
                    <a:bodyPr/>
                    <a:lstStyle/>
                    <a:p>
                      <a:pPr algn="ctr"/>
                      <a:r>
                        <a:rPr sz="1000" b="0">
                          <a:solidFill>
                            <a:srgbClr val="1F1F1F"/>
                          </a:solidFill>
                          <a:latin typeface="KoPubWorld돋움체 Bold"/>
                        </a:rPr>
                        <a:t>본건 대비</a:t>
                      </a:r>
                    </a:p>
                  </a:txBody>
                  <a:tcPr marL="54864" marR="54864" marT="0" marB="0">
                    <a:solidFill>
                      <a:srgbClr val="DAE3F3"/>
                    </a:solidFill>
                  </a:tcPr>
                </a:tc>
                <a:tc>
                  <a:txBody>
                    <a:bodyPr/>
                    <a:lstStyle/>
                    <a:p>
                      <a:pPr algn="ctr"/>
                      <a:r>
                        <a:rPr sz="1000" b="0">
                          <a:solidFill>
                            <a:srgbClr val="1F1F1F"/>
                          </a:solidFill>
                          <a:latin typeface="KoPubWorld돋움체 Bold"/>
                        </a:rPr>
                        <a:t>출 처</a:t>
                      </a:r>
                    </a:p>
                  </a:txBody>
                  <a:tcPr marL="54864" marR="54864" marT="0" marB="0">
                    <a:solidFill>
                      <a:srgbClr val="DAE3F3"/>
                    </a:solidFill>
                  </a:tcPr>
                </a:tc>
              </a:tr>
              <a:tr h="329184">
                <a:tc>
                  <a:txBody>
                    <a:bodyPr/>
                    <a:lstStyle/>
                    <a:p>
                      <a:pPr algn="ctr"/>
                      <a:r>
                        <a:rPr sz="1000" b="0">
                          <a:solidFill>
                            <a:srgbClr val="1F1F1F"/>
                          </a:solidFill>
                          <a:latin typeface="KoPubWorld돋움체 Light"/>
                        </a:rPr>
                        <a:t>본건 매입가</a:t>
                      </a:r>
                    </a:p>
                  </a:txBody>
                  <a:tcPr marL="54864" marR="54864" marT="0" marB="0">
                    <a:solidFill>
                      <a:srgbClr val="FFFFFF"/>
                    </a:solidFill>
                  </a:tcPr>
                </a:tc>
                <a:tc>
                  <a:txBody>
                    <a:bodyPr/>
                    <a:lstStyle/>
                    <a:p>
                      <a:pPr algn="l"/>
                      <a:r>
                        <a:rPr sz="1000" b="0">
                          <a:solidFill>
                            <a:srgbClr val="1F1F1F"/>
                          </a:solidFill>
                          <a:latin typeface="KoPubWorld돋움체 Light"/>
                        </a:rPr>
                        <a:t>2,700억원 (평당 935만원)</a:t>
                      </a:r>
                    </a:p>
                  </a:txBody>
                  <a:tcPr marL="54864" marR="54864" marT="0" marB="0">
                    <a:solidFill>
                      <a:srgbClr val="FFFFFF"/>
                    </a:solidFill>
                  </a:tcPr>
                </a:tc>
                <a:tc>
                  <a:txBody>
                    <a:bodyPr/>
                    <a:lstStyle/>
                    <a:p>
                      <a:pPr algn="l"/>
                      <a:r>
                        <a:rPr sz="1000" b="0">
                          <a:solidFill>
                            <a:srgbClr val="1F1F1F"/>
                          </a:solidFill>
                          <a:latin typeface="KoPubWorld돋움체 Light"/>
                        </a:rPr>
                        <a:t>—</a:t>
                      </a:r>
                    </a:p>
                  </a:txBody>
                  <a:tcPr marL="54864" marR="54864" marT="0" marB="0">
                    <a:solidFill>
                      <a:srgbClr val="FFFFFF"/>
                    </a:solidFill>
                  </a:tcPr>
                </a:tc>
                <a:tc>
                  <a:txBody>
                    <a:bodyPr/>
                    <a:lstStyle/>
                    <a:p>
                      <a:pPr algn="l"/>
                      <a:r>
                        <a:rPr sz="1000" b="0">
                          <a:solidFill>
                            <a:srgbClr val="1F1F1F"/>
                          </a:solidFill>
                          <a:latin typeface="KoPubWorld돋움체 Light"/>
                        </a:rPr>
                        <a:t>매매계약서 제1.2조</a:t>
                      </a:r>
                    </a:p>
                  </a:txBody>
                  <a:tcPr marL="54864" marR="54864" marT="0" marB="0">
                    <a:solidFill>
                      <a:srgbClr val="FFFFFF"/>
                    </a:solidFill>
                  </a:tcPr>
                </a:tc>
              </a:tr>
              <a:tr h="329184">
                <a:tc>
                  <a:txBody>
                    <a:bodyPr/>
                    <a:lstStyle/>
                    <a:p>
                      <a:pPr algn="ctr"/>
                      <a:r>
                        <a:rPr sz="1000" b="0">
                          <a:solidFill>
                            <a:srgbClr val="1F1F1F"/>
                          </a:solidFill>
                          <a:latin typeface="KoPubWorld돋움체 Light"/>
                        </a:rPr>
                        <a:t>담보 감정평가액</a:t>
                      </a:r>
                    </a:p>
                  </a:txBody>
                  <a:tcPr marL="54864" marR="54864" marT="0" marB="0">
                    <a:solidFill>
                      <a:srgbClr val="F2F2F2"/>
                    </a:solidFill>
                  </a:tcPr>
                </a:tc>
                <a:tc>
                  <a:txBody>
                    <a:bodyPr/>
                    <a:lstStyle/>
                    <a:p>
                      <a:pPr algn="l"/>
                      <a:r>
                        <a:rPr sz="1000" b="0">
                          <a:solidFill>
                            <a:srgbClr val="1F1F1F"/>
                          </a:solidFill>
                          <a:latin typeface="KoPubWorld돋움체 Light"/>
                        </a:rPr>
                        <a:t>3,345억원</a:t>
                      </a:r>
                    </a:p>
                  </a:txBody>
                  <a:tcPr marL="54864" marR="54864" marT="0" marB="0">
                    <a:solidFill>
                      <a:srgbClr val="F2F2F2"/>
                    </a:solidFill>
                  </a:tcPr>
                </a:tc>
                <a:tc>
                  <a:txBody>
                    <a:bodyPr/>
                    <a:lstStyle/>
                    <a:p>
                      <a:pPr algn="l"/>
                      <a:r>
                        <a:rPr sz="1000" b="0">
                          <a:solidFill>
                            <a:srgbClr val="1F1F1F"/>
                          </a:solidFill>
                          <a:latin typeface="KoPubWorld돋움체 Light"/>
                        </a:rPr>
                        <a:t>−19.3%</a:t>
                      </a:r>
                    </a:p>
                  </a:txBody>
                  <a:tcPr marL="54864" marR="54864" marT="0" marB="0">
                    <a:solidFill>
                      <a:srgbClr val="F2F2F2"/>
                    </a:solidFill>
                  </a:tcPr>
                </a:tc>
                <a:tc>
                  <a:txBody>
                    <a:bodyPr/>
                    <a:lstStyle/>
                    <a:p>
                      <a:pPr algn="l"/>
                      <a:r>
                        <a:rPr sz="1000" b="0">
                          <a:solidFill>
                            <a:srgbClr val="1F1F1F"/>
                          </a:solidFill>
                          <a:latin typeface="KoPubWorld돋움체 Light"/>
                        </a:rPr>
                        <a:t>미래새한, 기준시점 2026-08-31</a:t>
                      </a:r>
                    </a:p>
                  </a:txBody>
                  <a:tcPr marL="54864" marR="54864" marT="0" marB="0">
                    <a:solidFill>
                      <a:srgbClr val="F2F2F2"/>
                    </a:solidFill>
                  </a:tcPr>
                </a:tc>
              </a:tr>
              <a:tr h="329184">
                <a:tc>
                  <a:txBody>
                    <a:bodyPr/>
                    <a:lstStyle/>
                    <a:p>
                      <a:pPr algn="ctr"/>
                      <a:r>
                        <a:rPr sz="1000" b="0">
                          <a:solidFill>
                            <a:srgbClr val="1F1F1F"/>
                          </a:solidFill>
                          <a:latin typeface="KoPubWorld돋움체 Light"/>
                        </a:rPr>
                        <a:t>시장조사 적정 매입가</a:t>
                      </a:r>
                    </a:p>
                  </a:txBody>
                  <a:tcPr marL="54864" marR="54864" marT="0" marB="0">
                    <a:solidFill>
                      <a:srgbClr val="FFFFFF"/>
                    </a:solidFill>
                  </a:tcPr>
                </a:tc>
                <a:tc>
                  <a:txBody>
                    <a:bodyPr/>
                    <a:lstStyle/>
                    <a:p>
                      <a:pPr algn="l"/>
                      <a:r>
                        <a:rPr sz="1000" b="0">
                          <a:solidFill>
                            <a:srgbClr val="1F1F1F"/>
                          </a:solidFill>
                          <a:latin typeface="KoPubWorld돋움체 Light"/>
                        </a:rPr>
                        <a:t>평당 891~1,014만원</a:t>
                      </a:r>
                    </a:p>
                  </a:txBody>
                  <a:tcPr marL="54864" marR="54864" marT="0" marB="0">
                    <a:solidFill>
                      <a:srgbClr val="FFFFFF"/>
                    </a:solidFill>
                  </a:tcPr>
                </a:tc>
                <a:tc>
                  <a:txBody>
                    <a:bodyPr/>
                    <a:lstStyle/>
                    <a:p>
                      <a:pPr algn="l"/>
                      <a:r>
                        <a:rPr sz="1000" b="0">
                          <a:solidFill>
                            <a:srgbClr val="1F1F1F"/>
                          </a:solidFill>
                          <a:latin typeface="KoPubWorld돋움체 Light"/>
                        </a:rPr>
                        <a:t>범위 내 (중하단)</a:t>
                      </a:r>
                    </a:p>
                  </a:txBody>
                  <a:tcPr marL="54864" marR="54864" marT="0" marB="0">
                    <a:solidFill>
                      <a:srgbClr val="FFFFFF"/>
                    </a:solidFill>
                  </a:tcPr>
                </a:tc>
                <a:tc>
                  <a:txBody>
                    <a:bodyPr/>
                    <a:lstStyle/>
                    <a:p>
                      <a:pPr algn="l"/>
                      <a:r>
                        <a:rPr sz="1000" b="0">
                          <a:solidFill>
                            <a:srgbClr val="1F1F1F"/>
                          </a:solidFill>
                          <a:latin typeface="KoPubWorld돋움체 Light"/>
                        </a:rPr>
                        <a:t>시장조사보고서 p.51</a:t>
                      </a:r>
                    </a:p>
                  </a:txBody>
                  <a:tcPr marL="54864" marR="54864" marT="0" marB="0">
                    <a:solidFill>
                      <a:srgbClr val="FFFFFF"/>
                    </a:solidFill>
                  </a:tcPr>
                </a:tc>
              </a:tr>
              <a:tr h="329184">
                <a:tc>
                  <a:txBody>
                    <a:bodyPr/>
                    <a:lstStyle/>
                    <a:p>
                      <a:pPr algn="ctr"/>
                      <a:r>
                        <a:rPr sz="1000" b="0">
                          <a:solidFill>
                            <a:srgbClr val="1F1F1F"/>
                          </a:solidFill>
                          <a:latin typeface="KoPubWorld돋움체 Light"/>
                        </a:rPr>
                        <a:t>Peer 매매사례</a:t>
                      </a:r>
                    </a:p>
                  </a:txBody>
                  <a:tcPr marL="54864" marR="54864" marT="0" marB="0">
                    <a:solidFill>
                      <a:srgbClr val="F2F2F2"/>
                    </a:solidFill>
                  </a:tcPr>
                </a:tc>
                <a:tc>
                  <a:txBody>
                    <a:bodyPr/>
                    <a:lstStyle/>
                    <a:p>
                      <a:pPr algn="l"/>
                      <a:r>
                        <a:rPr sz="1000" b="0">
                          <a:solidFill>
                            <a:srgbClr val="1F1F1F"/>
                          </a:solidFill>
                          <a:latin typeface="KoPubWorld돋움체 Light"/>
                        </a:rPr>
                        <a:t>평당 900~1,250만원</a:t>
                      </a:r>
                    </a:p>
                  </a:txBody>
                  <a:tcPr marL="54864" marR="54864" marT="0" marB="0">
                    <a:solidFill>
                      <a:srgbClr val="F2F2F2"/>
                    </a:solidFill>
                  </a:tcPr>
                </a:tc>
                <a:tc>
                  <a:txBody>
                    <a:bodyPr/>
                    <a:lstStyle/>
                    <a:p>
                      <a:pPr algn="l"/>
                      <a:r>
                        <a:rPr sz="1000" b="0">
                          <a:solidFill>
                            <a:srgbClr val="1F1F1F"/>
                          </a:solidFill>
                          <a:latin typeface="KoPubWorld돋움체 Light"/>
                        </a:rPr>
                        <a:t>하단</a:t>
                      </a:r>
                    </a:p>
                  </a:txBody>
                  <a:tcPr marL="54864" marR="54864" marT="0" marB="0">
                    <a:solidFill>
                      <a:srgbClr val="F2F2F2"/>
                    </a:solidFill>
                  </a:tcPr>
                </a:tc>
                <a:tc>
                  <a:txBody>
                    <a:bodyPr/>
                    <a:lstStyle/>
                    <a:p>
                      <a:pPr algn="l"/>
                      <a:r>
                        <a:rPr sz="1000" b="0">
                          <a:solidFill>
                            <a:srgbClr val="1F1F1F"/>
                          </a:solidFill>
                          <a:latin typeface="KoPubWorld돋움체 Light"/>
                        </a:rPr>
                        <a:t>IM v01(2026.09) p.13</a:t>
                      </a:r>
                    </a:p>
                  </a:txBody>
                  <a:tcPr marL="54864" marR="54864" marT="0" marB="0">
                    <a:solidFill>
                      <a:srgbClr val="F2F2F2"/>
                    </a:solidFill>
                  </a:tcPr>
                </a:tc>
              </a:tr>
              <a:tr h="329184">
                <a:tc>
                  <a:txBody>
                    <a:bodyPr/>
                    <a:lstStyle/>
                    <a:p>
                      <a:pPr algn="ctr"/>
                      <a:r>
                        <a:rPr sz="1000" b="0">
                          <a:solidFill>
                            <a:srgbClr val="1F1F1F"/>
                          </a:solidFill>
                          <a:latin typeface="KoPubWorld돋움체 Light"/>
                        </a:rPr>
                        <a:t>시장조사 적정 Eff. Rent</a:t>
                      </a:r>
                    </a:p>
                  </a:txBody>
                  <a:tcPr marL="54864" marR="54864" marT="0" marB="0">
                    <a:solidFill>
                      <a:srgbClr val="FFFFFF"/>
                    </a:solidFill>
                  </a:tcPr>
                </a:tc>
                <a:tc>
                  <a:txBody>
                    <a:bodyPr/>
                    <a:lstStyle/>
                    <a:p>
                      <a:pPr algn="l"/>
                      <a:r>
                        <a:rPr sz="1000" b="0">
                          <a:solidFill>
                            <a:srgbClr val="1F1F1F"/>
                          </a:solidFill>
                          <a:latin typeface="KoPubWorld돋움체 Light"/>
                        </a:rPr>
                        <a:t>6.14만원/평 (2026년 기준)</a:t>
                      </a:r>
                    </a:p>
                  </a:txBody>
                  <a:tcPr marL="54864" marR="54864" marT="0" marB="0">
                    <a:solidFill>
                      <a:srgbClr val="FFFFFF"/>
                    </a:solidFill>
                  </a:tcPr>
                </a:tc>
                <a:tc>
                  <a:txBody>
                    <a:bodyPr/>
                    <a:lstStyle/>
                    <a:p>
                      <a:pPr algn="l"/>
                      <a:r>
                        <a:rPr sz="1000" b="0">
                          <a:solidFill>
                            <a:srgbClr val="1F1F1F"/>
                          </a:solidFill>
                          <a:latin typeface="KoPubWorld돋움체 Light"/>
                        </a:rPr>
                        <a:t>본건 약 5.8만원/평</a:t>
                      </a:r>
                    </a:p>
                  </a:txBody>
                  <a:tcPr marL="54864" marR="54864" marT="0" marB="0">
                    <a:solidFill>
                      <a:srgbClr val="FFFFFF"/>
                    </a:solidFill>
                  </a:tcPr>
                </a:tc>
                <a:tc>
                  <a:txBody>
                    <a:bodyPr/>
                    <a:lstStyle/>
                    <a:p>
                      <a:pPr algn="l"/>
                      <a:r>
                        <a:rPr sz="1000" b="0">
                          <a:solidFill>
                            <a:srgbClr val="1F1F1F"/>
                          </a:solidFill>
                          <a:latin typeface="KoPubWorld돋움체 Light"/>
                        </a:rPr>
                        <a:t>시장조사보고서 p.50</a:t>
                      </a:r>
                    </a:p>
                  </a:txBody>
                  <a:tcPr marL="54864" marR="54864" marT="0" marB="0">
                    <a:solidFill>
                      <a:srgbClr val="FFFFFF"/>
                    </a:solidFill>
                  </a:tcPr>
                </a:tc>
              </a:tr>
            </a:tbl>
          </a:graphicData>
        </a:graphic>
      </p:graphicFrame>
      <p:sp>
        <p:nvSpPr>
          <p:cNvPr id="6" name="Rectangle 5"/>
          <p:cNvSpPr/>
          <p:nvPr/>
        </p:nvSpPr>
        <p:spPr>
          <a:xfrm>
            <a:off x="457200" y="4343400"/>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Exit 가정 비교</a:t>
            </a:r>
          </a:p>
        </p:txBody>
      </p:sp>
      <p:graphicFrame>
        <p:nvGraphicFramePr>
          <p:cNvPr id="7" name="Table 6"/>
          <p:cNvGraphicFramePr>
            <a:graphicFrameLocks noGrp="1"/>
          </p:cNvGraphicFramePr>
          <p:nvPr/>
        </p:nvGraphicFramePr>
        <p:xfrm>
          <a:off x="521207" y="4718304"/>
          <a:ext cx="9784080" cy="932688"/>
        </p:xfrm>
        <a:graphic>
          <a:graphicData uri="http://schemas.openxmlformats.org/drawingml/2006/table">
            <a:tbl>
              <a:tblPr firstRow="1" bandRow="1">
                <a:tableStyleId>{5C22544A-7EE6-4342-B048-85BDC9FD1C3A}</a:tableStyleId>
              </a:tblPr>
              <a:tblGrid>
                <a:gridCol w="2286000"/>
                <a:gridCol w="2560320"/>
                <a:gridCol w="2011680"/>
                <a:gridCol w="2926080"/>
              </a:tblGrid>
              <a:tr h="310896">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Exit Cap Rate</a:t>
                      </a:r>
                    </a:p>
                  </a:txBody>
                  <a:tcPr marL="54864" marR="54864" marT="0" marB="0">
                    <a:solidFill>
                      <a:srgbClr val="DAE3F3"/>
                    </a:solidFill>
                  </a:tcPr>
                </a:tc>
                <a:tc>
                  <a:txBody>
                    <a:bodyPr/>
                    <a:lstStyle/>
                    <a:p>
                      <a:pPr algn="ctr"/>
                      <a:r>
                        <a:rPr sz="1000" b="0">
                          <a:solidFill>
                            <a:srgbClr val="1F1F1F"/>
                          </a:solidFill>
                          <a:latin typeface="KoPubWorld돋움체 Bold"/>
                        </a:rPr>
                        <a:t>매각가치</a:t>
                      </a:r>
                    </a:p>
                  </a:txBody>
                  <a:tcPr marL="54864" marR="54864" marT="0" marB="0">
                    <a:solidFill>
                      <a:srgbClr val="DAE3F3"/>
                    </a:solidFill>
                  </a:tcPr>
                </a:tc>
                <a:tc>
                  <a:txBody>
                    <a:bodyPr/>
                    <a:lstStyle/>
                    <a:p>
                      <a:pPr algn="ctr"/>
                      <a:r>
                        <a:rPr sz="1000" b="0">
                          <a:solidFill>
                            <a:srgbClr val="1F1F1F"/>
                          </a:solidFill>
                          <a:latin typeface="KoPubWorld돋움체 Bold"/>
                        </a:rPr>
                        <a:t>비 고</a:t>
                      </a:r>
                    </a:p>
                  </a:txBody>
                  <a:tcPr marL="54864" marR="54864" marT="0" marB="0">
                    <a:solidFill>
                      <a:srgbClr val="DAE3F3"/>
                    </a:solidFill>
                  </a:tcPr>
                </a:tc>
              </a:tr>
              <a:tr h="310896">
                <a:tc>
                  <a:txBody>
                    <a:bodyPr/>
                    <a:lstStyle/>
                    <a:p>
                      <a:pPr algn="ctr"/>
                      <a:r>
                        <a:rPr sz="1000" b="0">
                          <a:solidFill>
                            <a:srgbClr val="1F1F1F"/>
                          </a:solidFill>
                          <a:latin typeface="KoPubWorld돋움체 Light"/>
                        </a:rPr>
                        <a:t>사업계획 가정</a:t>
                      </a:r>
                    </a:p>
                  </a:txBody>
                  <a:tcPr marL="54864" marR="54864" marT="0" marB="0">
                    <a:solidFill>
                      <a:srgbClr val="FFFFFF"/>
                    </a:solidFill>
                  </a:tcPr>
                </a:tc>
                <a:tc>
                  <a:txBody>
                    <a:bodyPr/>
                    <a:lstStyle/>
                    <a:p>
                      <a:pPr algn="l"/>
                      <a:r>
                        <a:rPr sz="1000" b="0">
                          <a:solidFill>
                            <a:srgbClr val="1F1F1F"/>
                          </a:solidFill>
                          <a:latin typeface="KoPubWorld돋움체 Light"/>
                        </a:rPr>
                        <a:t>4.89% (매입 Cap과 동일)</a:t>
                      </a:r>
                    </a:p>
                  </a:txBody>
                  <a:tcPr marL="54864" marR="54864" marT="0" marB="0">
                    <a:solidFill>
                      <a:srgbClr val="FFFFFF"/>
                    </a:solidFill>
                  </a:tcPr>
                </a:tc>
                <a:tc>
                  <a:txBody>
                    <a:bodyPr/>
                    <a:lstStyle/>
                    <a:p>
                      <a:pPr algn="l"/>
                      <a:r>
                        <a:rPr sz="1000" b="0">
                          <a:solidFill>
                            <a:srgbClr val="1F1F1F"/>
                          </a:solidFill>
                          <a:latin typeface="KoPubWorld돋움체 Light"/>
                        </a:rPr>
                        <a:t>3,759억원</a:t>
                      </a:r>
                    </a:p>
                  </a:txBody>
                  <a:tcPr marL="54864" marR="54864" marT="0" marB="0">
                    <a:solidFill>
                      <a:srgbClr val="FFFFFF"/>
                    </a:solidFill>
                  </a:tcPr>
                </a:tc>
                <a:tc>
                  <a:txBody>
                    <a:bodyPr/>
                    <a:lstStyle/>
                    <a:p>
                      <a:pPr algn="l"/>
                      <a:r>
                        <a:rPr sz="1000" b="0">
                          <a:solidFill>
                            <a:srgbClr val="1F1F1F"/>
                          </a:solidFill>
                          <a:latin typeface="KoPubWorld돋움체 Light"/>
                        </a:rPr>
                        <a:t>11년차 NOI 18,284백만원 기준</a:t>
                      </a:r>
                    </a:p>
                  </a:txBody>
                  <a:tcPr marL="54864" marR="54864" marT="0" marB="0">
                    <a:solidFill>
                      <a:srgbClr val="FFFFFF"/>
                    </a:solidFill>
                  </a:tcPr>
                </a:tc>
              </a:tr>
              <a:tr h="310896">
                <a:tc>
                  <a:txBody>
                    <a:bodyPr/>
                    <a:lstStyle/>
                    <a:p>
                      <a:pPr algn="ctr"/>
                      <a:r>
                        <a:rPr sz="1000" b="0">
                          <a:solidFill>
                            <a:srgbClr val="1F1F1F"/>
                          </a:solidFill>
                          <a:latin typeface="KoPubWorld돋움체 Light"/>
                        </a:rPr>
                        <a:t>시장조사 투자적정성</a:t>
                      </a:r>
                    </a:p>
                  </a:txBody>
                  <a:tcPr marL="54864" marR="54864" marT="0" marB="0">
                    <a:solidFill>
                      <a:srgbClr val="F2F2F2"/>
                    </a:solidFill>
                  </a:tcPr>
                </a:tc>
                <a:tc>
                  <a:txBody>
                    <a:bodyPr/>
                    <a:lstStyle/>
                    <a:p>
                      <a:pPr algn="l"/>
                      <a:r>
                        <a:rPr sz="1000" b="0">
                          <a:solidFill>
                            <a:srgbClr val="1F1F1F"/>
                          </a:solidFill>
                          <a:latin typeface="KoPubWorld돋움체 Light"/>
                        </a:rPr>
                        <a:t>5.20%</a:t>
                      </a:r>
                    </a:p>
                  </a:txBody>
                  <a:tcPr marL="54864" marR="54864" marT="0" marB="0">
                    <a:solidFill>
                      <a:srgbClr val="F2F2F2"/>
                    </a:solidFill>
                  </a:tcPr>
                </a:tc>
                <a:tc>
                  <a:txBody>
                    <a:bodyPr/>
                    <a:lstStyle/>
                    <a:p>
                      <a:pPr algn="l"/>
                      <a:r>
                        <a:rPr sz="1000" b="0">
                          <a:solidFill>
                            <a:srgbClr val="1F1F1F"/>
                          </a:solidFill>
                          <a:latin typeface="KoPubWorld돋움체 Light"/>
                        </a:rPr>
                        <a:t>3,667억원</a:t>
                      </a:r>
                    </a:p>
                  </a:txBody>
                  <a:tcPr marL="54864" marR="54864" marT="0" marB="0">
                    <a:solidFill>
                      <a:srgbClr val="F2F2F2"/>
                    </a:solidFill>
                  </a:tcPr>
                </a:tc>
                <a:tc>
                  <a:txBody>
                    <a:bodyPr/>
                    <a:lstStyle/>
                    <a:p>
                      <a:pPr algn="l"/>
                      <a:r>
                        <a:rPr sz="1000" b="0">
                          <a:solidFill>
                            <a:srgbClr val="1F1F1F"/>
                          </a:solidFill>
                          <a:latin typeface="KoPubWorld돋움체 Light"/>
                        </a:rPr>
                        <a:t>NOI(N+1) 18,959백만원 기준</a:t>
                      </a:r>
                    </a:p>
                  </a:txBody>
                  <a:tcPr marL="54864" marR="54864" marT="0" marB="0">
                    <a:solidFill>
                      <a:srgbClr val="F2F2F2"/>
                    </a:solidFill>
                  </a:tcPr>
                </a:tc>
              </a:tr>
            </a:tbl>
          </a:graphicData>
        </a:graphic>
      </p:graphicFrame>
      <p:sp>
        <p:nvSpPr>
          <p:cNvPr id="8" name="TextBox 7"/>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감정평가서(미래새한, 기준시점 2026-08-31, 담보평가액 334,500백만원) / 시장조사보고서(2026-08-10) 가격적정성 검토 / 00_원본자료/processed/20260916_핵심지표_IM기준_v01.md §2. 사업계획의 Exit Cap(4.89%)은 시장조사 가정(5.20%)보다 낮아 매각가치가 높게 산정됨 — 보수성 검토 필요.</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74904" y="2011680"/>
            <a:ext cx="5486400" cy="548640"/>
          </a:xfrm>
          <a:prstGeom prst="rect">
            <a:avLst/>
          </a:prstGeom>
          <a:noFill/>
        </p:spPr>
        <p:txBody>
          <a:bodyPr wrap="square" lIns="0" rIns="0" tIns="0" bIns="0">
            <a:spAutoFit/>
          </a:bodyPr>
          <a:lstStyle/>
          <a:p>
            <a:r>
              <a:rPr sz="2000" b="0">
                <a:solidFill>
                  <a:srgbClr val="012353"/>
                </a:solidFill>
                <a:latin typeface="KoPubWorld돋움체 Bold"/>
              </a:rPr>
              <a:t>Ⅱ. 투자계획</a:t>
            </a:r>
          </a:p>
        </p:txBody>
      </p:sp>
      <p:sp>
        <p:nvSpPr>
          <p:cNvPr id="3" name="TextBox 2"/>
          <p:cNvSpPr txBox="1"/>
          <p:nvPr/>
        </p:nvSpPr>
        <p:spPr>
          <a:xfrm>
            <a:off x="374904" y="2834640"/>
            <a:ext cx="5943600" cy="1755648"/>
          </a:xfrm>
          <a:prstGeom prst="rect">
            <a:avLst/>
          </a:prstGeom>
          <a:noFill/>
        </p:spPr>
        <p:txBody>
          <a:bodyPr wrap="square" lIns="0" rIns="0" tIns="0" bIns="0">
            <a:spAutoFit/>
          </a:bodyPr>
          <a:lstStyle/>
          <a:p>
            <a:pPr>
              <a:spcAft>
                <a:spcPts val="600"/>
              </a:spcAft>
            </a:pPr>
            <a:r>
              <a:rPr sz="1100" b="0">
                <a:solidFill>
                  <a:srgbClr val="404040"/>
                </a:solidFill>
                <a:latin typeface="KoPubWorld돋움체 Light"/>
              </a:rPr>
              <a:t>Investment Highlights</a:t>
            </a:r>
          </a:p>
          <a:p>
            <a:pPr>
              <a:spcAft>
                <a:spcPts val="600"/>
              </a:spcAft>
            </a:pPr>
            <a:r>
              <a:rPr sz="1100" b="0">
                <a:solidFill>
                  <a:srgbClr val="404040"/>
                </a:solidFill>
                <a:latin typeface="KoPubWorld돋움체 Light"/>
              </a:rPr>
              <a:t>Ⅰ. 사업개요</a:t>
            </a:r>
          </a:p>
          <a:p>
            <a:pPr>
              <a:spcAft>
                <a:spcPts val="600"/>
              </a:spcAft>
            </a:pPr>
            <a:r>
              <a:rPr sz="1200" b="0">
                <a:solidFill>
                  <a:srgbClr val="012353"/>
                </a:solidFill>
                <a:latin typeface="KoPubWorld돋움체 Bold"/>
              </a:rPr>
              <a:t>Ⅱ. 투자계획</a:t>
            </a:r>
          </a:p>
          <a:p>
            <a:pPr>
              <a:spcAft>
                <a:spcPts val="600"/>
              </a:spcAft>
            </a:pPr>
            <a:r>
              <a:rPr sz="1100" b="0">
                <a:solidFill>
                  <a:srgbClr val="404040"/>
                </a:solidFill>
                <a:latin typeface="KoPubWorld돋움체 Light"/>
              </a:rPr>
              <a:t>Ⅲ. 운영 및 Exit Plan</a:t>
            </a:r>
          </a:p>
          <a:p>
            <a:pPr>
              <a:spcAft>
                <a:spcPts val="600"/>
              </a:spcAft>
            </a:pPr>
            <a:r>
              <a:rPr sz="1100" b="0">
                <a:solidFill>
                  <a:srgbClr val="404040"/>
                </a:solidFill>
                <a:latin typeface="KoPubWorld돋움체 Light"/>
              </a:rPr>
              <a:t>Ⅳ. 리스크 요인분석 및 관리방안</a:t>
            </a:r>
          </a:p>
          <a:p>
            <a:pPr>
              <a:spcAft>
                <a:spcPts val="600"/>
              </a:spcAft>
            </a:pPr>
            <a:r>
              <a:rPr sz="1100" b="0">
                <a:solidFill>
                  <a:srgbClr val="404040"/>
                </a:solidFill>
                <a:latin typeface="KoPubWorld돋움체 Light"/>
              </a:rPr>
              <a:t>Appendix.</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1. 리츠개요</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운용기간 10년의 신설 사모 위탁관리부동산투자회사로 안양물류센터를 편입함</a:t>
            </a:r>
          </a:p>
          <a:p>
            <a:r>
              <a:rPr sz="1200" b="0">
                <a:solidFill>
                  <a:srgbClr val="404040"/>
                </a:solidFill>
                <a:latin typeface="KoPubWorld돋움체 Light"/>
              </a:rPr>
              <a:t>• 인가일로부터 24개월 내 공모예외기관이 50% 이상 투자하여 공모의무 면제 요건을 충족할 계획</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리츠 개요</a:t>
            </a:r>
          </a:p>
        </p:txBody>
      </p:sp>
      <p:graphicFrame>
        <p:nvGraphicFramePr>
          <p:cNvPr id="5" name="Table 4"/>
          <p:cNvGraphicFramePr>
            <a:graphicFrameLocks noGrp="1"/>
          </p:cNvGraphicFramePr>
          <p:nvPr/>
        </p:nvGraphicFramePr>
        <p:xfrm>
          <a:off x="521207" y="2359152"/>
          <a:ext cx="9784080" cy="3840480"/>
        </p:xfrm>
        <a:graphic>
          <a:graphicData uri="http://schemas.openxmlformats.org/drawingml/2006/table">
            <a:tbl>
              <a:tblPr firstRow="1" bandRow="1">
                <a:tableStyleId>{5C22544A-7EE6-4342-B048-85BDC9FD1C3A}</a:tableStyleId>
              </a:tblPr>
              <a:tblGrid>
                <a:gridCol w="2377440"/>
                <a:gridCol w="7406640"/>
              </a:tblGrid>
              <a:tr h="384048">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내 용</a:t>
                      </a:r>
                    </a:p>
                  </a:txBody>
                  <a:tcPr marL="54864" marR="54864" marT="0" marB="0">
                    <a:solidFill>
                      <a:srgbClr val="DAE3F3"/>
                    </a:solidFill>
                  </a:tcPr>
                </a:tc>
              </a:tr>
              <a:tr h="384048">
                <a:tc>
                  <a:txBody>
                    <a:bodyPr/>
                    <a:lstStyle/>
                    <a:p>
                      <a:pPr algn="ctr"/>
                      <a:r>
                        <a:rPr sz="1000" b="0">
                          <a:solidFill>
                            <a:srgbClr val="1F1F1F"/>
                          </a:solidFill>
                          <a:latin typeface="KoPubWorld돋움체 Light"/>
                        </a:rPr>
                        <a:t>Vehicle</a:t>
                      </a:r>
                    </a:p>
                  </a:txBody>
                  <a:tcPr marL="54864" marR="54864" marT="0" marB="0">
                    <a:solidFill>
                      <a:srgbClr val="FFFFFF"/>
                    </a:solidFill>
                  </a:tcPr>
                </a:tc>
                <a:tc>
                  <a:txBody>
                    <a:bodyPr/>
                    <a:lstStyle/>
                    <a:p>
                      <a:pPr algn="l"/>
                      <a:r>
                        <a:rPr sz="1000" b="0">
                          <a:solidFill>
                            <a:srgbClr val="1F1F1F"/>
                          </a:solidFill>
                          <a:latin typeface="KoPubWorld돋움체 Light"/>
                        </a:rPr>
                        <a:t>위탁관리부동산투자회사 (사모리츠)</a:t>
                      </a:r>
                    </a:p>
                  </a:txBody>
                  <a:tcPr marL="54864" marR="54864" marT="0" marB="0">
                    <a:solidFill>
                      <a:srgbClr val="FFFFFF"/>
                    </a:solidFill>
                  </a:tcPr>
                </a:tc>
              </a:tr>
              <a:tr h="384048">
                <a:tc>
                  <a:txBody>
                    <a:bodyPr/>
                    <a:lstStyle/>
                    <a:p>
                      <a:pPr algn="ctr"/>
                      <a:r>
                        <a:rPr sz="1000" b="0">
                          <a:solidFill>
                            <a:srgbClr val="1F1F1F"/>
                          </a:solidFill>
                          <a:latin typeface="KoPubWorld돋움체 Light"/>
                        </a:rPr>
                        <a:t>자산관리회사</a:t>
                      </a:r>
                    </a:p>
                  </a:txBody>
                  <a:tcPr marL="54864" marR="54864" marT="0" marB="0">
                    <a:solidFill>
                      <a:srgbClr val="F2F2F2"/>
                    </a:solidFill>
                  </a:tcPr>
                </a:tc>
                <a:tc>
                  <a:txBody>
                    <a:bodyPr/>
                    <a:lstStyle/>
                    <a:p>
                      <a:pPr algn="l"/>
                      <a:r>
                        <a:rPr sz="1000" b="0">
                          <a:solidFill>
                            <a:srgbClr val="1F1F1F"/>
                          </a:solidFill>
                          <a:latin typeface="KoPubWorld돋움체 Light"/>
                        </a:rPr>
                        <a:t>㈜코람코자산신탁</a:t>
                      </a:r>
                    </a:p>
                  </a:txBody>
                  <a:tcPr marL="54864" marR="54864" marT="0" marB="0">
                    <a:solidFill>
                      <a:srgbClr val="F2F2F2"/>
                    </a:solidFill>
                  </a:tcPr>
                </a:tc>
              </a:tr>
              <a:tr h="384048">
                <a:tc>
                  <a:txBody>
                    <a:bodyPr/>
                    <a:lstStyle/>
                    <a:p>
                      <a:pPr algn="ctr"/>
                      <a:r>
                        <a:rPr sz="1000" b="0">
                          <a:solidFill>
                            <a:srgbClr val="1F1F1F"/>
                          </a:solidFill>
                          <a:latin typeface="KoPubWorld돋움체 Light"/>
                        </a:rPr>
                        <a:t>운용기간</a:t>
                      </a:r>
                    </a:p>
                  </a:txBody>
                  <a:tcPr marL="54864" marR="54864" marT="0" marB="0">
                    <a:solidFill>
                      <a:srgbClr val="FFFFFF"/>
                    </a:solidFill>
                  </a:tcPr>
                </a:tc>
                <a:tc>
                  <a:txBody>
                    <a:bodyPr/>
                    <a:lstStyle/>
                    <a:p>
                      <a:pPr algn="l"/>
                      <a:r>
                        <a:rPr sz="1000" b="0">
                          <a:solidFill>
                            <a:srgbClr val="1F1F1F"/>
                          </a:solidFill>
                          <a:latin typeface="KoPubWorld돋움체 Light"/>
                        </a:rPr>
                        <a:t>10년 (2026-10 ~ 2036-10, 120개월)</a:t>
                      </a:r>
                    </a:p>
                  </a:txBody>
                  <a:tcPr marL="54864" marR="54864" marT="0" marB="0">
                    <a:solidFill>
                      <a:srgbClr val="FFFFFF"/>
                    </a:solidFill>
                  </a:tcPr>
                </a:tc>
              </a:tr>
              <a:tr h="384048">
                <a:tc>
                  <a:txBody>
                    <a:bodyPr/>
                    <a:lstStyle/>
                    <a:p>
                      <a:pPr algn="ctr"/>
                      <a:r>
                        <a:rPr sz="1000" b="0">
                          <a:solidFill>
                            <a:srgbClr val="1F1F1F"/>
                          </a:solidFill>
                          <a:latin typeface="KoPubWorld돋움체 Light"/>
                        </a:rPr>
                        <a:t>회계기간</a:t>
                      </a:r>
                    </a:p>
                  </a:txBody>
                  <a:tcPr marL="54864" marR="54864" marT="0" marB="0">
                    <a:solidFill>
                      <a:srgbClr val="F2F2F2"/>
                    </a:solidFill>
                  </a:tcPr>
                </a:tc>
                <a:tc>
                  <a:txBody>
                    <a:bodyPr/>
                    <a:lstStyle/>
                    <a:p>
                      <a:pPr algn="l"/>
                      <a:r>
                        <a:rPr sz="1000" b="0">
                          <a:solidFill>
                            <a:srgbClr val="1F1F1F"/>
                          </a:solidFill>
                          <a:latin typeface="KoPubWorld돋움체 Light"/>
                        </a:rPr>
                        <a:t>6개월 결산</a:t>
                      </a:r>
                    </a:p>
                  </a:txBody>
                  <a:tcPr marL="54864" marR="54864" marT="0" marB="0">
                    <a:solidFill>
                      <a:srgbClr val="F2F2F2"/>
                    </a:solidFill>
                  </a:tcPr>
                </a:tc>
              </a:tr>
              <a:tr h="384048">
                <a:tc>
                  <a:txBody>
                    <a:bodyPr/>
                    <a:lstStyle/>
                    <a:p>
                      <a:pPr algn="ctr"/>
                      <a:r>
                        <a:rPr sz="1000" b="0">
                          <a:solidFill>
                            <a:srgbClr val="1F1F1F"/>
                          </a:solidFill>
                          <a:latin typeface="KoPubWorld돋움체 Light"/>
                        </a:rPr>
                        <a:t>영업인가</a:t>
                      </a:r>
                    </a:p>
                  </a:txBody>
                  <a:tcPr marL="54864" marR="54864" marT="0" marB="0">
                    <a:solidFill>
                      <a:srgbClr val="FFFFFF"/>
                    </a:solidFill>
                  </a:tcPr>
                </a:tc>
                <a:tc>
                  <a:txBody>
                    <a:bodyPr/>
                    <a:lstStyle/>
                    <a:p>
                      <a:pPr algn="l"/>
                      <a:r>
                        <a:rPr sz="1000" b="0">
                          <a:solidFill>
                            <a:srgbClr val="1F1F1F"/>
                          </a:solidFill>
                          <a:latin typeface="KoPubWorld돋움체 Light"/>
                        </a:rPr>
                        <a:t>2026-09-11 접수, 2026-10-12 완료 예정</a:t>
                      </a:r>
                    </a:p>
                  </a:txBody>
                  <a:tcPr marL="54864" marR="54864" marT="0" marB="0">
                    <a:solidFill>
                      <a:srgbClr val="FFFFFF"/>
                    </a:solidFill>
                  </a:tcPr>
                </a:tc>
              </a:tr>
              <a:tr h="384048">
                <a:tc>
                  <a:txBody>
                    <a:bodyPr/>
                    <a:lstStyle/>
                    <a:p>
                      <a:pPr algn="ctr"/>
                      <a:r>
                        <a:rPr sz="1000" b="0">
                          <a:solidFill>
                            <a:srgbClr val="1F1F1F"/>
                          </a:solidFill>
                          <a:latin typeface="KoPubWorld돋움체 Light"/>
                        </a:rPr>
                        <a:t>사모 구조 근거</a:t>
                      </a:r>
                    </a:p>
                  </a:txBody>
                  <a:tcPr marL="54864" marR="54864" marT="0" marB="0">
                    <a:solidFill>
                      <a:srgbClr val="F2F2F2"/>
                    </a:solidFill>
                  </a:tcPr>
                </a:tc>
                <a:tc>
                  <a:txBody>
                    <a:bodyPr/>
                    <a:lstStyle/>
                    <a:p>
                      <a:pPr algn="l"/>
                      <a:r>
                        <a:rPr sz="1000" b="0">
                          <a:solidFill>
                            <a:srgbClr val="1F1F1F"/>
                          </a:solidFill>
                          <a:latin typeface="KoPubWorld돋움체 Light"/>
                        </a:rPr>
                        <a:t>인가일로부터 24개월 내 공모예외기관 50% 이상 투자 시 공모의무 면제</a:t>
                      </a:r>
                    </a:p>
                  </a:txBody>
                  <a:tcPr marL="54864" marR="54864" marT="0" marB="0">
                    <a:solidFill>
                      <a:srgbClr val="F2F2F2"/>
                    </a:solidFill>
                  </a:tcPr>
                </a:tc>
              </a:tr>
              <a:tr h="384048">
                <a:tc>
                  <a:txBody>
                    <a:bodyPr/>
                    <a:lstStyle/>
                    <a:p>
                      <a:pPr algn="ctr"/>
                      <a:r>
                        <a:rPr sz="1000" b="0">
                          <a:solidFill>
                            <a:srgbClr val="1F1F1F"/>
                          </a:solidFill>
                          <a:latin typeface="KoPubWorld돋움체 Light"/>
                        </a:rPr>
                        <a:t>총투자비</a:t>
                      </a:r>
                    </a:p>
                  </a:txBody>
                  <a:tcPr marL="54864" marR="54864" marT="0" marB="0">
                    <a:solidFill>
                      <a:srgbClr val="FFFFFF"/>
                    </a:solidFill>
                  </a:tcPr>
                </a:tc>
                <a:tc>
                  <a:txBody>
                    <a:bodyPr/>
                    <a:lstStyle/>
                    <a:p>
                      <a:pPr algn="l"/>
                      <a:r>
                        <a:rPr sz="1000" b="0">
                          <a:solidFill>
                            <a:srgbClr val="1F1F1F"/>
                          </a:solidFill>
                          <a:latin typeface="KoPubWorld돋움체 Light"/>
                        </a:rPr>
                        <a:t>298,900백만원 (2,989억원)</a:t>
                      </a:r>
                    </a:p>
                  </a:txBody>
                  <a:tcPr marL="54864" marR="54864" marT="0" marB="0">
                    <a:solidFill>
                      <a:srgbClr val="FFFFFF"/>
                    </a:solidFill>
                  </a:tcPr>
                </a:tc>
              </a:tr>
              <a:tr h="384048">
                <a:tc>
                  <a:txBody>
                    <a:bodyPr/>
                    <a:lstStyle/>
                    <a:p>
                      <a:pPr algn="ctr"/>
                      <a:r>
                        <a:rPr sz="1000" b="0">
                          <a:solidFill>
                            <a:srgbClr val="1F1F1F"/>
                          </a:solidFill>
                          <a:latin typeface="KoPubWorld돋움체 Light"/>
                        </a:rPr>
                        <a:t>예비현금(Overfunding)</a:t>
                      </a:r>
                    </a:p>
                  </a:txBody>
                  <a:tcPr marL="54864" marR="54864" marT="0" marB="0">
                    <a:solidFill>
                      <a:srgbClr val="F2F2F2"/>
                    </a:solidFill>
                  </a:tcPr>
                </a:tc>
                <a:tc>
                  <a:txBody>
                    <a:bodyPr/>
                    <a:lstStyle/>
                    <a:p>
                      <a:pPr algn="l"/>
                      <a:r>
                        <a:rPr sz="1000" b="0">
                          <a:solidFill>
                            <a:srgbClr val="1F1F1F"/>
                          </a:solidFill>
                          <a:latin typeface="KoPubWorld돋움체 Light"/>
                        </a:rPr>
                        <a:t>10,000백만원 — 초기 2년 제1·2종 확정배당 및 이자 유보재원</a:t>
                      </a:r>
                    </a:p>
                  </a:txBody>
                  <a:tcPr marL="54864" marR="54864" marT="0" marB="0">
                    <a:solidFill>
                      <a:srgbClr val="F2F2F2"/>
                    </a:solidFill>
                  </a:tcPr>
                </a:tc>
              </a:tr>
              <a:tr h="384048">
                <a:tc>
                  <a:txBody>
                    <a:bodyPr/>
                    <a:lstStyle/>
                    <a:p>
                      <a:pPr algn="ctr"/>
                      <a:r>
                        <a:rPr sz="1000" b="0">
                          <a:solidFill>
                            <a:srgbClr val="1F1F1F"/>
                          </a:solidFill>
                          <a:latin typeface="KoPubWorld돋움체 Light"/>
                        </a:rPr>
                        <a:t>보수</a:t>
                      </a:r>
                    </a:p>
                  </a:txBody>
                  <a:tcPr marL="54864" marR="54864" marT="0" marB="0">
                    <a:solidFill>
                      <a:srgbClr val="FFFFFF"/>
                    </a:solidFill>
                  </a:tcPr>
                </a:tc>
                <a:tc>
                  <a:txBody>
                    <a:bodyPr/>
                    <a:lstStyle/>
                    <a:p>
                      <a:pPr algn="l"/>
                      <a:r>
                        <a:rPr sz="1000" b="0">
                          <a:solidFill>
                            <a:srgbClr val="1F1F1F"/>
                          </a:solidFill>
                          <a:latin typeface="KoPubWorld돋움체 Light"/>
                        </a:rPr>
                        <a:t>매입 0.5% / 운용 총자산 연 0.223% / 매각 0.5% + 성과 매각차익의 15%</a:t>
                      </a:r>
                    </a:p>
                  </a:txBody>
                  <a:tcPr marL="54864" marR="54864" marT="0" marB="0">
                    <a:solidFill>
                      <a:srgbClr val="FFFFFF"/>
                    </a:solidFill>
                  </a:tcPr>
                </a:tc>
              </a:tr>
            </a:tbl>
          </a:graphicData>
        </a:graphic>
      </p:graphicFrame>
      <p:sp>
        <p:nvSpPr>
          <p:cNvPr id="6" name="TextBox 5"/>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00_원본자료/processed/20260916_핵심지표_IM기준_v01.md §6 (근거: IM v01(2026.09) p.6~8) / 07_일정_회의록/TIMELINE.md. 리츠 상호는 영업인가 절차 진행 중으로 확정 후 기재 예정 [확정 대기].</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2. 투자구조</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타인자본 2,001억원과 Equity 988억원으로 총 2,989억원을 조달하는 구조임</a:t>
            </a:r>
          </a:p>
          <a:p>
            <a:r>
              <a:rPr sz="1200" b="0">
                <a:solidFill>
                  <a:srgbClr val="404040"/>
                </a:solidFill>
                <a:latin typeface="KoPubWorld돋움체 Light"/>
              </a:rPr>
              <a:t>• 담보대출은 감정평가액 기준 60% 이내에서 선순위·중순위로 구성</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자본 구조 (단위: 백만원)</a:t>
            </a:r>
          </a:p>
        </p:txBody>
      </p:sp>
      <p:graphicFrame>
        <p:nvGraphicFramePr>
          <p:cNvPr id="5" name="Table 4"/>
          <p:cNvGraphicFramePr>
            <a:graphicFrameLocks noGrp="1"/>
          </p:cNvGraphicFramePr>
          <p:nvPr/>
        </p:nvGraphicFramePr>
        <p:xfrm>
          <a:off x="521207" y="2359152"/>
          <a:ext cx="9784080" cy="3456432"/>
        </p:xfrm>
        <a:graphic>
          <a:graphicData uri="http://schemas.openxmlformats.org/drawingml/2006/table">
            <a:tbl>
              <a:tblPr firstRow="1" bandRow="1">
                <a:tableStyleId>{5C22544A-7EE6-4342-B048-85BDC9FD1C3A}</a:tableStyleId>
              </a:tblPr>
              <a:tblGrid>
                <a:gridCol w="1828800"/>
                <a:gridCol w="1371600"/>
                <a:gridCol w="914400"/>
                <a:gridCol w="3291840"/>
                <a:gridCol w="2377440"/>
              </a:tblGrid>
              <a:tr h="384048">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금 액</a:t>
                      </a:r>
                    </a:p>
                  </a:txBody>
                  <a:tcPr marL="54864" marR="54864" marT="0" marB="0">
                    <a:solidFill>
                      <a:srgbClr val="DAE3F3"/>
                    </a:solidFill>
                  </a:tcPr>
                </a:tc>
                <a:tc>
                  <a:txBody>
                    <a:bodyPr/>
                    <a:lstStyle/>
                    <a:p>
                      <a:pPr algn="ctr"/>
                      <a:r>
                        <a:rPr sz="1000" b="0">
                          <a:solidFill>
                            <a:srgbClr val="1F1F1F"/>
                          </a:solidFill>
                          <a:latin typeface="KoPubWorld돋움체 Bold"/>
                        </a:rPr>
                        <a:t>비중</a:t>
                      </a:r>
                    </a:p>
                  </a:txBody>
                  <a:tcPr marL="54864" marR="54864" marT="0" marB="0">
                    <a:solidFill>
                      <a:srgbClr val="DAE3F3"/>
                    </a:solidFill>
                  </a:tcPr>
                </a:tc>
                <a:tc>
                  <a:txBody>
                    <a:bodyPr/>
                    <a:lstStyle/>
                    <a:p>
                      <a:pPr algn="ctr"/>
                      <a:r>
                        <a:rPr sz="1000" b="0">
                          <a:solidFill>
                            <a:srgbClr val="1F1F1F"/>
                          </a:solidFill>
                          <a:latin typeface="KoPubWorld돋움체 Bold"/>
                        </a:rPr>
                        <a:t>조건</a:t>
                      </a:r>
                    </a:p>
                  </a:txBody>
                  <a:tcPr marL="54864" marR="54864" marT="0" marB="0">
                    <a:solidFill>
                      <a:srgbClr val="DAE3F3"/>
                    </a:solidFill>
                  </a:tcPr>
                </a:tc>
                <a:tc>
                  <a:txBody>
                    <a:bodyPr/>
                    <a:lstStyle/>
                    <a:p>
                      <a:pPr algn="ctr"/>
                      <a:r>
                        <a:rPr sz="1000" b="0">
                          <a:solidFill>
                            <a:srgbClr val="1F1F1F"/>
                          </a:solidFill>
                          <a:latin typeface="KoPubWorld돋움체 Bold"/>
                        </a:rPr>
                        <a:t>만기 / 기간</a:t>
                      </a:r>
                    </a:p>
                  </a:txBody>
                  <a:tcPr marL="54864" marR="54864" marT="0" marB="0">
                    <a:solidFill>
                      <a:srgbClr val="DAE3F3"/>
                    </a:solidFill>
                  </a:tcPr>
                </a:tc>
              </a:tr>
              <a:tr h="384048">
                <a:tc>
                  <a:txBody>
                    <a:bodyPr/>
                    <a:lstStyle/>
                    <a:p>
                      <a:pPr algn="ctr"/>
                      <a:r>
                        <a:rPr sz="1000" b="0">
                          <a:solidFill>
                            <a:srgbClr val="1F1F1F"/>
                          </a:solidFill>
                          <a:latin typeface="KoPubWorld돋움체 Light"/>
                        </a:rPr>
                        <a:t>임대보증금</a:t>
                      </a:r>
                    </a:p>
                  </a:txBody>
                  <a:tcPr marL="54864" marR="54864" marT="0" marB="0">
                    <a:solidFill>
                      <a:srgbClr val="FFFFFF"/>
                    </a:solidFill>
                  </a:tcPr>
                </a:tc>
                <a:tc>
                  <a:txBody>
                    <a:bodyPr/>
                    <a:lstStyle/>
                    <a:p>
                      <a:pPr algn="l"/>
                      <a:r>
                        <a:rPr sz="1000" b="0">
                          <a:solidFill>
                            <a:srgbClr val="1F1F1F"/>
                          </a:solidFill>
                          <a:latin typeface="KoPubWorld돋움체 Light"/>
                        </a:rPr>
                        <a:t>2,100</a:t>
                      </a:r>
                    </a:p>
                  </a:txBody>
                  <a:tcPr marL="54864" marR="54864" marT="0" marB="0">
                    <a:solidFill>
                      <a:srgbClr val="FFFFFF"/>
                    </a:solidFill>
                  </a:tcPr>
                </a:tc>
                <a:tc>
                  <a:txBody>
                    <a:bodyPr/>
                    <a:lstStyle/>
                    <a:p>
                      <a:pPr algn="l"/>
                      <a:r>
                        <a:rPr sz="1000" b="0">
                          <a:solidFill>
                            <a:srgbClr val="1F1F1F"/>
                          </a:solidFill>
                          <a:latin typeface="KoPubWorld돋움체 Light"/>
                        </a:rPr>
                        <a:t>0.7%</a:t>
                      </a:r>
                    </a:p>
                  </a:txBody>
                  <a:tcPr marL="54864" marR="54864" marT="0" marB="0">
                    <a:solidFill>
                      <a:srgbClr val="FFFFFF"/>
                    </a:solidFill>
                  </a:tcPr>
                </a:tc>
                <a:tc>
                  <a:txBody>
                    <a:bodyPr/>
                    <a:lstStyle/>
                    <a:p>
                      <a:pPr algn="l"/>
                      <a:r>
                        <a:rPr sz="1000" b="0">
                          <a:solidFill>
                            <a:srgbClr val="1F1F1F"/>
                          </a:solidFill>
                          <a:latin typeface="KoPubWorld돋움체 Light"/>
                        </a:rPr>
                        <a:t>승계 (질권설정분 제외)</a:t>
                      </a:r>
                    </a:p>
                  </a:txBody>
                  <a:tcPr marL="54864" marR="54864" marT="0" marB="0">
                    <a:solidFill>
                      <a:srgbClr val="FFFFFF"/>
                    </a:solidFill>
                  </a:tcPr>
                </a:tc>
                <a:tc>
                  <a:txBody>
                    <a:bodyPr/>
                    <a:lstStyle/>
                    <a:p>
                      <a:pPr algn="l"/>
                      <a:r>
                        <a:rPr sz="1000" b="0">
                          <a:solidFill>
                            <a:srgbClr val="1F1F1F"/>
                          </a:solidFill>
                          <a:latin typeface="KoPubWorld돋움체 Light"/>
                        </a:rPr>
                        <a:t>임대차계약별</a:t>
                      </a:r>
                    </a:p>
                  </a:txBody>
                  <a:tcPr marL="54864" marR="54864" marT="0" marB="0">
                    <a:solidFill>
                      <a:srgbClr val="FFFFFF"/>
                    </a:solidFill>
                  </a:tcPr>
                </a:tc>
              </a:tr>
              <a:tr h="384048">
                <a:tc>
                  <a:txBody>
                    <a:bodyPr/>
                    <a:lstStyle/>
                    <a:p>
                      <a:pPr algn="ctr"/>
                      <a:r>
                        <a:rPr sz="1000" b="0">
                          <a:solidFill>
                            <a:srgbClr val="1F1F1F"/>
                          </a:solidFill>
                          <a:latin typeface="KoPubWorld돋움체 Light"/>
                        </a:rPr>
                        <a:t>선순위 Tr.A</a:t>
                      </a:r>
                    </a:p>
                  </a:txBody>
                  <a:tcPr marL="54864" marR="54864" marT="0" marB="0">
                    <a:solidFill>
                      <a:srgbClr val="F2F2F2"/>
                    </a:solidFill>
                  </a:tcPr>
                </a:tc>
                <a:tc>
                  <a:txBody>
                    <a:bodyPr/>
                    <a:lstStyle/>
                    <a:p>
                      <a:pPr algn="l"/>
                      <a:r>
                        <a:rPr sz="1000" b="0">
                          <a:solidFill>
                            <a:srgbClr val="1F1F1F"/>
                          </a:solidFill>
                          <a:latin typeface="KoPubWorld돋움체 Light"/>
                        </a:rPr>
                        <a:t>160,000</a:t>
                      </a:r>
                    </a:p>
                  </a:txBody>
                  <a:tcPr marL="54864" marR="54864" marT="0" marB="0">
                    <a:solidFill>
                      <a:srgbClr val="F2F2F2"/>
                    </a:solidFill>
                  </a:tcPr>
                </a:tc>
                <a:tc>
                  <a:txBody>
                    <a:bodyPr/>
                    <a:lstStyle/>
                    <a:p>
                      <a:pPr algn="l"/>
                      <a:r>
                        <a:rPr sz="1000" b="0">
                          <a:solidFill>
                            <a:srgbClr val="1F1F1F"/>
                          </a:solidFill>
                          <a:latin typeface="KoPubWorld돋움체 Light"/>
                        </a:rPr>
                        <a:t>53.5%</a:t>
                      </a:r>
                    </a:p>
                  </a:txBody>
                  <a:tcPr marL="54864" marR="54864" marT="0" marB="0">
                    <a:solidFill>
                      <a:srgbClr val="F2F2F2"/>
                    </a:solidFill>
                  </a:tcPr>
                </a:tc>
                <a:tc>
                  <a:txBody>
                    <a:bodyPr/>
                    <a:lstStyle/>
                    <a:p>
                      <a:pPr algn="l"/>
                      <a:r>
                        <a:rPr sz="1000" b="0">
                          <a:solidFill>
                            <a:srgbClr val="1F1F1F"/>
                          </a:solidFill>
                          <a:latin typeface="KoPubWorld돋움체 Light"/>
                        </a:rPr>
                        <a:t>4.78% + 수수료 1.45% (All-in 5.50%)</a:t>
                      </a:r>
                    </a:p>
                  </a:txBody>
                  <a:tcPr marL="54864" marR="54864" marT="0" marB="0">
                    <a:solidFill>
                      <a:srgbClr val="F2F2F2"/>
                    </a:solidFill>
                  </a:tcPr>
                </a:tc>
                <a:tc>
                  <a:txBody>
                    <a:bodyPr/>
                    <a:lstStyle/>
                    <a:p>
                      <a:pPr algn="l"/>
                      <a:r>
                        <a:rPr sz="1000" b="0">
                          <a:solidFill>
                            <a:srgbClr val="1F1F1F"/>
                          </a:solidFill>
                          <a:latin typeface="KoPubWorld돋움체 Light"/>
                        </a:rPr>
                        <a:t>24개월 (2026-10~2028-10)</a:t>
                      </a:r>
                    </a:p>
                  </a:txBody>
                  <a:tcPr marL="54864" marR="54864" marT="0" marB="0">
                    <a:solidFill>
                      <a:srgbClr val="F2F2F2"/>
                    </a:solidFill>
                  </a:tcPr>
                </a:tc>
              </a:tr>
              <a:tr h="384048">
                <a:tc>
                  <a:txBody>
                    <a:bodyPr/>
                    <a:lstStyle/>
                    <a:p>
                      <a:pPr algn="ctr"/>
                      <a:r>
                        <a:rPr sz="1000" b="0">
                          <a:solidFill>
                            <a:srgbClr val="1F1F1F"/>
                          </a:solidFill>
                          <a:latin typeface="KoPubWorld돋움체 Light"/>
                        </a:rPr>
                        <a:t>중순위 Tr.B</a:t>
                      </a:r>
                    </a:p>
                  </a:txBody>
                  <a:tcPr marL="54864" marR="54864" marT="0" marB="0">
                    <a:solidFill>
                      <a:srgbClr val="FFFFFF"/>
                    </a:solidFill>
                  </a:tcPr>
                </a:tc>
                <a:tc>
                  <a:txBody>
                    <a:bodyPr/>
                    <a:lstStyle/>
                    <a:p>
                      <a:pPr algn="l"/>
                      <a:r>
                        <a:rPr sz="1000" b="0">
                          <a:solidFill>
                            <a:srgbClr val="1F1F1F"/>
                          </a:solidFill>
                          <a:latin typeface="KoPubWorld돋움체 Light"/>
                        </a:rPr>
                        <a:t>38,000</a:t>
                      </a:r>
                    </a:p>
                  </a:txBody>
                  <a:tcPr marL="54864" marR="54864" marT="0" marB="0">
                    <a:solidFill>
                      <a:srgbClr val="FFFFFF"/>
                    </a:solidFill>
                  </a:tcPr>
                </a:tc>
                <a:tc>
                  <a:txBody>
                    <a:bodyPr/>
                    <a:lstStyle/>
                    <a:p>
                      <a:pPr algn="l"/>
                      <a:r>
                        <a:rPr sz="1000" b="0">
                          <a:solidFill>
                            <a:srgbClr val="1F1F1F"/>
                          </a:solidFill>
                          <a:latin typeface="KoPubWorld돋움체 Light"/>
                        </a:rPr>
                        <a:t>12.7%</a:t>
                      </a:r>
                    </a:p>
                  </a:txBody>
                  <a:tcPr marL="54864" marR="54864" marT="0" marB="0">
                    <a:solidFill>
                      <a:srgbClr val="FFFFFF"/>
                    </a:solidFill>
                  </a:tcPr>
                </a:tc>
                <a:tc>
                  <a:txBody>
                    <a:bodyPr/>
                    <a:lstStyle/>
                    <a:p>
                      <a:pPr algn="l"/>
                      <a:r>
                        <a:rPr sz="1000" b="0">
                          <a:solidFill>
                            <a:srgbClr val="1F1F1F"/>
                          </a:solidFill>
                          <a:latin typeface="KoPubWorld돋움체 Light"/>
                        </a:rPr>
                        <a:t>6.00% + 수수료 1.00% (All-in 6.50%)</a:t>
                      </a:r>
                    </a:p>
                  </a:txBody>
                  <a:tcPr marL="54864" marR="54864" marT="0" marB="0">
                    <a:solidFill>
                      <a:srgbClr val="FFFFFF"/>
                    </a:solidFill>
                  </a:tcPr>
                </a:tc>
                <a:tc>
                  <a:txBody>
                    <a:bodyPr/>
                    <a:lstStyle/>
                    <a:p>
                      <a:pPr algn="l"/>
                      <a:r>
                        <a:rPr sz="1000" b="0">
                          <a:solidFill>
                            <a:srgbClr val="1F1F1F"/>
                          </a:solidFill>
                          <a:latin typeface="KoPubWorld돋움체 Light"/>
                        </a:rPr>
                        <a:t>24개월</a:t>
                      </a:r>
                    </a:p>
                  </a:txBody>
                  <a:tcPr marL="54864" marR="54864" marT="0" marB="0">
                    <a:solidFill>
                      <a:srgbClr val="FFFFFF"/>
                    </a:solidFill>
                  </a:tcPr>
                </a:tc>
              </a:tr>
              <a:tr h="384048">
                <a:tc>
                  <a:txBody>
                    <a:bodyPr/>
                    <a:lstStyle/>
                    <a:p>
                      <a:pPr algn="ctr"/>
                      <a:r>
                        <a:rPr sz="1000" b="0">
                          <a:solidFill>
                            <a:srgbClr val="1F1F1F"/>
                          </a:solidFill>
                          <a:latin typeface="KoPubWorld돋움체 Light"/>
                        </a:rPr>
                        <a:t>제1종 종류주식</a:t>
                      </a:r>
                    </a:p>
                  </a:txBody>
                  <a:tcPr marL="54864" marR="54864" marT="0" marB="0">
                    <a:solidFill>
                      <a:srgbClr val="F2F2F2"/>
                    </a:solidFill>
                  </a:tcPr>
                </a:tc>
                <a:tc>
                  <a:txBody>
                    <a:bodyPr/>
                    <a:lstStyle/>
                    <a:p>
                      <a:pPr algn="l"/>
                      <a:r>
                        <a:rPr sz="1000" b="0">
                          <a:solidFill>
                            <a:srgbClr val="1F1F1F"/>
                          </a:solidFill>
                          <a:latin typeface="KoPubWorld돋움체 Light"/>
                        </a:rPr>
                        <a:t>24,000</a:t>
                      </a:r>
                    </a:p>
                  </a:txBody>
                  <a:tcPr marL="54864" marR="54864" marT="0" marB="0">
                    <a:solidFill>
                      <a:srgbClr val="F2F2F2"/>
                    </a:solidFill>
                  </a:tcPr>
                </a:tc>
                <a:tc>
                  <a:txBody>
                    <a:bodyPr/>
                    <a:lstStyle/>
                    <a:p>
                      <a:pPr algn="l"/>
                      <a:r>
                        <a:rPr sz="1000" b="0">
                          <a:solidFill>
                            <a:srgbClr val="1F1F1F"/>
                          </a:solidFill>
                          <a:latin typeface="KoPubWorld돋움체 Light"/>
                        </a:rPr>
                        <a:t>8.0%</a:t>
                      </a:r>
                    </a:p>
                  </a:txBody>
                  <a:tcPr marL="54864" marR="54864" marT="0" marB="0">
                    <a:solidFill>
                      <a:srgbClr val="F2F2F2"/>
                    </a:solidFill>
                  </a:tcPr>
                </a:tc>
                <a:tc>
                  <a:txBody>
                    <a:bodyPr/>
                    <a:lstStyle/>
                    <a:p>
                      <a:pPr algn="l"/>
                      <a:r>
                        <a:rPr sz="1000" b="0">
                          <a:solidFill>
                            <a:srgbClr val="1F1F1F"/>
                          </a:solidFill>
                          <a:latin typeface="KoPubWorld돋움체 Light"/>
                        </a:rPr>
                        <a:t>누적확정 배당 연 7.0%</a:t>
                      </a:r>
                    </a:p>
                  </a:txBody>
                  <a:tcPr marL="54864" marR="54864" marT="0" marB="0">
                    <a:solidFill>
                      <a:srgbClr val="F2F2F2"/>
                    </a:solidFill>
                  </a:tcPr>
                </a:tc>
                <a:tc>
                  <a:txBody>
                    <a:bodyPr/>
                    <a:lstStyle/>
                    <a:p>
                      <a:pPr algn="l"/>
                      <a:r>
                        <a:rPr sz="1000" b="0">
                          <a:solidFill>
                            <a:srgbClr val="1F1F1F"/>
                          </a:solidFill>
                          <a:latin typeface="KoPubWorld돋움체 Light"/>
                        </a:rPr>
                        <a:t>24개월 후 KLI 매입</a:t>
                      </a:r>
                    </a:p>
                  </a:txBody>
                  <a:tcPr marL="54864" marR="54864" marT="0" marB="0">
                    <a:solidFill>
                      <a:srgbClr val="F2F2F2"/>
                    </a:solidFill>
                  </a:tcPr>
                </a:tc>
              </a:tr>
              <a:tr h="384048">
                <a:tc>
                  <a:txBody>
                    <a:bodyPr/>
                    <a:lstStyle/>
                    <a:p>
                      <a:pPr algn="ctr"/>
                      <a:r>
                        <a:rPr sz="1000" b="0">
                          <a:solidFill>
                            <a:srgbClr val="1F1F1F"/>
                          </a:solidFill>
                          <a:latin typeface="KoPubWorld돋움체 Light"/>
                        </a:rPr>
                        <a:t>제2종 종류주식</a:t>
                      </a:r>
                    </a:p>
                  </a:txBody>
                  <a:tcPr marL="54864" marR="54864" marT="0" marB="0">
                    <a:solidFill>
                      <a:srgbClr val="FFFFFF"/>
                    </a:solidFill>
                  </a:tcPr>
                </a:tc>
                <a:tc>
                  <a:txBody>
                    <a:bodyPr/>
                    <a:lstStyle/>
                    <a:p>
                      <a:pPr algn="l"/>
                      <a:r>
                        <a:rPr sz="1000" b="0">
                          <a:solidFill>
                            <a:srgbClr val="1F1F1F"/>
                          </a:solidFill>
                          <a:latin typeface="KoPubWorld돋움체 Light"/>
                        </a:rPr>
                        <a:t>50,000</a:t>
                      </a:r>
                    </a:p>
                  </a:txBody>
                  <a:tcPr marL="54864" marR="54864" marT="0" marB="0">
                    <a:solidFill>
                      <a:srgbClr val="FFFFFF"/>
                    </a:solidFill>
                  </a:tcPr>
                </a:tc>
                <a:tc>
                  <a:txBody>
                    <a:bodyPr/>
                    <a:lstStyle/>
                    <a:p>
                      <a:pPr algn="l"/>
                      <a:r>
                        <a:rPr sz="1000" b="0">
                          <a:solidFill>
                            <a:srgbClr val="1F1F1F"/>
                          </a:solidFill>
                          <a:latin typeface="KoPubWorld돋움체 Light"/>
                        </a:rPr>
                        <a:t>16.7%</a:t>
                      </a:r>
                    </a:p>
                  </a:txBody>
                  <a:tcPr marL="54864" marR="54864" marT="0" marB="0">
                    <a:solidFill>
                      <a:srgbClr val="FFFFFF"/>
                    </a:solidFill>
                  </a:tcPr>
                </a:tc>
                <a:tc>
                  <a:txBody>
                    <a:bodyPr/>
                    <a:lstStyle/>
                    <a:p>
                      <a:pPr algn="l"/>
                      <a:r>
                        <a:rPr sz="1000" b="0">
                          <a:solidFill>
                            <a:srgbClr val="1F1F1F"/>
                          </a:solidFill>
                          <a:latin typeface="KoPubWorld돋움체 Light"/>
                        </a:rPr>
                        <a:t>누적확정 배당 연 7.5%, 매각차익 20%</a:t>
                      </a:r>
                    </a:p>
                  </a:txBody>
                  <a:tcPr marL="54864" marR="54864" marT="0" marB="0">
                    <a:solidFill>
                      <a:srgbClr val="FFFFFF"/>
                    </a:solidFill>
                  </a:tcPr>
                </a:tc>
                <a:tc>
                  <a:txBody>
                    <a:bodyPr/>
                    <a:lstStyle/>
                    <a:p>
                      <a:pPr algn="l"/>
                      <a:r>
                        <a:rPr sz="1000" b="0">
                          <a:solidFill>
                            <a:srgbClr val="1F1F1F"/>
                          </a:solidFill>
                          <a:latin typeface="KoPubWorld돋움체 Light"/>
                        </a:rPr>
                        <a:t>12개월 후 KLI 매입</a:t>
                      </a:r>
                    </a:p>
                  </a:txBody>
                  <a:tcPr marL="54864" marR="54864" marT="0" marB="0">
                    <a:solidFill>
                      <a:srgbClr val="FFFFFF"/>
                    </a:solidFill>
                  </a:tcPr>
                </a:tc>
              </a:tr>
              <a:tr h="384048">
                <a:tc>
                  <a:txBody>
                    <a:bodyPr/>
                    <a:lstStyle/>
                    <a:p>
                      <a:pPr algn="ctr"/>
                      <a:r>
                        <a:rPr sz="1000" b="0">
                          <a:solidFill>
                            <a:srgbClr val="1F1F1F"/>
                          </a:solidFill>
                          <a:latin typeface="KoPubWorld돋움체 Light"/>
                        </a:rPr>
                        <a:t>제3종 종류주식</a:t>
                      </a:r>
                    </a:p>
                  </a:txBody>
                  <a:tcPr marL="54864" marR="54864" marT="0" marB="0">
                    <a:solidFill>
                      <a:srgbClr val="F2F2F2"/>
                    </a:solidFill>
                  </a:tcPr>
                </a:tc>
                <a:tc>
                  <a:txBody>
                    <a:bodyPr/>
                    <a:lstStyle/>
                    <a:p>
                      <a:pPr algn="l"/>
                      <a:r>
                        <a:rPr sz="1000" b="0">
                          <a:solidFill>
                            <a:srgbClr val="1F1F1F"/>
                          </a:solidFill>
                          <a:latin typeface="KoPubWorld돋움체 Light"/>
                        </a:rPr>
                        <a:t>10,000</a:t>
                      </a:r>
                    </a:p>
                  </a:txBody>
                  <a:tcPr marL="54864" marR="54864" marT="0" marB="0">
                    <a:solidFill>
                      <a:srgbClr val="F2F2F2"/>
                    </a:solidFill>
                  </a:tcPr>
                </a:tc>
                <a:tc>
                  <a:txBody>
                    <a:bodyPr/>
                    <a:lstStyle/>
                    <a:p>
                      <a:pPr algn="l"/>
                      <a:r>
                        <a:rPr sz="1000" b="0">
                          <a:solidFill>
                            <a:srgbClr val="1F1F1F"/>
                          </a:solidFill>
                          <a:latin typeface="KoPubWorld돋움체 Light"/>
                        </a:rPr>
                        <a:t>3.3%</a:t>
                      </a:r>
                    </a:p>
                  </a:txBody>
                  <a:tcPr marL="54864" marR="54864" marT="0" marB="0">
                    <a:solidFill>
                      <a:srgbClr val="F2F2F2"/>
                    </a:solidFill>
                  </a:tcPr>
                </a:tc>
                <a:tc>
                  <a:txBody>
                    <a:bodyPr/>
                    <a:lstStyle/>
                    <a:p>
                      <a:pPr algn="l"/>
                      <a:r>
                        <a:rPr sz="1000" b="0">
                          <a:solidFill>
                            <a:srgbClr val="1F1F1F"/>
                          </a:solidFill>
                          <a:latin typeface="KoPubWorld돋움체 Light"/>
                        </a:rPr>
                        <a:t>무배당·무의결권 (매도인 재투자)</a:t>
                      </a:r>
                    </a:p>
                  </a:txBody>
                  <a:tcPr marL="54864" marR="54864" marT="0" marB="0">
                    <a:solidFill>
                      <a:srgbClr val="F2F2F2"/>
                    </a:solidFill>
                  </a:tcPr>
                </a:tc>
                <a:tc>
                  <a:txBody>
                    <a:bodyPr/>
                    <a:lstStyle/>
                    <a:p>
                      <a:pPr algn="l"/>
                      <a:r>
                        <a:rPr sz="1000" b="0">
                          <a:solidFill>
                            <a:srgbClr val="1F1F1F"/>
                          </a:solidFill>
                          <a:latin typeface="KoPubWorld돋움체 Light"/>
                        </a:rPr>
                        <a:t>24개월 후 유상감자</a:t>
                      </a:r>
                    </a:p>
                  </a:txBody>
                  <a:tcPr marL="54864" marR="54864" marT="0" marB="0">
                    <a:solidFill>
                      <a:srgbClr val="F2F2F2"/>
                    </a:solidFill>
                  </a:tcPr>
                </a:tc>
              </a:tr>
              <a:tr h="384048">
                <a:tc>
                  <a:txBody>
                    <a:bodyPr/>
                    <a:lstStyle/>
                    <a:p>
                      <a:pPr algn="ctr"/>
                      <a:r>
                        <a:rPr sz="1000" b="0">
                          <a:solidFill>
                            <a:srgbClr val="1F1F1F"/>
                          </a:solidFill>
                          <a:latin typeface="KoPubWorld돋움체 Light"/>
                        </a:rPr>
                        <a:t>보통주식</a:t>
                      </a:r>
                    </a:p>
                  </a:txBody>
                  <a:tcPr marL="54864" marR="54864" marT="0" marB="0">
                    <a:solidFill>
                      <a:srgbClr val="FFFFFF"/>
                    </a:solidFill>
                  </a:tcPr>
                </a:tc>
                <a:tc>
                  <a:txBody>
                    <a:bodyPr/>
                    <a:lstStyle/>
                    <a:p>
                      <a:pPr algn="l"/>
                      <a:r>
                        <a:rPr sz="1000" b="0">
                          <a:solidFill>
                            <a:srgbClr val="1F1F1F"/>
                          </a:solidFill>
                          <a:latin typeface="KoPubWorld돋움체 Light"/>
                        </a:rPr>
                        <a:t>14,800</a:t>
                      </a:r>
                    </a:p>
                  </a:txBody>
                  <a:tcPr marL="54864" marR="54864" marT="0" marB="0">
                    <a:solidFill>
                      <a:srgbClr val="FFFFFF"/>
                    </a:solidFill>
                  </a:tcPr>
                </a:tc>
                <a:tc>
                  <a:txBody>
                    <a:bodyPr/>
                    <a:lstStyle/>
                    <a:p>
                      <a:pPr algn="l"/>
                      <a:r>
                        <a:rPr sz="1000" b="0">
                          <a:solidFill>
                            <a:srgbClr val="1F1F1F"/>
                          </a:solidFill>
                          <a:latin typeface="KoPubWorld돋움체 Light"/>
                        </a:rPr>
                        <a:t>5.0%</a:t>
                      </a:r>
                    </a:p>
                  </a:txBody>
                  <a:tcPr marL="54864" marR="54864" marT="0" marB="0">
                    <a:solidFill>
                      <a:srgbClr val="FFFFFF"/>
                    </a:solidFill>
                  </a:tcPr>
                </a:tc>
                <a:tc>
                  <a:txBody>
                    <a:bodyPr/>
                    <a:lstStyle/>
                    <a:p>
                      <a:pPr algn="l"/>
                      <a:r>
                        <a:rPr sz="1000" b="0">
                          <a:solidFill>
                            <a:srgbClr val="1F1F1F"/>
                          </a:solidFill>
                          <a:latin typeface="KoPubWorld돋움체 Light"/>
                        </a:rPr>
                        <a:t>잔여배당, 매각차익 80%</a:t>
                      </a:r>
                    </a:p>
                  </a:txBody>
                  <a:tcPr marL="54864" marR="54864" marT="0" marB="0">
                    <a:solidFill>
                      <a:srgbClr val="FFFFFF"/>
                    </a:solidFill>
                  </a:tcPr>
                </a:tc>
                <a:tc>
                  <a:txBody>
                    <a:bodyPr/>
                    <a:lstStyle/>
                    <a:p>
                      <a:pPr algn="l"/>
                      <a:r>
                        <a:rPr sz="1000" b="0">
                          <a:solidFill>
                            <a:srgbClr val="1F1F1F"/>
                          </a:solidFill>
                          <a:latin typeface="KoPubWorld돋움체 Light"/>
                        </a:rPr>
                        <a:t>120개월</a:t>
                      </a:r>
                    </a:p>
                  </a:txBody>
                  <a:tcPr marL="54864" marR="54864" marT="0" marB="0">
                    <a:solidFill>
                      <a:srgbClr val="FFFFFF"/>
                    </a:solidFill>
                  </a:tcPr>
                </a:tc>
              </a:tr>
              <a:tr h="384048">
                <a:tc>
                  <a:txBody>
                    <a:bodyPr/>
                    <a:lstStyle/>
                    <a:p>
                      <a:pPr algn="ctr"/>
                      <a:r>
                        <a:rPr sz="1000" b="0">
                          <a:solidFill>
                            <a:srgbClr val="1F1F1F"/>
                          </a:solidFill>
                          <a:latin typeface="KoPubWorld돋움체 Light"/>
                        </a:rPr>
                        <a:t>합 계</a:t>
                      </a:r>
                    </a:p>
                  </a:txBody>
                  <a:tcPr marL="54864" marR="54864" marT="0" marB="0">
                    <a:solidFill>
                      <a:srgbClr val="F2F2F2"/>
                    </a:solidFill>
                  </a:tcPr>
                </a:tc>
                <a:tc>
                  <a:txBody>
                    <a:bodyPr/>
                    <a:lstStyle/>
                    <a:p>
                      <a:pPr algn="l"/>
                      <a:r>
                        <a:rPr sz="1000" b="0">
                          <a:solidFill>
                            <a:srgbClr val="1F1F1F"/>
                          </a:solidFill>
                          <a:latin typeface="KoPubWorld돋움체 Light"/>
                        </a:rPr>
                        <a:t>298,900</a:t>
                      </a:r>
                    </a:p>
                  </a:txBody>
                  <a:tcPr marL="54864" marR="54864" marT="0" marB="0">
                    <a:solidFill>
                      <a:srgbClr val="F2F2F2"/>
                    </a:solidFill>
                  </a:tcPr>
                </a:tc>
                <a:tc>
                  <a:txBody>
                    <a:bodyPr/>
                    <a:lstStyle/>
                    <a:p>
                      <a:pPr algn="l"/>
                      <a:r>
                        <a:rPr sz="1000" b="0">
                          <a:solidFill>
                            <a:srgbClr val="1F1F1F"/>
                          </a:solidFill>
                          <a:latin typeface="KoPubWorld돋움체 Light"/>
                        </a:rPr>
                        <a:t>100.0%</a:t>
                      </a:r>
                    </a:p>
                  </a:txBody>
                  <a:tcPr marL="54864" marR="54864" marT="0" marB="0">
                    <a:solidFill>
                      <a:srgbClr val="F2F2F2"/>
                    </a:solidFill>
                  </a:tcPr>
                </a:tc>
                <a:tc>
                  <a:txBody>
                    <a:bodyPr/>
                    <a:lstStyle/>
                    <a:p>
                      <a:pPr algn="l"/>
                      <a:r>
                        <a:rPr sz="1000" b="0">
                          <a:solidFill>
                            <a:srgbClr val="1F1F1F"/>
                          </a:solidFill>
                          <a:latin typeface="KoPubWorld돋움체 Light"/>
                        </a:rPr>
                        <a:t>LTV 59.9% (감정가 기준)</a:t>
                      </a:r>
                    </a:p>
                  </a:txBody>
                  <a:tcPr marL="54864" marR="54864" marT="0" marB="0">
                    <a:solidFill>
                      <a:srgbClr val="F2F2F2"/>
                    </a:solidFill>
                  </a:tcPr>
                </a:tc>
                <a:tc>
                  <a:txBody>
                    <a:bodyPr/>
                    <a:lstStyle/>
                    <a:p>
                      <a:pPr algn="l"/>
                      <a:r>
                        <a:rPr sz="1000" b="0">
                          <a:solidFill>
                            <a:srgbClr val="1F1F1F"/>
                          </a:solidFill>
                          <a:latin typeface="KoPubWorld돋움체 Light"/>
                        </a:rPr>
                        <a:t>—</a:t>
                      </a:r>
                    </a:p>
                  </a:txBody>
                  <a:tcPr marL="54864" marR="54864" marT="0" marB="0">
                    <a:solidFill>
                      <a:srgbClr val="F2F2F2"/>
                    </a:solidFill>
                  </a:tcPr>
                </a:tc>
              </a:tr>
            </a:tbl>
          </a:graphicData>
        </a:graphic>
      </p:graphicFrame>
      <p:sp>
        <p:nvSpPr>
          <p:cNvPr id="6" name="TextBox 5"/>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00_원본자료/processed/20260916_핵심지표_IM기준_v01.md §4~§5, §7 / 선순위·중순위 Termsheet / 주주간계약서 v22. LTV(매입가 기준)는 약 74.1%이며, 대출 조건은 대출약정 체결 시 확정됨.</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3. 투자 Milestone</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거래종결 후 12개월과 24개월 시점에 종류주식을 단계적으로 인수하여 KLI리츠 자리츠로 편입함</a:t>
            </a:r>
          </a:p>
          <a:p>
            <a:r>
              <a:rPr sz="1200" b="0">
                <a:solidFill>
                  <a:srgbClr val="404040"/>
                </a:solidFill>
                <a:latin typeface="KoPubWorld돋움체 Light"/>
              </a:rPr>
              <a:t>• 24개월 시점 리파이낸싱(2,130억원)으로 제3종 감자대금과 중순위 상환 재원을 조달</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주요 Milestone</a:t>
            </a:r>
          </a:p>
        </p:txBody>
      </p:sp>
      <p:graphicFrame>
        <p:nvGraphicFramePr>
          <p:cNvPr id="5" name="Table 4"/>
          <p:cNvGraphicFramePr>
            <a:graphicFrameLocks noGrp="1"/>
          </p:cNvGraphicFramePr>
          <p:nvPr/>
        </p:nvGraphicFramePr>
        <p:xfrm>
          <a:off x="521207" y="2359152"/>
          <a:ext cx="9784080" cy="4023360"/>
        </p:xfrm>
        <a:graphic>
          <a:graphicData uri="http://schemas.openxmlformats.org/drawingml/2006/table">
            <a:tbl>
              <a:tblPr firstRow="1" bandRow="1">
                <a:tableStyleId>{5C22544A-7EE6-4342-B048-85BDC9FD1C3A}</a:tableStyleId>
              </a:tblPr>
              <a:tblGrid>
                <a:gridCol w="1554480"/>
                <a:gridCol w="5943600"/>
                <a:gridCol w="2286000"/>
              </a:tblGrid>
              <a:tr h="502920">
                <a:tc>
                  <a:txBody>
                    <a:bodyPr/>
                    <a:lstStyle/>
                    <a:p>
                      <a:pPr algn="ctr"/>
                      <a:r>
                        <a:rPr sz="900" b="0">
                          <a:solidFill>
                            <a:srgbClr val="1F1F1F"/>
                          </a:solidFill>
                          <a:latin typeface="KoPubWorld돋움체 Bold"/>
                        </a:rPr>
                        <a:t>시 점</a:t>
                      </a:r>
                    </a:p>
                  </a:txBody>
                  <a:tcPr marL="54864" marR="54864" marT="0" marB="0">
                    <a:solidFill>
                      <a:srgbClr val="DAE3F3"/>
                    </a:solidFill>
                  </a:tcPr>
                </a:tc>
                <a:tc>
                  <a:txBody>
                    <a:bodyPr/>
                    <a:lstStyle/>
                    <a:p>
                      <a:pPr algn="ctr"/>
                      <a:r>
                        <a:rPr sz="900" b="0">
                          <a:solidFill>
                            <a:srgbClr val="1F1F1F"/>
                          </a:solidFill>
                          <a:latin typeface="KoPubWorld돋움체 Bold"/>
                        </a:rPr>
                        <a:t>내 용</a:t>
                      </a:r>
                    </a:p>
                  </a:txBody>
                  <a:tcPr marL="54864" marR="54864" marT="0" marB="0">
                    <a:solidFill>
                      <a:srgbClr val="DAE3F3"/>
                    </a:solidFill>
                  </a:tcPr>
                </a:tc>
                <a:tc>
                  <a:txBody>
                    <a:bodyPr/>
                    <a:lstStyle/>
                    <a:p>
                      <a:pPr algn="ctr"/>
                      <a:r>
                        <a:rPr sz="900" b="0">
                          <a:solidFill>
                            <a:srgbClr val="1F1F1F"/>
                          </a:solidFill>
                          <a:latin typeface="KoPubWorld돋움체 Bold"/>
                        </a:rPr>
                        <a:t>근 거</a:t>
                      </a:r>
                    </a:p>
                  </a:txBody>
                  <a:tcPr marL="54864" marR="54864" marT="0" marB="0">
                    <a:solidFill>
                      <a:srgbClr val="DAE3F3"/>
                    </a:solidFill>
                  </a:tcPr>
                </a:tc>
              </a:tr>
              <a:tr h="502920">
                <a:tc>
                  <a:txBody>
                    <a:bodyPr/>
                    <a:lstStyle/>
                    <a:p>
                      <a:pPr algn="ctr"/>
                      <a:r>
                        <a:rPr sz="900" b="0">
                          <a:solidFill>
                            <a:srgbClr val="1F1F1F"/>
                          </a:solidFill>
                          <a:latin typeface="KoPubWorld돋움체 Light"/>
                        </a:rPr>
                        <a:t>2026-10-22</a:t>
                      </a:r>
                    </a:p>
                  </a:txBody>
                  <a:tcPr marL="54864" marR="54864" marT="0" marB="0">
                    <a:solidFill>
                      <a:srgbClr val="FFFFFF"/>
                    </a:solidFill>
                  </a:tcPr>
                </a:tc>
                <a:tc>
                  <a:txBody>
                    <a:bodyPr/>
                    <a:lstStyle/>
                    <a:p>
                      <a:pPr algn="l"/>
                      <a:r>
                        <a:rPr sz="900" b="0">
                          <a:solidFill>
                            <a:srgbClr val="1F1F1F"/>
                          </a:solidFill>
                          <a:latin typeface="KoPubWorld돋움체 Light"/>
                        </a:rPr>
                        <a:t>거래종결 · 출자금 납입 · 대출 인출 · 유상감자(발기인 보통주 소각)</a:t>
                      </a:r>
                    </a:p>
                  </a:txBody>
                  <a:tcPr marL="54864" marR="54864" marT="0" marB="0">
                    <a:solidFill>
                      <a:srgbClr val="FFFFFF"/>
                    </a:solidFill>
                  </a:tcPr>
                </a:tc>
                <a:tc>
                  <a:txBody>
                    <a:bodyPr/>
                    <a:lstStyle/>
                    <a:p>
                      <a:pPr algn="l"/>
                      <a:r>
                        <a:rPr sz="900" b="0">
                          <a:solidFill>
                            <a:srgbClr val="1F1F1F"/>
                          </a:solidFill>
                          <a:latin typeface="KoPubWorld돋움체 Light"/>
                        </a:rPr>
                        <a:t>기준 일정 / 주주간계약 제2조</a:t>
                      </a:r>
                    </a:p>
                  </a:txBody>
                  <a:tcPr marL="54864" marR="54864" marT="0" marB="0">
                    <a:solidFill>
                      <a:srgbClr val="FFFFFF"/>
                    </a:solidFill>
                  </a:tcPr>
                </a:tc>
              </a:tr>
              <a:tr h="502920">
                <a:tc>
                  <a:txBody>
                    <a:bodyPr/>
                    <a:lstStyle/>
                    <a:p>
                      <a:pPr algn="ctr"/>
                      <a:r>
                        <a:rPr sz="900" b="0">
                          <a:solidFill>
                            <a:srgbClr val="1F1F1F"/>
                          </a:solidFill>
                          <a:latin typeface="KoPubWorld돋움체 Light"/>
                        </a:rPr>
                        <a:t>+12개월</a:t>
                      </a:r>
                    </a:p>
                  </a:txBody>
                  <a:tcPr marL="54864" marR="54864" marT="0" marB="0">
                    <a:solidFill>
                      <a:srgbClr val="F2F2F2"/>
                    </a:solidFill>
                  </a:tcPr>
                </a:tc>
                <a:tc>
                  <a:txBody>
                    <a:bodyPr/>
                    <a:lstStyle/>
                    <a:p>
                      <a:pPr algn="l"/>
                      <a:r>
                        <a:rPr sz="900" b="0">
                          <a:solidFill>
                            <a:srgbClr val="1F1F1F"/>
                          </a:solidFill>
                          <a:latin typeface="KoPubWorld돋움체 Light"/>
                        </a:rPr>
                        <a:t>KLI리츠의 제2종 종류주식 전부 매입 (발행가액 기준, 배당금 정산 포함)</a:t>
                      </a:r>
                    </a:p>
                  </a:txBody>
                  <a:tcPr marL="54864" marR="54864" marT="0" marB="0">
                    <a:solidFill>
                      <a:srgbClr val="F2F2F2"/>
                    </a:solidFill>
                  </a:tcPr>
                </a:tc>
                <a:tc>
                  <a:txBody>
                    <a:bodyPr/>
                    <a:lstStyle/>
                    <a:p>
                      <a:pPr algn="l"/>
                      <a:r>
                        <a:rPr sz="900" b="0">
                          <a:solidFill>
                            <a:srgbClr val="1F1F1F"/>
                          </a:solidFill>
                          <a:latin typeface="KoPubWorld돋움체 Light"/>
                        </a:rPr>
                        <a:t>주주간계약 제4조 / 제2종 LOC</a:t>
                      </a:r>
                    </a:p>
                  </a:txBody>
                  <a:tcPr marL="54864" marR="54864" marT="0" marB="0">
                    <a:solidFill>
                      <a:srgbClr val="F2F2F2"/>
                    </a:solidFill>
                  </a:tcPr>
                </a:tc>
              </a:tr>
              <a:tr h="502920">
                <a:tc>
                  <a:txBody>
                    <a:bodyPr/>
                    <a:lstStyle/>
                    <a:p>
                      <a:pPr algn="ctr"/>
                      <a:r>
                        <a:rPr sz="900" b="0">
                          <a:solidFill>
                            <a:srgbClr val="1F1F1F"/>
                          </a:solidFill>
                          <a:latin typeface="KoPubWorld돋움체 Light"/>
                        </a:rPr>
                        <a:t>+24개월</a:t>
                      </a:r>
                    </a:p>
                  </a:txBody>
                  <a:tcPr marL="54864" marR="54864" marT="0" marB="0">
                    <a:solidFill>
                      <a:srgbClr val="FFFFFF"/>
                    </a:solidFill>
                  </a:tcPr>
                </a:tc>
                <a:tc>
                  <a:txBody>
                    <a:bodyPr/>
                    <a:lstStyle/>
                    <a:p>
                      <a:pPr algn="l"/>
                      <a:r>
                        <a:rPr sz="900" b="0">
                          <a:solidFill>
                            <a:srgbClr val="1F1F1F"/>
                          </a:solidFill>
                          <a:latin typeface="KoPubWorld돋움체 Light"/>
                        </a:rPr>
                        <a:t>KLI리츠의 제1종 종류주식 전부 매입</a:t>
                      </a:r>
                    </a:p>
                  </a:txBody>
                  <a:tcPr marL="54864" marR="54864" marT="0" marB="0">
                    <a:solidFill>
                      <a:srgbClr val="FFFFFF"/>
                    </a:solidFill>
                  </a:tcPr>
                </a:tc>
                <a:tc>
                  <a:txBody>
                    <a:bodyPr/>
                    <a:lstStyle/>
                    <a:p>
                      <a:pPr algn="l"/>
                      <a:r>
                        <a:rPr sz="900" b="0">
                          <a:solidFill>
                            <a:srgbClr val="1F1F1F"/>
                          </a:solidFill>
                          <a:latin typeface="KoPubWorld돋움체 Light"/>
                        </a:rPr>
                        <a:t>주주간계약 제3조 / 제1종 LOC</a:t>
                      </a:r>
                    </a:p>
                  </a:txBody>
                  <a:tcPr marL="54864" marR="54864" marT="0" marB="0">
                    <a:solidFill>
                      <a:srgbClr val="FFFFFF"/>
                    </a:solidFill>
                  </a:tcPr>
                </a:tc>
              </a:tr>
              <a:tr h="502920">
                <a:tc>
                  <a:txBody>
                    <a:bodyPr/>
                    <a:lstStyle/>
                    <a:p>
                      <a:pPr algn="ctr"/>
                      <a:r>
                        <a:rPr sz="900" b="0">
                          <a:solidFill>
                            <a:srgbClr val="1F1F1F"/>
                          </a:solidFill>
                          <a:latin typeface="KoPubWorld돋움체 Light"/>
                        </a:rPr>
                        <a:t>+24개월</a:t>
                      </a:r>
                    </a:p>
                  </a:txBody>
                  <a:tcPr marL="54864" marR="54864" marT="0" marB="0">
                    <a:solidFill>
                      <a:srgbClr val="F2F2F2"/>
                    </a:solidFill>
                  </a:tcPr>
                </a:tc>
                <a:tc>
                  <a:txBody>
                    <a:bodyPr/>
                    <a:lstStyle/>
                    <a:p>
                      <a:pPr algn="l"/>
                      <a:r>
                        <a:rPr sz="900" b="0">
                          <a:solidFill>
                            <a:srgbClr val="1F1F1F"/>
                          </a:solidFill>
                          <a:latin typeface="KoPubWorld돋움체 Light"/>
                        </a:rPr>
                        <a:t>제3종 종류주식 전부 유상감자, 엘에프에 발행가액 기준 감자대금 지급 (채권자보호절차 지연 시 최대 3개월 연장)</a:t>
                      </a:r>
                    </a:p>
                  </a:txBody>
                  <a:tcPr marL="54864" marR="54864" marT="0" marB="0">
                    <a:solidFill>
                      <a:srgbClr val="F2F2F2"/>
                    </a:solidFill>
                  </a:tcPr>
                </a:tc>
                <a:tc>
                  <a:txBody>
                    <a:bodyPr/>
                    <a:lstStyle/>
                    <a:p>
                      <a:pPr algn="l"/>
                      <a:r>
                        <a:rPr sz="900" b="0">
                          <a:solidFill>
                            <a:srgbClr val="1F1F1F"/>
                          </a:solidFill>
                          <a:latin typeface="KoPubWorld돋움체 Light"/>
                        </a:rPr>
                        <a:t>주주간계약 제5조</a:t>
                      </a:r>
                    </a:p>
                  </a:txBody>
                  <a:tcPr marL="54864" marR="54864" marT="0" marB="0">
                    <a:solidFill>
                      <a:srgbClr val="F2F2F2"/>
                    </a:solidFill>
                  </a:tcPr>
                </a:tc>
              </a:tr>
              <a:tr h="502920">
                <a:tc>
                  <a:txBody>
                    <a:bodyPr/>
                    <a:lstStyle/>
                    <a:p>
                      <a:pPr algn="ctr"/>
                      <a:r>
                        <a:rPr sz="900" b="0">
                          <a:solidFill>
                            <a:srgbClr val="1F1F1F"/>
                          </a:solidFill>
                          <a:latin typeface="KoPubWorld돋움체 Light"/>
                        </a:rPr>
                        <a:t>+24개월</a:t>
                      </a:r>
                    </a:p>
                  </a:txBody>
                  <a:tcPr marL="54864" marR="54864" marT="0" marB="0">
                    <a:solidFill>
                      <a:srgbClr val="FFFFFF"/>
                    </a:solidFill>
                  </a:tcPr>
                </a:tc>
                <a:tc>
                  <a:txBody>
                    <a:bodyPr/>
                    <a:lstStyle/>
                    <a:p>
                      <a:pPr algn="l"/>
                      <a:r>
                        <a:rPr sz="900" b="0">
                          <a:solidFill>
                            <a:srgbClr val="1F1F1F"/>
                          </a:solidFill>
                          <a:latin typeface="KoPubWorld돋움체 Light"/>
                        </a:rPr>
                        <a:t>선순위 리파이낸싱 213,000백만원(연 4.80%, 36개월) 실행 및 중순위 상환</a:t>
                      </a:r>
                    </a:p>
                  </a:txBody>
                  <a:tcPr marL="54864" marR="54864" marT="0" marB="0">
                    <a:solidFill>
                      <a:srgbClr val="FFFFFF"/>
                    </a:solidFill>
                  </a:tcPr>
                </a:tc>
                <a:tc>
                  <a:txBody>
                    <a:bodyPr/>
                    <a:lstStyle/>
                    <a:p>
                      <a:pPr algn="l"/>
                      <a:r>
                        <a:rPr sz="900" b="0">
                          <a:solidFill>
                            <a:srgbClr val="1F1F1F"/>
                          </a:solidFill>
                          <a:latin typeface="KoPubWorld돋움체 Light"/>
                        </a:rPr>
                        <a:t>IM v01(2026.09) p.8, p.18</a:t>
                      </a:r>
                    </a:p>
                  </a:txBody>
                  <a:tcPr marL="54864" marR="54864" marT="0" marB="0">
                    <a:solidFill>
                      <a:srgbClr val="FFFFFF"/>
                    </a:solidFill>
                  </a:tcPr>
                </a:tc>
              </a:tr>
              <a:tr h="502920">
                <a:tc>
                  <a:txBody>
                    <a:bodyPr/>
                    <a:lstStyle/>
                    <a:p>
                      <a:pPr algn="ctr"/>
                      <a:r>
                        <a:rPr sz="900" b="0">
                          <a:solidFill>
                            <a:srgbClr val="1F1F1F"/>
                          </a:solidFill>
                          <a:latin typeface="KoPubWorld돋움체 Light"/>
                        </a:rPr>
                        <a:t>2029-04</a:t>
                      </a:r>
                    </a:p>
                  </a:txBody>
                  <a:tcPr marL="54864" marR="54864" marT="0" marB="0">
                    <a:solidFill>
                      <a:srgbClr val="F2F2F2"/>
                    </a:solidFill>
                  </a:tcPr>
                </a:tc>
                <a:tc>
                  <a:txBody>
                    <a:bodyPr/>
                    <a:lstStyle/>
                    <a:p>
                      <a:pPr algn="l"/>
                      <a:r>
                        <a:rPr sz="900" b="0">
                          <a:solidFill>
                            <a:srgbClr val="1F1F1F"/>
                          </a:solidFill>
                          <a:latin typeface="KoPubWorld돋움체 Light"/>
                        </a:rPr>
                        <a:t>쿠팡 중도해지·연장 선택권 행사 시점 (통지 시한 2028-10)</a:t>
                      </a:r>
                    </a:p>
                  </a:txBody>
                  <a:tcPr marL="54864" marR="54864" marT="0" marB="0">
                    <a:solidFill>
                      <a:srgbClr val="F2F2F2"/>
                    </a:solidFill>
                  </a:tcPr>
                </a:tc>
                <a:tc>
                  <a:txBody>
                    <a:bodyPr/>
                    <a:lstStyle/>
                    <a:p>
                      <a:pPr algn="l"/>
                      <a:r>
                        <a:rPr sz="900" b="0">
                          <a:solidFill>
                            <a:srgbClr val="1F1F1F"/>
                          </a:solidFill>
                          <a:latin typeface="KoPubWorld돋움체 Light"/>
                        </a:rPr>
                        <a:t>IM v01(2026.09) p.16</a:t>
                      </a:r>
                    </a:p>
                  </a:txBody>
                  <a:tcPr marL="54864" marR="54864" marT="0" marB="0">
                    <a:solidFill>
                      <a:srgbClr val="F2F2F2"/>
                    </a:solidFill>
                  </a:tcPr>
                </a:tc>
              </a:tr>
              <a:tr h="502920">
                <a:tc>
                  <a:txBody>
                    <a:bodyPr/>
                    <a:lstStyle/>
                    <a:p>
                      <a:pPr algn="ctr"/>
                      <a:r>
                        <a:rPr sz="900" b="0">
                          <a:solidFill>
                            <a:srgbClr val="1F1F1F"/>
                          </a:solidFill>
                          <a:latin typeface="KoPubWorld돋움체 Light"/>
                        </a:rPr>
                        <a:t>2036-10</a:t>
                      </a:r>
                    </a:p>
                  </a:txBody>
                  <a:tcPr marL="54864" marR="54864" marT="0" marB="0">
                    <a:solidFill>
                      <a:srgbClr val="FFFFFF"/>
                    </a:solidFill>
                  </a:tcPr>
                </a:tc>
                <a:tc>
                  <a:txBody>
                    <a:bodyPr/>
                    <a:lstStyle/>
                    <a:p>
                      <a:pPr algn="l"/>
                      <a:r>
                        <a:rPr sz="900" b="0">
                          <a:solidFill>
                            <a:srgbClr val="1F1F1F"/>
                          </a:solidFill>
                          <a:latin typeface="KoPubWorld돋움체 Light"/>
                        </a:rPr>
                        <a:t>운용기간 종료 · 자산 매각 및 청산</a:t>
                      </a:r>
                    </a:p>
                  </a:txBody>
                  <a:tcPr marL="54864" marR="54864" marT="0" marB="0">
                    <a:solidFill>
                      <a:srgbClr val="FFFFFF"/>
                    </a:solidFill>
                  </a:tcPr>
                </a:tc>
                <a:tc>
                  <a:txBody>
                    <a:bodyPr/>
                    <a:lstStyle/>
                    <a:p>
                      <a:pPr algn="l"/>
                      <a:r>
                        <a:rPr sz="900" b="0">
                          <a:solidFill>
                            <a:srgbClr val="1F1F1F"/>
                          </a:solidFill>
                          <a:latin typeface="KoPubWorld돋움체 Light"/>
                        </a:rPr>
                        <a:t>IM v01(2026.09) p.7</a:t>
                      </a:r>
                    </a:p>
                  </a:txBody>
                  <a:tcPr marL="54864" marR="54864" marT="0" marB="0">
                    <a:solidFill>
                      <a:srgbClr val="FFFFFF"/>
                    </a:solidFill>
                  </a:tcPr>
                </a:tc>
              </a:tr>
            </a:tbl>
          </a:graphicData>
        </a:graphic>
      </p:graphicFrame>
      <p:sp>
        <p:nvSpPr>
          <p:cNvPr id="6" name="TextBox 5"/>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주주간계약서 v22 제2~5조 / 제1종·제2종 매입확약 공문(안) / 07_일정_회의록/TIMELINE.md. 리파이낸싱 후 LTV는 감정가 기준 약 61.8% 수준으로 예상됨.</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4. 재원조달</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총투자비 2,989억원은 매입금액 90.3%, 부대비용 6.3%, 예비현금 3.3%로 구성됨</a:t>
            </a:r>
          </a:p>
          <a:p>
            <a:r>
              <a:rPr sz="1200" b="0">
                <a:solidFill>
                  <a:srgbClr val="404040"/>
                </a:solidFill>
                <a:latin typeface="KoPubWorld돋움체 Light"/>
              </a:rPr>
              <a:t>• 제3종 종류주식 100억원은 초기 2년 확정배당 지급을 위한 Overfunding 재원으로 편성</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Sources &amp; Uses (단위: 백만원)</a:t>
            </a:r>
          </a:p>
        </p:txBody>
      </p:sp>
      <p:graphicFrame>
        <p:nvGraphicFramePr>
          <p:cNvPr id="5" name="Table 4"/>
          <p:cNvGraphicFramePr>
            <a:graphicFrameLocks noGrp="1"/>
          </p:cNvGraphicFramePr>
          <p:nvPr/>
        </p:nvGraphicFramePr>
        <p:xfrm>
          <a:off x="521207" y="2359152"/>
          <a:ext cx="8778240" cy="3291840"/>
        </p:xfrm>
        <a:graphic>
          <a:graphicData uri="http://schemas.openxmlformats.org/drawingml/2006/table">
            <a:tbl>
              <a:tblPr firstRow="1" bandRow="1">
                <a:tableStyleId>{5C22544A-7EE6-4342-B048-85BDC9FD1C3A}</a:tableStyleId>
              </a:tblPr>
              <a:tblGrid>
                <a:gridCol w="2103120"/>
                <a:gridCol w="1371600"/>
                <a:gridCol w="914400"/>
                <a:gridCol w="2103120"/>
                <a:gridCol w="1371600"/>
                <a:gridCol w="914400"/>
              </a:tblGrid>
              <a:tr h="365760">
                <a:tc>
                  <a:txBody>
                    <a:bodyPr/>
                    <a:lstStyle/>
                    <a:p>
                      <a:pPr algn="ctr"/>
                      <a:r>
                        <a:rPr sz="1000" b="0">
                          <a:solidFill>
                            <a:srgbClr val="1F1F1F"/>
                          </a:solidFill>
                          <a:latin typeface="KoPubWorld돋움체 Bold"/>
                        </a:rPr>
                        <a:t>Uses</a:t>
                      </a:r>
                    </a:p>
                  </a:txBody>
                  <a:tcPr marL="54864" marR="54864" marT="0" marB="0">
                    <a:solidFill>
                      <a:srgbClr val="DAE3F3"/>
                    </a:solidFill>
                  </a:tcPr>
                </a:tc>
                <a:tc>
                  <a:txBody>
                    <a:bodyPr/>
                    <a:lstStyle/>
                    <a:p>
                      <a:pPr algn="ctr"/>
                      <a:r>
                        <a:rPr sz="1000" b="0">
                          <a:solidFill>
                            <a:srgbClr val="1F1F1F"/>
                          </a:solidFill>
                          <a:latin typeface="KoPubWorld돋움체 Bold"/>
                        </a:rPr>
                        <a:t>금액</a:t>
                      </a:r>
                    </a:p>
                  </a:txBody>
                  <a:tcPr marL="54864" marR="54864" marT="0" marB="0">
                    <a:solidFill>
                      <a:srgbClr val="DAE3F3"/>
                    </a:solidFill>
                  </a:tcPr>
                </a:tc>
                <a:tc>
                  <a:txBody>
                    <a:bodyPr/>
                    <a:lstStyle/>
                    <a:p>
                      <a:pPr algn="ctr"/>
                      <a:r>
                        <a:rPr sz="1000" b="0">
                          <a:solidFill>
                            <a:srgbClr val="1F1F1F"/>
                          </a:solidFill>
                          <a:latin typeface="KoPubWorld돋움체 Bold"/>
                        </a:rPr>
                        <a:t>비중</a:t>
                      </a:r>
                    </a:p>
                  </a:txBody>
                  <a:tcPr marL="54864" marR="54864" marT="0" marB="0">
                    <a:solidFill>
                      <a:srgbClr val="DAE3F3"/>
                    </a:solidFill>
                  </a:tcPr>
                </a:tc>
                <a:tc>
                  <a:txBody>
                    <a:bodyPr/>
                    <a:lstStyle/>
                    <a:p>
                      <a:pPr algn="ctr"/>
                      <a:r>
                        <a:rPr sz="1000" b="0">
                          <a:solidFill>
                            <a:srgbClr val="1F1F1F"/>
                          </a:solidFill>
                          <a:latin typeface="KoPubWorld돋움체 Bold"/>
                        </a:rPr>
                        <a:t>Sources</a:t>
                      </a:r>
                    </a:p>
                  </a:txBody>
                  <a:tcPr marL="54864" marR="54864" marT="0" marB="0">
                    <a:solidFill>
                      <a:srgbClr val="DAE3F3"/>
                    </a:solidFill>
                  </a:tcPr>
                </a:tc>
                <a:tc>
                  <a:txBody>
                    <a:bodyPr/>
                    <a:lstStyle/>
                    <a:p>
                      <a:pPr algn="ctr"/>
                      <a:r>
                        <a:rPr sz="1000" b="0">
                          <a:solidFill>
                            <a:srgbClr val="1F1F1F"/>
                          </a:solidFill>
                          <a:latin typeface="KoPubWorld돋움체 Bold"/>
                        </a:rPr>
                        <a:t>금액</a:t>
                      </a:r>
                    </a:p>
                  </a:txBody>
                  <a:tcPr marL="54864" marR="54864" marT="0" marB="0">
                    <a:solidFill>
                      <a:srgbClr val="DAE3F3"/>
                    </a:solidFill>
                  </a:tcPr>
                </a:tc>
                <a:tc>
                  <a:txBody>
                    <a:bodyPr/>
                    <a:lstStyle/>
                    <a:p>
                      <a:pPr algn="ctr"/>
                      <a:r>
                        <a:rPr sz="1000" b="0">
                          <a:solidFill>
                            <a:srgbClr val="1F1F1F"/>
                          </a:solidFill>
                          <a:latin typeface="KoPubWorld돋움체 Bold"/>
                        </a:rPr>
                        <a:t>비중</a:t>
                      </a:r>
                    </a:p>
                  </a:txBody>
                  <a:tcPr marL="54864" marR="54864" marT="0" marB="0">
                    <a:solidFill>
                      <a:srgbClr val="DAE3F3"/>
                    </a:solidFill>
                  </a:tcPr>
                </a:tc>
              </a:tr>
              <a:tr h="365760">
                <a:tc>
                  <a:txBody>
                    <a:bodyPr/>
                    <a:lstStyle/>
                    <a:p>
                      <a:pPr algn="ctr"/>
                      <a:r>
                        <a:rPr sz="1000" b="0">
                          <a:solidFill>
                            <a:srgbClr val="1F1F1F"/>
                          </a:solidFill>
                          <a:latin typeface="KoPubWorld돋움체 Light"/>
                        </a:rPr>
                        <a:t>부동산 매입</a:t>
                      </a:r>
                    </a:p>
                  </a:txBody>
                  <a:tcPr marL="54864" marR="54864" marT="0" marB="0">
                    <a:solidFill>
                      <a:srgbClr val="FFFFFF"/>
                    </a:solidFill>
                  </a:tcPr>
                </a:tc>
                <a:tc>
                  <a:txBody>
                    <a:bodyPr/>
                    <a:lstStyle/>
                    <a:p>
                      <a:pPr algn="l"/>
                      <a:r>
                        <a:rPr sz="1000" b="0">
                          <a:solidFill>
                            <a:srgbClr val="1F1F1F"/>
                          </a:solidFill>
                          <a:latin typeface="KoPubWorld돋움체 Light"/>
                        </a:rPr>
                        <a:t>270,000</a:t>
                      </a:r>
                    </a:p>
                  </a:txBody>
                  <a:tcPr marL="54864" marR="54864" marT="0" marB="0">
                    <a:solidFill>
                      <a:srgbClr val="FFFFFF"/>
                    </a:solidFill>
                  </a:tcPr>
                </a:tc>
                <a:tc>
                  <a:txBody>
                    <a:bodyPr/>
                    <a:lstStyle/>
                    <a:p>
                      <a:pPr algn="l"/>
                      <a:r>
                        <a:rPr sz="1000" b="0">
                          <a:solidFill>
                            <a:srgbClr val="1F1F1F"/>
                          </a:solidFill>
                          <a:latin typeface="KoPubWorld돋움체 Light"/>
                        </a:rPr>
                        <a:t>90.3%</a:t>
                      </a:r>
                    </a:p>
                  </a:txBody>
                  <a:tcPr marL="54864" marR="54864" marT="0" marB="0">
                    <a:solidFill>
                      <a:srgbClr val="FFFFFF"/>
                    </a:solidFill>
                  </a:tcPr>
                </a:tc>
                <a:tc>
                  <a:txBody>
                    <a:bodyPr/>
                    <a:lstStyle/>
                    <a:p>
                      <a:pPr algn="l"/>
                      <a:r>
                        <a:rPr sz="1000" b="0">
                          <a:solidFill>
                            <a:srgbClr val="1F1F1F"/>
                          </a:solidFill>
                          <a:latin typeface="KoPubWorld돋움체 Light"/>
                        </a:rPr>
                        <a:t>임대보증금</a:t>
                      </a:r>
                    </a:p>
                  </a:txBody>
                  <a:tcPr marL="54864" marR="54864" marT="0" marB="0">
                    <a:solidFill>
                      <a:srgbClr val="FFFFFF"/>
                    </a:solidFill>
                  </a:tcPr>
                </a:tc>
                <a:tc>
                  <a:txBody>
                    <a:bodyPr/>
                    <a:lstStyle/>
                    <a:p>
                      <a:pPr algn="l"/>
                      <a:r>
                        <a:rPr sz="1000" b="0">
                          <a:solidFill>
                            <a:srgbClr val="1F1F1F"/>
                          </a:solidFill>
                          <a:latin typeface="KoPubWorld돋움체 Light"/>
                        </a:rPr>
                        <a:t>2,100</a:t>
                      </a:r>
                    </a:p>
                  </a:txBody>
                  <a:tcPr marL="54864" marR="54864" marT="0" marB="0">
                    <a:solidFill>
                      <a:srgbClr val="FFFFFF"/>
                    </a:solidFill>
                  </a:tcPr>
                </a:tc>
                <a:tc>
                  <a:txBody>
                    <a:bodyPr/>
                    <a:lstStyle/>
                    <a:p>
                      <a:pPr algn="l"/>
                      <a:r>
                        <a:rPr sz="1000" b="0">
                          <a:solidFill>
                            <a:srgbClr val="1F1F1F"/>
                          </a:solidFill>
                          <a:latin typeface="KoPubWorld돋움체 Light"/>
                        </a:rPr>
                        <a:t>0.7%</a:t>
                      </a:r>
                    </a:p>
                  </a:txBody>
                  <a:tcPr marL="54864" marR="54864" marT="0" marB="0">
                    <a:solidFill>
                      <a:srgbClr val="FFFFFF"/>
                    </a:solidFill>
                  </a:tcPr>
                </a:tc>
              </a:tr>
              <a:tr h="365760">
                <a:tc>
                  <a:txBody>
                    <a:bodyPr/>
                    <a:lstStyle/>
                    <a:p>
                      <a:pPr algn="ctr"/>
                      <a:r>
                        <a:rPr sz="1000" b="0">
                          <a:solidFill>
                            <a:srgbClr val="1F1F1F"/>
                          </a:solidFill>
                          <a:latin typeface="KoPubWorld돋움체 Light"/>
                        </a:rPr>
                        <a:t>매입수수료 (0.5%)</a:t>
                      </a:r>
                    </a:p>
                  </a:txBody>
                  <a:tcPr marL="54864" marR="54864" marT="0" marB="0">
                    <a:solidFill>
                      <a:srgbClr val="F2F2F2"/>
                    </a:solidFill>
                  </a:tcPr>
                </a:tc>
                <a:tc>
                  <a:txBody>
                    <a:bodyPr/>
                    <a:lstStyle/>
                    <a:p>
                      <a:pPr algn="l"/>
                      <a:r>
                        <a:rPr sz="1000" b="0">
                          <a:solidFill>
                            <a:srgbClr val="1F1F1F"/>
                          </a:solidFill>
                          <a:latin typeface="KoPubWorld돋움체 Light"/>
                        </a:rPr>
                        <a:t>1,350</a:t>
                      </a:r>
                    </a:p>
                  </a:txBody>
                  <a:tcPr marL="54864" marR="54864" marT="0" marB="0">
                    <a:solidFill>
                      <a:srgbClr val="F2F2F2"/>
                    </a:solidFill>
                  </a:tcPr>
                </a:tc>
                <a:tc>
                  <a:txBody>
                    <a:bodyPr/>
                    <a:lstStyle/>
                    <a:p>
                      <a:pPr algn="l"/>
                      <a:r>
                        <a:rPr sz="1000" b="0">
                          <a:solidFill>
                            <a:srgbClr val="1F1F1F"/>
                          </a:solidFill>
                          <a:latin typeface="KoPubWorld돋움체 Light"/>
                        </a:rPr>
                        <a:t>0.5%</a:t>
                      </a:r>
                    </a:p>
                  </a:txBody>
                  <a:tcPr marL="54864" marR="54864" marT="0" marB="0">
                    <a:solidFill>
                      <a:srgbClr val="F2F2F2"/>
                    </a:solidFill>
                  </a:tcPr>
                </a:tc>
                <a:tc>
                  <a:txBody>
                    <a:bodyPr/>
                    <a:lstStyle/>
                    <a:p>
                      <a:pPr algn="l"/>
                      <a:r>
                        <a:rPr sz="1000" b="0">
                          <a:solidFill>
                            <a:srgbClr val="1F1F1F"/>
                          </a:solidFill>
                          <a:latin typeface="KoPubWorld돋움체 Light"/>
                        </a:rPr>
                        <a:t>선순위 Tr.A</a:t>
                      </a:r>
                    </a:p>
                  </a:txBody>
                  <a:tcPr marL="54864" marR="54864" marT="0" marB="0">
                    <a:solidFill>
                      <a:srgbClr val="F2F2F2"/>
                    </a:solidFill>
                  </a:tcPr>
                </a:tc>
                <a:tc>
                  <a:txBody>
                    <a:bodyPr/>
                    <a:lstStyle/>
                    <a:p>
                      <a:pPr algn="l"/>
                      <a:r>
                        <a:rPr sz="1000" b="0">
                          <a:solidFill>
                            <a:srgbClr val="1F1F1F"/>
                          </a:solidFill>
                          <a:latin typeface="KoPubWorld돋움체 Light"/>
                        </a:rPr>
                        <a:t>160,000</a:t>
                      </a:r>
                    </a:p>
                  </a:txBody>
                  <a:tcPr marL="54864" marR="54864" marT="0" marB="0">
                    <a:solidFill>
                      <a:srgbClr val="F2F2F2"/>
                    </a:solidFill>
                  </a:tcPr>
                </a:tc>
                <a:tc>
                  <a:txBody>
                    <a:bodyPr/>
                    <a:lstStyle/>
                    <a:p>
                      <a:pPr algn="l"/>
                      <a:r>
                        <a:rPr sz="1000" b="0">
                          <a:solidFill>
                            <a:srgbClr val="1F1F1F"/>
                          </a:solidFill>
                          <a:latin typeface="KoPubWorld돋움체 Light"/>
                        </a:rPr>
                        <a:t>53.5%</a:t>
                      </a:r>
                    </a:p>
                  </a:txBody>
                  <a:tcPr marL="54864" marR="54864" marT="0" marB="0">
                    <a:solidFill>
                      <a:srgbClr val="F2F2F2"/>
                    </a:solidFill>
                  </a:tcPr>
                </a:tc>
              </a:tr>
              <a:tr h="365760">
                <a:tc>
                  <a:txBody>
                    <a:bodyPr/>
                    <a:lstStyle/>
                    <a:p>
                      <a:pPr algn="ctr"/>
                      <a:r>
                        <a:rPr sz="1000" b="0">
                          <a:solidFill>
                            <a:srgbClr val="1F1F1F"/>
                          </a:solidFill>
                          <a:latin typeface="KoPubWorld돋움체 Light"/>
                        </a:rPr>
                        <a:t>취득세 (4.6%)</a:t>
                      </a:r>
                    </a:p>
                  </a:txBody>
                  <a:tcPr marL="54864" marR="54864" marT="0" marB="0">
                    <a:solidFill>
                      <a:srgbClr val="FFFFFF"/>
                    </a:solidFill>
                  </a:tcPr>
                </a:tc>
                <a:tc>
                  <a:txBody>
                    <a:bodyPr/>
                    <a:lstStyle/>
                    <a:p>
                      <a:pPr algn="l"/>
                      <a:r>
                        <a:rPr sz="1000" b="0">
                          <a:solidFill>
                            <a:srgbClr val="1F1F1F"/>
                          </a:solidFill>
                          <a:latin typeface="KoPubWorld돋움체 Light"/>
                        </a:rPr>
                        <a:t>12,498</a:t>
                      </a:r>
                    </a:p>
                  </a:txBody>
                  <a:tcPr marL="54864" marR="54864" marT="0" marB="0">
                    <a:solidFill>
                      <a:srgbClr val="FFFFFF"/>
                    </a:solidFill>
                  </a:tcPr>
                </a:tc>
                <a:tc>
                  <a:txBody>
                    <a:bodyPr/>
                    <a:lstStyle/>
                    <a:p>
                      <a:pPr algn="l"/>
                      <a:r>
                        <a:rPr sz="1000" b="0">
                          <a:solidFill>
                            <a:srgbClr val="1F1F1F"/>
                          </a:solidFill>
                          <a:latin typeface="KoPubWorld돋움체 Light"/>
                        </a:rPr>
                        <a:t>4.2%</a:t>
                      </a:r>
                    </a:p>
                  </a:txBody>
                  <a:tcPr marL="54864" marR="54864" marT="0" marB="0">
                    <a:solidFill>
                      <a:srgbClr val="FFFFFF"/>
                    </a:solidFill>
                  </a:tcPr>
                </a:tc>
                <a:tc>
                  <a:txBody>
                    <a:bodyPr/>
                    <a:lstStyle/>
                    <a:p>
                      <a:pPr algn="l"/>
                      <a:r>
                        <a:rPr sz="1000" b="0">
                          <a:solidFill>
                            <a:srgbClr val="1F1F1F"/>
                          </a:solidFill>
                          <a:latin typeface="KoPubWorld돋움체 Light"/>
                        </a:rPr>
                        <a:t>중순위 Tr.B</a:t>
                      </a:r>
                    </a:p>
                  </a:txBody>
                  <a:tcPr marL="54864" marR="54864" marT="0" marB="0">
                    <a:solidFill>
                      <a:srgbClr val="FFFFFF"/>
                    </a:solidFill>
                  </a:tcPr>
                </a:tc>
                <a:tc>
                  <a:txBody>
                    <a:bodyPr/>
                    <a:lstStyle/>
                    <a:p>
                      <a:pPr algn="l"/>
                      <a:r>
                        <a:rPr sz="1000" b="0">
                          <a:solidFill>
                            <a:srgbClr val="1F1F1F"/>
                          </a:solidFill>
                          <a:latin typeface="KoPubWorld돋움체 Light"/>
                        </a:rPr>
                        <a:t>38,000</a:t>
                      </a:r>
                    </a:p>
                  </a:txBody>
                  <a:tcPr marL="54864" marR="54864" marT="0" marB="0">
                    <a:solidFill>
                      <a:srgbClr val="FFFFFF"/>
                    </a:solidFill>
                  </a:tcPr>
                </a:tc>
                <a:tc>
                  <a:txBody>
                    <a:bodyPr/>
                    <a:lstStyle/>
                    <a:p>
                      <a:pPr algn="l"/>
                      <a:r>
                        <a:rPr sz="1000" b="0">
                          <a:solidFill>
                            <a:srgbClr val="1F1F1F"/>
                          </a:solidFill>
                          <a:latin typeface="KoPubWorld돋움체 Light"/>
                        </a:rPr>
                        <a:t>12.7%</a:t>
                      </a:r>
                    </a:p>
                  </a:txBody>
                  <a:tcPr marL="54864" marR="54864" marT="0" marB="0">
                    <a:solidFill>
                      <a:srgbClr val="FFFFFF"/>
                    </a:solidFill>
                  </a:tcPr>
                </a:tc>
              </a:tr>
              <a:tr h="365760">
                <a:tc>
                  <a:txBody>
                    <a:bodyPr/>
                    <a:lstStyle/>
                    <a:p>
                      <a:pPr algn="ctr"/>
                      <a:r>
                        <a:rPr sz="1000" b="0">
                          <a:solidFill>
                            <a:srgbClr val="1F1F1F"/>
                          </a:solidFill>
                          <a:latin typeface="KoPubWorld돋움체 Light"/>
                        </a:rPr>
                        <a:t>실사 및 예비비</a:t>
                      </a:r>
                    </a:p>
                  </a:txBody>
                  <a:tcPr marL="54864" marR="54864" marT="0" marB="0">
                    <a:solidFill>
                      <a:srgbClr val="F2F2F2"/>
                    </a:solidFill>
                  </a:tcPr>
                </a:tc>
                <a:tc>
                  <a:txBody>
                    <a:bodyPr/>
                    <a:lstStyle/>
                    <a:p>
                      <a:pPr algn="l"/>
                      <a:r>
                        <a:rPr sz="1000" b="0">
                          <a:solidFill>
                            <a:srgbClr val="1F1F1F"/>
                          </a:solidFill>
                          <a:latin typeface="KoPubWorld돋움체 Light"/>
                        </a:rPr>
                        <a:t>662</a:t>
                      </a:r>
                    </a:p>
                  </a:txBody>
                  <a:tcPr marL="54864" marR="54864" marT="0" marB="0">
                    <a:solidFill>
                      <a:srgbClr val="F2F2F2"/>
                    </a:solidFill>
                  </a:tcPr>
                </a:tc>
                <a:tc>
                  <a:txBody>
                    <a:bodyPr/>
                    <a:lstStyle/>
                    <a:p>
                      <a:pPr algn="l"/>
                      <a:r>
                        <a:rPr sz="1000" b="0">
                          <a:solidFill>
                            <a:srgbClr val="1F1F1F"/>
                          </a:solidFill>
                          <a:latin typeface="KoPubWorld돋움체 Light"/>
                        </a:rPr>
                        <a:t>0.2%</a:t>
                      </a:r>
                    </a:p>
                  </a:txBody>
                  <a:tcPr marL="54864" marR="54864" marT="0" marB="0">
                    <a:solidFill>
                      <a:srgbClr val="F2F2F2"/>
                    </a:solidFill>
                  </a:tcPr>
                </a:tc>
                <a:tc>
                  <a:txBody>
                    <a:bodyPr/>
                    <a:lstStyle/>
                    <a:p>
                      <a:pPr algn="l"/>
                      <a:r>
                        <a:rPr sz="1000" b="0">
                          <a:solidFill>
                            <a:srgbClr val="1F1F1F"/>
                          </a:solidFill>
                          <a:latin typeface="KoPubWorld돋움체 Light"/>
                        </a:rPr>
                        <a:t>제1종 종류주식</a:t>
                      </a:r>
                    </a:p>
                  </a:txBody>
                  <a:tcPr marL="54864" marR="54864" marT="0" marB="0">
                    <a:solidFill>
                      <a:srgbClr val="F2F2F2"/>
                    </a:solidFill>
                  </a:tcPr>
                </a:tc>
                <a:tc>
                  <a:txBody>
                    <a:bodyPr/>
                    <a:lstStyle/>
                    <a:p>
                      <a:pPr algn="l"/>
                      <a:r>
                        <a:rPr sz="1000" b="0">
                          <a:solidFill>
                            <a:srgbClr val="1F1F1F"/>
                          </a:solidFill>
                          <a:latin typeface="KoPubWorld돋움체 Light"/>
                        </a:rPr>
                        <a:t>24,000</a:t>
                      </a:r>
                    </a:p>
                  </a:txBody>
                  <a:tcPr marL="54864" marR="54864" marT="0" marB="0">
                    <a:solidFill>
                      <a:srgbClr val="F2F2F2"/>
                    </a:solidFill>
                  </a:tcPr>
                </a:tc>
                <a:tc>
                  <a:txBody>
                    <a:bodyPr/>
                    <a:lstStyle/>
                    <a:p>
                      <a:pPr algn="l"/>
                      <a:r>
                        <a:rPr sz="1000" b="0">
                          <a:solidFill>
                            <a:srgbClr val="1F1F1F"/>
                          </a:solidFill>
                          <a:latin typeface="KoPubWorld돋움체 Light"/>
                        </a:rPr>
                        <a:t>8.0%</a:t>
                      </a:r>
                    </a:p>
                  </a:txBody>
                  <a:tcPr marL="54864" marR="54864" marT="0" marB="0">
                    <a:solidFill>
                      <a:srgbClr val="F2F2F2"/>
                    </a:solidFill>
                  </a:tcPr>
                </a:tc>
              </a:tr>
              <a:tr h="365760">
                <a:tc>
                  <a:txBody>
                    <a:bodyPr/>
                    <a:lstStyle/>
                    <a:p>
                      <a:pPr algn="ctr"/>
                      <a:r>
                        <a:rPr sz="1000" b="0">
                          <a:solidFill>
                            <a:srgbClr val="1F1F1F"/>
                          </a:solidFill>
                          <a:latin typeface="KoPubWorld돋움체 Light"/>
                        </a:rPr>
                        <a:t>금융수수료</a:t>
                      </a:r>
                    </a:p>
                  </a:txBody>
                  <a:tcPr marL="54864" marR="54864" marT="0" marB="0">
                    <a:solidFill>
                      <a:srgbClr val="FFFFFF"/>
                    </a:solidFill>
                  </a:tcPr>
                </a:tc>
                <a:tc>
                  <a:txBody>
                    <a:bodyPr/>
                    <a:lstStyle/>
                    <a:p>
                      <a:pPr algn="l"/>
                      <a:r>
                        <a:rPr sz="1000" b="0">
                          <a:solidFill>
                            <a:srgbClr val="1F1F1F"/>
                          </a:solidFill>
                          <a:latin typeface="KoPubWorld돋움체 Light"/>
                        </a:rPr>
                        <a:t>4,390</a:t>
                      </a:r>
                    </a:p>
                  </a:txBody>
                  <a:tcPr marL="54864" marR="54864" marT="0" marB="0">
                    <a:solidFill>
                      <a:srgbClr val="FFFFFF"/>
                    </a:solidFill>
                  </a:tcPr>
                </a:tc>
                <a:tc>
                  <a:txBody>
                    <a:bodyPr/>
                    <a:lstStyle/>
                    <a:p>
                      <a:pPr algn="l"/>
                      <a:r>
                        <a:rPr sz="1000" b="0">
                          <a:solidFill>
                            <a:srgbClr val="1F1F1F"/>
                          </a:solidFill>
                          <a:latin typeface="KoPubWorld돋움체 Light"/>
                        </a:rPr>
                        <a:t>1.5%</a:t>
                      </a:r>
                    </a:p>
                  </a:txBody>
                  <a:tcPr marL="54864" marR="54864" marT="0" marB="0">
                    <a:solidFill>
                      <a:srgbClr val="FFFFFF"/>
                    </a:solidFill>
                  </a:tcPr>
                </a:tc>
                <a:tc>
                  <a:txBody>
                    <a:bodyPr/>
                    <a:lstStyle/>
                    <a:p>
                      <a:pPr algn="l"/>
                      <a:r>
                        <a:rPr sz="1000" b="0">
                          <a:solidFill>
                            <a:srgbClr val="1F1F1F"/>
                          </a:solidFill>
                          <a:latin typeface="KoPubWorld돋움체 Light"/>
                        </a:rPr>
                        <a:t>제2종 종류주식</a:t>
                      </a:r>
                    </a:p>
                  </a:txBody>
                  <a:tcPr marL="54864" marR="54864" marT="0" marB="0">
                    <a:solidFill>
                      <a:srgbClr val="FFFFFF"/>
                    </a:solidFill>
                  </a:tcPr>
                </a:tc>
                <a:tc>
                  <a:txBody>
                    <a:bodyPr/>
                    <a:lstStyle/>
                    <a:p>
                      <a:pPr algn="l"/>
                      <a:r>
                        <a:rPr sz="1000" b="0">
                          <a:solidFill>
                            <a:srgbClr val="1F1F1F"/>
                          </a:solidFill>
                          <a:latin typeface="KoPubWorld돋움체 Light"/>
                        </a:rPr>
                        <a:t>50,000</a:t>
                      </a:r>
                    </a:p>
                  </a:txBody>
                  <a:tcPr marL="54864" marR="54864" marT="0" marB="0">
                    <a:solidFill>
                      <a:srgbClr val="FFFFFF"/>
                    </a:solidFill>
                  </a:tcPr>
                </a:tc>
                <a:tc>
                  <a:txBody>
                    <a:bodyPr/>
                    <a:lstStyle/>
                    <a:p>
                      <a:pPr algn="l"/>
                      <a:r>
                        <a:rPr sz="1000" b="0">
                          <a:solidFill>
                            <a:srgbClr val="1F1F1F"/>
                          </a:solidFill>
                          <a:latin typeface="KoPubWorld돋움체 Light"/>
                        </a:rPr>
                        <a:t>16.7%</a:t>
                      </a:r>
                    </a:p>
                  </a:txBody>
                  <a:tcPr marL="54864" marR="54864" marT="0" marB="0">
                    <a:solidFill>
                      <a:srgbClr val="FFFFFF"/>
                    </a:solidFill>
                  </a:tcPr>
                </a:tc>
              </a:tr>
              <a:tr h="365760">
                <a:tc>
                  <a:txBody>
                    <a:bodyPr/>
                    <a:lstStyle/>
                    <a:p>
                      <a:pPr algn="ctr"/>
                      <a:r>
                        <a:rPr sz="1000" b="0">
                          <a:solidFill>
                            <a:srgbClr val="1F1F1F"/>
                          </a:solidFill>
                          <a:latin typeface="KoPubWorld돋움체 Light"/>
                        </a:rPr>
                        <a:t>예비현금</a:t>
                      </a:r>
                    </a:p>
                  </a:txBody>
                  <a:tcPr marL="54864" marR="54864" marT="0" marB="0">
                    <a:solidFill>
                      <a:srgbClr val="F2F2F2"/>
                    </a:solidFill>
                  </a:tcPr>
                </a:tc>
                <a:tc>
                  <a:txBody>
                    <a:bodyPr/>
                    <a:lstStyle/>
                    <a:p>
                      <a:pPr algn="l"/>
                      <a:r>
                        <a:rPr sz="1000" b="0">
                          <a:solidFill>
                            <a:srgbClr val="1F1F1F"/>
                          </a:solidFill>
                          <a:latin typeface="KoPubWorld돋움체 Light"/>
                        </a:rPr>
                        <a:t>10,000</a:t>
                      </a:r>
                    </a:p>
                  </a:txBody>
                  <a:tcPr marL="54864" marR="54864" marT="0" marB="0">
                    <a:solidFill>
                      <a:srgbClr val="F2F2F2"/>
                    </a:solidFill>
                  </a:tcPr>
                </a:tc>
                <a:tc>
                  <a:txBody>
                    <a:bodyPr/>
                    <a:lstStyle/>
                    <a:p>
                      <a:pPr algn="l"/>
                      <a:r>
                        <a:rPr sz="1000" b="0">
                          <a:solidFill>
                            <a:srgbClr val="1F1F1F"/>
                          </a:solidFill>
                          <a:latin typeface="KoPubWorld돋움체 Light"/>
                        </a:rPr>
                        <a:t>3.3%</a:t>
                      </a:r>
                    </a:p>
                  </a:txBody>
                  <a:tcPr marL="54864" marR="54864" marT="0" marB="0">
                    <a:solidFill>
                      <a:srgbClr val="F2F2F2"/>
                    </a:solidFill>
                  </a:tcPr>
                </a:tc>
                <a:tc>
                  <a:txBody>
                    <a:bodyPr/>
                    <a:lstStyle/>
                    <a:p>
                      <a:pPr algn="l"/>
                      <a:r>
                        <a:rPr sz="1000" b="0">
                          <a:solidFill>
                            <a:srgbClr val="1F1F1F"/>
                          </a:solidFill>
                          <a:latin typeface="KoPubWorld돋움체 Light"/>
                        </a:rPr>
                        <a:t>제3종 종류주식</a:t>
                      </a:r>
                    </a:p>
                  </a:txBody>
                  <a:tcPr marL="54864" marR="54864" marT="0" marB="0">
                    <a:solidFill>
                      <a:srgbClr val="F2F2F2"/>
                    </a:solidFill>
                  </a:tcPr>
                </a:tc>
                <a:tc>
                  <a:txBody>
                    <a:bodyPr/>
                    <a:lstStyle/>
                    <a:p>
                      <a:pPr algn="l"/>
                      <a:r>
                        <a:rPr sz="1000" b="0">
                          <a:solidFill>
                            <a:srgbClr val="1F1F1F"/>
                          </a:solidFill>
                          <a:latin typeface="KoPubWorld돋움체 Light"/>
                        </a:rPr>
                        <a:t>10,000</a:t>
                      </a:r>
                    </a:p>
                  </a:txBody>
                  <a:tcPr marL="54864" marR="54864" marT="0" marB="0">
                    <a:solidFill>
                      <a:srgbClr val="F2F2F2"/>
                    </a:solidFill>
                  </a:tcPr>
                </a:tc>
                <a:tc>
                  <a:txBody>
                    <a:bodyPr/>
                    <a:lstStyle/>
                    <a:p>
                      <a:pPr algn="l"/>
                      <a:r>
                        <a:rPr sz="1000" b="0">
                          <a:solidFill>
                            <a:srgbClr val="1F1F1F"/>
                          </a:solidFill>
                          <a:latin typeface="KoPubWorld돋움체 Light"/>
                        </a:rPr>
                        <a:t>3.3%</a:t>
                      </a:r>
                    </a:p>
                  </a:txBody>
                  <a:tcPr marL="54864" marR="54864" marT="0" marB="0">
                    <a:solidFill>
                      <a:srgbClr val="F2F2F2"/>
                    </a:solidFill>
                  </a:tcPr>
                </a:tc>
              </a:tr>
              <a:tr h="365760">
                <a:tc>
                  <a:txBody>
                    <a:bodyPr/>
                    <a:lstStyle/>
                    <a:p>
                      <a:pPr algn="ctr"/>
                      <a:r>
                        <a:rPr sz="1000" b="0">
                          <a:solidFill>
                            <a:srgbClr val="1F1F1F"/>
                          </a:solidFill>
                          <a:latin typeface="KoPubWorld돋움체 Light"/>
                        </a:rPr>
                        <a:t/>
                      </a:r>
                    </a:p>
                  </a:txBody>
                  <a:tcPr marL="54864" marR="54864" marT="0" marB="0">
                    <a:solidFill>
                      <a:srgbClr val="FFFFFF"/>
                    </a:solidFill>
                  </a:tcPr>
                </a:tc>
                <a:tc>
                  <a:txBody>
                    <a:bodyPr/>
                    <a:lstStyle/>
                    <a:p>
                      <a:pPr algn="l"/>
                      <a:r>
                        <a:rPr sz="1000" b="0">
                          <a:solidFill>
                            <a:srgbClr val="1F1F1F"/>
                          </a:solidFill>
                          <a:latin typeface="KoPubWorld돋움체 Light"/>
                        </a:rPr>
                        <a:t/>
                      </a:r>
                    </a:p>
                  </a:txBody>
                  <a:tcPr marL="54864" marR="54864" marT="0" marB="0">
                    <a:solidFill>
                      <a:srgbClr val="FFFFFF"/>
                    </a:solidFill>
                  </a:tcPr>
                </a:tc>
                <a:tc>
                  <a:txBody>
                    <a:bodyPr/>
                    <a:lstStyle/>
                    <a:p>
                      <a:pPr algn="l"/>
                      <a:r>
                        <a:rPr sz="1000" b="0">
                          <a:solidFill>
                            <a:srgbClr val="1F1F1F"/>
                          </a:solidFill>
                          <a:latin typeface="KoPubWorld돋움체 Light"/>
                        </a:rPr>
                        <a:t/>
                      </a:r>
                    </a:p>
                  </a:txBody>
                  <a:tcPr marL="54864" marR="54864" marT="0" marB="0">
                    <a:solidFill>
                      <a:srgbClr val="FFFFFF"/>
                    </a:solidFill>
                  </a:tcPr>
                </a:tc>
                <a:tc>
                  <a:txBody>
                    <a:bodyPr/>
                    <a:lstStyle/>
                    <a:p>
                      <a:pPr algn="l"/>
                      <a:r>
                        <a:rPr sz="1000" b="0">
                          <a:solidFill>
                            <a:srgbClr val="1F1F1F"/>
                          </a:solidFill>
                          <a:latin typeface="KoPubWorld돋움체 Light"/>
                        </a:rPr>
                        <a:t>보통주식</a:t>
                      </a:r>
                    </a:p>
                  </a:txBody>
                  <a:tcPr marL="54864" marR="54864" marT="0" marB="0">
                    <a:solidFill>
                      <a:srgbClr val="FFFFFF"/>
                    </a:solidFill>
                  </a:tcPr>
                </a:tc>
                <a:tc>
                  <a:txBody>
                    <a:bodyPr/>
                    <a:lstStyle/>
                    <a:p>
                      <a:pPr algn="l"/>
                      <a:r>
                        <a:rPr sz="1000" b="0">
                          <a:solidFill>
                            <a:srgbClr val="1F1F1F"/>
                          </a:solidFill>
                          <a:latin typeface="KoPubWorld돋움체 Light"/>
                        </a:rPr>
                        <a:t>14,800</a:t>
                      </a:r>
                    </a:p>
                  </a:txBody>
                  <a:tcPr marL="54864" marR="54864" marT="0" marB="0">
                    <a:solidFill>
                      <a:srgbClr val="FFFFFF"/>
                    </a:solidFill>
                  </a:tcPr>
                </a:tc>
                <a:tc>
                  <a:txBody>
                    <a:bodyPr/>
                    <a:lstStyle/>
                    <a:p>
                      <a:pPr algn="l"/>
                      <a:r>
                        <a:rPr sz="1000" b="0">
                          <a:solidFill>
                            <a:srgbClr val="1F1F1F"/>
                          </a:solidFill>
                          <a:latin typeface="KoPubWorld돋움체 Light"/>
                        </a:rPr>
                        <a:t>5.0%</a:t>
                      </a:r>
                    </a:p>
                  </a:txBody>
                  <a:tcPr marL="54864" marR="54864" marT="0" marB="0">
                    <a:solidFill>
                      <a:srgbClr val="FFFFFF"/>
                    </a:solidFill>
                  </a:tcPr>
                </a:tc>
              </a:tr>
              <a:tr h="365760">
                <a:tc>
                  <a:txBody>
                    <a:bodyPr/>
                    <a:lstStyle/>
                    <a:p>
                      <a:pPr algn="ctr"/>
                      <a:r>
                        <a:rPr sz="1000" b="0">
                          <a:solidFill>
                            <a:srgbClr val="1F1F1F"/>
                          </a:solidFill>
                          <a:latin typeface="KoPubWorld돋움체 Light"/>
                        </a:rPr>
                        <a:t>총투자비</a:t>
                      </a:r>
                    </a:p>
                  </a:txBody>
                  <a:tcPr marL="54864" marR="54864" marT="0" marB="0">
                    <a:solidFill>
                      <a:srgbClr val="F2F2F2"/>
                    </a:solidFill>
                  </a:tcPr>
                </a:tc>
                <a:tc>
                  <a:txBody>
                    <a:bodyPr/>
                    <a:lstStyle/>
                    <a:p>
                      <a:pPr algn="l"/>
                      <a:r>
                        <a:rPr sz="1000" b="0">
                          <a:solidFill>
                            <a:srgbClr val="1F1F1F"/>
                          </a:solidFill>
                          <a:latin typeface="KoPubWorld돋움체 Light"/>
                        </a:rPr>
                        <a:t>298,900</a:t>
                      </a:r>
                    </a:p>
                  </a:txBody>
                  <a:tcPr marL="54864" marR="54864" marT="0" marB="0">
                    <a:solidFill>
                      <a:srgbClr val="F2F2F2"/>
                    </a:solidFill>
                  </a:tcPr>
                </a:tc>
                <a:tc>
                  <a:txBody>
                    <a:bodyPr/>
                    <a:lstStyle/>
                    <a:p>
                      <a:pPr algn="l"/>
                      <a:r>
                        <a:rPr sz="1000" b="0">
                          <a:solidFill>
                            <a:srgbClr val="1F1F1F"/>
                          </a:solidFill>
                          <a:latin typeface="KoPubWorld돋움체 Light"/>
                        </a:rPr>
                        <a:t>100.0%</a:t>
                      </a:r>
                    </a:p>
                  </a:txBody>
                  <a:tcPr marL="54864" marR="54864" marT="0" marB="0">
                    <a:solidFill>
                      <a:srgbClr val="F2F2F2"/>
                    </a:solidFill>
                  </a:tcPr>
                </a:tc>
                <a:tc>
                  <a:txBody>
                    <a:bodyPr/>
                    <a:lstStyle/>
                    <a:p>
                      <a:pPr algn="l"/>
                      <a:r>
                        <a:rPr sz="1000" b="0">
                          <a:solidFill>
                            <a:srgbClr val="1F1F1F"/>
                          </a:solidFill>
                          <a:latin typeface="KoPubWorld돋움체 Light"/>
                        </a:rPr>
                        <a:t>합 계</a:t>
                      </a:r>
                    </a:p>
                  </a:txBody>
                  <a:tcPr marL="54864" marR="54864" marT="0" marB="0">
                    <a:solidFill>
                      <a:srgbClr val="F2F2F2"/>
                    </a:solidFill>
                  </a:tcPr>
                </a:tc>
                <a:tc>
                  <a:txBody>
                    <a:bodyPr/>
                    <a:lstStyle/>
                    <a:p>
                      <a:pPr algn="l"/>
                      <a:r>
                        <a:rPr sz="1000" b="0">
                          <a:solidFill>
                            <a:srgbClr val="1F1F1F"/>
                          </a:solidFill>
                          <a:latin typeface="KoPubWorld돋움체 Light"/>
                        </a:rPr>
                        <a:t>298,900</a:t>
                      </a:r>
                    </a:p>
                  </a:txBody>
                  <a:tcPr marL="54864" marR="54864" marT="0" marB="0">
                    <a:solidFill>
                      <a:srgbClr val="F2F2F2"/>
                    </a:solidFill>
                  </a:tcPr>
                </a:tc>
                <a:tc>
                  <a:txBody>
                    <a:bodyPr/>
                    <a:lstStyle/>
                    <a:p>
                      <a:pPr algn="l"/>
                      <a:r>
                        <a:rPr sz="1000" b="0">
                          <a:solidFill>
                            <a:srgbClr val="1F1F1F"/>
                          </a:solidFill>
                          <a:latin typeface="KoPubWorld돋움체 Light"/>
                        </a:rPr>
                        <a:t>100.0%</a:t>
                      </a:r>
                    </a:p>
                  </a:txBody>
                  <a:tcPr marL="54864" marR="54864" marT="0" marB="0">
                    <a:solidFill>
                      <a:srgbClr val="F2F2F2"/>
                    </a:solidFill>
                  </a:tcPr>
                </a:tc>
              </a:tr>
            </a:tbl>
          </a:graphicData>
        </a:graphic>
      </p:graphicFrame>
      <p:sp>
        <p:nvSpPr>
          <p:cNvPr id="6" name="TextBox 5"/>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00_원본자료/processed/20260916_핵심지표_IM기준_v01.md §7 (근거: IM v01(2026.09) p.15). 매입부대비용 소계 18,900백만원. 재무분석보고서(우리회계법인, v1.11) 및 재무모델 v01(2026-09-15)과 모든 항목이 일치함.</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5. 운영가정 — 임대차 현황</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임대율 99.3%로 안정적으로 운영 중이며, 쿠팡이 임대면적의 77.2%를 임차하고 있음</a:t>
            </a:r>
          </a:p>
          <a:p>
            <a:r>
              <a:rPr sz="1200" b="0">
                <a:solidFill>
                  <a:srgbClr val="404040"/>
                </a:solidFill>
                <a:latin typeface="KoPubWorld돋움체 Light"/>
              </a:rPr>
              <a:t>• 2029~2030년 만기가 도래하는 농심·키즈밀·용마로지스 재계약 시 임대료 상승 기대</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임차인 현황 (임대면적 기준)</a:t>
            </a:r>
          </a:p>
        </p:txBody>
      </p:sp>
      <p:graphicFrame>
        <p:nvGraphicFramePr>
          <p:cNvPr id="5" name="Table 4"/>
          <p:cNvGraphicFramePr>
            <a:graphicFrameLocks noGrp="1"/>
          </p:cNvGraphicFramePr>
          <p:nvPr/>
        </p:nvGraphicFramePr>
        <p:xfrm>
          <a:off x="521207" y="2359152"/>
          <a:ext cx="9784080" cy="2962656"/>
        </p:xfrm>
        <a:graphic>
          <a:graphicData uri="http://schemas.openxmlformats.org/drawingml/2006/table">
            <a:tbl>
              <a:tblPr firstRow="1" bandRow="1">
                <a:tableStyleId>{5C22544A-7EE6-4342-B048-85BDC9FD1C3A}</a:tableStyleId>
              </a:tblPr>
              <a:tblGrid>
                <a:gridCol w="1645920"/>
                <a:gridCol w="1645920"/>
                <a:gridCol w="1005840"/>
                <a:gridCol w="2743200"/>
                <a:gridCol w="1554480"/>
                <a:gridCol w="1188720"/>
              </a:tblGrid>
              <a:tr h="329184">
                <a:tc>
                  <a:txBody>
                    <a:bodyPr/>
                    <a:lstStyle/>
                    <a:p>
                      <a:pPr algn="ctr"/>
                      <a:r>
                        <a:rPr sz="1000" b="0">
                          <a:solidFill>
                            <a:srgbClr val="1F1F1F"/>
                          </a:solidFill>
                          <a:latin typeface="KoPubWorld돋움체 Bold"/>
                        </a:rPr>
                        <a:t>임차인</a:t>
                      </a:r>
                    </a:p>
                  </a:txBody>
                  <a:tcPr marL="54864" marR="54864" marT="0" marB="0">
                    <a:solidFill>
                      <a:srgbClr val="DAE3F3"/>
                    </a:solidFill>
                  </a:tcPr>
                </a:tc>
                <a:tc>
                  <a:txBody>
                    <a:bodyPr/>
                    <a:lstStyle/>
                    <a:p>
                      <a:pPr algn="ctr"/>
                      <a:r>
                        <a:rPr sz="1000" b="0">
                          <a:solidFill>
                            <a:srgbClr val="1F1F1F"/>
                          </a:solidFill>
                          <a:latin typeface="KoPubWorld돋움체 Bold"/>
                        </a:rPr>
                        <a:t>임대면적(평)</a:t>
                      </a:r>
                    </a:p>
                  </a:txBody>
                  <a:tcPr marL="54864" marR="54864" marT="0" marB="0">
                    <a:solidFill>
                      <a:srgbClr val="DAE3F3"/>
                    </a:solidFill>
                  </a:tcPr>
                </a:tc>
                <a:tc>
                  <a:txBody>
                    <a:bodyPr/>
                    <a:lstStyle/>
                    <a:p>
                      <a:pPr algn="ctr"/>
                      <a:r>
                        <a:rPr sz="1000" b="0">
                          <a:solidFill>
                            <a:srgbClr val="1F1F1F"/>
                          </a:solidFill>
                          <a:latin typeface="KoPubWorld돋움체 Bold"/>
                        </a:rPr>
                        <a:t>비중</a:t>
                      </a:r>
                    </a:p>
                  </a:txBody>
                  <a:tcPr marL="54864" marR="54864" marT="0" marB="0">
                    <a:solidFill>
                      <a:srgbClr val="DAE3F3"/>
                    </a:solidFill>
                  </a:tcPr>
                </a:tc>
                <a:tc>
                  <a:txBody>
                    <a:bodyPr/>
                    <a:lstStyle/>
                    <a:p>
                      <a:pPr algn="ctr"/>
                      <a:r>
                        <a:rPr sz="1000" b="0">
                          <a:solidFill>
                            <a:srgbClr val="1F1F1F"/>
                          </a:solidFill>
                          <a:latin typeface="KoPubWorld돋움체 Bold"/>
                        </a:rPr>
                        <a:t>만기</a:t>
                      </a:r>
                    </a:p>
                  </a:txBody>
                  <a:tcPr marL="54864" marR="54864" marT="0" marB="0">
                    <a:solidFill>
                      <a:srgbClr val="DAE3F3"/>
                    </a:solidFill>
                  </a:tcPr>
                </a:tc>
                <a:tc>
                  <a:txBody>
                    <a:bodyPr/>
                    <a:lstStyle/>
                    <a:p>
                      <a:pPr algn="ctr"/>
                      <a:r>
                        <a:rPr sz="1000" b="0">
                          <a:solidFill>
                            <a:srgbClr val="1F1F1F"/>
                          </a:solidFill>
                          <a:latin typeface="KoPubWorld돋움체 Bold"/>
                        </a:rPr>
                        <a:t>월임대료(원/평)</a:t>
                      </a:r>
                    </a:p>
                  </a:txBody>
                  <a:tcPr marL="54864" marR="54864" marT="0" marB="0">
                    <a:solidFill>
                      <a:srgbClr val="DAE3F3"/>
                    </a:solidFill>
                  </a:tcPr>
                </a:tc>
                <a:tc>
                  <a:txBody>
                    <a:bodyPr/>
                    <a:lstStyle/>
                    <a:p>
                      <a:pPr algn="ctr"/>
                      <a:r>
                        <a:rPr sz="1000" b="0">
                          <a:solidFill>
                            <a:srgbClr val="1F1F1F"/>
                          </a:solidFill>
                          <a:latin typeface="KoPubWorld돋움체 Bold"/>
                        </a:rPr>
                        <a:t>인상률</a:t>
                      </a:r>
                    </a:p>
                  </a:txBody>
                  <a:tcPr marL="54864" marR="54864" marT="0" marB="0">
                    <a:solidFill>
                      <a:srgbClr val="DAE3F3"/>
                    </a:solidFill>
                  </a:tcPr>
                </a:tc>
              </a:tr>
              <a:tr h="329184">
                <a:tc>
                  <a:txBody>
                    <a:bodyPr/>
                    <a:lstStyle/>
                    <a:p>
                      <a:pPr algn="ctr"/>
                      <a:r>
                        <a:rPr sz="1000" b="0">
                          <a:solidFill>
                            <a:srgbClr val="1F1F1F"/>
                          </a:solidFill>
                          <a:latin typeface="KoPubWorld돋움체 Light"/>
                        </a:rPr>
                        <a:t>쿠팡</a:t>
                      </a:r>
                    </a:p>
                  </a:txBody>
                  <a:tcPr marL="54864" marR="54864" marT="0" marB="0">
                    <a:solidFill>
                      <a:srgbClr val="FFFFFF"/>
                    </a:solidFill>
                  </a:tcPr>
                </a:tc>
                <a:tc>
                  <a:txBody>
                    <a:bodyPr/>
                    <a:lstStyle/>
                    <a:p>
                      <a:pPr algn="l"/>
                      <a:r>
                        <a:rPr sz="1000" b="0">
                          <a:solidFill>
                            <a:srgbClr val="1F1F1F"/>
                          </a:solidFill>
                          <a:latin typeface="KoPubWorld돋움체 Light"/>
                        </a:rPr>
                        <a:t>16,117.85</a:t>
                      </a:r>
                    </a:p>
                  </a:txBody>
                  <a:tcPr marL="54864" marR="54864" marT="0" marB="0">
                    <a:solidFill>
                      <a:srgbClr val="FFFFFF"/>
                    </a:solidFill>
                  </a:tcPr>
                </a:tc>
                <a:tc>
                  <a:txBody>
                    <a:bodyPr/>
                    <a:lstStyle/>
                    <a:p>
                      <a:pPr algn="l"/>
                      <a:r>
                        <a:rPr sz="1000" b="0">
                          <a:solidFill>
                            <a:srgbClr val="1F1F1F"/>
                          </a:solidFill>
                          <a:latin typeface="KoPubWorld돋움체 Light"/>
                        </a:rPr>
                        <a:t>77.2%</a:t>
                      </a:r>
                    </a:p>
                  </a:txBody>
                  <a:tcPr marL="54864" marR="54864" marT="0" marB="0">
                    <a:solidFill>
                      <a:srgbClr val="FFFFFF"/>
                    </a:solidFill>
                  </a:tcPr>
                </a:tc>
                <a:tc>
                  <a:txBody>
                    <a:bodyPr/>
                    <a:lstStyle/>
                    <a:p>
                      <a:pPr algn="l"/>
                      <a:r>
                        <a:rPr sz="1000" b="0">
                          <a:solidFill>
                            <a:srgbClr val="1F1F1F"/>
                          </a:solidFill>
                          <a:latin typeface="KoPubWorld돋움체 Light"/>
                        </a:rPr>
                        <a:t>2034-04-30 (2029-04 선택권)</a:t>
                      </a:r>
                    </a:p>
                  </a:txBody>
                  <a:tcPr marL="54864" marR="54864" marT="0" marB="0">
                    <a:solidFill>
                      <a:srgbClr val="FFFFFF"/>
                    </a:solidFill>
                  </a:tcPr>
                </a:tc>
                <a:tc>
                  <a:txBody>
                    <a:bodyPr/>
                    <a:lstStyle/>
                    <a:p>
                      <a:pPr algn="l"/>
                      <a:r>
                        <a:rPr sz="1000" b="0">
                          <a:solidFill>
                            <a:srgbClr val="1F1F1F"/>
                          </a:solidFill>
                          <a:latin typeface="KoPubWorld돋움체 Light"/>
                        </a:rPr>
                        <a:t>60,000</a:t>
                      </a:r>
                    </a:p>
                  </a:txBody>
                  <a:tcPr marL="54864" marR="54864" marT="0" marB="0">
                    <a:solidFill>
                      <a:srgbClr val="FFFFFF"/>
                    </a:solidFill>
                  </a:tcPr>
                </a:tc>
                <a:tc>
                  <a:txBody>
                    <a:bodyPr/>
                    <a:lstStyle/>
                    <a:p>
                      <a:pPr algn="l"/>
                      <a:r>
                        <a:rPr sz="1000" b="0">
                          <a:solidFill>
                            <a:srgbClr val="1F1F1F"/>
                          </a:solidFill>
                          <a:latin typeface="KoPubWorld돋움체 Light"/>
                        </a:rPr>
                        <a:t>2.5%</a:t>
                      </a:r>
                    </a:p>
                  </a:txBody>
                  <a:tcPr marL="54864" marR="54864" marT="0" marB="0">
                    <a:solidFill>
                      <a:srgbClr val="FFFFFF"/>
                    </a:solidFill>
                  </a:tcPr>
                </a:tc>
              </a:tr>
              <a:tr h="329184">
                <a:tc>
                  <a:txBody>
                    <a:bodyPr/>
                    <a:lstStyle/>
                    <a:p>
                      <a:pPr algn="ctr"/>
                      <a:r>
                        <a:rPr sz="1000" b="0">
                          <a:solidFill>
                            <a:srgbClr val="1F1F1F"/>
                          </a:solidFill>
                          <a:latin typeface="KoPubWorld돋움체 Light"/>
                        </a:rPr>
                        <a:t>농심</a:t>
                      </a:r>
                    </a:p>
                  </a:txBody>
                  <a:tcPr marL="54864" marR="54864" marT="0" marB="0">
                    <a:solidFill>
                      <a:srgbClr val="F2F2F2"/>
                    </a:solidFill>
                  </a:tcPr>
                </a:tc>
                <a:tc>
                  <a:txBody>
                    <a:bodyPr/>
                    <a:lstStyle/>
                    <a:p>
                      <a:pPr algn="l"/>
                      <a:r>
                        <a:rPr sz="1000" b="0">
                          <a:solidFill>
                            <a:srgbClr val="1F1F1F"/>
                          </a:solidFill>
                          <a:latin typeface="KoPubWorld돋움체 Light"/>
                        </a:rPr>
                        <a:t>2,185.56</a:t>
                      </a:r>
                    </a:p>
                  </a:txBody>
                  <a:tcPr marL="54864" marR="54864" marT="0" marB="0">
                    <a:solidFill>
                      <a:srgbClr val="F2F2F2"/>
                    </a:solidFill>
                  </a:tcPr>
                </a:tc>
                <a:tc>
                  <a:txBody>
                    <a:bodyPr/>
                    <a:lstStyle/>
                    <a:p>
                      <a:pPr algn="l"/>
                      <a:r>
                        <a:rPr sz="1000" b="0">
                          <a:solidFill>
                            <a:srgbClr val="1F1F1F"/>
                          </a:solidFill>
                          <a:latin typeface="KoPubWorld돋움체 Light"/>
                        </a:rPr>
                        <a:t>10.5%</a:t>
                      </a:r>
                    </a:p>
                  </a:txBody>
                  <a:tcPr marL="54864" marR="54864" marT="0" marB="0">
                    <a:solidFill>
                      <a:srgbClr val="F2F2F2"/>
                    </a:solidFill>
                  </a:tcPr>
                </a:tc>
                <a:tc>
                  <a:txBody>
                    <a:bodyPr/>
                    <a:lstStyle/>
                    <a:p>
                      <a:pPr algn="l"/>
                      <a:r>
                        <a:rPr sz="1000" b="0">
                          <a:solidFill>
                            <a:srgbClr val="1F1F1F"/>
                          </a:solidFill>
                          <a:latin typeface="KoPubWorld돋움체 Light"/>
                        </a:rPr>
                        <a:t>2029-07-29</a:t>
                      </a:r>
                    </a:p>
                  </a:txBody>
                  <a:tcPr marL="54864" marR="54864" marT="0" marB="0">
                    <a:solidFill>
                      <a:srgbClr val="F2F2F2"/>
                    </a:solidFill>
                  </a:tcPr>
                </a:tc>
                <a:tc>
                  <a:txBody>
                    <a:bodyPr/>
                    <a:lstStyle/>
                    <a:p>
                      <a:pPr algn="l"/>
                      <a:r>
                        <a:rPr sz="1000" b="0">
                          <a:solidFill>
                            <a:srgbClr val="1F1F1F"/>
                          </a:solidFill>
                          <a:latin typeface="KoPubWorld돋움체 Light"/>
                        </a:rPr>
                        <a:t>49,000</a:t>
                      </a:r>
                    </a:p>
                  </a:txBody>
                  <a:tcPr marL="54864" marR="54864" marT="0" marB="0">
                    <a:solidFill>
                      <a:srgbClr val="F2F2F2"/>
                    </a:solidFill>
                  </a:tcPr>
                </a:tc>
                <a:tc>
                  <a:txBody>
                    <a:bodyPr/>
                    <a:lstStyle/>
                    <a:p>
                      <a:pPr algn="l"/>
                      <a:r>
                        <a:rPr sz="1000" b="0">
                          <a:solidFill>
                            <a:srgbClr val="1F1F1F"/>
                          </a:solidFill>
                          <a:latin typeface="KoPubWorld돋움체 Light"/>
                        </a:rPr>
                        <a:t>0.0%</a:t>
                      </a:r>
                    </a:p>
                  </a:txBody>
                  <a:tcPr marL="54864" marR="54864" marT="0" marB="0">
                    <a:solidFill>
                      <a:srgbClr val="F2F2F2"/>
                    </a:solidFill>
                  </a:tcPr>
                </a:tc>
              </a:tr>
              <a:tr h="329184">
                <a:tc>
                  <a:txBody>
                    <a:bodyPr/>
                    <a:lstStyle/>
                    <a:p>
                      <a:pPr algn="ctr"/>
                      <a:r>
                        <a:rPr sz="1000" b="0">
                          <a:solidFill>
                            <a:srgbClr val="1F1F1F"/>
                          </a:solidFill>
                          <a:latin typeface="KoPubWorld돋움체 Light"/>
                        </a:rPr>
                        <a:t>지오영</a:t>
                      </a:r>
                    </a:p>
                  </a:txBody>
                  <a:tcPr marL="54864" marR="54864" marT="0" marB="0">
                    <a:solidFill>
                      <a:srgbClr val="FFFFFF"/>
                    </a:solidFill>
                  </a:tcPr>
                </a:tc>
                <a:tc>
                  <a:txBody>
                    <a:bodyPr/>
                    <a:lstStyle/>
                    <a:p>
                      <a:pPr algn="l"/>
                      <a:r>
                        <a:rPr sz="1000" b="0">
                          <a:solidFill>
                            <a:srgbClr val="1F1F1F"/>
                          </a:solidFill>
                          <a:latin typeface="KoPubWorld돋움체 Light"/>
                        </a:rPr>
                        <a:t>1,092.94</a:t>
                      </a:r>
                    </a:p>
                  </a:txBody>
                  <a:tcPr marL="54864" marR="54864" marT="0" marB="0">
                    <a:solidFill>
                      <a:srgbClr val="FFFFFF"/>
                    </a:solidFill>
                  </a:tcPr>
                </a:tc>
                <a:tc>
                  <a:txBody>
                    <a:bodyPr/>
                    <a:lstStyle/>
                    <a:p>
                      <a:pPr algn="l"/>
                      <a:r>
                        <a:rPr sz="1000" b="0">
                          <a:solidFill>
                            <a:srgbClr val="1F1F1F"/>
                          </a:solidFill>
                          <a:latin typeface="KoPubWorld돋움체 Light"/>
                        </a:rPr>
                        <a:t>5.2%</a:t>
                      </a:r>
                    </a:p>
                  </a:txBody>
                  <a:tcPr marL="54864" marR="54864" marT="0" marB="0">
                    <a:solidFill>
                      <a:srgbClr val="FFFFFF"/>
                    </a:solidFill>
                  </a:tcPr>
                </a:tc>
                <a:tc>
                  <a:txBody>
                    <a:bodyPr/>
                    <a:lstStyle/>
                    <a:p>
                      <a:pPr algn="l"/>
                      <a:r>
                        <a:rPr sz="1000" b="0">
                          <a:solidFill>
                            <a:srgbClr val="1F1F1F"/>
                          </a:solidFill>
                          <a:latin typeface="KoPubWorld돋움체 Light"/>
                        </a:rPr>
                        <a:t>2035-01-31</a:t>
                      </a:r>
                    </a:p>
                  </a:txBody>
                  <a:tcPr marL="54864" marR="54864" marT="0" marB="0">
                    <a:solidFill>
                      <a:srgbClr val="FFFFFF"/>
                    </a:solidFill>
                  </a:tcPr>
                </a:tc>
                <a:tc>
                  <a:txBody>
                    <a:bodyPr/>
                    <a:lstStyle/>
                    <a:p>
                      <a:pPr algn="l"/>
                      <a:r>
                        <a:rPr sz="1000" b="0">
                          <a:solidFill>
                            <a:srgbClr val="1F1F1F"/>
                          </a:solidFill>
                          <a:latin typeface="KoPubWorld돋움체 Light"/>
                        </a:rPr>
                        <a:t>60,000</a:t>
                      </a:r>
                    </a:p>
                  </a:txBody>
                  <a:tcPr marL="54864" marR="54864" marT="0" marB="0">
                    <a:solidFill>
                      <a:srgbClr val="FFFFFF"/>
                    </a:solidFill>
                  </a:tcPr>
                </a:tc>
                <a:tc>
                  <a:txBody>
                    <a:bodyPr/>
                    <a:lstStyle/>
                    <a:p>
                      <a:pPr algn="l"/>
                      <a:r>
                        <a:rPr sz="1000" b="0">
                          <a:solidFill>
                            <a:srgbClr val="1F1F1F"/>
                          </a:solidFill>
                          <a:latin typeface="KoPubWorld돋움체 Light"/>
                        </a:rPr>
                        <a:t>2.5%</a:t>
                      </a:r>
                    </a:p>
                  </a:txBody>
                  <a:tcPr marL="54864" marR="54864" marT="0" marB="0">
                    <a:solidFill>
                      <a:srgbClr val="FFFFFF"/>
                    </a:solidFill>
                  </a:tcPr>
                </a:tc>
              </a:tr>
              <a:tr h="329184">
                <a:tc>
                  <a:txBody>
                    <a:bodyPr/>
                    <a:lstStyle/>
                    <a:p>
                      <a:pPr algn="ctr"/>
                      <a:r>
                        <a:rPr sz="1000" b="0">
                          <a:solidFill>
                            <a:srgbClr val="1F1F1F"/>
                          </a:solidFill>
                          <a:latin typeface="KoPubWorld돋움체 Light"/>
                        </a:rPr>
                        <a:t>용마로지스</a:t>
                      </a:r>
                    </a:p>
                  </a:txBody>
                  <a:tcPr marL="54864" marR="54864" marT="0" marB="0">
                    <a:solidFill>
                      <a:srgbClr val="F2F2F2"/>
                    </a:solidFill>
                  </a:tcPr>
                </a:tc>
                <a:tc>
                  <a:txBody>
                    <a:bodyPr/>
                    <a:lstStyle/>
                    <a:p>
                      <a:pPr algn="l"/>
                      <a:r>
                        <a:rPr sz="1000" b="0">
                          <a:solidFill>
                            <a:srgbClr val="1F1F1F"/>
                          </a:solidFill>
                          <a:latin typeface="KoPubWorld돋움체 Light"/>
                        </a:rPr>
                        <a:t>856.05</a:t>
                      </a:r>
                    </a:p>
                  </a:txBody>
                  <a:tcPr marL="54864" marR="54864" marT="0" marB="0">
                    <a:solidFill>
                      <a:srgbClr val="F2F2F2"/>
                    </a:solidFill>
                  </a:tcPr>
                </a:tc>
                <a:tc>
                  <a:txBody>
                    <a:bodyPr/>
                    <a:lstStyle/>
                    <a:p>
                      <a:pPr algn="l"/>
                      <a:r>
                        <a:rPr sz="1000" b="0">
                          <a:solidFill>
                            <a:srgbClr val="1F1F1F"/>
                          </a:solidFill>
                          <a:latin typeface="KoPubWorld돋움체 Light"/>
                        </a:rPr>
                        <a:t>4.1%</a:t>
                      </a:r>
                    </a:p>
                  </a:txBody>
                  <a:tcPr marL="54864" marR="54864" marT="0" marB="0">
                    <a:solidFill>
                      <a:srgbClr val="F2F2F2"/>
                    </a:solidFill>
                  </a:tcPr>
                </a:tc>
                <a:tc>
                  <a:txBody>
                    <a:bodyPr/>
                    <a:lstStyle/>
                    <a:p>
                      <a:pPr algn="l"/>
                      <a:r>
                        <a:rPr sz="1000" b="0">
                          <a:solidFill>
                            <a:srgbClr val="1F1F1F"/>
                          </a:solidFill>
                          <a:latin typeface="KoPubWorld돋움체 Light"/>
                        </a:rPr>
                        <a:t>2030-01-31</a:t>
                      </a:r>
                    </a:p>
                  </a:txBody>
                  <a:tcPr marL="54864" marR="54864" marT="0" marB="0">
                    <a:solidFill>
                      <a:srgbClr val="F2F2F2"/>
                    </a:solidFill>
                  </a:tcPr>
                </a:tc>
                <a:tc>
                  <a:txBody>
                    <a:bodyPr/>
                    <a:lstStyle/>
                    <a:p>
                      <a:pPr algn="l"/>
                      <a:r>
                        <a:rPr sz="1000" b="0">
                          <a:solidFill>
                            <a:srgbClr val="1F1F1F"/>
                          </a:solidFill>
                          <a:latin typeface="KoPubWorld돋움체 Light"/>
                        </a:rPr>
                        <a:t>60,000</a:t>
                      </a:r>
                    </a:p>
                  </a:txBody>
                  <a:tcPr marL="54864" marR="54864" marT="0" marB="0">
                    <a:solidFill>
                      <a:srgbClr val="F2F2F2"/>
                    </a:solidFill>
                  </a:tcPr>
                </a:tc>
                <a:tc>
                  <a:txBody>
                    <a:bodyPr/>
                    <a:lstStyle/>
                    <a:p>
                      <a:pPr algn="l"/>
                      <a:r>
                        <a:rPr sz="1000" b="0">
                          <a:solidFill>
                            <a:srgbClr val="1F1F1F"/>
                          </a:solidFill>
                          <a:latin typeface="KoPubWorld돋움체 Light"/>
                        </a:rPr>
                        <a:t>2.5%</a:t>
                      </a:r>
                    </a:p>
                  </a:txBody>
                  <a:tcPr marL="54864" marR="54864" marT="0" marB="0">
                    <a:solidFill>
                      <a:srgbClr val="F2F2F2"/>
                    </a:solidFill>
                  </a:tcPr>
                </a:tc>
              </a:tr>
              <a:tr h="329184">
                <a:tc>
                  <a:txBody>
                    <a:bodyPr/>
                    <a:lstStyle/>
                    <a:p>
                      <a:pPr algn="ctr"/>
                      <a:r>
                        <a:rPr sz="1000" b="0">
                          <a:solidFill>
                            <a:srgbClr val="1F1F1F"/>
                          </a:solidFill>
                          <a:latin typeface="KoPubWorld돋움체 Light"/>
                        </a:rPr>
                        <a:t>키즈밀</a:t>
                      </a:r>
                    </a:p>
                  </a:txBody>
                  <a:tcPr marL="54864" marR="54864" marT="0" marB="0">
                    <a:solidFill>
                      <a:srgbClr val="FFFFFF"/>
                    </a:solidFill>
                  </a:tcPr>
                </a:tc>
                <a:tc>
                  <a:txBody>
                    <a:bodyPr/>
                    <a:lstStyle/>
                    <a:p>
                      <a:pPr algn="l"/>
                      <a:r>
                        <a:rPr sz="1000" b="0">
                          <a:solidFill>
                            <a:srgbClr val="1F1F1F"/>
                          </a:solidFill>
                          <a:latin typeface="KoPubWorld돋움체 Light"/>
                        </a:rPr>
                        <a:t>479.38</a:t>
                      </a:r>
                    </a:p>
                  </a:txBody>
                  <a:tcPr marL="54864" marR="54864" marT="0" marB="0">
                    <a:solidFill>
                      <a:srgbClr val="FFFFFF"/>
                    </a:solidFill>
                  </a:tcPr>
                </a:tc>
                <a:tc>
                  <a:txBody>
                    <a:bodyPr/>
                    <a:lstStyle/>
                    <a:p>
                      <a:pPr algn="l"/>
                      <a:r>
                        <a:rPr sz="1000" b="0">
                          <a:solidFill>
                            <a:srgbClr val="1F1F1F"/>
                          </a:solidFill>
                          <a:latin typeface="KoPubWorld돋움체 Light"/>
                        </a:rPr>
                        <a:t>2.3%</a:t>
                      </a:r>
                    </a:p>
                  </a:txBody>
                  <a:tcPr marL="54864" marR="54864" marT="0" marB="0">
                    <a:solidFill>
                      <a:srgbClr val="FFFFFF"/>
                    </a:solidFill>
                  </a:tcPr>
                </a:tc>
                <a:tc>
                  <a:txBody>
                    <a:bodyPr/>
                    <a:lstStyle/>
                    <a:p>
                      <a:pPr algn="l"/>
                      <a:r>
                        <a:rPr sz="1000" b="0">
                          <a:solidFill>
                            <a:srgbClr val="1F1F1F"/>
                          </a:solidFill>
                          <a:latin typeface="KoPubWorld돋움체 Light"/>
                        </a:rPr>
                        <a:t>2029-12-31</a:t>
                      </a:r>
                    </a:p>
                  </a:txBody>
                  <a:tcPr marL="54864" marR="54864" marT="0" marB="0">
                    <a:solidFill>
                      <a:srgbClr val="FFFFFF"/>
                    </a:solidFill>
                  </a:tcPr>
                </a:tc>
                <a:tc>
                  <a:txBody>
                    <a:bodyPr/>
                    <a:lstStyle/>
                    <a:p>
                      <a:pPr algn="l"/>
                      <a:r>
                        <a:rPr sz="1000" b="0">
                          <a:solidFill>
                            <a:srgbClr val="1F1F1F"/>
                          </a:solidFill>
                          <a:latin typeface="KoPubWorld돋움체 Light"/>
                        </a:rPr>
                        <a:t>40,000</a:t>
                      </a:r>
                    </a:p>
                  </a:txBody>
                  <a:tcPr marL="54864" marR="54864" marT="0" marB="0">
                    <a:solidFill>
                      <a:srgbClr val="FFFFFF"/>
                    </a:solidFill>
                  </a:tcPr>
                </a:tc>
                <a:tc>
                  <a:txBody>
                    <a:bodyPr/>
                    <a:lstStyle/>
                    <a:p>
                      <a:pPr algn="l"/>
                      <a:r>
                        <a:rPr sz="1000" b="0">
                          <a:solidFill>
                            <a:srgbClr val="1F1F1F"/>
                          </a:solidFill>
                          <a:latin typeface="KoPubWorld돋움체 Light"/>
                        </a:rPr>
                        <a:t>2.5%</a:t>
                      </a:r>
                    </a:p>
                  </a:txBody>
                  <a:tcPr marL="54864" marR="54864" marT="0" marB="0">
                    <a:solidFill>
                      <a:srgbClr val="FFFFFF"/>
                    </a:solidFill>
                  </a:tcPr>
                </a:tc>
              </a:tr>
              <a:tr h="329184">
                <a:tc>
                  <a:txBody>
                    <a:bodyPr/>
                    <a:lstStyle/>
                    <a:p>
                      <a:pPr algn="ctr"/>
                      <a:r>
                        <a:rPr sz="1000" b="0">
                          <a:solidFill>
                            <a:srgbClr val="1F1F1F"/>
                          </a:solidFill>
                          <a:latin typeface="KoPubWorld돋움체 Light"/>
                        </a:rPr>
                        <a:t>아이팜</a:t>
                      </a:r>
                    </a:p>
                  </a:txBody>
                  <a:tcPr marL="54864" marR="54864" marT="0" marB="0">
                    <a:solidFill>
                      <a:srgbClr val="F2F2F2"/>
                    </a:solidFill>
                  </a:tcPr>
                </a:tc>
                <a:tc>
                  <a:txBody>
                    <a:bodyPr/>
                    <a:lstStyle/>
                    <a:p>
                      <a:pPr algn="l"/>
                      <a:r>
                        <a:rPr sz="1000" b="0">
                          <a:solidFill>
                            <a:srgbClr val="1F1F1F"/>
                          </a:solidFill>
                          <a:latin typeface="KoPubWorld돋움체 Light"/>
                        </a:rPr>
                        <a:t>17.29</a:t>
                      </a:r>
                    </a:p>
                  </a:txBody>
                  <a:tcPr marL="54864" marR="54864" marT="0" marB="0">
                    <a:solidFill>
                      <a:srgbClr val="F2F2F2"/>
                    </a:solidFill>
                  </a:tcPr>
                </a:tc>
                <a:tc>
                  <a:txBody>
                    <a:bodyPr/>
                    <a:lstStyle/>
                    <a:p>
                      <a:pPr algn="l"/>
                      <a:r>
                        <a:rPr sz="1000" b="0">
                          <a:solidFill>
                            <a:srgbClr val="1F1F1F"/>
                          </a:solidFill>
                          <a:latin typeface="KoPubWorld돋움체 Light"/>
                        </a:rPr>
                        <a:t>0.1%</a:t>
                      </a:r>
                    </a:p>
                  </a:txBody>
                  <a:tcPr marL="54864" marR="54864" marT="0" marB="0">
                    <a:solidFill>
                      <a:srgbClr val="F2F2F2"/>
                    </a:solidFill>
                  </a:tcPr>
                </a:tc>
                <a:tc>
                  <a:txBody>
                    <a:bodyPr/>
                    <a:lstStyle/>
                    <a:p>
                      <a:pPr algn="l"/>
                      <a:r>
                        <a:rPr sz="1000" b="0">
                          <a:solidFill>
                            <a:srgbClr val="1F1F1F"/>
                          </a:solidFill>
                          <a:latin typeface="KoPubWorld돋움체 Light"/>
                        </a:rPr>
                        <a:t>2030-04-30</a:t>
                      </a:r>
                    </a:p>
                  </a:txBody>
                  <a:tcPr marL="54864" marR="54864" marT="0" marB="0">
                    <a:solidFill>
                      <a:srgbClr val="F2F2F2"/>
                    </a:solidFill>
                  </a:tcPr>
                </a:tc>
                <a:tc>
                  <a:txBody>
                    <a:bodyPr/>
                    <a:lstStyle/>
                    <a:p>
                      <a:pPr algn="l"/>
                      <a:r>
                        <a:rPr sz="1000" b="0">
                          <a:solidFill>
                            <a:srgbClr val="1F1F1F"/>
                          </a:solidFill>
                          <a:latin typeface="KoPubWorld돋움체 Light"/>
                        </a:rPr>
                        <a:t>60,000</a:t>
                      </a:r>
                    </a:p>
                  </a:txBody>
                  <a:tcPr marL="54864" marR="54864" marT="0" marB="0">
                    <a:solidFill>
                      <a:srgbClr val="F2F2F2"/>
                    </a:solidFill>
                  </a:tcPr>
                </a:tc>
                <a:tc>
                  <a:txBody>
                    <a:bodyPr/>
                    <a:lstStyle/>
                    <a:p>
                      <a:pPr algn="l"/>
                      <a:r>
                        <a:rPr sz="1000" b="0">
                          <a:solidFill>
                            <a:srgbClr val="1F1F1F"/>
                          </a:solidFill>
                          <a:latin typeface="KoPubWorld돋움체 Light"/>
                        </a:rPr>
                        <a:t>2.5%</a:t>
                      </a:r>
                    </a:p>
                  </a:txBody>
                  <a:tcPr marL="54864" marR="54864" marT="0" marB="0">
                    <a:solidFill>
                      <a:srgbClr val="F2F2F2"/>
                    </a:solidFill>
                  </a:tcPr>
                </a:tc>
              </a:tr>
              <a:tr h="329184">
                <a:tc>
                  <a:txBody>
                    <a:bodyPr/>
                    <a:lstStyle/>
                    <a:p>
                      <a:pPr algn="ctr"/>
                      <a:r>
                        <a:rPr sz="1000" b="0">
                          <a:solidFill>
                            <a:srgbClr val="1F1F1F"/>
                          </a:solidFill>
                          <a:latin typeface="KoPubWorld돋움체 Light"/>
                        </a:rPr>
                        <a:t>공실</a:t>
                      </a:r>
                    </a:p>
                  </a:txBody>
                  <a:tcPr marL="54864" marR="54864" marT="0" marB="0">
                    <a:solidFill>
                      <a:srgbClr val="FFFFFF"/>
                    </a:solidFill>
                  </a:tcPr>
                </a:tc>
                <a:tc>
                  <a:txBody>
                    <a:bodyPr/>
                    <a:lstStyle/>
                    <a:p>
                      <a:pPr algn="l"/>
                      <a:r>
                        <a:rPr sz="1000" b="0">
                          <a:solidFill>
                            <a:srgbClr val="1F1F1F"/>
                          </a:solidFill>
                          <a:latin typeface="KoPubWorld돋움체 Light"/>
                        </a:rPr>
                        <a:t>141.01</a:t>
                      </a:r>
                    </a:p>
                  </a:txBody>
                  <a:tcPr marL="54864" marR="54864" marT="0" marB="0">
                    <a:solidFill>
                      <a:srgbClr val="FFFFFF"/>
                    </a:solidFill>
                  </a:tcPr>
                </a:tc>
                <a:tc>
                  <a:txBody>
                    <a:bodyPr/>
                    <a:lstStyle/>
                    <a:p>
                      <a:pPr algn="l"/>
                      <a:r>
                        <a:rPr sz="1000" b="0">
                          <a:solidFill>
                            <a:srgbClr val="1F1F1F"/>
                          </a:solidFill>
                          <a:latin typeface="KoPubWorld돋움체 Light"/>
                        </a:rPr>
                        <a:t>0.7%</a:t>
                      </a:r>
                    </a:p>
                  </a:txBody>
                  <a:tcPr marL="54864" marR="54864" marT="0" marB="0">
                    <a:solidFill>
                      <a:srgbClr val="FFFFFF"/>
                    </a:solidFill>
                  </a:tcPr>
                </a:tc>
                <a:tc>
                  <a:txBody>
                    <a:bodyPr/>
                    <a:lstStyle/>
                    <a:p>
                      <a:pPr algn="l"/>
                      <a:r>
                        <a:rPr sz="1000" b="0">
                          <a:solidFill>
                            <a:srgbClr val="1F1F1F"/>
                          </a:solidFill>
                          <a:latin typeface="KoPubWorld돋움체 Light"/>
                        </a:rPr>
                        <a:t>—</a:t>
                      </a:r>
                    </a:p>
                  </a:txBody>
                  <a:tcPr marL="54864" marR="54864" marT="0" marB="0">
                    <a:solidFill>
                      <a:srgbClr val="FFFFFF"/>
                    </a:solidFill>
                  </a:tcPr>
                </a:tc>
                <a:tc>
                  <a:txBody>
                    <a:bodyPr/>
                    <a:lstStyle/>
                    <a:p>
                      <a:pPr algn="l"/>
                      <a:r>
                        <a:rPr sz="1000" b="0">
                          <a:solidFill>
                            <a:srgbClr val="1F1F1F"/>
                          </a:solidFill>
                          <a:latin typeface="KoPubWorld돋움체 Light"/>
                        </a:rPr>
                        <a:t>—</a:t>
                      </a:r>
                    </a:p>
                  </a:txBody>
                  <a:tcPr marL="54864" marR="54864" marT="0" marB="0">
                    <a:solidFill>
                      <a:srgbClr val="FFFFFF"/>
                    </a:solidFill>
                  </a:tcPr>
                </a:tc>
                <a:tc>
                  <a:txBody>
                    <a:bodyPr/>
                    <a:lstStyle/>
                    <a:p>
                      <a:pPr algn="l"/>
                      <a:r>
                        <a:rPr sz="1000" b="0">
                          <a:solidFill>
                            <a:srgbClr val="1F1F1F"/>
                          </a:solidFill>
                          <a:latin typeface="KoPubWorld돋움체 Light"/>
                        </a:rPr>
                        <a:t>—</a:t>
                      </a:r>
                    </a:p>
                  </a:txBody>
                  <a:tcPr marL="54864" marR="54864" marT="0" marB="0">
                    <a:solidFill>
                      <a:srgbClr val="FFFFFF"/>
                    </a:solidFill>
                  </a:tcPr>
                </a:tc>
              </a:tr>
              <a:tr h="329184">
                <a:tc>
                  <a:txBody>
                    <a:bodyPr/>
                    <a:lstStyle/>
                    <a:p>
                      <a:pPr algn="ctr"/>
                      <a:r>
                        <a:rPr sz="1000" b="0">
                          <a:solidFill>
                            <a:srgbClr val="1F1F1F"/>
                          </a:solidFill>
                          <a:latin typeface="KoPubWorld돋움체 Light"/>
                        </a:rPr>
                        <a:t>합 계</a:t>
                      </a:r>
                    </a:p>
                  </a:txBody>
                  <a:tcPr marL="54864" marR="54864" marT="0" marB="0">
                    <a:solidFill>
                      <a:srgbClr val="F2F2F2"/>
                    </a:solidFill>
                  </a:tcPr>
                </a:tc>
                <a:tc>
                  <a:txBody>
                    <a:bodyPr/>
                    <a:lstStyle/>
                    <a:p>
                      <a:pPr algn="l"/>
                      <a:r>
                        <a:rPr sz="1000" b="0">
                          <a:solidFill>
                            <a:srgbClr val="1F1F1F"/>
                          </a:solidFill>
                          <a:latin typeface="KoPubWorld돋움체 Light"/>
                        </a:rPr>
                        <a:t>20,890.08</a:t>
                      </a:r>
                    </a:p>
                  </a:txBody>
                  <a:tcPr marL="54864" marR="54864" marT="0" marB="0">
                    <a:solidFill>
                      <a:srgbClr val="F2F2F2"/>
                    </a:solidFill>
                  </a:tcPr>
                </a:tc>
                <a:tc>
                  <a:txBody>
                    <a:bodyPr/>
                    <a:lstStyle/>
                    <a:p>
                      <a:pPr algn="l"/>
                      <a:r>
                        <a:rPr sz="1000" b="0">
                          <a:solidFill>
                            <a:srgbClr val="1F1F1F"/>
                          </a:solidFill>
                          <a:latin typeface="KoPubWorld돋움체 Light"/>
                        </a:rPr>
                        <a:t>100.0%</a:t>
                      </a:r>
                    </a:p>
                  </a:txBody>
                  <a:tcPr marL="54864" marR="54864" marT="0" marB="0">
                    <a:solidFill>
                      <a:srgbClr val="F2F2F2"/>
                    </a:solidFill>
                  </a:tcPr>
                </a:tc>
                <a:tc>
                  <a:txBody>
                    <a:bodyPr/>
                    <a:lstStyle/>
                    <a:p>
                      <a:pPr algn="l"/>
                      <a:r>
                        <a:rPr sz="1000" b="0">
                          <a:solidFill>
                            <a:srgbClr val="1F1F1F"/>
                          </a:solidFill>
                          <a:latin typeface="KoPubWorld돋움체 Light"/>
                        </a:rPr>
                        <a:t>WALE 6.8년</a:t>
                      </a:r>
                    </a:p>
                  </a:txBody>
                  <a:tcPr marL="54864" marR="54864" marT="0" marB="0">
                    <a:solidFill>
                      <a:srgbClr val="F2F2F2"/>
                    </a:solidFill>
                  </a:tcPr>
                </a:tc>
                <a:tc>
                  <a:txBody>
                    <a:bodyPr/>
                    <a:lstStyle/>
                    <a:p>
                      <a:pPr algn="l"/>
                      <a:r>
                        <a:rPr sz="1000" b="0">
                          <a:solidFill>
                            <a:srgbClr val="1F1F1F"/>
                          </a:solidFill>
                          <a:latin typeface="KoPubWorld돋움체 Light"/>
                        </a:rPr>
                        <a:t>평균 57,604</a:t>
                      </a:r>
                    </a:p>
                  </a:txBody>
                  <a:tcPr marL="54864" marR="54864" marT="0" marB="0">
                    <a:solidFill>
                      <a:srgbClr val="F2F2F2"/>
                    </a:solidFill>
                  </a:tcPr>
                </a:tc>
                <a:tc>
                  <a:txBody>
                    <a:bodyPr/>
                    <a:lstStyle/>
                    <a:p>
                      <a:pPr algn="l"/>
                      <a:r>
                        <a:rPr sz="1000" b="0">
                          <a:solidFill>
                            <a:srgbClr val="1F1F1F"/>
                          </a:solidFill>
                          <a:latin typeface="KoPubWorld돋움체 Light"/>
                        </a:rPr>
                        <a:t>—</a:t>
                      </a:r>
                    </a:p>
                  </a:txBody>
                  <a:tcPr marL="54864" marR="54864" marT="0" marB="0">
                    <a:solidFill>
                      <a:srgbClr val="F2F2F2"/>
                    </a:solidFill>
                  </a:tcPr>
                </a:tc>
              </a:tr>
            </a:tbl>
          </a:graphicData>
        </a:graphic>
      </p:graphicFrame>
      <p:sp>
        <p:nvSpPr>
          <p:cNvPr id="6" name="Rectangle 5"/>
          <p:cNvSpPr/>
          <p:nvPr/>
        </p:nvSpPr>
        <p:spPr>
          <a:xfrm>
            <a:off x="457200" y="5394960"/>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운영 가정</a:t>
            </a:r>
          </a:p>
        </p:txBody>
      </p:sp>
      <p:sp>
        <p:nvSpPr>
          <p:cNvPr id="7" name="TextBox 6"/>
          <p:cNvSpPr txBox="1"/>
          <p:nvPr/>
        </p:nvSpPr>
        <p:spPr>
          <a:xfrm>
            <a:off x="521207" y="5769864"/>
            <a:ext cx="9784080" cy="822959"/>
          </a:xfrm>
          <a:prstGeom prst="rect">
            <a:avLst/>
          </a:prstGeom>
          <a:noFill/>
        </p:spPr>
        <p:txBody>
          <a:bodyPr wrap="square" lIns="0" rIns="0" tIns="0" bIns="0">
            <a:spAutoFit/>
          </a:bodyPr>
          <a:lstStyle/>
          <a:p>
            <a:pPr>
              <a:spcAft>
                <a:spcPts val="600"/>
              </a:spcAft>
            </a:pPr>
            <a:r>
              <a:rPr sz="900" b="0">
                <a:solidFill>
                  <a:srgbClr val="1F1F1F"/>
                </a:solidFill>
                <a:latin typeface="KoPubWorld돋움체 Light"/>
              </a:rPr>
              <a:t>• 임대료 인상률 연 2.5%(농심 0%), Rent-Free 연 0.46개월, 관리비 평균 2,972원/평/월</a:t>
            </a:r>
          </a:p>
          <a:p>
            <a:pPr>
              <a:spcAft>
                <a:spcPts val="600"/>
              </a:spcAft>
            </a:pPr>
            <a:r>
              <a:rPr sz="900" b="0">
                <a:solidFill>
                  <a:srgbClr val="1F1F1F"/>
                </a:solidFill>
                <a:latin typeface="KoPubWorld돋움체 Light"/>
              </a:rPr>
              <a:t>• 쿠팡 연장 선택권 행사 시 연장 직후 최초년도 Rent-Free 5개월 적용 예정 — 해당 연도 NOI 일시 감소</a:t>
            </a:r>
          </a:p>
          <a:p>
            <a:pPr>
              <a:spcAft>
                <a:spcPts val="600"/>
              </a:spcAft>
            </a:pPr>
            <a:r>
              <a:rPr sz="900" b="0">
                <a:solidFill>
                  <a:srgbClr val="1F1F1F"/>
                </a:solidFill>
                <a:latin typeface="KoPubWorld돋움체 Light"/>
              </a:rPr>
              <a:t>• 향후 5년 수익적 지출은 총 1,262백만원(약 520원/평/월)으로 물리실사에서 추정</a:t>
            </a:r>
          </a:p>
        </p:txBody>
      </p:sp>
      <p:sp>
        <p:nvSpPr>
          <p:cNvPr id="8" name="TextBox 7"/>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00_원본자료/processed/20260916_핵심지표_IM기준_v01.md §3 (근거: IM v01(2026.09) p.16) / 렌트롤 20260916_렌트롤_IM기준_v01.csv / 물리실사보고서(CBRE, 2026-08-31) 수익적 지출 검토.</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6. 투자수익률</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운용기간 10년 기준 Equity 전체 IRR은 10.34%로 예상됨</a:t>
            </a:r>
          </a:p>
          <a:p>
            <a:r>
              <a:rPr sz="1200" b="0">
                <a:solidFill>
                  <a:srgbClr val="404040"/>
                </a:solidFill>
                <a:latin typeface="KoPubWorld돋움체 Light"/>
              </a:rPr>
              <a:t>• 제1·2종 종류주식은 누적확정 배당을 우선 지급하고, 잔여이익과 매각차익은 보통주에 배분</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트랜치별 예상 수익률</a:t>
            </a:r>
          </a:p>
        </p:txBody>
      </p:sp>
      <p:graphicFrame>
        <p:nvGraphicFramePr>
          <p:cNvPr id="5" name="Table 4"/>
          <p:cNvGraphicFramePr>
            <a:graphicFrameLocks noGrp="1"/>
          </p:cNvGraphicFramePr>
          <p:nvPr/>
        </p:nvGraphicFramePr>
        <p:xfrm>
          <a:off x="521207" y="2359152"/>
          <a:ext cx="9784080" cy="1975104"/>
        </p:xfrm>
        <a:graphic>
          <a:graphicData uri="http://schemas.openxmlformats.org/drawingml/2006/table">
            <a:tbl>
              <a:tblPr firstRow="1" bandRow="1">
                <a:tableStyleId>{5C22544A-7EE6-4342-B048-85BDC9FD1C3A}</a:tableStyleId>
              </a:tblPr>
              <a:tblGrid>
                <a:gridCol w="1737360"/>
                <a:gridCol w="1463040"/>
                <a:gridCol w="914400"/>
                <a:gridCol w="914400"/>
                <a:gridCol w="1188720"/>
                <a:gridCol w="1371600"/>
                <a:gridCol w="2194560"/>
              </a:tblGrid>
              <a:tr h="329184">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금액(백만원)</a:t>
                      </a:r>
                    </a:p>
                  </a:txBody>
                  <a:tcPr marL="54864" marR="54864" marT="0" marB="0">
                    <a:solidFill>
                      <a:srgbClr val="DAE3F3"/>
                    </a:solidFill>
                  </a:tcPr>
                </a:tc>
                <a:tc>
                  <a:txBody>
                    <a:bodyPr/>
                    <a:lstStyle/>
                    <a:p>
                      <a:pPr algn="ctr"/>
                      <a:r>
                        <a:rPr sz="1000" b="0">
                          <a:solidFill>
                            <a:srgbClr val="1F1F1F"/>
                          </a:solidFill>
                          <a:latin typeface="KoPubWorld돋움체 Bold"/>
                        </a:rPr>
                        <a:t>CoC</a:t>
                      </a:r>
                    </a:p>
                  </a:txBody>
                  <a:tcPr marL="54864" marR="54864" marT="0" marB="0">
                    <a:solidFill>
                      <a:srgbClr val="DAE3F3"/>
                    </a:solidFill>
                  </a:tcPr>
                </a:tc>
                <a:tc>
                  <a:txBody>
                    <a:bodyPr/>
                    <a:lstStyle/>
                    <a:p>
                      <a:pPr algn="ctr"/>
                      <a:r>
                        <a:rPr sz="1000" b="0">
                          <a:solidFill>
                            <a:srgbClr val="1F1F1F"/>
                          </a:solidFill>
                          <a:latin typeface="KoPubWorld돋움체 Bold"/>
                        </a:rPr>
                        <a:t>IRR</a:t>
                      </a:r>
                    </a:p>
                  </a:txBody>
                  <a:tcPr marL="54864" marR="54864" marT="0" marB="0">
                    <a:solidFill>
                      <a:srgbClr val="DAE3F3"/>
                    </a:solidFill>
                  </a:tcPr>
                </a:tc>
                <a:tc>
                  <a:txBody>
                    <a:bodyPr/>
                    <a:lstStyle/>
                    <a:p>
                      <a:pPr algn="ctr"/>
                      <a:r>
                        <a:rPr sz="1000" b="0">
                          <a:solidFill>
                            <a:srgbClr val="1F1F1F"/>
                          </a:solidFill>
                          <a:latin typeface="KoPubWorld돋움체 Bold"/>
                        </a:rPr>
                        <a:t>E.Multiple</a:t>
                      </a:r>
                    </a:p>
                  </a:txBody>
                  <a:tcPr marL="54864" marR="54864" marT="0" marB="0">
                    <a:solidFill>
                      <a:srgbClr val="DAE3F3"/>
                    </a:solidFill>
                  </a:tcPr>
                </a:tc>
                <a:tc>
                  <a:txBody>
                    <a:bodyPr/>
                    <a:lstStyle/>
                    <a:p>
                      <a:pPr algn="ctr"/>
                      <a:r>
                        <a:rPr sz="1000" b="0">
                          <a:solidFill>
                            <a:srgbClr val="1F1F1F"/>
                          </a:solidFill>
                          <a:latin typeface="KoPubWorld돋움체 Bold"/>
                        </a:rPr>
                        <a:t>매각차익 배분</a:t>
                      </a:r>
                    </a:p>
                  </a:txBody>
                  <a:tcPr marL="54864" marR="54864" marT="0" marB="0">
                    <a:solidFill>
                      <a:srgbClr val="DAE3F3"/>
                    </a:solidFill>
                  </a:tcPr>
                </a:tc>
                <a:tc>
                  <a:txBody>
                    <a:bodyPr/>
                    <a:lstStyle/>
                    <a:p>
                      <a:pPr algn="ctr"/>
                      <a:r>
                        <a:rPr sz="1000" b="0">
                          <a:solidFill>
                            <a:srgbClr val="1F1F1F"/>
                          </a:solidFill>
                          <a:latin typeface="KoPubWorld돋움체 Bold"/>
                        </a:rPr>
                        <a:t>회수 구조</a:t>
                      </a:r>
                    </a:p>
                  </a:txBody>
                  <a:tcPr marL="54864" marR="54864" marT="0" marB="0">
                    <a:solidFill>
                      <a:srgbClr val="DAE3F3"/>
                    </a:solidFill>
                  </a:tcPr>
                </a:tc>
              </a:tr>
              <a:tr h="329184">
                <a:tc>
                  <a:txBody>
                    <a:bodyPr/>
                    <a:lstStyle/>
                    <a:p>
                      <a:pPr algn="ctr"/>
                      <a:r>
                        <a:rPr sz="1000" b="0">
                          <a:solidFill>
                            <a:srgbClr val="1F1F1F"/>
                          </a:solidFill>
                          <a:latin typeface="KoPubWorld돋움체 Light"/>
                        </a:rPr>
                        <a:t>제1종 종류주식</a:t>
                      </a:r>
                    </a:p>
                  </a:txBody>
                  <a:tcPr marL="54864" marR="54864" marT="0" marB="0">
                    <a:solidFill>
                      <a:srgbClr val="FFFFFF"/>
                    </a:solidFill>
                  </a:tcPr>
                </a:tc>
                <a:tc>
                  <a:txBody>
                    <a:bodyPr/>
                    <a:lstStyle/>
                    <a:p>
                      <a:pPr algn="l"/>
                      <a:r>
                        <a:rPr sz="1000" b="0">
                          <a:solidFill>
                            <a:srgbClr val="1F1F1F"/>
                          </a:solidFill>
                          <a:latin typeface="KoPubWorld돋움체 Light"/>
                        </a:rPr>
                        <a:t>24,000</a:t>
                      </a:r>
                    </a:p>
                  </a:txBody>
                  <a:tcPr marL="54864" marR="54864" marT="0" marB="0">
                    <a:solidFill>
                      <a:srgbClr val="FFFFFF"/>
                    </a:solidFill>
                  </a:tcPr>
                </a:tc>
                <a:tc>
                  <a:txBody>
                    <a:bodyPr/>
                    <a:lstStyle/>
                    <a:p>
                      <a:pPr algn="l"/>
                      <a:r>
                        <a:rPr sz="1000" b="0">
                          <a:solidFill>
                            <a:srgbClr val="1F1F1F"/>
                          </a:solidFill>
                          <a:latin typeface="KoPubWorld돋움체 Light"/>
                        </a:rPr>
                        <a:t>7.00%</a:t>
                      </a:r>
                    </a:p>
                  </a:txBody>
                  <a:tcPr marL="54864" marR="54864" marT="0" marB="0">
                    <a:solidFill>
                      <a:srgbClr val="FFFFFF"/>
                    </a:solidFill>
                  </a:tcPr>
                </a:tc>
                <a:tc>
                  <a:txBody>
                    <a:bodyPr/>
                    <a:lstStyle/>
                    <a:p>
                      <a:pPr algn="l"/>
                      <a:r>
                        <a:rPr sz="1000" b="0">
                          <a:solidFill>
                            <a:srgbClr val="1F1F1F"/>
                          </a:solidFill>
                          <a:latin typeface="KoPubWorld돋움체 Light"/>
                        </a:rPr>
                        <a:t>7.12%</a:t>
                      </a:r>
                    </a:p>
                  </a:txBody>
                  <a:tcPr marL="54864" marR="54864" marT="0" marB="0">
                    <a:solidFill>
                      <a:srgbClr val="FFFFFF"/>
                    </a:solidFill>
                  </a:tcPr>
                </a:tc>
                <a:tc>
                  <a:txBody>
                    <a:bodyPr/>
                    <a:lstStyle/>
                    <a:p>
                      <a:pPr algn="l"/>
                      <a:r>
                        <a:rPr sz="1000" b="0">
                          <a:solidFill>
                            <a:srgbClr val="1F1F1F"/>
                          </a:solidFill>
                          <a:latin typeface="KoPubWorld돋움체 Light"/>
                        </a:rPr>
                        <a:t>1.70x</a:t>
                      </a:r>
                    </a:p>
                  </a:txBody>
                  <a:tcPr marL="54864" marR="54864" marT="0" marB="0">
                    <a:solidFill>
                      <a:srgbClr val="FFFFFF"/>
                    </a:solidFill>
                  </a:tcPr>
                </a:tc>
                <a:tc>
                  <a:txBody>
                    <a:bodyPr/>
                    <a:lstStyle/>
                    <a:p>
                      <a:pPr algn="l"/>
                      <a:r>
                        <a:rPr sz="1000" b="0">
                          <a:solidFill>
                            <a:srgbClr val="1F1F1F"/>
                          </a:solidFill>
                          <a:latin typeface="KoPubWorld돋움체 Light"/>
                        </a:rPr>
                        <a:t>없음</a:t>
                      </a:r>
                    </a:p>
                  </a:txBody>
                  <a:tcPr marL="54864" marR="54864" marT="0" marB="0">
                    <a:solidFill>
                      <a:srgbClr val="FFFFFF"/>
                    </a:solidFill>
                  </a:tcPr>
                </a:tc>
                <a:tc>
                  <a:txBody>
                    <a:bodyPr/>
                    <a:lstStyle/>
                    <a:p>
                      <a:pPr algn="l"/>
                      <a:r>
                        <a:rPr sz="1000" b="0">
                          <a:solidFill>
                            <a:srgbClr val="1F1F1F"/>
                          </a:solidFill>
                          <a:latin typeface="KoPubWorld돋움체 Light"/>
                        </a:rPr>
                        <a:t>24개월 후 KLI 매입</a:t>
                      </a:r>
                    </a:p>
                  </a:txBody>
                  <a:tcPr marL="54864" marR="54864" marT="0" marB="0">
                    <a:solidFill>
                      <a:srgbClr val="FFFFFF"/>
                    </a:solidFill>
                  </a:tcPr>
                </a:tc>
              </a:tr>
              <a:tr h="329184">
                <a:tc>
                  <a:txBody>
                    <a:bodyPr/>
                    <a:lstStyle/>
                    <a:p>
                      <a:pPr algn="ctr"/>
                      <a:r>
                        <a:rPr sz="1000" b="0">
                          <a:solidFill>
                            <a:srgbClr val="1F1F1F"/>
                          </a:solidFill>
                          <a:latin typeface="KoPubWorld돋움체 Light"/>
                        </a:rPr>
                        <a:t>제2종 종류주식</a:t>
                      </a:r>
                    </a:p>
                  </a:txBody>
                  <a:tcPr marL="54864" marR="54864" marT="0" marB="0">
                    <a:solidFill>
                      <a:srgbClr val="F2F2F2"/>
                    </a:solidFill>
                  </a:tcPr>
                </a:tc>
                <a:tc>
                  <a:txBody>
                    <a:bodyPr/>
                    <a:lstStyle/>
                    <a:p>
                      <a:pPr algn="l"/>
                      <a:r>
                        <a:rPr sz="1000" b="0">
                          <a:solidFill>
                            <a:srgbClr val="1F1F1F"/>
                          </a:solidFill>
                          <a:latin typeface="KoPubWorld돋움체 Light"/>
                        </a:rPr>
                        <a:t>50,000</a:t>
                      </a:r>
                    </a:p>
                  </a:txBody>
                  <a:tcPr marL="54864" marR="54864" marT="0" marB="0">
                    <a:solidFill>
                      <a:srgbClr val="F2F2F2"/>
                    </a:solidFill>
                  </a:tcPr>
                </a:tc>
                <a:tc>
                  <a:txBody>
                    <a:bodyPr/>
                    <a:lstStyle/>
                    <a:p>
                      <a:pPr algn="l"/>
                      <a:r>
                        <a:rPr sz="1000" b="0">
                          <a:solidFill>
                            <a:srgbClr val="1F1F1F"/>
                          </a:solidFill>
                          <a:latin typeface="KoPubWorld돋움체 Light"/>
                        </a:rPr>
                        <a:t>7.50%</a:t>
                      </a:r>
                    </a:p>
                  </a:txBody>
                  <a:tcPr marL="54864" marR="54864" marT="0" marB="0">
                    <a:solidFill>
                      <a:srgbClr val="F2F2F2"/>
                    </a:solidFill>
                  </a:tcPr>
                </a:tc>
                <a:tc>
                  <a:txBody>
                    <a:bodyPr/>
                    <a:lstStyle/>
                    <a:p>
                      <a:pPr algn="l"/>
                      <a:r>
                        <a:rPr sz="1000" b="0">
                          <a:solidFill>
                            <a:srgbClr val="1F1F1F"/>
                          </a:solidFill>
                          <a:latin typeface="KoPubWorld돋움체 Light"/>
                        </a:rPr>
                        <a:t>9.24%</a:t>
                      </a:r>
                    </a:p>
                  </a:txBody>
                  <a:tcPr marL="54864" marR="54864" marT="0" marB="0">
                    <a:solidFill>
                      <a:srgbClr val="F2F2F2"/>
                    </a:solidFill>
                  </a:tcPr>
                </a:tc>
                <a:tc>
                  <a:txBody>
                    <a:bodyPr/>
                    <a:lstStyle/>
                    <a:p>
                      <a:pPr algn="l"/>
                      <a:r>
                        <a:rPr sz="1000" b="0">
                          <a:solidFill>
                            <a:srgbClr val="1F1F1F"/>
                          </a:solidFill>
                          <a:latin typeface="KoPubWorld돋움체 Light"/>
                        </a:rPr>
                        <a:t>1.99x</a:t>
                      </a:r>
                    </a:p>
                  </a:txBody>
                  <a:tcPr marL="54864" marR="54864" marT="0" marB="0">
                    <a:solidFill>
                      <a:srgbClr val="F2F2F2"/>
                    </a:solidFill>
                  </a:tcPr>
                </a:tc>
                <a:tc>
                  <a:txBody>
                    <a:bodyPr/>
                    <a:lstStyle/>
                    <a:p>
                      <a:pPr algn="l"/>
                      <a:r>
                        <a:rPr sz="1000" b="0">
                          <a:solidFill>
                            <a:srgbClr val="1F1F1F"/>
                          </a:solidFill>
                          <a:latin typeface="KoPubWorld돋움체 Light"/>
                        </a:rPr>
                        <a:t>20%</a:t>
                      </a:r>
                    </a:p>
                  </a:txBody>
                  <a:tcPr marL="54864" marR="54864" marT="0" marB="0">
                    <a:solidFill>
                      <a:srgbClr val="F2F2F2"/>
                    </a:solidFill>
                  </a:tcPr>
                </a:tc>
                <a:tc>
                  <a:txBody>
                    <a:bodyPr/>
                    <a:lstStyle/>
                    <a:p>
                      <a:pPr algn="l"/>
                      <a:r>
                        <a:rPr sz="1000" b="0">
                          <a:solidFill>
                            <a:srgbClr val="1F1F1F"/>
                          </a:solidFill>
                          <a:latin typeface="KoPubWorld돋움체 Light"/>
                        </a:rPr>
                        <a:t>12개월 후 KLI 매입</a:t>
                      </a:r>
                    </a:p>
                  </a:txBody>
                  <a:tcPr marL="54864" marR="54864" marT="0" marB="0">
                    <a:solidFill>
                      <a:srgbClr val="F2F2F2"/>
                    </a:solidFill>
                  </a:tcPr>
                </a:tc>
              </a:tr>
              <a:tr h="329184">
                <a:tc>
                  <a:txBody>
                    <a:bodyPr/>
                    <a:lstStyle/>
                    <a:p>
                      <a:pPr algn="ctr"/>
                      <a:r>
                        <a:rPr sz="1000" b="0">
                          <a:solidFill>
                            <a:srgbClr val="1F1F1F"/>
                          </a:solidFill>
                          <a:latin typeface="KoPubWorld돋움체 Light"/>
                        </a:rPr>
                        <a:t>제3종 종류주식</a:t>
                      </a:r>
                    </a:p>
                  </a:txBody>
                  <a:tcPr marL="54864" marR="54864" marT="0" marB="0">
                    <a:solidFill>
                      <a:srgbClr val="FFFFFF"/>
                    </a:solidFill>
                  </a:tcPr>
                </a:tc>
                <a:tc>
                  <a:txBody>
                    <a:bodyPr/>
                    <a:lstStyle/>
                    <a:p>
                      <a:pPr algn="l"/>
                      <a:r>
                        <a:rPr sz="1000" b="0">
                          <a:solidFill>
                            <a:srgbClr val="1F1F1F"/>
                          </a:solidFill>
                          <a:latin typeface="KoPubWorld돋움체 Light"/>
                        </a:rPr>
                        <a:t>10,000</a:t>
                      </a:r>
                    </a:p>
                  </a:txBody>
                  <a:tcPr marL="54864" marR="54864" marT="0" marB="0">
                    <a:solidFill>
                      <a:srgbClr val="FFFFFF"/>
                    </a:solidFill>
                  </a:tcPr>
                </a:tc>
                <a:tc>
                  <a:txBody>
                    <a:bodyPr/>
                    <a:lstStyle/>
                    <a:p>
                      <a:pPr algn="l"/>
                      <a:r>
                        <a:rPr sz="1000" b="0">
                          <a:solidFill>
                            <a:srgbClr val="1F1F1F"/>
                          </a:solidFill>
                          <a:latin typeface="KoPubWorld돋움체 Light"/>
                        </a:rPr>
                        <a:t>0.00%</a:t>
                      </a:r>
                    </a:p>
                  </a:txBody>
                  <a:tcPr marL="54864" marR="54864" marT="0" marB="0">
                    <a:solidFill>
                      <a:srgbClr val="FFFFFF"/>
                    </a:solidFill>
                  </a:tcPr>
                </a:tc>
                <a:tc>
                  <a:txBody>
                    <a:bodyPr/>
                    <a:lstStyle/>
                    <a:p>
                      <a:pPr algn="l"/>
                      <a:r>
                        <a:rPr sz="1000" b="0">
                          <a:solidFill>
                            <a:srgbClr val="1F1F1F"/>
                          </a:solidFill>
                          <a:latin typeface="KoPubWorld돋움체 Light"/>
                        </a:rPr>
                        <a:t>0.00%</a:t>
                      </a:r>
                    </a:p>
                  </a:txBody>
                  <a:tcPr marL="54864" marR="54864" marT="0" marB="0">
                    <a:solidFill>
                      <a:srgbClr val="FFFFFF"/>
                    </a:solidFill>
                  </a:tcPr>
                </a:tc>
                <a:tc>
                  <a:txBody>
                    <a:bodyPr/>
                    <a:lstStyle/>
                    <a:p>
                      <a:pPr algn="l"/>
                      <a:r>
                        <a:rPr sz="1000" b="0">
                          <a:solidFill>
                            <a:srgbClr val="1F1F1F"/>
                          </a:solidFill>
                          <a:latin typeface="KoPubWorld돋움체 Light"/>
                        </a:rPr>
                        <a:t>1.00x</a:t>
                      </a:r>
                    </a:p>
                  </a:txBody>
                  <a:tcPr marL="54864" marR="54864" marT="0" marB="0">
                    <a:solidFill>
                      <a:srgbClr val="FFFFFF"/>
                    </a:solidFill>
                  </a:tcPr>
                </a:tc>
                <a:tc>
                  <a:txBody>
                    <a:bodyPr/>
                    <a:lstStyle/>
                    <a:p>
                      <a:pPr algn="l"/>
                      <a:r>
                        <a:rPr sz="1000" b="0">
                          <a:solidFill>
                            <a:srgbClr val="1F1F1F"/>
                          </a:solidFill>
                          <a:latin typeface="KoPubWorld돋움체 Light"/>
                        </a:rPr>
                        <a:t>없음</a:t>
                      </a:r>
                    </a:p>
                  </a:txBody>
                  <a:tcPr marL="54864" marR="54864" marT="0" marB="0">
                    <a:solidFill>
                      <a:srgbClr val="FFFFFF"/>
                    </a:solidFill>
                  </a:tcPr>
                </a:tc>
                <a:tc>
                  <a:txBody>
                    <a:bodyPr/>
                    <a:lstStyle/>
                    <a:p>
                      <a:pPr algn="l"/>
                      <a:r>
                        <a:rPr sz="1000" b="0">
                          <a:solidFill>
                            <a:srgbClr val="1F1F1F"/>
                          </a:solidFill>
                          <a:latin typeface="KoPubWorld돋움체 Light"/>
                        </a:rPr>
                        <a:t>24개월 후 유상감자</a:t>
                      </a:r>
                    </a:p>
                  </a:txBody>
                  <a:tcPr marL="54864" marR="54864" marT="0" marB="0">
                    <a:solidFill>
                      <a:srgbClr val="FFFFFF"/>
                    </a:solidFill>
                  </a:tcPr>
                </a:tc>
              </a:tr>
              <a:tr h="329184">
                <a:tc>
                  <a:txBody>
                    <a:bodyPr/>
                    <a:lstStyle/>
                    <a:p>
                      <a:pPr algn="ctr"/>
                      <a:r>
                        <a:rPr sz="1000" b="0">
                          <a:solidFill>
                            <a:srgbClr val="1F1F1F"/>
                          </a:solidFill>
                          <a:latin typeface="KoPubWorld돋움체 Light"/>
                        </a:rPr>
                        <a:t>보통주식</a:t>
                      </a:r>
                    </a:p>
                  </a:txBody>
                  <a:tcPr marL="54864" marR="54864" marT="0" marB="0">
                    <a:solidFill>
                      <a:srgbClr val="F2F2F2"/>
                    </a:solidFill>
                  </a:tcPr>
                </a:tc>
                <a:tc>
                  <a:txBody>
                    <a:bodyPr/>
                    <a:lstStyle/>
                    <a:p>
                      <a:pPr algn="l"/>
                      <a:r>
                        <a:rPr sz="1000" b="0">
                          <a:solidFill>
                            <a:srgbClr val="1F1F1F"/>
                          </a:solidFill>
                          <a:latin typeface="KoPubWorld돋움체 Light"/>
                        </a:rPr>
                        <a:t>14,800</a:t>
                      </a:r>
                    </a:p>
                  </a:txBody>
                  <a:tcPr marL="54864" marR="54864" marT="0" marB="0">
                    <a:solidFill>
                      <a:srgbClr val="F2F2F2"/>
                    </a:solidFill>
                  </a:tcPr>
                </a:tc>
                <a:tc>
                  <a:txBody>
                    <a:bodyPr/>
                    <a:lstStyle/>
                    <a:p>
                      <a:pPr algn="l"/>
                      <a:r>
                        <a:rPr sz="1000" b="0">
                          <a:solidFill>
                            <a:srgbClr val="1F1F1F"/>
                          </a:solidFill>
                          <a:latin typeface="KoPubWorld돋움체 Light"/>
                        </a:rPr>
                        <a:t>0.75%</a:t>
                      </a:r>
                    </a:p>
                  </a:txBody>
                  <a:tcPr marL="54864" marR="54864" marT="0" marB="0">
                    <a:solidFill>
                      <a:srgbClr val="F2F2F2"/>
                    </a:solidFill>
                  </a:tcPr>
                </a:tc>
                <a:tc>
                  <a:txBody>
                    <a:bodyPr/>
                    <a:lstStyle/>
                    <a:p>
                      <a:pPr algn="l"/>
                      <a:r>
                        <a:rPr sz="1000" b="0">
                          <a:solidFill>
                            <a:srgbClr val="1F1F1F"/>
                          </a:solidFill>
                          <a:latin typeface="KoPubWorld돋움체 Light"/>
                        </a:rPr>
                        <a:t>16.44%</a:t>
                      </a:r>
                    </a:p>
                  </a:txBody>
                  <a:tcPr marL="54864" marR="54864" marT="0" marB="0">
                    <a:solidFill>
                      <a:srgbClr val="F2F2F2"/>
                    </a:solidFill>
                  </a:tcPr>
                </a:tc>
                <a:tc>
                  <a:txBody>
                    <a:bodyPr/>
                    <a:lstStyle/>
                    <a:p>
                      <a:pPr algn="l"/>
                      <a:r>
                        <a:rPr sz="1000" b="0">
                          <a:solidFill>
                            <a:srgbClr val="1F1F1F"/>
                          </a:solidFill>
                          <a:latin typeface="KoPubWorld돋움체 Light"/>
                        </a:rPr>
                        <a:t>4.35x</a:t>
                      </a:r>
                    </a:p>
                  </a:txBody>
                  <a:tcPr marL="54864" marR="54864" marT="0" marB="0">
                    <a:solidFill>
                      <a:srgbClr val="F2F2F2"/>
                    </a:solidFill>
                  </a:tcPr>
                </a:tc>
                <a:tc>
                  <a:txBody>
                    <a:bodyPr/>
                    <a:lstStyle/>
                    <a:p>
                      <a:pPr algn="l"/>
                      <a:r>
                        <a:rPr sz="1000" b="0">
                          <a:solidFill>
                            <a:srgbClr val="1F1F1F"/>
                          </a:solidFill>
                          <a:latin typeface="KoPubWorld돋움체 Light"/>
                        </a:rPr>
                        <a:t>80%</a:t>
                      </a:r>
                    </a:p>
                  </a:txBody>
                  <a:tcPr marL="54864" marR="54864" marT="0" marB="0">
                    <a:solidFill>
                      <a:srgbClr val="F2F2F2"/>
                    </a:solidFill>
                  </a:tcPr>
                </a:tc>
                <a:tc>
                  <a:txBody>
                    <a:bodyPr/>
                    <a:lstStyle/>
                    <a:p>
                      <a:pPr algn="l"/>
                      <a:r>
                        <a:rPr sz="1000" b="0">
                          <a:solidFill>
                            <a:srgbClr val="1F1F1F"/>
                          </a:solidFill>
                          <a:latin typeface="KoPubWorld돋움체 Light"/>
                        </a:rPr>
                        <a:t>운용 종료 후 청산</a:t>
                      </a:r>
                    </a:p>
                  </a:txBody>
                  <a:tcPr marL="54864" marR="54864" marT="0" marB="0">
                    <a:solidFill>
                      <a:srgbClr val="F2F2F2"/>
                    </a:solidFill>
                  </a:tcPr>
                </a:tc>
              </a:tr>
              <a:tr h="329184">
                <a:tc>
                  <a:txBody>
                    <a:bodyPr/>
                    <a:lstStyle/>
                    <a:p>
                      <a:pPr algn="ctr"/>
                      <a:r>
                        <a:rPr sz="1000" b="0">
                          <a:solidFill>
                            <a:srgbClr val="1F1F1F"/>
                          </a:solidFill>
                          <a:latin typeface="KoPubWorld돋움체 Light"/>
                        </a:rPr>
                        <a:t>Equity 합계</a:t>
                      </a:r>
                    </a:p>
                  </a:txBody>
                  <a:tcPr marL="54864" marR="54864" marT="0" marB="0">
                    <a:solidFill>
                      <a:srgbClr val="FFFFFF"/>
                    </a:solidFill>
                  </a:tcPr>
                </a:tc>
                <a:tc>
                  <a:txBody>
                    <a:bodyPr/>
                    <a:lstStyle/>
                    <a:p>
                      <a:pPr algn="l"/>
                      <a:r>
                        <a:rPr sz="1000" b="0">
                          <a:solidFill>
                            <a:srgbClr val="1F1F1F"/>
                          </a:solidFill>
                          <a:latin typeface="KoPubWorld돋움체 Light"/>
                        </a:rPr>
                        <a:t>98,800</a:t>
                      </a:r>
                    </a:p>
                  </a:txBody>
                  <a:tcPr marL="54864" marR="54864" marT="0" marB="0">
                    <a:solidFill>
                      <a:srgbClr val="FFFFFF"/>
                    </a:solidFill>
                  </a:tcPr>
                </a:tc>
                <a:tc>
                  <a:txBody>
                    <a:bodyPr/>
                    <a:lstStyle/>
                    <a:p>
                      <a:pPr algn="l"/>
                      <a:r>
                        <a:rPr sz="1000" b="0">
                          <a:solidFill>
                            <a:srgbClr val="1F1F1F"/>
                          </a:solidFill>
                          <a:latin typeface="KoPubWorld돋움체 Light"/>
                        </a:rPr>
                        <a:t>6.2%</a:t>
                      </a:r>
                    </a:p>
                  </a:txBody>
                  <a:tcPr marL="54864" marR="54864" marT="0" marB="0">
                    <a:solidFill>
                      <a:srgbClr val="FFFFFF"/>
                    </a:solidFill>
                  </a:tcPr>
                </a:tc>
                <a:tc>
                  <a:txBody>
                    <a:bodyPr/>
                    <a:lstStyle/>
                    <a:p>
                      <a:pPr algn="l"/>
                      <a:r>
                        <a:rPr sz="1000" b="0">
                          <a:solidFill>
                            <a:srgbClr val="1F1F1F"/>
                          </a:solidFill>
                          <a:latin typeface="KoPubWorld돋움체 Light"/>
                        </a:rPr>
                        <a:t>10.34%</a:t>
                      </a:r>
                    </a:p>
                  </a:txBody>
                  <a:tcPr marL="54864" marR="54864" marT="0" marB="0">
                    <a:solidFill>
                      <a:srgbClr val="FFFFFF"/>
                    </a:solidFill>
                  </a:tcPr>
                </a:tc>
                <a:tc>
                  <a:txBody>
                    <a:bodyPr/>
                    <a:lstStyle/>
                    <a:p>
                      <a:pPr algn="l"/>
                      <a:r>
                        <a:rPr sz="1000" b="0">
                          <a:solidFill>
                            <a:srgbClr val="1F1F1F"/>
                          </a:solidFill>
                          <a:latin typeface="KoPubWorld돋움체 Light"/>
                        </a:rPr>
                        <a:t>—</a:t>
                      </a:r>
                    </a:p>
                  </a:txBody>
                  <a:tcPr marL="54864" marR="54864" marT="0" marB="0">
                    <a:solidFill>
                      <a:srgbClr val="FFFFFF"/>
                    </a:solidFill>
                  </a:tcPr>
                </a:tc>
                <a:tc>
                  <a:txBody>
                    <a:bodyPr/>
                    <a:lstStyle/>
                    <a:p>
                      <a:pPr algn="l"/>
                      <a:r>
                        <a:rPr sz="1000" b="0">
                          <a:solidFill>
                            <a:srgbClr val="1F1F1F"/>
                          </a:solidFill>
                          <a:latin typeface="KoPubWorld돋움체 Light"/>
                        </a:rPr>
                        <a:t>100%</a:t>
                      </a:r>
                    </a:p>
                  </a:txBody>
                  <a:tcPr marL="54864" marR="54864" marT="0" marB="0">
                    <a:solidFill>
                      <a:srgbClr val="FFFFFF"/>
                    </a:solidFill>
                  </a:tcPr>
                </a:tc>
                <a:tc>
                  <a:txBody>
                    <a:bodyPr/>
                    <a:lstStyle/>
                    <a:p>
                      <a:pPr algn="l"/>
                      <a:r>
                        <a:rPr sz="1000" b="0">
                          <a:solidFill>
                            <a:srgbClr val="1F1F1F"/>
                          </a:solidFill>
                          <a:latin typeface="KoPubWorld돋움체 Light"/>
                        </a:rPr>
                        <a:t>—</a:t>
                      </a:r>
                    </a:p>
                  </a:txBody>
                  <a:tcPr marL="54864" marR="54864" marT="0" marB="0">
                    <a:solidFill>
                      <a:srgbClr val="FFFFFF"/>
                    </a:solidFill>
                  </a:tcPr>
                </a:tc>
              </a:tr>
            </a:tbl>
          </a:graphicData>
        </a:graphic>
      </p:graphicFrame>
      <p:sp>
        <p:nvSpPr>
          <p:cNvPr id="6" name="Rectangle 5"/>
          <p:cNvSpPr/>
          <p:nvPr/>
        </p:nvSpPr>
        <p:spPr>
          <a:xfrm>
            <a:off x="457200" y="4480560"/>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수익률 산정 전제</a:t>
            </a:r>
          </a:p>
        </p:txBody>
      </p:sp>
      <p:sp>
        <p:nvSpPr>
          <p:cNvPr id="7" name="TextBox 6"/>
          <p:cNvSpPr txBox="1"/>
          <p:nvPr/>
        </p:nvSpPr>
        <p:spPr>
          <a:xfrm>
            <a:off x="521207" y="4855464"/>
            <a:ext cx="9784080" cy="822959"/>
          </a:xfrm>
          <a:prstGeom prst="rect">
            <a:avLst/>
          </a:prstGeom>
          <a:noFill/>
        </p:spPr>
        <p:txBody>
          <a:bodyPr wrap="square" lIns="0" rIns="0" tIns="0" bIns="0">
            <a:spAutoFit/>
          </a:bodyPr>
          <a:lstStyle/>
          <a:p>
            <a:pPr>
              <a:spcAft>
                <a:spcPts val="600"/>
              </a:spcAft>
            </a:pPr>
            <a:r>
              <a:rPr sz="900" b="0">
                <a:solidFill>
                  <a:srgbClr val="1F1F1F"/>
                </a:solidFill>
                <a:latin typeface="KoPubWorld돋움체 Light"/>
              </a:rPr>
              <a:t>• 매각가치 375,861백만원 (11년차 NOI 18,284백만원 ÷ Exit Cap 4.89% + 임대보증금 2,100백만원)</a:t>
            </a:r>
          </a:p>
          <a:p>
            <a:pPr>
              <a:spcAft>
                <a:spcPts val="600"/>
              </a:spcAft>
            </a:pPr>
            <a:r>
              <a:rPr sz="900" b="0">
                <a:solidFill>
                  <a:srgbClr val="1F1F1F"/>
                </a:solidFill>
                <a:latin typeface="KoPubWorld돋움체 Light"/>
              </a:rPr>
              <a:t>• 매각차익 배분 전 매각보수 0.5%와 매각성과보수(매각차익의 15%)를 공제</a:t>
            </a:r>
          </a:p>
          <a:p>
            <a:pPr>
              <a:spcAft>
                <a:spcPts val="600"/>
              </a:spcAft>
            </a:pPr>
            <a:r>
              <a:rPr sz="900" b="0">
                <a:solidFill>
                  <a:srgbClr val="1F1F1F"/>
                </a:solidFill>
                <a:latin typeface="KoPubWorld돋움체 Light"/>
              </a:rPr>
              <a:t>• 임대료 갱신 상승 시나리오(유사 Core 수준 62천원/평) 적용 시 전체 Equity IRR 11.5%, 보통주 IRR 19.3% 예상</a:t>
            </a:r>
          </a:p>
        </p:txBody>
      </p:sp>
      <p:sp>
        <p:nvSpPr>
          <p:cNvPr id="8" name="TextBox 7"/>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재무분석보고서(우리회계법인, v1.11) 및 IM v01(2026.09) p.20~21 / 00_원본자료/processed/20260916_핵심지표_IM기준_v01.md §5. 재무모델 v01(2026-09-15)은 제2종 9.15%, 보통주 16.18%, 전체 10.21%로 산출되어 차이가 있으며 확정값 확인 중. 본 수치는 사업계획 가정에 따른 예상치이며 수익을 보장하지 않음.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7. 대출가정 및 DSCR</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선순위 기준 평균 DSCR 1.74배로 원리금 상환 능력은 양호한 수준으로 판단됨</a:t>
            </a:r>
          </a:p>
          <a:p>
            <a:r>
              <a:rPr sz="1200" b="0">
                <a:solidFill>
                  <a:srgbClr val="404040"/>
                </a:solidFill>
                <a:latin typeface="KoPubWorld돋움체 Light"/>
              </a:rPr>
              <a:t>• 금리 100bp 상승 시에도 선순위 1.35배, 중순위 포함 1.05배로 상환 가능 범위 유지</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대출 조건</a:t>
            </a:r>
          </a:p>
        </p:txBody>
      </p:sp>
      <p:graphicFrame>
        <p:nvGraphicFramePr>
          <p:cNvPr id="5" name="Table 4"/>
          <p:cNvGraphicFramePr>
            <a:graphicFrameLocks noGrp="1"/>
          </p:cNvGraphicFramePr>
          <p:nvPr/>
        </p:nvGraphicFramePr>
        <p:xfrm>
          <a:off x="521207" y="2359152"/>
          <a:ext cx="9784080" cy="1243584"/>
        </p:xfrm>
        <a:graphic>
          <a:graphicData uri="http://schemas.openxmlformats.org/drawingml/2006/table">
            <a:tbl>
              <a:tblPr firstRow="1" bandRow="1">
                <a:tableStyleId>{5C22544A-7EE6-4342-B048-85BDC9FD1C3A}</a:tableStyleId>
              </a:tblPr>
              <a:tblGrid>
                <a:gridCol w="1828800"/>
                <a:gridCol w="1554480"/>
                <a:gridCol w="1097280"/>
                <a:gridCol w="1188720"/>
                <a:gridCol w="1097280"/>
                <a:gridCol w="1188720"/>
                <a:gridCol w="1828800"/>
              </a:tblGrid>
              <a:tr h="310896">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금액(백만원)</a:t>
                      </a:r>
                    </a:p>
                  </a:txBody>
                  <a:tcPr marL="54864" marR="54864" marT="0" marB="0">
                    <a:solidFill>
                      <a:srgbClr val="DAE3F3"/>
                    </a:solidFill>
                  </a:tcPr>
                </a:tc>
                <a:tc>
                  <a:txBody>
                    <a:bodyPr/>
                    <a:lstStyle/>
                    <a:p>
                      <a:pPr algn="ctr"/>
                      <a:r>
                        <a:rPr sz="1000" b="0">
                          <a:solidFill>
                            <a:srgbClr val="1F1F1F"/>
                          </a:solidFill>
                          <a:latin typeface="KoPubWorld돋움체 Bold"/>
                        </a:rPr>
                        <a:t>금리</a:t>
                      </a:r>
                    </a:p>
                  </a:txBody>
                  <a:tcPr marL="54864" marR="54864" marT="0" marB="0">
                    <a:solidFill>
                      <a:srgbClr val="DAE3F3"/>
                    </a:solidFill>
                  </a:tcPr>
                </a:tc>
                <a:tc>
                  <a:txBody>
                    <a:bodyPr/>
                    <a:lstStyle/>
                    <a:p>
                      <a:pPr algn="ctr"/>
                      <a:r>
                        <a:rPr sz="1000" b="0">
                          <a:solidFill>
                            <a:srgbClr val="1F1F1F"/>
                          </a:solidFill>
                          <a:latin typeface="KoPubWorld돋움체 Bold"/>
                        </a:rPr>
                        <a:t>수수료</a:t>
                      </a:r>
                    </a:p>
                  </a:txBody>
                  <a:tcPr marL="54864" marR="54864" marT="0" marB="0">
                    <a:solidFill>
                      <a:srgbClr val="DAE3F3"/>
                    </a:solidFill>
                  </a:tcPr>
                </a:tc>
                <a:tc>
                  <a:txBody>
                    <a:bodyPr/>
                    <a:lstStyle/>
                    <a:p>
                      <a:pPr algn="ctr"/>
                      <a:r>
                        <a:rPr sz="1000" b="0">
                          <a:solidFill>
                            <a:srgbClr val="1F1F1F"/>
                          </a:solidFill>
                          <a:latin typeface="KoPubWorld돋움체 Bold"/>
                        </a:rPr>
                        <a:t>All-in</a:t>
                      </a:r>
                    </a:p>
                  </a:txBody>
                  <a:tcPr marL="54864" marR="54864" marT="0" marB="0">
                    <a:solidFill>
                      <a:srgbClr val="DAE3F3"/>
                    </a:solidFill>
                  </a:tcPr>
                </a:tc>
                <a:tc>
                  <a:txBody>
                    <a:bodyPr/>
                    <a:lstStyle/>
                    <a:p>
                      <a:pPr algn="ctr"/>
                      <a:r>
                        <a:rPr sz="1000" b="0">
                          <a:solidFill>
                            <a:srgbClr val="1F1F1F"/>
                          </a:solidFill>
                          <a:latin typeface="KoPubWorld돋움체 Bold"/>
                        </a:rPr>
                        <a:t>만기</a:t>
                      </a:r>
                    </a:p>
                  </a:txBody>
                  <a:tcPr marL="54864" marR="54864" marT="0" marB="0">
                    <a:solidFill>
                      <a:srgbClr val="DAE3F3"/>
                    </a:solidFill>
                  </a:tcPr>
                </a:tc>
                <a:tc>
                  <a:txBody>
                    <a:bodyPr/>
                    <a:lstStyle/>
                    <a:p>
                      <a:pPr algn="ctr"/>
                      <a:r>
                        <a:rPr sz="1000" b="0">
                          <a:solidFill>
                            <a:srgbClr val="1F1F1F"/>
                          </a:solidFill>
                          <a:latin typeface="KoPubWorld돋움체 Bold"/>
                        </a:rPr>
                        <a:t>LTV(감정가)</a:t>
                      </a:r>
                    </a:p>
                  </a:txBody>
                  <a:tcPr marL="54864" marR="54864" marT="0" marB="0">
                    <a:solidFill>
                      <a:srgbClr val="DAE3F3"/>
                    </a:solidFill>
                  </a:tcPr>
                </a:tc>
              </a:tr>
              <a:tr h="310896">
                <a:tc>
                  <a:txBody>
                    <a:bodyPr/>
                    <a:lstStyle/>
                    <a:p>
                      <a:pPr algn="ctr"/>
                      <a:r>
                        <a:rPr sz="1000" b="0">
                          <a:solidFill>
                            <a:srgbClr val="1F1F1F"/>
                          </a:solidFill>
                          <a:latin typeface="KoPubWorld돋움체 Light"/>
                        </a:rPr>
                        <a:t>선순위 Tr.A</a:t>
                      </a:r>
                    </a:p>
                  </a:txBody>
                  <a:tcPr marL="54864" marR="54864" marT="0" marB="0">
                    <a:solidFill>
                      <a:srgbClr val="FFFFFF"/>
                    </a:solidFill>
                  </a:tcPr>
                </a:tc>
                <a:tc>
                  <a:txBody>
                    <a:bodyPr/>
                    <a:lstStyle/>
                    <a:p>
                      <a:pPr algn="l"/>
                      <a:r>
                        <a:rPr sz="1000" b="0">
                          <a:solidFill>
                            <a:srgbClr val="1F1F1F"/>
                          </a:solidFill>
                          <a:latin typeface="KoPubWorld돋움체 Light"/>
                        </a:rPr>
                        <a:t>160,000</a:t>
                      </a:r>
                    </a:p>
                  </a:txBody>
                  <a:tcPr marL="54864" marR="54864" marT="0" marB="0">
                    <a:solidFill>
                      <a:srgbClr val="FFFFFF"/>
                    </a:solidFill>
                  </a:tcPr>
                </a:tc>
                <a:tc>
                  <a:txBody>
                    <a:bodyPr/>
                    <a:lstStyle/>
                    <a:p>
                      <a:pPr algn="l"/>
                      <a:r>
                        <a:rPr sz="1000" b="0">
                          <a:solidFill>
                            <a:srgbClr val="1F1F1F"/>
                          </a:solidFill>
                          <a:latin typeface="KoPubWorld돋움체 Light"/>
                        </a:rPr>
                        <a:t>4.78%</a:t>
                      </a:r>
                    </a:p>
                  </a:txBody>
                  <a:tcPr marL="54864" marR="54864" marT="0" marB="0">
                    <a:solidFill>
                      <a:srgbClr val="FFFFFF"/>
                    </a:solidFill>
                  </a:tcPr>
                </a:tc>
                <a:tc>
                  <a:txBody>
                    <a:bodyPr/>
                    <a:lstStyle/>
                    <a:p>
                      <a:pPr algn="l"/>
                      <a:r>
                        <a:rPr sz="1000" b="0">
                          <a:solidFill>
                            <a:srgbClr val="1F1F1F"/>
                          </a:solidFill>
                          <a:latin typeface="KoPubWorld돋움체 Light"/>
                        </a:rPr>
                        <a:t>1.45%</a:t>
                      </a:r>
                    </a:p>
                  </a:txBody>
                  <a:tcPr marL="54864" marR="54864" marT="0" marB="0">
                    <a:solidFill>
                      <a:srgbClr val="FFFFFF"/>
                    </a:solidFill>
                  </a:tcPr>
                </a:tc>
                <a:tc>
                  <a:txBody>
                    <a:bodyPr/>
                    <a:lstStyle/>
                    <a:p>
                      <a:pPr algn="l"/>
                      <a:r>
                        <a:rPr sz="1000" b="0">
                          <a:solidFill>
                            <a:srgbClr val="1F1F1F"/>
                          </a:solidFill>
                          <a:latin typeface="KoPubWorld돋움체 Light"/>
                        </a:rPr>
                        <a:t>5.50%</a:t>
                      </a:r>
                    </a:p>
                  </a:txBody>
                  <a:tcPr marL="54864" marR="54864" marT="0" marB="0">
                    <a:solidFill>
                      <a:srgbClr val="FFFFFF"/>
                    </a:solidFill>
                  </a:tcPr>
                </a:tc>
                <a:tc>
                  <a:txBody>
                    <a:bodyPr/>
                    <a:lstStyle/>
                    <a:p>
                      <a:pPr algn="l"/>
                      <a:r>
                        <a:rPr sz="1000" b="0">
                          <a:solidFill>
                            <a:srgbClr val="1F1F1F"/>
                          </a:solidFill>
                          <a:latin typeface="KoPubWorld돋움체 Light"/>
                        </a:rPr>
                        <a:t>24개월</a:t>
                      </a:r>
                    </a:p>
                  </a:txBody>
                  <a:tcPr marL="54864" marR="54864" marT="0" marB="0">
                    <a:solidFill>
                      <a:srgbClr val="FFFFFF"/>
                    </a:solidFill>
                  </a:tcPr>
                </a:tc>
                <a:tc>
                  <a:txBody>
                    <a:bodyPr/>
                    <a:lstStyle/>
                    <a:p>
                      <a:pPr algn="l"/>
                      <a:r>
                        <a:rPr sz="1000" b="0">
                          <a:solidFill>
                            <a:srgbClr val="1F1F1F"/>
                          </a:solidFill>
                          <a:latin typeface="KoPubWorld돋움체 Light"/>
                        </a:rPr>
                        <a:t>48.5%</a:t>
                      </a:r>
                    </a:p>
                  </a:txBody>
                  <a:tcPr marL="54864" marR="54864" marT="0" marB="0">
                    <a:solidFill>
                      <a:srgbClr val="FFFFFF"/>
                    </a:solidFill>
                  </a:tcPr>
                </a:tc>
              </a:tr>
              <a:tr h="310896">
                <a:tc>
                  <a:txBody>
                    <a:bodyPr/>
                    <a:lstStyle/>
                    <a:p>
                      <a:pPr algn="ctr"/>
                      <a:r>
                        <a:rPr sz="1000" b="0">
                          <a:solidFill>
                            <a:srgbClr val="1F1F1F"/>
                          </a:solidFill>
                          <a:latin typeface="KoPubWorld돋움체 Light"/>
                        </a:rPr>
                        <a:t>중순위 Tr.B</a:t>
                      </a:r>
                    </a:p>
                  </a:txBody>
                  <a:tcPr marL="54864" marR="54864" marT="0" marB="0">
                    <a:solidFill>
                      <a:srgbClr val="F2F2F2"/>
                    </a:solidFill>
                  </a:tcPr>
                </a:tc>
                <a:tc>
                  <a:txBody>
                    <a:bodyPr/>
                    <a:lstStyle/>
                    <a:p>
                      <a:pPr algn="l"/>
                      <a:r>
                        <a:rPr sz="1000" b="0">
                          <a:solidFill>
                            <a:srgbClr val="1F1F1F"/>
                          </a:solidFill>
                          <a:latin typeface="KoPubWorld돋움체 Light"/>
                        </a:rPr>
                        <a:t>38,000</a:t>
                      </a:r>
                    </a:p>
                  </a:txBody>
                  <a:tcPr marL="54864" marR="54864" marT="0" marB="0">
                    <a:solidFill>
                      <a:srgbClr val="F2F2F2"/>
                    </a:solidFill>
                  </a:tcPr>
                </a:tc>
                <a:tc>
                  <a:txBody>
                    <a:bodyPr/>
                    <a:lstStyle/>
                    <a:p>
                      <a:pPr algn="l"/>
                      <a:r>
                        <a:rPr sz="1000" b="0">
                          <a:solidFill>
                            <a:srgbClr val="1F1F1F"/>
                          </a:solidFill>
                          <a:latin typeface="KoPubWorld돋움체 Light"/>
                        </a:rPr>
                        <a:t>6.00%</a:t>
                      </a:r>
                    </a:p>
                  </a:txBody>
                  <a:tcPr marL="54864" marR="54864" marT="0" marB="0">
                    <a:solidFill>
                      <a:srgbClr val="F2F2F2"/>
                    </a:solidFill>
                  </a:tcPr>
                </a:tc>
                <a:tc>
                  <a:txBody>
                    <a:bodyPr/>
                    <a:lstStyle/>
                    <a:p>
                      <a:pPr algn="l"/>
                      <a:r>
                        <a:rPr sz="1000" b="0">
                          <a:solidFill>
                            <a:srgbClr val="1F1F1F"/>
                          </a:solidFill>
                          <a:latin typeface="KoPubWorld돋움체 Light"/>
                        </a:rPr>
                        <a:t>1.00%</a:t>
                      </a:r>
                    </a:p>
                  </a:txBody>
                  <a:tcPr marL="54864" marR="54864" marT="0" marB="0">
                    <a:solidFill>
                      <a:srgbClr val="F2F2F2"/>
                    </a:solidFill>
                  </a:tcPr>
                </a:tc>
                <a:tc>
                  <a:txBody>
                    <a:bodyPr/>
                    <a:lstStyle/>
                    <a:p>
                      <a:pPr algn="l"/>
                      <a:r>
                        <a:rPr sz="1000" b="0">
                          <a:solidFill>
                            <a:srgbClr val="1F1F1F"/>
                          </a:solidFill>
                          <a:latin typeface="KoPubWorld돋움체 Light"/>
                        </a:rPr>
                        <a:t>6.50%</a:t>
                      </a:r>
                    </a:p>
                  </a:txBody>
                  <a:tcPr marL="54864" marR="54864" marT="0" marB="0">
                    <a:solidFill>
                      <a:srgbClr val="F2F2F2"/>
                    </a:solidFill>
                  </a:tcPr>
                </a:tc>
                <a:tc>
                  <a:txBody>
                    <a:bodyPr/>
                    <a:lstStyle/>
                    <a:p>
                      <a:pPr algn="l"/>
                      <a:r>
                        <a:rPr sz="1000" b="0">
                          <a:solidFill>
                            <a:srgbClr val="1F1F1F"/>
                          </a:solidFill>
                          <a:latin typeface="KoPubWorld돋움체 Light"/>
                        </a:rPr>
                        <a:t>24개월</a:t>
                      </a:r>
                    </a:p>
                  </a:txBody>
                  <a:tcPr marL="54864" marR="54864" marT="0" marB="0">
                    <a:solidFill>
                      <a:srgbClr val="F2F2F2"/>
                    </a:solidFill>
                  </a:tcPr>
                </a:tc>
                <a:tc>
                  <a:txBody>
                    <a:bodyPr/>
                    <a:lstStyle/>
                    <a:p>
                      <a:pPr algn="l"/>
                      <a:r>
                        <a:rPr sz="1000" b="0">
                          <a:solidFill>
                            <a:srgbClr val="1F1F1F"/>
                          </a:solidFill>
                          <a:latin typeface="KoPubWorld돋움체 Light"/>
                        </a:rPr>
                        <a:t>59.9%</a:t>
                      </a:r>
                    </a:p>
                  </a:txBody>
                  <a:tcPr marL="54864" marR="54864" marT="0" marB="0">
                    <a:solidFill>
                      <a:srgbClr val="F2F2F2"/>
                    </a:solidFill>
                  </a:tcPr>
                </a:tc>
              </a:tr>
              <a:tr h="310896">
                <a:tc>
                  <a:txBody>
                    <a:bodyPr/>
                    <a:lstStyle/>
                    <a:p>
                      <a:pPr algn="ctr"/>
                      <a:r>
                        <a:rPr sz="1000" b="0">
                          <a:solidFill>
                            <a:srgbClr val="1F1F1F"/>
                          </a:solidFill>
                          <a:latin typeface="KoPubWorld돋움체 Light"/>
                        </a:rPr>
                        <a:t>리파이낸싱 Tr.A</a:t>
                      </a:r>
                    </a:p>
                  </a:txBody>
                  <a:tcPr marL="54864" marR="54864" marT="0" marB="0">
                    <a:solidFill>
                      <a:srgbClr val="FFFFFF"/>
                    </a:solidFill>
                  </a:tcPr>
                </a:tc>
                <a:tc>
                  <a:txBody>
                    <a:bodyPr/>
                    <a:lstStyle/>
                    <a:p>
                      <a:pPr algn="l"/>
                      <a:r>
                        <a:rPr sz="1000" b="0">
                          <a:solidFill>
                            <a:srgbClr val="1F1F1F"/>
                          </a:solidFill>
                          <a:latin typeface="KoPubWorld돋움체 Light"/>
                        </a:rPr>
                        <a:t>213,000</a:t>
                      </a:r>
                    </a:p>
                  </a:txBody>
                  <a:tcPr marL="54864" marR="54864" marT="0" marB="0">
                    <a:solidFill>
                      <a:srgbClr val="FFFFFF"/>
                    </a:solidFill>
                  </a:tcPr>
                </a:tc>
                <a:tc>
                  <a:txBody>
                    <a:bodyPr/>
                    <a:lstStyle/>
                    <a:p>
                      <a:pPr algn="l"/>
                      <a:r>
                        <a:rPr sz="1000" b="0">
                          <a:solidFill>
                            <a:srgbClr val="1F1F1F"/>
                          </a:solidFill>
                          <a:latin typeface="KoPubWorld돋움체 Light"/>
                        </a:rPr>
                        <a:t>4.80%</a:t>
                      </a:r>
                    </a:p>
                  </a:txBody>
                  <a:tcPr marL="54864" marR="54864" marT="0" marB="0">
                    <a:solidFill>
                      <a:srgbClr val="FFFFFF"/>
                    </a:solidFill>
                  </a:tcPr>
                </a:tc>
                <a:tc>
                  <a:txBody>
                    <a:bodyPr/>
                    <a:lstStyle/>
                    <a:p>
                      <a:pPr algn="l"/>
                      <a:r>
                        <a:rPr sz="1000" b="0">
                          <a:solidFill>
                            <a:srgbClr val="1F1F1F"/>
                          </a:solidFill>
                          <a:latin typeface="KoPubWorld돋움체 Light"/>
                        </a:rPr>
                        <a:t>—</a:t>
                      </a:r>
                    </a:p>
                  </a:txBody>
                  <a:tcPr marL="54864" marR="54864" marT="0" marB="0">
                    <a:solidFill>
                      <a:srgbClr val="FFFFFF"/>
                    </a:solidFill>
                  </a:tcPr>
                </a:tc>
                <a:tc>
                  <a:txBody>
                    <a:bodyPr/>
                    <a:lstStyle/>
                    <a:p>
                      <a:pPr algn="l"/>
                      <a:r>
                        <a:rPr sz="1000" b="0">
                          <a:solidFill>
                            <a:srgbClr val="1F1F1F"/>
                          </a:solidFill>
                          <a:latin typeface="KoPubWorld돋움체 Light"/>
                        </a:rPr>
                        <a:t>4.80%</a:t>
                      </a:r>
                    </a:p>
                  </a:txBody>
                  <a:tcPr marL="54864" marR="54864" marT="0" marB="0">
                    <a:solidFill>
                      <a:srgbClr val="FFFFFF"/>
                    </a:solidFill>
                  </a:tcPr>
                </a:tc>
                <a:tc>
                  <a:txBody>
                    <a:bodyPr/>
                    <a:lstStyle/>
                    <a:p>
                      <a:pPr algn="l"/>
                      <a:r>
                        <a:rPr sz="1000" b="0">
                          <a:solidFill>
                            <a:srgbClr val="1F1F1F"/>
                          </a:solidFill>
                          <a:latin typeface="KoPubWorld돋움체 Light"/>
                        </a:rPr>
                        <a:t>36개월</a:t>
                      </a:r>
                    </a:p>
                  </a:txBody>
                  <a:tcPr marL="54864" marR="54864" marT="0" marB="0">
                    <a:solidFill>
                      <a:srgbClr val="FFFFFF"/>
                    </a:solidFill>
                  </a:tcPr>
                </a:tc>
                <a:tc>
                  <a:txBody>
                    <a:bodyPr/>
                    <a:lstStyle/>
                    <a:p>
                      <a:pPr algn="l"/>
                      <a:r>
                        <a:rPr sz="1000" b="0">
                          <a:solidFill>
                            <a:srgbClr val="1F1F1F"/>
                          </a:solidFill>
                          <a:latin typeface="KoPubWorld돋움체 Light"/>
                        </a:rPr>
                        <a:t>61.8%</a:t>
                      </a:r>
                    </a:p>
                  </a:txBody>
                  <a:tcPr marL="54864" marR="54864" marT="0" marB="0">
                    <a:solidFill>
                      <a:srgbClr val="FFFFFF"/>
                    </a:solidFill>
                  </a:tcPr>
                </a:tc>
              </a:tr>
            </a:tbl>
          </a:graphicData>
        </a:graphic>
      </p:graphicFrame>
      <p:sp>
        <p:nvSpPr>
          <p:cNvPr id="6" name="Rectangle 5"/>
          <p:cNvSpPr/>
          <p:nvPr/>
        </p:nvSpPr>
        <p:spPr>
          <a:xfrm>
            <a:off x="457200" y="3840480"/>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DSCR 및 만기 LTV</a:t>
            </a:r>
          </a:p>
        </p:txBody>
      </p:sp>
      <p:graphicFrame>
        <p:nvGraphicFramePr>
          <p:cNvPr id="7" name="Table 6"/>
          <p:cNvGraphicFramePr>
            <a:graphicFrameLocks noGrp="1"/>
          </p:cNvGraphicFramePr>
          <p:nvPr/>
        </p:nvGraphicFramePr>
        <p:xfrm>
          <a:off x="521207" y="4215384"/>
          <a:ext cx="9784080" cy="932688"/>
        </p:xfrm>
        <a:graphic>
          <a:graphicData uri="http://schemas.openxmlformats.org/drawingml/2006/table">
            <a:tbl>
              <a:tblPr firstRow="1" bandRow="1">
                <a:tableStyleId>{5C22544A-7EE6-4342-B048-85BDC9FD1C3A}</a:tableStyleId>
              </a:tblPr>
              <a:tblGrid>
                <a:gridCol w="2194560"/>
                <a:gridCol w="1645920"/>
                <a:gridCol w="1645920"/>
                <a:gridCol w="2194560"/>
                <a:gridCol w="2103120"/>
              </a:tblGrid>
              <a:tr h="310896">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평균</a:t>
                      </a:r>
                    </a:p>
                  </a:txBody>
                  <a:tcPr marL="54864" marR="54864" marT="0" marB="0">
                    <a:solidFill>
                      <a:srgbClr val="DAE3F3"/>
                    </a:solidFill>
                  </a:tcPr>
                </a:tc>
                <a:tc>
                  <a:txBody>
                    <a:bodyPr/>
                    <a:lstStyle/>
                    <a:p>
                      <a:pPr algn="ctr"/>
                      <a:r>
                        <a:rPr sz="1000" b="0">
                          <a:solidFill>
                            <a:srgbClr val="1F1F1F"/>
                          </a:solidFill>
                          <a:latin typeface="KoPubWorld돋움체 Bold"/>
                        </a:rPr>
                        <a:t>최소</a:t>
                      </a:r>
                    </a:p>
                  </a:txBody>
                  <a:tcPr marL="54864" marR="54864" marT="0" marB="0">
                    <a:solidFill>
                      <a:srgbClr val="DAE3F3"/>
                    </a:solidFill>
                  </a:tcPr>
                </a:tc>
                <a:tc>
                  <a:txBody>
                    <a:bodyPr/>
                    <a:lstStyle/>
                    <a:p>
                      <a:pPr algn="ctr"/>
                      <a:r>
                        <a:rPr sz="1000" b="0">
                          <a:solidFill>
                            <a:srgbClr val="1F1F1F"/>
                          </a:solidFill>
                          <a:latin typeface="KoPubWorld돋움체 Bold"/>
                        </a:rPr>
                        <a:t>금리 +100bp 시</a:t>
                      </a:r>
                    </a:p>
                  </a:txBody>
                  <a:tcPr marL="54864" marR="54864" marT="0" marB="0">
                    <a:solidFill>
                      <a:srgbClr val="DAE3F3"/>
                    </a:solidFill>
                  </a:tcPr>
                </a:tc>
                <a:tc>
                  <a:txBody>
                    <a:bodyPr/>
                    <a:lstStyle/>
                    <a:p>
                      <a:pPr algn="ctr"/>
                      <a:r>
                        <a:rPr sz="1000" b="0">
                          <a:solidFill>
                            <a:srgbClr val="1F1F1F"/>
                          </a:solidFill>
                          <a:latin typeface="KoPubWorld돋움체 Bold"/>
                        </a:rPr>
                        <a:t>만기 LTV</a:t>
                      </a:r>
                    </a:p>
                  </a:txBody>
                  <a:tcPr marL="54864" marR="54864" marT="0" marB="0">
                    <a:solidFill>
                      <a:srgbClr val="DAE3F3"/>
                    </a:solidFill>
                  </a:tcPr>
                </a:tc>
              </a:tr>
              <a:tr h="310896">
                <a:tc>
                  <a:txBody>
                    <a:bodyPr/>
                    <a:lstStyle/>
                    <a:p>
                      <a:pPr algn="ctr"/>
                      <a:r>
                        <a:rPr sz="1000" b="0">
                          <a:solidFill>
                            <a:srgbClr val="1F1F1F"/>
                          </a:solidFill>
                          <a:latin typeface="KoPubWorld돋움체 Light"/>
                        </a:rPr>
                        <a:t>선순위 기준</a:t>
                      </a:r>
                    </a:p>
                  </a:txBody>
                  <a:tcPr marL="54864" marR="54864" marT="0" marB="0">
                    <a:solidFill>
                      <a:srgbClr val="FFFFFF"/>
                    </a:solidFill>
                  </a:tcPr>
                </a:tc>
                <a:tc>
                  <a:txBody>
                    <a:bodyPr/>
                    <a:lstStyle/>
                    <a:p>
                      <a:pPr algn="l"/>
                      <a:r>
                        <a:rPr sz="1000" b="0">
                          <a:solidFill>
                            <a:srgbClr val="1F1F1F"/>
                          </a:solidFill>
                          <a:latin typeface="KoPubWorld돋움체 Light"/>
                        </a:rPr>
                        <a:t>1.74배</a:t>
                      </a:r>
                    </a:p>
                  </a:txBody>
                  <a:tcPr marL="54864" marR="54864" marT="0" marB="0">
                    <a:solidFill>
                      <a:srgbClr val="FFFFFF"/>
                    </a:solidFill>
                  </a:tcPr>
                </a:tc>
                <a:tc>
                  <a:txBody>
                    <a:bodyPr/>
                    <a:lstStyle/>
                    <a:p>
                      <a:pPr algn="l"/>
                      <a:r>
                        <a:rPr sz="1000" b="0">
                          <a:solidFill>
                            <a:srgbClr val="1F1F1F"/>
                          </a:solidFill>
                          <a:latin typeface="KoPubWorld돋움체 Light"/>
                        </a:rPr>
                        <a:t>1.64배</a:t>
                      </a:r>
                    </a:p>
                  </a:txBody>
                  <a:tcPr marL="54864" marR="54864" marT="0" marB="0">
                    <a:solidFill>
                      <a:srgbClr val="FFFFFF"/>
                    </a:solidFill>
                  </a:tcPr>
                </a:tc>
                <a:tc>
                  <a:txBody>
                    <a:bodyPr/>
                    <a:lstStyle/>
                    <a:p>
                      <a:pPr algn="l"/>
                      <a:r>
                        <a:rPr sz="1000" b="0">
                          <a:solidFill>
                            <a:srgbClr val="1F1F1F"/>
                          </a:solidFill>
                          <a:latin typeface="KoPubWorld돋움체 Light"/>
                        </a:rPr>
                        <a:t>1.35배</a:t>
                      </a:r>
                    </a:p>
                  </a:txBody>
                  <a:tcPr marL="54864" marR="54864" marT="0" marB="0">
                    <a:solidFill>
                      <a:srgbClr val="FFFFFF"/>
                    </a:solidFill>
                  </a:tcPr>
                </a:tc>
                <a:tc>
                  <a:txBody>
                    <a:bodyPr/>
                    <a:lstStyle/>
                    <a:p>
                      <a:pPr algn="l"/>
                      <a:r>
                        <a:rPr sz="1000" b="0">
                          <a:solidFill>
                            <a:srgbClr val="1F1F1F"/>
                          </a:solidFill>
                          <a:latin typeface="KoPubWorld돋움체 Light"/>
                        </a:rPr>
                        <a:t>58.3%</a:t>
                      </a:r>
                    </a:p>
                  </a:txBody>
                  <a:tcPr marL="54864" marR="54864" marT="0" marB="0">
                    <a:solidFill>
                      <a:srgbClr val="FFFFFF"/>
                    </a:solidFill>
                  </a:tcPr>
                </a:tc>
              </a:tr>
              <a:tr h="310896">
                <a:tc>
                  <a:txBody>
                    <a:bodyPr/>
                    <a:lstStyle/>
                    <a:p>
                      <a:pPr algn="ctr"/>
                      <a:r>
                        <a:rPr sz="1000" b="0">
                          <a:solidFill>
                            <a:srgbClr val="1F1F1F"/>
                          </a:solidFill>
                          <a:latin typeface="KoPubWorld돋움체 Light"/>
                        </a:rPr>
                        <a:t>중순위 포함</a:t>
                      </a:r>
                    </a:p>
                  </a:txBody>
                  <a:tcPr marL="54864" marR="54864" marT="0" marB="0">
                    <a:solidFill>
                      <a:srgbClr val="F2F2F2"/>
                    </a:solidFill>
                  </a:tcPr>
                </a:tc>
                <a:tc>
                  <a:txBody>
                    <a:bodyPr/>
                    <a:lstStyle/>
                    <a:p>
                      <a:pPr algn="l"/>
                      <a:r>
                        <a:rPr sz="1000" b="0">
                          <a:solidFill>
                            <a:srgbClr val="1F1F1F"/>
                          </a:solidFill>
                          <a:latin typeface="KoPubWorld돋움체 Light"/>
                        </a:rPr>
                        <a:t>1.34배</a:t>
                      </a:r>
                    </a:p>
                  </a:txBody>
                  <a:tcPr marL="54864" marR="54864" marT="0" marB="0">
                    <a:solidFill>
                      <a:srgbClr val="F2F2F2"/>
                    </a:solidFill>
                  </a:tcPr>
                </a:tc>
                <a:tc>
                  <a:txBody>
                    <a:bodyPr/>
                    <a:lstStyle/>
                    <a:p>
                      <a:pPr algn="l"/>
                      <a:r>
                        <a:rPr sz="1000" b="0">
                          <a:solidFill>
                            <a:srgbClr val="1F1F1F"/>
                          </a:solidFill>
                          <a:latin typeface="KoPubWorld돋움체 Light"/>
                        </a:rPr>
                        <a:t>1.26배</a:t>
                      </a:r>
                    </a:p>
                  </a:txBody>
                  <a:tcPr marL="54864" marR="54864" marT="0" marB="0">
                    <a:solidFill>
                      <a:srgbClr val="F2F2F2"/>
                    </a:solidFill>
                  </a:tcPr>
                </a:tc>
                <a:tc>
                  <a:txBody>
                    <a:bodyPr/>
                    <a:lstStyle/>
                    <a:p>
                      <a:pPr algn="l"/>
                      <a:r>
                        <a:rPr sz="1000" b="0">
                          <a:solidFill>
                            <a:srgbClr val="1F1F1F"/>
                          </a:solidFill>
                          <a:latin typeface="KoPubWorld돋움체 Light"/>
                        </a:rPr>
                        <a:t>1.05배</a:t>
                      </a:r>
                    </a:p>
                  </a:txBody>
                  <a:tcPr marL="54864" marR="54864" marT="0" marB="0">
                    <a:solidFill>
                      <a:srgbClr val="F2F2F2"/>
                    </a:solidFill>
                  </a:tcPr>
                </a:tc>
                <a:tc>
                  <a:txBody>
                    <a:bodyPr/>
                    <a:lstStyle/>
                    <a:p>
                      <a:pPr algn="l"/>
                      <a:r>
                        <a:rPr sz="1000" b="0">
                          <a:solidFill>
                            <a:srgbClr val="1F1F1F"/>
                          </a:solidFill>
                          <a:latin typeface="KoPubWorld돋움체 Light"/>
                        </a:rPr>
                        <a:t>72.1%</a:t>
                      </a:r>
                    </a:p>
                  </a:txBody>
                  <a:tcPr marL="54864" marR="54864" marT="0" marB="0">
                    <a:solidFill>
                      <a:srgbClr val="F2F2F2"/>
                    </a:solidFill>
                  </a:tcPr>
                </a:tc>
              </a:tr>
            </a:tbl>
          </a:graphicData>
        </a:graphic>
      </p:graphicFrame>
      <p:sp>
        <p:nvSpPr>
          <p:cNvPr id="8" name="TextBox 7"/>
          <p:cNvSpPr txBox="1"/>
          <p:nvPr/>
        </p:nvSpPr>
        <p:spPr>
          <a:xfrm>
            <a:off x="521207" y="5257800"/>
            <a:ext cx="9784080" cy="548640"/>
          </a:xfrm>
          <a:prstGeom prst="rect">
            <a:avLst/>
          </a:prstGeom>
          <a:noFill/>
        </p:spPr>
        <p:txBody>
          <a:bodyPr wrap="square" lIns="0" rIns="0" tIns="0" bIns="0">
            <a:spAutoFit/>
          </a:bodyPr>
          <a:lstStyle/>
          <a:p>
            <a:pPr>
              <a:spcAft>
                <a:spcPts val="600"/>
              </a:spcAft>
            </a:pPr>
            <a:r>
              <a:rPr sz="900" b="0">
                <a:solidFill>
                  <a:srgbClr val="1F1F1F"/>
                </a:solidFill>
                <a:latin typeface="KoPubWorld돋움체 Light"/>
              </a:rPr>
              <a:t>• 3년차 쿠팡 연장 시 Rent-Free 5개월 적용으로 해당 연도 NOI 9,076백만원, DSCR 0.89배까지 하락 예상</a:t>
            </a:r>
          </a:p>
          <a:p>
            <a:pPr>
              <a:spcAft>
                <a:spcPts val="600"/>
              </a:spcAft>
            </a:pPr>
            <a:r>
              <a:rPr sz="900" b="0">
                <a:solidFill>
                  <a:srgbClr val="1F1F1F"/>
                </a:solidFill>
                <a:latin typeface="KoPubWorld돋움체 Light"/>
              </a:rPr>
              <a:t>• 해당 연도 부족분은 제3종 종류주식 재원의 Overfunding 100억원으로 충당하는 계획</a:t>
            </a:r>
          </a:p>
        </p:txBody>
      </p:sp>
      <p:sp>
        <p:nvSpPr>
          <p:cNvPr id="9" name="TextBox 8"/>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재무분석보고서(우리회계법인, v1.11) DSCR·만기 LTV 검토 / 선순위·중순위 Termsheet / IM v01(2026.09) p.22. 만기 LTV는 3년차 Rent-Free 조정 NOI 기준. 대출 조건은 대출약정 체결 시 확정됨.</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8. 민감도분석</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임대료·공실률·금리 변동 시에도 제1·2종 종류주식의 확정배당 지급 가능성은 유지될 것으로 예상됨</a:t>
            </a:r>
          </a:p>
          <a:p>
            <a:r>
              <a:rPr sz="1200" b="0">
                <a:solidFill>
                  <a:srgbClr val="404040"/>
                </a:solidFill>
                <a:latin typeface="KoPubWorld돋움체 Light"/>
              </a:rPr>
              <a:t>• 제3종 종류주식 Overfunding이 외부 환경 변화에 대한 완충 재원으로 기능</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민감도 분석 (Base 대비)</a:t>
            </a:r>
          </a:p>
        </p:txBody>
      </p:sp>
      <p:graphicFrame>
        <p:nvGraphicFramePr>
          <p:cNvPr id="5" name="Table 4"/>
          <p:cNvGraphicFramePr>
            <a:graphicFrameLocks noGrp="1"/>
          </p:cNvGraphicFramePr>
          <p:nvPr/>
        </p:nvGraphicFramePr>
        <p:xfrm>
          <a:off x="521207" y="2359152"/>
          <a:ext cx="9784080" cy="2084832"/>
        </p:xfrm>
        <a:graphic>
          <a:graphicData uri="http://schemas.openxmlformats.org/drawingml/2006/table">
            <a:tbl>
              <a:tblPr firstRow="1" bandRow="1">
                <a:tableStyleId>{5C22544A-7EE6-4342-B048-85BDC9FD1C3A}</a:tableStyleId>
              </a:tblPr>
              <a:tblGrid>
                <a:gridCol w="1737360"/>
                <a:gridCol w="2743200"/>
                <a:gridCol w="1737360"/>
                <a:gridCol w="1554480"/>
                <a:gridCol w="2011680"/>
              </a:tblGrid>
              <a:tr h="347472">
                <a:tc>
                  <a:txBody>
                    <a:bodyPr/>
                    <a:lstStyle/>
                    <a:p>
                      <a:pPr algn="ctr"/>
                      <a:r>
                        <a:rPr sz="1000" b="0">
                          <a:solidFill>
                            <a:srgbClr val="1F1F1F"/>
                          </a:solidFill>
                          <a:latin typeface="KoPubWorld돋움체 Bold"/>
                        </a:rPr>
                        <a:t>변 수</a:t>
                      </a:r>
                    </a:p>
                  </a:txBody>
                  <a:tcPr marL="54864" marR="54864" marT="0" marB="0">
                    <a:solidFill>
                      <a:srgbClr val="DAE3F3"/>
                    </a:solidFill>
                  </a:tcPr>
                </a:tc>
                <a:tc>
                  <a:txBody>
                    <a:bodyPr/>
                    <a:lstStyle/>
                    <a:p>
                      <a:pPr algn="ctr"/>
                      <a:r>
                        <a:rPr sz="1000" b="0">
                          <a:solidFill>
                            <a:srgbClr val="1F1F1F"/>
                          </a:solidFill>
                          <a:latin typeface="KoPubWorld돋움체 Bold"/>
                        </a:rPr>
                        <a:t>시나리오</a:t>
                      </a:r>
                    </a:p>
                  </a:txBody>
                  <a:tcPr marL="54864" marR="54864" marT="0" marB="0">
                    <a:solidFill>
                      <a:srgbClr val="DAE3F3"/>
                    </a:solidFill>
                  </a:tcPr>
                </a:tc>
                <a:tc>
                  <a:txBody>
                    <a:bodyPr/>
                    <a:lstStyle/>
                    <a:p>
                      <a:pPr algn="ctr"/>
                      <a:r>
                        <a:rPr sz="1000" b="0">
                          <a:solidFill>
                            <a:srgbClr val="1F1F1F"/>
                          </a:solidFill>
                          <a:latin typeface="KoPubWorld돋움체 Bold"/>
                        </a:rPr>
                        <a:t>보통주 IRR</a:t>
                      </a:r>
                    </a:p>
                  </a:txBody>
                  <a:tcPr marL="54864" marR="54864" marT="0" marB="0">
                    <a:solidFill>
                      <a:srgbClr val="DAE3F3"/>
                    </a:solidFill>
                  </a:tcPr>
                </a:tc>
                <a:tc>
                  <a:txBody>
                    <a:bodyPr/>
                    <a:lstStyle/>
                    <a:p>
                      <a:pPr algn="ctr"/>
                      <a:r>
                        <a:rPr sz="1000" b="0">
                          <a:solidFill>
                            <a:srgbClr val="1F1F1F"/>
                          </a:solidFill>
                          <a:latin typeface="KoPubWorld돋움체 Bold"/>
                        </a:rPr>
                        <a:t>제2종 IRR</a:t>
                      </a:r>
                    </a:p>
                  </a:txBody>
                  <a:tcPr marL="54864" marR="54864" marT="0" marB="0">
                    <a:solidFill>
                      <a:srgbClr val="DAE3F3"/>
                    </a:solidFill>
                  </a:tcPr>
                </a:tc>
                <a:tc>
                  <a:txBody>
                    <a:bodyPr/>
                    <a:lstStyle/>
                    <a:p>
                      <a:pPr algn="ctr"/>
                      <a:r>
                        <a:rPr sz="1000" b="0">
                          <a:solidFill>
                            <a:srgbClr val="1F1F1F"/>
                          </a:solidFill>
                          <a:latin typeface="KoPubWorld돋움체 Bold"/>
                        </a:rPr>
                        <a:t>비 고</a:t>
                      </a:r>
                    </a:p>
                  </a:txBody>
                  <a:tcPr marL="54864" marR="54864" marT="0" marB="0">
                    <a:solidFill>
                      <a:srgbClr val="DAE3F3"/>
                    </a:solidFill>
                  </a:tcPr>
                </a:tc>
              </a:tr>
              <a:tr h="347472">
                <a:tc>
                  <a:txBody>
                    <a:bodyPr/>
                    <a:lstStyle/>
                    <a:p>
                      <a:pPr algn="ctr"/>
                      <a:r>
                        <a:rPr sz="1000" b="0">
                          <a:solidFill>
                            <a:srgbClr val="1F1F1F"/>
                          </a:solidFill>
                          <a:latin typeface="KoPubWorld돋움체 Light"/>
                        </a:rPr>
                        <a:t>Base</a:t>
                      </a:r>
                    </a:p>
                  </a:txBody>
                  <a:tcPr marL="54864" marR="54864" marT="0" marB="0">
                    <a:solidFill>
                      <a:srgbClr val="FFFFFF"/>
                    </a:solidFill>
                  </a:tcPr>
                </a:tc>
                <a:tc>
                  <a:txBody>
                    <a:bodyPr/>
                    <a:lstStyle/>
                    <a:p>
                      <a:pPr algn="l"/>
                      <a:r>
                        <a:rPr sz="1000" b="0">
                          <a:solidFill>
                            <a:srgbClr val="1F1F1F"/>
                          </a:solidFill>
                          <a:latin typeface="KoPubWorld돋움체 Light"/>
                        </a:rPr>
                        <a:t>사업계획 가정</a:t>
                      </a:r>
                    </a:p>
                  </a:txBody>
                  <a:tcPr marL="54864" marR="54864" marT="0" marB="0">
                    <a:solidFill>
                      <a:srgbClr val="FFFFFF"/>
                    </a:solidFill>
                  </a:tcPr>
                </a:tc>
                <a:tc>
                  <a:txBody>
                    <a:bodyPr/>
                    <a:lstStyle/>
                    <a:p>
                      <a:pPr algn="l"/>
                      <a:r>
                        <a:rPr sz="1000" b="0">
                          <a:solidFill>
                            <a:srgbClr val="1F1F1F"/>
                          </a:solidFill>
                          <a:latin typeface="KoPubWorld돋움체 Light"/>
                        </a:rPr>
                        <a:t>16.44%</a:t>
                      </a:r>
                    </a:p>
                  </a:txBody>
                  <a:tcPr marL="54864" marR="54864" marT="0" marB="0">
                    <a:solidFill>
                      <a:srgbClr val="FFFFFF"/>
                    </a:solidFill>
                  </a:tcPr>
                </a:tc>
                <a:tc>
                  <a:txBody>
                    <a:bodyPr/>
                    <a:lstStyle/>
                    <a:p>
                      <a:pPr algn="l"/>
                      <a:r>
                        <a:rPr sz="1000" b="0">
                          <a:solidFill>
                            <a:srgbClr val="1F1F1F"/>
                          </a:solidFill>
                          <a:latin typeface="KoPubWorld돋움체 Light"/>
                        </a:rPr>
                        <a:t>9.24%</a:t>
                      </a:r>
                    </a:p>
                  </a:txBody>
                  <a:tcPr marL="54864" marR="54864" marT="0" marB="0">
                    <a:solidFill>
                      <a:srgbClr val="FFFFFF"/>
                    </a:solidFill>
                  </a:tcPr>
                </a:tc>
                <a:tc>
                  <a:txBody>
                    <a:bodyPr/>
                    <a:lstStyle/>
                    <a:p>
                      <a:pPr algn="l"/>
                      <a:r>
                        <a:rPr sz="1000" b="0">
                          <a:solidFill>
                            <a:srgbClr val="1F1F1F"/>
                          </a:solidFill>
                          <a:latin typeface="KoPubWorld돋움체 Light"/>
                        </a:rPr>
                        <a:t>Exit Cap 4.89%</a:t>
                      </a:r>
                    </a:p>
                  </a:txBody>
                  <a:tcPr marL="54864" marR="54864" marT="0" marB="0">
                    <a:solidFill>
                      <a:srgbClr val="FFFFFF"/>
                    </a:solidFill>
                  </a:tcPr>
                </a:tc>
              </a:tr>
              <a:tr h="347472">
                <a:tc>
                  <a:txBody>
                    <a:bodyPr/>
                    <a:lstStyle/>
                    <a:p>
                      <a:pPr algn="ctr"/>
                      <a:r>
                        <a:rPr sz="1000" b="0">
                          <a:solidFill>
                            <a:srgbClr val="1F1F1F"/>
                          </a:solidFill>
                          <a:latin typeface="KoPubWorld돋움체 Light"/>
                        </a:rPr>
                        <a:t>갱신 임대료</a:t>
                      </a:r>
                    </a:p>
                  </a:txBody>
                  <a:tcPr marL="54864" marR="54864" marT="0" marB="0">
                    <a:solidFill>
                      <a:srgbClr val="F2F2F2"/>
                    </a:solidFill>
                  </a:tcPr>
                </a:tc>
                <a:tc>
                  <a:txBody>
                    <a:bodyPr/>
                    <a:lstStyle/>
                    <a:p>
                      <a:pPr algn="l"/>
                      <a:r>
                        <a:rPr sz="1000" b="0">
                          <a:solidFill>
                            <a:srgbClr val="1F1F1F"/>
                          </a:solidFill>
                          <a:latin typeface="KoPubWorld돋움체 Light"/>
                        </a:rPr>
                        <a:t>−15%</a:t>
                      </a:r>
                    </a:p>
                  </a:txBody>
                  <a:tcPr marL="54864" marR="54864" marT="0" marB="0">
                    <a:solidFill>
                      <a:srgbClr val="F2F2F2"/>
                    </a:solidFill>
                  </a:tcPr>
                </a:tc>
                <a:tc>
                  <a:txBody>
                    <a:bodyPr/>
                    <a:lstStyle/>
                    <a:p>
                      <a:pPr algn="l"/>
                      <a:r>
                        <a:rPr sz="1000" b="0">
                          <a:solidFill>
                            <a:srgbClr val="1F1F1F"/>
                          </a:solidFill>
                          <a:latin typeface="KoPubWorld돋움체 Light"/>
                        </a:rPr>
                        <a:t>−0.17%p</a:t>
                      </a:r>
                    </a:p>
                  </a:txBody>
                  <a:tcPr marL="54864" marR="54864" marT="0" marB="0">
                    <a:solidFill>
                      <a:srgbClr val="F2F2F2"/>
                    </a:solidFill>
                  </a:tcPr>
                </a:tc>
                <a:tc>
                  <a:txBody>
                    <a:bodyPr/>
                    <a:lstStyle/>
                    <a:p>
                      <a:pPr algn="l"/>
                      <a:r>
                        <a:rPr sz="1000" b="0">
                          <a:solidFill>
                            <a:srgbClr val="1F1F1F"/>
                          </a:solidFill>
                          <a:latin typeface="KoPubWorld돋움체 Light"/>
                        </a:rPr>
                        <a:t>변동 없음</a:t>
                      </a:r>
                    </a:p>
                  </a:txBody>
                  <a:tcPr marL="54864" marR="54864" marT="0" marB="0">
                    <a:solidFill>
                      <a:srgbClr val="F2F2F2"/>
                    </a:solidFill>
                  </a:tcPr>
                </a:tc>
                <a:tc>
                  <a:txBody>
                    <a:bodyPr/>
                    <a:lstStyle/>
                    <a:p>
                      <a:pPr algn="l"/>
                      <a:r>
                        <a:rPr sz="1000" b="0">
                          <a:solidFill>
                            <a:srgbClr val="1F1F1F"/>
                          </a:solidFill>
                          <a:latin typeface="KoPubWorld돋움체 Light"/>
                        </a:rPr>
                        <a:t>재계약 조건 악화 가정</a:t>
                      </a:r>
                    </a:p>
                  </a:txBody>
                  <a:tcPr marL="54864" marR="54864" marT="0" marB="0">
                    <a:solidFill>
                      <a:srgbClr val="F2F2F2"/>
                    </a:solidFill>
                  </a:tcPr>
                </a:tc>
              </a:tr>
              <a:tr h="347472">
                <a:tc>
                  <a:txBody>
                    <a:bodyPr/>
                    <a:lstStyle/>
                    <a:p>
                      <a:pPr algn="ctr"/>
                      <a:r>
                        <a:rPr sz="1000" b="0">
                          <a:solidFill>
                            <a:srgbClr val="1F1F1F"/>
                          </a:solidFill>
                          <a:latin typeface="KoPubWorld돋움체 Light"/>
                        </a:rPr>
                        <a:t>공실률</a:t>
                      </a:r>
                    </a:p>
                  </a:txBody>
                  <a:tcPr marL="54864" marR="54864" marT="0" marB="0">
                    <a:solidFill>
                      <a:srgbClr val="FFFFFF"/>
                    </a:solidFill>
                  </a:tcPr>
                </a:tc>
                <a:tc>
                  <a:txBody>
                    <a:bodyPr/>
                    <a:lstStyle/>
                    <a:p>
                      <a:pPr algn="l"/>
                      <a:r>
                        <a:rPr sz="1000" b="0">
                          <a:solidFill>
                            <a:srgbClr val="1F1F1F"/>
                          </a:solidFill>
                          <a:latin typeface="KoPubWorld돋움체 Light"/>
                        </a:rPr>
                        <a:t>12% 발생</a:t>
                      </a:r>
                    </a:p>
                  </a:txBody>
                  <a:tcPr marL="54864" marR="54864" marT="0" marB="0">
                    <a:solidFill>
                      <a:srgbClr val="FFFFFF"/>
                    </a:solidFill>
                  </a:tcPr>
                </a:tc>
                <a:tc>
                  <a:txBody>
                    <a:bodyPr/>
                    <a:lstStyle/>
                    <a:p>
                      <a:pPr algn="l"/>
                      <a:r>
                        <a:rPr sz="1000" b="0">
                          <a:solidFill>
                            <a:srgbClr val="1F1F1F"/>
                          </a:solidFill>
                          <a:latin typeface="KoPubWorld돋움체 Light"/>
                        </a:rPr>
                        <a:t>−0.88%p</a:t>
                      </a:r>
                    </a:p>
                  </a:txBody>
                  <a:tcPr marL="54864" marR="54864" marT="0" marB="0">
                    <a:solidFill>
                      <a:srgbClr val="FFFFFF"/>
                    </a:solidFill>
                  </a:tcPr>
                </a:tc>
                <a:tc>
                  <a:txBody>
                    <a:bodyPr/>
                    <a:lstStyle/>
                    <a:p>
                      <a:pPr algn="l"/>
                      <a:r>
                        <a:rPr sz="1000" b="0">
                          <a:solidFill>
                            <a:srgbClr val="1F1F1F"/>
                          </a:solidFill>
                          <a:latin typeface="KoPubWorld돋움체 Light"/>
                        </a:rPr>
                        <a:t>6.77%</a:t>
                      </a:r>
                    </a:p>
                  </a:txBody>
                  <a:tcPr marL="54864" marR="54864" marT="0" marB="0">
                    <a:solidFill>
                      <a:srgbClr val="FFFFFF"/>
                    </a:solidFill>
                  </a:tcPr>
                </a:tc>
                <a:tc>
                  <a:txBody>
                    <a:bodyPr/>
                    <a:lstStyle/>
                    <a:p>
                      <a:pPr algn="l"/>
                      <a:r>
                        <a:rPr sz="1000" b="0">
                          <a:solidFill>
                            <a:srgbClr val="1F1F1F"/>
                          </a:solidFill>
                          <a:latin typeface="KoPubWorld돋움체 Light"/>
                        </a:rPr>
                        <a:t>장기 공실 가정</a:t>
                      </a:r>
                    </a:p>
                  </a:txBody>
                  <a:tcPr marL="54864" marR="54864" marT="0" marB="0">
                    <a:solidFill>
                      <a:srgbClr val="FFFFFF"/>
                    </a:solidFill>
                  </a:tcPr>
                </a:tc>
              </a:tr>
              <a:tr h="347472">
                <a:tc>
                  <a:txBody>
                    <a:bodyPr/>
                    <a:lstStyle/>
                    <a:p>
                      <a:pPr algn="ctr"/>
                      <a:r>
                        <a:rPr sz="1000" b="0">
                          <a:solidFill>
                            <a:srgbClr val="1F1F1F"/>
                          </a:solidFill>
                          <a:latin typeface="KoPubWorld돋움체 Light"/>
                        </a:rPr>
                        <a:t>대출금리</a:t>
                      </a:r>
                    </a:p>
                  </a:txBody>
                  <a:tcPr marL="54864" marR="54864" marT="0" marB="0">
                    <a:solidFill>
                      <a:srgbClr val="F2F2F2"/>
                    </a:solidFill>
                  </a:tcPr>
                </a:tc>
                <a:tc>
                  <a:txBody>
                    <a:bodyPr/>
                    <a:lstStyle/>
                    <a:p>
                      <a:pPr algn="l"/>
                      <a:r>
                        <a:rPr sz="1000" b="0">
                          <a:solidFill>
                            <a:srgbClr val="1F1F1F"/>
                          </a:solidFill>
                          <a:latin typeface="KoPubWorld돋움체 Light"/>
                        </a:rPr>
                        <a:t>Tr.A +100bp</a:t>
                      </a:r>
                    </a:p>
                  </a:txBody>
                  <a:tcPr marL="54864" marR="54864" marT="0" marB="0">
                    <a:solidFill>
                      <a:srgbClr val="F2F2F2"/>
                    </a:solidFill>
                  </a:tcPr>
                </a:tc>
                <a:tc>
                  <a:txBody>
                    <a:bodyPr/>
                    <a:lstStyle/>
                    <a:p>
                      <a:pPr algn="l"/>
                      <a:r>
                        <a:rPr sz="1000" b="0">
                          <a:solidFill>
                            <a:srgbClr val="1F1F1F"/>
                          </a:solidFill>
                          <a:latin typeface="KoPubWorld돋움체 Light"/>
                        </a:rPr>
                        <a:t>16.44% → 16.1%</a:t>
                      </a:r>
                    </a:p>
                  </a:txBody>
                  <a:tcPr marL="54864" marR="54864" marT="0" marB="0">
                    <a:solidFill>
                      <a:srgbClr val="F2F2F2"/>
                    </a:solidFill>
                  </a:tcPr>
                </a:tc>
                <a:tc>
                  <a:txBody>
                    <a:bodyPr/>
                    <a:lstStyle/>
                    <a:p>
                      <a:pPr algn="l"/>
                      <a:r>
                        <a:rPr sz="1000" b="0">
                          <a:solidFill>
                            <a:srgbClr val="1F1F1F"/>
                          </a:solidFill>
                          <a:latin typeface="KoPubWorld돋움체 Light"/>
                        </a:rPr>
                        <a:t>변동 없음</a:t>
                      </a:r>
                    </a:p>
                  </a:txBody>
                  <a:tcPr marL="54864" marR="54864" marT="0" marB="0">
                    <a:solidFill>
                      <a:srgbClr val="F2F2F2"/>
                    </a:solidFill>
                  </a:tcPr>
                </a:tc>
                <a:tc>
                  <a:txBody>
                    <a:bodyPr/>
                    <a:lstStyle/>
                    <a:p>
                      <a:pPr algn="l"/>
                      <a:r>
                        <a:rPr sz="1000" b="0">
                          <a:solidFill>
                            <a:srgbClr val="1F1F1F"/>
                          </a:solidFill>
                          <a:latin typeface="KoPubWorld돋움체 Light"/>
                        </a:rPr>
                        <a:t>제1·2종 확정배당 유지</a:t>
                      </a:r>
                    </a:p>
                  </a:txBody>
                  <a:tcPr marL="54864" marR="54864" marT="0" marB="0">
                    <a:solidFill>
                      <a:srgbClr val="F2F2F2"/>
                    </a:solidFill>
                  </a:tcPr>
                </a:tc>
              </a:tr>
              <a:tr h="347472">
                <a:tc>
                  <a:txBody>
                    <a:bodyPr/>
                    <a:lstStyle/>
                    <a:p>
                      <a:pPr algn="ctr"/>
                      <a:r>
                        <a:rPr sz="1000" b="0">
                          <a:solidFill>
                            <a:srgbClr val="1F1F1F"/>
                          </a:solidFill>
                          <a:latin typeface="KoPubWorld돋움체 Light"/>
                        </a:rPr>
                        <a:t>임대료 상승</a:t>
                      </a:r>
                    </a:p>
                  </a:txBody>
                  <a:tcPr marL="54864" marR="54864" marT="0" marB="0">
                    <a:solidFill>
                      <a:srgbClr val="FFFFFF"/>
                    </a:solidFill>
                  </a:tcPr>
                </a:tc>
                <a:tc>
                  <a:txBody>
                    <a:bodyPr/>
                    <a:lstStyle/>
                    <a:p>
                      <a:pPr algn="l"/>
                      <a:r>
                        <a:rPr sz="1000" b="0">
                          <a:solidFill>
                            <a:srgbClr val="1F1F1F"/>
                          </a:solidFill>
                          <a:latin typeface="KoPubWorld돋움체 Light"/>
                        </a:rPr>
                        <a:t>유사 Core 수준 62천원/평</a:t>
                      </a:r>
                    </a:p>
                  </a:txBody>
                  <a:tcPr marL="54864" marR="54864" marT="0" marB="0">
                    <a:solidFill>
                      <a:srgbClr val="FFFFFF"/>
                    </a:solidFill>
                  </a:tcPr>
                </a:tc>
                <a:tc>
                  <a:txBody>
                    <a:bodyPr/>
                    <a:lstStyle/>
                    <a:p>
                      <a:pPr algn="l"/>
                      <a:r>
                        <a:rPr sz="1000" b="0">
                          <a:solidFill>
                            <a:srgbClr val="1F1F1F"/>
                          </a:solidFill>
                          <a:latin typeface="KoPubWorld돋움체 Light"/>
                        </a:rPr>
                        <a:t>19.3%</a:t>
                      </a:r>
                    </a:p>
                  </a:txBody>
                  <a:tcPr marL="54864" marR="54864" marT="0" marB="0">
                    <a:solidFill>
                      <a:srgbClr val="FFFFFF"/>
                    </a:solidFill>
                  </a:tcPr>
                </a:tc>
                <a:tc>
                  <a:txBody>
                    <a:bodyPr/>
                    <a:lstStyle/>
                    <a:p>
                      <a:pPr algn="l"/>
                      <a:r>
                        <a:rPr sz="1000" b="0">
                          <a:solidFill>
                            <a:srgbClr val="1F1F1F"/>
                          </a:solidFill>
                          <a:latin typeface="KoPubWorld돋움체 Light"/>
                        </a:rPr>
                        <a:t>—</a:t>
                      </a:r>
                    </a:p>
                  </a:txBody>
                  <a:tcPr marL="54864" marR="54864" marT="0" marB="0">
                    <a:solidFill>
                      <a:srgbClr val="FFFFFF"/>
                    </a:solidFill>
                  </a:tcPr>
                </a:tc>
                <a:tc>
                  <a:txBody>
                    <a:bodyPr/>
                    <a:lstStyle/>
                    <a:p>
                      <a:pPr algn="l"/>
                      <a:r>
                        <a:rPr sz="1000" b="0">
                          <a:solidFill>
                            <a:srgbClr val="1F1F1F"/>
                          </a:solidFill>
                          <a:latin typeface="KoPubWorld돋움체 Light"/>
                        </a:rPr>
                        <a:t>전체 Equity IRR 11.5%</a:t>
                      </a:r>
                    </a:p>
                  </a:txBody>
                  <a:tcPr marL="54864" marR="54864" marT="0" marB="0">
                    <a:solidFill>
                      <a:srgbClr val="FFFFFF"/>
                    </a:solidFill>
                  </a:tcPr>
                </a:tc>
              </a:tr>
            </a:tbl>
          </a:graphicData>
        </a:graphic>
      </p:graphicFrame>
      <p:sp>
        <p:nvSpPr>
          <p:cNvPr id="6" name="Rectangle 5"/>
          <p:cNvSpPr/>
          <p:nvPr/>
        </p:nvSpPr>
        <p:spPr>
          <a:xfrm>
            <a:off x="457200" y="4572000"/>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검토 의견</a:t>
            </a:r>
          </a:p>
        </p:txBody>
      </p:sp>
      <p:sp>
        <p:nvSpPr>
          <p:cNvPr id="7" name="TextBox 6"/>
          <p:cNvSpPr txBox="1"/>
          <p:nvPr/>
        </p:nvSpPr>
        <p:spPr>
          <a:xfrm>
            <a:off x="521207" y="4946904"/>
            <a:ext cx="9784080" cy="822959"/>
          </a:xfrm>
          <a:prstGeom prst="rect">
            <a:avLst/>
          </a:prstGeom>
          <a:noFill/>
        </p:spPr>
        <p:txBody>
          <a:bodyPr wrap="square" lIns="0" rIns="0" tIns="0" bIns="0">
            <a:spAutoFit/>
          </a:bodyPr>
          <a:lstStyle/>
          <a:p>
            <a:pPr>
              <a:spcAft>
                <a:spcPts val="600"/>
              </a:spcAft>
            </a:pPr>
            <a:r>
              <a:rPr sz="900" b="0">
                <a:solidFill>
                  <a:srgbClr val="1F1F1F"/>
                </a:solidFill>
                <a:latin typeface="KoPubWorld돋움체 Light"/>
              </a:rPr>
              <a:t>• 확정배당 구조상 제1·2종 종류주식은 대부분의 시나리오에서 배당 수준이 유지되며, 변동은 보통주에 집중됨</a:t>
            </a:r>
          </a:p>
          <a:p>
            <a:pPr>
              <a:spcAft>
                <a:spcPts val="600"/>
              </a:spcAft>
            </a:pPr>
            <a:r>
              <a:rPr sz="900" b="0">
                <a:solidFill>
                  <a:srgbClr val="1F1F1F"/>
                </a:solidFill>
                <a:latin typeface="KoPubWorld돋움체 Light"/>
              </a:rPr>
              <a:t>• 가장 민감한 변수는 공실률이며, 쿠팡 단일 임차인 비중(77.2%)이 공실 리스크를 좌우함</a:t>
            </a:r>
          </a:p>
          <a:p>
            <a:pPr>
              <a:spcAft>
                <a:spcPts val="600"/>
              </a:spcAft>
            </a:pPr>
            <a:r>
              <a:rPr sz="900" b="0">
                <a:solidFill>
                  <a:srgbClr val="1F1F1F"/>
                </a:solidFill>
                <a:latin typeface="KoPubWorld돋움체 Light"/>
              </a:rPr>
              <a:t>• Exit Cap Rate를 매입 Cap(4.89%)과 동일하게 가정한 점은 시장조사 가정(5.20%) 대비 낙관적이므로 별도 확인 필요</a:t>
            </a:r>
          </a:p>
        </p:txBody>
      </p:sp>
      <p:sp>
        <p:nvSpPr>
          <p:cNvPr id="8" name="TextBox 7"/>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IM v01(2026.09) p.23 민감도분석 / 재무모델 v01(2026-09-15) / 시장조사보고서(2026-08-10) 투자적정성 의견. 민감도 수치는 사업계획 가정 기준의 예상치임.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74904" y="2011680"/>
            <a:ext cx="5486400" cy="548640"/>
          </a:xfrm>
          <a:prstGeom prst="rect">
            <a:avLst/>
          </a:prstGeom>
          <a:noFill/>
        </p:spPr>
        <p:txBody>
          <a:bodyPr wrap="square" lIns="0" rIns="0" tIns="0" bIns="0">
            <a:spAutoFit/>
          </a:bodyPr>
          <a:lstStyle/>
          <a:p>
            <a:r>
              <a:rPr sz="2000" b="0">
                <a:solidFill>
                  <a:srgbClr val="012353"/>
                </a:solidFill>
                <a:latin typeface="KoPubWorld돋움체 Bold"/>
              </a:rPr>
              <a:t>Ⅲ. 운영 및 Exit Plan</a:t>
            </a:r>
          </a:p>
        </p:txBody>
      </p:sp>
      <p:sp>
        <p:nvSpPr>
          <p:cNvPr id="3" name="TextBox 2"/>
          <p:cNvSpPr txBox="1"/>
          <p:nvPr/>
        </p:nvSpPr>
        <p:spPr>
          <a:xfrm>
            <a:off x="374904" y="2834640"/>
            <a:ext cx="5943600" cy="1755648"/>
          </a:xfrm>
          <a:prstGeom prst="rect">
            <a:avLst/>
          </a:prstGeom>
          <a:noFill/>
        </p:spPr>
        <p:txBody>
          <a:bodyPr wrap="square" lIns="0" rIns="0" tIns="0" bIns="0">
            <a:spAutoFit/>
          </a:bodyPr>
          <a:lstStyle/>
          <a:p>
            <a:pPr>
              <a:spcAft>
                <a:spcPts val="600"/>
              </a:spcAft>
            </a:pPr>
            <a:r>
              <a:rPr sz="1100" b="0">
                <a:solidFill>
                  <a:srgbClr val="404040"/>
                </a:solidFill>
                <a:latin typeface="KoPubWorld돋움체 Light"/>
              </a:rPr>
              <a:t>Investment Highlights</a:t>
            </a:r>
          </a:p>
          <a:p>
            <a:pPr>
              <a:spcAft>
                <a:spcPts val="600"/>
              </a:spcAft>
            </a:pPr>
            <a:r>
              <a:rPr sz="1100" b="0">
                <a:solidFill>
                  <a:srgbClr val="404040"/>
                </a:solidFill>
                <a:latin typeface="KoPubWorld돋움체 Light"/>
              </a:rPr>
              <a:t>Ⅰ. 사업개요</a:t>
            </a:r>
          </a:p>
          <a:p>
            <a:pPr>
              <a:spcAft>
                <a:spcPts val="600"/>
              </a:spcAft>
            </a:pPr>
            <a:r>
              <a:rPr sz="1100" b="0">
                <a:solidFill>
                  <a:srgbClr val="404040"/>
                </a:solidFill>
                <a:latin typeface="KoPubWorld돋움체 Light"/>
              </a:rPr>
              <a:t>Ⅱ. 투자계획</a:t>
            </a:r>
          </a:p>
          <a:p>
            <a:pPr>
              <a:spcAft>
                <a:spcPts val="600"/>
              </a:spcAft>
            </a:pPr>
            <a:r>
              <a:rPr sz="1200" b="0">
                <a:solidFill>
                  <a:srgbClr val="012353"/>
                </a:solidFill>
                <a:latin typeface="KoPubWorld돋움체 Bold"/>
              </a:rPr>
              <a:t>Ⅲ. 운영 및 Exit Plan</a:t>
            </a:r>
          </a:p>
          <a:p>
            <a:pPr>
              <a:spcAft>
                <a:spcPts val="600"/>
              </a:spcAft>
            </a:pPr>
            <a:r>
              <a:rPr sz="1100" b="0">
                <a:solidFill>
                  <a:srgbClr val="404040"/>
                </a:solidFill>
                <a:latin typeface="KoPubWorld돋움체 Light"/>
              </a:rPr>
              <a:t>Ⅳ. 리스크 요인분석 및 관리방안</a:t>
            </a:r>
          </a:p>
          <a:p>
            <a:pPr>
              <a:spcAft>
                <a:spcPts val="600"/>
              </a:spcAft>
            </a:pPr>
            <a:r>
              <a:rPr sz="1100" b="0">
                <a:solidFill>
                  <a:srgbClr val="404040"/>
                </a:solidFill>
                <a:latin typeface="KoPubWorld돋움체 Light"/>
              </a:rPr>
              <a:t>Appendix.</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1. 운영 및 Exit 계획</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현 임대료가 권역 하단에 위치하여 재계약 시 임대료 상승을 통한 수익성 개선을 추진함</a:t>
            </a:r>
          </a:p>
          <a:p>
            <a:r>
              <a:rPr sz="1200" b="0">
                <a:solidFill>
                  <a:srgbClr val="404040"/>
                </a:solidFill>
                <a:latin typeface="KoPubWorld돋움체 Light"/>
              </a:rPr>
              <a:t>• 운용 종료 시점 매각을 원칙으로 하되, KLI리츠 자리츠 편입 구조를 통해 회수 경로를 확보</a:t>
            </a:r>
          </a:p>
        </p:txBody>
      </p:sp>
      <p:sp>
        <p:nvSpPr>
          <p:cNvPr id="4" name="Rectangle 3"/>
          <p:cNvSpPr/>
          <p:nvPr/>
        </p:nvSpPr>
        <p:spPr>
          <a:xfrm>
            <a:off x="457200" y="1984248"/>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운영 계획</a:t>
            </a:r>
          </a:p>
        </p:txBody>
      </p:sp>
      <p:graphicFrame>
        <p:nvGraphicFramePr>
          <p:cNvPr id="5" name="Table 4"/>
          <p:cNvGraphicFramePr>
            <a:graphicFrameLocks noGrp="1"/>
          </p:cNvGraphicFramePr>
          <p:nvPr/>
        </p:nvGraphicFramePr>
        <p:xfrm>
          <a:off x="521207" y="2359152"/>
          <a:ext cx="9784080" cy="2523744"/>
        </p:xfrm>
        <a:graphic>
          <a:graphicData uri="http://schemas.openxmlformats.org/drawingml/2006/table">
            <a:tbl>
              <a:tblPr firstRow="1" bandRow="1">
                <a:tableStyleId>{5C22544A-7EE6-4342-B048-85BDC9FD1C3A}</a:tableStyleId>
              </a:tblPr>
              <a:tblGrid>
                <a:gridCol w="2011680"/>
                <a:gridCol w="7772400"/>
              </a:tblGrid>
              <a:tr h="420624">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내 용</a:t>
                      </a:r>
                    </a:p>
                  </a:txBody>
                  <a:tcPr marL="54864" marR="54864" marT="0" marB="0">
                    <a:solidFill>
                      <a:srgbClr val="DAE3F3"/>
                    </a:solidFill>
                  </a:tcPr>
                </a:tc>
              </a:tr>
              <a:tr h="420624">
                <a:tc>
                  <a:txBody>
                    <a:bodyPr/>
                    <a:lstStyle/>
                    <a:p>
                      <a:pPr algn="ctr"/>
                      <a:r>
                        <a:rPr sz="1000" b="0">
                          <a:solidFill>
                            <a:srgbClr val="1F1F1F"/>
                          </a:solidFill>
                          <a:latin typeface="KoPubWorld돋움체 Light"/>
                        </a:rPr>
                        <a:t>임대차 관리</a:t>
                      </a:r>
                    </a:p>
                  </a:txBody>
                  <a:tcPr marL="54864" marR="54864" marT="0" marB="0">
                    <a:solidFill>
                      <a:srgbClr val="FFFFFF"/>
                    </a:solidFill>
                  </a:tcPr>
                </a:tc>
                <a:tc>
                  <a:txBody>
                    <a:bodyPr/>
                    <a:lstStyle/>
                    <a:p>
                      <a:pPr algn="l"/>
                      <a:r>
                        <a:rPr sz="1000" b="0">
                          <a:solidFill>
                            <a:srgbClr val="1F1F1F"/>
                          </a:solidFill>
                          <a:latin typeface="KoPubWorld돋움체 Light"/>
                        </a:rPr>
                        <a:t>2029~2030년 만기 도래 임차인(농심·키즈밀·용마로지스) 재계약 시 권역 시장임대료 수준 반영 추진</a:t>
                      </a:r>
                    </a:p>
                  </a:txBody>
                  <a:tcPr marL="54864" marR="54864" marT="0" marB="0">
                    <a:solidFill>
                      <a:srgbClr val="FFFFFF"/>
                    </a:solidFill>
                  </a:tcPr>
                </a:tc>
              </a:tr>
              <a:tr h="420624">
                <a:tc>
                  <a:txBody>
                    <a:bodyPr/>
                    <a:lstStyle/>
                    <a:p>
                      <a:pPr algn="ctr"/>
                      <a:r>
                        <a:rPr sz="1000" b="0">
                          <a:solidFill>
                            <a:srgbClr val="1F1F1F"/>
                          </a:solidFill>
                          <a:latin typeface="KoPubWorld돋움체 Light"/>
                        </a:rPr>
                        <a:t>쿠팡 대응</a:t>
                      </a:r>
                    </a:p>
                  </a:txBody>
                  <a:tcPr marL="54864" marR="54864" marT="0" marB="0">
                    <a:solidFill>
                      <a:srgbClr val="F2F2F2"/>
                    </a:solidFill>
                  </a:tcPr>
                </a:tc>
                <a:tc>
                  <a:txBody>
                    <a:bodyPr/>
                    <a:lstStyle/>
                    <a:p>
                      <a:pPr algn="l"/>
                      <a:r>
                        <a:rPr sz="1000" b="0">
                          <a:solidFill>
                            <a:srgbClr val="1F1F1F"/>
                          </a:solidFill>
                          <a:latin typeface="KoPubWorld돋움체 Light"/>
                        </a:rPr>
                        <a:t>2028-10 통지 시한 이전 연장 협상 개시, 연장 시 Rent-Free 5개월 적용에 따른 현금흐름 사전 관리</a:t>
                      </a:r>
                    </a:p>
                  </a:txBody>
                  <a:tcPr marL="54864" marR="54864" marT="0" marB="0">
                    <a:solidFill>
                      <a:srgbClr val="F2F2F2"/>
                    </a:solidFill>
                  </a:tcPr>
                </a:tc>
              </a:tr>
              <a:tr h="420624">
                <a:tc>
                  <a:txBody>
                    <a:bodyPr/>
                    <a:lstStyle/>
                    <a:p>
                      <a:pPr algn="ctr"/>
                      <a:r>
                        <a:rPr sz="1000" b="0">
                          <a:solidFill>
                            <a:srgbClr val="1F1F1F"/>
                          </a:solidFill>
                          <a:latin typeface="KoPubWorld돋움체 Light"/>
                        </a:rPr>
                        <a:t>비용 관리</a:t>
                      </a:r>
                    </a:p>
                  </a:txBody>
                  <a:tcPr marL="54864" marR="54864" marT="0" marB="0">
                    <a:solidFill>
                      <a:srgbClr val="FFFFFF"/>
                    </a:solidFill>
                  </a:tcPr>
                </a:tc>
                <a:tc>
                  <a:txBody>
                    <a:bodyPr/>
                    <a:lstStyle/>
                    <a:p>
                      <a:pPr algn="l"/>
                      <a:r>
                        <a:rPr sz="1000" b="0">
                          <a:solidFill>
                            <a:srgbClr val="1F1F1F"/>
                          </a:solidFill>
                          <a:latin typeface="KoPubWorld돋움체 Light"/>
                        </a:rPr>
                        <a:t>PM·FM 수수료 절감 및 운영 효율화 추진, 수도광열비는 임차인 부담</a:t>
                      </a:r>
                    </a:p>
                  </a:txBody>
                  <a:tcPr marL="54864" marR="54864" marT="0" marB="0">
                    <a:solidFill>
                      <a:srgbClr val="FFFFFF"/>
                    </a:solidFill>
                  </a:tcPr>
                </a:tc>
              </a:tr>
              <a:tr h="420624">
                <a:tc>
                  <a:txBody>
                    <a:bodyPr/>
                    <a:lstStyle/>
                    <a:p>
                      <a:pPr algn="ctr"/>
                      <a:r>
                        <a:rPr sz="1000" b="0">
                          <a:solidFill>
                            <a:srgbClr val="1F1F1F"/>
                          </a:solidFill>
                          <a:latin typeface="KoPubWorld돋움체 Light"/>
                        </a:rPr>
                        <a:t>자본적 지출</a:t>
                      </a:r>
                    </a:p>
                  </a:txBody>
                  <a:tcPr marL="54864" marR="54864" marT="0" marB="0">
                    <a:solidFill>
                      <a:srgbClr val="F2F2F2"/>
                    </a:solidFill>
                  </a:tcPr>
                </a:tc>
                <a:tc>
                  <a:txBody>
                    <a:bodyPr/>
                    <a:lstStyle/>
                    <a:p>
                      <a:pPr algn="l"/>
                      <a:r>
                        <a:rPr sz="1000" b="0">
                          <a:solidFill>
                            <a:srgbClr val="1F1F1F"/>
                          </a:solidFill>
                          <a:latin typeface="KoPubWorld돋움체 Light"/>
                        </a:rPr>
                        <a:t>물리실사 결과 향후 5년 수익적 지출 1,262백만원 수준으로 대규모 CAPEX 소요는 제한적</a:t>
                      </a:r>
                    </a:p>
                  </a:txBody>
                  <a:tcPr marL="54864" marR="54864" marT="0" marB="0">
                    <a:solidFill>
                      <a:srgbClr val="F2F2F2"/>
                    </a:solidFill>
                  </a:tcPr>
                </a:tc>
              </a:tr>
              <a:tr h="420624">
                <a:tc>
                  <a:txBody>
                    <a:bodyPr/>
                    <a:lstStyle/>
                    <a:p>
                      <a:pPr algn="ctr"/>
                      <a:r>
                        <a:rPr sz="1000" b="0">
                          <a:solidFill>
                            <a:srgbClr val="1F1F1F"/>
                          </a:solidFill>
                          <a:latin typeface="KoPubWorld돋움체 Light"/>
                        </a:rPr>
                        <a:t>자금 구조</a:t>
                      </a:r>
                    </a:p>
                  </a:txBody>
                  <a:tcPr marL="54864" marR="54864" marT="0" marB="0">
                    <a:solidFill>
                      <a:srgbClr val="FFFFFF"/>
                    </a:solidFill>
                  </a:tcPr>
                </a:tc>
                <a:tc>
                  <a:txBody>
                    <a:bodyPr/>
                    <a:lstStyle/>
                    <a:p>
                      <a:pPr algn="l"/>
                      <a:r>
                        <a:rPr sz="1000" b="0">
                          <a:solidFill>
                            <a:srgbClr val="1F1F1F"/>
                          </a:solidFill>
                          <a:latin typeface="KoPubWorld돋움체 Light"/>
                        </a:rPr>
                        <a:t>24개월 시점 리파이낸싱으로 제3종 감자대금·중순위 상환 재원 확보</a:t>
                      </a:r>
                    </a:p>
                  </a:txBody>
                  <a:tcPr marL="54864" marR="54864" marT="0" marB="0">
                    <a:solidFill>
                      <a:srgbClr val="FFFFFF"/>
                    </a:solidFill>
                  </a:tcPr>
                </a:tc>
              </a:tr>
            </a:tbl>
          </a:graphicData>
        </a:graphic>
      </p:graphicFrame>
      <p:sp>
        <p:nvSpPr>
          <p:cNvPr id="6" name="Rectangle 5"/>
          <p:cNvSpPr/>
          <p:nvPr/>
        </p:nvSpPr>
        <p:spPr>
          <a:xfrm>
            <a:off x="457200" y="4992624"/>
            <a:ext cx="9784080" cy="246888"/>
          </a:xfrm>
          <a:prstGeom prst="rect">
            <a:avLst/>
          </a:prstGeom>
          <a:solidFill>
            <a:srgbClr val="345B8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ctr"/>
            <a:r>
              <a:rPr sz="1000" b="0">
                <a:solidFill>
                  <a:srgbClr val="FFFFFF"/>
                </a:solidFill>
                <a:latin typeface="KoPubWorld돋움체 Bold"/>
              </a:rPr>
              <a:t>Exit 계획</a:t>
            </a:r>
          </a:p>
        </p:txBody>
      </p:sp>
      <p:graphicFrame>
        <p:nvGraphicFramePr>
          <p:cNvPr id="7" name="Table 6"/>
          <p:cNvGraphicFramePr>
            <a:graphicFrameLocks noGrp="1"/>
          </p:cNvGraphicFramePr>
          <p:nvPr/>
        </p:nvGraphicFramePr>
        <p:xfrm>
          <a:off x="521207" y="5367528"/>
          <a:ext cx="9784080" cy="1243584"/>
        </p:xfrm>
        <a:graphic>
          <a:graphicData uri="http://schemas.openxmlformats.org/drawingml/2006/table">
            <a:tbl>
              <a:tblPr firstRow="1" bandRow="1">
                <a:tableStyleId>{5C22544A-7EE6-4342-B048-85BDC9FD1C3A}</a:tableStyleId>
              </a:tblPr>
              <a:tblGrid>
                <a:gridCol w="2011680"/>
                <a:gridCol w="7772400"/>
              </a:tblGrid>
              <a:tr h="310896">
                <a:tc>
                  <a:txBody>
                    <a:bodyPr/>
                    <a:lstStyle/>
                    <a:p>
                      <a:pPr algn="ctr"/>
                      <a:r>
                        <a:rPr sz="1000" b="0">
                          <a:solidFill>
                            <a:srgbClr val="1F1F1F"/>
                          </a:solidFill>
                          <a:latin typeface="KoPubWorld돋움체 Bold"/>
                        </a:rPr>
                        <a:t>구 분</a:t>
                      </a:r>
                    </a:p>
                  </a:txBody>
                  <a:tcPr marL="54864" marR="54864" marT="0" marB="0">
                    <a:solidFill>
                      <a:srgbClr val="DAE3F3"/>
                    </a:solidFill>
                  </a:tcPr>
                </a:tc>
                <a:tc>
                  <a:txBody>
                    <a:bodyPr/>
                    <a:lstStyle/>
                    <a:p>
                      <a:pPr algn="ctr"/>
                      <a:r>
                        <a:rPr sz="1000" b="0">
                          <a:solidFill>
                            <a:srgbClr val="1F1F1F"/>
                          </a:solidFill>
                          <a:latin typeface="KoPubWorld돋움체 Bold"/>
                        </a:rPr>
                        <a:t>내 용</a:t>
                      </a:r>
                    </a:p>
                  </a:txBody>
                  <a:tcPr marL="54864" marR="54864" marT="0" marB="0">
                    <a:solidFill>
                      <a:srgbClr val="DAE3F3"/>
                    </a:solidFill>
                  </a:tcPr>
                </a:tc>
              </a:tr>
              <a:tr h="310896">
                <a:tc>
                  <a:txBody>
                    <a:bodyPr/>
                    <a:lstStyle/>
                    <a:p>
                      <a:pPr algn="ctr"/>
                      <a:r>
                        <a:rPr sz="1000" b="0">
                          <a:solidFill>
                            <a:srgbClr val="1F1F1F"/>
                          </a:solidFill>
                          <a:latin typeface="KoPubWorld돋움체 Light"/>
                        </a:rPr>
                        <a:t>Exit 시점</a:t>
                      </a:r>
                    </a:p>
                  </a:txBody>
                  <a:tcPr marL="54864" marR="54864" marT="0" marB="0">
                    <a:solidFill>
                      <a:srgbClr val="FFFFFF"/>
                    </a:solidFill>
                  </a:tcPr>
                </a:tc>
                <a:tc>
                  <a:txBody>
                    <a:bodyPr/>
                    <a:lstStyle/>
                    <a:p>
                      <a:pPr algn="l"/>
                      <a:r>
                        <a:rPr sz="1000" b="0">
                          <a:solidFill>
                            <a:srgbClr val="1F1F1F"/>
                          </a:solidFill>
                          <a:latin typeface="KoPubWorld돋움체 Light"/>
                        </a:rPr>
                        <a:t>운용기간 종료 시점(2036-10) 매각 가정</a:t>
                      </a:r>
                    </a:p>
                  </a:txBody>
                  <a:tcPr marL="54864" marR="54864" marT="0" marB="0">
                    <a:solidFill>
                      <a:srgbClr val="FFFFFF"/>
                    </a:solidFill>
                  </a:tcPr>
                </a:tc>
              </a:tr>
              <a:tr h="310896">
                <a:tc>
                  <a:txBody>
                    <a:bodyPr/>
                    <a:lstStyle/>
                    <a:p>
                      <a:pPr algn="ctr"/>
                      <a:r>
                        <a:rPr sz="1000" b="0">
                          <a:solidFill>
                            <a:srgbClr val="1F1F1F"/>
                          </a:solidFill>
                          <a:latin typeface="KoPubWorld돋움체 Light"/>
                        </a:rPr>
                        <a:t>Exit 가정</a:t>
                      </a:r>
                    </a:p>
                  </a:txBody>
                  <a:tcPr marL="54864" marR="54864" marT="0" marB="0">
                    <a:solidFill>
                      <a:srgbClr val="F2F2F2"/>
                    </a:solidFill>
                  </a:tcPr>
                </a:tc>
                <a:tc>
                  <a:txBody>
                    <a:bodyPr/>
                    <a:lstStyle/>
                    <a:p>
                      <a:pPr algn="l"/>
                      <a:r>
                        <a:rPr sz="1000" b="0">
                          <a:solidFill>
                            <a:srgbClr val="1F1F1F"/>
                          </a:solidFill>
                          <a:latin typeface="KoPubWorld돋움체 Light"/>
                        </a:rPr>
                        <a:t>Exit Cap Rate 4.89%(매입 Cap과 동일), 매각가치 375,861백만원</a:t>
                      </a:r>
                    </a:p>
                  </a:txBody>
                  <a:tcPr marL="54864" marR="54864" marT="0" marB="0">
                    <a:solidFill>
                      <a:srgbClr val="F2F2F2"/>
                    </a:solidFill>
                  </a:tcPr>
                </a:tc>
              </a:tr>
              <a:tr h="310896">
                <a:tc>
                  <a:txBody>
                    <a:bodyPr/>
                    <a:lstStyle/>
                    <a:p>
                      <a:pPr algn="ctr"/>
                      <a:r>
                        <a:rPr sz="1000" b="0">
                          <a:solidFill>
                            <a:srgbClr val="1F1F1F"/>
                          </a:solidFill>
                          <a:latin typeface="KoPubWorld돋움체 Light"/>
                        </a:rPr>
                        <a:t>회수 순서</a:t>
                      </a:r>
                    </a:p>
                  </a:txBody>
                  <a:tcPr marL="54864" marR="54864" marT="0" marB="0">
                    <a:solidFill>
                      <a:srgbClr val="FFFFFF"/>
                    </a:solidFill>
                  </a:tcPr>
                </a:tc>
                <a:tc>
                  <a:txBody>
                    <a:bodyPr/>
                    <a:lstStyle/>
                    <a:p>
                      <a:pPr algn="l"/>
                      <a:r>
                        <a:rPr sz="1000" b="0">
                          <a:solidFill>
                            <a:srgbClr val="1F1F1F"/>
                          </a:solidFill>
                          <a:latin typeface="KoPubWorld돋움체 Light"/>
                        </a:rPr>
                        <a:t>제1·2종 종류주식은 KLI리츠 매입으로 조기 회수, 보통주는 매각차익의 80% 배분 후 청산</a:t>
                      </a:r>
                    </a:p>
                  </a:txBody>
                  <a:tcPr marL="54864" marR="54864" marT="0" marB="0">
                    <a:solidFill>
                      <a:srgbClr val="FFFFFF"/>
                    </a:solidFill>
                  </a:tcPr>
                </a:tc>
              </a:tr>
            </a:tbl>
          </a:graphicData>
        </a:graphic>
      </p:graphicFrame>
      <p:sp>
        <p:nvSpPr>
          <p:cNvPr id="8" name="TextBox 7"/>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00_원본자료/processed/20260916_핵심지표_IM기준_v01.md §2, §6 / IM v01(2026.09) p.17~19 / 물리실사보고서(CBRE, 2026-08-31) / 주주간계약서 v22 제3~4조. 임대료 상승 및 매각가치는 예상치이며 확정된 것이 아님.</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74904" y="2011680"/>
            <a:ext cx="5486400" cy="548640"/>
          </a:xfrm>
          <a:prstGeom prst="rect">
            <a:avLst/>
          </a:prstGeom>
          <a:noFill/>
        </p:spPr>
        <p:txBody>
          <a:bodyPr wrap="square" lIns="0" rIns="0" tIns="0" bIns="0">
            <a:spAutoFit/>
          </a:bodyPr>
          <a:lstStyle/>
          <a:p>
            <a:r>
              <a:rPr sz="2000" b="0">
                <a:solidFill>
                  <a:srgbClr val="012353"/>
                </a:solidFill>
                <a:latin typeface="KoPubWorld돋움체 Bold"/>
              </a:rPr>
              <a:t>Ⅳ. 리스크 요인분석 및 관리방안</a:t>
            </a:r>
          </a:p>
        </p:txBody>
      </p:sp>
      <p:sp>
        <p:nvSpPr>
          <p:cNvPr id="3" name="TextBox 2"/>
          <p:cNvSpPr txBox="1"/>
          <p:nvPr/>
        </p:nvSpPr>
        <p:spPr>
          <a:xfrm>
            <a:off x="374904" y="2834640"/>
            <a:ext cx="5943600" cy="1755648"/>
          </a:xfrm>
          <a:prstGeom prst="rect">
            <a:avLst/>
          </a:prstGeom>
          <a:noFill/>
        </p:spPr>
        <p:txBody>
          <a:bodyPr wrap="square" lIns="0" rIns="0" tIns="0" bIns="0">
            <a:spAutoFit/>
          </a:bodyPr>
          <a:lstStyle/>
          <a:p>
            <a:pPr>
              <a:spcAft>
                <a:spcPts val="600"/>
              </a:spcAft>
            </a:pPr>
            <a:r>
              <a:rPr sz="1100" b="0">
                <a:solidFill>
                  <a:srgbClr val="404040"/>
                </a:solidFill>
                <a:latin typeface="KoPubWorld돋움체 Light"/>
              </a:rPr>
              <a:t>Investment Highlights</a:t>
            </a:r>
          </a:p>
          <a:p>
            <a:pPr>
              <a:spcAft>
                <a:spcPts val="600"/>
              </a:spcAft>
            </a:pPr>
            <a:r>
              <a:rPr sz="1100" b="0">
                <a:solidFill>
                  <a:srgbClr val="404040"/>
                </a:solidFill>
                <a:latin typeface="KoPubWorld돋움체 Light"/>
              </a:rPr>
              <a:t>Ⅰ. 사업개요</a:t>
            </a:r>
          </a:p>
          <a:p>
            <a:pPr>
              <a:spcAft>
                <a:spcPts val="600"/>
              </a:spcAft>
            </a:pPr>
            <a:r>
              <a:rPr sz="1100" b="0">
                <a:solidFill>
                  <a:srgbClr val="404040"/>
                </a:solidFill>
                <a:latin typeface="KoPubWorld돋움체 Light"/>
              </a:rPr>
              <a:t>Ⅱ. 투자계획</a:t>
            </a:r>
          </a:p>
          <a:p>
            <a:pPr>
              <a:spcAft>
                <a:spcPts val="600"/>
              </a:spcAft>
            </a:pPr>
            <a:r>
              <a:rPr sz="1100" b="0">
                <a:solidFill>
                  <a:srgbClr val="404040"/>
                </a:solidFill>
                <a:latin typeface="KoPubWorld돋움체 Light"/>
              </a:rPr>
              <a:t>Ⅲ. 운영 및 Exit Plan</a:t>
            </a:r>
          </a:p>
          <a:p>
            <a:pPr>
              <a:spcAft>
                <a:spcPts val="600"/>
              </a:spcAft>
            </a:pPr>
            <a:r>
              <a:rPr sz="1200" b="0">
                <a:solidFill>
                  <a:srgbClr val="012353"/>
                </a:solidFill>
                <a:latin typeface="KoPubWorld돋움체 Bold"/>
              </a:rPr>
              <a:t>Ⅳ. 리스크 요인분석 및 관리방안</a:t>
            </a:r>
          </a:p>
          <a:p>
            <a:pPr>
              <a:spcAft>
                <a:spcPts val="600"/>
              </a:spcAft>
            </a:pPr>
            <a:r>
              <a:rPr sz="1100" b="0">
                <a:solidFill>
                  <a:srgbClr val="404040"/>
                </a:solidFill>
                <a:latin typeface="KoPubWorld돋움체 Light"/>
              </a:rPr>
              <a:t>Appendix.</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리스크 요인 및 관리방안</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본 거래에서 발생 가능한 주요 리스크와 대응 방안은 다음과 같음</a:t>
            </a:r>
          </a:p>
        </p:txBody>
      </p:sp>
      <p:graphicFrame>
        <p:nvGraphicFramePr>
          <p:cNvPr id="4" name="Table 3"/>
          <p:cNvGraphicFramePr>
            <a:graphicFrameLocks noGrp="1"/>
          </p:cNvGraphicFramePr>
          <p:nvPr/>
        </p:nvGraphicFramePr>
        <p:xfrm>
          <a:off x="521207" y="1783080"/>
          <a:ext cx="9784080" cy="4736592"/>
        </p:xfrm>
        <a:graphic>
          <a:graphicData uri="http://schemas.openxmlformats.org/drawingml/2006/table">
            <a:tbl>
              <a:tblPr firstRow="1" bandRow="1">
                <a:tableStyleId>{5C22544A-7EE6-4342-B048-85BDC9FD1C3A}</a:tableStyleId>
              </a:tblPr>
              <a:tblGrid>
                <a:gridCol w="1371600"/>
                <a:gridCol w="3108960"/>
                <a:gridCol w="3291840"/>
                <a:gridCol w="2011680"/>
              </a:tblGrid>
              <a:tr h="676656">
                <a:tc>
                  <a:txBody>
                    <a:bodyPr/>
                    <a:lstStyle/>
                    <a:p>
                      <a:pPr algn="ctr"/>
                      <a:r>
                        <a:rPr sz="800" b="0">
                          <a:solidFill>
                            <a:srgbClr val="1F1F1F"/>
                          </a:solidFill>
                          <a:latin typeface="KoPubWorld돋움체 Bold"/>
                        </a:rPr>
                        <a:t>구 분</a:t>
                      </a:r>
                    </a:p>
                  </a:txBody>
                  <a:tcPr marL="54864" marR="54864" marT="0" marB="0">
                    <a:solidFill>
                      <a:srgbClr val="DAE3F3"/>
                    </a:solidFill>
                  </a:tcPr>
                </a:tc>
                <a:tc>
                  <a:txBody>
                    <a:bodyPr/>
                    <a:lstStyle/>
                    <a:p>
                      <a:pPr algn="ctr"/>
                      <a:r>
                        <a:rPr sz="800" b="0">
                          <a:solidFill>
                            <a:srgbClr val="1F1F1F"/>
                          </a:solidFill>
                          <a:latin typeface="KoPubWorld돋움체 Bold"/>
                        </a:rPr>
                        <a:t>리스크</a:t>
                      </a:r>
                    </a:p>
                  </a:txBody>
                  <a:tcPr marL="54864" marR="54864" marT="0" marB="0">
                    <a:solidFill>
                      <a:srgbClr val="DAE3F3"/>
                    </a:solidFill>
                  </a:tcPr>
                </a:tc>
                <a:tc>
                  <a:txBody>
                    <a:bodyPr/>
                    <a:lstStyle/>
                    <a:p>
                      <a:pPr algn="ctr"/>
                      <a:r>
                        <a:rPr sz="800" b="0">
                          <a:solidFill>
                            <a:srgbClr val="1F1F1F"/>
                          </a:solidFill>
                          <a:latin typeface="KoPubWorld돋움체 Bold"/>
                        </a:rPr>
                        <a:t>관리 방안</a:t>
                      </a:r>
                    </a:p>
                  </a:txBody>
                  <a:tcPr marL="54864" marR="54864" marT="0" marB="0">
                    <a:solidFill>
                      <a:srgbClr val="DAE3F3"/>
                    </a:solidFill>
                  </a:tcPr>
                </a:tc>
                <a:tc>
                  <a:txBody>
                    <a:bodyPr/>
                    <a:lstStyle/>
                    <a:p>
                      <a:pPr algn="ctr"/>
                      <a:r>
                        <a:rPr sz="800" b="0">
                          <a:solidFill>
                            <a:srgbClr val="1F1F1F"/>
                          </a:solidFill>
                          <a:latin typeface="KoPubWorld돋움체 Bold"/>
                        </a:rPr>
                        <a:t>잔여 리스크</a:t>
                      </a:r>
                    </a:p>
                  </a:txBody>
                  <a:tcPr marL="54864" marR="54864" marT="0" marB="0">
                    <a:solidFill>
                      <a:srgbClr val="DAE3F3"/>
                    </a:solidFill>
                  </a:tcPr>
                </a:tc>
              </a:tr>
              <a:tr h="676656">
                <a:tc>
                  <a:txBody>
                    <a:bodyPr/>
                    <a:lstStyle/>
                    <a:p>
                      <a:pPr algn="ctr"/>
                      <a:r>
                        <a:rPr sz="800" b="0">
                          <a:solidFill>
                            <a:srgbClr val="1F1F1F"/>
                          </a:solidFill>
                          <a:latin typeface="KoPubWorld돋움체 Light"/>
                        </a:rPr>
                        <a:t>임차인 집중</a:t>
                      </a:r>
                    </a:p>
                  </a:txBody>
                  <a:tcPr marL="54864" marR="54864" marT="0" marB="0">
                    <a:solidFill>
                      <a:srgbClr val="FFFFFF"/>
                    </a:solidFill>
                  </a:tcPr>
                </a:tc>
                <a:tc>
                  <a:txBody>
                    <a:bodyPr/>
                    <a:lstStyle/>
                    <a:p>
                      <a:pPr algn="l"/>
                      <a:r>
                        <a:rPr sz="800" b="0">
                          <a:solidFill>
                            <a:srgbClr val="1F1F1F"/>
                          </a:solidFill>
                          <a:latin typeface="KoPubWorld돋움체 Light"/>
                        </a:rPr>
                        <a:t>쿠팡이 임대면적 77.2%를 차지하여 단일 임차인 의존도가 높음</a:t>
                      </a:r>
                    </a:p>
                  </a:txBody>
                  <a:tcPr marL="54864" marR="54864" marT="0" marB="0">
                    <a:solidFill>
                      <a:srgbClr val="FFFFFF"/>
                    </a:solidFill>
                  </a:tcPr>
                </a:tc>
                <a:tc>
                  <a:txBody>
                    <a:bodyPr/>
                    <a:lstStyle/>
                    <a:p>
                      <a:pPr algn="l"/>
                      <a:r>
                        <a:rPr sz="800" b="0">
                          <a:solidFill>
                            <a:srgbClr val="1F1F1F"/>
                          </a:solidFill>
                          <a:latin typeface="KoPubWorld돋움체 Light"/>
                        </a:rPr>
                        <a:t>2028-10 통지 시한 이전 연장 협상 개시, 대체 임차 수요가 풍부한 권역 특성 활용</a:t>
                      </a:r>
                    </a:p>
                  </a:txBody>
                  <a:tcPr marL="54864" marR="54864" marT="0" marB="0">
                    <a:solidFill>
                      <a:srgbClr val="FFFFFF"/>
                    </a:solidFill>
                  </a:tcPr>
                </a:tc>
                <a:tc>
                  <a:txBody>
                    <a:bodyPr/>
                    <a:lstStyle/>
                    <a:p>
                      <a:pPr algn="l"/>
                      <a:r>
                        <a:rPr sz="800" b="0">
                          <a:solidFill>
                            <a:srgbClr val="1F1F1F"/>
                          </a:solidFill>
                          <a:latin typeface="KoPubWorld돋움체 Light"/>
                        </a:rPr>
                        <a:t>연장 거절 시 대규모 공실 발생 가능</a:t>
                      </a:r>
                    </a:p>
                  </a:txBody>
                  <a:tcPr marL="54864" marR="54864" marT="0" marB="0">
                    <a:solidFill>
                      <a:srgbClr val="FFFFFF"/>
                    </a:solidFill>
                  </a:tcPr>
                </a:tc>
              </a:tr>
              <a:tr h="676656">
                <a:tc>
                  <a:txBody>
                    <a:bodyPr/>
                    <a:lstStyle/>
                    <a:p>
                      <a:pPr algn="ctr"/>
                      <a:r>
                        <a:rPr sz="800" b="0">
                          <a:solidFill>
                            <a:srgbClr val="1F1F1F"/>
                          </a:solidFill>
                          <a:latin typeface="KoPubWorld돋움체 Light"/>
                        </a:rPr>
                        <a:t>재계약 조건</a:t>
                      </a:r>
                    </a:p>
                  </a:txBody>
                  <a:tcPr marL="54864" marR="54864" marT="0" marB="0">
                    <a:solidFill>
                      <a:srgbClr val="F2F2F2"/>
                    </a:solidFill>
                  </a:tcPr>
                </a:tc>
                <a:tc>
                  <a:txBody>
                    <a:bodyPr/>
                    <a:lstStyle/>
                    <a:p>
                      <a:pPr algn="l"/>
                      <a:r>
                        <a:rPr sz="800" b="0">
                          <a:solidFill>
                            <a:srgbClr val="1F1F1F"/>
                          </a:solidFill>
                          <a:latin typeface="KoPubWorld돋움체 Light"/>
                        </a:rPr>
                        <a:t>2029-04 쿠팡 연장 시 Rent-Free 5개월 적용으로 해당 연도 DSCR 0.89배까지 하락</a:t>
                      </a:r>
                    </a:p>
                  </a:txBody>
                  <a:tcPr marL="54864" marR="54864" marT="0" marB="0">
                    <a:solidFill>
                      <a:srgbClr val="F2F2F2"/>
                    </a:solidFill>
                  </a:tcPr>
                </a:tc>
                <a:tc>
                  <a:txBody>
                    <a:bodyPr/>
                    <a:lstStyle/>
                    <a:p>
                      <a:pPr algn="l"/>
                      <a:r>
                        <a:rPr sz="800" b="0">
                          <a:solidFill>
                            <a:srgbClr val="1F1F1F"/>
                          </a:solidFill>
                          <a:latin typeface="KoPubWorld돋움체 Light"/>
                        </a:rPr>
                        <a:t>제3종 종류주식 재원 Overfunding 100억원으로 부족분 충당</a:t>
                      </a:r>
                    </a:p>
                  </a:txBody>
                  <a:tcPr marL="54864" marR="54864" marT="0" marB="0">
                    <a:solidFill>
                      <a:srgbClr val="F2F2F2"/>
                    </a:solidFill>
                  </a:tcPr>
                </a:tc>
                <a:tc>
                  <a:txBody>
                    <a:bodyPr/>
                    <a:lstStyle/>
                    <a:p>
                      <a:pPr algn="l"/>
                      <a:r>
                        <a:rPr sz="800" b="0">
                          <a:solidFill>
                            <a:srgbClr val="1F1F1F"/>
                          </a:solidFill>
                          <a:latin typeface="KoPubWorld돋움체 Light"/>
                        </a:rPr>
                        <a:t>Overfunding 소진 시 추가 재원 필요</a:t>
                      </a:r>
                    </a:p>
                  </a:txBody>
                  <a:tcPr marL="54864" marR="54864" marT="0" marB="0">
                    <a:solidFill>
                      <a:srgbClr val="F2F2F2"/>
                    </a:solidFill>
                  </a:tcPr>
                </a:tc>
              </a:tr>
              <a:tr h="676656">
                <a:tc>
                  <a:txBody>
                    <a:bodyPr/>
                    <a:lstStyle/>
                    <a:p>
                      <a:pPr algn="ctr"/>
                      <a:r>
                        <a:rPr sz="800" b="0">
                          <a:solidFill>
                            <a:srgbClr val="1F1F1F"/>
                          </a:solidFill>
                          <a:latin typeface="KoPubWorld돋움체 Light"/>
                        </a:rPr>
                        <a:t>리파이낸싱</a:t>
                      </a:r>
                    </a:p>
                  </a:txBody>
                  <a:tcPr marL="54864" marR="54864" marT="0" marB="0">
                    <a:solidFill>
                      <a:srgbClr val="FFFFFF"/>
                    </a:solidFill>
                  </a:tcPr>
                </a:tc>
                <a:tc>
                  <a:txBody>
                    <a:bodyPr/>
                    <a:lstStyle/>
                    <a:p>
                      <a:pPr algn="l"/>
                      <a:r>
                        <a:rPr sz="800" b="0">
                          <a:solidFill>
                            <a:srgbClr val="1F1F1F"/>
                          </a:solidFill>
                          <a:latin typeface="KoPubWorld돋움체 Light"/>
                        </a:rPr>
                        <a:t>24개월 시점 213,000백만원 리파이낸싱이 제3종 감자·중순위 상환의 전제</a:t>
                      </a:r>
                    </a:p>
                  </a:txBody>
                  <a:tcPr marL="54864" marR="54864" marT="0" marB="0">
                    <a:solidFill>
                      <a:srgbClr val="FFFFFF"/>
                    </a:solidFill>
                  </a:tcPr>
                </a:tc>
                <a:tc>
                  <a:txBody>
                    <a:bodyPr/>
                    <a:lstStyle/>
                    <a:p>
                      <a:pPr algn="l"/>
                      <a:r>
                        <a:rPr sz="800" b="0">
                          <a:solidFill>
                            <a:srgbClr val="1F1F1F"/>
                          </a:solidFill>
                          <a:latin typeface="KoPubWorld돋움체 Light"/>
                        </a:rPr>
                        <a:t>선순위 대주와 조기 협의, 감정평가액 대비 LTV 61.8% 수준으로 여력 확보</a:t>
                      </a:r>
                    </a:p>
                  </a:txBody>
                  <a:tcPr marL="54864" marR="54864" marT="0" marB="0">
                    <a:solidFill>
                      <a:srgbClr val="FFFFFF"/>
                    </a:solidFill>
                  </a:tcPr>
                </a:tc>
                <a:tc>
                  <a:txBody>
                    <a:bodyPr/>
                    <a:lstStyle/>
                    <a:p>
                      <a:pPr algn="l"/>
                      <a:r>
                        <a:rPr sz="800" b="0">
                          <a:solidFill>
                            <a:srgbClr val="1F1F1F"/>
                          </a:solidFill>
                          <a:latin typeface="KoPubWorld돋움체 Light"/>
                        </a:rPr>
                        <a:t>금리·대출시장 여건 변동에 노출</a:t>
                      </a:r>
                    </a:p>
                  </a:txBody>
                  <a:tcPr marL="54864" marR="54864" marT="0" marB="0">
                    <a:solidFill>
                      <a:srgbClr val="FFFFFF"/>
                    </a:solidFill>
                  </a:tcPr>
                </a:tc>
              </a:tr>
              <a:tr h="676656">
                <a:tc>
                  <a:txBody>
                    <a:bodyPr/>
                    <a:lstStyle/>
                    <a:p>
                      <a:pPr algn="ctr"/>
                      <a:r>
                        <a:rPr sz="800" b="0">
                          <a:solidFill>
                            <a:srgbClr val="1F1F1F"/>
                          </a:solidFill>
                          <a:latin typeface="KoPubWorld돋움체 Light"/>
                        </a:rPr>
                        <a:t>매각 가정</a:t>
                      </a:r>
                    </a:p>
                  </a:txBody>
                  <a:tcPr marL="54864" marR="54864" marT="0" marB="0">
                    <a:solidFill>
                      <a:srgbClr val="F2F2F2"/>
                    </a:solidFill>
                  </a:tcPr>
                </a:tc>
                <a:tc>
                  <a:txBody>
                    <a:bodyPr/>
                    <a:lstStyle/>
                    <a:p>
                      <a:pPr algn="l"/>
                      <a:r>
                        <a:rPr sz="800" b="0">
                          <a:solidFill>
                            <a:srgbClr val="1F1F1F"/>
                          </a:solidFill>
                          <a:latin typeface="KoPubWorld돋움체 Light"/>
                        </a:rPr>
                        <a:t>Exit Cap Rate를 매입 Cap과 동일한 4.89%로 가정 (시장조사 5.20%)</a:t>
                      </a:r>
                    </a:p>
                  </a:txBody>
                  <a:tcPr marL="54864" marR="54864" marT="0" marB="0">
                    <a:solidFill>
                      <a:srgbClr val="F2F2F2"/>
                    </a:solidFill>
                  </a:tcPr>
                </a:tc>
                <a:tc>
                  <a:txBody>
                    <a:bodyPr/>
                    <a:lstStyle/>
                    <a:p>
                      <a:pPr algn="l"/>
                      <a:r>
                        <a:rPr sz="800" b="0">
                          <a:solidFill>
                            <a:srgbClr val="1F1F1F"/>
                          </a:solidFill>
                          <a:latin typeface="KoPubWorld돋움체 Light"/>
                        </a:rPr>
                        <a:t>보수적 Exit 시나리오 병행 검토, 임대료 상승을 통한 NOI 개선 추진</a:t>
                      </a:r>
                    </a:p>
                  </a:txBody>
                  <a:tcPr marL="54864" marR="54864" marT="0" marB="0">
                    <a:solidFill>
                      <a:srgbClr val="F2F2F2"/>
                    </a:solidFill>
                  </a:tcPr>
                </a:tc>
                <a:tc>
                  <a:txBody>
                    <a:bodyPr/>
                    <a:lstStyle/>
                    <a:p>
                      <a:pPr algn="l"/>
                      <a:r>
                        <a:rPr sz="800" b="0">
                          <a:solidFill>
                            <a:srgbClr val="1F1F1F"/>
                          </a:solidFill>
                          <a:latin typeface="KoPubWorld돋움체 Light"/>
                        </a:rPr>
                        <a:t>Cap Rate 상승 시 보통주 수익률 하락</a:t>
                      </a:r>
                    </a:p>
                  </a:txBody>
                  <a:tcPr marL="54864" marR="54864" marT="0" marB="0">
                    <a:solidFill>
                      <a:srgbClr val="F2F2F2"/>
                    </a:solidFill>
                  </a:tcPr>
                </a:tc>
              </a:tr>
              <a:tr h="676656">
                <a:tc>
                  <a:txBody>
                    <a:bodyPr/>
                    <a:lstStyle/>
                    <a:p>
                      <a:pPr algn="ctr"/>
                      <a:r>
                        <a:rPr sz="800" b="0">
                          <a:solidFill>
                            <a:srgbClr val="1F1F1F"/>
                          </a:solidFill>
                          <a:latin typeface="KoPubWorld돋움체 Light"/>
                        </a:rPr>
                        <a:t>이해관계인 거래</a:t>
                      </a:r>
                    </a:p>
                  </a:txBody>
                  <a:tcPr marL="54864" marR="54864" marT="0" marB="0">
                    <a:solidFill>
                      <a:srgbClr val="FFFFFF"/>
                    </a:solidFill>
                  </a:tcPr>
                </a:tc>
                <a:tc>
                  <a:txBody>
                    <a:bodyPr/>
                    <a:lstStyle/>
                    <a:p>
                      <a:pPr algn="l"/>
                      <a:r>
                        <a:rPr sz="800" b="0">
                          <a:solidFill>
                            <a:srgbClr val="1F1F1F"/>
                          </a:solidFill>
                          <a:latin typeface="KoPubWorld돋움체 Light"/>
                        </a:rPr>
                        <a:t>매도인 주주(엘에프 95%·코람코 5%)와 제3종 재투자, AMC 동일 구조</a:t>
                      </a:r>
                    </a:p>
                  </a:txBody>
                  <a:tcPr marL="54864" marR="54864" marT="0" marB="0">
                    <a:solidFill>
                      <a:srgbClr val="FFFFFF"/>
                    </a:solidFill>
                  </a:tcPr>
                </a:tc>
                <a:tc>
                  <a:txBody>
                    <a:bodyPr/>
                    <a:lstStyle/>
                    <a:p>
                      <a:pPr algn="l"/>
                      <a:r>
                        <a:rPr sz="800" b="0">
                          <a:solidFill>
                            <a:srgbClr val="1F1F1F"/>
                          </a:solidFill>
                          <a:latin typeface="KoPubWorld돋움체 Light"/>
                        </a:rPr>
                        <a:t>거래가격 공정성 입증 자료 구비, 외부 법률의견 수령 및 필요 절차 이행</a:t>
                      </a:r>
                    </a:p>
                  </a:txBody>
                  <a:tcPr marL="54864" marR="54864" marT="0" marB="0">
                    <a:solidFill>
                      <a:srgbClr val="FFFFFF"/>
                    </a:solidFill>
                  </a:tcPr>
                </a:tc>
                <a:tc>
                  <a:txBody>
                    <a:bodyPr/>
                    <a:lstStyle/>
                    <a:p>
                      <a:pPr algn="l"/>
                      <a:r>
                        <a:rPr sz="800" b="0">
                          <a:solidFill>
                            <a:srgbClr val="1F1F1F"/>
                          </a:solidFill>
                          <a:latin typeface="KoPubWorld돋움체 Light"/>
                        </a:rPr>
                        <a:t>관련 법령 해석에 따른 절차 보완 가능성</a:t>
                      </a:r>
                    </a:p>
                  </a:txBody>
                  <a:tcPr marL="54864" marR="54864" marT="0" marB="0">
                    <a:solidFill>
                      <a:srgbClr val="FFFFFF"/>
                    </a:solidFill>
                  </a:tcPr>
                </a:tc>
              </a:tr>
              <a:tr h="676656">
                <a:tc>
                  <a:txBody>
                    <a:bodyPr/>
                    <a:lstStyle/>
                    <a:p>
                      <a:pPr algn="ctr"/>
                      <a:r>
                        <a:rPr sz="800" b="0">
                          <a:solidFill>
                            <a:srgbClr val="1F1F1F"/>
                          </a:solidFill>
                          <a:latin typeface="KoPubWorld돋움체 Light"/>
                        </a:rPr>
                        <a:t>계약 조건</a:t>
                      </a:r>
                    </a:p>
                  </a:txBody>
                  <a:tcPr marL="54864" marR="54864" marT="0" marB="0">
                    <a:solidFill>
                      <a:srgbClr val="F2F2F2"/>
                    </a:solidFill>
                  </a:tcPr>
                </a:tc>
                <a:tc>
                  <a:txBody>
                    <a:bodyPr/>
                    <a:lstStyle/>
                    <a:p>
                      <a:pPr algn="l"/>
                      <a:r>
                        <a:rPr sz="800" b="0">
                          <a:solidFill>
                            <a:srgbClr val="1F1F1F"/>
                          </a:solidFill>
                          <a:latin typeface="KoPubWorld돋움체 Light"/>
                        </a:rPr>
                        <a:t>진술·보장 존속 2개월, 배상한도 매매대금 5%, as-is 매입</a:t>
                      </a:r>
                    </a:p>
                  </a:txBody>
                  <a:tcPr marL="54864" marR="54864" marT="0" marB="0">
                    <a:solidFill>
                      <a:srgbClr val="F2F2F2"/>
                    </a:solidFill>
                  </a:tcPr>
                </a:tc>
                <a:tc>
                  <a:txBody>
                    <a:bodyPr/>
                    <a:lstStyle/>
                    <a:p>
                      <a:pPr algn="l"/>
                      <a:r>
                        <a:rPr sz="800" b="0">
                          <a:solidFill>
                            <a:srgbClr val="1F1F1F"/>
                          </a:solidFill>
                          <a:latin typeface="KoPubWorld돋움체 Light"/>
                        </a:rPr>
                        <a:t>실사 결과의 사전 반영 및 선행조건 관리, 승계동의서 확보 현황 별도 관리</a:t>
                      </a:r>
                    </a:p>
                  </a:txBody>
                  <a:tcPr marL="54864" marR="54864" marT="0" marB="0">
                    <a:solidFill>
                      <a:srgbClr val="F2F2F2"/>
                    </a:solidFill>
                  </a:tcPr>
                </a:tc>
                <a:tc>
                  <a:txBody>
                    <a:bodyPr/>
                    <a:lstStyle/>
                    <a:p>
                      <a:pPr algn="l"/>
                      <a:r>
                        <a:rPr sz="800" b="0">
                          <a:solidFill>
                            <a:srgbClr val="1F1F1F"/>
                          </a:solidFill>
                          <a:latin typeface="KoPubWorld돋움체 Light"/>
                        </a:rPr>
                        <a:t>미발견 하자에 대한 매수인 부담</a:t>
                      </a:r>
                    </a:p>
                  </a:txBody>
                  <a:tcPr marL="54864" marR="54864" marT="0" marB="0">
                    <a:solidFill>
                      <a:srgbClr val="F2F2F2"/>
                    </a:solidFill>
                  </a:tcPr>
                </a:tc>
              </a:tr>
            </a:tbl>
          </a:graphicData>
        </a:graphic>
      </p:graphicFrame>
      <p:sp>
        <p:nvSpPr>
          <p:cNvPr id="5" name="TextBox 4"/>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법률실사보고서(2026-09-09) / 재무분석보고서(우리회계법인) / 법률의견서(율촌·태평양, 사업구도 검토) / 00_원본자료/processed/20260916_핵심지표_IM기준_v01.md §8. 법률 관련 사항은 내부 검토이며 최종 법률자문은 외부 법무법인 확인이 필요함.</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향후조치 예정사항</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본 투자심의위원회 이후 계약 문안 확정과 수치 검증을 완료하고 10월 중 계약을 체결할 예정임</a:t>
            </a:r>
          </a:p>
        </p:txBody>
      </p:sp>
      <p:graphicFrame>
        <p:nvGraphicFramePr>
          <p:cNvPr id="4" name="Table 3"/>
          <p:cNvGraphicFramePr>
            <a:graphicFrameLocks noGrp="1"/>
          </p:cNvGraphicFramePr>
          <p:nvPr/>
        </p:nvGraphicFramePr>
        <p:xfrm>
          <a:off x="521207" y="1783080"/>
          <a:ext cx="9784080" cy="4279392"/>
        </p:xfrm>
        <a:graphic>
          <a:graphicData uri="http://schemas.openxmlformats.org/drawingml/2006/table">
            <a:tbl>
              <a:tblPr firstRow="1" bandRow="1">
                <a:tableStyleId>{5C22544A-7EE6-4342-B048-85BDC9FD1C3A}</a:tableStyleId>
              </a:tblPr>
              <a:tblGrid>
                <a:gridCol w="1463040"/>
                <a:gridCol w="5120640"/>
                <a:gridCol w="1737360"/>
                <a:gridCol w="1463040"/>
              </a:tblGrid>
              <a:tr h="475488">
                <a:tc>
                  <a:txBody>
                    <a:bodyPr/>
                    <a:lstStyle/>
                    <a:p>
                      <a:pPr algn="ctr"/>
                      <a:r>
                        <a:rPr sz="900" b="0">
                          <a:solidFill>
                            <a:srgbClr val="1F1F1F"/>
                          </a:solidFill>
                          <a:latin typeface="KoPubWorld돋움체 Bold"/>
                        </a:rPr>
                        <a:t>구 분</a:t>
                      </a:r>
                    </a:p>
                  </a:txBody>
                  <a:tcPr marL="54864" marR="54864" marT="0" marB="0">
                    <a:solidFill>
                      <a:srgbClr val="DAE3F3"/>
                    </a:solidFill>
                  </a:tcPr>
                </a:tc>
                <a:tc>
                  <a:txBody>
                    <a:bodyPr/>
                    <a:lstStyle/>
                    <a:p>
                      <a:pPr algn="ctr"/>
                      <a:r>
                        <a:rPr sz="900" b="0">
                          <a:solidFill>
                            <a:srgbClr val="1F1F1F"/>
                          </a:solidFill>
                          <a:latin typeface="KoPubWorld돋움체 Bold"/>
                        </a:rPr>
                        <a:t>확인·보완 사항</a:t>
                      </a:r>
                    </a:p>
                  </a:txBody>
                  <a:tcPr marL="54864" marR="54864" marT="0" marB="0">
                    <a:solidFill>
                      <a:srgbClr val="DAE3F3"/>
                    </a:solidFill>
                  </a:tcPr>
                </a:tc>
                <a:tc>
                  <a:txBody>
                    <a:bodyPr/>
                    <a:lstStyle/>
                    <a:p>
                      <a:pPr algn="ctr"/>
                      <a:r>
                        <a:rPr sz="900" b="0">
                          <a:solidFill>
                            <a:srgbClr val="1F1F1F"/>
                          </a:solidFill>
                          <a:latin typeface="KoPubWorld돋움체 Bold"/>
                        </a:rPr>
                        <a:t>담당</a:t>
                      </a:r>
                    </a:p>
                  </a:txBody>
                  <a:tcPr marL="54864" marR="54864" marT="0" marB="0">
                    <a:solidFill>
                      <a:srgbClr val="DAE3F3"/>
                    </a:solidFill>
                  </a:tcPr>
                </a:tc>
                <a:tc>
                  <a:txBody>
                    <a:bodyPr/>
                    <a:lstStyle/>
                    <a:p>
                      <a:pPr algn="ctr"/>
                      <a:r>
                        <a:rPr sz="900" b="0">
                          <a:solidFill>
                            <a:srgbClr val="1F1F1F"/>
                          </a:solidFill>
                          <a:latin typeface="KoPubWorld돋움체 Bold"/>
                        </a:rPr>
                        <a:t>기한</a:t>
                      </a:r>
                    </a:p>
                  </a:txBody>
                  <a:tcPr marL="54864" marR="54864" marT="0" marB="0">
                    <a:solidFill>
                      <a:srgbClr val="DAE3F3"/>
                    </a:solidFill>
                  </a:tcPr>
                </a:tc>
              </a:tr>
              <a:tr h="475488">
                <a:tc>
                  <a:txBody>
                    <a:bodyPr/>
                    <a:lstStyle/>
                    <a:p>
                      <a:pPr algn="ctr"/>
                      <a:r>
                        <a:rPr sz="900" b="0">
                          <a:solidFill>
                            <a:srgbClr val="1F1F1F"/>
                          </a:solidFill>
                          <a:latin typeface="KoPubWorld돋움체 Light"/>
                        </a:rPr>
                        <a:t>계약 문안</a:t>
                      </a:r>
                    </a:p>
                  </a:txBody>
                  <a:tcPr marL="54864" marR="54864" marT="0" marB="0">
                    <a:solidFill>
                      <a:srgbClr val="FFFFFF"/>
                    </a:solidFill>
                  </a:tcPr>
                </a:tc>
                <a:tc>
                  <a:txBody>
                    <a:bodyPr/>
                    <a:lstStyle/>
                    <a:p>
                      <a:pPr algn="l"/>
                      <a:r>
                        <a:rPr sz="900" b="0">
                          <a:solidFill>
                            <a:srgbClr val="1F1F1F"/>
                          </a:solidFill>
                          <a:latin typeface="KoPubWorld돋움체 Light"/>
                        </a:rPr>
                        <a:t>매매계약 거래종결예정일·위약금·지연손해금률 등 공란 항목 확정</a:t>
                      </a:r>
                    </a:p>
                  </a:txBody>
                  <a:tcPr marL="54864" marR="54864" marT="0" marB="0">
                    <a:solidFill>
                      <a:srgbClr val="FFFFFF"/>
                    </a:solidFill>
                  </a:tcPr>
                </a:tc>
                <a:tc>
                  <a:txBody>
                    <a:bodyPr/>
                    <a:lstStyle/>
                    <a:p>
                      <a:pPr algn="l"/>
                      <a:r>
                        <a:rPr sz="900" b="0">
                          <a:solidFill>
                            <a:srgbClr val="1F1F1F"/>
                          </a:solidFill>
                          <a:latin typeface="KoPubWorld돋움체 Light"/>
                        </a:rPr>
                        <a:t>법무 / 상장리츠팀</a:t>
                      </a:r>
                    </a:p>
                  </a:txBody>
                  <a:tcPr marL="54864" marR="54864" marT="0" marB="0">
                    <a:solidFill>
                      <a:srgbClr val="FFFFFF"/>
                    </a:solidFill>
                  </a:tcPr>
                </a:tc>
                <a:tc>
                  <a:txBody>
                    <a:bodyPr/>
                    <a:lstStyle/>
                    <a:p>
                      <a:pPr algn="l"/>
                      <a:r>
                        <a:rPr sz="900" b="0">
                          <a:solidFill>
                            <a:srgbClr val="1F1F1F"/>
                          </a:solidFill>
                          <a:latin typeface="KoPubWorld돋움체 Light"/>
                        </a:rPr>
                        <a:t>2026-09-22</a:t>
                      </a:r>
                    </a:p>
                  </a:txBody>
                  <a:tcPr marL="54864" marR="54864" marT="0" marB="0">
                    <a:solidFill>
                      <a:srgbClr val="FFFFFF"/>
                    </a:solidFill>
                  </a:tcPr>
                </a:tc>
              </a:tr>
              <a:tr h="475488">
                <a:tc>
                  <a:txBody>
                    <a:bodyPr/>
                    <a:lstStyle/>
                    <a:p>
                      <a:pPr algn="ctr"/>
                      <a:r>
                        <a:rPr sz="900" b="0">
                          <a:solidFill>
                            <a:srgbClr val="1F1F1F"/>
                          </a:solidFill>
                          <a:latin typeface="KoPubWorld돋움체 Light"/>
                        </a:rPr>
                        <a:t>계약 문안</a:t>
                      </a:r>
                    </a:p>
                  </a:txBody>
                  <a:tcPr marL="54864" marR="54864" marT="0" marB="0">
                    <a:solidFill>
                      <a:srgbClr val="F2F2F2"/>
                    </a:solidFill>
                  </a:tcPr>
                </a:tc>
                <a:tc>
                  <a:txBody>
                    <a:bodyPr/>
                    <a:lstStyle/>
                    <a:p>
                      <a:pPr algn="l"/>
                      <a:r>
                        <a:rPr sz="900" b="0">
                          <a:solidFill>
                            <a:srgbClr val="1F1F1F"/>
                          </a:solidFill>
                          <a:latin typeface="KoPubWorld돋움체 Light"/>
                        </a:rPr>
                        <a:t>주주간계약 인수 주식수 표(셀다운 반영), 이사 수·지명권 조항 확정</a:t>
                      </a:r>
                    </a:p>
                  </a:txBody>
                  <a:tcPr marL="54864" marR="54864" marT="0" marB="0">
                    <a:solidFill>
                      <a:srgbClr val="F2F2F2"/>
                    </a:solidFill>
                  </a:tcPr>
                </a:tc>
                <a:tc>
                  <a:txBody>
                    <a:bodyPr/>
                    <a:lstStyle/>
                    <a:p>
                      <a:pPr algn="l"/>
                      <a:r>
                        <a:rPr sz="900" b="0">
                          <a:solidFill>
                            <a:srgbClr val="1F1F1F"/>
                          </a:solidFill>
                          <a:latin typeface="KoPubWorld돋움체 Light"/>
                        </a:rPr>
                        <a:t>법무 / 상장리츠팀</a:t>
                      </a:r>
                    </a:p>
                  </a:txBody>
                  <a:tcPr marL="54864" marR="54864" marT="0" marB="0">
                    <a:solidFill>
                      <a:srgbClr val="F2F2F2"/>
                    </a:solidFill>
                  </a:tcPr>
                </a:tc>
                <a:tc>
                  <a:txBody>
                    <a:bodyPr/>
                    <a:lstStyle/>
                    <a:p>
                      <a:pPr algn="l"/>
                      <a:r>
                        <a:rPr sz="900" b="0">
                          <a:solidFill>
                            <a:srgbClr val="1F1F1F"/>
                          </a:solidFill>
                          <a:latin typeface="KoPubWorld돋움체 Light"/>
                        </a:rPr>
                        <a:t>2026-09-22</a:t>
                      </a:r>
                    </a:p>
                  </a:txBody>
                  <a:tcPr marL="54864" marR="54864" marT="0" marB="0">
                    <a:solidFill>
                      <a:srgbClr val="F2F2F2"/>
                    </a:solidFill>
                  </a:tcPr>
                </a:tc>
              </a:tr>
              <a:tr h="475488">
                <a:tc>
                  <a:txBody>
                    <a:bodyPr/>
                    <a:lstStyle/>
                    <a:p>
                      <a:pPr algn="ctr"/>
                      <a:r>
                        <a:rPr sz="900" b="0">
                          <a:solidFill>
                            <a:srgbClr val="1F1F1F"/>
                          </a:solidFill>
                          <a:latin typeface="KoPubWorld돋움체 Light"/>
                        </a:rPr>
                        <a:t>확약서</a:t>
                      </a:r>
                    </a:p>
                  </a:txBody>
                  <a:tcPr marL="54864" marR="54864" marT="0" marB="0">
                    <a:solidFill>
                      <a:srgbClr val="FFFFFF"/>
                    </a:solidFill>
                  </a:tcPr>
                </a:tc>
                <a:tc>
                  <a:txBody>
                    <a:bodyPr/>
                    <a:lstStyle/>
                    <a:p>
                      <a:pPr algn="l"/>
                      <a:r>
                        <a:rPr sz="900" b="0">
                          <a:solidFill>
                            <a:srgbClr val="1F1F1F"/>
                          </a:solidFill>
                          <a:latin typeface="KoPubWorld돋움체 Light"/>
                        </a:rPr>
                        <a:t>매입확약서 발행회사명·주식수·문서번호 확정 후 날인</a:t>
                      </a:r>
                    </a:p>
                  </a:txBody>
                  <a:tcPr marL="54864" marR="54864" marT="0" marB="0">
                    <a:solidFill>
                      <a:srgbClr val="FFFFFF"/>
                    </a:solidFill>
                  </a:tcPr>
                </a:tc>
                <a:tc>
                  <a:txBody>
                    <a:bodyPr/>
                    <a:lstStyle/>
                    <a:p>
                      <a:pPr algn="l"/>
                      <a:r>
                        <a:rPr sz="900" b="0">
                          <a:solidFill>
                            <a:srgbClr val="1F1F1F"/>
                          </a:solidFill>
                          <a:latin typeface="KoPubWorld돋움체 Light"/>
                        </a:rPr>
                        <a:t>상장리츠팀</a:t>
                      </a:r>
                    </a:p>
                  </a:txBody>
                  <a:tcPr marL="54864" marR="54864" marT="0" marB="0">
                    <a:solidFill>
                      <a:srgbClr val="FFFFFF"/>
                    </a:solidFill>
                  </a:tcPr>
                </a:tc>
                <a:tc>
                  <a:txBody>
                    <a:bodyPr/>
                    <a:lstStyle/>
                    <a:p>
                      <a:pPr algn="l"/>
                      <a:r>
                        <a:rPr sz="900" b="0">
                          <a:solidFill>
                            <a:srgbClr val="1F1F1F"/>
                          </a:solidFill>
                          <a:latin typeface="KoPubWorld돋움체 Light"/>
                        </a:rPr>
                        <a:t>주주간계약 체결일</a:t>
                      </a:r>
                    </a:p>
                  </a:txBody>
                  <a:tcPr marL="54864" marR="54864" marT="0" marB="0">
                    <a:solidFill>
                      <a:srgbClr val="FFFFFF"/>
                    </a:solidFill>
                  </a:tcPr>
                </a:tc>
              </a:tr>
              <a:tr h="475488">
                <a:tc>
                  <a:txBody>
                    <a:bodyPr/>
                    <a:lstStyle/>
                    <a:p>
                      <a:pPr algn="ctr"/>
                      <a:r>
                        <a:rPr sz="900" b="0">
                          <a:solidFill>
                            <a:srgbClr val="1F1F1F"/>
                          </a:solidFill>
                          <a:latin typeface="KoPubWorld돋움체 Light"/>
                        </a:rPr>
                        <a:t>수치 확정</a:t>
                      </a:r>
                    </a:p>
                  </a:txBody>
                  <a:tcPr marL="54864" marR="54864" marT="0" marB="0">
                    <a:solidFill>
                      <a:srgbClr val="F2F2F2"/>
                    </a:solidFill>
                  </a:tcPr>
                </a:tc>
                <a:tc>
                  <a:txBody>
                    <a:bodyPr/>
                    <a:lstStyle/>
                    <a:p>
                      <a:pPr algn="l"/>
                      <a:r>
                        <a:rPr sz="900" b="0">
                          <a:solidFill>
                            <a:srgbClr val="1F1F1F"/>
                          </a:solidFill>
                          <a:latin typeface="KoPubWorld돋움체 Light"/>
                        </a:rPr>
                        <a:t>제2종·보통주 IRR 차이(재무모델 9.15%/16.18% vs 보고서 9.24%/16.44%) 원인 규명 및 기준값 확정</a:t>
                      </a:r>
                    </a:p>
                  </a:txBody>
                  <a:tcPr marL="54864" marR="54864" marT="0" marB="0">
                    <a:solidFill>
                      <a:srgbClr val="F2F2F2"/>
                    </a:solidFill>
                  </a:tcPr>
                </a:tc>
                <a:tc>
                  <a:txBody>
                    <a:bodyPr/>
                    <a:lstStyle/>
                    <a:p>
                      <a:pPr algn="l"/>
                      <a:r>
                        <a:rPr sz="900" b="0">
                          <a:solidFill>
                            <a:srgbClr val="1F1F1F"/>
                          </a:solidFill>
                          <a:latin typeface="KoPubWorld돋움체 Light"/>
                        </a:rPr>
                        <a:t>재무 / 상장리츠팀</a:t>
                      </a:r>
                    </a:p>
                  </a:txBody>
                  <a:tcPr marL="54864" marR="54864" marT="0" marB="0">
                    <a:solidFill>
                      <a:srgbClr val="F2F2F2"/>
                    </a:solidFill>
                  </a:tcPr>
                </a:tc>
                <a:tc>
                  <a:txBody>
                    <a:bodyPr/>
                    <a:lstStyle/>
                    <a:p>
                      <a:pPr algn="l"/>
                      <a:r>
                        <a:rPr sz="900" b="0">
                          <a:solidFill>
                            <a:srgbClr val="1F1F1F"/>
                          </a:solidFill>
                          <a:latin typeface="KoPubWorld돋움체 Light"/>
                        </a:rPr>
                        <a:t>2026-09-22</a:t>
                      </a:r>
                    </a:p>
                  </a:txBody>
                  <a:tcPr marL="54864" marR="54864" marT="0" marB="0">
                    <a:solidFill>
                      <a:srgbClr val="F2F2F2"/>
                    </a:solidFill>
                  </a:tcPr>
                </a:tc>
              </a:tr>
              <a:tr h="475488">
                <a:tc>
                  <a:txBody>
                    <a:bodyPr/>
                    <a:lstStyle/>
                    <a:p>
                      <a:pPr algn="ctr"/>
                      <a:r>
                        <a:rPr sz="900" b="0">
                          <a:solidFill>
                            <a:srgbClr val="1F1F1F"/>
                          </a:solidFill>
                          <a:latin typeface="KoPubWorld돋움체 Light"/>
                        </a:rPr>
                        <a:t>수치 확정</a:t>
                      </a:r>
                    </a:p>
                  </a:txBody>
                  <a:tcPr marL="54864" marR="54864" marT="0" marB="0">
                    <a:solidFill>
                      <a:srgbClr val="FFFFFF"/>
                    </a:solidFill>
                  </a:tcPr>
                </a:tc>
                <a:tc>
                  <a:txBody>
                    <a:bodyPr/>
                    <a:lstStyle/>
                    <a:p>
                      <a:pPr algn="l"/>
                      <a:r>
                        <a:rPr sz="900" b="0">
                          <a:solidFill>
                            <a:srgbClr val="1F1F1F"/>
                          </a:solidFill>
                          <a:latin typeface="KoPubWorld돋움체 Light"/>
                        </a:rPr>
                        <a:t>WALE 산정 기준(가중 방식·중도해지권 반영 여부) 확정</a:t>
                      </a:r>
                    </a:p>
                  </a:txBody>
                  <a:tcPr marL="54864" marR="54864" marT="0" marB="0">
                    <a:solidFill>
                      <a:srgbClr val="FFFFFF"/>
                    </a:solidFill>
                  </a:tcPr>
                </a:tc>
                <a:tc>
                  <a:txBody>
                    <a:bodyPr/>
                    <a:lstStyle/>
                    <a:p>
                      <a:pPr algn="l"/>
                      <a:r>
                        <a:rPr sz="900" b="0">
                          <a:solidFill>
                            <a:srgbClr val="1F1F1F"/>
                          </a:solidFill>
                          <a:latin typeface="KoPubWorld돋움체 Light"/>
                        </a:rPr>
                        <a:t>재무 / 상장리츠팀</a:t>
                      </a:r>
                    </a:p>
                  </a:txBody>
                  <a:tcPr marL="54864" marR="54864" marT="0" marB="0">
                    <a:solidFill>
                      <a:srgbClr val="FFFFFF"/>
                    </a:solidFill>
                  </a:tcPr>
                </a:tc>
                <a:tc>
                  <a:txBody>
                    <a:bodyPr/>
                    <a:lstStyle/>
                    <a:p>
                      <a:pPr algn="l"/>
                      <a:r>
                        <a:rPr sz="900" b="0">
                          <a:solidFill>
                            <a:srgbClr val="1F1F1F"/>
                          </a:solidFill>
                          <a:latin typeface="KoPubWorld돋움체 Light"/>
                        </a:rPr>
                        <a:t>2026-09-22</a:t>
                      </a:r>
                    </a:p>
                  </a:txBody>
                  <a:tcPr marL="54864" marR="54864" marT="0" marB="0">
                    <a:solidFill>
                      <a:srgbClr val="FFFFFF"/>
                    </a:solidFill>
                  </a:tcPr>
                </a:tc>
              </a:tr>
              <a:tr h="475488">
                <a:tc>
                  <a:txBody>
                    <a:bodyPr/>
                    <a:lstStyle/>
                    <a:p>
                      <a:pPr algn="ctr"/>
                      <a:r>
                        <a:rPr sz="900" b="0">
                          <a:solidFill>
                            <a:srgbClr val="1F1F1F"/>
                          </a:solidFill>
                          <a:latin typeface="KoPubWorld돋움체 Light"/>
                        </a:rPr>
                        <a:t>실사</a:t>
                      </a:r>
                    </a:p>
                  </a:txBody>
                  <a:tcPr marL="54864" marR="54864" marT="0" marB="0">
                    <a:solidFill>
                      <a:srgbClr val="F2F2F2"/>
                    </a:solidFill>
                  </a:tcPr>
                </a:tc>
                <a:tc>
                  <a:txBody>
                    <a:bodyPr/>
                    <a:lstStyle/>
                    <a:p>
                      <a:pPr algn="l"/>
                      <a:r>
                        <a:rPr sz="900" b="0">
                          <a:solidFill>
                            <a:srgbClr val="1F1F1F"/>
                          </a:solidFill>
                          <a:latin typeface="KoPubWorld돋움체 Light"/>
                        </a:rPr>
                        <a:t>대지면적 차이(15,287.50㎡ vs 15,019.5㎡, 필지 수) 등기부 확인</a:t>
                      </a:r>
                    </a:p>
                  </a:txBody>
                  <a:tcPr marL="54864" marR="54864" marT="0" marB="0">
                    <a:solidFill>
                      <a:srgbClr val="F2F2F2"/>
                    </a:solidFill>
                  </a:tcPr>
                </a:tc>
                <a:tc>
                  <a:txBody>
                    <a:bodyPr/>
                    <a:lstStyle/>
                    <a:p>
                      <a:pPr algn="l"/>
                      <a:r>
                        <a:rPr sz="900" b="0">
                          <a:solidFill>
                            <a:srgbClr val="1F1F1F"/>
                          </a:solidFill>
                          <a:latin typeface="KoPubWorld돋움체 Light"/>
                        </a:rPr>
                        <a:t>법무</a:t>
                      </a:r>
                    </a:p>
                  </a:txBody>
                  <a:tcPr marL="54864" marR="54864" marT="0" marB="0">
                    <a:solidFill>
                      <a:srgbClr val="F2F2F2"/>
                    </a:solidFill>
                  </a:tcPr>
                </a:tc>
                <a:tc>
                  <a:txBody>
                    <a:bodyPr/>
                    <a:lstStyle/>
                    <a:p>
                      <a:pPr algn="l"/>
                      <a:r>
                        <a:rPr sz="900" b="0">
                          <a:solidFill>
                            <a:srgbClr val="1F1F1F"/>
                          </a:solidFill>
                          <a:latin typeface="KoPubWorld돋움체 Light"/>
                        </a:rPr>
                        <a:t>2026-09-22</a:t>
                      </a:r>
                    </a:p>
                  </a:txBody>
                  <a:tcPr marL="54864" marR="54864" marT="0" marB="0">
                    <a:solidFill>
                      <a:srgbClr val="F2F2F2"/>
                    </a:solidFill>
                  </a:tcPr>
                </a:tc>
              </a:tr>
              <a:tr h="475488">
                <a:tc>
                  <a:txBody>
                    <a:bodyPr/>
                    <a:lstStyle/>
                    <a:p>
                      <a:pPr algn="ctr"/>
                      <a:r>
                        <a:rPr sz="900" b="0">
                          <a:solidFill>
                            <a:srgbClr val="1F1F1F"/>
                          </a:solidFill>
                          <a:latin typeface="KoPubWorld돋움체 Light"/>
                        </a:rPr>
                        <a:t>실사</a:t>
                      </a:r>
                    </a:p>
                  </a:txBody>
                  <a:tcPr marL="54864" marR="54864" marT="0" marB="0">
                    <a:solidFill>
                      <a:srgbClr val="FFFFFF"/>
                    </a:solidFill>
                  </a:tcPr>
                </a:tc>
                <a:tc>
                  <a:txBody>
                    <a:bodyPr/>
                    <a:lstStyle/>
                    <a:p>
                      <a:pPr algn="l"/>
                      <a:r>
                        <a:rPr sz="900" b="0">
                          <a:solidFill>
                            <a:srgbClr val="1F1F1F"/>
                          </a:solidFill>
                          <a:latin typeface="KoPubWorld돋움체 Light"/>
                        </a:rPr>
                        <a:t>법률실사 Recommendation 41건 중 미해소 항목의 계약 반영 여부 확인</a:t>
                      </a:r>
                    </a:p>
                  </a:txBody>
                  <a:tcPr marL="54864" marR="54864" marT="0" marB="0">
                    <a:solidFill>
                      <a:srgbClr val="FFFFFF"/>
                    </a:solidFill>
                  </a:tcPr>
                </a:tc>
                <a:tc>
                  <a:txBody>
                    <a:bodyPr/>
                    <a:lstStyle/>
                    <a:p>
                      <a:pPr algn="l"/>
                      <a:r>
                        <a:rPr sz="900" b="0">
                          <a:solidFill>
                            <a:srgbClr val="1F1F1F"/>
                          </a:solidFill>
                          <a:latin typeface="KoPubWorld돋움체 Light"/>
                        </a:rPr>
                        <a:t>법무</a:t>
                      </a:r>
                    </a:p>
                  </a:txBody>
                  <a:tcPr marL="54864" marR="54864" marT="0" marB="0">
                    <a:solidFill>
                      <a:srgbClr val="FFFFFF"/>
                    </a:solidFill>
                  </a:tcPr>
                </a:tc>
                <a:tc>
                  <a:txBody>
                    <a:bodyPr/>
                    <a:lstStyle/>
                    <a:p>
                      <a:pPr algn="l"/>
                      <a:r>
                        <a:rPr sz="900" b="0">
                          <a:solidFill>
                            <a:srgbClr val="1F1F1F"/>
                          </a:solidFill>
                          <a:latin typeface="KoPubWorld돋움체 Light"/>
                        </a:rPr>
                        <a:t>2026-09-22</a:t>
                      </a:r>
                    </a:p>
                  </a:txBody>
                  <a:tcPr marL="54864" marR="54864" marT="0" marB="0">
                    <a:solidFill>
                      <a:srgbClr val="FFFFFF"/>
                    </a:solidFill>
                  </a:tcPr>
                </a:tc>
              </a:tr>
              <a:tr h="475488">
                <a:tc>
                  <a:txBody>
                    <a:bodyPr/>
                    <a:lstStyle/>
                    <a:p>
                      <a:pPr algn="ctr"/>
                      <a:r>
                        <a:rPr sz="900" b="0">
                          <a:solidFill>
                            <a:srgbClr val="1F1F1F"/>
                          </a:solidFill>
                          <a:latin typeface="KoPubWorld돋움체 Light"/>
                        </a:rPr>
                        <a:t>자금 조달</a:t>
                      </a:r>
                    </a:p>
                  </a:txBody>
                  <a:tcPr marL="54864" marR="54864" marT="0" marB="0">
                    <a:solidFill>
                      <a:srgbClr val="F2F2F2"/>
                    </a:solidFill>
                  </a:tcPr>
                </a:tc>
                <a:tc>
                  <a:txBody>
                    <a:bodyPr/>
                    <a:lstStyle/>
                    <a:p>
                      <a:pPr algn="l"/>
                      <a:r>
                        <a:rPr sz="900" b="0">
                          <a:solidFill>
                            <a:srgbClr val="1F1F1F"/>
                          </a:solidFill>
                          <a:latin typeface="KoPubWorld돋움체 Light"/>
                        </a:rPr>
                        <a:t>제3종 종류주식(엘에프 재투자) 및 보통주 조달 확정, 대출약정서 협의 완료</a:t>
                      </a:r>
                    </a:p>
                  </a:txBody>
                  <a:tcPr marL="54864" marR="54864" marT="0" marB="0">
                    <a:solidFill>
                      <a:srgbClr val="F2F2F2"/>
                    </a:solidFill>
                  </a:tcPr>
                </a:tc>
                <a:tc>
                  <a:txBody>
                    <a:bodyPr/>
                    <a:lstStyle/>
                    <a:p>
                      <a:pPr algn="l"/>
                      <a:r>
                        <a:rPr sz="900" b="0">
                          <a:solidFill>
                            <a:srgbClr val="1F1F1F"/>
                          </a:solidFill>
                          <a:latin typeface="KoPubWorld돋움체 Light"/>
                        </a:rPr>
                        <a:t>상장리츠팀</a:t>
                      </a:r>
                    </a:p>
                  </a:txBody>
                  <a:tcPr marL="54864" marR="54864" marT="0" marB="0">
                    <a:solidFill>
                      <a:srgbClr val="F2F2F2"/>
                    </a:solidFill>
                  </a:tcPr>
                </a:tc>
                <a:tc>
                  <a:txBody>
                    <a:bodyPr/>
                    <a:lstStyle/>
                    <a:p>
                      <a:pPr algn="l"/>
                      <a:r>
                        <a:rPr sz="900" b="0">
                          <a:solidFill>
                            <a:srgbClr val="1F1F1F"/>
                          </a:solidFill>
                          <a:latin typeface="KoPubWorld돋움체 Light"/>
                        </a:rPr>
                        <a:t>2026-10-13</a:t>
                      </a:r>
                    </a:p>
                  </a:txBody>
                  <a:tcPr marL="54864" marR="54864" marT="0" marB="0">
                    <a:solidFill>
                      <a:srgbClr val="F2F2F2"/>
                    </a:solidFill>
                  </a:tcPr>
                </a:tc>
              </a:tr>
            </a:tbl>
          </a:graphicData>
        </a:graphic>
      </p:graphicFrame>
      <p:sp>
        <p:nvSpPr>
          <p:cNvPr id="5" name="TextBox 4"/>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일정은 기준 일정(07_일정_회의록/TIMELINE.md)에 따르며 협의 과정에서 변동될 수 있음. ※ 추가 심의위원 의견 청취 후 계약 체결 전 반영 예정.</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
            <a:ext cx="5961888" cy="530352"/>
          </a:xfrm>
          <a:prstGeom prst="rect">
            <a:avLst/>
          </a:prstGeom>
          <a:noFill/>
        </p:spPr>
        <p:txBody>
          <a:bodyPr wrap="square" lIns="1655064" rIns="0" tIns="0" bIns="0">
            <a:spAutoFit/>
          </a:bodyPr>
          <a:lstStyle/>
          <a:p>
            <a:r>
              <a:rPr sz="1100" b="1">
                <a:solidFill>
                  <a:srgbClr val="002060"/>
                </a:solidFill>
                <a:latin typeface="KoPubWorld돋움체 Light"/>
              </a:rPr>
              <a:t>&gt; Appendix. 실사 결과 요약</a:t>
            </a:r>
          </a:p>
        </p:txBody>
      </p:sp>
      <p:sp>
        <p:nvSpPr>
          <p:cNvPr id="3" name="TextBox 2"/>
          <p:cNvSpPr txBox="1"/>
          <p:nvPr/>
        </p:nvSpPr>
        <p:spPr>
          <a:xfrm>
            <a:off x="283464" y="1042415"/>
            <a:ext cx="9994392" cy="704088"/>
          </a:xfrm>
          <a:prstGeom prst="rect">
            <a:avLst/>
          </a:prstGeom>
          <a:noFill/>
        </p:spPr>
        <p:txBody>
          <a:bodyPr wrap="square" lIns="0" rIns="0" tIns="0" bIns="0">
            <a:spAutoFit/>
          </a:bodyPr>
          <a:lstStyle/>
          <a:p>
            <a:r>
              <a:rPr sz="1600" b="0">
                <a:solidFill>
                  <a:srgbClr val="1F1F1F"/>
                </a:solidFill>
                <a:latin typeface="KoPubWorld돋움체 Light"/>
              </a:rPr>
              <a:t>법률·재무·시장·물리·감정 5개 분야 실사를 완료하였으며 거래 진행을 저해하는 중대 사항은 확인되지 않음</a:t>
            </a:r>
          </a:p>
          <a:p>
            <a:r>
              <a:rPr sz="1200" b="0">
                <a:solidFill>
                  <a:srgbClr val="404040"/>
                </a:solidFill>
                <a:latin typeface="KoPubWorld돋움체 Light"/>
              </a:rPr>
              <a:t>• 실사보고서 최종본은 2026-09-17 수령 예정으로, 최종본 반영 후 계약에 확정 반영</a:t>
            </a:r>
          </a:p>
        </p:txBody>
      </p:sp>
      <p:graphicFrame>
        <p:nvGraphicFramePr>
          <p:cNvPr id="4" name="Table 3"/>
          <p:cNvGraphicFramePr>
            <a:graphicFrameLocks noGrp="1"/>
          </p:cNvGraphicFramePr>
          <p:nvPr/>
        </p:nvGraphicFramePr>
        <p:xfrm>
          <a:off x="521207" y="2359152"/>
          <a:ext cx="9784080" cy="3968496"/>
        </p:xfrm>
        <a:graphic>
          <a:graphicData uri="http://schemas.openxmlformats.org/drawingml/2006/table">
            <a:tbl>
              <a:tblPr firstRow="1" bandRow="1">
                <a:tableStyleId>{5C22544A-7EE6-4342-B048-85BDC9FD1C3A}</a:tableStyleId>
              </a:tblPr>
              <a:tblGrid>
                <a:gridCol w="1188720"/>
                <a:gridCol w="2011680"/>
                <a:gridCol w="1645920"/>
                <a:gridCol w="4937760"/>
              </a:tblGrid>
              <a:tr h="566928">
                <a:tc>
                  <a:txBody>
                    <a:bodyPr/>
                    <a:lstStyle/>
                    <a:p>
                      <a:pPr algn="ctr"/>
                      <a:r>
                        <a:rPr sz="900" b="0">
                          <a:solidFill>
                            <a:srgbClr val="1F1F1F"/>
                          </a:solidFill>
                          <a:latin typeface="KoPubWorld돋움체 Bold"/>
                        </a:rPr>
                        <a:t>분 야</a:t>
                      </a:r>
                    </a:p>
                  </a:txBody>
                  <a:tcPr marL="54864" marR="54864" marT="0" marB="0">
                    <a:solidFill>
                      <a:srgbClr val="DAE3F3"/>
                    </a:solidFill>
                  </a:tcPr>
                </a:tc>
                <a:tc>
                  <a:txBody>
                    <a:bodyPr/>
                    <a:lstStyle/>
                    <a:p>
                      <a:pPr algn="ctr"/>
                      <a:r>
                        <a:rPr sz="900" b="0">
                          <a:solidFill>
                            <a:srgbClr val="1F1F1F"/>
                          </a:solidFill>
                          <a:latin typeface="KoPubWorld돋움체 Bold"/>
                        </a:rPr>
                        <a:t>수행 기관</a:t>
                      </a:r>
                    </a:p>
                  </a:txBody>
                  <a:tcPr marL="54864" marR="54864" marT="0" marB="0">
                    <a:solidFill>
                      <a:srgbClr val="DAE3F3"/>
                    </a:solidFill>
                  </a:tcPr>
                </a:tc>
                <a:tc>
                  <a:txBody>
                    <a:bodyPr/>
                    <a:lstStyle/>
                    <a:p>
                      <a:pPr algn="ctr"/>
                      <a:r>
                        <a:rPr sz="900" b="0">
                          <a:solidFill>
                            <a:srgbClr val="1F1F1F"/>
                          </a:solidFill>
                          <a:latin typeface="KoPubWorld돋움체 Bold"/>
                        </a:rPr>
                        <a:t>보고서 일자</a:t>
                      </a:r>
                    </a:p>
                  </a:txBody>
                  <a:tcPr marL="54864" marR="54864" marT="0" marB="0">
                    <a:solidFill>
                      <a:srgbClr val="DAE3F3"/>
                    </a:solidFill>
                  </a:tcPr>
                </a:tc>
                <a:tc>
                  <a:txBody>
                    <a:bodyPr/>
                    <a:lstStyle/>
                    <a:p>
                      <a:pPr algn="ctr"/>
                      <a:r>
                        <a:rPr sz="900" b="0">
                          <a:solidFill>
                            <a:srgbClr val="1F1F1F"/>
                          </a:solidFill>
                          <a:latin typeface="KoPubWorld돋움체 Bold"/>
                        </a:rPr>
                        <a:t>주요 결과</a:t>
                      </a:r>
                    </a:p>
                  </a:txBody>
                  <a:tcPr marL="54864" marR="54864" marT="0" marB="0">
                    <a:solidFill>
                      <a:srgbClr val="DAE3F3"/>
                    </a:solidFill>
                  </a:tcPr>
                </a:tc>
              </a:tr>
              <a:tr h="566928">
                <a:tc>
                  <a:txBody>
                    <a:bodyPr/>
                    <a:lstStyle/>
                    <a:p>
                      <a:pPr algn="ctr"/>
                      <a:r>
                        <a:rPr sz="900" b="0">
                          <a:solidFill>
                            <a:srgbClr val="1F1F1F"/>
                          </a:solidFill>
                          <a:latin typeface="KoPubWorld돋움체 Light"/>
                        </a:rPr>
                        <a:t>법률</a:t>
                      </a:r>
                    </a:p>
                  </a:txBody>
                  <a:tcPr marL="54864" marR="54864" marT="0" marB="0">
                    <a:solidFill>
                      <a:srgbClr val="FFFFFF"/>
                    </a:solidFill>
                  </a:tcPr>
                </a:tc>
                <a:tc>
                  <a:txBody>
                    <a:bodyPr/>
                    <a:lstStyle/>
                    <a:p>
                      <a:pPr algn="l"/>
                      <a:r>
                        <a:rPr sz="900" b="0">
                          <a:solidFill>
                            <a:srgbClr val="1F1F1F"/>
                          </a:solidFill>
                          <a:latin typeface="KoPubWorld돋움체 Light"/>
                        </a:rPr>
                        <a:t>법무법인 (BKL)</a:t>
                      </a:r>
                    </a:p>
                  </a:txBody>
                  <a:tcPr marL="54864" marR="54864" marT="0" marB="0">
                    <a:solidFill>
                      <a:srgbClr val="FFFFFF"/>
                    </a:solidFill>
                  </a:tcPr>
                </a:tc>
                <a:tc>
                  <a:txBody>
                    <a:bodyPr/>
                    <a:lstStyle/>
                    <a:p>
                      <a:pPr algn="l"/>
                      <a:r>
                        <a:rPr sz="900" b="0">
                          <a:solidFill>
                            <a:srgbClr val="1F1F1F"/>
                          </a:solidFill>
                          <a:latin typeface="KoPubWorld돋움체 Light"/>
                        </a:rPr>
                        <a:t>2026-09-09</a:t>
                      </a:r>
                    </a:p>
                  </a:txBody>
                  <a:tcPr marL="54864" marR="54864" marT="0" marB="0">
                    <a:solidFill>
                      <a:srgbClr val="FFFFFF"/>
                    </a:solidFill>
                  </a:tcPr>
                </a:tc>
                <a:tc>
                  <a:txBody>
                    <a:bodyPr/>
                    <a:lstStyle/>
                    <a:p>
                      <a:pPr algn="l"/>
                      <a:r>
                        <a:rPr sz="900" b="0">
                          <a:solidFill>
                            <a:srgbClr val="1F1F1F"/>
                          </a:solidFill>
                          <a:latin typeface="KoPubWorld돋움체 Light"/>
                        </a:rPr>
                        <a:t>매도인·부동산·공법상 제한·계약·소송·보험·조세·환경 9개 장 검토, Recommendation 41건 제시</a:t>
                      </a:r>
                    </a:p>
                  </a:txBody>
                  <a:tcPr marL="54864" marR="54864" marT="0" marB="0">
                    <a:solidFill>
                      <a:srgbClr val="FFFFFF"/>
                    </a:solidFill>
                  </a:tcPr>
                </a:tc>
              </a:tr>
              <a:tr h="566928">
                <a:tc>
                  <a:txBody>
                    <a:bodyPr/>
                    <a:lstStyle/>
                    <a:p>
                      <a:pPr algn="ctr"/>
                      <a:r>
                        <a:rPr sz="900" b="0">
                          <a:solidFill>
                            <a:srgbClr val="1F1F1F"/>
                          </a:solidFill>
                          <a:latin typeface="KoPubWorld돋움체 Light"/>
                        </a:rPr>
                        <a:t>재무</a:t>
                      </a:r>
                    </a:p>
                  </a:txBody>
                  <a:tcPr marL="54864" marR="54864" marT="0" marB="0">
                    <a:solidFill>
                      <a:srgbClr val="F2F2F2"/>
                    </a:solidFill>
                  </a:tcPr>
                </a:tc>
                <a:tc>
                  <a:txBody>
                    <a:bodyPr/>
                    <a:lstStyle/>
                    <a:p>
                      <a:pPr algn="l"/>
                      <a:r>
                        <a:rPr sz="900" b="0">
                          <a:solidFill>
                            <a:srgbClr val="1F1F1F"/>
                          </a:solidFill>
                          <a:latin typeface="KoPubWorld돋움체 Light"/>
                        </a:rPr>
                        <a:t>우리회계법인</a:t>
                      </a:r>
                    </a:p>
                  </a:txBody>
                  <a:tcPr marL="54864" marR="54864" marT="0" marB="0">
                    <a:solidFill>
                      <a:srgbClr val="F2F2F2"/>
                    </a:solidFill>
                  </a:tcPr>
                </a:tc>
                <a:tc>
                  <a:txBody>
                    <a:bodyPr/>
                    <a:lstStyle/>
                    <a:p>
                      <a:pPr algn="l"/>
                      <a:r>
                        <a:rPr sz="900" b="0">
                          <a:solidFill>
                            <a:srgbClr val="1F1F1F"/>
                          </a:solidFill>
                          <a:latin typeface="KoPubWorld돋움체 Light"/>
                        </a:rPr>
                        <a:t>2026-08-14</a:t>
                      </a:r>
                    </a:p>
                  </a:txBody>
                  <a:tcPr marL="54864" marR="54864" marT="0" marB="0">
                    <a:solidFill>
                      <a:srgbClr val="F2F2F2"/>
                    </a:solidFill>
                  </a:tcPr>
                </a:tc>
                <a:tc>
                  <a:txBody>
                    <a:bodyPr/>
                    <a:lstStyle/>
                    <a:p>
                      <a:pPr algn="l"/>
                      <a:r>
                        <a:rPr sz="900" b="0">
                          <a:solidFill>
                            <a:srgbClr val="1F1F1F"/>
                          </a:solidFill>
                          <a:latin typeface="KoPubWorld돋움체 Light"/>
                        </a:rPr>
                        <a:t>10년 현금흐름·투자자 수익률·DSCR(선순위 평균 1.74배)·만기 LTV 검토</a:t>
                      </a:r>
                    </a:p>
                  </a:txBody>
                  <a:tcPr marL="54864" marR="54864" marT="0" marB="0">
                    <a:solidFill>
                      <a:srgbClr val="F2F2F2"/>
                    </a:solidFill>
                  </a:tcPr>
                </a:tc>
              </a:tr>
              <a:tr h="566928">
                <a:tc>
                  <a:txBody>
                    <a:bodyPr/>
                    <a:lstStyle/>
                    <a:p>
                      <a:pPr algn="ctr"/>
                      <a:r>
                        <a:rPr sz="900" b="0">
                          <a:solidFill>
                            <a:srgbClr val="1F1F1F"/>
                          </a:solidFill>
                          <a:latin typeface="KoPubWorld돋움체 Light"/>
                        </a:rPr>
                        <a:t>시장</a:t>
                      </a:r>
                    </a:p>
                  </a:txBody>
                  <a:tcPr marL="54864" marR="54864" marT="0" marB="0">
                    <a:solidFill>
                      <a:srgbClr val="FFFFFF"/>
                    </a:solidFill>
                  </a:tcPr>
                </a:tc>
                <a:tc>
                  <a:txBody>
                    <a:bodyPr/>
                    <a:lstStyle/>
                    <a:p>
                      <a:pPr algn="l"/>
                      <a:r>
                        <a:rPr sz="900" b="0">
                          <a:solidFill>
                            <a:srgbClr val="1F1F1F"/>
                          </a:solidFill>
                          <a:latin typeface="KoPubWorld돋움체 Light"/>
                        </a:rPr>
                        <a:t>㈜코람코자산신탁</a:t>
                      </a:r>
                    </a:p>
                  </a:txBody>
                  <a:tcPr marL="54864" marR="54864" marT="0" marB="0">
                    <a:solidFill>
                      <a:srgbClr val="FFFFFF"/>
                    </a:solidFill>
                  </a:tcPr>
                </a:tc>
                <a:tc>
                  <a:txBody>
                    <a:bodyPr/>
                    <a:lstStyle/>
                    <a:p>
                      <a:pPr algn="l"/>
                      <a:r>
                        <a:rPr sz="900" b="0">
                          <a:solidFill>
                            <a:srgbClr val="1F1F1F"/>
                          </a:solidFill>
                          <a:latin typeface="KoPubWorld돋움체 Light"/>
                        </a:rPr>
                        <a:t>2026-08-10</a:t>
                      </a:r>
                    </a:p>
                  </a:txBody>
                  <a:tcPr marL="54864" marR="54864" marT="0" marB="0">
                    <a:solidFill>
                      <a:srgbClr val="FFFFFF"/>
                    </a:solidFill>
                  </a:tcPr>
                </a:tc>
                <a:tc>
                  <a:txBody>
                    <a:bodyPr/>
                    <a:lstStyle/>
                    <a:p>
                      <a:pPr algn="l"/>
                      <a:r>
                        <a:rPr sz="900" b="0">
                          <a:solidFill>
                            <a:srgbClr val="1F1F1F"/>
                          </a:solidFill>
                          <a:latin typeface="KoPubWorld돋움체 Light"/>
                        </a:rPr>
                        <a:t>적정 Eff. Rent 6.14만원/평, 적정 매입가 891~1,014만원/평 — 본건 935만원/평</a:t>
                      </a:r>
                    </a:p>
                  </a:txBody>
                  <a:tcPr marL="54864" marR="54864" marT="0" marB="0">
                    <a:solidFill>
                      <a:srgbClr val="FFFFFF"/>
                    </a:solidFill>
                  </a:tcPr>
                </a:tc>
              </a:tr>
              <a:tr h="566928">
                <a:tc>
                  <a:txBody>
                    <a:bodyPr/>
                    <a:lstStyle/>
                    <a:p>
                      <a:pPr algn="ctr"/>
                      <a:r>
                        <a:rPr sz="900" b="0">
                          <a:solidFill>
                            <a:srgbClr val="1F1F1F"/>
                          </a:solidFill>
                          <a:latin typeface="KoPubWorld돋움체 Light"/>
                        </a:rPr>
                        <a:t>물리</a:t>
                      </a:r>
                    </a:p>
                  </a:txBody>
                  <a:tcPr marL="54864" marR="54864" marT="0" marB="0">
                    <a:solidFill>
                      <a:srgbClr val="F2F2F2"/>
                    </a:solidFill>
                  </a:tcPr>
                </a:tc>
                <a:tc>
                  <a:txBody>
                    <a:bodyPr/>
                    <a:lstStyle/>
                    <a:p>
                      <a:pPr algn="l"/>
                      <a:r>
                        <a:rPr sz="900" b="0">
                          <a:solidFill>
                            <a:srgbClr val="1F1F1F"/>
                          </a:solidFill>
                          <a:latin typeface="KoPubWorld돋움체 Light"/>
                        </a:rPr>
                        <a:t>CBRE</a:t>
                      </a:r>
                    </a:p>
                  </a:txBody>
                  <a:tcPr marL="54864" marR="54864" marT="0" marB="0">
                    <a:solidFill>
                      <a:srgbClr val="F2F2F2"/>
                    </a:solidFill>
                  </a:tcPr>
                </a:tc>
                <a:tc>
                  <a:txBody>
                    <a:bodyPr/>
                    <a:lstStyle/>
                    <a:p>
                      <a:pPr algn="l"/>
                      <a:r>
                        <a:rPr sz="900" b="0">
                          <a:solidFill>
                            <a:srgbClr val="1F1F1F"/>
                          </a:solidFill>
                          <a:latin typeface="KoPubWorld돋움체 Light"/>
                        </a:rPr>
                        <a:t>2026-08-31</a:t>
                      </a:r>
                    </a:p>
                  </a:txBody>
                  <a:tcPr marL="54864" marR="54864" marT="0" marB="0">
                    <a:solidFill>
                      <a:srgbClr val="F2F2F2"/>
                    </a:solidFill>
                  </a:tcPr>
                </a:tc>
                <a:tc>
                  <a:txBody>
                    <a:bodyPr/>
                    <a:lstStyle/>
                    <a:p>
                      <a:pPr algn="l"/>
                      <a:r>
                        <a:rPr sz="900" b="0">
                          <a:solidFill>
                            <a:srgbClr val="1F1F1F"/>
                          </a:solidFill>
                          <a:latin typeface="KoPubWorld돋움체 Light"/>
                        </a:rPr>
                        <a:t>향후 5년 수익적 지출 1,262백만원(약 520원/평/월) 추정</a:t>
                      </a:r>
                    </a:p>
                  </a:txBody>
                  <a:tcPr marL="54864" marR="54864" marT="0" marB="0">
                    <a:solidFill>
                      <a:srgbClr val="F2F2F2"/>
                    </a:solidFill>
                  </a:tcPr>
                </a:tc>
              </a:tr>
              <a:tr h="566928">
                <a:tc>
                  <a:txBody>
                    <a:bodyPr/>
                    <a:lstStyle/>
                    <a:p>
                      <a:pPr algn="ctr"/>
                      <a:r>
                        <a:rPr sz="900" b="0">
                          <a:solidFill>
                            <a:srgbClr val="1F1F1F"/>
                          </a:solidFill>
                          <a:latin typeface="KoPubWorld돋움체 Light"/>
                        </a:rPr>
                        <a:t>감정</a:t>
                      </a:r>
                    </a:p>
                  </a:txBody>
                  <a:tcPr marL="54864" marR="54864" marT="0" marB="0">
                    <a:solidFill>
                      <a:srgbClr val="FFFFFF"/>
                    </a:solidFill>
                  </a:tcPr>
                </a:tc>
                <a:tc>
                  <a:txBody>
                    <a:bodyPr/>
                    <a:lstStyle/>
                    <a:p>
                      <a:pPr algn="l"/>
                      <a:r>
                        <a:rPr sz="900" b="0">
                          <a:solidFill>
                            <a:srgbClr val="1F1F1F"/>
                          </a:solidFill>
                          <a:latin typeface="KoPubWorld돋움체 Light"/>
                        </a:rPr>
                        <a:t>미래새한감정평가법인</a:t>
                      </a:r>
                    </a:p>
                  </a:txBody>
                  <a:tcPr marL="54864" marR="54864" marT="0" marB="0">
                    <a:solidFill>
                      <a:srgbClr val="FFFFFF"/>
                    </a:solidFill>
                  </a:tcPr>
                </a:tc>
                <a:tc>
                  <a:txBody>
                    <a:bodyPr/>
                    <a:lstStyle/>
                    <a:p>
                      <a:pPr algn="l"/>
                      <a:r>
                        <a:rPr sz="900" b="0">
                          <a:solidFill>
                            <a:srgbClr val="1F1F1F"/>
                          </a:solidFill>
                          <a:latin typeface="KoPubWorld돋움체 Light"/>
                        </a:rPr>
                        <a:t>기준시점 2026-08-31</a:t>
                      </a:r>
                    </a:p>
                  </a:txBody>
                  <a:tcPr marL="54864" marR="54864" marT="0" marB="0">
                    <a:solidFill>
                      <a:srgbClr val="FFFFFF"/>
                    </a:solidFill>
                  </a:tcPr>
                </a:tc>
                <a:tc>
                  <a:txBody>
                    <a:bodyPr/>
                    <a:lstStyle/>
                    <a:p>
                      <a:pPr algn="l"/>
                      <a:r>
                        <a:rPr sz="900" b="0">
                          <a:solidFill>
                            <a:srgbClr val="1F1F1F"/>
                          </a:solidFill>
                          <a:latin typeface="KoPubWorld돋움체 Light"/>
                        </a:rPr>
                        <a:t>담보 감정평가액 334,500백만원, 양해각서상 매매금액은 인근 실거래 대비 낮은 수준으로 기재</a:t>
                      </a:r>
                    </a:p>
                  </a:txBody>
                  <a:tcPr marL="54864" marR="54864" marT="0" marB="0">
                    <a:solidFill>
                      <a:srgbClr val="FFFFFF"/>
                    </a:solidFill>
                  </a:tcPr>
                </a:tc>
              </a:tr>
              <a:tr h="566928">
                <a:tc>
                  <a:txBody>
                    <a:bodyPr/>
                    <a:lstStyle/>
                    <a:p>
                      <a:pPr algn="ctr"/>
                      <a:r>
                        <a:rPr sz="900" b="0">
                          <a:solidFill>
                            <a:srgbClr val="1F1F1F"/>
                          </a:solidFill>
                          <a:latin typeface="KoPubWorld돋움체 Light"/>
                        </a:rPr>
                        <a:t>사업구도</a:t>
                      </a:r>
                    </a:p>
                  </a:txBody>
                  <a:tcPr marL="54864" marR="54864" marT="0" marB="0">
                    <a:solidFill>
                      <a:srgbClr val="F2F2F2"/>
                    </a:solidFill>
                  </a:tcPr>
                </a:tc>
                <a:tc>
                  <a:txBody>
                    <a:bodyPr/>
                    <a:lstStyle/>
                    <a:p>
                      <a:pPr algn="l"/>
                      <a:r>
                        <a:rPr sz="900" b="0">
                          <a:solidFill>
                            <a:srgbClr val="1F1F1F"/>
                          </a:solidFill>
                          <a:latin typeface="KoPubWorld돋움체 Light"/>
                        </a:rPr>
                        <a:t>법무법인 율촌 / 태평양</a:t>
                      </a:r>
                    </a:p>
                  </a:txBody>
                  <a:tcPr marL="54864" marR="54864" marT="0" marB="0">
                    <a:solidFill>
                      <a:srgbClr val="F2F2F2"/>
                    </a:solidFill>
                  </a:tcPr>
                </a:tc>
                <a:tc>
                  <a:txBody>
                    <a:bodyPr/>
                    <a:lstStyle/>
                    <a:p>
                      <a:pPr algn="l"/>
                      <a:r>
                        <a:rPr sz="900" b="0">
                          <a:solidFill>
                            <a:srgbClr val="1F1F1F"/>
                          </a:solidFill>
                          <a:latin typeface="KoPubWorld돋움체 Light"/>
                        </a:rPr>
                        <a:t>2026-04~05</a:t>
                      </a:r>
                    </a:p>
                  </a:txBody>
                  <a:tcPr marL="54864" marR="54864" marT="0" marB="0">
                    <a:solidFill>
                      <a:srgbClr val="F2F2F2"/>
                    </a:solidFill>
                  </a:tcPr>
                </a:tc>
                <a:tc>
                  <a:txBody>
                    <a:bodyPr/>
                    <a:lstStyle/>
                    <a:p>
                      <a:pPr algn="l"/>
                      <a:r>
                        <a:rPr sz="900" b="0">
                          <a:solidFill>
                            <a:srgbClr val="1F1F1F"/>
                          </a:solidFill>
                          <a:latin typeface="KoPubWorld돋움체 Light"/>
                        </a:rPr>
                        <a:t>신설리츠의 PFV 자산매입 사업구도 및 이해관계인 거래 관련 이슈 검토</a:t>
                      </a:r>
                    </a:p>
                  </a:txBody>
                  <a:tcPr marL="54864" marR="54864" marT="0" marB="0">
                    <a:solidFill>
                      <a:srgbClr val="F2F2F2"/>
                    </a:solidFill>
                  </a:tcPr>
                </a:tc>
              </a:tr>
            </a:tbl>
          </a:graphicData>
        </a:graphic>
      </p:graphicFrame>
      <p:sp>
        <p:nvSpPr>
          <p:cNvPr id="5" name="TextBox 4"/>
          <p:cNvSpPr txBox="1"/>
          <p:nvPr/>
        </p:nvSpPr>
        <p:spPr>
          <a:xfrm>
            <a:off x="283464" y="6812280"/>
            <a:ext cx="10012680" cy="274320"/>
          </a:xfrm>
          <a:prstGeom prst="rect">
            <a:avLst/>
          </a:prstGeom>
          <a:noFill/>
        </p:spPr>
        <p:txBody>
          <a:bodyPr wrap="square" lIns="0" rIns="0" tIns="0" bIns="0">
            <a:spAutoFit/>
          </a:bodyPr>
          <a:lstStyle/>
          <a:p>
            <a:r>
              <a:rPr sz="800" b="0">
                <a:solidFill>
                  <a:srgbClr val="404040"/>
                </a:solidFill>
                <a:latin typeface="KoPubWorld돋움체 Light"/>
              </a:rPr>
              <a:t>출처: 각 실사보고서 원본 (02_실사보고서/ 및 01_설립_인허가/ 보관). 법률 관련 사항은 내부 검토이며 최종 법률자문은 외부 법무법인 확인이 필요함.</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721608" y="3419856"/>
            <a:ext cx="6126480" cy="301752"/>
          </a:xfrm>
          <a:prstGeom prst="rect">
            <a:avLst/>
          </a:prstGeom>
          <a:noFill/>
        </p:spPr>
        <p:txBody>
          <a:bodyPr wrap="square" lIns="0" rIns="0" tIns="0" bIns="0">
            <a:spAutoFit/>
          </a:bodyPr>
          <a:lstStyle/>
          <a:p>
            <a:r>
              <a:rPr sz="700" b="0">
                <a:solidFill>
                  <a:srgbClr val="404040"/>
                </a:solidFill>
                <a:latin typeface="KoPubWorld돋움체 Light"/>
              </a:rPr>
              <a:t>This report is solely for the use of client personnel. No part of it may be circulated, quoted, or reproduced for distribution outside the client or organization without prior written approval from KORAMCO REITs Management and Trust Co., Ltd.</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775AEA6-EC78-4E7B-9971-CE736CECF225}">
  <we:reference id="f5f369e5-aa35-49d7-ad7b-638152ddb008" version="1.0.0.1" store="EXCatalog" storeType="EXCatalog"/>
  <we:alternateReferences>
    <we:reference id="WA200010001" version="1.0.0.1" store="ko-KR" storeType="OMEX"/>
  </we:alternateReferences>
  <we:properties>
    <we:property name="claude.fileId" value="&quot;b8433e69-c0a4-4b3a-8097-18957660da8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76680</TotalTime>
  <Words>9748</Words>
  <Application>Microsoft Office PowerPoint</Application>
  <PresentationFormat>사용자 지정</PresentationFormat>
  <Paragraphs>3018</Paragraphs>
  <Slides>44</Slides>
  <Notes>25</Notes>
  <HiddenSlides>0</HiddenSlides>
  <MMClips>0</MMClips>
  <ScaleCrop>false</ScaleCrop>
  <HeadingPairs>
    <vt:vector size="6" baseType="variant">
      <vt:variant>
        <vt:lpstr>사용한 글꼴</vt:lpstr>
      </vt:variant>
      <vt:variant>
        <vt:i4>10</vt:i4>
      </vt:variant>
      <vt:variant>
        <vt:lpstr>테마</vt:lpstr>
      </vt:variant>
      <vt:variant>
        <vt:i4>3</vt:i4>
      </vt:variant>
      <vt:variant>
        <vt:lpstr>슬라이드 제목</vt:lpstr>
      </vt:variant>
      <vt:variant>
        <vt:i4>44</vt:i4>
      </vt:variant>
    </vt:vector>
  </HeadingPairs>
  <TitlesOfParts>
    <vt:vector size="57" baseType="lpstr">
      <vt:lpstr>KoPubWorld돋움체 Bold</vt:lpstr>
      <vt:lpstr>KoPubWorld돋움체 Light</vt:lpstr>
      <vt:lpstr>KoPubWorld돋움체 Medium</vt:lpstr>
      <vt:lpstr>KoPubWorld바탕체 Bold</vt:lpstr>
      <vt:lpstr>KoPubWorld바탕체 Medium</vt:lpstr>
      <vt:lpstr>Pretendard</vt:lpstr>
      <vt:lpstr>하나 CM</vt:lpstr>
      <vt:lpstr>Arial</vt:lpstr>
      <vt:lpstr>Calibri</vt:lpstr>
      <vt:lpstr>Wingdings</vt:lpstr>
      <vt:lpstr>Office 테마</vt:lpstr>
      <vt:lpstr>1_Office 테마</vt:lpstr>
      <vt:lpstr>2_Office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jsp</dc:creator>
  <cp:lastModifiedBy>임영규 부장(상장리츠팀)</cp:lastModifiedBy>
  <cp:revision>5187</cp:revision>
  <cp:lastPrinted>2026-08-23T23:34:57Z</cp:lastPrinted>
  <dcterms:created xsi:type="dcterms:W3CDTF">2019-10-07T05:08:42Z</dcterms:created>
  <dcterms:modified xsi:type="dcterms:W3CDTF">2026-08-24T06:55:15Z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ranchUid">
    <vt:lpwstr>TlqSUOvUz2jqmGfWs-WogWvifac202402010000000</vt:lpwstr>
  </property>
  <property fmtid="{D5CDD505-2E9C-101B-9397-08002B2CF9AE}" pid="3" name="docPath">
    <vt:lpwstr>QzpcVXNlcnNceW9uZ2h5ZW9uYWhuXERvd25sb2Fkc1xbS0xJXSDslYjslpHrrLzrpZjshLzthLAg7JiI67mE7Yis7Ius7J6Q66OMXzI2MDgyNF92MyjstZzsooUpLnBwdHg=</vt:lpwstr>
  </property>
  <property fmtid="{D5CDD505-2E9C-101B-9397-08002B2CF9AE}" pid="4" name="docUid">
    <vt:lpwstr>TlqSUOvUz2jqmGfWs-WogWvifac</vt:lpwstr>
  </property>
  <property fmtid="{D5CDD505-2E9C-101B-9397-08002B2CF9AE}" pid="5" name="parentBranchUid">
    <vt:lpwstr/>
  </property>
</Properties>
</file>