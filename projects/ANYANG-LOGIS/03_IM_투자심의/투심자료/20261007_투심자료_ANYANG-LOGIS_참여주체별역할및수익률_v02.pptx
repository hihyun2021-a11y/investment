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07200" cy="99393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93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42" y="102"/>
      </p:cViewPr>
      <p:guideLst>
        <p:guide pos="27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63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686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altLang="ko-KR" sz="220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2. </a:t>
            </a:r>
            <a:r>
              <a:rPr lang="ko-KR" altLang="en-US" sz="220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참여</a:t>
            </a:r>
            <a:r>
              <a:rPr lang="en-US" sz="220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 주체별 역할 및 수익률</a:t>
            </a:r>
            <a:endParaRPr lang="en-US" sz="100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1457432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052560" y="109728"/>
            <a:ext cx="27706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One </a:t>
            </a:r>
            <a:r>
              <a:rPr lang="en-US" sz="110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 </a:t>
            </a:r>
            <a:r>
              <a:rPr lang="en-US" sz="110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New </a:t>
            </a:r>
            <a:r>
              <a:rPr lang="en-US" sz="110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</a:t>
            </a:r>
            <a:endParaRPr lang="en-US" sz="1100"/>
          </a:p>
        </p:txBody>
      </p:sp>
      <p:sp>
        <p:nvSpPr>
          <p:cNvPr id="101" name="섹션 마커"/>
          <p:cNvSpPr/>
          <p:nvPr/>
        </p:nvSpPr>
        <p:spPr>
          <a:xfrm>
            <a:off x="365760" y="90525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endParaRPr lang="ko-KR" altLang="en-US"/>
          </a:p>
        </p:txBody>
      </p:sp>
      <p:sp>
        <p:nvSpPr>
          <p:cNvPr id="102" name="섹션 제목"/>
          <p:cNvSpPr txBox="1"/>
          <p:nvPr/>
        </p:nvSpPr>
        <p:spPr>
          <a:xfrm>
            <a:off x="548640" y="850392"/>
            <a:ext cx="4200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l">
              <a:buNone/>
            </a:pPr>
            <a:r>
              <a:rPr lang="ko-KR" altLang="en-US" sz="130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투자구조</a:t>
            </a:r>
            <a:endParaRPr lang="ko-KR" altLang="en-US" sz="1300">
              <a:solidFill>
                <a:srgbClr val="262626"/>
              </a:solidFill>
              <a:latin typeface="나눔스퀘어 ExtraBold" pitchFamily="34" charset="0"/>
              <a:ea typeface="나눔스퀘어 ExtraBold" pitchFamily="34" charset="-122"/>
              <a:cs typeface="나눔스퀘어 ExtraBold" pitchFamily="34" charset="-120"/>
            </a:endParaRPr>
          </a:p>
        </p:txBody>
      </p:sp>
      <p:sp>
        <p:nvSpPr>
          <p:cNvPr id="103" name="리츠"/>
          <p:cNvSpPr/>
          <p:nvPr/>
        </p:nvSpPr>
        <p:spPr>
          <a:xfrm>
            <a:off x="365760" y="1207008"/>
            <a:ext cx="2760000" cy="500000"/>
          </a:xfrm>
          <a:prstGeom prst="rect">
            <a:avLst/>
          </a:prstGeom>
          <a:solidFill>
            <a:srgbClr val="6F6255"/>
          </a:solidFill>
          <a:ln w="6350">
            <a:solidFill>
              <a:srgbClr val="6F6255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pPr marL="0" indent="0" algn="ctr">
              <a:buNone/>
            </a:pPr>
            <a:r>
              <a:rPr lang="ko-KR" altLang="en-US" sz="120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코람코라이프로지스리츠 (KLL)</a:t>
            </a:r>
            <a:endParaRPr lang="ko-KR" altLang="en-US" sz="1200">
              <a:solidFill>
                <a:srgbClr val="FFFFFF"/>
              </a:solidFill>
              <a:latin typeface="나눔스퀘어 ExtraBold" pitchFamily="34" charset="0"/>
              <a:ea typeface="나눔스퀘어 ExtraBold" pitchFamily="34" charset="-122"/>
              <a:cs typeface="나눔스퀘어 ExtraBold" pitchFamily="34" charset="-120"/>
            </a:endParaRPr>
          </a:p>
          <a:p>
            <a:pPr marL="0" indent="0" algn="ctr">
              <a:buNone/>
            </a:pPr>
            <a:r>
              <a:rPr lang="ko-KR" altLang="en-US" sz="90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 총 투자비 2,989억  ·  AMC 코람코자산신탁 )</a:t>
            </a:r>
            <a:endParaRPr lang="ko-KR" altLang="en-US" sz="900">
              <a:solidFill>
                <a:srgbClr val="FFFFFF"/>
              </a:solidFill>
              <a:latin typeface="나눔스퀘어" pitchFamily="34" charset="0"/>
              <a:ea typeface="나눔스퀘어" pitchFamily="34" charset="-122"/>
              <a:cs typeface="나눔스퀘어" pitchFamily="34" charset="-120"/>
            </a:endParaRPr>
          </a:p>
        </p:txBody>
      </p:sp>
      <p:sp>
        <p:nvSpPr>
          <p:cNvPr id="104" name="연결선 리츠-자산"/>
          <p:cNvSpPr/>
          <p:nvPr/>
        </p:nvSpPr>
        <p:spPr>
          <a:xfrm>
            <a:off x="1745760" y="1707008"/>
            <a:ext cx="0" cy="190000"/>
          </a:xfrm>
          <a:prstGeom prst="line">
            <a:avLst/>
          </a:prstGeom>
          <a:noFill/>
          <a:ln w="9525">
            <a:solidFill>
              <a:srgbClr val="A393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자산 프레임"/>
          <p:cNvSpPr/>
          <p:nvPr/>
        </p:nvSpPr>
        <p:spPr>
          <a:xfrm>
            <a:off x="365760" y="1897008"/>
            <a:ext cx="2760000" cy="4110600"/>
          </a:xfrm>
          <a:prstGeom prst="rect">
            <a:avLst/>
          </a:prstGeom>
          <a:solidFill>
            <a:srgbClr val="FDF7F7"/>
          </a:solidFill>
          <a:ln w="12700">
            <a:solidFill>
              <a:srgbClr val="C00000"/>
            </a:solidFill>
            <a:prstDash val="dash"/>
          </a:ln>
        </p:spPr>
        <p:txBody>
          <a:bodyPr wrap="square" lIns="18000" tIns="381" rIns="18000" bIns="381" rtlCol="0" anchor="ctr"/>
          <a:lstStyle/>
          <a:p>
            <a:endParaRPr lang="ko-KR" altLang="en-US"/>
          </a:p>
        </p:txBody>
      </p:sp>
      <p:sp>
        <p:nvSpPr>
          <p:cNvPr id="106" name="자산명"/>
          <p:cNvSpPr/>
          <p:nvPr/>
        </p:nvSpPr>
        <p:spPr>
          <a:xfrm>
            <a:off x="515760" y="1987008"/>
            <a:ext cx="1500000" cy="330000"/>
          </a:xfrm>
          <a:prstGeom prst="rect">
            <a:avLst/>
          </a:prstGeom>
          <a:solidFill>
            <a:srgbClr val="EDE6DF"/>
          </a:solidFill>
          <a:ln w="9525">
            <a:solidFill>
              <a:srgbClr val="A39382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안양물류센터</a:t>
            </a:r>
            <a:endParaRPr lang="ko-KR" altLang="en-US" sz="1000">
              <a:solidFill>
                <a:srgbClr val="262626"/>
              </a:solidFill>
              <a:latin typeface="나눔스퀘어 ExtraBold" pitchFamily="34" charset="0"/>
              <a:ea typeface="나눔스퀘어 ExtraBold" pitchFamily="34" charset="-122"/>
              <a:cs typeface="나눔스퀘어 ExtraBold" pitchFamily="34" charset="-120"/>
            </a:endParaRPr>
          </a:p>
        </p:txBody>
      </p:sp>
      <p:sp>
        <p:nvSpPr>
          <p:cNvPr id="107" name="스택 라벨"/>
          <p:cNvSpPr txBox="1"/>
          <p:nvPr/>
        </p:nvSpPr>
        <p:spPr>
          <a:xfrm>
            <a:off x="2075760" y="1987008"/>
            <a:ext cx="9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r">
              <a:buNone/>
            </a:pPr>
            <a:r>
              <a:rPr lang="ko-KR" altLang="en-US" sz="80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투자비 | 재원조달</a:t>
            </a:r>
            <a:endParaRPr lang="ko-KR" altLang="en-US" sz="800">
              <a:solidFill>
                <a:srgbClr val="7F7F7F"/>
              </a:solidFill>
              <a:latin typeface="나눔스퀘어" pitchFamily="34" charset="0"/>
              <a:ea typeface="나눔스퀘어" pitchFamily="34" charset="-122"/>
              <a:cs typeface="나눔스퀘어" pitchFamily="34" charset="-12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5939929-51C5-238F-7ED3-D9B8DCBAC21A}"/>
              </a:ext>
            </a:extLst>
          </p:cNvPr>
          <p:cNvGrpSpPr/>
          <p:nvPr/>
        </p:nvGrpSpPr>
        <p:grpSpPr>
          <a:xfrm>
            <a:off x="515760" y="2407008"/>
            <a:ext cx="2460000" cy="3526890"/>
            <a:chOff x="515760" y="2407008"/>
            <a:chExt cx="2460000" cy="2736000"/>
          </a:xfrm>
        </p:grpSpPr>
        <p:sp>
          <p:nvSpPr>
            <p:cNvPr id="108" name="투자비 부동산 매입금액"/>
            <p:cNvSpPr/>
            <p:nvPr/>
          </p:nvSpPr>
          <p:spPr>
            <a:xfrm>
              <a:off x="515760" y="2407008"/>
              <a:ext cx="1160000" cy="193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90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부동산 매입금액</a:t>
              </a:r>
              <a:endParaRPr lang="ko-KR" altLang="en-US" sz="90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1200">
                  <a:solidFill>
                    <a:srgbClr val="262626"/>
                  </a:solidFill>
                  <a:latin typeface="나눔스퀘어 ExtraBold" pitchFamily="34" charset="0"/>
                  <a:ea typeface="나눔스퀘어 ExtraBold" pitchFamily="34" charset="-122"/>
                  <a:cs typeface="나눔스퀘어 ExtraBold" pitchFamily="34" charset="-120"/>
                </a:rPr>
                <a:t>2,700</a:t>
              </a:r>
              <a:endParaRPr lang="ko-KR" altLang="en-US" sz="120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endParaRPr>
            </a:p>
          </p:txBody>
        </p:sp>
        <p:sp>
          <p:nvSpPr>
            <p:cNvPr id="109" name="투자비 취득부대비용 등"/>
            <p:cNvSpPr/>
            <p:nvPr/>
          </p:nvSpPr>
          <p:spPr>
            <a:xfrm>
              <a:off x="515760" y="4343008"/>
              <a:ext cx="1160000" cy="40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00">
                  <a:solidFill>
                    <a:srgbClr val="262626"/>
                  </a:solidFill>
                  <a:latin typeface="나눔스퀘어" pitchFamily="34" charset="0"/>
                  <a:ea typeface="나눔스퀘어" pitchFamily="34" charset="-122"/>
                  <a:cs typeface="나눔스퀘어" pitchFamily="34" charset="-120"/>
                </a:rPr>
                <a:t>취득부대비용 등 189</a:t>
              </a:r>
              <a:endParaRPr lang="ko-KR" altLang="en-US" sz="80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endParaRPr>
            </a:p>
          </p:txBody>
        </p:sp>
        <p:sp>
          <p:nvSpPr>
            <p:cNvPr id="111" name="투자비 보증금·예비비 등"/>
            <p:cNvSpPr/>
            <p:nvPr/>
          </p:nvSpPr>
          <p:spPr>
            <a:xfrm>
              <a:off x="515760" y="4743008"/>
              <a:ext cx="1160000" cy="40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00">
                  <a:solidFill>
                    <a:srgbClr val="262626"/>
                  </a:solidFill>
                  <a:latin typeface="나눔스퀘어" pitchFamily="34" charset="0"/>
                  <a:ea typeface="나눔스퀘어" pitchFamily="34" charset="-122"/>
                  <a:cs typeface="나눔스퀘어" pitchFamily="34" charset="-120"/>
                </a:rPr>
                <a:t>예비비 100</a:t>
              </a:r>
              <a:endParaRPr lang="ko-KR" altLang="en-US" sz="80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endParaRPr>
            </a:p>
          </p:txBody>
        </p:sp>
        <p:sp>
          <p:nvSpPr>
            <p:cNvPr id="112" name="재원 보증금"/>
            <p:cNvSpPr/>
            <p:nvPr/>
          </p:nvSpPr>
          <p:spPr>
            <a:xfrm>
              <a:off x="1675760" y="2407008"/>
              <a:ext cx="1300000" cy="300000"/>
            </a:xfrm>
            <a:prstGeom prst="rect">
              <a:avLst/>
            </a:prstGeom>
            <a:solidFill>
              <a:srgbClr val="F5F3F1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보증금 21</a:t>
              </a:r>
              <a:endParaRPr lang="ko-KR" altLang="en-US" sz="85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endParaRPr>
            </a:p>
          </p:txBody>
        </p:sp>
        <p:sp>
          <p:nvSpPr>
            <p:cNvPr id="113" name="재원 선순위 대출"/>
            <p:cNvSpPr/>
            <p:nvPr/>
          </p:nvSpPr>
          <p:spPr>
            <a:xfrm>
              <a:off x="1675760" y="2707008"/>
              <a:ext cx="1300000" cy="77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90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선순위 대출</a:t>
              </a:r>
              <a:endParaRPr lang="ko-KR" altLang="en-US" sz="90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1200">
                  <a:solidFill>
                    <a:srgbClr val="262626"/>
                  </a:solidFill>
                  <a:latin typeface="나눔스퀘어 ExtraBold" pitchFamily="34" charset="0"/>
                  <a:ea typeface="나눔스퀘어 ExtraBold" pitchFamily="34" charset="-122"/>
                  <a:cs typeface="나눔스퀘어 ExtraBold" pitchFamily="34" charset="-120"/>
                </a:rPr>
                <a:t>1,600</a:t>
              </a:r>
              <a:endParaRPr lang="ko-KR" altLang="en-US" sz="120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800">
                  <a:solidFill>
                    <a:srgbClr val="262626"/>
                  </a:solidFill>
                  <a:latin typeface="나눔스퀘어" pitchFamily="34" charset="0"/>
                  <a:ea typeface="나눔스퀘어" pitchFamily="34" charset="-122"/>
                  <a:cs typeface="나눔스퀘어" pitchFamily="34" charset="-120"/>
                </a:rPr>
                <a:t>LTV 48.5%</a:t>
              </a:r>
              <a:endParaRPr lang="ko-KR" altLang="en-US" sz="80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endParaRPr>
            </a:p>
          </p:txBody>
        </p:sp>
        <p:sp>
          <p:nvSpPr>
            <p:cNvPr id="114" name="재원 중순위 대출"/>
            <p:cNvSpPr/>
            <p:nvPr/>
          </p:nvSpPr>
          <p:spPr>
            <a:xfrm>
              <a:off x="1675760" y="3483008"/>
              <a:ext cx="1300000" cy="36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중순위 대출 380</a:t>
              </a:r>
              <a:endParaRPr lang="ko-KR" altLang="en-US" sz="85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85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(누적 LTV 59.8%)</a:t>
              </a:r>
              <a:endParaRPr lang="ko-KR" altLang="en-US" sz="85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endParaRPr>
            </a:p>
          </p:txBody>
        </p:sp>
        <p:sp>
          <p:nvSpPr>
            <p:cNvPr id="115" name="재원 1종 종류주"/>
            <p:cNvSpPr/>
            <p:nvPr/>
          </p:nvSpPr>
          <p:spPr>
            <a:xfrm>
              <a:off x="1675760" y="3843008"/>
              <a:ext cx="1300000" cy="300000"/>
            </a:xfrm>
            <a:prstGeom prst="rect">
              <a:avLst/>
            </a:prstGeom>
            <a:solidFill>
              <a:srgbClr val="A39382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>
                  <a:solidFill>
                    <a:srgbClr val="FFFFFF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1종 종류주 240</a:t>
              </a:r>
              <a:endParaRPr lang="ko-KR" altLang="en-US" sz="85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endParaRPr>
            </a:p>
          </p:txBody>
        </p:sp>
        <p:sp>
          <p:nvSpPr>
            <p:cNvPr id="123" name="재원 2종 종류주"/>
            <p:cNvSpPr/>
            <p:nvPr/>
          </p:nvSpPr>
          <p:spPr>
            <a:xfrm>
              <a:off x="1675760" y="4143008"/>
              <a:ext cx="1300000" cy="400000"/>
            </a:xfrm>
            <a:prstGeom prst="rect">
              <a:avLst/>
            </a:prstGeom>
            <a:solidFill>
              <a:srgbClr val="A39382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>
                  <a:solidFill>
                    <a:srgbClr val="FFFFFF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2종 종류주 500</a:t>
              </a:r>
              <a:endParaRPr lang="ko-KR" altLang="en-US" sz="85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endParaRPr>
            </a:p>
          </p:txBody>
        </p:sp>
        <p:sp>
          <p:nvSpPr>
            <p:cNvPr id="124" name="재원 3종 종류주"/>
            <p:cNvSpPr/>
            <p:nvPr/>
          </p:nvSpPr>
          <p:spPr>
            <a:xfrm>
              <a:off x="1675760" y="4543008"/>
              <a:ext cx="1300000" cy="300000"/>
            </a:xfrm>
            <a:prstGeom prst="rect">
              <a:avLst/>
            </a:prstGeom>
            <a:solidFill>
              <a:srgbClr val="A39382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>
                  <a:solidFill>
                    <a:srgbClr val="FFFFFF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3종 종류주 100</a:t>
              </a:r>
              <a:endParaRPr lang="ko-KR" altLang="en-US" sz="85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endParaRPr>
            </a:p>
          </p:txBody>
        </p:sp>
        <p:sp>
          <p:nvSpPr>
            <p:cNvPr id="116" name="재원 보통주"/>
            <p:cNvSpPr/>
            <p:nvPr/>
          </p:nvSpPr>
          <p:spPr>
            <a:xfrm>
              <a:off x="1675760" y="4843008"/>
              <a:ext cx="1300000" cy="300000"/>
            </a:xfrm>
            <a:prstGeom prst="rect">
              <a:avLst/>
            </a:prstGeom>
            <a:solidFill>
              <a:srgbClr val="A39382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>
                  <a:solidFill>
                    <a:srgbClr val="FFFFFF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보통주 148</a:t>
              </a:r>
              <a:endParaRPr lang="ko-KR" altLang="en-US" sz="850">
                <a:solidFill>
                  <a:srgbClr val="FFFFFF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endParaRPr>
            </a:p>
          </p:txBody>
        </p:sp>
      </p:grpSp>
      <p:sp>
        <p:nvSpPr>
          <p:cNvPr id="117" name="구분선"/>
          <p:cNvSpPr/>
          <p:nvPr/>
        </p:nvSpPr>
        <p:spPr>
          <a:xfrm>
            <a:off x="3200000" y="896112"/>
            <a:ext cx="0" cy="55778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섹션 마커"/>
          <p:cNvSpPr/>
          <p:nvPr/>
        </p:nvSpPr>
        <p:spPr>
          <a:xfrm>
            <a:off x="3275760" y="90525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endParaRPr lang="ko-KR" altLang="en-US"/>
          </a:p>
        </p:txBody>
      </p:sp>
      <p:sp>
        <p:nvSpPr>
          <p:cNvPr id="119" name="섹션 제목"/>
          <p:cNvSpPr txBox="1"/>
          <p:nvPr/>
        </p:nvSpPr>
        <p:spPr>
          <a:xfrm>
            <a:off x="3458640" y="850392"/>
            <a:ext cx="5200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l">
              <a:buNone/>
            </a:pPr>
            <a:r>
              <a:rPr lang="ko-KR" altLang="en-US" sz="130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참여 주체별 역할 및 수익률</a:t>
            </a:r>
            <a:r>
              <a:rPr lang="ko-KR" altLang="en-US" sz="90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( 수익률 : 재무모델 Base case 기준 )</a:t>
            </a:r>
            <a:endParaRPr lang="ko-KR" altLang="en-US" sz="900">
              <a:solidFill>
                <a:srgbClr val="262626"/>
              </a:solidFill>
              <a:latin typeface="나눔스퀘어" pitchFamily="34" charset="0"/>
              <a:ea typeface="나눔스퀘어" pitchFamily="34" charset="-122"/>
              <a:cs typeface="나눔스퀘어" pitchFamily="34" charset="-120"/>
            </a:endParaRPr>
          </a:p>
        </p:txBody>
      </p:sp>
      <p:sp>
        <p:nvSpPr>
          <p:cNvPr id="120" name="단위"/>
          <p:cNvSpPr txBox="1"/>
          <p:nvPr/>
        </p:nvSpPr>
        <p:spPr>
          <a:xfrm>
            <a:off x="10451592" y="9600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r">
              <a:buNone/>
            </a:pPr>
            <a:r>
              <a:rPr lang="ko-KR" altLang="en-US" sz="90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(단위 : 억원, %)</a:t>
            </a:r>
            <a:endParaRPr lang="ko-KR" altLang="en-US" sz="900">
              <a:solidFill>
                <a:srgbClr val="262626"/>
              </a:solidFill>
              <a:latin typeface="나눔스퀘어" pitchFamily="34" charset="0"/>
              <a:ea typeface="나눔스퀘어" pitchFamily="34" charset="-122"/>
              <a:cs typeface="나눔스퀘어" pitchFamily="34" charset="-120"/>
            </a:endParaRPr>
          </a:p>
        </p:txBody>
      </p:sp>
      <p:graphicFrame>
        <p:nvGraphicFramePr>
          <p:cNvPr id="121" name="주체별 수익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22387"/>
              </p:ext>
            </p:extLst>
          </p:nvPr>
        </p:nvGraphicFramePr>
        <p:xfrm>
          <a:off x="3275759" y="1207008"/>
          <a:ext cx="8469711" cy="38810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14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7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67994236"/>
                    </a:ext>
                  </a:extLst>
                </a:gridCol>
              </a:tblGrid>
              <a:tr h="121966">
                <a:tc rowSpan="2"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 성격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본 사업 내 역할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All-in = 수수료 + Coupon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부수 용역 등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66">
                <a:tc gridSpan="2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All-in</a:t>
                      </a:r>
                      <a:endParaRPr lang="ko-KR" altLang="en-US" sz="8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수수료</a:t>
                      </a:r>
                      <a:endParaRPr lang="ko-KR" altLang="en-US" sz="8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Coupon</a:t>
                      </a:r>
                      <a:endParaRPr lang="ko-KR" altLang="en-US" sz="8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내용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 row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Loan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선순위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(1,600억,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5.50%)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우리은행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은행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선순위 Tr.A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LOC 1,600억 (9/21)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1,600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5.50%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0.73%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4.78%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중순위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(380억,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6.50%)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키움캐피탈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캐피탈사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중순위 (LOC 200억)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200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6.50%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0.50%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6.00%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엠지캐피탈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캐피탈사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중순위 (LOC 100억)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100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6.50%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0.50%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6.00%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DB저축은행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저축은행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중순위 (LOC [미접수])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80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6.50%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0.50%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6.00%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595959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보증금</a:t>
                      </a:r>
                      <a:endParaRPr lang="ko-KR" altLang="en-US" sz="850">
                        <a:solidFill>
                          <a:srgbClr val="595959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595959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(21억)</a:t>
                      </a:r>
                      <a:endParaRPr lang="ko-KR" altLang="en-US" sz="800">
                        <a:solidFill>
                          <a:srgbClr val="595959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쿠팡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임차인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임대차보증금 (무수익)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21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0.0%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97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Loan 소계 (가중평균)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2,001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5.63%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0.67%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4.96%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-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19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200">
                        <a:solidFill>
                          <a:srgbClr val="C00000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8857961"/>
                  </a:ext>
                </a:extLst>
              </a:tr>
              <a:tr h="121966">
                <a:tc rowSpan="2"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 성격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본 사업 내 역할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투자수익률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부수 용역 등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58303017"/>
                  </a:ext>
                </a:extLst>
              </a:tr>
              <a:tr h="121966">
                <a:tc gridSpan="2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IRR (%)</a:t>
                      </a:r>
                      <a:endParaRPr lang="ko-KR" altLang="en-US" sz="8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I.G (%)</a:t>
                      </a:r>
                      <a:endParaRPr lang="ko-KR" altLang="en-US" sz="8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C.G (%)</a:t>
                      </a:r>
                      <a:endParaRPr lang="ko-KR" altLang="en-US" sz="8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내용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  <a:endParaRPr lang="ko-KR" altLang="en-US" sz="90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070225"/>
                  </a:ext>
                </a:extLst>
              </a:tr>
              <a:tr h="250000">
                <a:tc rowSpan="7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Equity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보통주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(148억)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KLI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상장 리츠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(모리츠)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보통주 출자 (100%)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의결권 71.4%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148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16.18%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0.75%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31.80%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/>
                      </a:r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/>
                        <a:t/>
                      </a: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1종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종류주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(240억)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1종 FI 4개사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FI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1종 인수 (LOC)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2년 후 KLI 매도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240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7.12%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7.00%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/>
                      </a:r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/>
                        <a:t/>
                      </a: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2종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종류주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(500억)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2종 FI 3개사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FI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2종 인수 (LOC)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1년 후 KLI 매도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340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7.59%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7.50%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/>
                      </a:r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/>
                        <a:t/>
                      </a: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/>
                        <a:t/>
                      </a: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KLI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상장 리츠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2종 출자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C.G 20% 배분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160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9.15%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7.50%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2.35%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/>
                      </a:r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/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3종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종류주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(100억)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코크렙안양</a:t>
                      </a:r>
                      <a:endParaRPr lang="ko-KR" altLang="en-US" sz="900">
                        <a:solidFill>
                          <a:srgbClr val="C00000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매도인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(LF 계열)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매매대금 상계납입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2년 내 유상감자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100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0.00%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0.00%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0.00%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C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본건 매도</a:t>
                      </a:r>
                      <a:endParaRPr lang="ko-KR" altLang="en-US" sz="850">
                        <a:solidFill>
                          <a:srgbClr val="C00000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2,700</a:t>
                      </a:r>
                      <a:endParaRPr lang="ko-KR" altLang="en-US" sz="900">
                        <a:solidFill>
                          <a:srgbClr val="C00000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/>
                        <a:t/>
                      </a: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KLI 합산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KLI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상장 리츠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1·2종 580 매입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80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최종 888억 보유</a:t>
                      </a:r>
                      <a:endParaRPr lang="ko-KR" altLang="en-US" sz="80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(580)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10.99%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5.44%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6.63%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  <a:endParaRPr lang="ko-KR" altLang="en-US" sz="85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/>
                      </a:r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Equity 소계 (3종 제외 888억 기준 수익률)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988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10.21%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6.10%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6.48%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-</a:t>
                      </a:r>
                      <a:endParaRPr lang="ko-KR" altLang="en-US" sz="90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980"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5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E + L </a:t>
                      </a:r>
                      <a:r>
                        <a:rPr lang="ko-KR" altLang="en-US" sz="95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합 계  (= 총 투자비)</a:t>
                      </a:r>
                      <a:endParaRPr lang="ko-KR" altLang="en-US" sz="95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2,989</a:t>
                      </a:r>
                      <a:endParaRPr lang="ko-KR" altLang="en-US" sz="95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  <a:endParaRPr lang="ko-KR" altLang="en-US" sz="95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  <a:endParaRPr lang="ko-KR" altLang="en-US" sz="95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  <a:endParaRPr lang="ko-KR" altLang="en-US" sz="95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  <a:endParaRPr lang="ko-KR" altLang="en-US" sz="95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22" name="작성요령"/>
          <p:cNvSpPr txBox="1"/>
          <p:nvPr/>
        </p:nvSpPr>
        <p:spPr>
          <a:xfrm>
            <a:off x="3275760" y="6250000"/>
            <a:ext cx="7845086" cy="557554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t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대주 : All-in = 취급수수료(24개월 연환산) + Coupon. 보증금 21억(쿠팡 5~7층, 담보신탁 1순위)은 무이자 조달로 Loan에 포함(그 외 보증금 50.7억은 예금질권 예치로 S&amp;U 제외). 중순위 구성은 10/6 의견본 기준</a:t>
            </a:r>
          </a:p>
          <a:p>
            <a:r>
              <a:rPr lang="ko-KR" altLang="en-US" sz="80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투자자 : IRR(C.G 포함)·I.G(운영배당 CoC)·C.G(매각차익÷투자금÷10년), 재무모델 Base case. KLI = 코람코라이프인프라리츠. 1종 FI = 이지스리츠3호·키움·애큐온·엠지캐피탈, 2종 FI = 삼성증권·이지스K리츠·기계설비조합(발행가 매도, C.G 없음)</a:t>
            </a:r>
          </a:p>
          <a:p>
            <a:pPr marL="0" indent="0" algn="l">
              <a:buNone/>
            </a:pPr>
            <a:r>
              <a:rPr lang="ko-KR" altLang="en-US" sz="80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출자·용역 겸업 기관은 붉은색 / [ ] 는 미확정 / 출처 : 재무모델 v04(2026-10-06) IM·Sell-down 탭, 확정 T/S(9/22), 주주간계약서 BKL v30.5, 투심자료 v12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494</Words>
  <Application>Microsoft Office PowerPoint</Application>
  <PresentationFormat>와이드스크린</PresentationFormat>
  <Paragraphs>167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나눔스퀘어</vt:lpstr>
      <vt:lpstr>나눔스퀘어 Bold</vt:lpstr>
      <vt:lpstr>나눔스퀘어 ExtraBold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안 용현(Yonghyeon,Ahn)</cp:lastModifiedBy>
  <cp:revision>31</cp:revision>
  <cp:lastPrinted>2026-10-07T00:13:53Z</cp:lastPrinted>
  <dcterms:created xsi:type="dcterms:W3CDTF">2026-10-02T02:28:43Z</dcterms:created>
  <dcterms:modified xsi:type="dcterms:W3CDTF">2026-10-07T08:02:10Z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Vy15GeTVEJyp-_v6ziN0YnSZvo4202504070000000</vt:lpwstr>
  </property>
  <property fmtid="{D5CDD505-2E9C-101B-9397-08002B2CF9AE}" pid="3" name="docPath">
    <vt:lpwstr>QzpcVXNlcnNceXN3NDAwMVxEZXNrdG9wXOyyqOu2gDEuIOKRoSDrpqzsuKDtiKzsnpDsi6zsnZjsnITsm5Dtmowg7ZWE7IiY7J6Q66OMIOyWkeyLnV8yNjEwMDZfM+uyiCDstpTqsIBfdjUucHB0eA==</vt:lpwstr>
  </property>
  <property fmtid="{D5CDD505-2E9C-101B-9397-08002B2CF9AE}" pid="4" name="docUid">
    <vt:lpwstr>dNZoZMKbvyP8WkkyiekIVOZe4HY</vt:lpwstr>
  </property>
  <property fmtid="{D5CDD505-2E9C-101B-9397-08002B2CF9AE}" pid="5" name="parentBranchUid">
    <vt:lpwstr>A7BafkKde0riDlfw9grJczNLDpk202504070000000</vt:lpwstr>
  </property>
</Properties>
</file>