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70"/>
  </p:notesMasterIdLst>
  <p:handoutMasterIdLst>
    <p:handoutMasterId r:id="rId71"/>
  </p:handoutMasterIdLst>
  <p:sldIdLst>
    <p:sldId id="1686" r:id="rId25"/>
    <p:sldId id="1798" r:id="rId26"/>
    <p:sldId id="2076139284" r:id="rId27"/>
    <p:sldId id="1740" r:id="rId28"/>
    <p:sldId id="1743" r:id="rId29"/>
    <p:sldId id="1799" r:id="rId30"/>
    <p:sldId id="1806" r:id="rId31"/>
    <p:sldId id="1825" r:id="rId32"/>
    <p:sldId id="1805" r:id="rId33"/>
    <p:sldId id="1807" r:id="rId34"/>
    <p:sldId id="1786" r:id="rId35"/>
    <p:sldId id="1785" r:id="rId36"/>
    <p:sldId id="2076139285" r:id="rId37"/>
    <p:sldId id="2076139286" r:id="rId38"/>
    <p:sldId id="1829" r:id="rId39"/>
    <p:sldId id="1781" r:id="rId40"/>
    <p:sldId id="1782" r:id="rId41"/>
    <p:sldId id="1809" r:id="rId42"/>
    <p:sldId id="1748" r:id="rId43"/>
    <p:sldId id="1789" r:id="rId44"/>
    <p:sldId id="1795" r:id="rId45"/>
    <p:sldId id="1752" r:id="rId46"/>
    <p:sldId id="2076139283" r:id="rId47"/>
    <p:sldId id="1771" r:id="rId48"/>
    <p:sldId id="1754" r:id="rId49"/>
    <p:sldId id="1772" r:id="rId50"/>
    <p:sldId id="1773" r:id="rId51"/>
    <p:sldId id="2076139280" r:id="rId52"/>
    <p:sldId id="1831" r:id="rId53"/>
    <p:sldId id="1791" r:id="rId67"/>
    <p:sldId id="1787" r:id="rId68"/>
    <p:sldId id="2076139300" r:id="rId76"/>
    <p:sldId id="2076139301" r:id="rId77"/>
    <p:sldId id="2076139302" r:id="rId78"/>
    <p:sldId id="1779" r:id="rId69"/>
  </p:sldIdLst>
  <p:sldSz cx="10691813" cy="7559675"/>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Lst>
        </p14:section>
        <p14:section name="제목 없는 구역" id="{4AD286F9-A05C-4E79-9E70-0FA3F0FE4634}">
          <p14:sldIdLst>
            <p14:sldId id="256"/>
            <p14:sldId id="2076139278"/>
            <p14:sldId id="257"/>
          </p14:sldIdLst>
        </p14:section>
        <p14:section name="제목 없는 구역" id="{ED6FCE67-FAF3-4DFA-8C74-14CAE0AB5EFD}">
          <p14:sldIdLst>
            <p14:sldId id="1175"/>
            <p14:sldId id="2076139257"/>
            <p14:sldId id="2076139290"/>
            <p14:sldId id="2076139291"/>
            <p14:sldId id="1176"/>
            <p14:sldId id="2076139295"/>
            <p14:sldId id="2076139296"/>
            <p14:sldId id="2076139297"/>
            <p14:sldId id="2076139298"/>
            <p14:sldId id="2076139262"/>
            <p14:sldId id="2076139263"/>
            <p14:sldId id="2076139264"/>
            <p14:sldId id="2076139266"/>
            <p14:sldId id="2076139268"/>
            <p14:sldId id="1814"/>
            <p14:sldId id="1183"/>
            <p14:sldId id="2076139267"/>
          </p14:sldIdLst>
        </p14:section>
        <p14:section name="제목 없는 구역" id="{173DE95B-9F57-4D39-B3FD-CED6B2100408}">
          <p14:sldIdLst>
            <p14:sldId id="1686"/>
            <p14:sldId id="1798"/>
            <p14:sldId id="2076139284"/>
            <p14:sldId id="1740"/>
            <p14:sldId id="1743"/>
            <p14:sldId id="1799"/>
            <p14:sldId id="1806"/>
            <p14:sldId id="1825"/>
            <p14:sldId id="1805"/>
            <p14:sldId id="1807"/>
            <p14:sldId id="1786"/>
            <p14:sldId id="1785"/>
            <p14:sldId id="2076139285"/>
            <p14:sldId id="2076139286"/>
            <p14:sldId id="1829"/>
            <p14:sldId id="1781"/>
            <p14:sldId id="1782"/>
            <p14:sldId id="1809"/>
            <p14:sldId id="1748"/>
            <p14:sldId id="1789"/>
            <p14:sldId id="1795"/>
            <p14:sldId id="1752"/>
            <p14:sldId id="2076139283"/>
            <p14:sldId id="1771"/>
            <p14:sldId id="1754"/>
            <p14:sldId id="1772"/>
            <p14:sldId id="1773"/>
            <p14:sldId id="2076139280"/>
            <p14:sldId id="1831"/>
          </p14:sldIdLst>
        </p14:section>
        <p14:section name="제목 없는 구역" id="{588BA32F-ABFF-4A22-A67F-329404AFA8EF}">
          <p14:sldIdLst>
            <p14:sldId id="2076139281"/>
            <p14:sldId id="1833"/>
            <p14:sldId id="2076139238"/>
            <p14:sldId id="2076139240"/>
            <p14:sldId id="2076139279"/>
            <p14:sldId id="2076139282"/>
            <p14:sldId id="2076139288"/>
            <p14:sldId id="2076139277"/>
            <p14:sldId id="2076139289"/>
            <p14:sldId id="2076139299"/>
            <p14:sldId id="2076139256"/>
            <p14:sldId id="2076139292"/>
            <p14:sldId id="2076139294"/>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48"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383"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429" userDrawn="1">
          <p15:clr>
            <a:srgbClr val="9FCC3B"/>
          </p15:clr>
        </p15:guide>
        <p15:guide id="39" pos="3504"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6F6"/>
    <a:srgbClr val="1F4E79"/>
    <a:srgbClr val="BDD7EE"/>
    <a:srgbClr val="D9D9D9"/>
    <a:srgbClr val="F8CBAD"/>
    <a:srgbClr val="DAE3F3"/>
    <a:srgbClr val="0000FF"/>
    <a:srgbClr val="843C0C"/>
    <a:srgbClr val="6DA7F2"/>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76" autoAdjust="0"/>
    <p:restoredTop sz="96242" autoAdjust="0"/>
  </p:normalViewPr>
  <p:slideViewPr>
    <p:cSldViewPr showGuides="1">
      <p:cViewPr varScale="1">
        <p:scale>
          <a:sx n="97" d="100"/>
          <a:sy n="97" d="100"/>
        </p:scale>
        <p:origin x="1602" y="90"/>
      </p:cViewPr>
      <p:guideLst>
        <p:guide orient="horz" pos="4195"/>
        <p:guide orient="horz" pos="680"/>
        <p:guide orient="horz" pos="1111"/>
        <p:guide orient="horz" pos="3606"/>
        <p:guide orient="horz" pos="1496"/>
        <p:guide orient="horz" pos="4105"/>
        <p:guide pos="601"/>
        <p:guide pos="1780"/>
        <p:guide pos="396"/>
        <p:guide pos="1689"/>
        <p:guide pos="4842"/>
        <p:guide orient="horz" pos="2948"/>
        <p:guide pos="4910"/>
        <p:guide orient="horz" pos="907"/>
        <p:guide pos="283"/>
        <p:guide orient="horz" pos="1383"/>
        <p:guide orient="horz" pos="1633"/>
        <p:guide pos="3367"/>
        <p:guide pos="3299"/>
        <p:guide pos="6429"/>
        <p:guide pos="3504"/>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notesMaster" Target="notesMasters/notesMaster1.xml"/><Relationship Id="rId71" Type="http://schemas.openxmlformats.org/officeDocument/2006/relationships/handoutMaster" Target="handoutMasters/handout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w="12700">
              <a:solidFill>
                <a:schemeClr val="accent1">
                  <a:lumMod val="75000"/>
                </a:schemeClr>
              </a:solidFill>
            </a:ln>
            <a:effectLst>
              <a:outerShdw blurRad="50800" dist="38100" dir="2700000" algn="tl" rotWithShape="0">
                <a:prstClr val="black">
                  <a:alpha val="40000"/>
                </a:prst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4"/>
            <a:ext cx="3079202" cy="513858"/>
          </a:xfrm>
          <a:prstGeom prst="rect">
            <a:avLst/>
          </a:prstGeom>
        </p:spPr>
        <p:txBody>
          <a:bodyPr vert="horz" lIns="94773" tIns="47386" rIns="94773" bIns="47386"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4023204" y="4"/>
            <a:ext cx="3079202" cy="513858"/>
          </a:xfrm>
          <a:prstGeom prst="rect">
            <a:avLst/>
          </a:prstGeom>
        </p:spPr>
        <p:txBody>
          <a:bodyPr vert="horz" lIns="94773" tIns="47386" rIns="94773" bIns="47386"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2026-10-12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1" y="9720760"/>
            <a:ext cx="3079202" cy="513858"/>
          </a:xfrm>
          <a:prstGeom prst="rect">
            <a:avLst/>
          </a:prstGeom>
        </p:spPr>
        <p:txBody>
          <a:bodyPr vert="horz" lIns="94773" tIns="47386" rIns="94773" bIns="47386"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4023204" y="9720760"/>
            <a:ext cx="3079202" cy="513858"/>
          </a:xfrm>
          <a:prstGeom prst="rect">
            <a:avLst/>
          </a:prstGeom>
        </p:spPr>
        <p:txBody>
          <a:bodyPr vert="horz" lIns="94773" tIns="47386" rIns="94773" bIns="47386"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5"/>
            <a:ext cx="3078427" cy="511731"/>
          </a:xfrm>
          <a:prstGeom prst="rect">
            <a:avLst/>
          </a:prstGeom>
        </p:spPr>
        <p:txBody>
          <a:bodyPr vert="horz" lIns="94755" tIns="47376" rIns="94755" bIns="47376"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4024000" y="5"/>
            <a:ext cx="3078427" cy="511731"/>
          </a:xfrm>
          <a:prstGeom prst="rect">
            <a:avLst/>
          </a:prstGeom>
        </p:spPr>
        <p:txBody>
          <a:bodyPr vert="horz" lIns="94755" tIns="47376" rIns="94755" bIns="47376"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2026-10-12</a:t>
            </a:fld>
            <a:endParaRPr lang="ko-KR" altLang="en-US"/>
          </a:p>
        </p:txBody>
      </p:sp>
      <p:sp>
        <p:nvSpPr>
          <p:cNvPr id="4" name="슬라이드 이미지 개체 틀 3"/>
          <p:cNvSpPr>
            <a:spLocks noGrp="1" noRot="1" noChangeAspect="1"/>
          </p:cNvSpPr>
          <p:nvPr>
            <p:ph type="sldImg" idx="2"/>
          </p:nvPr>
        </p:nvSpPr>
        <p:spPr>
          <a:xfrm>
            <a:off x="838200" y="768350"/>
            <a:ext cx="5427663" cy="3838575"/>
          </a:xfrm>
          <a:prstGeom prst="rect">
            <a:avLst/>
          </a:prstGeom>
          <a:noFill/>
          <a:ln w="12700">
            <a:solidFill>
              <a:prstClr val="black"/>
            </a:solidFill>
          </a:ln>
        </p:spPr>
        <p:txBody>
          <a:bodyPr vert="horz" lIns="94755" tIns="47376" rIns="94755" bIns="47376" rtlCol="0" anchor="ctr"/>
          <a:lstStyle/>
          <a:p>
            <a:endParaRPr lang="ko-KR" altLang="en-US" dirty="0"/>
          </a:p>
        </p:txBody>
      </p:sp>
      <p:sp>
        <p:nvSpPr>
          <p:cNvPr id="5" name="슬라이드 노트 개체 틀 4"/>
          <p:cNvSpPr>
            <a:spLocks noGrp="1"/>
          </p:cNvSpPr>
          <p:nvPr>
            <p:ph type="body" sz="quarter" idx="3"/>
          </p:nvPr>
        </p:nvSpPr>
        <p:spPr>
          <a:xfrm>
            <a:off x="710408" y="4861447"/>
            <a:ext cx="5683250" cy="4605576"/>
          </a:xfrm>
          <a:prstGeom prst="rect">
            <a:avLst/>
          </a:prstGeom>
        </p:spPr>
        <p:txBody>
          <a:bodyPr vert="horz" lIns="94755" tIns="47376" rIns="94755" bIns="47376"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721111"/>
            <a:ext cx="3078427" cy="511731"/>
          </a:xfrm>
          <a:prstGeom prst="rect">
            <a:avLst/>
          </a:prstGeom>
        </p:spPr>
        <p:txBody>
          <a:bodyPr vert="horz" lIns="94755" tIns="47376" rIns="94755" bIns="47376"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4024000" y="9721111"/>
            <a:ext cx="3078427" cy="511731"/>
          </a:xfrm>
          <a:prstGeom prst="rect">
            <a:avLst/>
          </a:prstGeom>
        </p:spPr>
        <p:txBody>
          <a:bodyPr vert="horz" lIns="94755" tIns="47376" rIns="94755" bIns="47376"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21</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89900">
              <a:defRPr/>
            </a:pPr>
            <a:fld id="{2B8DFE68-44DA-46E6-B8A3-9F09BDCA52AB}" type="slidenum">
              <a:rPr lang="ko-KR" altLang="en-US">
                <a:solidFill>
                  <a:prstClr val="black"/>
                </a:solidFill>
              </a:rPr>
              <a:pPr defTabSz="489900">
                <a:defRPr/>
              </a:pPr>
              <a:t>31</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89900">
              <a:defRPr/>
            </a:pPr>
            <a:fld id="{2B8DFE68-44DA-46E6-B8A3-9F09BDCA52AB}" type="slidenum">
              <a:rPr lang="ko-KR" altLang="en-US">
                <a:solidFill>
                  <a:prstClr val="black"/>
                </a:solidFill>
              </a:rPr>
              <a:pPr defTabSz="489900">
                <a:defRPr/>
              </a:pPr>
              <a:t>32</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pPr defTabSz="473339">
              <a:defRPr/>
            </a:pPr>
            <a:fld id="{2B8DFE68-44DA-46E6-B8A3-9F09BDCA52AB}" type="slidenum">
              <a:rPr lang="ko-KR" altLang="en-US">
                <a:solidFill>
                  <a:prstClr val="black"/>
                </a:solidFill>
              </a:rPr>
              <a:pPr defTabSz="473339">
                <a:defRPr/>
              </a:pPr>
              <a:t>34</a:t>
            </a:fld>
            <a:endParaRPr lang="ko-KR" altLang="en-US">
              <a:solidFill>
                <a:prstClr val="black"/>
              </a:solidFill>
            </a:endParaRPr>
          </a:p>
        </p:txBody>
      </p:sp>
    </p:spTree>
    <p:extLst>
      <p:ext uri="{BB962C8B-B14F-4D97-AF65-F5344CB8AC3E}">
        <p14:creationId xmlns:p14="http://schemas.microsoft.com/office/powerpoint/2010/main" val="2542284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39</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40</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41</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42</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리스크 요인분석 및 관리방안</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시설현황</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4534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5"/>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I Information Memorandum | 리츠투자부문/상장리츠본부/상장리츠팀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 id="214748377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microsoft.com/office/2007/relationships/hdphoto" Target="../media/hdphoto2.wdp"/></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6.png"/><Relationship Id="rId3" Type="http://schemas.openxmlformats.org/officeDocument/2006/relationships/chart" Target="../charts/chart5.xml"/><Relationship Id="rId4" Type="http://schemas.openxmlformats.org/officeDocument/2006/relationships/image" Target="../media/image37.png"/><Relationship Id="rId5" Type="http://schemas.openxmlformats.org/officeDocument/2006/relationships/image" Target="../media/image38.jpeg"/><Relationship Id="rId6" Type="http://schemas.openxmlformats.org/officeDocument/2006/relationships/image" Target="../media/image39.jpeg"/><Relationship Id="rId7" Type="http://schemas.openxmlformats.org/officeDocument/2006/relationships/image" Target="../media/image40.jpeg"/><Relationship Id="rId8" Type="http://schemas.openxmlformats.org/officeDocument/2006/relationships/image" Target="../media/image41.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9.png"/></Relationships>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Information Memorandum</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3258584"/>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리스크 요인분석 및 관리방안</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시설현황</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층별 도면 및 Floor Plan</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l Information Memorandum</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프라임</a:t>
            </a:r>
            <a:r>
              <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물류센터를 경쟁력 있는 가격에 투자할 수 있는 기회로 향후 자산가치의 상승 기대</a:t>
            </a:r>
            <a:endPar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5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0% </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449362"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2,700</a:t>
              </a:r>
              <a:r>
                <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감정가 3,345억 대비 −19.3%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Cap.Rate</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 4.9%*</a:t>
              </a:r>
              <a:endPar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427487"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LTV (</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감정가 기준</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a:t>
                </a:r>
                <a:endPar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59.8%</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보증금</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선순위</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중순위</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포함</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담보 감정가 기준</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endPar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6383737"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전체</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Equity</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CoC 6.2%</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1·2</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종 우선주</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보통주</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가중평균 치</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(3</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종 우선주 제외</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300" b="1" i="0" u="none" strike="noStrike" kern="1200" cap="none" spc="0" normalizeH="0" baseline="0" noProof="0" dirty="0">
                <a:ln>
                  <a:noFill/>
                </a:ln>
                <a:solidFill>
                  <a:srgbClr val="8B0000"/>
                </a:solidFill>
                <a:effectLst/>
                <a:uLnTx/>
                <a:uFillTx/>
                <a:latin typeface="KoPubWorld돋움체 Bold"/>
                <a:ea typeface="KoPubWorld돋움체 Bold"/>
                <a:cs typeface="KoPubWorld돋움체 Bold"/>
              </a:rPr>
              <a:t>Key Investment Highlights</a:t>
            </a:r>
            <a:endParaRPr kumimoji="0" lang="ko-KR" altLang="en-US" sz="1300" b="1" i="0" u="none" strike="noStrike" kern="1200" cap="none" spc="0" normalizeH="0" baseline="0" noProof="0" dirty="0">
              <a:ln>
                <a:noFill/>
              </a:ln>
              <a:solidFill>
                <a:srgbClr val="8B0000"/>
              </a:solidFill>
              <a:effectLst/>
              <a:uLnTx/>
              <a:uFillTx/>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WALE 6.7</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년</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거래 종결일 기준</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ko-KR" altLang="en-US" sz="1200" b="0" i="0" u="none" strike="noStrike" kern="1200" cap="none" spc="0" normalizeH="0" baseline="0" noProof="0" dirty="0" err="1">
                  <a:ln>
                    <a:noFill/>
                  </a:ln>
                  <a:solidFill>
                    <a:srgbClr val="1F1F1F"/>
                  </a:solidFill>
                  <a:effectLst/>
                  <a:uLnTx/>
                  <a:uFillTx/>
                  <a:latin typeface="KoPubWorld돋움체 Light"/>
                  <a:ea typeface="KoPubWorld돋움체 Light"/>
                  <a:cs typeface="KoPubWorld돋움체 Light"/>
                </a:rPr>
                <a:t>공실률</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0.68%</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의 </a:t>
              </a:r>
              <a:r>
                <a:rPr lang="ko-KR" altLang="en-US" sz="1200" dirty="0">
                  <a:solidFill>
                    <a:srgbClr val="1F1F1F"/>
                  </a:solidFill>
                  <a:latin typeface="KoPubWorld돋움체 Light"/>
                  <a:ea typeface="KoPubWorld돋움체 Light"/>
                  <a:cs typeface="KoPubWorld돋움체 Light"/>
                </a:rPr>
                <a:t>풍부한</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수도권 초 근접지로서 </a:t>
              </a:r>
              <a:r>
                <a:rPr kumimoji="0" lang="ko-KR" altLang="en-US" sz="1200" b="0" i="0" u="none" strike="noStrike" kern="1200" cap="none" spc="0" normalizeH="0" baseline="0" noProof="0" dirty="0" err="1">
                  <a:ln>
                    <a:noFill/>
                  </a:ln>
                  <a:solidFill>
                    <a:srgbClr val="1F1F1F"/>
                  </a:solidFill>
                  <a:effectLst/>
                  <a:uLnTx/>
                  <a:uFillTx/>
                  <a:latin typeface="KoPubWorld돋움체 Light"/>
                  <a:ea typeface="KoPubWorld돋움체 Light"/>
                  <a:cs typeface="KoPubWorld돋움체 Light"/>
                </a:rPr>
                <a:t>라스트마일</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Core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물류센터 공급 제한</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중부권역 희소한 자산으로 임대료 상승 시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Upside Potential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 </a:t>
            </a:r>
            <a:r>
              <a:rPr kumimoji="0" lang="en-US" altLang="ko-KR"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Cap.Rate</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 : NOI/(</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매입가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임대보증금</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8361861"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전체</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Equity</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IRR 10.2%</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10년 </a:t>
              </a: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평균</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a:t>
              </a: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추정</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Equity </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수익률</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Exit. Cap. 4.89% </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가정 시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6" name="그룹 5">
            <a:extLst>
              <a:ext uri="{FF2B5EF4-FFF2-40B4-BE49-F238E27FC236}">
                <a16:creationId xmlns:a16="http://schemas.microsoft.com/office/drawing/2014/main" id="{2BF23D6A-0732-466E-266E-D26CF550856D}"/>
              </a:ext>
            </a:extLst>
          </p:cNvPr>
          <p:cNvGrpSpPr/>
          <p:nvPr/>
        </p:nvGrpSpPr>
        <p:grpSpPr>
          <a:xfrm>
            <a:off x="4405612" y="2213297"/>
            <a:ext cx="1941736" cy="1206500"/>
            <a:chOff x="4315051" y="2213297"/>
            <a:chExt cx="1941736" cy="1206500"/>
          </a:xfrm>
        </p:grpSpPr>
        <p:sp>
          <p:nvSpPr>
            <p:cNvPr id="7" name="직사각형 6">
              <a:extLst>
                <a:ext uri="{FF2B5EF4-FFF2-40B4-BE49-F238E27FC236}">
                  <a16:creationId xmlns:a16="http://schemas.microsoft.com/office/drawing/2014/main" id="{CBDA8522-5086-9BF7-5AB2-176D4F5D2FF3}"/>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8" name="직사각형 7">
              <a:extLst>
                <a:ext uri="{FF2B5EF4-FFF2-40B4-BE49-F238E27FC236}">
                  <a16:creationId xmlns:a16="http://schemas.microsoft.com/office/drawing/2014/main" id="{03955CBE-D1BB-BB44-9C8D-31258702DD96}"/>
                </a:ext>
              </a:extLst>
            </p:cNvPr>
            <p:cNvSpPr/>
            <p:nvPr/>
          </p:nvSpPr>
          <p:spPr>
            <a:xfrm>
              <a:off x="4315051" y="2213297"/>
              <a:ext cx="41983" cy="1206500"/>
            </a:xfrm>
            <a:prstGeom prst="rect">
              <a:avLst/>
            </a:prstGeom>
            <a:solidFill>
              <a:srgbClr val="345B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CDDFBAAB-F4B3-C602-7176-D381F8B74A58}"/>
                </a:ext>
              </a:extLst>
            </p:cNvPr>
            <p:cNvSpPr txBox="1"/>
            <p:nvPr/>
          </p:nvSpPr>
          <p:spPr>
            <a:xfrm>
              <a:off x="4441001"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666666"/>
                  </a:solidFill>
                  <a:effectLst/>
                  <a:uLnTx/>
                  <a:uFillTx/>
                  <a:latin typeface="KoPubWorld돋움체 Light"/>
                  <a:ea typeface="KoPubWorld돋움체 Light"/>
                  <a:cs typeface="KoPubWorld돋움체 Light"/>
                </a:rPr>
                <a:t>공실률</a:t>
              </a:r>
              <a:endPar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endParaRPr>
            </a:p>
          </p:txBody>
        </p:sp>
        <p:sp>
          <p:nvSpPr>
            <p:cNvPr id="27" name="TextBox 26">
              <a:extLst>
                <a:ext uri="{FF2B5EF4-FFF2-40B4-BE49-F238E27FC236}">
                  <a16:creationId xmlns:a16="http://schemas.microsoft.com/office/drawing/2014/main" id="{2A6303A6-01A6-9EF5-BEE4-84895E47FCCD}"/>
                </a:ext>
              </a:extLst>
            </p:cNvPr>
            <p:cNvSpPr txBox="1"/>
            <p:nvPr/>
          </p:nvSpPr>
          <p:spPr>
            <a:xfrm>
              <a:off x="4441001"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0.68%</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8" name="TextBox 27">
              <a:extLst>
                <a:ext uri="{FF2B5EF4-FFF2-40B4-BE49-F238E27FC236}">
                  <a16:creationId xmlns:a16="http://schemas.microsoft.com/office/drawing/2014/main" id="{BD3B7F15-A05B-D498-8344-C0336A8022A6}"/>
                </a:ext>
              </a:extLst>
            </p:cNvPr>
            <p:cNvSpPr txBox="1"/>
            <p:nvPr/>
          </p:nvSpPr>
          <p:spPr>
            <a:xfrm>
              <a:off x="4441001"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안정적 임차수요를 바탕으로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향후 임대료 상승 기대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spTree>
    <p:extLst>
      <p:ext uri="{BB962C8B-B14F-4D97-AF65-F5344CB8AC3E}">
        <p14:creationId xmlns:p14="http://schemas.microsoft.com/office/powerpoint/2010/main" val="2613606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우량입지 자산으로서 안정성과 </a:t>
            </a:r>
            <a:r>
              <a:rPr lang="en-US" altLang="ko-KR" sz="1500" dirty="0">
                <a:solidFill>
                  <a:schemeClr val="tx1"/>
                </a:solidFill>
              </a:rPr>
              <a:t>Upside Potential</a:t>
            </a:r>
            <a:r>
              <a:rPr lang="ko-KR" altLang="en-US" sz="1500" dirty="0">
                <a:solidFill>
                  <a:schemeClr val="tx1"/>
                </a:solidFill>
              </a:rPr>
              <a:t>을 동시 확보할 수 있는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a:t>
            </a:r>
            <a:r>
              <a:rPr lang="en-US" altLang="ko-KR" sz="11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a:t>
            </a:r>
            <a:r>
              <a:rPr lang="en-US" altLang="ko-KR" sz="1100" baseline="30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 name="TextBox 4">
            <a:extLst>
              <a:ext uri="{FF2B5EF4-FFF2-40B4-BE49-F238E27FC236}">
                <a16:creationId xmlns:a16="http://schemas.microsoft.com/office/drawing/2014/main" id="{421EFD6B-8C15-0A93-DB15-F2982BA9E8DB}"/>
              </a:ext>
            </a:extLst>
          </p:cNvPr>
          <p:cNvSpPr txBox="1"/>
          <p:nvPr/>
        </p:nvSpPr>
        <p:spPr>
          <a:xfrm>
            <a:off x="283367" y="6813808"/>
            <a:ext cx="10009067" cy="215444"/>
          </a:xfrm>
          <a:prstGeom prst="rect">
            <a:avLst/>
          </a:prstGeom>
          <a:noFill/>
        </p:spPr>
        <p:txBody>
          <a:bodyPr wrap="square" rtlCol="0">
            <a:spAutoFit/>
          </a:bodyPr>
          <a:lstStyle/>
          <a:p>
            <a:pPr marL="228600" lvl="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담보목적 감정평가액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기준시점</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`26.09. </a:t>
            </a: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1786824371"/>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r>
                        <a:rPr lang="en-US" altLang="ko-KR" sz="1000" b="0" i="0" u="none" strike="noStrike" kern="1200" baseline="300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ko-KR" altLang="en-US" sz="1000" b="0" i="0" u="none" strike="noStrike" kern="1200" baseline="300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3,345</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
        <p:nvSpPr>
          <p:cNvPr id="12" name="TextBox 11">
            <a:extLst>
              <a:ext uri="{FF2B5EF4-FFF2-40B4-BE49-F238E27FC236}">
                <a16:creationId xmlns:a16="http://schemas.microsoft.com/office/drawing/2014/main" id="{77509D91-1204-7058-06CD-CB9A707D4C9A}"/>
              </a:ext>
            </a:extLst>
          </p:cNvPr>
          <p:cNvSpPr txBox="1"/>
          <p:nvPr/>
        </p:nvSpPr>
        <p:spPr>
          <a:xfrm>
            <a:off x="283367" y="6813808"/>
            <a:ext cx="10009067" cy="215444"/>
          </a:xfrm>
          <a:prstGeom prst="rect">
            <a:avLst/>
          </a:prstGeom>
          <a:noFill/>
        </p:spPr>
        <p:txBody>
          <a:bodyPr wrap="square" rtlCol="0">
            <a:spAutoFit/>
          </a:bodyPr>
          <a:lstStyle/>
          <a:p>
            <a:pPr marL="228600" lvl="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담보목적 감정평가액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기준시점</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`26.09. </a:t>
            </a: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extLst>
              <p:ext uri="{D42A27DB-BD31-4B8C-83A1-F6EECF244321}">
                <p14:modId xmlns:p14="http://schemas.microsoft.com/office/powerpoint/2010/main" val="3209620524"/>
              </p:ext>
            </p:extLst>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grpSp>
        <p:nvGrpSpPr>
          <p:cNvPr id="38" name="그룹 37">
            <a:extLst>
              <a:ext uri="{FF2B5EF4-FFF2-40B4-BE49-F238E27FC236}">
                <a16:creationId xmlns:a16="http://schemas.microsoft.com/office/drawing/2014/main" id="{D372E160-429F-B136-9F9A-BD563FD12A26}"/>
              </a:ext>
            </a:extLst>
          </p:cNvPr>
          <p:cNvGrpSpPr/>
          <p:nvPr/>
        </p:nvGrpSpPr>
        <p:grpSpPr>
          <a:xfrm>
            <a:off x="663614" y="2355932"/>
            <a:ext cx="2883803" cy="4160420"/>
            <a:chOff x="663614" y="2355932"/>
            <a:chExt cx="2883803" cy="4160420"/>
          </a:xfrm>
        </p:grpSpPr>
        <p:pic>
          <p:nvPicPr>
            <p:cNvPr id="28" name="그림 27">
              <a:extLst>
                <a:ext uri="{FF2B5EF4-FFF2-40B4-BE49-F238E27FC236}">
                  <a16:creationId xmlns:a16="http://schemas.microsoft.com/office/drawing/2014/main" id="{11013997-7278-0E40-6EEA-37F04EBD097F}"/>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Lst>
            </a:blip>
            <a:srcRect b="7649"/>
            <a:stretch>
              <a:fillRect/>
            </a:stretch>
          </p:blipFill>
          <p:spPr>
            <a:xfrm>
              <a:off x="664884" y="2355932"/>
              <a:ext cx="2882533" cy="4160420"/>
            </a:xfrm>
            <a:prstGeom prst="rect">
              <a:avLst/>
            </a:prstGeom>
            <a:ln>
              <a:noFill/>
            </a:ln>
          </p:spPr>
        </p:pic>
        <p:sp>
          <p:nvSpPr>
            <p:cNvPr id="37" name="직사각형 36">
              <a:extLst>
                <a:ext uri="{FF2B5EF4-FFF2-40B4-BE49-F238E27FC236}">
                  <a16:creationId xmlns:a16="http://schemas.microsoft.com/office/drawing/2014/main" id="{462CB423-49BE-F7B7-B82D-B7120567571E}"/>
                </a:ext>
              </a:extLst>
            </p:cNvPr>
            <p:cNvSpPr/>
            <p:nvPr/>
          </p:nvSpPr>
          <p:spPr>
            <a:xfrm>
              <a:off x="663614" y="2355932"/>
              <a:ext cx="2883802" cy="4160420"/>
            </a:xfrm>
            <a:prstGeom prst="rect">
              <a:avLst/>
            </a:prstGeom>
            <a:solidFill>
              <a:schemeClr val="bg1">
                <a:alpha val="50000"/>
              </a:schemeClr>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1" name="안양시">
            <a:extLst>
              <a:ext uri="{FF2B5EF4-FFF2-40B4-BE49-F238E27FC236}">
                <a16:creationId xmlns:a16="http://schemas.microsoft.com/office/drawing/2014/main" id="{A934483B-FD58-D11C-BC9C-0134B8C27670}"/>
              </a:ext>
            </a:extLst>
          </p:cNvPr>
          <p:cNvSpPr/>
          <p:nvPr/>
        </p:nvSpPr>
        <p:spPr>
          <a:xfrm>
            <a:off x="941346" y="2599598"/>
            <a:ext cx="1378235" cy="1512695"/>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2" name="과천시">
            <a:extLst>
              <a:ext uri="{FF2B5EF4-FFF2-40B4-BE49-F238E27FC236}">
                <a16:creationId xmlns:a16="http://schemas.microsoft.com/office/drawing/2014/main" id="{3FD292A0-DB55-9C48-51E7-07749BB52B92}"/>
              </a:ext>
            </a:extLst>
          </p:cNvPr>
          <p:cNvSpPr/>
          <p:nvPr/>
        </p:nvSpPr>
        <p:spPr>
          <a:xfrm>
            <a:off x="2092674" y="2322267"/>
            <a:ext cx="1075694" cy="1033673"/>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3" name="의왕시">
            <a:extLst>
              <a:ext uri="{FF2B5EF4-FFF2-40B4-BE49-F238E27FC236}">
                <a16:creationId xmlns:a16="http://schemas.microsoft.com/office/drawing/2014/main" id="{76D3F3F5-579C-F8CC-C038-18998F6FFDD2}"/>
              </a:ext>
            </a:extLst>
          </p:cNvPr>
          <p:cNvSpPr/>
          <p:nvPr/>
        </p:nvSpPr>
        <p:spPr>
          <a:xfrm>
            <a:off x="1630457" y="3162658"/>
            <a:ext cx="1554717" cy="1941294"/>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4" name="군포시">
            <a:extLst>
              <a:ext uri="{FF2B5EF4-FFF2-40B4-BE49-F238E27FC236}">
                <a16:creationId xmlns:a16="http://schemas.microsoft.com/office/drawing/2014/main" id="{FAC68051-BE64-B28C-F094-801040DD93C1}"/>
              </a:ext>
            </a:extLst>
          </p:cNvPr>
          <p:cNvSpPr/>
          <p:nvPr/>
        </p:nvSpPr>
        <p:spPr>
          <a:xfrm>
            <a:off x="874109" y="3809753"/>
            <a:ext cx="1151328" cy="1134521"/>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4" name="자유형: 도형 33">
            <a:extLst>
              <a:ext uri="{FF2B5EF4-FFF2-40B4-BE49-F238E27FC236}">
                <a16:creationId xmlns:a16="http://schemas.microsoft.com/office/drawing/2014/main" id="{30107686-912E-D121-872B-0F130EFBD7A9}"/>
              </a:ext>
            </a:extLst>
          </p:cNvPr>
          <p:cNvSpPr/>
          <p:nvPr/>
        </p:nvSpPr>
        <p:spPr>
          <a:xfrm>
            <a:off x="1605248" y="4246755"/>
            <a:ext cx="1942169" cy="2159797"/>
          </a:xfrm>
          <a:custGeom>
            <a:avLst/>
            <a:gdLst>
              <a:gd name="csX0" fmla="*/ 1226966 w 1942169"/>
              <a:gd name="csY0" fmla="*/ 0 h 2159797"/>
              <a:gd name="csX1" fmla="*/ 1386641 w 1942169"/>
              <a:gd name="csY1" fmla="*/ 100847 h 2159797"/>
              <a:gd name="csX2" fmla="*/ 1369831 w 1942169"/>
              <a:gd name="csY2" fmla="*/ 201693 h 2159797"/>
              <a:gd name="csX3" fmla="*/ 1411853 w 1942169"/>
              <a:gd name="csY3" fmla="*/ 310943 h 2159797"/>
              <a:gd name="csX4" fmla="*/ 1462275 w 1942169"/>
              <a:gd name="csY4" fmla="*/ 411790 h 2159797"/>
              <a:gd name="csX5" fmla="*/ 1470678 w 1942169"/>
              <a:gd name="csY5" fmla="*/ 521039 h 2159797"/>
              <a:gd name="csX6" fmla="*/ 1630352 w 1942169"/>
              <a:gd name="csY6" fmla="*/ 571464 h 2159797"/>
              <a:gd name="csX7" fmla="*/ 1689181 w 1942169"/>
              <a:gd name="csY7" fmla="*/ 579867 h 2159797"/>
              <a:gd name="csX8" fmla="*/ 1722796 w 1942169"/>
              <a:gd name="csY8" fmla="*/ 579867 h 2159797"/>
              <a:gd name="csX9" fmla="*/ 1781624 w 1942169"/>
              <a:gd name="csY9" fmla="*/ 689117 h 2159797"/>
              <a:gd name="csX10" fmla="*/ 1748009 w 1942169"/>
              <a:gd name="csY10" fmla="*/ 806773 h 2159797"/>
              <a:gd name="csX11" fmla="*/ 1748009 w 1942169"/>
              <a:gd name="csY11" fmla="*/ 949638 h 2159797"/>
              <a:gd name="csX12" fmla="*/ 1806833 w 1942169"/>
              <a:gd name="csY12" fmla="*/ 1016869 h 2159797"/>
              <a:gd name="csX13" fmla="*/ 1874064 w 1942169"/>
              <a:gd name="csY13" fmla="*/ 1025272 h 2159797"/>
              <a:gd name="csX14" fmla="*/ 1941295 w 1942169"/>
              <a:gd name="csY14" fmla="*/ 949638 h 2159797"/>
              <a:gd name="csX15" fmla="*/ 1942169 w 1942169"/>
              <a:gd name="csY15" fmla="*/ 947890 h 2159797"/>
              <a:gd name="csX16" fmla="*/ 1942169 w 1942169"/>
              <a:gd name="csY16" fmla="*/ 1153594 h 2159797"/>
              <a:gd name="csX17" fmla="*/ 1907680 w 1942169"/>
              <a:gd name="csY17" fmla="*/ 1184947 h 2159797"/>
              <a:gd name="csX18" fmla="*/ 1840449 w 1942169"/>
              <a:gd name="csY18" fmla="*/ 1277390 h 2159797"/>
              <a:gd name="csX19" fmla="*/ 1840449 w 1942169"/>
              <a:gd name="csY19" fmla="*/ 1386640 h 2159797"/>
              <a:gd name="csX20" fmla="*/ 1916086 w 1942169"/>
              <a:gd name="csY20" fmla="*/ 1453871 h 2159797"/>
              <a:gd name="csX21" fmla="*/ 1942169 w 1942169"/>
              <a:gd name="csY21" fmla="*/ 1453871 h 2159797"/>
              <a:gd name="csX22" fmla="*/ 1942169 w 1942169"/>
              <a:gd name="csY22" fmla="*/ 1748008 h 2159797"/>
              <a:gd name="csX23" fmla="*/ 1907680 w 1942169"/>
              <a:gd name="csY23" fmla="*/ 1748008 h 2159797"/>
              <a:gd name="csX24" fmla="*/ 1823643 w 1942169"/>
              <a:gd name="csY24" fmla="*/ 1848854 h 2159797"/>
              <a:gd name="csX25" fmla="*/ 1823643 w 1942169"/>
              <a:gd name="csY25" fmla="*/ 1916085 h 2159797"/>
              <a:gd name="csX26" fmla="*/ 1731199 w 1942169"/>
              <a:gd name="csY26" fmla="*/ 2008529 h 2159797"/>
              <a:gd name="csX27" fmla="*/ 1655565 w 1942169"/>
              <a:gd name="csY27" fmla="*/ 2008529 h 2159797"/>
              <a:gd name="csX28" fmla="*/ 1546315 w 1942169"/>
              <a:gd name="csY28" fmla="*/ 2008529 h 2159797"/>
              <a:gd name="csX29" fmla="*/ 1479084 w 1942169"/>
              <a:gd name="csY29" fmla="*/ 1916085 h 2159797"/>
              <a:gd name="csX30" fmla="*/ 1395044 w 1942169"/>
              <a:gd name="csY30" fmla="*/ 1974914 h 2159797"/>
              <a:gd name="csX31" fmla="*/ 1285794 w 1942169"/>
              <a:gd name="csY31" fmla="*/ 2159797 h 2159797"/>
              <a:gd name="csX32" fmla="*/ 1084101 w 1942169"/>
              <a:gd name="csY32" fmla="*/ 2109376 h 2159797"/>
              <a:gd name="csX33" fmla="*/ 1008467 w 1942169"/>
              <a:gd name="csY33" fmla="*/ 2042145 h 2159797"/>
              <a:gd name="csX34" fmla="*/ 941235 w 1942169"/>
              <a:gd name="csY34" fmla="*/ 2134585 h 2159797"/>
              <a:gd name="csX35" fmla="*/ 907620 w 1942169"/>
              <a:gd name="csY35" fmla="*/ 2050548 h 2159797"/>
              <a:gd name="csX36" fmla="*/ 840389 w 1942169"/>
              <a:gd name="csY36" fmla="*/ 2033738 h 2159797"/>
              <a:gd name="csX37" fmla="*/ 798367 w 1942169"/>
              <a:gd name="csY37" fmla="*/ 1966507 h 2159797"/>
              <a:gd name="csX38" fmla="*/ 764751 w 1942169"/>
              <a:gd name="csY38" fmla="*/ 2042145 h 2159797"/>
              <a:gd name="csX39" fmla="*/ 714330 w 1942169"/>
              <a:gd name="csY39" fmla="*/ 2016932 h 2159797"/>
              <a:gd name="csX40" fmla="*/ 680714 w 1942169"/>
              <a:gd name="csY40" fmla="*/ 2067354 h 2159797"/>
              <a:gd name="csX41" fmla="*/ 579867 w 1942169"/>
              <a:gd name="csY41" fmla="*/ 2067354 h 2159797"/>
              <a:gd name="csX42" fmla="*/ 546252 w 1942169"/>
              <a:gd name="csY42" fmla="*/ 1949701 h 2159797"/>
              <a:gd name="csX43" fmla="*/ 428596 w 1942169"/>
              <a:gd name="csY43" fmla="*/ 1890873 h 2159797"/>
              <a:gd name="csX44" fmla="*/ 411790 w 1942169"/>
              <a:gd name="csY44" fmla="*/ 1790026 h 2159797"/>
              <a:gd name="csX45" fmla="*/ 411790 w 1942169"/>
              <a:gd name="csY45" fmla="*/ 1764814 h 2159797"/>
              <a:gd name="csX46" fmla="*/ 310943 w 1942169"/>
              <a:gd name="csY46" fmla="*/ 1630352 h 2159797"/>
              <a:gd name="csX47" fmla="*/ 260518 w 1942169"/>
              <a:gd name="csY47" fmla="*/ 1571527 h 2159797"/>
              <a:gd name="csX48" fmla="*/ 168078 w 1942169"/>
              <a:gd name="csY48" fmla="*/ 1571527 h 2159797"/>
              <a:gd name="csX49" fmla="*/ 109250 w 1942169"/>
              <a:gd name="csY49" fmla="*/ 1571527 h 2159797"/>
              <a:gd name="csX50" fmla="*/ 50422 w 1942169"/>
              <a:gd name="csY50" fmla="*/ 1512699 h 2159797"/>
              <a:gd name="csX51" fmla="*/ 25209 w 1942169"/>
              <a:gd name="csY51" fmla="*/ 1437065 h 2159797"/>
              <a:gd name="csX52" fmla="*/ 16806 w 1942169"/>
              <a:gd name="csY52" fmla="*/ 1294196 h 2159797"/>
              <a:gd name="csX53" fmla="*/ 0 w 1942169"/>
              <a:gd name="csY53" fmla="*/ 1210159 h 2159797"/>
              <a:gd name="csX54" fmla="*/ 33616 w 1942169"/>
              <a:gd name="csY54" fmla="*/ 1075697 h 2159797"/>
              <a:gd name="csX55" fmla="*/ 67231 w 1942169"/>
              <a:gd name="csY55" fmla="*/ 991657 h 2159797"/>
              <a:gd name="csX56" fmla="*/ 126056 w 1942169"/>
              <a:gd name="csY56" fmla="*/ 966448 h 2159797"/>
              <a:gd name="csX57" fmla="*/ 16806 w 1942169"/>
              <a:gd name="csY57" fmla="*/ 882407 h 2159797"/>
              <a:gd name="csX58" fmla="*/ 16806 w 1942169"/>
              <a:gd name="csY58" fmla="*/ 848792 h 2159797"/>
              <a:gd name="csX59" fmla="*/ 193287 w 1942169"/>
              <a:gd name="csY59" fmla="*/ 899217 h 2159797"/>
              <a:gd name="csX60" fmla="*/ 268924 w 1942169"/>
              <a:gd name="csY60" fmla="*/ 899217 h 2159797"/>
              <a:gd name="csX61" fmla="*/ 302540 w 1942169"/>
              <a:gd name="csY61" fmla="*/ 848792 h 2159797"/>
              <a:gd name="csX62" fmla="*/ 420193 w 1942169"/>
              <a:gd name="csY62" fmla="*/ 865601 h 2159797"/>
              <a:gd name="csX63" fmla="*/ 504233 w 1942169"/>
              <a:gd name="csY63" fmla="*/ 848792 h 2159797"/>
              <a:gd name="csX64" fmla="*/ 563058 w 1942169"/>
              <a:gd name="csY64" fmla="*/ 714329 h 2159797"/>
              <a:gd name="csX65" fmla="*/ 605080 w 1942169"/>
              <a:gd name="csY65" fmla="*/ 613483 h 2159797"/>
              <a:gd name="csX66" fmla="*/ 605080 w 1942169"/>
              <a:gd name="csY66" fmla="*/ 554655 h 2159797"/>
              <a:gd name="csX67" fmla="*/ 596673 w 1942169"/>
              <a:gd name="csY67" fmla="*/ 470618 h 2159797"/>
              <a:gd name="csX68" fmla="*/ 563058 w 1942169"/>
              <a:gd name="csY68" fmla="*/ 437002 h 2159797"/>
              <a:gd name="csX69" fmla="*/ 563058 w 1942169"/>
              <a:gd name="csY69" fmla="*/ 361365 h 2159797"/>
              <a:gd name="csX70" fmla="*/ 680714 w 1942169"/>
              <a:gd name="csY70" fmla="*/ 462215 h 2159797"/>
              <a:gd name="csX71" fmla="*/ 747945 w 1942169"/>
              <a:gd name="csY71" fmla="*/ 470621 h 2159797"/>
              <a:gd name="csX72" fmla="*/ 848792 w 1942169"/>
              <a:gd name="csY72" fmla="*/ 394984 h 2159797"/>
              <a:gd name="csX73" fmla="*/ 899213 w 1942169"/>
              <a:gd name="csY73" fmla="*/ 319346 h 2159797"/>
              <a:gd name="csX74" fmla="*/ 941235 w 1942169"/>
              <a:gd name="csY74" fmla="*/ 277327 h 2159797"/>
              <a:gd name="csX75" fmla="*/ 1067291 w 1942169"/>
              <a:gd name="csY75" fmla="*/ 235309 h 2159797"/>
              <a:gd name="csX76" fmla="*/ 1134522 w 1942169"/>
              <a:gd name="csY76" fmla="*/ 218499 h 2159797"/>
              <a:gd name="csX77" fmla="*/ 1168138 w 1942169"/>
              <a:gd name="csY77" fmla="*/ 126059 h 2159797"/>
              <a:gd name="csX78" fmla="*/ 1176544 w 1942169"/>
              <a:gd name="csY78" fmla="*/ 58828 h 2159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1942169" h="2159797">
                <a:moveTo>
                  <a:pt x="1226966" y="0"/>
                </a:moveTo>
                <a:lnTo>
                  <a:pt x="1386641" y="100847"/>
                </a:lnTo>
                <a:lnTo>
                  <a:pt x="1369831" y="201693"/>
                </a:lnTo>
                <a:lnTo>
                  <a:pt x="1411853" y="310943"/>
                </a:lnTo>
                <a:lnTo>
                  <a:pt x="1462275" y="411790"/>
                </a:lnTo>
                <a:lnTo>
                  <a:pt x="1470678" y="521039"/>
                </a:lnTo>
                <a:lnTo>
                  <a:pt x="1630352" y="571464"/>
                </a:lnTo>
                <a:lnTo>
                  <a:pt x="1689181" y="579867"/>
                </a:lnTo>
                <a:lnTo>
                  <a:pt x="1722796" y="579867"/>
                </a:lnTo>
                <a:lnTo>
                  <a:pt x="1781624" y="689117"/>
                </a:lnTo>
                <a:lnTo>
                  <a:pt x="1748009" y="806773"/>
                </a:lnTo>
                <a:lnTo>
                  <a:pt x="1748009" y="949638"/>
                </a:lnTo>
                <a:lnTo>
                  <a:pt x="1806833" y="1016869"/>
                </a:lnTo>
                <a:lnTo>
                  <a:pt x="1874064" y="1025272"/>
                </a:lnTo>
                <a:lnTo>
                  <a:pt x="1941295" y="949638"/>
                </a:lnTo>
                <a:lnTo>
                  <a:pt x="1942169" y="947890"/>
                </a:lnTo>
                <a:lnTo>
                  <a:pt x="1942169" y="1153594"/>
                </a:lnTo>
                <a:lnTo>
                  <a:pt x="1907680" y="1184947"/>
                </a:lnTo>
                <a:lnTo>
                  <a:pt x="1840449" y="1277390"/>
                </a:lnTo>
                <a:lnTo>
                  <a:pt x="1840449" y="1386640"/>
                </a:lnTo>
                <a:lnTo>
                  <a:pt x="1916086" y="1453871"/>
                </a:lnTo>
                <a:lnTo>
                  <a:pt x="1942169" y="1453871"/>
                </a:lnTo>
                <a:lnTo>
                  <a:pt x="1942169" y="1748008"/>
                </a:lnTo>
                <a:lnTo>
                  <a:pt x="1907680" y="1748008"/>
                </a:lnTo>
                <a:lnTo>
                  <a:pt x="1823643" y="1848854"/>
                </a:lnTo>
                <a:lnTo>
                  <a:pt x="1823643" y="1916085"/>
                </a:lnTo>
                <a:lnTo>
                  <a:pt x="1731199" y="2008529"/>
                </a:lnTo>
                <a:lnTo>
                  <a:pt x="1655565" y="2008529"/>
                </a:lnTo>
                <a:lnTo>
                  <a:pt x="1546315" y="2008529"/>
                </a:lnTo>
                <a:lnTo>
                  <a:pt x="1479084" y="1916085"/>
                </a:lnTo>
                <a:lnTo>
                  <a:pt x="1395044" y="1974914"/>
                </a:lnTo>
                <a:lnTo>
                  <a:pt x="1285794" y="2159797"/>
                </a:lnTo>
                <a:lnTo>
                  <a:pt x="1084101" y="2109376"/>
                </a:lnTo>
                <a:lnTo>
                  <a:pt x="1008467" y="2042145"/>
                </a:lnTo>
                <a:lnTo>
                  <a:pt x="941235" y="2134585"/>
                </a:lnTo>
                <a:lnTo>
                  <a:pt x="907620" y="2050548"/>
                </a:lnTo>
                <a:lnTo>
                  <a:pt x="840389" y="2033738"/>
                </a:lnTo>
                <a:lnTo>
                  <a:pt x="798367" y="1966507"/>
                </a:lnTo>
                <a:lnTo>
                  <a:pt x="764751" y="2042145"/>
                </a:lnTo>
                <a:lnTo>
                  <a:pt x="714330" y="2016932"/>
                </a:lnTo>
                <a:lnTo>
                  <a:pt x="680714" y="2067354"/>
                </a:lnTo>
                <a:lnTo>
                  <a:pt x="579867" y="2067354"/>
                </a:lnTo>
                <a:lnTo>
                  <a:pt x="546252" y="1949701"/>
                </a:lnTo>
                <a:lnTo>
                  <a:pt x="428596" y="1890873"/>
                </a:lnTo>
                <a:cubicBezTo>
                  <a:pt x="409965" y="1807034"/>
                  <a:pt x="411790" y="1841065"/>
                  <a:pt x="411790" y="1790026"/>
                </a:cubicBezTo>
                <a:lnTo>
                  <a:pt x="411790" y="1764814"/>
                </a:lnTo>
                <a:lnTo>
                  <a:pt x="310943" y="1630352"/>
                </a:lnTo>
                <a:lnTo>
                  <a:pt x="260518" y="1571527"/>
                </a:lnTo>
                <a:lnTo>
                  <a:pt x="168078" y="1571527"/>
                </a:lnTo>
                <a:lnTo>
                  <a:pt x="109250" y="1571527"/>
                </a:lnTo>
                <a:lnTo>
                  <a:pt x="50422" y="1512699"/>
                </a:lnTo>
                <a:lnTo>
                  <a:pt x="25209" y="1437065"/>
                </a:lnTo>
                <a:lnTo>
                  <a:pt x="16806" y="1294196"/>
                </a:lnTo>
                <a:lnTo>
                  <a:pt x="0" y="1210159"/>
                </a:lnTo>
                <a:lnTo>
                  <a:pt x="33616" y="1075697"/>
                </a:lnTo>
                <a:lnTo>
                  <a:pt x="67231" y="991657"/>
                </a:lnTo>
                <a:lnTo>
                  <a:pt x="126056" y="966448"/>
                </a:lnTo>
                <a:lnTo>
                  <a:pt x="16806" y="882407"/>
                </a:lnTo>
                <a:lnTo>
                  <a:pt x="16806" y="848792"/>
                </a:lnTo>
                <a:lnTo>
                  <a:pt x="193287" y="899217"/>
                </a:lnTo>
                <a:lnTo>
                  <a:pt x="268924" y="899217"/>
                </a:lnTo>
                <a:lnTo>
                  <a:pt x="302540" y="848792"/>
                </a:lnTo>
                <a:lnTo>
                  <a:pt x="420193" y="865601"/>
                </a:lnTo>
                <a:lnTo>
                  <a:pt x="504233" y="848792"/>
                </a:lnTo>
                <a:lnTo>
                  <a:pt x="563058" y="714329"/>
                </a:lnTo>
                <a:lnTo>
                  <a:pt x="605080" y="613483"/>
                </a:lnTo>
                <a:lnTo>
                  <a:pt x="605080" y="554655"/>
                </a:lnTo>
                <a:lnTo>
                  <a:pt x="596673" y="470618"/>
                </a:lnTo>
                <a:lnTo>
                  <a:pt x="563058" y="437002"/>
                </a:lnTo>
                <a:lnTo>
                  <a:pt x="563058" y="361365"/>
                </a:lnTo>
                <a:lnTo>
                  <a:pt x="680714" y="462215"/>
                </a:lnTo>
                <a:lnTo>
                  <a:pt x="747945" y="470621"/>
                </a:lnTo>
                <a:lnTo>
                  <a:pt x="848792" y="394984"/>
                </a:lnTo>
                <a:lnTo>
                  <a:pt x="899213" y="319346"/>
                </a:lnTo>
                <a:lnTo>
                  <a:pt x="941235" y="277327"/>
                </a:lnTo>
                <a:lnTo>
                  <a:pt x="1067291" y="235309"/>
                </a:lnTo>
                <a:lnTo>
                  <a:pt x="1134522" y="218499"/>
                </a:lnTo>
                <a:lnTo>
                  <a:pt x="1168138" y="126059"/>
                </a:lnTo>
                <a:lnTo>
                  <a:pt x="1176544" y="58828"/>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36" name="자유형: 도형 35">
            <a:extLst>
              <a:ext uri="{FF2B5EF4-FFF2-40B4-BE49-F238E27FC236}">
                <a16:creationId xmlns:a16="http://schemas.microsoft.com/office/drawing/2014/main" id="{375C0D02-2A53-0BAA-2EBB-48F1444E8C61}"/>
              </a:ext>
            </a:extLst>
          </p:cNvPr>
          <p:cNvSpPr/>
          <p:nvPr/>
        </p:nvSpPr>
        <p:spPr>
          <a:xfrm>
            <a:off x="880261" y="2322267"/>
            <a:ext cx="2667156" cy="4084285"/>
          </a:xfrm>
          <a:custGeom>
            <a:avLst/>
            <a:gdLst>
              <a:gd name="csX0" fmla="*/ 1705991 w 2667156"/>
              <a:gd name="csY0" fmla="*/ 0 h 4084285"/>
              <a:gd name="csX1" fmla="*/ 1731200 w 2667156"/>
              <a:gd name="csY1" fmla="*/ 0 h 4084285"/>
              <a:gd name="csX2" fmla="*/ 1739609 w 2667156"/>
              <a:gd name="csY2" fmla="*/ 67231 h 4084285"/>
              <a:gd name="csX3" fmla="*/ 1756415 w 2667156"/>
              <a:gd name="csY3" fmla="*/ 100843 h 4084285"/>
              <a:gd name="csX4" fmla="*/ 1798430 w 2667156"/>
              <a:gd name="csY4" fmla="*/ 142864 h 4084285"/>
              <a:gd name="csX5" fmla="*/ 1899279 w 2667156"/>
              <a:gd name="csY5" fmla="*/ 184879 h 4084285"/>
              <a:gd name="csX6" fmla="*/ 1974913 w 2667156"/>
              <a:gd name="csY6" fmla="*/ 184879 h 4084285"/>
              <a:gd name="csX7" fmla="*/ 2067352 w 2667156"/>
              <a:gd name="csY7" fmla="*/ 159670 h 4084285"/>
              <a:gd name="csX8" fmla="*/ 2134583 w 2667156"/>
              <a:gd name="csY8" fmla="*/ 134461 h 4084285"/>
              <a:gd name="csX9" fmla="*/ 2151395 w 2667156"/>
              <a:gd name="csY9" fmla="*/ 67231 h 4084285"/>
              <a:gd name="csX10" fmla="*/ 2151395 w 2667156"/>
              <a:gd name="csY10" fmla="*/ 151267 h 4084285"/>
              <a:gd name="csX11" fmla="*/ 2168201 w 2667156"/>
              <a:gd name="csY11" fmla="*/ 210095 h 4084285"/>
              <a:gd name="csX12" fmla="*/ 2193410 w 2667156"/>
              <a:gd name="csY12" fmla="*/ 268922 h 4084285"/>
              <a:gd name="csX13" fmla="*/ 2142992 w 2667156"/>
              <a:gd name="csY13" fmla="*/ 336159 h 4084285"/>
              <a:gd name="csX14" fmla="*/ 2134583 w 2667156"/>
              <a:gd name="csY14" fmla="*/ 378174 h 4084285"/>
              <a:gd name="csX15" fmla="*/ 2159798 w 2667156"/>
              <a:gd name="csY15" fmla="*/ 428598 h 4084285"/>
              <a:gd name="csX16" fmla="*/ 2252244 w 2667156"/>
              <a:gd name="csY16" fmla="*/ 470620 h 4084285"/>
              <a:gd name="csX17" fmla="*/ 2294259 w 2667156"/>
              <a:gd name="csY17" fmla="*/ 554656 h 4084285"/>
              <a:gd name="csX18" fmla="*/ 2260647 w 2667156"/>
              <a:gd name="csY18" fmla="*/ 638693 h 4084285"/>
              <a:gd name="csX19" fmla="*/ 2260647 w 2667156"/>
              <a:gd name="csY19" fmla="*/ 739122 h 4084285"/>
              <a:gd name="csX20" fmla="*/ 2269235 w 2667156"/>
              <a:gd name="csY20" fmla="*/ 746195 h 4084285"/>
              <a:gd name="csX21" fmla="*/ 2260647 w 2667156"/>
              <a:gd name="csY21" fmla="*/ 770539 h 4084285"/>
              <a:gd name="csX22" fmla="*/ 2260647 w 2667156"/>
              <a:gd name="csY22" fmla="*/ 781563 h 4084285"/>
              <a:gd name="csX23" fmla="*/ 2255921 w 2667156"/>
              <a:gd name="csY23" fmla="*/ 783923 h 4084285"/>
              <a:gd name="csX24" fmla="*/ 2226711 w 2667156"/>
              <a:gd name="csY24" fmla="*/ 866681 h 4084285"/>
              <a:gd name="csX25" fmla="*/ 2285856 w 2667156"/>
              <a:gd name="csY25" fmla="*/ 840391 h 4084285"/>
              <a:gd name="csX26" fmla="*/ 2311065 w 2667156"/>
              <a:gd name="csY26" fmla="*/ 857197 h 4084285"/>
              <a:gd name="csX27" fmla="*/ 2277453 w 2667156"/>
              <a:gd name="csY27" fmla="*/ 907621 h 4084285"/>
              <a:gd name="csX28" fmla="*/ 2210216 w 2667156"/>
              <a:gd name="csY28" fmla="*/ 1016873 h 4084285"/>
              <a:gd name="csX29" fmla="*/ 2210216 w 2667156"/>
              <a:gd name="csY29" fmla="*/ 1126125 h 4084285"/>
              <a:gd name="csX30" fmla="*/ 2210216 w 2667156"/>
              <a:gd name="csY30" fmla="*/ 1210162 h 4084285"/>
              <a:gd name="csX31" fmla="*/ 2126180 w 2667156"/>
              <a:gd name="csY31" fmla="*/ 1361429 h 4084285"/>
              <a:gd name="csX32" fmla="*/ 2050546 w 2667156"/>
              <a:gd name="csY32" fmla="*/ 1386644 h 4084285"/>
              <a:gd name="csX33" fmla="*/ 2058949 w 2667156"/>
              <a:gd name="csY33" fmla="*/ 1479090 h 4084285"/>
              <a:gd name="csX34" fmla="*/ 2050546 w 2667156"/>
              <a:gd name="csY34" fmla="*/ 1588335 h 4084285"/>
              <a:gd name="csX35" fmla="*/ 1949697 w 2667156"/>
              <a:gd name="csY35" fmla="*/ 1705990 h 4084285"/>
              <a:gd name="csX36" fmla="*/ 1899273 w 2667156"/>
              <a:gd name="csY36" fmla="*/ 1756415 h 4084285"/>
              <a:gd name="csX37" fmla="*/ 1899273 w 2667156"/>
              <a:gd name="csY37" fmla="*/ 1848861 h 4084285"/>
              <a:gd name="csX38" fmla="*/ 1916085 w 2667156"/>
              <a:gd name="csY38" fmla="*/ 1899279 h 4084285"/>
              <a:gd name="csX39" fmla="*/ 1914858 w 2667156"/>
              <a:gd name="csY39" fmla="*/ 1900233 h 4084285"/>
              <a:gd name="csX40" fmla="*/ 1935957 w 2667156"/>
              <a:gd name="csY40" fmla="*/ 1950333 h 4084285"/>
              <a:gd name="csX41" fmla="*/ 1958107 w 2667156"/>
              <a:gd name="csY41" fmla="*/ 1924488 h 4084285"/>
              <a:gd name="csX42" fmla="*/ 2117777 w 2667156"/>
              <a:gd name="csY42" fmla="*/ 2025337 h 4084285"/>
              <a:gd name="csX43" fmla="*/ 2100971 w 2667156"/>
              <a:gd name="csY43" fmla="*/ 2126185 h 4084285"/>
              <a:gd name="csX44" fmla="*/ 2142992 w 2667156"/>
              <a:gd name="csY44" fmla="*/ 2235431 h 4084285"/>
              <a:gd name="csX45" fmla="*/ 2193417 w 2667156"/>
              <a:gd name="csY45" fmla="*/ 2336280 h 4084285"/>
              <a:gd name="csX46" fmla="*/ 2201820 w 2667156"/>
              <a:gd name="csY46" fmla="*/ 2445525 h 4084285"/>
              <a:gd name="csX47" fmla="*/ 2361490 w 2667156"/>
              <a:gd name="csY47" fmla="*/ 2495956 h 4084285"/>
              <a:gd name="csX48" fmla="*/ 2420317 w 2667156"/>
              <a:gd name="csY48" fmla="*/ 2504359 h 4084285"/>
              <a:gd name="csX49" fmla="*/ 2453936 w 2667156"/>
              <a:gd name="csY49" fmla="*/ 2504359 h 4084285"/>
              <a:gd name="csX50" fmla="*/ 2512763 w 2667156"/>
              <a:gd name="csY50" fmla="*/ 2613605 h 4084285"/>
              <a:gd name="csX51" fmla="*/ 2479151 w 2667156"/>
              <a:gd name="csY51" fmla="*/ 2731260 h 4084285"/>
              <a:gd name="csX52" fmla="*/ 2479151 w 2667156"/>
              <a:gd name="csY52" fmla="*/ 2874130 h 4084285"/>
              <a:gd name="csX53" fmla="*/ 2537972 w 2667156"/>
              <a:gd name="csY53" fmla="*/ 2941361 h 4084285"/>
              <a:gd name="csX54" fmla="*/ 2605203 w 2667156"/>
              <a:gd name="csY54" fmla="*/ 2949764 h 4084285"/>
              <a:gd name="csX55" fmla="*/ 2667156 w 2667156"/>
              <a:gd name="csY55" fmla="*/ 2880067 h 4084285"/>
              <a:gd name="csX56" fmla="*/ 2667156 w 2667156"/>
              <a:gd name="csY56" fmla="*/ 3083674 h 4084285"/>
              <a:gd name="csX57" fmla="*/ 2638821 w 2667156"/>
              <a:gd name="csY57" fmla="*/ 3109434 h 4084285"/>
              <a:gd name="csX58" fmla="*/ 2571591 w 2667156"/>
              <a:gd name="csY58" fmla="*/ 3201880 h 4084285"/>
              <a:gd name="csX59" fmla="*/ 2571591 w 2667156"/>
              <a:gd name="csY59" fmla="*/ 3311131 h 4084285"/>
              <a:gd name="csX60" fmla="*/ 2647224 w 2667156"/>
              <a:gd name="csY60" fmla="*/ 3378362 h 4084285"/>
              <a:gd name="csX61" fmla="*/ 2667156 w 2667156"/>
              <a:gd name="csY61" fmla="*/ 3378362 h 4084285"/>
              <a:gd name="csX62" fmla="*/ 2667156 w 2667156"/>
              <a:gd name="csY62" fmla="*/ 3672499 h 4084285"/>
              <a:gd name="csX63" fmla="*/ 2638821 w 2667156"/>
              <a:gd name="csY63" fmla="*/ 3672499 h 4084285"/>
              <a:gd name="csX64" fmla="*/ 2554785 w 2667156"/>
              <a:gd name="csY64" fmla="*/ 3773342 h 4084285"/>
              <a:gd name="csX65" fmla="*/ 2554785 w 2667156"/>
              <a:gd name="csY65" fmla="*/ 3840572 h 4084285"/>
              <a:gd name="csX66" fmla="*/ 2462339 w 2667156"/>
              <a:gd name="csY66" fmla="*/ 3933018 h 4084285"/>
              <a:gd name="csX67" fmla="*/ 2386705 w 2667156"/>
              <a:gd name="csY67" fmla="*/ 3933018 h 4084285"/>
              <a:gd name="csX68" fmla="*/ 2277453 w 2667156"/>
              <a:gd name="csY68" fmla="*/ 3933018 h 4084285"/>
              <a:gd name="csX69" fmla="*/ 2210223 w 2667156"/>
              <a:gd name="csY69" fmla="*/ 3840572 h 4084285"/>
              <a:gd name="csX70" fmla="*/ 2126180 w 2667156"/>
              <a:gd name="csY70" fmla="*/ 3899406 h 4084285"/>
              <a:gd name="csX71" fmla="*/ 2016934 w 2667156"/>
              <a:gd name="csY71" fmla="*/ 4084285 h 4084285"/>
              <a:gd name="csX72" fmla="*/ 1815243 w 2667156"/>
              <a:gd name="csY72" fmla="*/ 4033867 h 4084285"/>
              <a:gd name="csX73" fmla="*/ 1739603 w 2667156"/>
              <a:gd name="csY73" fmla="*/ 3966637 h 4084285"/>
              <a:gd name="csX74" fmla="*/ 1672372 w 2667156"/>
              <a:gd name="csY74" fmla="*/ 4059076 h 4084285"/>
              <a:gd name="csX75" fmla="*/ 1638760 w 2667156"/>
              <a:gd name="csY75" fmla="*/ 3975040 h 4084285"/>
              <a:gd name="csX76" fmla="*/ 1571530 w 2667156"/>
              <a:gd name="csY76" fmla="*/ 3958227 h 4084285"/>
              <a:gd name="csX77" fmla="*/ 1529508 w 2667156"/>
              <a:gd name="csY77" fmla="*/ 3890997 h 4084285"/>
              <a:gd name="csX78" fmla="*/ 1495890 w 2667156"/>
              <a:gd name="csY78" fmla="*/ 3966637 h 4084285"/>
              <a:gd name="csX79" fmla="*/ 1445472 w 2667156"/>
              <a:gd name="csY79" fmla="*/ 3941421 h 4084285"/>
              <a:gd name="csX80" fmla="*/ 1411853 w 2667156"/>
              <a:gd name="csY80" fmla="*/ 3991846 h 4084285"/>
              <a:gd name="csX81" fmla="*/ 1311005 w 2667156"/>
              <a:gd name="csY81" fmla="*/ 3991846 h 4084285"/>
              <a:gd name="csX82" fmla="*/ 1277392 w 2667156"/>
              <a:gd name="csY82" fmla="*/ 3874191 h 4084285"/>
              <a:gd name="csX83" fmla="*/ 1159737 w 2667156"/>
              <a:gd name="csY83" fmla="*/ 3815363 h 4084285"/>
              <a:gd name="csX84" fmla="*/ 1142931 w 2667156"/>
              <a:gd name="csY84" fmla="*/ 3714514 h 4084285"/>
              <a:gd name="csX85" fmla="*/ 1142931 w 2667156"/>
              <a:gd name="csY85" fmla="*/ 3689305 h 4084285"/>
              <a:gd name="csX86" fmla="*/ 1042082 w 2667156"/>
              <a:gd name="csY86" fmla="*/ 3554838 h 4084285"/>
              <a:gd name="csX87" fmla="*/ 991658 w 2667156"/>
              <a:gd name="csY87" fmla="*/ 3496017 h 4084285"/>
              <a:gd name="csX88" fmla="*/ 899218 w 2667156"/>
              <a:gd name="csY88" fmla="*/ 3496017 h 4084285"/>
              <a:gd name="csX89" fmla="*/ 840391 w 2667156"/>
              <a:gd name="csY89" fmla="*/ 3496017 h 4084285"/>
              <a:gd name="csX90" fmla="*/ 781563 w 2667156"/>
              <a:gd name="csY90" fmla="*/ 3437189 h 4084285"/>
              <a:gd name="csX91" fmla="*/ 756348 w 2667156"/>
              <a:gd name="csY91" fmla="*/ 3361556 h 4084285"/>
              <a:gd name="csX92" fmla="*/ 747945 w 2667156"/>
              <a:gd name="csY92" fmla="*/ 3218686 h 4084285"/>
              <a:gd name="csX93" fmla="*/ 731139 w 2667156"/>
              <a:gd name="csY93" fmla="*/ 3134649 h 4084285"/>
              <a:gd name="csX94" fmla="*/ 764757 w 2667156"/>
              <a:gd name="csY94" fmla="*/ 3000188 h 4084285"/>
              <a:gd name="csX95" fmla="*/ 798370 w 2667156"/>
              <a:gd name="csY95" fmla="*/ 2916145 h 4084285"/>
              <a:gd name="csX96" fmla="*/ 857197 w 2667156"/>
              <a:gd name="csY96" fmla="*/ 2890936 h 4084285"/>
              <a:gd name="csX97" fmla="*/ 747945 w 2667156"/>
              <a:gd name="csY97" fmla="*/ 2806893 h 4084285"/>
              <a:gd name="csX98" fmla="*/ 747945 w 2667156"/>
              <a:gd name="csY98" fmla="*/ 2773281 h 4084285"/>
              <a:gd name="csX99" fmla="*/ 866980 w 2667156"/>
              <a:gd name="csY99" fmla="*/ 2807294 h 4084285"/>
              <a:gd name="csX100" fmla="*/ 619934 w 2667156"/>
              <a:gd name="csY100" fmla="*/ 2622008 h 4084285"/>
              <a:gd name="csX101" fmla="*/ 563060 w 2667156"/>
              <a:gd name="csY101" fmla="*/ 2622008 h 4084285"/>
              <a:gd name="csX102" fmla="*/ 571463 w 2667156"/>
              <a:gd name="csY102" fmla="*/ 2487547 h 4084285"/>
              <a:gd name="csX103" fmla="*/ 495829 w 2667156"/>
              <a:gd name="csY103" fmla="*/ 2386704 h 4084285"/>
              <a:gd name="csX104" fmla="*/ 403383 w 2667156"/>
              <a:gd name="csY104" fmla="*/ 2386704 h 4084285"/>
              <a:gd name="csX105" fmla="*/ 302541 w 2667156"/>
              <a:gd name="csY105" fmla="*/ 2386704 h 4084285"/>
              <a:gd name="csX106" fmla="*/ 176483 w 2667156"/>
              <a:gd name="csY106" fmla="*/ 2437122 h 4084285"/>
              <a:gd name="csX107" fmla="*/ 109252 w 2667156"/>
              <a:gd name="csY107" fmla="*/ 2386704 h 4084285"/>
              <a:gd name="csX108" fmla="*/ 42015 w 2667156"/>
              <a:gd name="csY108" fmla="*/ 2411913 h 4084285"/>
              <a:gd name="csX109" fmla="*/ 0 w 2667156"/>
              <a:gd name="csY109" fmla="*/ 2378295 h 4084285"/>
              <a:gd name="csX110" fmla="*/ 0 w 2667156"/>
              <a:gd name="csY110" fmla="*/ 2285855 h 4084285"/>
              <a:gd name="csX111" fmla="*/ 92446 w 2667156"/>
              <a:gd name="csY111" fmla="*/ 2201813 h 4084285"/>
              <a:gd name="csX112" fmla="*/ 151267 w 2667156"/>
              <a:gd name="csY112" fmla="*/ 2075755 h 4084285"/>
              <a:gd name="csX113" fmla="*/ 151267 w 2667156"/>
              <a:gd name="csY113" fmla="*/ 2000121 h 4084285"/>
              <a:gd name="csX114" fmla="*/ 218498 w 2667156"/>
              <a:gd name="csY114" fmla="*/ 1890876 h 4084285"/>
              <a:gd name="csX115" fmla="*/ 260519 w 2667156"/>
              <a:gd name="csY115" fmla="*/ 1857257 h 4084285"/>
              <a:gd name="csX116" fmla="*/ 285486 w 2667156"/>
              <a:gd name="csY116" fmla="*/ 1847270 h 4084285"/>
              <a:gd name="csX117" fmla="*/ 279443 w 2667156"/>
              <a:gd name="csY117" fmla="*/ 1788856 h 4084285"/>
              <a:gd name="csX118" fmla="*/ 277331 w 2667156"/>
              <a:gd name="csY118" fmla="*/ 1790027 h 4084285"/>
              <a:gd name="csX119" fmla="*/ 210101 w 2667156"/>
              <a:gd name="csY119" fmla="*/ 1571523 h 4084285"/>
              <a:gd name="csX120" fmla="*/ 210101 w 2667156"/>
              <a:gd name="csY120" fmla="*/ 1470680 h 4084285"/>
              <a:gd name="csX121" fmla="*/ 134467 w 2667156"/>
              <a:gd name="csY121" fmla="*/ 1462277 h 4084285"/>
              <a:gd name="csX122" fmla="*/ 67237 w 2667156"/>
              <a:gd name="csY122" fmla="*/ 1235371 h 4084285"/>
              <a:gd name="csX123" fmla="*/ 67237 w 2667156"/>
              <a:gd name="csY123" fmla="*/ 1126125 h 4084285"/>
              <a:gd name="csX124" fmla="*/ 84043 w 2667156"/>
              <a:gd name="csY124" fmla="*/ 949643 h 4084285"/>
              <a:gd name="csX125" fmla="*/ 168086 w 2667156"/>
              <a:gd name="csY125" fmla="*/ 932830 h 4084285"/>
              <a:gd name="csX126" fmla="*/ 226913 w 2667156"/>
              <a:gd name="csY126" fmla="*/ 882412 h 4084285"/>
              <a:gd name="csX127" fmla="*/ 226913 w 2667156"/>
              <a:gd name="csY127" fmla="*/ 781563 h 4084285"/>
              <a:gd name="csX128" fmla="*/ 277331 w 2667156"/>
              <a:gd name="csY128" fmla="*/ 773160 h 4084285"/>
              <a:gd name="csX129" fmla="*/ 310950 w 2667156"/>
              <a:gd name="csY129" fmla="*/ 714333 h 4084285"/>
              <a:gd name="csX130" fmla="*/ 327756 w 2667156"/>
              <a:gd name="csY130" fmla="*/ 655505 h 4084285"/>
              <a:gd name="csX131" fmla="*/ 319353 w 2667156"/>
              <a:gd name="csY131" fmla="*/ 563066 h 4084285"/>
              <a:gd name="csX132" fmla="*/ 352965 w 2667156"/>
              <a:gd name="csY132" fmla="*/ 512641 h 4084285"/>
              <a:gd name="csX133" fmla="*/ 411792 w 2667156"/>
              <a:gd name="csY133" fmla="*/ 537857 h 4084285"/>
              <a:gd name="csX134" fmla="*/ 504238 w 2667156"/>
              <a:gd name="csY134" fmla="*/ 512641 h 4084285"/>
              <a:gd name="csX135" fmla="*/ 546260 w 2667156"/>
              <a:gd name="csY135" fmla="*/ 428598 h 4084285"/>
              <a:gd name="csX136" fmla="*/ 647102 w 2667156"/>
              <a:gd name="csY136" fmla="*/ 411792 h 4084285"/>
              <a:gd name="csX137" fmla="*/ 672318 w 2667156"/>
              <a:gd name="csY137" fmla="*/ 327756 h 4084285"/>
              <a:gd name="csX138" fmla="*/ 714333 w 2667156"/>
              <a:gd name="csY138" fmla="*/ 277331 h 4084285"/>
              <a:gd name="csX139" fmla="*/ 756354 w 2667156"/>
              <a:gd name="csY139" fmla="*/ 361368 h 4084285"/>
              <a:gd name="csX140" fmla="*/ 806779 w 2667156"/>
              <a:gd name="csY140" fmla="*/ 394986 h 4084285"/>
              <a:gd name="csX141" fmla="*/ 806779 w 2667156"/>
              <a:gd name="csY141" fmla="*/ 428598 h 4084285"/>
              <a:gd name="csX142" fmla="*/ 857197 w 2667156"/>
              <a:gd name="csY142" fmla="*/ 470620 h 4084285"/>
              <a:gd name="csX143" fmla="*/ 899218 w 2667156"/>
              <a:gd name="csY143" fmla="*/ 487426 h 4084285"/>
              <a:gd name="csX144" fmla="*/ 949643 w 2667156"/>
              <a:gd name="csY144" fmla="*/ 487426 h 4084285"/>
              <a:gd name="csX145" fmla="*/ 1058895 w 2667156"/>
              <a:gd name="csY145" fmla="*/ 470620 h 4084285"/>
              <a:gd name="csX146" fmla="*/ 1184953 w 2667156"/>
              <a:gd name="csY146" fmla="*/ 428598 h 4084285"/>
              <a:gd name="csX147" fmla="*/ 1184953 w 2667156"/>
              <a:gd name="csY147" fmla="*/ 451931 h 4084285"/>
              <a:gd name="csX148" fmla="*/ 1276375 w 2667156"/>
              <a:gd name="csY148" fmla="*/ 392156 h 4084285"/>
              <a:gd name="csX149" fmla="*/ 1268989 w 2667156"/>
              <a:gd name="csY149" fmla="*/ 310943 h 4084285"/>
              <a:gd name="csX150" fmla="*/ 1336220 w 2667156"/>
              <a:gd name="csY150" fmla="*/ 310943 h 4084285"/>
              <a:gd name="csX151" fmla="*/ 1386644 w 2667156"/>
              <a:gd name="csY151" fmla="*/ 294137 h 4084285"/>
              <a:gd name="csX152" fmla="*/ 1479084 w 2667156"/>
              <a:gd name="csY152" fmla="*/ 151267 h 4084285"/>
              <a:gd name="csX153" fmla="*/ 1588336 w 2667156"/>
              <a:gd name="csY153" fmla="*/ 100843 h 4084285"/>
              <a:gd name="csX154" fmla="*/ 1689185 w 2667156"/>
              <a:gd name="csY154" fmla="*/ 92440 h 40842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Lst>
            <a:rect l="l" t="t" r="r" b="b"/>
            <a:pathLst>
              <a:path w="2667156" h="4084285">
                <a:moveTo>
                  <a:pt x="1705991" y="0"/>
                </a:moveTo>
                <a:lnTo>
                  <a:pt x="1731200" y="0"/>
                </a:lnTo>
                <a:lnTo>
                  <a:pt x="1739609" y="67231"/>
                </a:lnTo>
                <a:lnTo>
                  <a:pt x="1756415" y="100843"/>
                </a:lnTo>
                <a:lnTo>
                  <a:pt x="1798430" y="142864"/>
                </a:lnTo>
                <a:lnTo>
                  <a:pt x="1899279" y="184879"/>
                </a:lnTo>
                <a:lnTo>
                  <a:pt x="1974913" y="184879"/>
                </a:lnTo>
                <a:lnTo>
                  <a:pt x="2067352" y="159670"/>
                </a:lnTo>
                <a:lnTo>
                  <a:pt x="2134583" y="134461"/>
                </a:lnTo>
                <a:lnTo>
                  <a:pt x="2151395" y="67231"/>
                </a:lnTo>
                <a:lnTo>
                  <a:pt x="2151395" y="151267"/>
                </a:lnTo>
                <a:lnTo>
                  <a:pt x="2168201" y="210095"/>
                </a:lnTo>
                <a:lnTo>
                  <a:pt x="2193410" y="268922"/>
                </a:lnTo>
                <a:lnTo>
                  <a:pt x="2142992" y="336159"/>
                </a:lnTo>
                <a:lnTo>
                  <a:pt x="2134583" y="378174"/>
                </a:lnTo>
                <a:lnTo>
                  <a:pt x="2159798" y="428598"/>
                </a:lnTo>
                <a:lnTo>
                  <a:pt x="2252244" y="470620"/>
                </a:lnTo>
                <a:lnTo>
                  <a:pt x="2294259" y="554656"/>
                </a:lnTo>
                <a:lnTo>
                  <a:pt x="2260647" y="638693"/>
                </a:lnTo>
                <a:lnTo>
                  <a:pt x="2260647" y="739122"/>
                </a:lnTo>
                <a:lnTo>
                  <a:pt x="2269235" y="746195"/>
                </a:lnTo>
                <a:lnTo>
                  <a:pt x="2260647" y="770539"/>
                </a:lnTo>
                <a:lnTo>
                  <a:pt x="2260647" y="781563"/>
                </a:lnTo>
                <a:lnTo>
                  <a:pt x="2255921" y="783923"/>
                </a:lnTo>
                <a:lnTo>
                  <a:pt x="2226711" y="866681"/>
                </a:lnTo>
                <a:lnTo>
                  <a:pt x="2285856" y="840391"/>
                </a:lnTo>
                <a:lnTo>
                  <a:pt x="2311065" y="857197"/>
                </a:lnTo>
                <a:lnTo>
                  <a:pt x="2277453" y="907621"/>
                </a:lnTo>
                <a:lnTo>
                  <a:pt x="2210216" y="1016873"/>
                </a:lnTo>
                <a:lnTo>
                  <a:pt x="2210216" y="1126125"/>
                </a:lnTo>
                <a:lnTo>
                  <a:pt x="2210216" y="1210162"/>
                </a:lnTo>
                <a:lnTo>
                  <a:pt x="2126180" y="1361429"/>
                </a:lnTo>
                <a:lnTo>
                  <a:pt x="2050546" y="1386644"/>
                </a:lnTo>
                <a:lnTo>
                  <a:pt x="2058949" y="1479090"/>
                </a:lnTo>
                <a:lnTo>
                  <a:pt x="2050546" y="1588335"/>
                </a:lnTo>
                <a:lnTo>
                  <a:pt x="1949697" y="1705990"/>
                </a:lnTo>
                <a:lnTo>
                  <a:pt x="1899273" y="1756415"/>
                </a:lnTo>
                <a:lnTo>
                  <a:pt x="1899273" y="1848861"/>
                </a:lnTo>
                <a:lnTo>
                  <a:pt x="1916085" y="1899279"/>
                </a:lnTo>
                <a:lnTo>
                  <a:pt x="1914858" y="1900233"/>
                </a:lnTo>
                <a:lnTo>
                  <a:pt x="1935957" y="1950333"/>
                </a:lnTo>
                <a:lnTo>
                  <a:pt x="1958107" y="1924488"/>
                </a:lnTo>
                <a:lnTo>
                  <a:pt x="2117777" y="2025337"/>
                </a:lnTo>
                <a:lnTo>
                  <a:pt x="2100971" y="2126185"/>
                </a:lnTo>
                <a:lnTo>
                  <a:pt x="2142992" y="2235431"/>
                </a:lnTo>
                <a:lnTo>
                  <a:pt x="2193417" y="2336280"/>
                </a:lnTo>
                <a:lnTo>
                  <a:pt x="2201820" y="2445525"/>
                </a:lnTo>
                <a:lnTo>
                  <a:pt x="2361490" y="2495956"/>
                </a:lnTo>
                <a:lnTo>
                  <a:pt x="2420317" y="2504359"/>
                </a:lnTo>
                <a:lnTo>
                  <a:pt x="2453936" y="2504359"/>
                </a:lnTo>
                <a:lnTo>
                  <a:pt x="2512763" y="2613605"/>
                </a:lnTo>
                <a:lnTo>
                  <a:pt x="2479151" y="2731260"/>
                </a:lnTo>
                <a:lnTo>
                  <a:pt x="2479151" y="2874130"/>
                </a:lnTo>
                <a:lnTo>
                  <a:pt x="2537972" y="2941361"/>
                </a:lnTo>
                <a:lnTo>
                  <a:pt x="2605203" y="2949764"/>
                </a:lnTo>
                <a:lnTo>
                  <a:pt x="2667156" y="2880067"/>
                </a:lnTo>
                <a:lnTo>
                  <a:pt x="2667156" y="3083674"/>
                </a:lnTo>
                <a:lnTo>
                  <a:pt x="2638821" y="3109434"/>
                </a:lnTo>
                <a:lnTo>
                  <a:pt x="2571591" y="3201880"/>
                </a:lnTo>
                <a:lnTo>
                  <a:pt x="2571591" y="3311131"/>
                </a:lnTo>
                <a:lnTo>
                  <a:pt x="2647224" y="3378362"/>
                </a:lnTo>
                <a:lnTo>
                  <a:pt x="2667156" y="3378362"/>
                </a:lnTo>
                <a:lnTo>
                  <a:pt x="2667156" y="3672499"/>
                </a:lnTo>
                <a:lnTo>
                  <a:pt x="2638821" y="3672499"/>
                </a:lnTo>
                <a:lnTo>
                  <a:pt x="2554785" y="3773342"/>
                </a:lnTo>
                <a:lnTo>
                  <a:pt x="2554785" y="3840572"/>
                </a:lnTo>
                <a:lnTo>
                  <a:pt x="2462339" y="3933018"/>
                </a:lnTo>
                <a:lnTo>
                  <a:pt x="2386705" y="3933018"/>
                </a:lnTo>
                <a:lnTo>
                  <a:pt x="2277453" y="3933018"/>
                </a:lnTo>
                <a:lnTo>
                  <a:pt x="2210223" y="3840572"/>
                </a:lnTo>
                <a:lnTo>
                  <a:pt x="2126180" y="3899406"/>
                </a:lnTo>
                <a:lnTo>
                  <a:pt x="2016934" y="4084285"/>
                </a:lnTo>
                <a:lnTo>
                  <a:pt x="1815243" y="4033867"/>
                </a:lnTo>
                <a:lnTo>
                  <a:pt x="1739603" y="3966637"/>
                </a:lnTo>
                <a:lnTo>
                  <a:pt x="1672372" y="4059076"/>
                </a:lnTo>
                <a:lnTo>
                  <a:pt x="1638760" y="3975040"/>
                </a:lnTo>
                <a:lnTo>
                  <a:pt x="1571530" y="3958227"/>
                </a:lnTo>
                <a:lnTo>
                  <a:pt x="1529508" y="3890997"/>
                </a:lnTo>
                <a:lnTo>
                  <a:pt x="1495890" y="3966637"/>
                </a:lnTo>
                <a:lnTo>
                  <a:pt x="1445472" y="3941421"/>
                </a:lnTo>
                <a:lnTo>
                  <a:pt x="1411853" y="3991846"/>
                </a:lnTo>
                <a:lnTo>
                  <a:pt x="1311005" y="3991846"/>
                </a:lnTo>
                <a:lnTo>
                  <a:pt x="1277392" y="3874191"/>
                </a:lnTo>
                <a:lnTo>
                  <a:pt x="1159737" y="3815363"/>
                </a:lnTo>
                <a:cubicBezTo>
                  <a:pt x="1141106" y="3731524"/>
                  <a:pt x="1142931" y="3765556"/>
                  <a:pt x="1142931" y="3714514"/>
                </a:cubicBezTo>
                <a:lnTo>
                  <a:pt x="1142931" y="3689305"/>
                </a:lnTo>
                <a:lnTo>
                  <a:pt x="1042082" y="3554838"/>
                </a:lnTo>
                <a:lnTo>
                  <a:pt x="991658" y="3496017"/>
                </a:lnTo>
                <a:lnTo>
                  <a:pt x="899218" y="3496017"/>
                </a:lnTo>
                <a:lnTo>
                  <a:pt x="840391" y="3496017"/>
                </a:lnTo>
                <a:lnTo>
                  <a:pt x="781563" y="3437189"/>
                </a:lnTo>
                <a:lnTo>
                  <a:pt x="756348" y="3361556"/>
                </a:lnTo>
                <a:lnTo>
                  <a:pt x="747945" y="3218686"/>
                </a:lnTo>
                <a:lnTo>
                  <a:pt x="731139" y="3134649"/>
                </a:lnTo>
                <a:lnTo>
                  <a:pt x="764757" y="3000188"/>
                </a:lnTo>
                <a:lnTo>
                  <a:pt x="798370" y="2916145"/>
                </a:lnTo>
                <a:lnTo>
                  <a:pt x="857197" y="2890936"/>
                </a:lnTo>
                <a:lnTo>
                  <a:pt x="747945" y="2806893"/>
                </a:lnTo>
                <a:lnTo>
                  <a:pt x="747945" y="2773281"/>
                </a:lnTo>
                <a:lnTo>
                  <a:pt x="866980" y="2807294"/>
                </a:lnTo>
                <a:lnTo>
                  <a:pt x="619934" y="2622008"/>
                </a:lnTo>
                <a:lnTo>
                  <a:pt x="563060" y="2622008"/>
                </a:lnTo>
                <a:lnTo>
                  <a:pt x="571463" y="2487547"/>
                </a:lnTo>
                <a:lnTo>
                  <a:pt x="495829" y="2386704"/>
                </a:lnTo>
                <a:lnTo>
                  <a:pt x="403383" y="2386704"/>
                </a:lnTo>
                <a:lnTo>
                  <a:pt x="302541" y="2386704"/>
                </a:lnTo>
                <a:lnTo>
                  <a:pt x="176483" y="2437122"/>
                </a:lnTo>
                <a:lnTo>
                  <a:pt x="109252" y="2386704"/>
                </a:lnTo>
                <a:lnTo>
                  <a:pt x="42015" y="2411913"/>
                </a:lnTo>
                <a:lnTo>
                  <a:pt x="0" y="2378295"/>
                </a:lnTo>
                <a:lnTo>
                  <a:pt x="0" y="2285855"/>
                </a:lnTo>
                <a:lnTo>
                  <a:pt x="92446" y="2201813"/>
                </a:lnTo>
                <a:lnTo>
                  <a:pt x="151267" y="2075755"/>
                </a:lnTo>
                <a:lnTo>
                  <a:pt x="151267" y="2000121"/>
                </a:lnTo>
                <a:lnTo>
                  <a:pt x="218498" y="1890876"/>
                </a:lnTo>
                <a:lnTo>
                  <a:pt x="260519" y="1857257"/>
                </a:lnTo>
                <a:lnTo>
                  <a:pt x="285486" y="1847270"/>
                </a:lnTo>
                <a:lnTo>
                  <a:pt x="279443" y="1788856"/>
                </a:lnTo>
                <a:lnTo>
                  <a:pt x="277331" y="1790027"/>
                </a:lnTo>
                <a:lnTo>
                  <a:pt x="210101" y="1571523"/>
                </a:lnTo>
                <a:lnTo>
                  <a:pt x="210101" y="1470680"/>
                </a:lnTo>
                <a:lnTo>
                  <a:pt x="134467" y="1462277"/>
                </a:lnTo>
                <a:lnTo>
                  <a:pt x="67237" y="1235371"/>
                </a:lnTo>
                <a:lnTo>
                  <a:pt x="67237" y="1126125"/>
                </a:lnTo>
                <a:lnTo>
                  <a:pt x="84043" y="949643"/>
                </a:lnTo>
                <a:lnTo>
                  <a:pt x="168086" y="932830"/>
                </a:lnTo>
                <a:lnTo>
                  <a:pt x="226913" y="882412"/>
                </a:lnTo>
                <a:lnTo>
                  <a:pt x="226913" y="781563"/>
                </a:lnTo>
                <a:lnTo>
                  <a:pt x="277331" y="773160"/>
                </a:lnTo>
                <a:lnTo>
                  <a:pt x="310950" y="714333"/>
                </a:lnTo>
                <a:lnTo>
                  <a:pt x="327756" y="655505"/>
                </a:lnTo>
                <a:lnTo>
                  <a:pt x="319353" y="563066"/>
                </a:lnTo>
                <a:lnTo>
                  <a:pt x="352965" y="512641"/>
                </a:lnTo>
                <a:lnTo>
                  <a:pt x="411792" y="537857"/>
                </a:lnTo>
                <a:lnTo>
                  <a:pt x="504238" y="512641"/>
                </a:lnTo>
                <a:lnTo>
                  <a:pt x="546260" y="428598"/>
                </a:lnTo>
                <a:lnTo>
                  <a:pt x="647102" y="411792"/>
                </a:lnTo>
                <a:lnTo>
                  <a:pt x="672318" y="327756"/>
                </a:lnTo>
                <a:lnTo>
                  <a:pt x="714333" y="277331"/>
                </a:lnTo>
                <a:lnTo>
                  <a:pt x="756354" y="361368"/>
                </a:lnTo>
                <a:lnTo>
                  <a:pt x="806779" y="394986"/>
                </a:lnTo>
                <a:lnTo>
                  <a:pt x="806779" y="428598"/>
                </a:lnTo>
                <a:lnTo>
                  <a:pt x="857197" y="470620"/>
                </a:lnTo>
                <a:lnTo>
                  <a:pt x="899218" y="487426"/>
                </a:lnTo>
                <a:lnTo>
                  <a:pt x="949643" y="487426"/>
                </a:lnTo>
                <a:lnTo>
                  <a:pt x="1058895" y="470620"/>
                </a:lnTo>
                <a:lnTo>
                  <a:pt x="1184953" y="428598"/>
                </a:lnTo>
                <a:lnTo>
                  <a:pt x="1184953" y="451931"/>
                </a:lnTo>
                <a:lnTo>
                  <a:pt x="1276375" y="392156"/>
                </a:lnTo>
                <a:lnTo>
                  <a:pt x="1268989" y="310943"/>
                </a:lnTo>
                <a:lnTo>
                  <a:pt x="1336220" y="310943"/>
                </a:lnTo>
                <a:lnTo>
                  <a:pt x="1386644" y="294137"/>
                </a:lnTo>
                <a:lnTo>
                  <a:pt x="1479084" y="151267"/>
                </a:lnTo>
                <a:lnTo>
                  <a:pt x="1588336" y="100843"/>
                </a:lnTo>
                <a:lnTo>
                  <a:pt x="1689185" y="9244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6" name="TextBox 5">
            <a:extLst>
              <a:ext uri="{FF2B5EF4-FFF2-40B4-BE49-F238E27FC236}">
                <a16:creationId xmlns:a16="http://schemas.microsoft.com/office/drawing/2014/main" id="{19F0F86A-72B4-A804-4141-EA02EE4BD559}"/>
              </a:ext>
            </a:extLst>
          </p:cNvPr>
          <p:cNvSpPr txBox="1"/>
          <p:nvPr/>
        </p:nvSpPr>
        <p:spPr>
          <a:xfrm>
            <a:off x="1320734" y="3100363"/>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t>안양</a:t>
            </a:r>
            <a:endParaRPr lang="ko-KR" altLang="en-US" sz="1400" dirty="0"/>
          </a:p>
        </p:txBody>
      </p:sp>
      <p:sp>
        <p:nvSpPr>
          <p:cNvPr id="7" name="TextBox 6">
            <a:extLst>
              <a:ext uri="{FF2B5EF4-FFF2-40B4-BE49-F238E27FC236}">
                <a16:creationId xmlns:a16="http://schemas.microsoft.com/office/drawing/2014/main" id="{6E82877C-093E-D448-FE88-B534FE2D9E2D}"/>
              </a:ext>
            </a:extLst>
          </p:cNvPr>
          <p:cNvSpPr txBox="1"/>
          <p:nvPr/>
        </p:nvSpPr>
        <p:spPr>
          <a:xfrm>
            <a:off x="2245498" y="2754242"/>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과천</a:t>
            </a:r>
            <a:endParaRPr lang="ko-KR" altLang="en-US" sz="1400" dirty="0"/>
          </a:p>
        </p:txBody>
      </p:sp>
      <p:sp>
        <p:nvSpPr>
          <p:cNvPr id="8" name="TextBox 7">
            <a:extLst>
              <a:ext uri="{FF2B5EF4-FFF2-40B4-BE49-F238E27FC236}">
                <a16:creationId xmlns:a16="http://schemas.microsoft.com/office/drawing/2014/main" id="{AB4DC057-0F17-14D8-F219-97A959754F57}"/>
              </a:ext>
            </a:extLst>
          </p:cNvPr>
          <p:cNvSpPr txBox="1"/>
          <p:nvPr/>
        </p:nvSpPr>
        <p:spPr>
          <a:xfrm>
            <a:off x="2190527" y="3831500"/>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의왕</a:t>
            </a:r>
            <a:endParaRPr lang="ko-KR" altLang="en-US" sz="1400" dirty="0"/>
          </a:p>
        </p:txBody>
      </p:sp>
      <p:sp>
        <p:nvSpPr>
          <p:cNvPr id="9" name="TextBox 8">
            <a:extLst>
              <a:ext uri="{FF2B5EF4-FFF2-40B4-BE49-F238E27FC236}">
                <a16:creationId xmlns:a16="http://schemas.microsoft.com/office/drawing/2014/main" id="{F9F13981-93B5-C3F5-072D-4DEC208749A3}"/>
              </a:ext>
            </a:extLst>
          </p:cNvPr>
          <p:cNvSpPr txBox="1"/>
          <p:nvPr/>
        </p:nvSpPr>
        <p:spPr>
          <a:xfrm>
            <a:off x="1160027" y="4174223"/>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군포</a:t>
            </a:r>
            <a:endParaRPr lang="ko-KR" altLang="en-US" sz="1400" dirty="0"/>
          </a:p>
        </p:txBody>
      </p:sp>
      <p:sp>
        <p:nvSpPr>
          <p:cNvPr id="10" name="TextBox 9">
            <a:extLst>
              <a:ext uri="{FF2B5EF4-FFF2-40B4-BE49-F238E27FC236}">
                <a16:creationId xmlns:a16="http://schemas.microsoft.com/office/drawing/2014/main" id="{C181075F-83DA-9E78-EC88-5FC7F0F1EA0A}"/>
              </a:ext>
            </a:extLst>
          </p:cNvPr>
          <p:cNvSpPr txBox="1"/>
          <p:nvPr/>
        </p:nvSpPr>
        <p:spPr>
          <a:xfrm>
            <a:off x="2161119" y="5191234"/>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수원</a:t>
            </a:r>
            <a:endParaRPr lang="ko-KR" altLang="en-US" sz="1400" dirty="0"/>
          </a:p>
        </p:txBody>
      </p:sp>
      <p:sp>
        <p:nvSpPr>
          <p:cNvPr id="32" name="TextBox 31">
            <a:extLst>
              <a:ext uri="{FF2B5EF4-FFF2-40B4-BE49-F238E27FC236}">
                <a16:creationId xmlns:a16="http://schemas.microsoft.com/office/drawing/2014/main" id="{07200267-0798-A0B7-9499-FB7C717D2B99}"/>
              </a:ext>
            </a:extLst>
          </p:cNvPr>
          <p:cNvSpPr txBox="1"/>
          <p:nvPr/>
        </p:nvSpPr>
        <p:spPr>
          <a:xfrm>
            <a:off x="1772910" y="3188118"/>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연면적 </a:t>
            </a:r>
            <a:r>
              <a:rPr lang="en-US" altLang="ko-KR" sz="1600" dirty="0">
                <a:solidFill>
                  <a:schemeClr val="tx1"/>
                </a:solidFill>
              </a:rPr>
              <a:t>5,000</a:t>
            </a:r>
            <a:r>
              <a:rPr lang="ko-KR" altLang="en-US" sz="1600" dirty="0">
                <a:solidFill>
                  <a:schemeClr val="tx1"/>
                </a:solidFill>
              </a:rPr>
              <a:t>평 이상의 대형 물류센터는 본건을 포함해 </a:t>
            </a:r>
            <a:r>
              <a:rPr lang="en-US" altLang="ko-KR" sz="1600" dirty="0">
                <a:solidFill>
                  <a:schemeClr val="tx1"/>
                </a:solidFill>
              </a:rPr>
              <a:t>6</a:t>
            </a:r>
            <a:r>
              <a:rPr lang="ko-KR" altLang="en-US" sz="1600" dirty="0">
                <a:solidFill>
                  <a:schemeClr val="tx1"/>
                </a:solidFill>
              </a:rPr>
              <a:t>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2023년 준공)은 권역 내 최대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규모·최신축</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실질임대료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graphicFrame>
        <p:nvGraphicFramePr>
          <p:cNvPr id="366" name="신규표"/>
          <p:cNvGraphicFramePr>
            <a:graphicFrameLocks noGrp="1"/>
          </p:cNvGraphicFramePr>
          <p:nvPr>
            <p:extLst>
              <p:ext uri="{D42A27DB-BD31-4B8C-83A1-F6EECF244321}">
                <p14:modId xmlns:p14="http://schemas.microsoft.com/office/powerpoint/2010/main" val="613314134"/>
              </p:ext>
            </p:extLst>
          </p:nvPr>
        </p:nvGraphicFramePr>
        <p:xfrm>
          <a:off x="3703320" y="2359152"/>
          <a:ext cx="6537960" cy="4160420"/>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1998">
                  <a:extLst>
                    <a:ext uri="{9D8B030D-6E8A-4147-A177-3AD203B41FA5}">
                      <a16:colId xmlns:a16="http://schemas.microsoft.com/office/drawing/2014/main" val="20001"/>
                    </a:ext>
                  </a:extLst>
                </a:gridCol>
                <a:gridCol w="455402">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671574">
                  <a:extLst>
                    <a:ext uri="{9D8B030D-6E8A-4147-A177-3AD203B41FA5}">
                      <a16:colId xmlns:a16="http://schemas.microsoft.com/office/drawing/2014/main" val="20004"/>
                    </a:ext>
                  </a:extLst>
                </a:gridCol>
                <a:gridCol w="756084">
                  <a:extLst>
                    <a:ext uri="{9D8B030D-6E8A-4147-A177-3AD203B41FA5}">
                      <a16:colId xmlns:a16="http://schemas.microsoft.com/office/drawing/2014/main" val="20005"/>
                    </a:ext>
                  </a:extLst>
                </a:gridCol>
                <a:gridCol w="766902">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416042">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타입</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6042">
                <a:tc>
                  <a:txBody>
                    <a:bodyPr/>
                    <a:lstStyle/>
                    <a:p>
                      <a:pPr algn="ct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 지오영, </a:t>
                      </a:r>
                    </a:p>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용마로지스</a:t>
                      </a:r>
                      <a:endPar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16042">
                <a:tc rowSpan="2">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삼성출판사물류창고</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16042">
                <a:tc rowSpan="2">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의왕물류센터</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 롯데제과의왕물류창고</a:t>
                      </a:r>
                      <a:r>
                        <a:rPr lang="en-US" altLang="ko-KR" sz="1000" kern="1200" baseline="3000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16042">
                <a:tc rowSpan="3">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부곡화물터미널</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16042">
                <a:tc vMerge="1">
                  <a:txBody>
                    <a:bodyPr/>
                    <a:lstStyle/>
                    <a:p>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 당정동물류창고</a:t>
                      </a:r>
                      <a:r>
                        <a:rPr lang="en-US" altLang="ko-KR" sz="1000" kern="1200" baseline="3000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오비맥주</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7.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GS홈쇼핑군포신물류센터</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16042">
                <a:tc>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수원물류창고</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8" name="타원 17">
            <a:extLst>
              <a:ext uri="{FF2B5EF4-FFF2-40B4-BE49-F238E27FC236}">
                <a16:creationId xmlns:a16="http://schemas.microsoft.com/office/drawing/2014/main" id="{AC2ED953-3836-7BCE-C1EE-5BA02BA93A7A}"/>
              </a:ext>
            </a:extLst>
          </p:cNvPr>
          <p:cNvSpPr>
            <a:spLocks noChangeAspect="1"/>
          </p:cNvSpPr>
          <p:nvPr/>
        </p:nvSpPr>
        <p:spPr>
          <a:xfrm>
            <a:off x="3368429" y="5188981"/>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타원 18">
            <a:extLst>
              <a:ext uri="{FF2B5EF4-FFF2-40B4-BE49-F238E27FC236}">
                <a16:creationId xmlns:a16="http://schemas.microsoft.com/office/drawing/2014/main" id="{9C245EB9-8A56-4F7E-1434-26299163DC67}"/>
              </a:ext>
            </a:extLst>
          </p:cNvPr>
          <p:cNvSpPr>
            <a:spLocks noChangeAspect="1"/>
          </p:cNvSpPr>
          <p:nvPr/>
        </p:nvSpPr>
        <p:spPr>
          <a:xfrm>
            <a:off x="1904167" y="4568008"/>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0" name="타원 19">
            <a:extLst>
              <a:ext uri="{FF2B5EF4-FFF2-40B4-BE49-F238E27FC236}">
                <a16:creationId xmlns:a16="http://schemas.microsoft.com/office/drawing/2014/main" id="{C5808E3D-BFAF-0527-09C9-71BC63CC7717}"/>
              </a:ext>
            </a:extLst>
          </p:cNvPr>
          <p:cNvSpPr>
            <a:spLocks noChangeAspect="1"/>
          </p:cNvSpPr>
          <p:nvPr/>
        </p:nvSpPr>
        <p:spPr>
          <a:xfrm>
            <a:off x="1605852" y="4477757"/>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타원 20">
            <a:extLst>
              <a:ext uri="{FF2B5EF4-FFF2-40B4-BE49-F238E27FC236}">
                <a16:creationId xmlns:a16="http://schemas.microsoft.com/office/drawing/2014/main" id="{56CE3E35-D99A-EF82-2373-6ED0B4F5A409}"/>
              </a:ext>
            </a:extLst>
          </p:cNvPr>
          <p:cNvSpPr>
            <a:spLocks noChangeAspect="1"/>
          </p:cNvSpPr>
          <p:nvPr/>
        </p:nvSpPr>
        <p:spPr>
          <a:xfrm>
            <a:off x="1829474" y="4177368"/>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2" name="타원 21">
            <a:extLst>
              <a:ext uri="{FF2B5EF4-FFF2-40B4-BE49-F238E27FC236}">
                <a16:creationId xmlns:a16="http://schemas.microsoft.com/office/drawing/2014/main" id="{B879325A-159B-C359-146F-1DC04160A6C6}"/>
              </a:ext>
            </a:extLst>
          </p:cNvPr>
          <p:cNvSpPr>
            <a:spLocks noChangeAspect="1"/>
          </p:cNvSpPr>
          <p:nvPr/>
        </p:nvSpPr>
        <p:spPr>
          <a:xfrm>
            <a:off x="1680054" y="358686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3" name="타원 22">
            <a:extLst>
              <a:ext uri="{FF2B5EF4-FFF2-40B4-BE49-F238E27FC236}">
                <a16:creationId xmlns:a16="http://schemas.microsoft.com/office/drawing/2014/main" id="{E3F51766-0C33-A09F-FB40-748570DC6398}"/>
              </a:ext>
            </a:extLst>
          </p:cNvPr>
          <p:cNvSpPr/>
          <p:nvPr/>
        </p:nvSpPr>
        <p:spPr>
          <a:xfrm>
            <a:off x="2058220" y="3415207"/>
            <a:ext cx="149385" cy="149385"/>
          </a:xfrm>
          <a:prstGeom prst="ellipse">
            <a:avLst/>
          </a:prstGeom>
          <a:solidFill>
            <a:srgbClr val="FF0000"/>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타원 28">
            <a:extLst>
              <a:ext uri="{FF2B5EF4-FFF2-40B4-BE49-F238E27FC236}">
                <a16:creationId xmlns:a16="http://schemas.microsoft.com/office/drawing/2014/main" id="{7A2DB2DC-6EE9-CA4B-3686-63297704BA8C}"/>
              </a:ext>
            </a:extLst>
          </p:cNvPr>
          <p:cNvSpPr>
            <a:spLocks noChangeAspect="1"/>
          </p:cNvSpPr>
          <p:nvPr/>
        </p:nvSpPr>
        <p:spPr>
          <a:xfrm>
            <a:off x="1954002" y="4067710"/>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타원 29">
            <a:extLst>
              <a:ext uri="{FF2B5EF4-FFF2-40B4-BE49-F238E27FC236}">
                <a16:creationId xmlns:a16="http://schemas.microsoft.com/office/drawing/2014/main" id="{7CF74F94-D379-EB7B-87E9-F4B5C53309BB}"/>
              </a:ext>
            </a:extLst>
          </p:cNvPr>
          <p:cNvSpPr>
            <a:spLocks noChangeAspect="1"/>
          </p:cNvSpPr>
          <p:nvPr/>
        </p:nvSpPr>
        <p:spPr>
          <a:xfrm>
            <a:off x="2030628" y="429145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타원 30">
            <a:extLst>
              <a:ext uri="{FF2B5EF4-FFF2-40B4-BE49-F238E27FC236}">
                <a16:creationId xmlns:a16="http://schemas.microsoft.com/office/drawing/2014/main" id="{10F7991E-C1E7-DD99-4114-896729BE0483}"/>
              </a:ext>
            </a:extLst>
          </p:cNvPr>
          <p:cNvSpPr>
            <a:spLocks noChangeAspect="1"/>
          </p:cNvSpPr>
          <p:nvPr/>
        </p:nvSpPr>
        <p:spPr>
          <a:xfrm>
            <a:off x="1143405" y="325261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0631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2728622245"/>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923006119"/>
              </p:ext>
            </p:extLst>
          </p:nvPr>
        </p:nvGraphicFramePr>
        <p:xfrm>
          <a:off x="457200" y="2359152"/>
          <a:ext cx="9785907" cy="4300411"/>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30394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1678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58,300원/평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70560"/>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70560"/>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70560"/>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70560"/>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70560"/>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70560"/>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70560"/>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70560"/>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70560"/>
            <a:ext cx="914400" cy="813816"/>
          </a:xfrm>
          <a:prstGeom prst="rect">
            <a:avLst/>
          </a:prstGeom>
        </p:spPr>
      </p:pic>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3" name="TextBox 2">
            <a:extLst>
              <a:ext uri="{FF2B5EF4-FFF2-40B4-BE49-F238E27FC236}">
                <a16:creationId xmlns:a16="http://schemas.microsoft.com/office/drawing/2014/main" id="{CF28FAA6-BD0C-BD51-9D72-84BBCA0C0892}"/>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대비 낮은 수준</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781499866"/>
              </p:ext>
            </p:extLst>
          </p:nvPr>
        </p:nvGraphicFramePr>
        <p:xfrm>
          <a:off x="457200" y="2359152"/>
          <a:ext cx="9785907" cy="4300410"/>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301916">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5">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6686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유통업무설비시설</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동안구관양동934</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Q4/2026 (예정)</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935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9"/>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코크렙안양PFV</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grpSp>
        <p:nvGrpSpPr>
          <p:cNvPr id="2" name="그룹 1">
            <a:extLst>
              <a:ext uri="{FF2B5EF4-FFF2-40B4-BE49-F238E27FC236}">
                <a16:creationId xmlns:a16="http://schemas.microsoft.com/office/drawing/2014/main" id="{2E1951B9-ACB4-3CC4-88A5-BF3FB823FB09}"/>
              </a:ext>
            </a:extLst>
          </p:cNvPr>
          <p:cNvGrpSpPr/>
          <p:nvPr/>
        </p:nvGrpSpPr>
        <p:grpSpPr>
          <a:xfrm>
            <a:off x="1408176" y="2663713"/>
            <a:ext cx="8800185" cy="676656"/>
            <a:chOff x="1408176" y="2779145"/>
            <a:chExt cx="8800185" cy="676656"/>
          </a:xfrm>
        </p:grpSpPr>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gr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0" name="TextBox 9">
            <a:extLst>
              <a:ext uri="{FF2B5EF4-FFF2-40B4-BE49-F238E27FC236}">
                <a16:creationId xmlns:a16="http://schemas.microsoft.com/office/drawing/2014/main" id="{EC449AAD-0E23-5618-C705-CD4BFDEB87BD}"/>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75443"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a:t>
              </a:r>
              <a:r>
                <a:rPr kumimoji="0" lang="en-US" altLang="ko-KR"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비교사례를 반영한 본건 적정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6</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1만원/평</a:t>
            </a:r>
            <a:r>
              <a:rPr kumimoji="0" lang="en-US" altLang="ko-KR"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kumimoji="0" lang="ko-KR" altLang="en-US"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기준</a:t>
            </a:r>
            <a:r>
              <a:rPr kumimoji="0" lang="en-US" altLang="ko-KR"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으로 현 5</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8만원 대비 약 6% 상승 여력</a:t>
            </a: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 예정인 </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임대차계약 만기</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 임대차 재계약 또는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물류시장 내 임차인 교체도 가능할 것으로 예상</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1748432527"/>
              </p:ext>
            </p:extLst>
          </p:nvPr>
        </p:nvGraphicFramePr>
        <p:xfrm>
          <a:off x="457200" y="2359152"/>
          <a:ext cx="9784082" cy="1645920"/>
        </p:xfrm>
        <a:graphic>
          <a:graphicData uri="http://schemas.openxmlformats.org/drawingml/2006/table">
            <a:tbl>
              <a:tblPr>
                <a:tableStyleId>{5940675A-B579-460E-94D1-54222C63F5DA}</a:tableStyleId>
              </a:tblPr>
              <a:tblGrid>
                <a:gridCol w="2116398">
                  <a:extLst>
                    <a:ext uri="{9D8B030D-6E8A-4147-A177-3AD203B41FA5}">
                      <a16:colId xmlns:a16="http://schemas.microsoft.com/office/drawing/2014/main" val="20000"/>
                    </a:ext>
                  </a:extLst>
                </a:gridCol>
                <a:gridCol w="1997930">
                  <a:extLst>
                    <a:ext uri="{9D8B030D-6E8A-4147-A177-3AD203B41FA5}">
                      <a16:colId xmlns:a16="http://schemas.microsoft.com/office/drawing/2014/main" val="20001"/>
                    </a:ext>
                  </a:extLst>
                </a:gridCol>
                <a:gridCol w="1889918">
                  <a:extLst>
                    <a:ext uri="{9D8B030D-6E8A-4147-A177-3AD203B41FA5}">
                      <a16:colId xmlns:a16="http://schemas.microsoft.com/office/drawing/2014/main" val="20002"/>
                    </a:ext>
                  </a:extLst>
                </a:gridCol>
                <a:gridCol w="1889918">
                  <a:extLst>
                    <a:ext uri="{9D8B030D-6E8A-4147-A177-3AD203B41FA5}">
                      <a16:colId xmlns:a16="http://schemas.microsoft.com/office/drawing/2014/main" val="20003"/>
                    </a:ext>
                  </a:extLst>
                </a:gridCol>
                <a:gridCol w="1889918">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endParaRPr 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61,463</a:t>
                      </a: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비교사례</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1922706328"/>
              </p:ext>
            </p:extLst>
          </p:nvPr>
        </p:nvGraphicFramePr>
        <p:xfrm>
          <a:off x="457200" y="5440662"/>
          <a:ext cx="9784086" cy="1186239"/>
        </p:xfrm>
        <a:graphic>
          <a:graphicData uri="http://schemas.openxmlformats.org/drawingml/2006/table">
            <a:tbl>
              <a:tblPr>
                <a:tableStyleId>{5940675A-B579-460E-94D1-54222C63F5DA}</a:tableStyleId>
              </a:tblPr>
              <a:tblGrid>
                <a:gridCol w="2116398">
                  <a:extLst>
                    <a:ext uri="{9D8B030D-6E8A-4147-A177-3AD203B41FA5}">
                      <a16:colId xmlns:a16="http://schemas.microsoft.com/office/drawing/2014/main" val="20000"/>
                    </a:ext>
                  </a:extLst>
                </a:gridCol>
                <a:gridCol w="1095384">
                  <a:extLst>
                    <a:ext uri="{9D8B030D-6E8A-4147-A177-3AD203B41FA5}">
                      <a16:colId xmlns:a16="http://schemas.microsoft.com/office/drawing/2014/main" val="20001"/>
                    </a:ext>
                  </a:extLst>
                </a:gridCol>
                <a:gridCol w="1095384">
                  <a:extLst>
                    <a:ext uri="{9D8B030D-6E8A-4147-A177-3AD203B41FA5}">
                      <a16:colId xmlns:a16="http://schemas.microsoft.com/office/drawing/2014/main" val="3347448960"/>
                    </a:ext>
                  </a:extLst>
                </a:gridCol>
                <a:gridCol w="1095384">
                  <a:extLst>
                    <a:ext uri="{9D8B030D-6E8A-4147-A177-3AD203B41FA5}">
                      <a16:colId xmlns:a16="http://schemas.microsoft.com/office/drawing/2014/main" val="20002"/>
                    </a:ext>
                  </a:extLst>
                </a:gridCol>
                <a:gridCol w="1095384">
                  <a:extLst>
                    <a:ext uri="{9D8B030D-6E8A-4147-A177-3AD203B41FA5}">
                      <a16:colId xmlns:a16="http://schemas.microsoft.com/office/drawing/2014/main" val="20003"/>
                    </a:ext>
                  </a:extLst>
                </a:gridCol>
                <a:gridCol w="1095384">
                  <a:extLst>
                    <a:ext uri="{9D8B030D-6E8A-4147-A177-3AD203B41FA5}">
                      <a16:colId xmlns:a16="http://schemas.microsoft.com/office/drawing/2014/main" val="20004"/>
                    </a:ext>
                  </a:extLst>
                </a:gridCol>
                <a:gridCol w="1095384">
                  <a:extLst>
                    <a:ext uri="{9D8B030D-6E8A-4147-A177-3AD203B41FA5}">
                      <a16:colId xmlns:a16="http://schemas.microsoft.com/office/drawing/2014/main" val="323043934"/>
                    </a:ext>
                  </a:extLst>
                </a:gridCol>
                <a:gridCol w="1095384">
                  <a:extLst>
                    <a:ext uri="{9D8B030D-6E8A-4147-A177-3AD203B41FA5}">
                      <a16:colId xmlns:a16="http://schemas.microsoft.com/office/drawing/2014/main" val="3467491702"/>
                    </a:ext>
                  </a:extLst>
                </a:gridCol>
              </a:tblGrid>
              <a:tr h="429728">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p>
                    <a:p>
                      <a:pPr algn="ct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p>
                    <a:p>
                      <a:pPr algn="ct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임대차만기</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8511">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적정</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ff</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a:t>
                      </a:r>
                    </a:p>
                    <a:p>
                      <a:pPr algn="ctr"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상승률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적용</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74,887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현 임차인</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쿠팡</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ko-KR"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ff</a:t>
                      </a:r>
                      <a:r>
                        <a:rPr lang="ko-KR"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60,056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61,557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63,096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64,674</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66,290</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73,172</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8731624"/>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21544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(단위: 원/평, %)</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endParaRPr>
          </a:p>
        </p:txBody>
      </p:sp>
      <p:sp>
        <p:nvSpPr>
          <p:cNvPr id="13" name="TextBox 12">
            <a:extLst>
              <a:ext uri="{FF2B5EF4-FFF2-40B4-BE49-F238E27FC236}">
                <a16:creationId xmlns:a16="http://schemas.microsoft.com/office/drawing/2014/main" id="{6E2DD065-7F5D-09C6-3776-F4B86D481D28}"/>
              </a:ext>
            </a:extLst>
          </p:cNvPr>
          <p:cNvSpPr txBox="1"/>
          <p:nvPr/>
        </p:nvSpPr>
        <p:spPr>
          <a:xfrm>
            <a:off x="2177078" y="4927899"/>
            <a:ext cx="1009064" cy="246221"/>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5" name="TextBox 14">
            <a:extLst>
              <a:ext uri="{FF2B5EF4-FFF2-40B4-BE49-F238E27FC236}">
                <a16:creationId xmlns:a16="http://schemas.microsoft.com/office/drawing/2014/main" id="{9C6164DA-3FD0-6333-0934-2BC9C71B2988}"/>
              </a:ext>
            </a:extLst>
          </p:cNvPr>
          <p:cNvSpPr txBox="1"/>
          <p:nvPr/>
        </p:nvSpPr>
        <p:spPr>
          <a:xfrm>
            <a:off x="7829706" y="4927899"/>
            <a:ext cx="1009064" cy="246221"/>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8" name="그룹 17">
            <a:extLst>
              <a:ext uri="{FF2B5EF4-FFF2-40B4-BE49-F238E27FC236}">
                <a16:creationId xmlns:a16="http://schemas.microsoft.com/office/drawing/2014/main" id="{15223AB7-E338-C86E-50D1-565928701DFA}"/>
              </a:ext>
            </a:extLst>
          </p:cNvPr>
          <p:cNvGrpSpPr/>
          <p:nvPr/>
        </p:nvGrpSpPr>
        <p:grpSpPr>
          <a:xfrm>
            <a:off x="917414" y="4419206"/>
            <a:ext cx="8892988" cy="396044"/>
            <a:chOff x="917414" y="5616041"/>
            <a:chExt cx="8892988" cy="396044"/>
          </a:xfrm>
        </p:grpSpPr>
        <p:sp>
          <p:nvSpPr>
            <p:cNvPr id="16" name="직사각형 15">
              <a:extLst>
                <a:ext uri="{FF2B5EF4-FFF2-40B4-BE49-F238E27FC236}">
                  <a16:creationId xmlns:a16="http://schemas.microsoft.com/office/drawing/2014/main" id="{AB7ABD6D-F9FB-EF5E-C69A-B1A7A0DCD3CC}"/>
                </a:ext>
              </a:extLst>
            </p:cNvPr>
            <p:cNvSpPr/>
            <p:nvPr/>
          </p:nvSpPr>
          <p:spPr>
            <a:xfrm>
              <a:off x="2681610" y="5616041"/>
              <a:ext cx="5652628" cy="288028"/>
            </a:xfrm>
            <a:prstGeom prst="rect">
              <a:avLst/>
            </a:prstGeom>
            <a:pattFill prst="wdUpDiag">
              <a:fgClr>
                <a:schemeClr val="bg1">
                  <a:lumMod val="85000"/>
                </a:schemeClr>
              </a:fgClr>
              <a:bgClr>
                <a:schemeClr val="bg1"/>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 name="직선 연결선 2">
              <a:extLst>
                <a:ext uri="{FF2B5EF4-FFF2-40B4-BE49-F238E27FC236}">
                  <a16:creationId xmlns:a16="http://schemas.microsoft.com/office/drawing/2014/main" id="{A5C40555-4D70-1CA4-92AB-56060B809A04}"/>
                </a:ext>
              </a:extLst>
            </p:cNvPr>
            <p:cNvCxnSpPr/>
            <p:nvPr/>
          </p:nvCxnSpPr>
          <p:spPr>
            <a:xfrm>
              <a:off x="917414" y="5904073"/>
              <a:ext cx="8892988" cy="0"/>
            </a:xfrm>
            <a:prstGeom prst="line">
              <a:avLst/>
            </a:prstGeom>
            <a:ln>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타원 9">
              <a:extLst>
                <a:ext uri="{FF2B5EF4-FFF2-40B4-BE49-F238E27FC236}">
                  <a16:creationId xmlns:a16="http://schemas.microsoft.com/office/drawing/2014/main" id="{FE405ED3-623C-D347-7F48-AE9EB5B81649}"/>
                </a:ext>
              </a:extLst>
            </p:cNvPr>
            <p:cNvSpPr/>
            <p:nvPr/>
          </p:nvSpPr>
          <p:spPr>
            <a:xfrm>
              <a:off x="2555596" y="5796061"/>
              <a:ext cx="216024" cy="216024"/>
            </a:xfrm>
            <a:prstGeom prst="ellipse">
              <a:avLst/>
            </a:prstGeom>
            <a:solidFill>
              <a:schemeClr val="bg1"/>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타원 10">
              <a:extLst>
                <a:ext uri="{FF2B5EF4-FFF2-40B4-BE49-F238E27FC236}">
                  <a16:creationId xmlns:a16="http://schemas.microsoft.com/office/drawing/2014/main" id="{AFCAD938-6711-4771-113C-897D63852145}"/>
                </a:ext>
              </a:extLst>
            </p:cNvPr>
            <p:cNvSpPr/>
            <p:nvPr/>
          </p:nvSpPr>
          <p:spPr>
            <a:xfrm>
              <a:off x="8226226" y="5796057"/>
              <a:ext cx="216024" cy="216024"/>
            </a:xfrm>
            <a:prstGeom prst="ellipse">
              <a:avLst/>
            </a:prstGeom>
            <a:solidFill>
              <a:schemeClr val="bg1"/>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9" name="타원 18">
              <a:extLst>
                <a:ext uri="{FF2B5EF4-FFF2-40B4-BE49-F238E27FC236}">
                  <a16:creationId xmlns:a16="http://schemas.microsoft.com/office/drawing/2014/main" id="{121253E8-A9FF-FB4E-A2C0-508AEE1B95DA}"/>
                </a:ext>
              </a:extLst>
            </p:cNvPr>
            <p:cNvSpPr/>
            <p:nvPr/>
          </p:nvSpPr>
          <p:spPr>
            <a:xfrm>
              <a:off x="5179888" y="5796057"/>
              <a:ext cx="216024" cy="216024"/>
            </a:xfrm>
            <a:prstGeom prst="ellipse">
              <a:avLst/>
            </a:prstGeom>
            <a:solidFill>
              <a:schemeClr val="bg1"/>
            </a:solidFill>
            <a:ln w="25400">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타원 24">
              <a:extLst>
                <a:ext uri="{FF2B5EF4-FFF2-40B4-BE49-F238E27FC236}">
                  <a16:creationId xmlns:a16="http://schemas.microsoft.com/office/drawing/2014/main" id="{C963A410-0D42-680D-4143-658A1AAD316A}"/>
                </a:ext>
              </a:extLst>
            </p:cNvPr>
            <p:cNvSpPr/>
            <p:nvPr/>
          </p:nvSpPr>
          <p:spPr>
            <a:xfrm>
              <a:off x="3607591" y="5796057"/>
              <a:ext cx="216024" cy="216024"/>
            </a:xfrm>
            <a:prstGeom prst="ellipse">
              <a:avLst/>
            </a:prstGeom>
            <a:solidFill>
              <a:schemeClr val="bg1"/>
            </a:solidFill>
            <a:ln w="25400">
              <a:solidFill>
                <a:schemeClr val="tx1">
                  <a:lumMod val="75000"/>
                  <a:lumOff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0" name="TextBox 19">
            <a:extLst>
              <a:ext uri="{FF2B5EF4-FFF2-40B4-BE49-F238E27FC236}">
                <a16:creationId xmlns:a16="http://schemas.microsoft.com/office/drawing/2014/main" id="{F581FEC9-E7CC-20BA-B828-62B5EF521BC1}"/>
              </a:ext>
            </a:extLst>
          </p:cNvPr>
          <p:cNvSpPr txBox="1"/>
          <p:nvPr/>
        </p:nvSpPr>
        <p:spPr>
          <a:xfrm>
            <a:off x="4438598" y="4927899"/>
            <a:ext cx="1699396" cy="400110"/>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61,463</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자산 적정 </a:t>
            </a: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p>
        </p:txBody>
      </p:sp>
      <p:sp>
        <p:nvSpPr>
          <p:cNvPr id="26" name="TextBox 25">
            <a:extLst>
              <a:ext uri="{FF2B5EF4-FFF2-40B4-BE49-F238E27FC236}">
                <a16:creationId xmlns:a16="http://schemas.microsoft.com/office/drawing/2014/main" id="{A050F9E9-8A0F-2EA3-E2EA-6DE1800FA179}"/>
              </a:ext>
            </a:extLst>
          </p:cNvPr>
          <p:cNvSpPr txBox="1"/>
          <p:nvPr/>
        </p:nvSpPr>
        <p:spPr>
          <a:xfrm>
            <a:off x="3057408" y="4927899"/>
            <a:ext cx="1316390" cy="400110"/>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58,000</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자산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p>
        </p:txBody>
      </p:sp>
      <p:sp>
        <p:nvSpPr>
          <p:cNvPr id="27" name="TextBox 26">
            <a:extLst>
              <a:ext uri="{FF2B5EF4-FFF2-40B4-BE49-F238E27FC236}">
                <a16:creationId xmlns:a16="http://schemas.microsoft.com/office/drawing/2014/main" id="{3E9FA5C7-9DD8-22CF-F997-981ED9584D10}"/>
              </a:ext>
            </a:extLst>
          </p:cNvPr>
          <p:cNvSpPr txBox="1"/>
          <p:nvPr/>
        </p:nvSpPr>
        <p:spPr>
          <a:xfrm>
            <a:off x="381619" y="4091463"/>
            <a:ext cx="2393875" cy="246221"/>
          </a:xfrm>
          <a:prstGeom prst="rect">
            <a:avLst/>
          </a:prstGeom>
          <a:noFill/>
        </p:spPr>
        <p:txBody>
          <a:bodyPr wrap="square">
            <a:spAutoFit/>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비교사례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Eff. Rent ]</a:t>
            </a:r>
          </a:p>
        </p:txBody>
      </p:sp>
      <p:sp>
        <p:nvSpPr>
          <p:cNvPr id="28" name="화살표: 왼쪽/오른쪽 27">
            <a:extLst>
              <a:ext uri="{FF2B5EF4-FFF2-40B4-BE49-F238E27FC236}">
                <a16:creationId xmlns:a16="http://schemas.microsoft.com/office/drawing/2014/main" id="{E5589436-E226-A4F0-3544-8532E5344D20}"/>
              </a:ext>
            </a:extLst>
          </p:cNvPr>
          <p:cNvSpPr/>
          <p:nvPr/>
        </p:nvSpPr>
        <p:spPr>
          <a:xfrm>
            <a:off x="3823615" y="4635531"/>
            <a:ext cx="1356273" cy="155274"/>
          </a:xfrm>
          <a:prstGeom prst="leftRightArrow">
            <a:avLst>
              <a:gd name="adj1" fmla="val 100000"/>
              <a:gd name="adj2" fmla="val 50000"/>
            </a:avLst>
          </a:prstGeom>
          <a:solidFill>
            <a:schemeClr val="accent2">
              <a:lumMod val="60000"/>
              <a:lumOff val="40000"/>
            </a:schemeClr>
          </a:solidFill>
          <a:ln>
            <a:solidFill>
              <a:schemeClr val="accent2">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35" name="그룹 34">
            <a:extLst>
              <a:ext uri="{FF2B5EF4-FFF2-40B4-BE49-F238E27FC236}">
                <a16:creationId xmlns:a16="http://schemas.microsoft.com/office/drawing/2014/main" id="{E6080D0D-3F75-9CF2-2FF2-D968EBAC908D}"/>
              </a:ext>
            </a:extLst>
          </p:cNvPr>
          <p:cNvGrpSpPr/>
          <p:nvPr/>
        </p:nvGrpSpPr>
        <p:grpSpPr>
          <a:xfrm>
            <a:off x="4782691" y="4104438"/>
            <a:ext cx="1223232" cy="602796"/>
            <a:chOff x="4782691" y="5301273"/>
            <a:chExt cx="1223232" cy="602796"/>
          </a:xfrm>
        </p:grpSpPr>
        <p:sp>
          <p:nvSpPr>
            <p:cNvPr id="29" name="TextBox 28">
              <a:extLst>
                <a:ext uri="{FF2B5EF4-FFF2-40B4-BE49-F238E27FC236}">
                  <a16:creationId xmlns:a16="http://schemas.microsoft.com/office/drawing/2014/main" id="{DDDE72D2-B45A-41E6-AD43-13C8E3D93F61}"/>
                </a:ext>
              </a:extLst>
            </p:cNvPr>
            <p:cNvSpPr txBox="1"/>
            <p:nvPr/>
          </p:nvSpPr>
          <p:spPr>
            <a:xfrm>
              <a:off x="5007778" y="5301273"/>
              <a:ext cx="998145" cy="246221"/>
            </a:xfrm>
            <a:prstGeom prst="rect">
              <a:avLst/>
            </a:prstGeom>
            <a:noFill/>
          </p:spPr>
          <p:txBody>
            <a:bodyPr wrap="square">
              <a:spAutoFit/>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상승여력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p:txBody>
        </p:sp>
        <p:cxnSp>
          <p:nvCxnSpPr>
            <p:cNvPr id="31" name="직선 연결선 30">
              <a:extLst>
                <a:ext uri="{FF2B5EF4-FFF2-40B4-BE49-F238E27FC236}">
                  <a16:creationId xmlns:a16="http://schemas.microsoft.com/office/drawing/2014/main" id="{E7B05716-91E8-7B5D-0812-D7A04C42052A}"/>
                </a:ext>
              </a:extLst>
            </p:cNvPr>
            <p:cNvCxnSpPr/>
            <p:nvPr/>
          </p:nvCxnSpPr>
          <p:spPr>
            <a:xfrm>
              <a:off x="4782691" y="5425319"/>
              <a:ext cx="236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E4B37FCA-F402-E2A5-CF7E-D4675A48CFFA}"/>
                </a:ext>
              </a:extLst>
            </p:cNvPr>
            <p:cNvCxnSpPr>
              <a:cxnSpLocks/>
            </p:cNvCxnSpPr>
            <p:nvPr/>
          </p:nvCxnSpPr>
          <p:spPr>
            <a:xfrm flipV="1">
              <a:off x="4783764" y="5425319"/>
              <a:ext cx="0" cy="478750"/>
            </a:xfrm>
            <a:prstGeom prst="line">
              <a:avLst/>
            </a:prstGeom>
            <a:ln>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9044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nvGraphicFramePr>
        <p:xfrm>
          <a:off x="520700" y="2357353"/>
          <a:ext cx="9721850" cy="4413997"/>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5445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32212">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32212">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32212">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32212">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32212">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초기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32212">
                <a:tc>
                  <a:txBody>
                    <a:bodyPr/>
                    <a:lstStyle/>
                    <a:p>
                      <a:pPr algn="ctr" latinLnBrk="1">
                        <a:buNone/>
                      </a:pP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r>
                        <a:rPr lang="ko-KR" altLang="en-US" sz="1000" b="1"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자리츠</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편입 시</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3,039억원 (Equity : 888억원, </a:t>
                      </a:r>
                      <a:r>
                        <a:rPr lang="en-US" altLang="ko-KR" sz="1000" b="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2,130억원, </a:t>
                      </a:r>
                      <a:r>
                        <a:rPr lang="en-US" altLang="ko-KR" sz="1000" b="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72874225"/>
                  </a:ext>
                </a:extLst>
              </a:tr>
              <a:tr h="232212">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78851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13208">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950944">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nvGraphicFramePr>
        <p:xfrm>
          <a:off x="1903236" y="4355901"/>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nvGraphicFramePr>
        <p:xfrm>
          <a:off x="1903236" y="5147989"/>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Terminal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nvGraphicFramePr>
        <p:xfrm>
          <a:off x="1903236" y="5970401"/>
          <a:ext cx="8223772" cy="72576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18144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8144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18144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18144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투자기간은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년으로써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코람코라이프인프라리츠의</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이상 출자에 따라 공모 예외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사모리츠로</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운용 예정</a:t>
            </a: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Equity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전체 연평균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6.24%(</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매각차익 제외</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IRR 10.21%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1552196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코람코라이프인프라리츠가</a:t>
            </a:r>
            <a:r>
              <a:rPr lang="ko-KR" altLang="en-US" sz="1600" dirty="0">
                <a:solidFill>
                  <a:schemeClr val="tx1"/>
                </a:solidFill>
              </a:rPr>
              <a:t> 발기인으로 </a:t>
            </a:r>
            <a:r>
              <a:rPr lang="ko-KR" altLang="en-US" sz="1600" dirty="0" err="1">
                <a:solidFill>
                  <a:schemeClr val="tx1"/>
                </a:solidFill>
              </a:rPr>
              <a:t>자리츠를</a:t>
            </a:r>
            <a:r>
              <a:rPr lang="ko-KR" altLang="en-US" sz="1600" dirty="0">
                <a:solidFill>
                  <a:schemeClr val="tx1"/>
                </a:solidFill>
              </a:rPr>
              <a:t> 설립</a:t>
            </a:r>
            <a:r>
              <a:rPr lang="en-US" altLang="ko-KR" sz="1600" dirty="0">
                <a:solidFill>
                  <a:schemeClr val="tx1"/>
                </a:solidFill>
              </a:rPr>
              <a:t>,</a:t>
            </a:r>
            <a:r>
              <a:rPr lang="ko-KR" altLang="en-US" sz="1600" dirty="0">
                <a:solidFill>
                  <a:schemeClr val="tx1"/>
                </a:solidFill>
              </a:rPr>
              <a:t> 유상증자로 </a:t>
            </a:r>
            <a:r>
              <a:rPr lang="ko-KR" altLang="en-US" sz="1600" dirty="0" err="1">
                <a:solidFill>
                  <a:schemeClr val="tx1"/>
                </a:solidFill>
              </a:rPr>
              <a:t>Equity를</a:t>
            </a:r>
            <a:r>
              <a:rPr lang="ko-KR" altLang="en-US" sz="1600" dirty="0">
                <a:solidFill>
                  <a:schemeClr val="tx1"/>
                </a:solidFill>
              </a:rPr>
              <a:t> 모집 후 거래대금 지급 및 거래종결 예정</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rcRect b="9837"/>
          <a:stretch>
            <a:fillRect/>
          </a:stretch>
        </p:blipFill>
        <p:spPr>
          <a:xfrm>
            <a:off x="956786" y="2554628"/>
            <a:ext cx="8778240" cy="3908045"/>
          </a:xfrm>
          <a:prstGeom prst="rect">
            <a:avLst/>
          </a:prstGeom>
        </p:spPr>
      </p:pic>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471955" y="2555035"/>
              <a:ext cx="853119"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50" kern="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622027" y="2573573"/>
              <a:ext cx="1120820"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r>
              <a:rPr lang="en-US" altLang="ko-KR" sz="1000" baseline="30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3)</a:t>
            </a: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72</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배당률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배당률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배분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5553123" cy="461665"/>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모집</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기준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감정평가법인 담보 감정가(3,345억원)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감자약정기한</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누적배당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감자약정기한 다음일로부터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및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8%(13</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개월차</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배정</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a:t>
            </a: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보통주</a:t>
            </a:r>
            <a:r>
              <a:rPr lang="ko-KR" altLang="en-US" sz="1600" dirty="0">
                <a:solidFill>
                  <a:schemeClr val="tx1"/>
                </a:solidFill>
              </a:rPr>
              <a:t> 및 제</a:t>
            </a:r>
            <a:r>
              <a:rPr lang="en-US" altLang="ko-KR" sz="1600" dirty="0">
                <a:solidFill>
                  <a:schemeClr val="tx1"/>
                </a:solidFill>
              </a:rPr>
              <a:t>2</a:t>
            </a:r>
            <a:r>
              <a:rPr lang="ko-KR" altLang="en-US" sz="1600" dirty="0">
                <a:solidFill>
                  <a:schemeClr val="tx1"/>
                </a:solidFill>
              </a:rPr>
              <a:t>종 우선주 투자하며</a:t>
            </a:r>
            <a:r>
              <a:rPr lang="en-US" altLang="ko-KR" sz="1600" dirty="0">
                <a:solidFill>
                  <a:schemeClr val="tx1"/>
                </a:solidFill>
              </a:rPr>
              <a:t>,</a:t>
            </a:r>
            <a:r>
              <a:rPr lang="ko-KR" altLang="en-US" sz="1600" dirty="0">
                <a:solidFill>
                  <a:schemeClr val="tx1"/>
                </a:solidFill>
              </a:rPr>
              <a:t> 他종류주식 인수인 심의완료 및 </a:t>
            </a:r>
            <a:r>
              <a:rPr lang="en-US" altLang="ko-KR" sz="1600" dirty="0">
                <a:solidFill>
                  <a:schemeClr val="tx1"/>
                </a:solidFill>
              </a:rPr>
              <a:t>LOC</a:t>
            </a:r>
            <a:r>
              <a:rPr lang="ko-KR" altLang="en-US" sz="1600" dirty="0">
                <a:solidFill>
                  <a:schemeClr val="tx1"/>
                </a:solidFill>
              </a:rPr>
              <a:t>수령 완료함</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현재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LOC</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수령 완료하였으며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10/16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대출약정 체결 목표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2228522868"/>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gridSpan="2">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이지스리츠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2</a:t>
            </a:r>
            <a:r>
              <a:rPr lang="ko-KR" altLang="en-US" sz="1600" dirty="0">
                <a:solidFill>
                  <a:schemeClr val="tx1"/>
                </a:solidFill>
              </a:rPr>
              <a:t>년 내 제</a:t>
            </a:r>
            <a:r>
              <a:rPr lang="en-US" altLang="ko-KR" sz="1600" dirty="0">
                <a:solidFill>
                  <a:schemeClr val="tx1"/>
                </a:solidFill>
              </a:rPr>
              <a:t>1</a:t>
            </a:r>
            <a:r>
              <a:rPr lang="ko-KR" altLang="en-US" sz="1600" dirty="0">
                <a:solidFill>
                  <a:schemeClr val="tx1"/>
                </a:solidFill>
              </a:rPr>
              <a:t>종 및 제</a:t>
            </a:r>
            <a:r>
              <a:rPr lang="en-US" altLang="ko-KR" sz="1600" dirty="0">
                <a:solidFill>
                  <a:schemeClr val="tx1"/>
                </a:solidFill>
              </a:rPr>
              <a:t>2</a:t>
            </a:r>
            <a:r>
              <a:rPr lang="ko-KR" altLang="en-US" sz="1600" dirty="0">
                <a:solidFill>
                  <a:schemeClr val="tx1"/>
                </a:solidFill>
              </a:rPr>
              <a:t>종 우선주 지분을 단계적 매입 및 제</a:t>
            </a:r>
            <a:r>
              <a:rPr lang="en-US" altLang="ko-KR" sz="1600" dirty="0">
                <a:solidFill>
                  <a:schemeClr val="tx1"/>
                </a:solidFill>
              </a:rPr>
              <a:t>3</a:t>
            </a:r>
            <a:r>
              <a:rPr lang="ko-KR" altLang="en-US" sz="1600" dirty="0">
                <a:solidFill>
                  <a:schemeClr val="tx1"/>
                </a:solidFill>
              </a:rPr>
              <a:t>종 유상감자로 </a:t>
            </a:r>
            <a:r>
              <a:rPr lang="en-US" altLang="ko-KR" sz="1600" dirty="0">
                <a:solidFill>
                  <a:schemeClr val="tx1"/>
                </a:solidFill>
              </a:rPr>
              <a:t>KLI</a:t>
            </a:r>
            <a:r>
              <a:rPr lang="ko-KR" altLang="en-US" sz="1600" dirty="0">
                <a:solidFill>
                  <a:schemeClr val="tx1"/>
                </a:solidFill>
              </a:rPr>
              <a:t>리츠 </a:t>
            </a:r>
            <a:r>
              <a:rPr lang="en-US" altLang="ko-KR" sz="1600" dirty="0">
                <a:solidFill>
                  <a:schemeClr val="tx1"/>
                </a:solidFill>
              </a:rPr>
              <a:t>100% </a:t>
            </a:r>
            <a:r>
              <a:rPr lang="ko-KR" altLang="en-US" sz="1600" dirty="0" err="1">
                <a:solidFill>
                  <a:schemeClr val="tx1"/>
                </a:solidFill>
              </a:rPr>
              <a:t>자리츠로</a:t>
            </a:r>
            <a:r>
              <a:rPr lang="ko-KR" altLang="en-US" sz="1600" dirty="0">
                <a:solidFill>
                  <a:schemeClr val="tx1"/>
                </a:solidFill>
              </a:rPr>
              <a:t> 전환 추진</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종류주식 인수 참여하는 매도인의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Seller’s financing</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구조로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발행가액으로</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유상감자하여</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원본 반환할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자본재조정 시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초기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KLI</a:t>
            </a:r>
            <a:r>
              <a:rPr lang="ko-KR" altLang="en-US" sz="1600" dirty="0">
                <a:solidFill>
                  <a:schemeClr val="tx1"/>
                </a:solidFill>
              </a:rPr>
              <a:t>리츠의 단계적 매입을 위하여 주주간계약 체결일 당사자간 매입확약서 및 매도확약서 교환 예정</a:t>
            </a:r>
            <a:endParaRPr lang="en-US" altLang="ko-KR" sz="1600" dirty="0">
              <a:solidFill>
                <a:schemeClr val="tx1"/>
              </a:solidFill>
            </a:endParaRP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리츠 최초 유상증자 참여 시 주당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발행가액</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차등 적용으로 지분율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69.2%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 후 착수하여 실질과세 시 간주취득세 절감 기대</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CD1747B7-FB58-1A68-BD5D-349C8B2ABA70}"/>
              </a:ext>
            </a:extLst>
          </p:cNvPr>
          <p:cNvGraphicFramePr>
            <a:graphicFrameLocks noGrp="1"/>
          </p:cNvGraphicFramePr>
          <p:nvPr>
            <p:extLst>
              <p:ext uri="{D42A27DB-BD31-4B8C-83A1-F6EECF244321}">
                <p14:modId xmlns:p14="http://schemas.microsoft.com/office/powerpoint/2010/main" val="2950587699"/>
              </p:ext>
            </p:extLst>
          </p:nvPr>
        </p:nvGraphicFramePr>
        <p:xfrm>
          <a:off x="511249" y="4658493"/>
          <a:ext cx="9694789" cy="2001072"/>
        </p:xfrm>
        <a:graphic>
          <a:graphicData uri="http://schemas.openxmlformats.org/drawingml/2006/table">
            <a:tbl>
              <a:tblPr>
                <a:tableStyleId>{5C22544A-7EE6-4342-B048-85BDC9FD1C3A}</a:tableStyleId>
              </a:tblPr>
              <a:tblGrid>
                <a:gridCol w="1540887">
                  <a:extLst>
                    <a:ext uri="{9D8B030D-6E8A-4147-A177-3AD203B41FA5}">
                      <a16:colId xmlns:a16="http://schemas.microsoft.com/office/drawing/2014/main" val="4187198485"/>
                    </a:ext>
                  </a:extLst>
                </a:gridCol>
                <a:gridCol w="1367948">
                  <a:extLst>
                    <a:ext uri="{9D8B030D-6E8A-4147-A177-3AD203B41FA5}">
                      <a16:colId xmlns:a16="http://schemas.microsoft.com/office/drawing/2014/main" val="729204993"/>
                    </a:ext>
                  </a:extLst>
                </a:gridCol>
                <a:gridCol w="718513">
                  <a:extLst>
                    <a:ext uri="{9D8B030D-6E8A-4147-A177-3AD203B41FA5}">
                      <a16:colId xmlns:a16="http://schemas.microsoft.com/office/drawing/2014/main" val="2384463430"/>
                    </a:ext>
                  </a:extLst>
                </a:gridCol>
                <a:gridCol w="796831">
                  <a:extLst>
                    <a:ext uri="{9D8B030D-6E8A-4147-A177-3AD203B41FA5}">
                      <a16:colId xmlns:a16="http://schemas.microsoft.com/office/drawing/2014/main" val="4115152854"/>
                    </a:ext>
                  </a:extLst>
                </a:gridCol>
                <a:gridCol w="708846">
                  <a:extLst>
                    <a:ext uri="{9D8B030D-6E8A-4147-A177-3AD203B41FA5}">
                      <a16:colId xmlns:a16="http://schemas.microsoft.com/office/drawing/2014/main" val="2939518573"/>
                    </a:ext>
                  </a:extLst>
                </a:gridCol>
                <a:gridCol w="708846">
                  <a:extLst>
                    <a:ext uri="{9D8B030D-6E8A-4147-A177-3AD203B41FA5}">
                      <a16:colId xmlns:a16="http://schemas.microsoft.com/office/drawing/2014/main" val="3536009027"/>
                    </a:ext>
                  </a:extLst>
                </a:gridCol>
                <a:gridCol w="859114">
                  <a:extLst>
                    <a:ext uri="{9D8B030D-6E8A-4147-A177-3AD203B41FA5}">
                      <a16:colId xmlns:a16="http://schemas.microsoft.com/office/drawing/2014/main" val="4128775631"/>
                    </a:ext>
                  </a:extLst>
                </a:gridCol>
                <a:gridCol w="678596">
                  <a:extLst>
                    <a:ext uri="{9D8B030D-6E8A-4147-A177-3AD203B41FA5}">
                      <a16:colId xmlns:a16="http://schemas.microsoft.com/office/drawing/2014/main" val="1763671366"/>
                    </a:ext>
                  </a:extLst>
                </a:gridCol>
                <a:gridCol w="771736">
                  <a:extLst>
                    <a:ext uri="{9D8B030D-6E8A-4147-A177-3AD203B41FA5}">
                      <a16:colId xmlns:a16="http://schemas.microsoft.com/office/drawing/2014/main" val="104659997"/>
                    </a:ext>
                  </a:extLst>
                </a:gridCol>
                <a:gridCol w="771736">
                  <a:extLst>
                    <a:ext uri="{9D8B030D-6E8A-4147-A177-3AD203B41FA5}">
                      <a16:colId xmlns:a16="http://schemas.microsoft.com/office/drawing/2014/main" val="3719100402"/>
                    </a:ext>
                  </a:extLst>
                </a:gridCol>
                <a:gridCol w="771736">
                  <a:extLst>
                    <a:ext uri="{9D8B030D-6E8A-4147-A177-3AD203B41FA5}">
                      <a16:colId xmlns:a16="http://schemas.microsoft.com/office/drawing/2014/main" val="2751205263"/>
                    </a:ext>
                  </a:extLst>
                </a:gridCol>
              </a:tblGrid>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주주명</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자본금</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주식발행초과금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주식수</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참여율</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의결권주식수</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지분율</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182344"/>
                  </a:ext>
                </a:extLst>
              </a:tr>
              <a:tr h="166756">
                <a:tc rowSpan="4">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제1-1종 종류주식</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이지스리츠3호펀드</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7322317"/>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키움캐피탈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5,760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3970942"/>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애큐온캐피탈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72446937"/>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MG캐피탈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4076314"/>
                  </a:ext>
                </a:extLst>
              </a:tr>
              <a:tr h="166756">
                <a:tc rowSpan="3">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제2-1종 종류주식</a:t>
                      </a: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15,360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8103615"/>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기계설비조합</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3170832"/>
                  </a:ext>
                </a:extLst>
              </a:tr>
              <a:tr h="166756">
                <a:tc vMerge="1">
                  <a:txBody>
                    <a:bodyPr/>
                    <a:lstStyle/>
                    <a:p>
                      <a:endParaRPr dirty="0"/>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이지스K리츠펀드</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927165"/>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제2-2종 종류주식(</a:t>
                      </a: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a:t>
                      </a: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r>
                        <a:rPr lang="ko-KR" altLang="en-US"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4947430"/>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제3종 종류주식(</a:t>
                      </a: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a:t>
                      </a: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435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9,565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434,783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5633084"/>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보통주식</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11,840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46.6%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56.9%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66634694"/>
                  </a:ext>
                </a:extLst>
              </a:tr>
              <a:tr h="166756">
                <a:tc>
                  <a:txBody>
                    <a:bodyPr/>
                    <a:lstStyle/>
                    <a:p>
                      <a:pPr algn="ctr" fontAlgn="ctr">
                        <a:buNone/>
                      </a:pPr>
                      <a:r>
                        <a:rPr lang="ko-KR" altLang="en-US"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98,800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ko-KR" sz="900" u="none" strike="noStrike">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ko-KR" sz="900" u="none" strike="noStrike">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6,355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92,445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6,354,783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5,200,000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18819497"/>
                  </a:ext>
                </a:extLst>
              </a:tr>
            </a:tbl>
          </a:graphicData>
        </a:graphic>
      </p:graphicFrame>
      <p:grpSp>
        <p:nvGrpSpPr>
          <p:cNvPr id="10" name="그룹 9">
            <a:extLst>
              <a:ext uri="{FF2B5EF4-FFF2-40B4-BE49-F238E27FC236}">
                <a16:creationId xmlns:a16="http://schemas.microsoft.com/office/drawing/2014/main" id="{A778C388-7C77-5C86-1FBF-1F59D55E7881}"/>
              </a:ext>
            </a:extLst>
          </p:cNvPr>
          <p:cNvGrpSpPr/>
          <p:nvPr/>
        </p:nvGrpSpPr>
        <p:grpSpPr>
          <a:xfrm>
            <a:off x="396243" y="4317903"/>
            <a:ext cx="1752403" cy="246221"/>
            <a:chOff x="458886" y="1467302"/>
            <a:chExt cx="1752403" cy="246221"/>
          </a:xfrm>
        </p:grpSpPr>
        <p:sp>
          <p:nvSpPr>
            <p:cNvPr id="12" name="TextBox 11">
              <a:extLst>
                <a:ext uri="{FF2B5EF4-FFF2-40B4-BE49-F238E27FC236}">
                  <a16:creationId xmlns:a16="http://schemas.microsoft.com/office/drawing/2014/main" id="{BB2498B0-D6C8-F4C6-A063-4CA426CA3B5A}"/>
                </a:ext>
              </a:extLst>
            </p:cNvPr>
            <p:cNvSpPr txBox="1"/>
            <p:nvPr/>
          </p:nvSpPr>
          <p:spPr>
            <a:xfrm>
              <a:off x="458886" y="1467302"/>
              <a:ext cx="175240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인수대상 주식 및 인수인 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61F33FE5-47F4-14ED-9A41-08EE51F625F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7" name="그룹 26">
            <a:extLst>
              <a:ext uri="{FF2B5EF4-FFF2-40B4-BE49-F238E27FC236}">
                <a16:creationId xmlns:a16="http://schemas.microsoft.com/office/drawing/2014/main" id="{68DC186E-9665-EEAE-6E44-975905009115}"/>
              </a:ext>
            </a:extLst>
          </p:cNvPr>
          <p:cNvGrpSpPr/>
          <p:nvPr/>
        </p:nvGrpSpPr>
        <p:grpSpPr>
          <a:xfrm>
            <a:off x="396243" y="2339677"/>
            <a:ext cx="3060453" cy="246221"/>
            <a:chOff x="458886" y="1467302"/>
            <a:chExt cx="3060453" cy="246221"/>
          </a:xfrm>
        </p:grpSpPr>
        <p:sp>
          <p:nvSpPr>
            <p:cNvPr id="28" name="TextBox 27">
              <a:extLst>
                <a:ext uri="{FF2B5EF4-FFF2-40B4-BE49-F238E27FC236}">
                  <a16:creationId xmlns:a16="http://schemas.microsoft.com/office/drawing/2014/main" id="{E93FF8D9-66F3-F8AF-BA74-475E6C82ABC4}"/>
                </a:ext>
              </a:extLst>
            </p:cNvPr>
            <p:cNvSpPr txBox="1"/>
            <p:nvPr/>
          </p:nvSpPr>
          <p:spPr>
            <a:xfrm>
              <a:off x="458886" y="1467302"/>
              <a:ext cx="306045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및 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종류주식에 관한 매입</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 교환</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2" name="직사각형 31">
              <a:extLst>
                <a:ext uri="{FF2B5EF4-FFF2-40B4-BE49-F238E27FC236}">
                  <a16:creationId xmlns:a16="http://schemas.microsoft.com/office/drawing/2014/main" id="{4F24DC29-9E76-AA2D-56EA-FC028919548E}"/>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34" name="Table 28">
            <a:extLst>
              <a:ext uri="{FF2B5EF4-FFF2-40B4-BE49-F238E27FC236}">
                <a16:creationId xmlns:a16="http://schemas.microsoft.com/office/drawing/2014/main" id="{3BC9BAAD-0A71-DA37-2C3E-385EFD47819A}"/>
              </a:ext>
            </a:extLst>
          </p:cNvPr>
          <p:cNvGraphicFramePr>
            <a:graphicFrameLocks noGrp="1"/>
          </p:cNvGraphicFramePr>
          <p:nvPr>
            <p:extLst>
              <p:ext uri="{D42A27DB-BD31-4B8C-83A1-F6EECF244321}">
                <p14:modId xmlns:p14="http://schemas.microsoft.com/office/powerpoint/2010/main" val="3517053973"/>
              </p:ext>
            </p:extLst>
          </p:nvPr>
        </p:nvGraphicFramePr>
        <p:xfrm>
          <a:off x="529089" y="2689572"/>
          <a:ext cx="9676376" cy="1582644"/>
        </p:xfrm>
        <a:graphic>
          <a:graphicData uri="http://schemas.openxmlformats.org/drawingml/2006/table">
            <a:tbl>
              <a:tblPr>
                <a:tableStyleId>{5C22544A-7EE6-4342-B048-85BDC9FD1C3A}</a:tableStyleId>
              </a:tblPr>
              <a:tblGrid>
                <a:gridCol w="1537656">
                  <a:extLst>
                    <a:ext uri="{9D8B030D-6E8A-4147-A177-3AD203B41FA5}">
                      <a16:colId xmlns:a16="http://schemas.microsoft.com/office/drawing/2014/main" val="20000"/>
                    </a:ext>
                  </a:extLst>
                </a:gridCol>
                <a:gridCol w="4069360">
                  <a:extLst>
                    <a:ext uri="{9D8B030D-6E8A-4147-A177-3AD203B41FA5}">
                      <a16:colId xmlns:a16="http://schemas.microsoft.com/office/drawing/2014/main" val="20001"/>
                    </a:ext>
                  </a:extLst>
                </a:gridCol>
                <a:gridCol w="4069360">
                  <a:extLst>
                    <a:ext uri="{9D8B030D-6E8A-4147-A177-3AD203B41FA5}">
                      <a16:colId xmlns:a16="http://schemas.microsoft.com/office/drawing/2014/main" val="20002"/>
                    </a:ext>
                  </a:extLst>
                </a:gridCol>
              </a:tblGrid>
              <a:tr h="226092">
                <a:tc>
                  <a:txBody>
                    <a:bodyPr/>
                    <a:lstStyle/>
                    <a:p>
                      <a:pPr algn="ctr"/>
                      <a:r>
                        <a:rPr sz="1000" b="0" dirty="0" err="1">
                          <a:solidFill>
                            <a:srgbClr val="1F1F1F"/>
                          </a:solidFill>
                          <a:latin typeface="KoPubWorld돋움체 Bold"/>
                          <a:ea typeface="KoPubWorld돋움체 Bold"/>
                          <a:cs typeface="KoPubWorld돋움체 Bold"/>
                        </a:rPr>
                        <a:t>구분</a:t>
                      </a:r>
                      <a:endParaRPr sz="1000" b="0" dirty="0">
                        <a:solidFill>
                          <a:srgbClr val="1F1F1F"/>
                        </a:solidFill>
                        <a:latin typeface="KoPubWorld돋움체 Bold"/>
                        <a:ea typeface="KoPubWorld돋움체 Bold"/>
                        <a:cs typeface="KoPubWorld돋움체 Bold"/>
                      </a:endParaRPr>
                    </a:p>
                  </a:txBody>
                  <a:tcPr marL="54000" marR="36000" marT="9525" marB="9525" anchor="ctr">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a:lstStyle/>
                    <a:p>
                      <a:pPr algn="ctr"/>
                      <a:r>
                        <a:rPr sz="1000" b="0" dirty="0">
                          <a:solidFill>
                            <a:srgbClr val="1F1F1F"/>
                          </a:solidFill>
                          <a:latin typeface="KoPubWorld돋움체 Bold"/>
                          <a:ea typeface="KoPubWorld돋움체 Bold"/>
                          <a:cs typeface="KoPubWorld돋움체 Bold"/>
                        </a:rPr>
                        <a:t>제1종 </a:t>
                      </a:r>
                      <a:r>
                        <a:rPr lang="ko-KR" altLang="en-US" sz="1000" b="0" dirty="0">
                          <a:solidFill>
                            <a:srgbClr val="1F1F1F"/>
                          </a:solidFill>
                          <a:latin typeface="KoPubWorld돋움체 Bold"/>
                          <a:ea typeface="KoPubWorld돋움체 Bold"/>
                          <a:cs typeface="KoPubWorld돋움체 Bold"/>
                        </a:rPr>
                        <a:t>종류주식</a:t>
                      </a:r>
                      <a:endParaRPr sz="1000" b="0" dirty="0">
                        <a:solidFill>
                          <a:srgbClr val="1F1F1F"/>
                        </a:solidFill>
                        <a:latin typeface="KoPubWorld돋움체 Bold"/>
                        <a:ea typeface="KoPubWorld돋움체 Bold"/>
                        <a:cs typeface="KoPubWorld돋움체 Bold"/>
                      </a:endParaRPr>
                    </a:p>
                  </a:txBody>
                  <a:tcPr marL="54000" marR="36000" marT="9525" marB="9525" anchor="ctr">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a:lstStyle/>
                    <a:p>
                      <a:pPr algn="ctr"/>
                      <a:r>
                        <a:rPr sz="1000" b="0" dirty="0">
                          <a:solidFill>
                            <a:srgbClr val="1F1F1F"/>
                          </a:solidFill>
                          <a:latin typeface="KoPubWorld돋움체 Bold"/>
                          <a:ea typeface="KoPubWorld돋움체 Bold"/>
                          <a:cs typeface="KoPubWorld돋움체 Bold"/>
                        </a:rPr>
                        <a:t>제2종 </a:t>
                      </a:r>
                      <a:r>
                        <a:rPr lang="ko-KR" altLang="en-US" sz="1000" b="0" dirty="0">
                          <a:solidFill>
                            <a:srgbClr val="1F1F1F"/>
                          </a:solidFill>
                          <a:latin typeface="KoPubWorld돋움체 Bold"/>
                          <a:ea typeface="KoPubWorld돋움체 Bold"/>
                          <a:cs typeface="KoPubWorld돋움체 Bold"/>
                        </a:rPr>
                        <a:t>종류주식</a:t>
                      </a:r>
                      <a:endParaRPr sz="1000" b="0" dirty="0">
                        <a:solidFill>
                          <a:srgbClr val="1F1F1F"/>
                        </a:solidFill>
                        <a:latin typeface="KoPubWorld돋움체 Bold"/>
                        <a:ea typeface="KoPubWorld돋움체 Bold"/>
                        <a:cs typeface="KoPubWorld돋움체 Bold"/>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6350" cap="flat" cmpd="sng" algn="ctr">
                      <a:solidFill>
                        <a:srgbClr val="000000"/>
                      </a:solidFill>
                    </a:lnT>
                    <a:lnB w="3175" cap="flat" cmpd="sng" algn="ctr">
                      <a:solidFill>
                        <a:srgbClr val="BFBFBF"/>
                      </a:solidFill>
                    </a:lnB>
                    <a:solidFill>
                      <a:srgbClr val="D9D9D9"/>
                    </a:solidFill>
                  </a:tcPr>
                </a:tc>
                <a:extLst>
                  <a:ext uri="{0D108BD9-81ED-4DB2-BD59-A6C34878D82A}">
                    <a16:rowId xmlns:a16="http://schemas.microsoft.com/office/drawing/2014/main" val="10000"/>
                  </a:ext>
                </a:extLst>
              </a:tr>
              <a:tr h="226092">
                <a:tc>
                  <a:txBody>
                    <a:bodyPr/>
                    <a:lstStyle/>
                    <a:p>
                      <a:pPr algn="ctr">
                        <a:lnSpc>
                          <a:spcPct val="100000"/>
                        </a:lnSpc>
                      </a:pPr>
                      <a:r>
                        <a:rPr sz="1000" b="0" dirty="0" err="1">
                          <a:solidFill>
                            <a:srgbClr val="1F1F1F"/>
                          </a:solidFill>
                          <a:latin typeface="KoPubWorld돋움체 Medium"/>
                          <a:ea typeface="KoPubWorld돋움체 Medium"/>
                          <a:cs typeface="KoPubWorld돋움체 Medium"/>
                        </a:rPr>
                        <a:t>대상</a:t>
                      </a:r>
                      <a:r>
                        <a:rPr lang="ko-KR" altLang="en-US" sz="1000" b="0" dirty="0">
                          <a:solidFill>
                            <a:srgbClr val="1F1F1F"/>
                          </a:solidFill>
                          <a:latin typeface="KoPubWorld돋움체 Medium"/>
                          <a:ea typeface="KoPubWorld돋움체 Medium"/>
                          <a:cs typeface="KoPubWorld돋움체 Medium"/>
                        </a:rPr>
                        <a:t>주식</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제</a:t>
                      </a:r>
                      <a:r>
                        <a:rPr sz="1000" b="0" dirty="0">
                          <a:solidFill>
                            <a:srgbClr val="1F1F1F"/>
                          </a:solidFill>
                          <a:latin typeface="KoPubWorld돋움체 Light"/>
                          <a:ea typeface="KoPubWorld돋움체 Light"/>
                          <a:cs typeface="KoPubWorld돋움체 Light"/>
                        </a:rPr>
                        <a:t>1-1종 </a:t>
                      </a:r>
                      <a:r>
                        <a:rPr lang="ko-KR" altLang="en-US" sz="1000" b="0" dirty="0">
                          <a:solidFill>
                            <a:srgbClr val="1F1F1F"/>
                          </a:solidFill>
                          <a:latin typeface="KoPubWorld돋움체 Light"/>
                          <a:ea typeface="KoPubWorld돋움체 Light"/>
                          <a:cs typeface="KoPubWorld돋움체 Light"/>
                        </a:rPr>
                        <a:t>종류주식</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chemeClr val="bg1"/>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제</a:t>
                      </a:r>
                      <a:r>
                        <a:rPr sz="1000" b="0" dirty="0">
                          <a:solidFill>
                            <a:srgbClr val="1F1F1F"/>
                          </a:solidFill>
                          <a:latin typeface="KoPubWorld돋움체 Light"/>
                          <a:ea typeface="KoPubWorld돋움체 Light"/>
                          <a:cs typeface="KoPubWorld돋움체 Light"/>
                        </a:rPr>
                        <a:t>2</a:t>
                      </a:r>
                      <a:r>
                        <a:rPr lang="en-US" sz="1000" b="0" dirty="0">
                          <a:solidFill>
                            <a:srgbClr val="1F1F1F"/>
                          </a:solidFill>
                          <a:latin typeface="KoPubWorld돋움체 Light"/>
                          <a:ea typeface="KoPubWorld돋움체 Light"/>
                          <a:cs typeface="KoPubWorld돋움체 Light"/>
                        </a:rPr>
                        <a:t>-1</a:t>
                      </a:r>
                      <a:r>
                        <a:rPr sz="1000" b="0" dirty="0">
                          <a:solidFill>
                            <a:srgbClr val="1F1F1F"/>
                          </a:solidFill>
                          <a:latin typeface="KoPubWorld돋움체 Light"/>
                          <a:ea typeface="KoPubWorld돋움체 Light"/>
                          <a:cs typeface="KoPubWorld돋움체 Light"/>
                        </a:rPr>
                        <a:t>종</a:t>
                      </a:r>
                      <a:r>
                        <a:rPr lang="en-US"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및 제</a:t>
                      </a:r>
                      <a:r>
                        <a:rPr lang="en-US" altLang="ko-KR" sz="1000" b="0" dirty="0">
                          <a:solidFill>
                            <a:srgbClr val="1F1F1F"/>
                          </a:solidFill>
                          <a:latin typeface="KoPubWorld돋움체 Light"/>
                          <a:ea typeface="KoPubWorld돋움체 Light"/>
                          <a:cs typeface="KoPubWorld돋움체 Light"/>
                        </a:rPr>
                        <a:t>2-2</a:t>
                      </a:r>
                      <a:r>
                        <a:rPr lang="ko-KR" altLang="en-US" sz="1000" b="0" dirty="0">
                          <a:solidFill>
                            <a:srgbClr val="1F1F1F"/>
                          </a:solidFill>
                          <a:latin typeface="KoPubWorld돋움체 Light"/>
                          <a:ea typeface="KoPubWorld돋움체 Light"/>
                          <a:cs typeface="KoPubWorld돋움체 Light"/>
                        </a:rPr>
                        <a:t>종 종류주식</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rgbClr val="BFBFBF"/>
                      </a:solidFill>
                    </a:lnB>
                    <a:solidFill>
                      <a:schemeClr val="bg1"/>
                    </a:solidFill>
                  </a:tcPr>
                </a:tc>
                <a:extLst>
                  <a:ext uri="{0D108BD9-81ED-4DB2-BD59-A6C34878D82A}">
                    <a16:rowId xmlns:a16="http://schemas.microsoft.com/office/drawing/2014/main" val="10001"/>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누적배당률</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00000"/>
                        </a:lnSpc>
                      </a:pPr>
                      <a:r>
                        <a:rPr lang="ko-KR" altLang="en-US" sz="1000" b="0" dirty="0" err="1">
                          <a:solidFill>
                            <a:srgbClr val="1F1F1F"/>
                          </a:solidFill>
                          <a:latin typeface="KoPubWorld돋움체 Light"/>
                          <a:ea typeface="KoPubWorld돋움체 Light"/>
                          <a:cs typeface="KoPubWorld돋움체 Light"/>
                        </a:rPr>
                        <a:t>발행가액의</a:t>
                      </a:r>
                      <a:r>
                        <a:rPr lang="ko-KR" altLang="en-US" sz="1000" b="0" dirty="0">
                          <a:solidFill>
                            <a:srgbClr val="1F1F1F"/>
                          </a:solidFill>
                          <a:latin typeface="KoPubWorld돋움체 Light"/>
                          <a:ea typeface="KoPubWorld돋움체 Light"/>
                          <a:cs typeface="KoPubWorld돋움체 Light"/>
                        </a:rPr>
                        <a:t> 연 </a:t>
                      </a:r>
                      <a:r>
                        <a:rPr lang="en-US" sz="1000" b="0" dirty="0">
                          <a:solidFill>
                            <a:srgbClr val="1F1F1F"/>
                          </a:solidFill>
                          <a:latin typeface="KoPubWorld돋움체 Light"/>
                          <a:ea typeface="KoPubWorld돋움체 Light"/>
                          <a:cs typeface="KoPubWorld돋움체 Light"/>
                        </a:rPr>
                        <a:t>7%</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algn="l">
                        <a:lnSpc>
                          <a:spcPct val="100000"/>
                        </a:lnSpc>
                      </a:pPr>
                      <a:r>
                        <a:rPr lang="ko-KR" altLang="en-US" sz="1000" b="0" dirty="0" err="1">
                          <a:solidFill>
                            <a:srgbClr val="1F1F1F"/>
                          </a:solidFill>
                          <a:latin typeface="KoPubWorld돋움체 Light"/>
                          <a:ea typeface="KoPubWorld돋움체 Light"/>
                          <a:cs typeface="KoPubWorld돋움체 Light"/>
                        </a:rPr>
                        <a:t>발행가액의</a:t>
                      </a:r>
                      <a:r>
                        <a:rPr lang="ko-KR" altLang="en-US" sz="1000" b="0" dirty="0">
                          <a:solidFill>
                            <a:srgbClr val="1F1F1F"/>
                          </a:solidFill>
                          <a:latin typeface="KoPubWorld돋움체 Light"/>
                          <a:ea typeface="KoPubWorld돋움체 Light"/>
                          <a:cs typeface="KoPubWorld돋움체 Light"/>
                        </a:rPr>
                        <a:t> 연 </a:t>
                      </a:r>
                      <a:r>
                        <a:rPr lang="en-US" sz="1000" b="0" dirty="0">
                          <a:solidFill>
                            <a:srgbClr val="1F1F1F"/>
                          </a:solidFill>
                          <a:latin typeface="KoPubWorld돋움체 Light"/>
                          <a:ea typeface="KoPubWorld돋움체 Light"/>
                          <a:cs typeface="KoPubWorld돋움체 Light"/>
                        </a:rPr>
                        <a:t>7.5%</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1897383480"/>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수신예정인</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20000"/>
                        </a:lnSpc>
                      </a:pPr>
                      <a:r>
                        <a:rPr lang="ko-KR" altLang="en-US" sz="1000" b="0" dirty="0" err="1">
                          <a:solidFill>
                            <a:srgbClr val="1F1F1F"/>
                          </a:solidFill>
                          <a:latin typeface="KoPubWorld돋움체 Light"/>
                          <a:ea typeface="KoPubWorld돋움체 Light"/>
                          <a:cs typeface="KoPubWorld돋움체 Light"/>
                        </a:rPr>
                        <a:t>이지스리츠3호펀드, 키움캐피탈, 애큐온캐피탈, MG캐피탈 (총 4개 법인)</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algn="l">
                        <a:lnSpc>
                          <a:spcPct val="120000"/>
                        </a:lnSpc>
                      </a:pPr>
                      <a:r>
                        <a:rPr lang="ko-KR" altLang="en-US" sz="1000" b="0" dirty="0" err="1">
                          <a:solidFill>
                            <a:srgbClr val="1F1F1F"/>
                          </a:solidFill>
                          <a:latin typeface="KoPubWorld돋움체 Light"/>
                          <a:ea typeface="KoPubWorld돋움체 Light"/>
                          <a:cs typeface="KoPubWorld돋움체 Light"/>
                        </a:rPr>
                        <a:t>이지스</a:t>
                      </a:r>
                      <a:r>
                        <a:rPr lang="en-US" altLang="ko-KR" sz="1000" b="0" dirty="0">
                          <a:solidFill>
                            <a:srgbClr val="1F1F1F"/>
                          </a:solidFill>
                          <a:latin typeface="KoPubWorld돋움체 Light"/>
                          <a:ea typeface="KoPubWorld돋움체 Light"/>
                          <a:cs typeface="KoPubWorld돋움체 Light"/>
                        </a:rPr>
                        <a:t>K</a:t>
                      </a:r>
                      <a:r>
                        <a:rPr lang="ko-KR" altLang="en-US" sz="1000" b="0" dirty="0" err="1">
                          <a:solidFill>
                            <a:srgbClr val="1F1F1F"/>
                          </a:solidFill>
                          <a:latin typeface="KoPubWorld돋움체 Light"/>
                          <a:ea typeface="KoPubWorld돋움체 Light"/>
                          <a:cs typeface="KoPubWorld돋움체 Light"/>
                        </a:rPr>
                        <a:t>리츠펀드</a:t>
                      </a:r>
                      <a:r>
                        <a:rPr lang="en-US" altLang="ko-KR"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기계설비조합</a:t>
                      </a:r>
                      <a:r>
                        <a:rPr lang="en-US" altLang="ko-KR"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삼성증권 주식회사 </a:t>
                      </a:r>
                      <a:r>
                        <a:rPr lang="en-US"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3</a:t>
                      </a:r>
                      <a:r>
                        <a:rPr lang="ko-KR" altLang="en-US" sz="1000" b="0" dirty="0">
                          <a:solidFill>
                            <a:srgbClr val="1F1F1F"/>
                          </a:solidFill>
                          <a:latin typeface="KoPubWorld돋움체 Light"/>
                          <a:ea typeface="KoPubWorld돋움체 Light"/>
                          <a:cs typeface="KoPubWorld돋움체 Light"/>
                        </a:rPr>
                        <a:t>개 법인</a:t>
                      </a:r>
                      <a:r>
                        <a:rPr lang="en-US" altLang="ko-KR"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756838160"/>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매입예정금액 </a:t>
                      </a:r>
                      <a:r>
                        <a:rPr lang="en-US" sz="1000" b="0" dirty="0">
                          <a:solidFill>
                            <a:srgbClr val="1F1F1F"/>
                          </a:solidFill>
                          <a:latin typeface="KoPubWorld돋움체 Medium"/>
                          <a:ea typeface="KoPubWorld돋움체 Medium"/>
                          <a:cs typeface="KoPubWorld돋움체 Medium"/>
                        </a:rPr>
                        <a:t>(</a:t>
                      </a:r>
                      <a:r>
                        <a:rPr lang="ko-KR" altLang="en-US" sz="1000" b="0" dirty="0">
                          <a:solidFill>
                            <a:srgbClr val="1F1F1F"/>
                          </a:solidFill>
                          <a:latin typeface="KoPubWorld돋움체 Medium"/>
                          <a:ea typeface="KoPubWorld돋움체 Medium"/>
                          <a:cs typeface="KoPubWorld돋움체 Medium"/>
                        </a:rPr>
                        <a:t>주식수</a:t>
                      </a:r>
                      <a:r>
                        <a:rPr lang="en-US" altLang="ko-KR" sz="1000" b="0" dirty="0">
                          <a:solidFill>
                            <a:srgbClr val="1F1F1F"/>
                          </a:solidFill>
                          <a:latin typeface="KoPubWorld돋움체 Medium"/>
                          <a:ea typeface="KoPubWorld돋움체 Medium"/>
                          <a:cs typeface="KoPubWorld돋움체 Medium"/>
                        </a:rPr>
                        <a:t>)</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00000"/>
                        </a:lnSpc>
                      </a:pP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a:t>
                      </a:r>
                      <a:r>
                        <a:rPr 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24,000,000,000</a:t>
                      </a: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 </a:t>
                      </a:r>
                      <a:r>
                        <a:rPr lang="en-US" altLang="ko-KR"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960,000</a:t>
                      </a:r>
                      <a:r>
                        <a:rPr lang="ko-KR" altLang="en-US" sz="1000" b="0" dirty="0">
                          <a:solidFill>
                            <a:srgbClr val="1F1F1F"/>
                          </a:solidFill>
                          <a:latin typeface="KoPubWorld돋움체 Light"/>
                          <a:ea typeface="KoPubWorld돋움체 Light"/>
                          <a:cs typeface="KoPubWorld돋움체 Light"/>
                        </a:rPr>
                        <a:t>주</a:t>
                      </a:r>
                      <a:r>
                        <a:rPr lang="en-US" altLang="ko-KR"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a:t>
                      </a:r>
                      <a:r>
                        <a:rPr lang="en-US" altLang="ko-K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34,000,000,000</a:t>
                      </a: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 </a:t>
                      </a:r>
                      <a:r>
                        <a:rPr lang="en-US" altLang="ko-KR"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1,360,000</a:t>
                      </a:r>
                      <a:r>
                        <a:rPr lang="ko-KR" altLang="en-US" sz="1000" b="0" dirty="0">
                          <a:solidFill>
                            <a:srgbClr val="1F1F1F"/>
                          </a:solidFill>
                          <a:latin typeface="KoPubWorld돋움체 Light"/>
                          <a:ea typeface="KoPubWorld돋움체 Light"/>
                          <a:cs typeface="KoPubWorld돋움체 Light"/>
                        </a:rPr>
                        <a:t>주</a:t>
                      </a:r>
                      <a:r>
                        <a:rPr lang="en-US" altLang="ko-KR" sz="1000" b="0" dirty="0">
                          <a:solidFill>
                            <a:srgbClr val="1F1F1F"/>
                          </a:solidFill>
                          <a:latin typeface="KoPubWorld돋움체 Light"/>
                          <a:ea typeface="KoPubWorld돋움체 Light"/>
                          <a:cs typeface="KoPubWorld돋움체 Light"/>
                        </a:rPr>
                        <a:t>)</a:t>
                      </a:r>
                      <a:endParaRPr lang="ko-KR" altLang="en-US"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3836416147"/>
                  </a:ext>
                </a:extLst>
              </a:tr>
              <a:tr h="226092">
                <a:tc>
                  <a:txBody>
                    <a:bodyPr/>
                    <a:lstStyle/>
                    <a:p>
                      <a:pPr algn="ctr">
                        <a:lnSpc>
                          <a:spcPct val="100000"/>
                        </a:lnSpc>
                      </a:pPr>
                      <a:r>
                        <a:rPr lang="ko-KR" altLang="en-US" sz="1000" b="0" dirty="0" err="1">
                          <a:solidFill>
                            <a:srgbClr val="1F1F1F"/>
                          </a:solidFill>
                          <a:latin typeface="KoPubWorld돋움체 Medium"/>
                          <a:ea typeface="KoPubWorld돋움체 Medium"/>
                          <a:cs typeface="KoPubWorld돋움체 Medium"/>
                        </a:rPr>
                        <a:t>매입기</a:t>
                      </a:r>
                      <a:r>
                        <a:rPr sz="1000" b="0" dirty="0">
                          <a:solidFill>
                            <a:srgbClr val="1F1F1F"/>
                          </a:solidFill>
                          <a:latin typeface="KoPubWorld돋움체 Medium"/>
                          <a:ea typeface="KoPubWorld돋움체 Medium"/>
                          <a:cs typeface="KoPubWorld돋움체 Medium"/>
                        </a:rPr>
                        <a:t>한</a:t>
                      </a: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발행일부터</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24개월</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응당일</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chemeClr val="bg1"/>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발행일부터</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12개월</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응당일</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rgbClr val="BFBFBF"/>
                      </a:solidFill>
                    </a:lnB>
                    <a:solidFill>
                      <a:schemeClr val="bg1"/>
                    </a:solidFill>
                  </a:tcPr>
                </a:tc>
                <a:extLst>
                  <a:ext uri="{0D108BD9-81ED-4DB2-BD59-A6C34878D82A}">
                    <a16:rowId xmlns:a16="http://schemas.microsoft.com/office/drawing/2014/main" val="10002"/>
                  </a:ext>
                </a:extLst>
              </a:tr>
              <a:tr h="226092">
                <a:tc>
                  <a:txBody>
                    <a:bodyPr/>
                    <a:lstStyle/>
                    <a:p>
                      <a:pPr algn="ctr">
                        <a:lnSpc>
                          <a:spcPct val="100000"/>
                        </a:lnSpc>
                      </a:pPr>
                      <a:r>
                        <a:rPr sz="1000" b="0" dirty="0" err="1">
                          <a:solidFill>
                            <a:srgbClr val="1F1F1F"/>
                          </a:solidFill>
                          <a:latin typeface="KoPubWorld돋움체 Medium"/>
                          <a:ea typeface="KoPubWorld돋움체 Medium"/>
                          <a:cs typeface="KoPubWorld돋움체 Medium"/>
                        </a:rPr>
                        <a:t>불이행</a:t>
                      </a:r>
                      <a:r>
                        <a:rPr sz="1000" b="0" dirty="0">
                          <a:solidFill>
                            <a:srgbClr val="1F1F1F"/>
                          </a:solidFill>
                          <a:latin typeface="KoPubWorld돋움체 Medium"/>
                          <a:ea typeface="KoPubWorld돋움체 Medium"/>
                          <a:cs typeface="KoPubWorld돋움체 Medium"/>
                        </a:rPr>
                        <a:t> 시</a:t>
                      </a: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chemeClr val="tx1"/>
                      </a:solidFill>
                      <a:prstDash val="solid"/>
                      <a:round/>
                      <a:headEnd type="none" w="med" len="med"/>
                      <a:tailEnd type="none" w="med" len="med"/>
                    </a:lnB>
                    <a:solidFill>
                      <a:srgbClr val="F2F2F2"/>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미매입잔액</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 5.0% </a:t>
                      </a:r>
                      <a:r>
                        <a:rPr sz="1000" b="0" dirty="0" err="1">
                          <a:solidFill>
                            <a:srgbClr val="1F1F1F"/>
                          </a:solidFill>
                          <a:latin typeface="KoPubWorld돋움체 Light"/>
                          <a:ea typeface="KoPubWorld돋움체 Light"/>
                          <a:cs typeface="KoPubWorld돋움체 Light"/>
                        </a:rPr>
                        <a:t>지연손해금</a:t>
                      </a:r>
                      <a:r>
                        <a:rPr lang="en-US"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매입의무 존속</a:t>
                      </a:r>
                      <a:r>
                        <a:rPr lang="en-US" altLang="ko-KR" sz="1000" b="0" dirty="0">
                          <a:solidFill>
                            <a:srgbClr val="1F1F1F"/>
                          </a:solidFill>
                          <a:latin typeface="KoPubWorld돋움체 Light"/>
                          <a:ea typeface="KoPubWorld돋움체 Light"/>
                          <a:cs typeface="KoPubWorld돋움체 Light"/>
                        </a:rPr>
                        <a:t>)</a:t>
                      </a:r>
                      <a:endParaRPr lang="ko-KR" altLang="en-US"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미매입잔액의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 3.0% </a:t>
                      </a:r>
                      <a:r>
                        <a:rPr sz="1000" b="0" dirty="0" err="1">
                          <a:solidFill>
                            <a:srgbClr val="1F1F1F"/>
                          </a:solidFill>
                          <a:latin typeface="KoPubWorld돋움체 Light"/>
                          <a:ea typeface="KoPubWorld돋움체 Light"/>
                          <a:cs typeface="KoPubWorld돋움체 Light"/>
                        </a:rPr>
                        <a:t>지연이자</a:t>
                      </a:r>
                      <a:r>
                        <a:rPr sz="1000" b="0" dirty="0">
                          <a:solidFill>
                            <a:srgbClr val="1F1F1F"/>
                          </a:solidFill>
                          <a:latin typeface="KoPubWorld돋움체 Light"/>
                          <a:ea typeface="KoPubWorld돋움체 Light"/>
                          <a:cs typeface="KoPubWorld돋움체 Light"/>
                        </a:rPr>
                        <a:t> + </a:t>
                      </a:r>
                      <a:r>
                        <a:rPr sz="1000" b="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20%</a:t>
                      </a:r>
                      <a:r>
                        <a:rPr lang="en-US" sz="1000" b="0" dirty="0">
                          <a:solidFill>
                            <a:srgbClr val="1F1F1F"/>
                          </a:solidFill>
                          <a:latin typeface="KoPubWorld돋움체 Light"/>
                          <a:ea typeface="KoPubWorld돋움체 Light"/>
                          <a:cs typeface="KoPubWorld돋움체 Light"/>
                        </a:rPr>
                        <a:t>(</a:t>
                      </a:r>
                      <a:r>
                        <a:rPr sz="1000" b="0" dirty="0" err="1">
                          <a:solidFill>
                            <a:srgbClr val="1F1F1F"/>
                          </a:solidFill>
                          <a:latin typeface="KoPubWorld돋움체 Light"/>
                          <a:ea typeface="KoPubWorld돋움체 Light"/>
                          <a:cs typeface="KoPubWorld돋움체 Light"/>
                        </a:rPr>
                        <a:t>매입의무</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존속</a:t>
                      </a:r>
                      <a:r>
                        <a:rPr lang="en-US"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9" name="TextBox 48">
            <a:extLst>
              <a:ext uri="{FF2B5EF4-FFF2-40B4-BE49-F238E27FC236}">
                <a16:creationId xmlns:a16="http://schemas.microsoft.com/office/drawing/2014/main" id="{C2CE2932-5D7A-E864-AD09-BA700E40E773}"/>
              </a:ext>
            </a:extLst>
          </p:cNvPr>
          <p:cNvSpPr txBox="1"/>
          <p:nvPr/>
        </p:nvSpPr>
        <p:spPr>
          <a:xfrm>
            <a:off x="283368" y="6813808"/>
            <a:ext cx="5896166"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코크렙안양주식회사</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종류주식 투자관련 주당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발행가액은</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법률실사에 따라 상증세법 상 비상장주식 평가방식으로 산정하여 반영함</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2222891852"/>
              </p:ext>
            </p:extLst>
          </p:nvPr>
        </p:nvGraphicFramePr>
        <p:xfrm>
          <a:off x="532748" y="2623054"/>
          <a:ext cx="9777434" cy="1840859"/>
        </p:xfrm>
        <a:graphic>
          <a:graphicData uri="http://schemas.openxmlformats.org/drawingml/2006/table">
            <a:tbl>
              <a:tblPr firstRow="1" bandRow="1">
                <a:tableStyleId>{5C22544A-7EE6-4342-B048-85BDC9FD1C3A}</a:tableStyleId>
              </a:tblPr>
              <a:tblGrid>
                <a:gridCol w="1509405">
                  <a:extLst>
                    <a:ext uri="{9D8B030D-6E8A-4147-A177-3AD203B41FA5}">
                      <a16:colId xmlns:a16="http://schemas.microsoft.com/office/drawing/2014/main" val="2497295097"/>
                    </a:ext>
                  </a:extLst>
                </a:gridCol>
                <a:gridCol w="974383">
                  <a:extLst>
                    <a:ext uri="{9D8B030D-6E8A-4147-A177-3AD203B41FA5}">
                      <a16:colId xmlns:a16="http://schemas.microsoft.com/office/drawing/2014/main" val="3279365848"/>
                    </a:ext>
                  </a:extLst>
                </a:gridCol>
                <a:gridCol w="974383">
                  <a:extLst>
                    <a:ext uri="{9D8B030D-6E8A-4147-A177-3AD203B41FA5}">
                      <a16:colId xmlns:a16="http://schemas.microsoft.com/office/drawing/2014/main" val="2589598502"/>
                    </a:ext>
                  </a:extLst>
                </a:gridCol>
                <a:gridCol w="6319263">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재투자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억원을 통해 제</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등 배당재원 및 운영 유동성 확보</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3160730706"/>
              </p:ext>
            </p:extLst>
          </p:nvPr>
        </p:nvGraphicFramePr>
        <p:xfrm>
          <a:off x="534965" y="4823953"/>
          <a:ext cx="9777435" cy="1840860"/>
        </p:xfrm>
        <a:graphic>
          <a:graphicData uri="http://schemas.openxmlformats.org/drawingml/2006/table">
            <a:tbl>
              <a:tblPr firstRow="1" bandRow="1">
                <a:tableStyleId>{5C22544A-7EE6-4342-B048-85BDC9FD1C3A}</a:tableStyleId>
              </a:tblPr>
              <a:tblGrid>
                <a:gridCol w="633617">
                  <a:extLst>
                    <a:ext uri="{9D8B030D-6E8A-4147-A177-3AD203B41FA5}">
                      <a16:colId xmlns:a16="http://schemas.microsoft.com/office/drawing/2014/main" val="111567077"/>
                    </a:ext>
                  </a:extLst>
                </a:gridCol>
                <a:gridCol w="872522">
                  <a:extLst>
                    <a:ext uri="{9D8B030D-6E8A-4147-A177-3AD203B41FA5}">
                      <a16:colId xmlns:a16="http://schemas.microsoft.com/office/drawing/2014/main" val="1749200240"/>
                    </a:ext>
                  </a:extLst>
                </a:gridCol>
                <a:gridCol w="974917">
                  <a:extLst>
                    <a:ext uri="{9D8B030D-6E8A-4147-A177-3AD203B41FA5}">
                      <a16:colId xmlns:a16="http://schemas.microsoft.com/office/drawing/2014/main" val="4230421169"/>
                    </a:ext>
                  </a:extLst>
                </a:gridCol>
                <a:gridCol w="974917">
                  <a:extLst>
                    <a:ext uri="{9D8B030D-6E8A-4147-A177-3AD203B41FA5}">
                      <a16:colId xmlns:a16="http://schemas.microsoft.com/office/drawing/2014/main" val="1121758613"/>
                    </a:ext>
                  </a:extLst>
                </a:gridCol>
                <a:gridCol w="2500821">
                  <a:extLst>
                    <a:ext uri="{9D8B030D-6E8A-4147-A177-3AD203B41FA5}">
                      <a16:colId xmlns:a16="http://schemas.microsoft.com/office/drawing/2014/main" val="3132496807"/>
                    </a:ext>
                  </a:extLst>
                </a:gridCol>
                <a:gridCol w="750512">
                  <a:extLst>
                    <a:ext uri="{9D8B030D-6E8A-4147-A177-3AD203B41FA5}">
                      <a16:colId xmlns:a16="http://schemas.microsoft.com/office/drawing/2014/main" val="3876656458"/>
                    </a:ext>
                  </a:extLst>
                </a:gridCol>
                <a:gridCol w="3070129">
                  <a:extLst>
                    <a:ext uri="{9D8B030D-6E8A-4147-A177-3AD203B41FA5}">
                      <a16:colId xmlns:a16="http://schemas.microsoft.com/office/drawing/2014/main" val="1684827944"/>
                    </a:ext>
                  </a:extLst>
                </a:gridCol>
              </a:tblGrid>
              <a:tr h="204540">
                <a:tc gridSpan="2">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endParaRPr lang="ko-KR" altLang="en-US"/>
                    </a:p>
                  </a:txBody>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204540">
                <a:tc gridSpan="2">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04540">
                <a:tc rowSpan="2">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a:t>
                      </a:r>
                      <a:r>
                        <a:rPr lang="en-US" altLang="ko-KR" sz="1000" dirty="0">
                          <a:solidFill>
                            <a:srgbClr val="1F1F1F"/>
                          </a:solidFill>
                          <a:latin typeface="KoPubWorld돋움체 Light"/>
                          <a:ea typeface="KoPubWorld돋움체 Light"/>
                          <a:cs typeface="KoPubWorld돋움체 Light"/>
                        </a:rPr>
                        <a:t>1</a:t>
                      </a:r>
                      <a:r>
                        <a:rPr lang="ko-KR" altLang="en-US" sz="1000" dirty="0">
                          <a:solidFill>
                            <a:srgbClr val="1F1F1F"/>
                          </a:solidFill>
                          <a:latin typeface="KoPubWorld돋움체 Light"/>
                          <a:ea typeface="KoPubWorld돋움체 Light"/>
                          <a:cs typeface="KoPubWorld돋움체 Light"/>
                        </a:rPr>
                        <a:t>)</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204540">
                <a:tc rowSpan="4">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err="1">
                          <a:solidFill>
                            <a:srgbClr val="1F1F1F"/>
                          </a:solidFill>
                          <a:latin typeface="KoPubWorld돋움체 Light"/>
                          <a:ea typeface="KoPubWorld돋움체 Light"/>
                          <a:cs typeface="KoPubWorld돋움체 Light"/>
                        </a:rPr>
                        <a:t>이지스·키움·애큐온·MG 인수 (주주간계약 제2.1조)</a:t>
                      </a:r>
                      <a:r>
                        <a:rPr lang="ko-KR" altLang="en-US" sz="1000" dirty="0">
                          <a:solidFill>
                            <a:srgbClr val="1F1F1F"/>
                          </a:solidFill>
                          <a:latin typeface="KoPubWorld돋움체 Light"/>
                          <a:ea typeface="KoPubWorld돋움체 Light"/>
                          <a:cs typeface="KoPubWorld돋움체 Light"/>
                        </a:rPr>
                        <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119820624"/>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920661005"/>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24+2</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매매계약의 계약금</a:t>
                      </a:r>
                      <a:r>
                        <a:rPr lang="en-US" altLang="ko-KR" sz="1000" dirty="0">
                          <a:solidFill>
                            <a:schemeClr val="tx1"/>
                          </a:solidFill>
                          <a:latin typeface="KoPubWorld돋움체 Light"/>
                          <a:ea typeface="KoPubWorld돋움체 Light"/>
                          <a:cs typeface="KoPubWorld돋움체 Light"/>
                        </a:rPr>
                        <a:t>(100</a:t>
                      </a:r>
                      <a:r>
                        <a:rPr lang="ko-KR" altLang="en-US" sz="1000" dirty="0">
                          <a:solidFill>
                            <a:schemeClr val="tx1"/>
                          </a:solidFill>
                          <a:latin typeface="KoPubWorld돋움체 Light"/>
                          <a:ea typeface="KoPubWorld돋움체 Light"/>
                          <a:cs typeface="KoPubWorld돋움체 Light"/>
                        </a:rPr>
                        <a:t>억원</a:t>
                      </a:r>
                      <a:r>
                        <a:rPr lang="en-US" altLang="ko-KR" sz="1000" dirty="0">
                          <a:solidFill>
                            <a:schemeClr val="tx1"/>
                          </a:solidFill>
                          <a:latin typeface="KoPubWorld돋움체 Light"/>
                          <a:ea typeface="KoPubWorld돋움체 Light"/>
                          <a:cs typeface="KoPubWorld돋움체 Light"/>
                        </a:rPr>
                        <a:t>)</a:t>
                      </a:r>
                      <a:r>
                        <a:rPr lang="ko-KR" altLang="en-US" sz="1000" dirty="0">
                          <a:solidFill>
                            <a:schemeClr val="tx1"/>
                          </a:solidFill>
                          <a:latin typeface="KoPubWorld돋움체 Light"/>
                          <a:ea typeface="KoPubWorld돋움체 Light"/>
                          <a:cs typeface="KoPubWorld돋움체 Light"/>
                        </a:rPr>
                        <a:t> 상계납입 처리 </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39941698"/>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예정(10/16)</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204540">
                <a:tc gridSpan="2">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15537"/>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임대차 갱신 시 시장임대료 반영을 통한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14005"/>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운영비용 검토 및 </a:t>
            </a:r>
            <a:r>
              <a:rPr lang="en-US" altLang="ko-KR" sz="1600" spc="-20" dirty="0">
                <a:solidFill>
                  <a:schemeClr val="tx1"/>
                </a:solidFill>
              </a:rPr>
              <a:t>CPM</a:t>
            </a:r>
            <a:r>
              <a:rPr lang="ko-KR" altLang="en-US" sz="1600" spc="-20" dirty="0">
                <a:solidFill>
                  <a:schemeClr val="tx1"/>
                </a:solidFill>
              </a:rPr>
              <a:t> 활용에 따른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a:t>
            </a:r>
            <a:r>
              <a:rPr lang="ko-KR" altLang="en-US" sz="1600" spc="-20" dirty="0" err="1">
                <a:solidFill>
                  <a:schemeClr val="tx1"/>
                </a:solidFill>
              </a:rPr>
              <a:t>절감분</a:t>
            </a:r>
            <a:r>
              <a:rPr lang="ko-KR" altLang="en-US" sz="1600" spc="-20" dirty="0">
                <a:solidFill>
                  <a:schemeClr val="tx1"/>
                </a:solidFill>
              </a:rPr>
              <a:t> 반영 </a:t>
            </a:r>
            <a:r>
              <a:rPr lang="en-US" altLang="ko-KR" sz="1600" spc="-20" dirty="0">
                <a:solidFill>
                  <a:schemeClr val="tx1"/>
                </a:solidFill>
              </a:rPr>
              <a:t>(</a:t>
            </a:r>
            <a:r>
              <a:rPr lang="ko-KR" altLang="en-US" sz="1600" spc="-20" dirty="0" err="1">
                <a:solidFill>
                  <a:schemeClr val="tx1"/>
                </a:solidFill>
              </a:rPr>
              <a:t>수도광열비는</a:t>
            </a:r>
            <a:r>
              <a:rPr lang="ko-KR" altLang="en-US" sz="1600" spc="-20" dirty="0">
                <a:solidFill>
                  <a:schemeClr val="tx1"/>
                </a:solidFill>
              </a:rPr>
              <a:t> 임차인 부담</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1971006930"/>
              </p:ext>
            </p:extLst>
          </p:nvPr>
        </p:nvGraphicFramePr>
        <p:xfrm>
          <a:off x="449263" y="2374900"/>
          <a:ext cx="9863140" cy="414446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30248">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30248">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30248">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30248">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30248">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30248">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30248">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a:t>
            </a:r>
            <a:r>
              <a:rPr lang="ko-KR" altLang="en-US" sz="1600" spc="-20" dirty="0" err="1">
                <a:solidFill>
                  <a:schemeClr val="tx1"/>
                </a:solidFill>
              </a:rPr>
              <a:t>NOI는</a:t>
            </a:r>
            <a:r>
              <a:rPr lang="ko-KR" altLang="en-US" sz="1600" spc="-20" dirty="0">
                <a:solidFill>
                  <a:schemeClr val="tx1"/>
                </a:solidFill>
              </a:rPr>
              <a:t> 1년차 13,105백만원 </a:t>
            </a:r>
            <a:r>
              <a:rPr lang="en-US" altLang="ko-KR" sz="1600" spc="-20" dirty="0">
                <a:solidFill>
                  <a:schemeClr val="tx1"/>
                </a:solidFill>
                <a:sym typeface="Wingdings" panose="05000000000000000000" pitchFamily="2" charset="2"/>
              </a:rPr>
              <a:t></a:t>
            </a:r>
            <a:r>
              <a:rPr lang="ko-KR" altLang="en-US" sz="1600" spc="-20" dirty="0">
                <a:solidFill>
                  <a:schemeClr val="tx1"/>
                </a:solidFill>
              </a:rPr>
              <a:t> 10년차 17,673백만원 증가에 따라  매각가치 375,861백만원 예상</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제공에 따른 일시적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감소하나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장기 임대차 확보로 안정성 제고</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57952"/>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C65655-19B1-C4DF-01B2-D4BB578E042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 name="그룹 3">
            <a:extLst>
              <a:ext uri="{FF2B5EF4-FFF2-40B4-BE49-F238E27FC236}">
                <a16:creationId xmlns:a16="http://schemas.microsoft.com/office/drawing/2014/main" id="{AE276525-B1E7-A76F-30F1-B5175455628C}"/>
              </a:ext>
            </a:extLst>
          </p:cNvPr>
          <p:cNvGrpSpPr/>
          <p:nvPr/>
        </p:nvGrpSpPr>
        <p:grpSpPr>
          <a:xfrm>
            <a:off x="438834" y="1977073"/>
            <a:ext cx="9783663" cy="247712"/>
            <a:chOff x="417444" y="1605420"/>
            <a:chExt cx="8983731" cy="247712"/>
          </a:xfrm>
        </p:grpSpPr>
        <p:sp>
          <p:nvSpPr>
            <p:cNvPr id="5" name="직사각형 4">
              <a:extLst>
                <a:ext uri="{FF2B5EF4-FFF2-40B4-BE49-F238E27FC236}">
                  <a16:creationId xmlns:a16="http://schemas.microsoft.com/office/drawing/2014/main" id="{82DC7A47-3828-A509-B0E9-9B32CE2AE29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55E2509-3A8A-A0E7-F20A-A3084A78A30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CB0BFD1-5062-6E94-66CC-E756246B791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C97B8D57-1929-EB30-E305-28B7D9AEEC8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2EC6990-35D5-1F0D-B1B8-7CA18FCF383C}"/>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2" name="TextBox 11">
            <a:extLst>
              <a:ext uri="{FF2B5EF4-FFF2-40B4-BE49-F238E27FC236}">
                <a16:creationId xmlns:a16="http://schemas.microsoft.com/office/drawing/2014/main" id="{3CF6BC2A-D6F9-5236-8E31-D8164481A659}"/>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aphicFrame>
        <p:nvGraphicFramePr>
          <p:cNvPr id="14" name="Table 6">
            <a:extLst>
              <a:ext uri="{FF2B5EF4-FFF2-40B4-BE49-F238E27FC236}">
                <a16:creationId xmlns:a16="http://schemas.microsoft.com/office/drawing/2014/main" id="{9F013F1D-D483-5DB1-0BE5-FF15A8256DA9}"/>
              </a:ext>
            </a:extLst>
          </p:cNvPr>
          <p:cNvGraphicFramePr>
            <a:graphicFrameLocks noGrp="1"/>
          </p:cNvGraphicFramePr>
          <p:nvPr>
            <p:extLst>
              <p:ext uri="{D42A27DB-BD31-4B8C-83A1-F6EECF244321}">
                <p14:modId xmlns:p14="http://schemas.microsoft.com/office/powerpoint/2010/main" val="2143549283"/>
              </p:ext>
            </p:extLst>
          </p:nvPr>
        </p:nvGraphicFramePr>
        <p:xfrm>
          <a:off x="438834" y="2592388"/>
          <a:ext cx="4640480" cy="4067173"/>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952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3,270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3,270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3,270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3,270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2,602</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2,602</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2,353</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2,353</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2,106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2,106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4.74%</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2,562</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2,562</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5.77%</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2,646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2,646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3,098</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3,098</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6.98%</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2,871</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2,871</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6.47%</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3,320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3,320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2,876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2,876</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6.48%</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6.11%</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2,715</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58,838</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61,553</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138.63%</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55,410</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58,838</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114,248</a:t>
                      </a: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dirty="0"/>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10.21%</a:t>
                      </a:r>
                      <a:endPar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a:t>
                      </a:r>
                      <a:endPar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dirty="0"/>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15" name="그룹 14">
            <a:extLst>
              <a:ext uri="{FF2B5EF4-FFF2-40B4-BE49-F238E27FC236}">
                <a16:creationId xmlns:a16="http://schemas.microsoft.com/office/drawing/2014/main" id="{E75721E4-E104-70C4-42A0-0F44A185B7A8}"/>
              </a:ext>
            </a:extLst>
          </p:cNvPr>
          <p:cNvGrpSpPr/>
          <p:nvPr/>
        </p:nvGrpSpPr>
        <p:grpSpPr>
          <a:xfrm>
            <a:off x="396243" y="2267669"/>
            <a:ext cx="2305439" cy="246221"/>
            <a:chOff x="458886" y="1467302"/>
            <a:chExt cx="2305439" cy="246221"/>
          </a:xfrm>
        </p:grpSpPr>
        <p:sp>
          <p:nvSpPr>
            <p:cNvPr id="16" name="TextBox 15">
              <a:extLst>
                <a:ext uri="{FF2B5EF4-FFF2-40B4-BE49-F238E27FC236}">
                  <a16:creationId xmlns:a16="http://schemas.microsoft.com/office/drawing/2014/main" id="{CF1AAC73-EF72-DF80-6AB2-A4384EFB8864}"/>
                </a:ext>
              </a:extLst>
            </p:cNvPr>
            <p:cNvSpPr txBox="1"/>
            <p:nvPr/>
          </p:nvSpPr>
          <p:spPr>
            <a:xfrm>
              <a:off x="458886" y="1467302"/>
              <a:ext cx="23054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자본감액</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배당 포함</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 name="직사각형 16">
              <a:extLst>
                <a:ext uri="{FF2B5EF4-FFF2-40B4-BE49-F238E27FC236}">
                  <a16:creationId xmlns:a16="http://schemas.microsoft.com/office/drawing/2014/main" id="{71CE74C9-50C5-6F00-16EF-71F10776341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8" name="TextBox 17">
            <a:extLst>
              <a:ext uri="{FF2B5EF4-FFF2-40B4-BE49-F238E27FC236}">
                <a16:creationId xmlns:a16="http://schemas.microsoft.com/office/drawing/2014/main" id="{B4C448D9-8CCD-2B41-0CD4-2D2886382B80}"/>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aphicFrame>
        <p:nvGraphicFramePr>
          <p:cNvPr id="19" name="Table 6">
            <a:extLst>
              <a:ext uri="{FF2B5EF4-FFF2-40B4-BE49-F238E27FC236}">
                <a16:creationId xmlns:a16="http://schemas.microsoft.com/office/drawing/2014/main" id="{A7EFFE5A-5702-AC3D-8BEC-E81B19419A40}"/>
              </a:ext>
            </a:extLst>
          </p:cNvPr>
          <p:cNvGraphicFramePr>
            <a:graphicFrameLocks noGrp="1"/>
          </p:cNvGraphicFramePr>
          <p:nvPr>
            <p:extLst>
              <p:ext uri="{D42A27DB-BD31-4B8C-83A1-F6EECF244321}">
                <p14:modId xmlns:p14="http://schemas.microsoft.com/office/powerpoint/2010/main" val="4175488378"/>
              </p:ext>
            </p:extLst>
          </p:nvPr>
        </p:nvGraphicFramePr>
        <p:xfrm>
          <a:off x="5562600" y="2592388"/>
          <a:ext cx="4659898" cy="4067173"/>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4">
                  <a:extLst>
                    <a:ext uri="{9D8B030D-6E8A-4147-A177-3AD203B41FA5}">
                      <a16:colId xmlns:a16="http://schemas.microsoft.com/office/drawing/2014/main" val="1425530335"/>
                    </a:ext>
                  </a:extLst>
                </a:gridCol>
                <a:gridCol w="747744">
                  <a:extLst>
                    <a:ext uri="{9D8B030D-6E8A-4147-A177-3AD203B41FA5}">
                      <a16:colId xmlns:a16="http://schemas.microsoft.com/office/drawing/2014/main" val="413513969"/>
                    </a:ext>
                  </a:extLst>
                </a:gridCol>
                <a:gridCol w="747744">
                  <a:extLst>
                    <a:ext uri="{9D8B030D-6E8A-4147-A177-3AD203B41FA5}">
                      <a16:colId xmlns:a16="http://schemas.microsoft.com/office/drawing/2014/main" val="271108571"/>
                    </a:ext>
                  </a:extLst>
                </a:gridCol>
                <a:gridCol w="747744">
                  <a:extLst>
                    <a:ext uri="{9D8B030D-6E8A-4147-A177-3AD203B41FA5}">
                      <a16:colId xmlns:a16="http://schemas.microsoft.com/office/drawing/2014/main" val="1127324243"/>
                    </a:ext>
                  </a:extLst>
                </a:gridCol>
                <a:gridCol w="747744">
                  <a:extLst>
                    <a:ext uri="{9D8B030D-6E8A-4147-A177-3AD203B41FA5}">
                      <a16:colId xmlns:a16="http://schemas.microsoft.com/office/drawing/2014/main" val="1815909224"/>
                    </a:ext>
                  </a:extLst>
                </a:gridCol>
              </a:tblGrid>
              <a:tr h="18952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67,249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46,999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67,249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114,248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29</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9.47</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X 2.29</a:t>
                      </a:r>
                      <a:endPar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20" name="그룹 19">
            <a:extLst>
              <a:ext uri="{FF2B5EF4-FFF2-40B4-BE49-F238E27FC236}">
                <a16:creationId xmlns:a16="http://schemas.microsoft.com/office/drawing/2014/main" id="{1B639640-751F-D329-50F3-8DE298DD5876}"/>
              </a:ext>
            </a:extLst>
          </p:cNvPr>
          <p:cNvGrpSpPr/>
          <p:nvPr/>
        </p:nvGrpSpPr>
        <p:grpSpPr>
          <a:xfrm>
            <a:off x="5539426" y="2267669"/>
            <a:ext cx="2305439" cy="246221"/>
            <a:chOff x="458886" y="1467302"/>
            <a:chExt cx="2305439" cy="246221"/>
          </a:xfrm>
        </p:grpSpPr>
        <p:sp>
          <p:nvSpPr>
            <p:cNvPr id="21" name="TextBox 20">
              <a:extLst>
                <a:ext uri="{FF2B5EF4-FFF2-40B4-BE49-F238E27FC236}">
                  <a16:creationId xmlns:a16="http://schemas.microsoft.com/office/drawing/2014/main" id="{83EFF2B5-EA5B-2F83-815D-C8783085704F}"/>
                </a:ext>
              </a:extLst>
            </p:cNvPr>
            <p:cNvSpPr txBox="1"/>
            <p:nvPr/>
          </p:nvSpPr>
          <p:spPr>
            <a:xfrm>
              <a:off x="458886" y="1467302"/>
              <a:ext cx="23054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자본감액</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배당 제외</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18A83674-53E5-CFF6-E495-978E8AD991D8}"/>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4" name="TextBox 23">
            <a:extLst>
              <a:ext uri="{FF2B5EF4-FFF2-40B4-BE49-F238E27FC236}">
                <a16:creationId xmlns:a16="http://schemas.microsoft.com/office/drawing/2014/main" id="{30583A03-96E2-CD08-4608-B830E6A7C4A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매도인 재투자를 제외한 전체 </a:t>
            </a:r>
            <a:r>
              <a:rPr lang="en-US" altLang="ko-KR" sz="1600" dirty="0">
                <a:solidFill>
                  <a:schemeClr val="tx1"/>
                </a:solidFill>
              </a:rPr>
              <a:t>Equity</a:t>
            </a:r>
            <a:r>
              <a:rPr lang="ko-KR" altLang="en-US" sz="1600" dirty="0">
                <a:solidFill>
                  <a:schemeClr val="tx1"/>
                </a:solidFill>
              </a:rPr>
              <a:t>수익률은 </a:t>
            </a:r>
            <a:r>
              <a:rPr lang="en-US" altLang="ko-KR" sz="1600" dirty="0">
                <a:solidFill>
                  <a:schemeClr val="tx1"/>
                </a:solidFill>
              </a:rPr>
              <a:t>CoC 6.24%, IRR 10.21% </a:t>
            </a:r>
            <a:r>
              <a:rPr lang="ko-KR" altLang="en-US" sz="1600" dirty="0">
                <a:solidFill>
                  <a:schemeClr val="tx1"/>
                </a:solidFill>
              </a:rPr>
              <a:t>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FY6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임차인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Rent-Free</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제공으로 배당가능이익이 일시적으로 부족하여 자본준비금 감액을 통한 배당 예정</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효과 제외 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5.29%, IRR 9.47%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a:t>
            </a:r>
            <a:endPar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135839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투자자별 수익률은 제1종 IRR 7.12%, 제2종 IRR 9.15%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2종은 3</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년차</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Rent-free</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영향으로 감소하는 순이익으로 인하여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FY7~11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미지급분을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FY12~15에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이연</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누적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지급</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예정</a:t>
            </a:r>
            <a:endPar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406810388"/>
              </p:ext>
            </p:extLst>
          </p:nvPr>
        </p:nvGraphicFramePr>
        <p:xfrm>
          <a:off x="438834" y="2592388"/>
          <a:ext cx="4640480" cy="4068896"/>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666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401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770">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87F9AD46-638E-6531-5E59-34CE9CE7AAB5}"/>
              </a:ext>
            </a:extLst>
          </p:cNvPr>
          <p:cNvGraphicFramePr>
            <a:graphicFrameLocks noGrp="1"/>
          </p:cNvGraphicFramePr>
          <p:nvPr>
            <p:extLst>
              <p:ext uri="{D42A27DB-BD31-4B8C-83A1-F6EECF244321}">
                <p14:modId xmlns:p14="http://schemas.microsoft.com/office/powerpoint/2010/main" val="3197704803"/>
              </p:ext>
            </p:extLst>
          </p:nvPr>
        </p:nvGraphicFramePr>
        <p:xfrm>
          <a:off x="5562600" y="2597100"/>
          <a:ext cx="4659893" cy="4062475"/>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3">
                  <a:extLst>
                    <a:ext uri="{9D8B030D-6E8A-4147-A177-3AD203B41FA5}">
                      <a16:colId xmlns:a16="http://schemas.microsoft.com/office/drawing/2014/main" val="1425530335"/>
                    </a:ext>
                  </a:extLst>
                </a:gridCol>
                <a:gridCol w="747743">
                  <a:extLst>
                    <a:ext uri="{9D8B030D-6E8A-4147-A177-3AD203B41FA5}">
                      <a16:colId xmlns:a16="http://schemas.microsoft.com/office/drawing/2014/main" val="413513969"/>
                    </a:ext>
                  </a:extLst>
                </a:gridCol>
                <a:gridCol w="747743">
                  <a:extLst>
                    <a:ext uri="{9D8B030D-6E8A-4147-A177-3AD203B41FA5}">
                      <a16:colId xmlns:a16="http://schemas.microsoft.com/office/drawing/2014/main" val="271108571"/>
                    </a:ext>
                  </a:extLst>
                </a:gridCol>
                <a:gridCol w="747743">
                  <a:extLst>
                    <a:ext uri="{9D8B030D-6E8A-4147-A177-3AD203B41FA5}">
                      <a16:colId xmlns:a16="http://schemas.microsoft.com/office/drawing/2014/main" val="1127324243"/>
                    </a:ext>
                  </a:extLst>
                </a:gridCol>
                <a:gridCol w="747743">
                  <a:extLst>
                    <a:ext uri="{9D8B030D-6E8A-4147-A177-3AD203B41FA5}">
                      <a16:colId xmlns:a16="http://schemas.microsoft.com/office/drawing/2014/main" val="1815909224"/>
                    </a:ext>
                  </a:extLst>
                </a:gridCol>
              </a:tblGrid>
              <a:tr h="188542">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13,643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3573">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37,500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5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9.15%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15" name="그룹 14">
            <a:extLst>
              <a:ext uri="{FF2B5EF4-FFF2-40B4-BE49-F238E27FC236}">
                <a16:creationId xmlns:a16="http://schemas.microsoft.com/office/drawing/2014/main" id="{6BE7E5A0-EE84-7AE9-A447-F7C5FC7C53D0}"/>
              </a:ext>
            </a:extLst>
          </p:cNvPr>
          <p:cNvGrpSpPr/>
          <p:nvPr/>
        </p:nvGrpSpPr>
        <p:grpSpPr>
          <a:xfrm>
            <a:off x="5539426" y="2267669"/>
            <a:ext cx="816249" cy="246221"/>
            <a:chOff x="458886" y="1467302"/>
            <a:chExt cx="816249" cy="246221"/>
          </a:xfrm>
        </p:grpSpPr>
        <p:sp>
          <p:nvSpPr>
            <p:cNvPr id="17" name="TextBox 16">
              <a:extLst>
                <a:ext uri="{FF2B5EF4-FFF2-40B4-BE49-F238E27FC236}">
                  <a16:creationId xmlns:a16="http://schemas.microsoft.com/office/drawing/2014/main" id="{60EF68DD-6418-3ADD-886F-D79B41DCE27C}"/>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 name="직사각형 17">
              <a:extLst>
                <a:ext uri="{FF2B5EF4-FFF2-40B4-BE49-F238E27FC236}">
                  <a16:creationId xmlns:a16="http://schemas.microsoft.com/office/drawing/2014/main" id="{DEF35CB5-622B-1C6F-4B9A-698CB649165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1" name="TextBox 20">
            <a:extLst>
              <a:ext uri="{FF2B5EF4-FFF2-40B4-BE49-F238E27FC236}">
                <a16:creationId xmlns:a16="http://schemas.microsoft.com/office/drawing/2014/main" id="{810A7610-FCFF-B956-4724-E7B330C3B9FE}"/>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23" name="TextBox 22">
            <a:extLst>
              <a:ext uri="{FF2B5EF4-FFF2-40B4-BE49-F238E27FC236}">
                <a16:creationId xmlns:a16="http://schemas.microsoft.com/office/drawing/2014/main" id="{03C63779-A1B7-0F0A-DE90-D1AE1492EBF0}"/>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a:t>
              </a:r>
              <a:r>
                <a:rPr lang="ko-KR" altLang="en-US" sz="100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매도인의 제3종 종류주식 원본은</a:t>
            </a:r>
            <a:r>
              <a:rPr lang="en-US" altLang="ko-KR" sz="1600" dirty="0">
                <a:solidFill>
                  <a:schemeClr val="tx1"/>
                </a:solidFill>
              </a:rPr>
              <a:t> </a:t>
            </a:r>
            <a:r>
              <a:rPr lang="ko-KR" altLang="en-US" sz="1600" dirty="0">
                <a:solidFill>
                  <a:schemeClr val="tx1"/>
                </a:solidFill>
              </a:rPr>
              <a:t>2년 후 원본 유상감자 예정</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349875232"/>
              </p:ext>
            </p:extLst>
          </p:nvPr>
        </p:nvGraphicFramePr>
        <p:xfrm>
          <a:off x="5562600" y="2597100"/>
          <a:ext cx="4659898" cy="4062475"/>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4">
                  <a:extLst>
                    <a:ext uri="{9D8B030D-6E8A-4147-A177-3AD203B41FA5}">
                      <a16:colId xmlns:a16="http://schemas.microsoft.com/office/drawing/2014/main" val="1425530335"/>
                    </a:ext>
                  </a:extLst>
                </a:gridCol>
                <a:gridCol w="747744">
                  <a:extLst>
                    <a:ext uri="{9D8B030D-6E8A-4147-A177-3AD203B41FA5}">
                      <a16:colId xmlns:a16="http://schemas.microsoft.com/office/drawing/2014/main" val="413513969"/>
                    </a:ext>
                  </a:extLst>
                </a:gridCol>
                <a:gridCol w="747744">
                  <a:extLst>
                    <a:ext uri="{9D8B030D-6E8A-4147-A177-3AD203B41FA5}">
                      <a16:colId xmlns:a16="http://schemas.microsoft.com/office/drawing/2014/main" val="271108571"/>
                    </a:ext>
                  </a:extLst>
                </a:gridCol>
                <a:gridCol w="747744">
                  <a:extLst>
                    <a:ext uri="{9D8B030D-6E8A-4147-A177-3AD203B41FA5}">
                      <a16:colId xmlns:a16="http://schemas.microsoft.com/office/drawing/2014/main" val="1127324243"/>
                    </a:ext>
                  </a:extLst>
                </a:gridCol>
                <a:gridCol w="747744">
                  <a:extLst>
                    <a:ext uri="{9D8B030D-6E8A-4147-A177-3AD203B41FA5}">
                      <a16:colId xmlns:a16="http://schemas.microsoft.com/office/drawing/2014/main" val="1815909224"/>
                    </a:ext>
                  </a:extLst>
                </a:gridCol>
              </a:tblGrid>
              <a:tr h="188542">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3573">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48,180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5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16.18%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350043484"/>
              </p:ext>
            </p:extLst>
          </p:nvPr>
        </p:nvGraphicFramePr>
        <p:xfrm>
          <a:off x="438834" y="2592388"/>
          <a:ext cx="4640480" cy="406889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666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40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770">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 name="TextBox 3">
            <a:extLst>
              <a:ext uri="{FF2B5EF4-FFF2-40B4-BE49-F238E27FC236}">
                <a16:creationId xmlns:a16="http://schemas.microsoft.com/office/drawing/2014/main" id="{7C2AFEF1-BDD0-4CFC-A9EC-96D41E95D24A}"/>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6" name="TextBox 5">
            <a:extLst>
              <a:ext uri="{FF2B5EF4-FFF2-40B4-BE49-F238E27FC236}">
                <a16:creationId xmlns:a16="http://schemas.microsoft.com/office/drawing/2014/main" id="{90D63F87-7068-16AF-98B7-33F4E26B0923}"/>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7" name="그룹 6">
            <a:extLst>
              <a:ext uri="{FF2B5EF4-FFF2-40B4-BE49-F238E27FC236}">
                <a16:creationId xmlns:a16="http://schemas.microsoft.com/office/drawing/2014/main" id="{3CBD16DA-3651-94E4-B6E6-5D7D5A3F0E01}"/>
              </a:ext>
            </a:extLst>
          </p:cNvPr>
          <p:cNvGrpSpPr/>
          <p:nvPr/>
        </p:nvGrpSpPr>
        <p:grpSpPr>
          <a:xfrm>
            <a:off x="5539426" y="2267669"/>
            <a:ext cx="595035" cy="246221"/>
            <a:chOff x="458886" y="1467302"/>
            <a:chExt cx="595035" cy="246221"/>
          </a:xfrm>
        </p:grpSpPr>
        <p:sp>
          <p:nvSpPr>
            <p:cNvPr id="8" name="TextBox 7">
              <a:extLst>
                <a:ext uri="{FF2B5EF4-FFF2-40B4-BE49-F238E27FC236}">
                  <a16:creationId xmlns:a16="http://schemas.microsoft.com/office/drawing/2014/main" id="{058F72B5-AA56-CB06-809A-90FD0E3E1F9F}"/>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9A45C2CC-DE33-32E6-1B89-FC570EC6ED3B}"/>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2917952701"/>
              </p:ext>
            </p:extLst>
          </p:nvPr>
        </p:nvGraphicFramePr>
        <p:xfrm>
          <a:off x="438150" y="2374900"/>
          <a:ext cx="9890860" cy="4429117"/>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3735">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2022">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68702">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300234">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35,297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18,498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16,452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377,753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68702">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68702">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51792" y="2375681"/>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2359753551"/>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21.23%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23.22%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131259279"/>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9.51%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547255455"/>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4.94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1461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갱신시점 임대료 인상</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nvGraphicFramePr>
        <p:xfrm>
          <a:off x="489406" y="2591705"/>
          <a:ext cx="9745208" cy="2786024"/>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48640">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42천원/평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65천원/평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6.08%</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6.25%</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6.76%</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5" name="직사각형 114">
            <a:extLst>
              <a:ext uri="{FF2B5EF4-FFF2-40B4-BE49-F238E27FC236}">
                <a16:creationId xmlns:a16="http://schemas.microsoft.com/office/drawing/2014/main" id="{84C0E087-78E9-A398-F34D-99952958F37F}"/>
              </a:ext>
            </a:extLst>
          </p:cNvPr>
          <p:cNvSpPr/>
          <p:nvPr/>
        </p:nvSpPr>
        <p:spPr>
          <a:xfrm>
            <a:off x="602092" y="5735058"/>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602092" y="5735058"/>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74063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740637"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740637" y="6417289"/>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12.87% </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830365" y="5735058"/>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830365" y="5735058"/>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3" name="TextBox 122">
            <a:extLst>
              <a:ext uri="{FF2B5EF4-FFF2-40B4-BE49-F238E27FC236}">
                <a16:creationId xmlns:a16="http://schemas.microsoft.com/office/drawing/2014/main" id="{49CBA120-36EC-317F-4E22-E55218BA13BF}"/>
              </a:ext>
            </a:extLst>
          </p:cNvPr>
          <p:cNvSpPr txBox="1"/>
          <p:nvPr/>
        </p:nvSpPr>
        <p:spPr>
          <a:xfrm>
            <a:off x="2968910"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10.21%</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68910" y="6417289"/>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2.29</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642652" y="5735058"/>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642652" y="5735058"/>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8119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81197"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81197" y="6417289"/>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15.3%</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70925" y="5735058"/>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70925" y="5735058"/>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3" name="TextBox 132">
            <a:extLst>
              <a:ext uri="{FF2B5EF4-FFF2-40B4-BE49-F238E27FC236}">
                <a16:creationId xmlns:a16="http://schemas.microsoft.com/office/drawing/2014/main" id="{824A7FB0-45FF-C90E-0F47-B85E4D8716AF}"/>
              </a:ext>
            </a:extLst>
          </p:cNvPr>
          <p:cNvSpPr txBox="1"/>
          <p:nvPr/>
        </p:nvSpPr>
        <p:spPr>
          <a:xfrm>
            <a:off x="8009470"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11.4%</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8009470" y="6417289"/>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2.53</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509616" y="5447054"/>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96470" y="5447054"/>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210604" y="6067806"/>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만기 시 시장임대료 반영을 통한 자산의 </a:t>
            </a:r>
            <a:r>
              <a:rPr lang="en-US" altLang="ko-KR" sz="1600" dirty="0">
                <a:solidFill>
                  <a:schemeClr val="tx1"/>
                </a:solidFill>
              </a:rPr>
              <a:t>Upside Potential</a:t>
            </a:r>
            <a:r>
              <a:rPr lang="ko-KR" altLang="en-US" sz="1600" dirty="0">
                <a:solidFill>
                  <a:schemeClr val="tx1"/>
                </a:solidFill>
              </a:rPr>
              <a:t>을 핵심 운용전략으로 추진</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임차인에 한하여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a:extLst>
              <a:ext uri="{FF2B5EF4-FFF2-40B4-BE49-F238E27FC236}">
                <a16:creationId xmlns:a16="http://schemas.microsoft.com/office/drawing/2014/main" id="{2116AE07-B022-8A79-F78E-7C1E8ED0E9AD}"/>
              </a:ext>
            </a:extLst>
          </p:cNvPr>
          <p:cNvSpPr txBox="1"/>
          <p:nvPr/>
        </p:nvSpPr>
        <p:spPr>
          <a:xfrm>
            <a:off x="7986379"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5" name="TextBox 4">
            <a:extLst>
              <a:ext uri="{FF2B5EF4-FFF2-40B4-BE49-F238E27FC236}">
                <a16:creationId xmlns:a16="http://schemas.microsoft.com/office/drawing/2014/main" id="{C6FA8108-FF43-F428-E487-DFA371E961B4}"/>
              </a:ext>
            </a:extLst>
          </p:cNvPr>
          <p:cNvSpPr txBox="1"/>
          <p:nvPr/>
        </p:nvSpPr>
        <p:spPr>
          <a:xfrm>
            <a:off x="297898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Tree>
    <p:extLst>
      <p:ext uri="{BB962C8B-B14F-4D97-AF65-F5344CB8AC3E}">
        <p14:creationId xmlns:p14="http://schemas.microsoft.com/office/powerpoint/2010/main" val="152320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매입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물류센터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extLst>
                <p:ext uri="{D42A27DB-BD31-4B8C-83A1-F6EECF244321}">
                  <p14:modId xmlns:p14="http://schemas.microsoft.com/office/powerpoint/2010/main" val="1168304803"/>
                </p:ext>
              </p:extLst>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127638397"/>
              </p:ext>
            </p:extLst>
          </p:nvPr>
        </p:nvGraphicFramePr>
        <p:xfrm>
          <a:off x="520699" y="2374901"/>
          <a:ext cx="9792596" cy="4254424"/>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288812">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3927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변동</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39279">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3927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69217">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39279">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39279">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977323421"/>
              </p:ext>
            </p:extLst>
          </p:nvPr>
        </p:nvGraphicFramePr>
        <p:xfrm>
          <a:off x="520700" y="2374901"/>
          <a:ext cx="9792000" cy="4141782"/>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81762">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0087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Pipeline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기회 확보하고자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80087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사업자로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80680</TotalTime>
  <Words>19062</Words>
  <Application>Microsoft Office PowerPoint</Application>
  <PresentationFormat>사용자 지정</PresentationFormat>
  <Paragraphs>5656</Paragraphs>
  <Slides>66</Slides>
  <Notes>23</Notes>
  <HiddenSlides>0</HiddenSlides>
  <MMClips>0</MMClips>
  <ScaleCrop>false</ScaleCrop>
  <HeadingPairs>
    <vt:vector size="6" baseType="variant">
      <vt:variant>
        <vt:lpstr>사용한 글꼴</vt:lpstr>
      </vt:variant>
      <vt:variant>
        <vt:i4>13</vt:i4>
      </vt:variant>
      <vt:variant>
        <vt:lpstr>테마</vt:lpstr>
      </vt:variant>
      <vt:variant>
        <vt:i4>3</vt:i4>
      </vt:variant>
      <vt:variant>
        <vt:lpstr>슬라이드 제목</vt:lpstr>
      </vt:variant>
      <vt:variant>
        <vt:i4>66</vt:i4>
      </vt:variant>
    </vt:vector>
  </HeadingPairs>
  <TitlesOfParts>
    <vt:vector size="82" baseType="lpstr">
      <vt:lpstr>KoPubWorld돋움체 Bold</vt:lpstr>
      <vt:lpstr>KoPubWorld돋움체 Light</vt:lpstr>
      <vt:lpstr>KoPubWorld돋움체 Medium</vt:lpstr>
      <vt:lpstr>KoPubWorld바탕체 Bold</vt:lpstr>
      <vt:lpstr>KoPubWorld바탕체 Medium</vt:lpstr>
      <vt:lpstr>나눔스퀘어</vt:lpstr>
      <vt:lpstr>나눔스퀘어 Bold</vt:lpstr>
      <vt:lpstr>나눔스퀘어 ExtraBold</vt:lpstr>
      <vt:lpstr>맑은 고딕</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안양물류센터 Information Memorandum v02</dc:title>
  <dc:creator>jsp</dc:creator>
  <cp:lastModifiedBy>안 용현(Yonghyeon,Ahn)</cp:lastModifiedBy>
  <cp:revision>5285</cp:revision>
  <cp:lastPrinted>2026-10-08T05:00:29Z</cp:lastPrinted>
  <dcterms:created xsi:type="dcterms:W3CDTF">2019-10-07T05:08:42Z</dcterms:created>
  <dcterms:modified xsi:type="dcterms:W3CDTF">2026-10-12T01:39:28Z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csnk281ITqAKKiX1i7zqwVsmE2U202402010000000</vt:lpwstr>
  </property>
  <property fmtid="{D5CDD505-2E9C-101B-9397-08002B2CF9AE}" pid="3" name="docPath">
    <vt:lpwstr>WDpcNy7snpDsgrDsmrTsmIEo7L2U7YGs66CZKVw1Mi4g7L2U656M7L2U65287J207ZSE7J247ZSE6528XOy9lO2BrOugmeyViOyWkVx2NS4xX1tLTElf7JWI7JaRXSDtiKzsi6zsnpDro4xf7ZqM7J2Y7J6Q66OMLnBwdHg=</vt:lpwstr>
  </property>
  <property fmtid="{D5CDD505-2E9C-101B-9397-08002B2CF9AE}" pid="4" name="docUid">
    <vt:lpwstr>TlqSUOvUz2jqmGfWs-WogWvifac</vt:lpwstr>
  </property>
  <property fmtid="{D5CDD505-2E9C-101B-9397-08002B2CF9AE}" pid="5" name="parentBranchUid">
    <vt:lpwstr>2q0R3AuG6Wahsn-u65Fnt5gAIVo202509290000026</vt:lpwstr>
  </property>
</Properties>
</file>