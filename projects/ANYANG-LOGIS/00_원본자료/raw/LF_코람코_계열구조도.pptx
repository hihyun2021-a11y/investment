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7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56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LF 반기보고서(2026.08.14) 주석 기준으로 코람코자산신탁 및 산하 부동산 투자기구 구조를 정리한 자료.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좌측은 지분 체인, 우측은 코람코자산신탁·자산운용이 지분을 갖거나 자산관리를 수탁한 부동산 투자기구 3개 그룹.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연결 지분율과 LF 별도 지분율의 차이가 곧 코람코 계열이 보유한 몫이다.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실선(지분)과 점선(자산관리 위탁)이 구조도에서 무엇을 뜻하는지 설명하는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76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005840" y="1600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(주)LF 계열사 구조도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3957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코람코자산신탁과 산하 부동산 투자기구(REITs·PFV·부동산펀드) 중심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24128" y="3063240"/>
            <a:ext cx="2926080" cy="0"/>
          </a:xfrm>
          <a:prstGeom prst="line">
            <a:avLst/>
          </a:prstGeom>
          <a:noFill/>
          <a:ln w="31750">
            <a:solidFill>
              <a:srgbClr val="B476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24128" y="34290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21408" y="342900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6월 30일 (제21기 반기)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9044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21408" y="39044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반기보고서 (2026.08.14 공시) — 연결·별도재무제표 주석 및 계열회사 현황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43799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437997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(주)코람코자산신탁 / (주)코람코자산운용 및 이들이 지분을 보유하거나 자산관리를 수탁한 부동산 투자기구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5989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E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반기보고서에 기재된 지분율·계약관계를 재구성한 개략도이며, 법적 효력을 갖는 조직도가 아닙니다.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지배구조 및 부동산 투자기구 구조도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132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기준일 2026.06.30 · 지분율은 연결재무제표 주석 기준(괄호 안은 (주)LF 별도 보유분)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71800" cy="658368"/>
          </a:xfrm>
          <a:prstGeom prst="roundRect">
            <a:avLst>
              <a:gd name="adj" fmla="val 8333"/>
            </a:avLst>
          </a:prstGeom>
          <a:solidFill>
            <a:srgbClr val="16274F"/>
          </a:solidFill>
          <a:ln w="12700">
            <a:solidFill>
              <a:srgbClr val="1627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29718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(주)LF</a:t>
            </a:r>
            <a:endParaRPr lang="en-US" sz="15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CCD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유가증권시장 상장 · 최상위 지배회사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88820" y="1847088"/>
            <a:ext cx="0" cy="603504"/>
          </a:xfrm>
          <a:prstGeom prst="line">
            <a:avLst/>
          </a:prstGeom>
          <a:noFill/>
          <a:ln w="25400">
            <a:solidFill>
              <a:srgbClr val="1627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2043684" y="19568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78.56%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043684" y="2176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(전기말 67.08%)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B4762A"/>
          </a:solidFill>
          <a:ln w="15875">
            <a:solidFill>
              <a:srgbClr val="8E5B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450592"/>
            <a:ext cx="2971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(주)코람코자산신탁</a:t>
            </a:r>
            <a:endParaRPr lang="en-US" sz="1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BE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부동산신탁업 · 리츠 자산관리회사(AMC)</a:t>
            </a:r>
            <a:endParaRPr lang="en-US" sz="16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3DD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'01.10 설립 · '19.03 LF가 최대주주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88820" y="3364992"/>
            <a:ext cx="0" cy="566928"/>
          </a:xfrm>
          <a:prstGeom prst="line">
            <a:avLst/>
          </a:prstGeom>
          <a:noFill/>
          <a:ln w="25400">
            <a:solidFill>
              <a:srgbClr val="1627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043684" y="34564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2971800" cy="804672"/>
          </a:xfrm>
          <a:prstGeom prst="roundRect">
            <a:avLst>
              <a:gd name="adj" fmla="val 6818"/>
            </a:avLst>
          </a:prstGeom>
          <a:solidFill>
            <a:srgbClr val="EAF0F8"/>
          </a:solidFill>
          <a:ln w="15875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2971800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(주)코람코자산운용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집합투자업(부동산·대체투자)</a:t>
            </a:r>
            <a:endParaRPr lang="en-US" sz="14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'22.09 리츠 AMC 인가(국토교통부)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956048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4F7FC"/>
          </a:solidFill>
          <a:ln w="1270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12648" y="4956048"/>
            <a:ext cx="275234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금융사업부문 반기 매출 841억원 (전체의 9.1%)</a:t>
            </a:r>
            <a:endParaRPr lang="en-US" sz="9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신탁 수탁고 17.2조원 · 자산관리수수료 497억원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94760" y="2057400"/>
            <a:ext cx="0" cy="3246120"/>
          </a:xfrm>
          <a:prstGeom prst="line">
            <a:avLst/>
          </a:prstGeom>
          <a:noFill/>
          <a:ln w="22225">
            <a:solidFill>
              <a:srgbClr val="B4762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474720" y="2907792"/>
            <a:ext cx="320040" cy="0"/>
          </a:xfrm>
          <a:prstGeom prst="line">
            <a:avLst/>
          </a:prstGeom>
          <a:noFill/>
          <a:ln w="22225">
            <a:solidFill>
              <a:srgbClr val="B4762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794760" y="2057400"/>
            <a:ext cx="246888" cy="0"/>
          </a:xfrm>
          <a:prstGeom prst="line">
            <a:avLst/>
          </a:prstGeom>
          <a:noFill/>
          <a:ln w="22225">
            <a:solidFill>
              <a:srgbClr val="B4762A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794760" y="3749040"/>
            <a:ext cx="246888" cy="0"/>
          </a:xfrm>
          <a:prstGeom prst="line">
            <a:avLst/>
          </a:prstGeom>
          <a:noFill/>
          <a:ln w="22225">
            <a:solidFill>
              <a:srgbClr val="B4762A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794760" y="5303520"/>
            <a:ext cx="246888" cy="0"/>
          </a:xfrm>
          <a:prstGeom prst="line">
            <a:avLst/>
          </a:prstGeom>
          <a:noFill/>
          <a:ln w="22225">
            <a:solidFill>
              <a:srgbClr val="B4762A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041648" y="1188720"/>
            <a:ext cx="7726680" cy="1572768"/>
          </a:xfrm>
          <a:prstGeom prst="roundRect">
            <a:avLst>
              <a:gd name="adj" fmla="val 2326"/>
            </a:avLst>
          </a:prstGeom>
          <a:solidFill>
            <a:srgbClr val="FBFCFE"/>
          </a:solidFill>
          <a:ln w="1270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242816" y="1252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종속기업 (지분 + 자산관리 수탁)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83496" y="1280160"/>
            <a:ext cx="1883664" cy="246888"/>
          </a:xfrm>
          <a:prstGeom prst="roundRect">
            <a:avLst>
              <a:gd name="adj" fmla="val 44444"/>
            </a:avLst>
          </a:prstGeom>
          <a:solidFill>
            <a:srgbClr val="EAF0F8"/>
          </a:solidFill>
          <a:ln w="6350">
            <a:solidFill>
              <a:srgbClr val="EAF0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683496" y="1280160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대상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242816" y="1609344"/>
            <a:ext cx="172135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4288536" y="1609344"/>
            <a:ext cx="1629918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코크렙안양(주)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PFV · 안양물류센터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100.0%  (LF 95.0%)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10478" y="1609344"/>
            <a:ext cx="172135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156198" y="1609344"/>
            <a:ext cx="1629918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케이스퀘어데이터센터PFV(주)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PFV · 가산 데이터센터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75.3%  (LF 66.4%)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78140" y="1609344"/>
            <a:ext cx="172135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023860" y="1609344"/>
            <a:ext cx="1629918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코람코멀티블라인드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사모신탁 제27호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사모 부동산펀드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100.0%  (LF 96.1%)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845802" y="1609344"/>
            <a:ext cx="172135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9891522" y="1609344"/>
            <a:ext cx="1629918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코람코멀티블라인드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사모신탁 제28호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사모 부동산펀드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100.0%  (LF 96.4%)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41648" y="2880360"/>
            <a:ext cx="7726680" cy="1572768"/>
          </a:xfrm>
          <a:prstGeom prst="roundRect">
            <a:avLst>
              <a:gd name="adj" fmla="val 2326"/>
            </a:avLst>
          </a:prstGeom>
          <a:solidFill>
            <a:srgbClr val="FBFCFE"/>
          </a:solidFill>
          <a:ln w="1270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242816" y="29443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관계기업 · 공동기업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683496" y="2971800"/>
            <a:ext cx="1883664" cy="246888"/>
          </a:xfrm>
          <a:prstGeom prst="roundRect">
            <a:avLst>
              <a:gd name="adj" fmla="val 44444"/>
            </a:avLst>
          </a:prstGeom>
          <a:solidFill>
            <a:srgbClr val="EFE7DA"/>
          </a:solidFill>
          <a:ln w="6350">
            <a:solidFill>
              <a:srgbClr val="EFE7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9683496" y="2971800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지분법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42816" y="3300984"/>
            <a:ext cx="172135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4288536" y="3300984"/>
            <a:ext cx="1629918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코람코반포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프로젝트금융투자(주)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PFV · 반포 개발사업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27.46%  (LF 23.0%)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10478" y="3300984"/>
            <a:ext cx="172135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156198" y="3300984"/>
            <a:ext cx="1629918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케이스퀘어부산장림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데이터센터PFV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PFV · 부산 데이터센터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32.68%  (LF 21.8%)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978140" y="3300984"/>
            <a:ext cx="172135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8023860" y="3300984"/>
            <a:ext cx="1629918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코람코전문투자형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사모부동산투자신탁 제73호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종속기업의 관계기업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48.48%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845802" y="3300984"/>
            <a:ext cx="172135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9891522" y="3300984"/>
            <a:ext cx="1629918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현강코람코광혜원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피에프브이(주)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종속기업의 공동기업</a:t>
            </a:r>
            <a:endParaRPr lang="en-US" sz="9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33.33%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41648" y="4572000"/>
            <a:ext cx="7726680" cy="1225296"/>
          </a:xfrm>
          <a:prstGeom prst="roundRect">
            <a:avLst>
              <a:gd name="adj" fmla="val 2985"/>
            </a:avLst>
          </a:prstGeom>
          <a:solidFill>
            <a:srgbClr val="FBFCFE"/>
          </a:solidFill>
          <a:ln w="12700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4242816" y="46360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부동산투자회사법상 위탁관리 리츠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683496" y="4663440"/>
            <a:ext cx="1883664" cy="246888"/>
          </a:xfrm>
          <a:prstGeom prst="roundRect">
            <a:avLst>
              <a:gd name="adj" fmla="val 44444"/>
            </a:avLst>
          </a:prstGeom>
          <a:solidFill>
            <a:srgbClr val="FBF1E0"/>
          </a:solidFill>
          <a:ln w="6350">
            <a:solidFill>
              <a:srgbClr val="FBF1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9683496" y="4663440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단순투자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42816" y="4992624"/>
            <a:ext cx="7324344" cy="694944"/>
          </a:xfrm>
          <a:prstGeom prst="roundRect">
            <a:avLst>
              <a:gd name="adj" fmla="val 6579"/>
            </a:avLst>
          </a:prstGeom>
          <a:solidFill>
            <a:srgbClr val="FBF1E0"/>
          </a:solidFill>
          <a:ln w="15875">
            <a:solidFill>
              <a:srgbClr val="B476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4370832" y="4992624"/>
            <a:ext cx="7068312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7A4E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(주)코크렙제52호 위탁관리부동산투자회사      </a:t>
            </a:r>
            <a:r>
              <a:rPr lang="en-US" sz="10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지분 12.87%  ((주)LF 직접 보유 · 단순투자)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명목회사(Paper Company)로서 자산의 투자·운용을 외부 전문 자산관리회사에 위탁 · 장부금액 203억원 · 총자산 3,412억원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30352" y="6053328"/>
            <a:ext cx="384048" cy="0"/>
          </a:xfrm>
          <a:prstGeom prst="line">
            <a:avLst/>
          </a:prstGeom>
          <a:noFill/>
          <a:ln w="25400">
            <a:solidFill>
              <a:srgbClr val="1627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960120" y="59436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지분 관계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920240" y="6053328"/>
            <a:ext cx="384048" cy="0"/>
          </a:xfrm>
          <a:prstGeom prst="line">
            <a:avLst/>
          </a:prstGeom>
          <a:noFill/>
          <a:ln w="25400">
            <a:solidFill>
              <a:srgbClr val="B4762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2350008" y="5943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자산관리(AMC)·자금관리 위탁 관계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02920" y="638251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코람코멀티블라인드 일반사모투자신탁 제33호는 당반기 중 청산되어 연결범위에서 제외되었습니다.   출처: (주)LF 2026년 반기보고서 주석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 투자기구별 지분율 및 회계상 구분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132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지분율은 연결재무제표 주석 기준, (주)LF 별도는 별도재무제표 종속·관계기업투자 및 타법인출자현황 기준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201400" cy="9144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법적 형태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자산 · 사업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 지분율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(주)LF 별도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회계상 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(주)코람코자산신탁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부동산신탁회사 · 리츠 AMC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부동산신탁 · 리츠 자산관리 · 대리사무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78.56%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78.56%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종속기업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(주)코람코자산운용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집합투자업자 · 리츠 AMC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부동산·대체투자 펀드 운용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(신탁 보유)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종속기업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코크렙안양(주)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PFV (존립 10년)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안양물류센터 임대운영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95.00%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종속기업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케이스퀘어데이터센터피에프브이(주)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PFV (존립 10년)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케이스퀘어 데이터센터 가산 ('25.6 준공)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75.27%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66.41%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종속기업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코람코멀티블라인드전문투자형사모투자신탁 제27호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사모 부동산펀드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블라인드 부동산 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96.14%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종속기업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코람코멀티블라인드전문투자형사모투자신탁 제28호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사모 부동산펀드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블라인드 부동산 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96.38%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종속기업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코람코반포프로젝트금융투자(주)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PFV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반포 부동산 개발사업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27.46%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23.00%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관계기업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케이스퀘어부산장림데이터센터PFV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PFV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부산 장림 데이터센터 개발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32.68%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21.79%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관계기업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코람코전문투자형사모부동산투자신탁 제73호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사모 부동산펀드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 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48.48%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관계기업 (종속기업의)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현강코람코광혜원피에프브이(주)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PFV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광혜원 부동산 개발사업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33.33%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435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공동기업 (종속기업의)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4E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(주)코크렙제52호위탁관리부동산투자회사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4E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위탁관리 부동산투자회사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7A4E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 임대·투자 (명목회사)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4E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12.87%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4E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12.87%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4E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단순투자 (지분증권)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38251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연결 지분율은 (주)LF 직접 보유분과 코람코 계열 보유분의 합계입니다.  ※ 코람코자산신탁 지분율은 당반기 중 자기주식 취득으로 67.08% → 78.56%로 상승했습니다.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코람코자산신탁이 투자기구와 맺는 두 가지 관계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132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구조도의 실선(지분)과 점선(위탁)이 각각 무엇을 의미하는지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5440680" cy="2450592"/>
          </a:xfrm>
          <a:prstGeom prst="roundRect">
            <a:avLst>
              <a:gd name="adj" fmla="val 2239"/>
            </a:avLst>
          </a:prstGeom>
          <a:solidFill>
            <a:srgbClr val="F4F7FC"/>
          </a:solidFill>
          <a:ln w="15875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783080" cy="310896"/>
          </a:xfrm>
          <a:prstGeom prst="roundRect">
            <a:avLst>
              <a:gd name="adj" fmla="val 44118"/>
            </a:avLst>
          </a:prstGeom>
          <a:solidFill>
            <a:srgbClr val="16274F"/>
          </a:solidFill>
          <a:ln w="6350">
            <a:solidFill>
              <a:srgbClr val="1627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42646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지분 관계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자본을 투입해 지배력·유의적 영향력을 갖는 관계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39696"/>
            <a:ext cx="48463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(주)LF가 코람코자산신탁 지분 78.56%를 보유하고, 코람코자산신탁이 코람코자산운용을 100% 보유하는 수직 지배구조입니다.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코크렙안양·케이스퀘어데이터센터PFV·멀티블라인드 27·28호는 연결 종속기업으로 편입되어 LF 연결재무제표에 합산됩니다.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코람코반포PFV(27.46%)·케이스퀘어부산장림PFV(32.68%) 등은 지분법을 적용하는 관계기업입니다.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코크렙제52호 위탁관리부동산투자회사는 12.87%의 단순투자로, 지분법 대상이 아닙니다.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45352" y="1207008"/>
            <a:ext cx="5440680" cy="2450592"/>
          </a:xfrm>
          <a:prstGeom prst="roundRect">
            <a:avLst>
              <a:gd name="adj" fmla="val 2239"/>
            </a:avLst>
          </a:prstGeom>
          <a:solidFill>
            <a:srgbClr val="FBF1E0"/>
          </a:solidFill>
          <a:ln w="15875">
            <a:solidFill>
              <a:srgbClr val="B476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19672" y="1426464"/>
            <a:ext cx="2514600" cy="310896"/>
          </a:xfrm>
          <a:prstGeom prst="roundRect">
            <a:avLst>
              <a:gd name="adj" fmla="val 44118"/>
            </a:avLst>
          </a:prstGeom>
          <a:solidFill>
            <a:srgbClr val="B4762A"/>
          </a:solidFill>
          <a:ln w="6350">
            <a:solidFill>
              <a:srgbClr val="B476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519672" y="14264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자산관리 위탁 관계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4E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지분과 무관하게 운용 보수를 수취하는 계약 관계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139696"/>
            <a:ext cx="48463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코람코자산신탁은 2001년 부동산투자회사법에 따른 자산관리회사(AMC)로 설립되어, 리츠로부터 부동산의 투자·운용 업무를 위탁받습니다.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위탁관리리츠는 명목회사이므로 자산운용을 반드시 외부 AMC에 위탁해야 합니다 — 코크렙제52호가 이 유형입니다.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코크렙안양(주)은 설립 직후인 2020년 6월 코람코자산신탁과 자산관리위탁계약을 체결했습니다.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케이스퀘어데이터센터PFV는 2021년 6월 자산관리를 코람코자산운용에, 자금관리를 코람코자산신탁에 위탁했습니다.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코람코자산신탁 주요 수치 (제27기 반기 · 2026년 상반기)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315968"/>
            <a:ext cx="2649474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594360" y="4443984"/>
            <a:ext cx="2466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17.2조원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974336"/>
            <a:ext cx="246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신탁 수탁고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" y="5248656"/>
            <a:ext cx="24300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토지·담보·분양관리 등 합계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53562" y="4315968"/>
            <a:ext cx="2649474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3445002" y="4443984"/>
            <a:ext cx="2466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497억원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445002" y="4974336"/>
            <a:ext cx="246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자산관리 수수료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463290" y="5248656"/>
            <a:ext cx="24300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수수료수익 646억원의 77%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04204" y="4315968"/>
            <a:ext cx="2649474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295644" y="4443984"/>
            <a:ext cx="2466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756억원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295644" y="4974336"/>
            <a:ext cx="246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영업수익 합계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13932" y="5248656"/>
            <a:ext cx="24300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이자·배당·평가이익 포함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054846" y="4315968"/>
            <a:ext cx="2649474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C6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146286" y="4443984"/>
            <a:ext cx="2466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47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6,752억원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9146286" y="4974336"/>
            <a:ext cx="246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7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총자산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164574" y="5248656"/>
            <a:ext cx="24300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 4,881억원 · 반기순이익 225억원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8704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3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코람코자산운용은 총자산 1,447억원, 반기 매출 174억원, 반기순손실 33억원을 기록했습니다.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38251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(주)LF 2026년 반기보고서 — II. 사업의 내용(금융업), 연결·별도재무제표 주석, IX. 계열회사 등에 관한 사항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950</Words>
  <Application>Microsoft Office PowerPoint</Application>
  <PresentationFormat>와이드스크린</PresentationFormat>
  <Paragraphs>177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안 용현(Yonghyeon,Ahn)</cp:lastModifiedBy>
  <cp:revision>1</cp:revision>
  <dcterms:created xsi:type="dcterms:W3CDTF">2026-09-01T00:22:31Z</dcterms:created>
  <dcterms:modified xsi:type="dcterms:W3CDTF">2026-09-01T01:27:22Z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kjOn0p3ju-8nPtFm8CO2zBk58Fs202402010000000</vt:lpwstr>
  </property>
  <property fmtid="{D5CDD505-2E9C-101B-9397-08002B2CF9AE}" pid="3" name="docPath">
    <vt:lpwstr>QzpcVXNlcnNceW9uZ2h5ZW9uYWhuXERvd25sb2Fkc1xMRl/svZTrnozsvZRf6rOE7Je06rWs7KGw64+ELnBwdHg=</vt:lpwstr>
  </property>
  <property fmtid="{D5CDD505-2E9C-101B-9397-08002B2CF9AE}" pid="4" name="docUid">
    <vt:lpwstr>kjOn0p3ju-8nPtFm8CO2zBk58Fs</vt:lpwstr>
  </property>
  <property fmtid="{D5CDD505-2E9C-101B-9397-08002B2CF9AE}" pid="5" name="parentBranchUid">
    <vt:lpwstr/>
  </property>
</Properties>
</file>